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RDBMS &amp; SQL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· ER Diagrams · SQL Queries · Functions · JOINs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DVOC Institute  •  SQL Lecture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RDBMS?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005840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Management System (RDBMS) stores data in a structured format using rows and columns — like an organized filing cabinet where each drawer (table) contains files (rows) grouped into categories (columns).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65176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data in a way that's easy to search and manage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51760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different pieces of data are connected across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265176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is accurate, up-to-date, and free of duplicates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 Library 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 Unstructured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4023360"/>
          </a:xfrm>
          <a:prstGeom prst="rect">
            <a:avLst/>
          </a:prstGeom>
          <a:solidFill>
            <a:srgbClr val="EBF8F4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Organized in rows &amp; columns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Predefined schema (tables, columns, types)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data types: INT, VARCHAR, DATE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primary keys &amp; foreign keys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with SQL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records, HR data, bank transactions, product inventories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4023360" cy="4023360"/>
          </a:xfrm>
          <a:prstGeom prst="rect">
            <a:avLst/>
          </a:prstGeom>
          <a:solidFill>
            <a:srgbClr val="F5EBF8"/>
          </a:solidFill>
          <a:ln w="19050">
            <a:solidFill>
              <a:srgbClr val="8A3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3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predefined format or schema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to store in relational DBs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supports via BLOB/CLOB, JSON, XML
</a:t>
            </a:r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handled by NoSQL databases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Emails, images, videos, social media posts, log files, web pages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 Shapes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53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(e.g. Student, Employee)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01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(e.g. Name, Age)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(e.g. Enrolls, Works)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attr.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999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(unique identifier)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 (e.g. Phone)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182880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Rectangle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(depends on another)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Relationships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1280160"/>
            <a:ext cx="37490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353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13898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→ One passport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286000"/>
            <a:ext cx="37490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2359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0760" y="23957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 → Many employees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291840"/>
            <a:ext cx="37490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20640" y="3364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0760" y="3401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↔ Courses (via junction table)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4389120"/>
            <a:ext cx="3749040" cy="548640"/>
          </a:xfrm>
          <a:prstGeom prst="rect">
            <a:avLst/>
          </a:prstGeom>
          <a:solidFill>
            <a:srgbClr val="EB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434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Entities can exist alone (e.g. Products). Dependent Entities rely on another via a foreign key (e.g. Order Items).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RDBMS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78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990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record. Cannot be NULL.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StudentID in Students 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65176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78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3990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one table to another by referencing a primary key.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StudentID in Enrollments → Students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265176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9784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3990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field that could uniquely identify a record.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StudentID or Email — both qualify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926080"/>
            <a:ext cx="2651760" cy="1828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3035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34564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NOT chosen as primary key.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4187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Email when StudentID is the PK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926080"/>
            <a:ext cx="2651760" cy="1828800"/>
          </a:xfrm>
          <a:prstGeom prst="rect">
            <a:avLst/>
          </a:prstGeom>
          <a:solidFill>
            <a:srgbClr val="14637A"/>
          </a:solidFill>
          <a:ln w="12700">
            <a:solidFill>
              <a:srgbClr val="1463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035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34564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fields combined to uniquely identify a record.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187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StudentID + CourseID in CourseRegistrations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Language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EBF4F8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 CREATE, ALTER, DROP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database structure, tables, and constraints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EB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7315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 INSERT, UPDATE, DELETE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data inside database objects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EBF4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73152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 GRANT, REVOKE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permissions to database objects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14800" cy="1920240"/>
          </a:xfrm>
          <a:prstGeom prst="rect">
            <a:avLst/>
          </a:prstGeom>
          <a:solidFill>
            <a:srgbClr val="EBF4F8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73152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154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 SELECT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retrieve data from database tables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874520"/>
          </a:xfrm>
          <a:prstGeom prst="rect">
            <a:avLst/>
          </a:prstGeom>
          <a:solidFill>
            <a:srgbClr val="F0F8F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CHAR(n) — fixed-length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VARCHAR(n) — variable-length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TEXT — large text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8658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NVARCHAR(n) — Unicode strings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874520"/>
          </a:xfrm>
          <a:prstGeom prst="rect">
            <a:avLst/>
          </a:prstGeom>
          <a:solidFill>
            <a:srgbClr val="F0F8FC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4416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INT / INTEGER — whole numbers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DECIMAL(p,s) — exact fixed-point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3911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FLOAT / REAL — floating point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38658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BIGINT — large integers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14800" cy="1874520"/>
          </a:xfrm>
          <a:prstGeom prst="rect">
            <a:avLst/>
          </a:prstGeom>
          <a:solidFill>
            <a:srgbClr val="F0F8FC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Types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4728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DATE — YYYY-MM-DD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DATETIME — date +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4223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TIMESTAMP — Unix epoch based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48970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TIME / YEAR — time or year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14800" cy="1874520"/>
          </a:xfrm>
          <a:prstGeom prst="rect">
            <a:avLst/>
          </a:prstGeom>
          <a:solidFill>
            <a:srgbClr val="F0F8FC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447288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BOOLEAN / BIT — true/false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BLOB — binary large objects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4142232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ENUM — enumerated values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48970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JSON / XML — semi-structured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combine rows from two or more tables based on a related column, enabling data retrieval across normalized tables.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73152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with matching values in BOTH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table + matching from right (NULL if no match)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87752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60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OUTER JOIN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table + matching from left (NULL if no match)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87752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87752"/>
            <a:ext cx="73152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60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 (NULL where no match)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1463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73152" cy="1005840"/>
          </a:xfrm>
          <a:prstGeom prst="rect">
            <a:avLst/>
          </a:prstGeom>
          <a:solidFill>
            <a:srgbClr val="14637A"/>
          </a:solidFill>
          <a:ln w="12700">
            <a:solidFill>
              <a:srgbClr val="1463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770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611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— every row of A × every row of 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803904"/>
            <a:ext cx="4114800" cy="1005840"/>
          </a:xfrm>
          <a:prstGeom prst="rect">
            <a:avLst/>
          </a:prstGeom>
          <a:solidFill>
            <a:srgbClr val="EBF4F8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803904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770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2611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joined with itself — useful for hierarchical data (manager/employee)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Built-in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F0F8FC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LEFT(str, n) / RIGHT(str, 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36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SUBSTRING(str, start, len)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LEN(str)  /  REVERSE(str)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UPPER(str)  /  LOWER(str)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LTRIM / RTRIM / CONCAT(...)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F0F8F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344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GETDATE() — current date &amp;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6367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DAY() / MONTH() / YEAR()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9293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DATEPART(part, date)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21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DATEADD(part, n, date)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DATEDIFF(part, date1, date2)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F0F8FC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Functions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ROUND(n, decimals)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785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CEILING(n) / FLOOR(n)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POWER(base, exp)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ABS(n) / SQRT(n)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63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LOG(n) / LOG10(n)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14800" cy="1920240"/>
          </a:xfrm>
          <a:prstGeom prst="rect">
            <a:avLst/>
          </a:prstGeom>
          <a:solidFill>
            <a:srgbClr val="F0F8FC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SUM(col) — total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785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AVG(col) — average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078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MAX(col) / MIN(col)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— row count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663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/ HAVING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Stored Procedures · Triggers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4069080"/>
          </a:xfrm>
          <a:prstGeom prst="rect">
            <a:avLst/>
          </a:prstGeom>
          <a:solidFill>
            <a:srgbClr val="EBF4F8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table based on a SELECT 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store data physically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Simplifies complex queries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data security (hide columns)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reflects table changes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868680"/>
            <a:ext cx="2651760" cy="4069080"/>
          </a:xfrm>
          <a:prstGeom prst="rect">
            <a:avLst/>
          </a:prstGeom>
          <a:solidFill>
            <a:srgbClr val="EBF4F8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68680"/>
            <a:ext cx="265176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96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Precompiled set of SQL statements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Reusable — call with EXEC ProcName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(precompiled)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Accepts input parameters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Centralizes business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868680"/>
            <a:ext cx="2651760" cy="4069080"/>
          </a:xfrm>
          <a:prstGeom prst="rect">
            <a:avLst/>
          </a:prstGeom>
          <a:solidFill>
            <a:srgbClr val="EB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86868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896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076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Auto-executes on INSERT / UPDATE / DELETE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triggers — fire post-operation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INSTEAD OF — replaces the operation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'inserted' &amp; 'deleted' temp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Enforces rules &amp; audit logging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RDBMS stores data in structured tables linked by relationships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476756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41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 Diagrams are blueprints — entities, attributes, relationships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0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Primary, Foreign, Candidate, Alternate &amp; Composite keys organize data integrity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10028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74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 is categorized into DDL, DML, DCL, and DQL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54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JOINs (INNER, LEFT, RIGHT, FULL, SELF, CROSS) combine table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543300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07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Built-in functions handle strings, dates, math, and aggregation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059936"/>
            <a:ext cx="8412480" cy="438912"/>
          </a:xfrm>
          <a:prstGeom prst="rect">
            <a:avLst/>
          </a:prstGeom>
          <a:solidFill>
            <a:srgbClr val="0D6E96"/>
          </a:solidFill>
          <a:ln w="12700">
            <a:solidFill>
              <a:srgbClr val="0D6E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87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Views simplify queries; Stored Procedures centralize logic; Triggers automate actions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DVOC Institute  •  SQL Lecture Notes  •  www.dvocinstitute.com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RDBMS &amp; SQL</dc:title>
  <dc:subject>PptxGenJS Presentation</dc:subject>
  <dc:creator>PptxGenJS</dc:creator>
  <cp:lastModifiedBy>PptxGenJS</cp:lastModifiedBy>
  <cp:revision>1</cp:revision>
  <dcterms:created xsi:type="dcterms:W3CDTF">2026-06-03T11:50:21Z</dcterms:created>
  <dcterms:modified xsi:type="dcterms:W3CDTF">2026-06-03T11:50:21Z</dcterms:modified>
</cp:coreProperties>
</file>