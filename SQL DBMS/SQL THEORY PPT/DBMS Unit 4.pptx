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560323"/>
            <a:ext cx="10358120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93493"/>
            <a:ext cx="10358120" cy="1732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pn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1772" y="449580"/>
            <a:ext cx="11273155" cy="3918585"/>
          </a:xfrm>
          <a:custGeom>
            <a:avLst/>
            <a:gdLst/>
            <a:ahLst/>
            <a:cxnLst/>
            <a:rect l="l" t="t" r="r" b="b"/>
            <a:pathLst>
              <a:path w="11273155" h="3918585">
                <a:moveTo>
                  <a:pt x="11273028" y="0"/>
                </a:moveTo>
                <a:lnTo>
                  <a:pt x="0" y="0"/>
                </a:lnTo>
                <a:lnTo>
                  <a:pt x="0" y="3918204"/>
                </a:lnTo>
                <a:lnTo>
                  <a:pt x="11273028" y="3918204"/>
                </a:lnTo>
                <a:lnTo>
                  <a:pt x="11273028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79677" y="1351229"/>
            <a:ext cx="7854315" cy="1937385"/>
          </a:xfrm>
          <a:prstGeom prst="rect"/>
        </p:spPr>
        <p:txBody>
          <a:bodyPr wrap="square" lIns="0" tIns="125730" rIns="0" bIns="0" rtlCol="0" vert="horz">
            <a:spAutoFit/>
          </a:bodyPr>
          <a:lstStyle/>
          <a:p>
            <a:pPr marL="12700" marR="5080">
              <a:lnSpc>
                <a:spcPts val="7130"/>
              </a:lnSpc>
              <a:spcBef>
                <a:spcPts val="990"/>
              </a:spcBef>
            </a:pPr>
            <a:r>
              <a:rPr dirty="0" sz="6600" spc="-10" b="0">
                <a:solidFill>
                  <a:srgbClr val="FFFFFF"/>
                </a:solidFill>
                <a:latin typeface="Calibri Light"/>
                <a:cs typeface="Calibri Light"/>
              </a:rPr>
              <a:t>Database</a:t>
            </a:r>
            <a:r>
              <a:rPr dirty="0" sz="6600" spc="-3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6600" spc="-10" b="0">
                <a:solidFill>
                  <a:srgbClr val="FFFFFF"/>
                </a:solidFill>
                <a:latin typeface="Calibri Light"/>
                <a:cs typeface="Calibri Light"/>
              </a:rPr>
              <a:t>Management Systems</a:t>
            </a:r>
            <a:endParaRPr sz="66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7200" y="4521708"/>
            <a:ext cx="6699884" cy="187769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2032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600"/>
              </a:spcBef>
            </a:pPr>
            <a:endParaRPr sz="2400">
              <a:latin typeface="Times New Roman"/>
              <a:cs typeface="Times New Roman"/>
            </a:endParaRPr>
          </a:p>
          <a:p>
            <a:pPr marL="713740">
              <a:lnSpc>
                <a:spcPts val="2735"/>
              </a:lnSpc>
            </a:pPr>
            <a:r>
              <a:rPr dirty="0" sz="2400">
                <a:solidFill>
                  <a:srgbClr val="1B1B1B"/>
                </a:solidFill>
                <a:latin typeface="Calibri"/>
                <a:cs typeface="Calibri"/>
              </a:rPr>
              <a:t>UNIT-</a:t>
            </a:r>
            <a:r>
              <a:rPr dirty="0" sz="2400" spc="-25">
                <a:solidFill>
                  <a:srgbClr val="1B1B1B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B1B"/>
                </a:solidFill>
                <a:latin typeface="Calibri"/>
                <a:cs typeface="Calibri"/>
              </a:rPr>
              <a:t>IV-</a:t>
            </a:r>
            <a:r>
              <a:rPr dirty="0" sz="2400" spc="-20">
                <a:solidFill>
                  <a:srgbClr val="1B1B1B"/>
                </a:solidFill>
                <a:latin typeface="Calibri"/>
                <a:cs typeface="Calibri"/>
              </a:rPr>
              <a:t> Transaction</a:t>
            </a:r>
            <a:r>
              <a:rPr dirty="0" sz="2400" spc="-40">
                <a:solidFill>
                  <a:srgbClr val="1B1B1B"/>
                </a:solidFill>
                <a:latin typeface="Calibri"/>
                <a:cs typeface="Calibri"/>
              </a:rPr>
              <a:t> </a:t>
            </a:r>
            <a:r>
              <a:rPr dirty="0" sz="2400">
                <a:solidFill>
                  <a:srgbClr val="1B1B1B"/>
                </a:solidFill>
                <a:latin typeface="Calibri"/>
                <a:cs typeface="Calibri"/>
              </a:rPr>
              <a:t>and</a:t>
            </a:r>
            <a:r>
              <a:rPr dirty="0" sz="2400" spc="-30">
                <a:solidFill>
                  <a:srgbClr val="1B1B1B"/>
                </a:solidFill>
                <a:latin typeface="Calibri"/>
                <a:cs typeface="Calibri"/>
              </a:rPr>
              <a:t> </a:t>
            </a:r>
            <a:r>
              <a:rPr dirty="0" sz="2400" spc="-10">
                <a:solidFill>
                  <a:srgbClr val="1B1B1B"/>
                </a:solidFill>
                <a:latin typeface="Calibri"/>
                <a:cs typeface="Calibri"/>
              </a:rPr>
              <a:t>Concurrency</a:t>
            </a:r>
            <a:endParaRPr sz="2400">
              <a:latin typeface="Calibri"/>
              <a:cs typeface="Calibri"/>
            </a:endParaRPr>
          </a:p>
          <a:p>
            <a:pPr marL="713740">
              <a:lnSpc>
                <a:spcPts val="2735"/>
              </a:lnSpc>
            </a:pPr>
            <a:r>
              <a:rPr dirty="0" sz="2400" spc="-10">
                <a:solidFill>
                  <a:srgbClr val="1B1B1B"/>
                </a:solidFill>
                <a:latin typeface="Calibri"/>
                <a:cs typeface="Calibri"/>
              </a:rPr>
              <a:t>Control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7909859" y="4818524"/>
            <a:ext cx="962025" cy="1297940"/>
            <a:chOff x="7909859" y="4818524"/>
            <a:chExt cx="962025" cy="1297940"/>
          </a:xfrm>
        </p:grpSpPr>
        <p:sp>
          <p:nvSpPr>
            <p:cNvPr id="6" name="object 6" descr=""/>
            <p:cNvSpPr/>
            <p:nvPr/>
          </p:nvSpPr>
          <p:spPr>
            <a:xfrm>
              <a:off x="7919671" y="4828336"/>
              <a:ext cx="942340" cy="269240"/>
            </a:xfrm>
            <a:custGeom>
              <a:avLst/>
              <a:gdLst/>
              <a:ahLst/>
              <a:cxnLst/>
              <a:rect l="l" t="t" r="r" b="b"/>
              <a:pathLst>
                <a:path w="942340" h="269239">
                  <a:moveTo>
                    <a:pt x="471130" y="0"/>
                  </a:moveTo>
                  <a:lnTo>
                    <a:pt x="401509" y="1458"/>
                  </a:lnTo>
                  <a:lnTo>
                    <a:pt x="335060" y="5696"/>
                  </a:lnTo>
                  <a:lnTo>
                    <a:pt x="272512" y="12505"/>
                  </a:lnTo>
                  <a:lnTo>
                    <a:pt x="214593" y="21677"/>
                  </a:lnTo>
                  <a:lnTo>
                    <a:pt x="162032" y="33003"/>
                  </a:lnTo>
                  <a:lnTo>
                    <a:pt x="115559" y="46276"/>
                  </a:lnTo>
                  <a:lnTo>
                    <a:pt x="75901" y="61287"/>
                  </a:lnTo>
                  <a:lnTo>
                    <a:pt x="19946" y="95693"/>
                  </a:lnTo>
                  <a:lnTo>
                    <a:pt x="0" y="134554"/>
                  </a:lnTo>
                  <a:lnTo>
                    <a:pt x="5108" y="154438"/>
                  </a:lnTo>
                  <a:lnTo>
                    <a:pt x="43787" y="191279"/>
                  </a:lnTo>
                  <a:lnTo>
                    <a:pt x="115559" y="222832"/>
                  </a:lnTo>
                  <a:lnTo>
                    <a:pt x="162032" y="236105"/>
                  </a:lnTo>
                  <a:lnTo>
                    <a:pt x="214593" y="247431"/>
                  </a:lnTo>
                  <a:lnTo>
                    <a:pt x="272512" y="256603"/>
                  </a:lnTo>
                  <a:lnTo>
                    <a:pt x="335060" y="263412"/>
                  </a:lnTo>
                  <a:lnTo>
                    <a:pt x="401509" y="267650"/>
                  </a:lnTo>
                  <a:lnTo>
                    <a:pt x="471130" y="269109"/>
                  </a:lnTo>
                  <a:lnTo>
                    <a:pt x="540751" y="267650"/>
                  </a:lnTo>
                  <a:lnTo>
                    <a:pt x="607200" y="263412"/>
                  </a:lnTo>
                  <a:lnTo>
                    <a:pt x="669748" y="256603"/>
                  </a:lnTo>
                  <a:lnTo>
                    <a:pt x="727666" y="247431"/>
                  </a:lnTo>
                  <a:lnTo>
                    <a:pt x="780227" y="236105"/>
                  </a:lnTo>
                  <a:lnTo>
                    <a:pt x="826701" y="222832"/>
                  </a:lnTo>
                  <a:lnTo>
                    <a:pt x="866359" y="207821"/>
                  </a:lnTo>
                  <a:lnTo>
                    <a:pt x="922313" y="173416"/>
                  </a:lnTo>
                  <a:lnTo>
                    <a:pt x="942260" y="134554"/>
                  </a:lnTo>
                  <a:lnTo>
                    <a:pt x="937152" y="114670"/>
                  </a:lnTo>
                  <a:lnTo>
                    <a:pt x="898472" y="77829"/>
                  </a:lnTo>
                  <a:lnTo>
                    <a:pt x="826701" y="46276"/>
                  </a:lnTo>
                  <a:lnTo>
                    <a:pt x="780227" y="33003"/>
                  </a:lnTo>
                  <a:lnTo>
                    <a:pt x="727666" y="21677"/>
                  </a:lnTo>
                  <a:lnTo>
                    <a:pt x="669748" y="12505"/>
                  </a:lnTo>
                  <a:lnTo>
                    <a:pt x="607200" y="5696"/>
                  </a:lnTo>
                  <a:lnTo>
                    <a:pt x="540751" y="1458"/>
                  </a:lnTo>
                  <a:lnTo>
                    <a:pt x="47113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919671" y="4828336"/>
              <a:ext cx="942340" cy="269240"/>
            </a:xfrm>
            <a:custGeom>
              <a:avLst/>
              <a:gdLst/>
              <a:ahLst/>
              <a:cxnLst/>
              <a:rect l="l" t="t" r="r" b="b"/>
              <a:pathLst>
                <a:path w="942340" h="269239">
                  <a:moveTo>
                    <a:pt x="942260" y="134554"/>
                  </a:moveTo>
                  <a:lnTo>
                    <a:pt x="922313" y="173416"/>
                  </a:lnTo>
                  <a:lnTo>
                    <a:pt x="866359" y="207821"/>
                  </a:lnTo>
                  <a:lnTo>
                    <a:pt x="826701" y="222832"/>
                  </a:lnTo>
                  <a:lnTo>
                    <a:pt x="780227" y="236105"/>
                  </a:lnTo>
                  <a:lnTo>
                    <a:pt x="727666" y="247431"/>
                  </a:lnTo>
                  <a:lnTo>
                    <a:pt x="669748" y="256603"/>
                  </a:lnTo>
                  <a:lnTo>
                    <a:pt x="607200" y="263412"/>
                  </a:lnTo>
                  <a:lnTo>
                    <a:pt x="540751" y="267650"/>
                  </a:lnTo>
                  <a:lnTo>
                    <a:pt x="471130" y="269109"/>
                  </a:lnTo>
                  <a:lnTo>
                    <a:pt x="401509" y="267650"/>
                  </a:lnTo>
                  <a:lnTo>
                    <a:pt x="335060" y="263412"/>
                  </a:lnTo>
                  <a:lnTo>
                    <a:pt x="272512" y="256603"/>
                  </a:lnTo>
                  <a:lnTo>
                    <a:pt x="214593" y="247431"/>
                  </a:lnTo>
                  <a:lnTo>
                    <a:pt x="162032" y="236105"/>
                  </a:lnTo>
                  <a:lnTo>
                    <a:pt x="115559" y="222832"/>
                  </a:lnTo>
                  <a:lnTo>
                    <a:pt x="75901" y="207821"/>
                  </a:lnTo>
                  <a:lnTo>
                    <a:pt x="19946" y="173416"/>
                  </a:lnTo>
                  <a:lnTo>
                    <a:pt x="0" y="134554"/>
                  </a:lnTo>
                  <a:lnTo>
                    <a:pt x="5108" y="114670"/>
                  </a:lnTo>
                  <a:lnTo>
                    <a:pt x="43787" y="77829"/>
                  </a:lnTo>
                  <a:lnTo>
                    <a:pt x="115559" y="46276"/>
                  </a:lnTo>
                  <a:lnTo>
                    <a:pt x="162032" y="33003"/>
                  </a:lnTo>
                  <a:lnTo>
                    <a:pt x="214593" y="21677"/>
                  </a:lnTo>
                  <a:lnTo>
                    <a:pt x="272512" y="12505"/>
                  </a:lnTo>
                  <a:lnTo>
                    <a:pt x="335060" y="5696"/>
                  </a:lnTo>
                  <a:lnTo>
                    <a:pt x="401509" y="1458"/>
                  </a:lnTo>
                  <a:lnTo>
                    <a:pt x="471130" y="0"/>
                  </a:lnTo>
                  <a:lnTo>
                    <a:pt x="540751" y="1458"/>
                  </a:lnTo>
                  <a:lnTo>
                    <a:pt x="607200" y="5696"/>
                  </a:lnTo>
                  <a:lnTo>
                    <a:pt x="669748" y="12505"/>
                  </a:lnTo>
                  <a:lnTo>
                    <a:pt x="727666" y="21677"/>
                  </a:lnTo>
                  <a:lnTo>
                    <a:pt x="780227" y="33003"/>
                  </a:lnTo>
                  <a:lnTo>
                    <a:pt x="826701" y="46276"/>
                  </a:lnTo>
                  <a:lnTo>
                    <a:pt x="866359" y="61287"/>
                  </a:lnTo>
                  <a:lnTo>
                    <a:pt x="922313" y="95693"/>
                  </a:lnTo>
                  <a:lnTo>
                    <a:pt x="942260" y="134554"/>
                  </a:lnTo>
                  <a:close/>
                </a:path>
              </a:pathLst>
            </a:custGeom>
            <a:ln w="19623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919671" y="5030167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0" y="0"/>
                  </a:moveTo>
                  <a:lnTo>
                    <a:pt x="0" y="269109"/>
                  </a:lnTo>
                  <a:lnTo>
                    <a:pt x="5132" y="288923"/>
                  </a:lnTo>
                  <a:lnTo>
                    <a:pt x="43962" y="325700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89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807651" y="269109"/>
                  </a:lnTo>
                  <a:lnTo>
                    <a:pt x="793875" y="266691"/>
                  </a:lnTo>
                  <a:lnTo>
                    <a:pt x="783253" y="259858"/>
                  </a:lnTo>
                  <a:lnTo>
                    <a:pt x="776418" y="249241"/>
                  </a:lnTo>
                  <a:lnTo>
                    <a:pt x="773999" y="235470"/>
                  </a:lnTo>
                  <a:lnTo>
                    <a:pt x="776418" y="221699"/>
                  </a:lnTo>
                  <a:lnTo>
                    <a:pt x="783253" y="211082"/>
                  </a:lnTo>
                  <a:lnTo>
                    <a:pt x="793875" y="204249"/>
                  </a:lnTo>
                  <a:lnTo>
                    <a:pt x="807651" y="201831"/>
                  </a:lnTo>
                  <a:lnTo>
                    <a:pt x="942260" y="201831"/>
                  </a:lnTo>
                  <a:lnTo>
                    <a:pt x="942260" y="134554"/>
                  </a:lnTo>
                  <a:lnTo>
                    <a:pt x="471130" y="134554"/>
                  </a:ln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5132" y="19814"/>
                  </a:lnTo>
                  <a:lnTo>
                    <a:pt x="0" y="0"/>
                  </a:lnTo>
                  <a:close/>
                </a:path>
                <a:path w="942340" h="403860">
                  <a:moveTo>
                    <a:pt x="942260" y="201831"/>
                  </a:moveTo>
                  <a:lnTo>
                    <a:pt x="807651" y="201831"/>
                  </a:lnTo>
                  <a:lnTo>
                    <a:pt x="821428" y="204249"/>
                  </a:lnTo>
                  <a:lnTo>
                    <a:pt x="832049" y="211082"/>
                  </a:lnTo>
                  <a:lnTo>
                    <a:pt x="838885" y="221699"/>
                  </a:lnTo>
                  <a:lnTo>
                    <a:pt x="841303" y="235470"/>
                  </a:lnTo>
                  <a:lnTo>
                    <a:pt x="838885" y="249241"/>
                  </a:lnTo>
                  <a:lnTo>
                    <a:pt x="832049" y="259858"/>
                  </a:lnTo>
                  <a:lnTo>
                    <a:pt x="821428" y="266691"/>
                  </a:lnTo>
                  <a:lnTo>
                    <a:pt x="807651" y="269109"/>
                  </a:lnTo>
                  <a:lnTo>
                    <a:pt x="942260" y="269109"/>
                  </a:lnTo>
                  <a:lnTo>
                    <a:pt x="942260" y="201831"/>
                  </a:lnTo>
                  <a:close/>
                </a:path>
                <a:path w="942340" h="403860">
                  <a:moveTo>
                    <a:pt x="942260" y="0"/>
                  </a:move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89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lnTo>
                    <a:pt x="942260" y="134554"/>
                  </a:lnTo>
                  <a:lnTo>
                    <a:pt x="9422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858" y="5222186"/>
              <a:ext cx="86930" cy="86903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7919671" y="5030167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471130" y="134554"/>
                  </a:move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0" y="0"/>
                  </a:lnTo>
                  <a:lnTo>
                    <a:pt x="0" y="269109"/>
                  </a:lnTo>
                  <a:lnTo>
                    <a:pt x="20034" y="307857"/>
                  </a:lnTo>
                  <a:lnTo>
                    <a:pt x="76173" y="342239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90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942260" y="0"/>
                  </a:lnTo>
                  <a:lnTo>
                    <a:pt x="937127" y="19814"/>
                  </a:ln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90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close/>
                </a:path>
              </a:pathLst>
            </a:custGeom>
            <a:ln w="19623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919671" y="5366554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0" y="0"/>
                  </a:moveTo>
                  <a:lnTo>
                    <a:pt x="0" y="269109"/>
                  </a:lnTo>
                  <a:lnTo>
                    <a:pt x="5132" y="288923"/>
                  </a:lnTo>
                  <a:lnTo>
                    <a:pt x="43962" y="325700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89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807651" y="269109"/>
                  </a:lnTo>
                  <a:lnTo>
                    <a:pt x="793875" y="266691"/>
                  </a:lnTo>
                  <a:lnTo>
                    <a:pt x="783253" y="259858"/>
                  </a:lnTo>
                  <a:lnTo>
                    <a:pt x="776418" y="249241"/>
                  </a:lnTo>
                  <a:lnTo>
                    <a:pt x="773999" y="235470"/>
                  </a:lnTo>
                  <a:lnTo>
                    <a:pt x="776418" y="221699"/>
                  </a:lnTo>
                  <a:lnTo>
                    <a:pt x="783253" y="211082"/>
                  </a:lnTo>
                  <a:lnTo>
                    <a:pt x="793875" y="204249"/>
                  </a:lnTo>
                  <a:lnTo>
                    <a:pt x="807651" y="201831"/>
                  </a:lnTo>
                  <a:lnTo>
                    <a:pt x="942260" y="201831"/>
                  </a:lnTo>
                  <a:lnTo>
                    <a:pt x="942260" y="134554"/>
                  </a:lnTo>
                  <a:lnTo>
                    <a:pt x="471130" y="134554"/>
                  </a:ln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5132" y="19814"/>
                  </a:lnTo>
                  <a:lnTo>
                    <a:pt x="0" y="0"/>
                  </a:lnTo>
                  <a:close/>
                </a:path>
                <a:path w="942340" h="403860">
                  <a:moveTo>
                    <a:pt x="942260" y="201831"/>
                  </a:moveTo>
                  <a:lnTo>
                    <a:pt x="807651" y="201831"/>
                  </a:lnTo>
                  <a:lnTo>
                    <a:pt x="821428" y="204249"/>
                  </a:lnTo>
                  <a:lnTo>
                    <a:pt x="832049" y="211082"/>
                  </a:lnTo>
                  <a:lnTo>
                    <a:pt x="838885" y="221699"/>
                  </a:lnTo>
                  <a:lnTo>
                    <a:pt x="841303" y="235470"/>
                  </a:lnTo>
                  <a:lnTo>
                    <a:pt x="838885" y="249241"/>
                  </a:lnTo>
                  <a:lnTo>
                    <a:pt x="832049" y="259858"/>
                  </a:lnTo>
                  <a:lnTo>
                    <a:pt x="821428" y="266691"/>
                  </a:lnTo>
                  <a:lnTo>
                    <a:pt x="807651" y="269109"/>
                  </a:lnTo>
                  <a:lnTo>
                    <a:pt x="942260" y="269109"/>
                  </a:lnTo>
                  <a:lnTo>
                    <a:pt x="942260" y="201831"/>
                  </a:lnTo>
                  <a:close/>
                </a:path>
                <a:path w="942340" h="403860">
                  <a:moveTo>
                    <a:pt x="942260" y="0"/>
                  </a:move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89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lnTo>
                    <a:pt x="942260" y="134554"/>
                  </a:lnTo>
                  <a:lnTo>
                    <a:pt x="9422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858" y="5558572"/>
              <a:ext cx="86930" cy="86903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7919671" y="5366554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471130" y="134554"/>
                  </a:move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0" y="0"/>
                  </a:lnTo>
                  <a:lnTo>
                    <a:pt x="0" y="269109"/>
                  </a:lnTo>
                  <a:lnTo>
                    <a:pt x="20034" y="307857"/>
                  </a:lnTo>
                  <a:lnTo>
                    <a:pt x="76173" y="342239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90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942260" y="0"/>
                  </a:lnTo>
                  <a:lnTo>
                    <a:pt x="937127" y="19814"/>
                  </a:ln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90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close/>
                </a:path>
              </a:pathLst>
            </a:custGeom>
            <a:ln w="19623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919671" y="5702940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0" y="0"/>
                  </a:moveTo>
                  <a:lnTo>
                    <a:pt x="0" y="269109"/>
                  </a:lnTo>
                  <a:lnTo>
                    <a:pt x="5132" y="288923"/>
                  </a:lnTo>
                  <a:lnTo>
                    <a:pt x="43962" y="325700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89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807651" y="269109"/>
                  </a:lnTo>
                  <a:lnTo>
                    <a:pt x="793875" y="266691"/>
                  </a:lnTo>
                  <a:lnTo>
                    <a:pt x="783253" y="259858"/>
                  </a:lnTo>
                  <a:lnTo>
                    <a:pt x="776418" y="249241"/>
                  </a:lnTo>
                  <a:lnTo>
                    <a:pt x="773999" y="235470"/>
                  </a:lnTo>
                  <a:lnTo>
                    <a:pt x="776418" y="221699"/>
                  </a:lnTo>
                  <a:lnTo>
                    <a:pt x="783253" y="211082"/>
                  </a:lnTo>
                  <a:lnTo>
                    <a:pt x="793875" y="204249"/>
                  </a:lnTo>
                  <a:lnTo>
                    <a:pt x="807651" y="201831"/>
                  </a:lnTo>
                  <a:lnTo>
                    <a:pt x="942260" y="201831"/>
                  </a:lnTo>
                  <a:lnTo>
                    <a:pt x="942260" y="134554"/>
                  </a:lnTo>
                  <a:lnTo>
                    <a:pt x="471130" y="134554"/>
                  </a:ln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5132" y="19814"/>
                  </a:lnTo>
                  <a:lnTo>
                    <a:pt x="0" y="0"/>
                  </a:lnTo>
                  <a:close/>
                </a:path>
                <a:path w="942340" h="403860">
                  <a:moveTo>
                    <a:pt x="942260" y="201831"/>
                  </a:moveTo>
                  <a:lnTo>
                    <a:pt x="807651" y="201831"/>
                  </a:lnTo>
                  <a:lnTo>
                    <a:pt x="821428" y="204249"/>
                  </a:lnTo>
                  <a:lnTo>
                    <a:pt x="832049" y="211082"/>
                  </a:lnTo>
                  <a:lnTo>
                    <a:pt x="838885" y="221699"/>
                  </a:lnTo>
                  <a:lnTo>
                    <a:pt x="841303" y="235470"/>
                  </a:lnTo>
                  <a:lnTo>
                    <a:pt x="838885" y="249241"/>
                  </a:lnTo>
                  <a:lnTo>
                    <a:pt x="832049" y="259858"/>
                  </a:lnTo>
                  <a:lnTo>
                    <a:pt x="821428" y="266691"/>
                  </a:lnTo>
                  <a:lnTo>
                    <a:pt x="807651" y="269109"/>
                  </a:lnTo>
                  <a:lnTo>
                    <a:pt x="942260" y="269109"/>
                  </a:lnTo>
                  <a:lnTo>
                    <a:pt x="942260" y="201831"/>
                  </a:lnTo>
                  <a:close/>
                </a:path>
                <a:path w="942340" h="403860">
                  <a:moveTo>
                    <a:pt x="942260" y="0"/>
                  </a:move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89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lnTo>
                    <a:pt x="942260" y="134554"/>
                  </a:lnTo>
                  <a:lnTo>
                    <a:pt x="9422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83858" y="5894959"/>
              <a:ext cx="86930" cy="86903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7919671" y="5702940"/>
              <a:ext cx="942340" cy="403860"/>
            </a:xfrm>
            <a:custGeom>
              <a:avLst/>
              <a:gdLst/>
              <a:ahLst/>
              <a:cxnLst/>
              <a:rect l="l" t="t" r="r" b="b"/>
              <a:pathLst>
                <a:path w="942340" h="403860">
                  <a:moveTo>
                    <a:pt x="471130" y="134554"/>
                  </a:moveTo>
                  <a:lnTo>
                    <a:pt x="401752" y="133088"/>
                  </a:lnTo>
                  <a:lnTo>
                    <a:pt x="335454" y="128832"/>
                  </a:lnTo>
                  <a:lnTo>
                    <a:pt x="272979" y="121998"/>
                  </a:lnTo>
                  <a:lnTo>
                    <a:pt x="215070" y="112799"/>
                  </a:lnTo>
                  <a:lnTo>
                    <a:pt x="162470" y="101446"/>
                  </a:lnTo>
                  <a:lnTo>
                    <a:pt x="115924" y="88152"/>
                  </a:lnTo>
                  <a:lnTo>
                    <a:pt x="76173" y="73130"/>
                  </a:lnTo>
                  <a:lnTo>
                    <a:pt x="20034" y="38748"/>
                  </a:lnTo>
                  <a:lnTo>
                    <a:pt x="0" y="0"/>
                  </a:lnTo>
                  <a:lnTo>
                    <a:pt x="0" y="269109"/>
                  </a:lnTo>
                  <a:lnTo>
                    <a:pt x="20034" y="307857"/>
                  </a:lnTo>
                  <a:lnTo>
                    <a:pt x="76173" y="342239"/>
                  </a:lnTo>
                  <a:lnTo>
                    <a:pt x="115924" y="357262"/>
                  </a:lnTo>
                  <a:lnTo>
                    <a:pt x="162470" y="370555"/>
                  </a:lnTo>
                  <a:lnTo>
                    <a:pt x="215070" y="381908"/>
                  </a:lnTo>
                  <a:lnTo>
                    <a:pt x="272979" y="391107"/>
                  </a:lnTo>
                  <a:lnTo>
                    <a:pt x="335454" y="397941"/>
                  </a:lnTo>
                  <a:lnTo>
                    <a:pt x="401752" y="402197"/>
                  </a:lnTo>
                  <a:lnTo>
                    <a:pt x="471130" y="403663"/>
                  </a:lnTo>
                  <a:lnTo>
                    <a:pt x="540507" y="402197"/>
                  </a:lnTo>
                  <a:lnTo>
                    <a:pt x="606805" y="397941"/>
                  </a:lnTo>
                  <a:lnTo>
                    <a:pt x="669280" y="391107"/>
                  </a:lnTo>
                  <a:lnTo>
                    <a:pt x="727190" y="381908"/>
                  </a:lnTo>
                  <a:lnTo>
                    <a:pt x="779789" y="370555"/>
                  </a:lnTo>
                  <a:lnTo>
                    <a:pt x="826336" y="357262"/>
                  </a:lnTo>
                  <a:lnTo>
                    <a:pt x="866086" y="342239"/>
                  </a:lnTo>
                  <a:lnTo>
                    <a:pt x="922225" y="307857"/>
                  </a:lnTo>
                  <a:lnTo>
                    <a:pt x="942260" y="269109"/>
                  </a:lnTo>
                  <a:lnTo>
                    <a:pt x="942260" y="0"/>
                  </a:lnTo>
                  <a:lnTo>
                    <a:pt x="937127" y="19814"/>
                  </a:lnTo>
                  <a:lnTo>
                    <a:pt x="922225" y="38748"/>
                  </a:lnTo>
                  <a:lnTo>
                    <a:pt x="866086" y="73130"/>
                  </a:lnTo>
                  <a:lnTo>
                    <a:pt x="826336" y="88152"/>
                  </a:lnTo>
                  <a:lnTo>
                    <a:pt x="779789" y="101446"/>
                  </a:lnTo>
                  <a:lnTo>
                    <a:pt x="727190" y="112799"/>
                  </a:lnTo>
                  <a:lnTo>
                    <a:pt x="669280" y="121998"/>
                  </a:lnTo>
                  <a:lnTo>
                    <a:pt x="606805" y="128832"/>
                  </a:lnTo>
                  <a:lnTo>
                    <a:pt x="540507" y="133088"/>
                  </a:lnTo>
                  <a:lnTo>
                    <a:pt x="471130" y="134554"/>
                  </a:lnTo>
                  <a:close/>
                </a:path>
              </a:pathLst>
            </a:custGeom>
            <a:ln w="19623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/>
          <p:nvPr/>
        </p:nvSpPr>
        <p:spPr>
          <a:xfrm>
            <a:off x="9619488" y="4521708"/>
            <a:ext cx="2115820" cy="1889760"/>
          </a:xfrm>
          <a:custGeom>
            <a:avLst/>
            <a:gdLst/>
            <a:ahLst/>
            <a:cxnLst/>
            <a:rect l="l" t="t" r="r" b="b"/>
            <a:pathLst>
              <a:path w="2115820" h="1889760">
                <a:moveTo>
                  <a:pt x="2115311" y="0"/>
                </a:moveTo>
                <a:lnTo>
                  <a:pt x="0" y="0"/>
                </a:lnTo>
                <a:lnTo>
                  <a:pt x="0" y="1889760"/>
                </a:lnTo>
                <a:lnTo>
                  <a:pt x="2115311" y="1889760"/>
                </a:lnTo>
                <a:lnTo>
                  <a:pt x="2115311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>
                <a:solidFill>
                  <a:srgbClr val="FFFFFF"/>
                </a:solidFill>
              </a:rPr>
              <a:t>Contents:</a:t>
            </a:r>
            <a:endParaRPr sz="38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2600">
              <a:latin typeface="Times New Roman"/>
              <a:cs typeface="Times New Roman"/>
            </a:endParaRPr>
          </a:p>
          <a:p>
            <a:pPr marL="655320" indent="-228600">
              <a:lnSpc>
                <a:spcPct val="100000"/>
              </a:lnSpc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Control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management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ACID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Properties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 spc="-10">
                <a:latin typeface="Calibri"/>
                <a:cs typeface="Calibri"/>
              </a:rPr>
              <a:t>Serializability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Concurrency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Control(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2PL,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Deadlocks)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685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Stamping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methods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70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Optimistic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Methods</a:t>
            </a:r>
            <a:endParaRPr sz="26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600">
                <a:latin typeface="Calibri"/>
                <a:cs typeface="Calibri"/>
              </a:rPr>
              <a:t>Database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Recovery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Management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482600">
              <a:lnSpc>
                <a:spcPts val="4110"/>
              </a:lnSpc>
            </a:pPr>
            <a:r>
              <a:rPr dirty="0" sz="3800" spc="-40">
                <a:solidFill>
                  <a:srgbClr val="FFFFFF"/>
                </a:solidFill>
                <a:latin typeface="Calibri Light"/>
                <a:cs typeface="Calibri Light"/>
              </a:rPr>
              <a:t>Sub-Modules </a:t>
            </a:r>
            <a:r>
              <a:rPr dirty="0" sz="380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3800" spc="-114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800">
                <a:solidFill>
                  <a:srgbClr val="FFFFFF"/>
                </a:solidFill>
                <a:latin typeface="Calibri Light"/>
                <a:cs typeface="Calibri Light"/>
              </a:rPr>
              <a:t>Unit</a:t>
            </a:r>
            <a:r>
              <a:rPr dirty="0" sz="3800" spc="-135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800" spc="-5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044696" y="448055"/>
            <a:ext cx="7688580" cy="5953125"/>
            <a:chOff x="4044696" y="448055"/>
            <a:chExt cx="7688580" cy="5953125"/>
          </a:xfrm>
        </p:grpSpPr>
        <p:sp>
          <p:nvSpPr>
            <p:cNvPr id="5" name="object 5" descr=""/>
            <p:cNvSpPr/>
            <p:nvPr/>
          </p:nvSpPr>
          <p:spPr>
            <a:xfrm>
              <a:off x="4044696" y="448055"/>
              <a:ext cx="7688580" cy="5953125"/>
            </a:xfrm>
            <a:custGeom>
              <a:avLst/>
              <a:gdLst/>
              <a:ahLst/>
              <a:cxnLst/>
              <a:rect l="l" t="t" r="r" b="b"/>
              <a:pathLst>
                <a:path w="7688580" h="5953125">
                  <a:moveTo>
                    <a:pt x="7688580" y="0"/>
                  </a:moveTo>
                  <a:lnTo>
                    <a:pt x="0" y="0"/>
                  </a:lnTo>
                  <a:lnTo>
                    <a:pt x="0" y="5952744"/>
                  </a:lnTo>
                  <a:lnTo>
                    <a:pt x="7688580" y="5952744"/>
                  </a:lnTo>
                  <a:lnTo>
                    <a:pt x="768858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79976" y="739139"/>
              <a:ext cx="7038340" cy="361315"/>
            </a:xfrm>
            <a:custGeom>
              <a:avLst/>
              <a:gdLst/>
              <a:ahLst/>
              <a:cxnLst/>
              <a:rect l="l" t="t" r="r" b="b"/>
              <a:pathLst>
                <a:path w="7038340" h="361315">
                  <a:moveTo>
                    <a:pt x="6977633" y="0"/>
                  </a:moveTo>
                  <a:lnTo>
                    <a:pt x="60198" y="0"/>
                  </a:lnTo>
                  <a:lnTo>
                    <a:pt x="36754" y="4726"/>
                  </a:lnTo>
                  <a:lnTo>
                    <a:pt x="17621" y="17621"/>
                  </a:lnTo>
                  <a:lnTo>
                    <a:pt x="4726" y="36754"/>
                  </a:lnTo>
                  <a:lnTo>
                    <a:pt x="0" y="60198"/>
                  </a:lnTo>
                  <a:lnTo>
                    <a:pt x="0" y="300989"/>
                  </a:lnTo>
                  <a:lnTo>
                    <a:pt x="4726" y="324433"/>
                  </a:lnTo>
                  <a:lnTo>
                    <a:pt x="17621" y="343566"/>
                  </a:lnTo>
                  <a:lnTo>
                    <a:pt x="36754" y="356461"/>
                  </a:lnTo>
                  <a:lnTo>
                    <a:pt x="60198" y="361188"/>
                  </a:lnTo>
                  <a:lnTo>
                    <a:pt x="6977633" y="361188"/>
                  </a:lnTo>
                  <a:lnTo>
                    <a:pt x="7001077" y="356461"/>
                  </a:lnTo>
                  <a:lnTo>
                    <a:pt x="7020210" y="343566"/>
                  </a:lnTo>
                  <a:lnTo>
                    <a:pt x="7033105" y="324433"/>
                  </a:lnTo>
                  <a:lnTo>
                    <a:pt x="7037832" y="300989"/>
                  </a:lnTo>
                  <a:lnTo>
                    <a:pt x="7037832" y="60198"/>
                  </a:lnTo>
                  <a:lnTo>
                    <a:pt x="7033105" y="36754"/>
                  </a:lnTo>
                  <a:lnTo>
                    <a:pt x="7020210" y="17621"/>
                  </a:lnTo>
                  <a:lnTo>
                    <a:pt x="7001077" y="4726"/>
                  </a:lnTo>
                  <a:lnTo>
                    <a:pt x="6977633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379976" y="739139"/>
              <a:ext cx="7038340" cy="361315"/>
            </a:xfrm>
            <a:custGeom>
              <a:avLst/>
              <a:gdLst/>
              <a:ahLst/>
              <a:cxnLst/>
              <a:rect l="l" t="t" r="r" b="b"/>
              <a:pathLst>
                <a:path w="7038340" h="361315">
                  <a:moveTo>
                    <a:pt x="0" y="60198"/>
                  </a:moveTo>
                  <a:lnTo>
                    <a:pt x="4726" y="36754"/>
                  </a:lnTo>
                  <a:lnTo>
                    <a:pt x="17621" y="17621"/>
                  </a:lnTo>
                  <a:lnTo>
                    <a:pt x="36754" y="4726"/>
                  </a:lnTo>
                  <a:lnTo>
                    <a:pt x="60198" y="0"/>
                  </a:lnTo>
                  <a:lnTo>
                    <a:pt x="6977633" y="0"/>
                  </a:lnTo>
                  <a:lnTo>
                    <a:pt x="7001077" y="4726"/>
                  </a:lnTo>
                  <a:lnTo>
                    <a:pt x="7020210" y="17621"/>
                  </a:lnTo>
                  <a:lnTo>
                    <a:pt x="7033105" y="36754"/>
                  </a:lnTo>
                  <a:lnTo>
                    <a:pt x="7037832" y="60198"/>
                  </a:lnTo>
                  <a:lnTo>
                    <a:pt x="7037832" y="300989"/>
                  </a:lnTo>
                  <a:lnTo>
                    <a:pt x="7033105" y="324433"/>
                  </a:lnTo>
                  <a:lnTo>
                    <a:pt x="7020210" y="343566"/>
                  </a:lnTo>
                  <a:lnTo>
                    <a:pt x="7001077" y="356461"/>
                  </a:lnTo>
                  <a:lnTo>
                    <a:pt x="6977633" y="361188"/>
                  </a:lnTo>
                  <a:lnTo>
                    <a:pt x="60198" y="361188"/>
                  </a:lnTo>
                  <a:lnTo>
                    <a:pt x="36754" y="356461"/>
                  </a:lnTo>
                  <a:lnTo>
                    <a:pt x="17621" y="343566"/>
                  </a:lnTo>
                  <a:lnTo>
                    <a:pt x="4726" y="324433"/>
                  </a:lnTo>
                  <a:lnTo>
                    <a:pt x="0" y="300989"/>
                  </a:lnTo>
                  <a:lnTo>
                    <a:pt x="0" y="60198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379976" y="1143000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20"/>
                  </a:lnTo>
                  <a:lnTo>
                    <a:pt x="7037832" y="59944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E47A3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79976" y="1143000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4"/>
                  </a:lnTo>
                  <a:lnTo>
                    <a:pt x="7037832" y="299720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79976" y="1545336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DD794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79976" y="1545336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379976" y="1949195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D5795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379976" y="1949195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379976" y="2351532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CF7B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79976" y="2351532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379976" y="2755391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20"/>
                  </a:lnTo>
                  <a:lnTo>
                    <a:pt x="7037832" y="59944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C77E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79976" y="2755391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4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4"/>
                  </a:lnTo>
                  <a:lnTo>
                    <a:pt x="7037832" y="299720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379976" y="3157727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20"/>
                  </a:lnTo>
                  <a:lnTo>
                    <a:pt x="7037832" y="59944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C1837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379976" y="3157727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4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4"/>
                  </a:lnTo>
                  <a:lnTo>
                    <a:pt x="7037832" y="299720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379976" y="3560063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BA877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379976" y="3560063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79976" y="3963923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B58E8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79976" y="3963923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379976" y="4366259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AE949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379976" y="4366259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379976" y="4770120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04"/>
                  </a:lnTo>
                  <a:lnTo>
                    <a:pt x="17541" y="17541"/>
                  </a:lnTo>
                  <a:lnTo>
                    <a:pt x="4704" y="36593"/>
                  </a:lnTo>
                  <a:lnTo>
                    <a:pt x="0" y="59943"/>
                  </a:lnTo>
                  <a:lnTo>
                    <a:pt x="0" y="299719"/>
                  </a:lnTo>
                  <a:lnTo>
                    <a:pt x="4704" y="323070"/>
                  </a:lnTo>
                  <a:lnTo>
                    <a:pt x="17541" y="342122"/>
                  </a:lnTo>
                  <a:lnTo>
                    <a:pt x="36593" y="354959"/>
                  </a:lnTo>
                  <a:lnTo>
                    <a:pt x="59944" y="359663"/>
                  </a:lnTo>
                  <a:lnTo>
                    <a:pt x="6977888" y="359663"/>
                  </a:lnTo>
                  <a:lnTo>
                    <a:pt x="7001238" y="354959"/>
                  </a:lnTo>
                  <a:lnTo>
                    <a:pt x="7020290" y="342122"/>
                  </a:lnTo>
                  <a:lnTo>
                    <a:pt x="7033127" y="323070"/>
                  </a:lnTo>
                  <a:lnTo>
                    <a:pt x="7037832" y="299719"/>
                  </a:lnTo>
                  <a:lnTo>
                    <a:pt x="7037832" y="59943"/>
                  </a:lnTo>
                  <a:lnTo>
                    <a:pt x="7033127" y="36593"/>
                  </a:lnTo>
                  <a:lnTo>
                    <a:pt x="7020290" y="17541"/>
                  </a:lnTo>
                  <a:lnTo>
                    <a:pt x="7001238" y="4704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AA9C9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379976" y="4770120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3"/>
                  </a:moveTo>
                  <a:lnTo>
                    <a:pt x="4704" y="36593"/>
                  </a:lnTo>
                  <a:lnTo>
                    <a:pt x="17541" y="17541"/>
                  </a:lnTo>
                  <a:lnTo>
                    <a:pt x="36593" y="4704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04"/>
                  </a:lnTo>
                  <a:lnTo>
                    <a:pt x="7020290" y="17541"/>
                  </a:lnTo>
                  <a:lnTo>
                    <a:pt x="7033127" y="36593"/>
                  </a:lnTo>
                  <a:lnTo>
                    <a:pt x="7037832" y="59943"/>
                  </a:lnTo>
                  <a:lnTo>
                    <a:pt x="7037832" y="299719"/>
                  </a:lnTo>
                  <a:lnTo>
                    <a:pt x="7033127" y="323070"/>
                  </a:lnTo>
                  <a:lnTo>
                    <a:pt x="7020290" y="342122"/>
                  </a:lnTo>
                  <a:lnTo>
                    <a:pt x="7001238" y="354959"/>
                  </a:lnTo>
                  <a:lnTo>
                    <a:pt x="6977888" y="359663"/>
                  </a:lnTo>
                  <a:lnTo>
                    <a:pt x="59944" y="359663"/>
                  </a:lnTo>
                  <a:lnTo>
                    <a:pt x="36593" y="354959"/>
                  </a:lnTo>
                  <a:lnTo>
                    <a:pt x="17541" y="342122"/>
                  </a:lnTo>
                  <a:lnTo>
                    <a:pt x="4704" y="323070"/>
                  </a:lnTo>
                  <a:lnTo>
                    <a:pt x="0" y="299719"/>
                  </a:lnTo>
                  <a:lnTo>
                    <a:pt x="0" y="59943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379976" y="5750052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6977888" y="0"/>
                  </a:moveTo>
                  <a:lnTo>
                    <a:pt x="59944" y="0"/>
                  </a:lnTo>
                  <a:lnTo>
                    <a:pt x="36593" y="4710"/>
                  </a:lnTo>
                  <a:lnTo>
                    <a:pt x="17541" y="17556"/>
                  </a:lnTo>
                  <a:lnTo>
                    <a:pt x="4704" y="36609"/>
                  </a:lnTo>
                  <a:lnTo>
                    <a:pt x="0" y="59944"/>
                  </a:lnTo>
                  <a:lnTo>
                    <a:pt x="0" y="299720"/>
                  </a:lnTo>
                  <a:lnTo>
                    <a:pt x="4704" y="323054"/>
                  </a:lnTo>
                  <a:lnTo>
                    <a:pt x="17541" y="342107"/>
                  </a:lnTo>
                  <a:lnTo>
                    <a:pt x="36593" y="354953"/>
                  </a:lnTo>
                  <a:lnTo>
                    <a:pt x="59944" y="359664"/>
                  </a:lnTo>
                  <a:lnTo>
                    <a:pt x="6977888" y="359664"/>
                  </a:lnTo>
                  <a:lnTo>
                    <a:pt x="7001238" y="354953"/>
                  </a:lnTo>
                  <a:lnTo>
                    <a:pt x="7020290" y="342107"/>
                  </a:lnTo>
                  <a:lnTo>
                    <a:pt x="7033127" y="323054"/>
                  </a:lnTo>
                  <a:lnTo>
                    <a:pt x="7037832" y="299720"/>
                  </a:lnTo>
                  <a:lnTo>
                    <a:pt x="7037832" y="59944"/>
                  </a:lnTo>
                  <a:lnTo>
                    <a:pt x="7033127" y="36609"/>
                  </a:lnTo>
                  <a:lnTo>
                    <a:pt x="7020290" y="17556"/>
                  </a:lnTo>
                  <a:lnTo>
                    <a:pt x="7001238" y="4710"/>
                  </a:lnTo>
                  <a:lnTo>
                    <a:pt x="697788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379976" y="5750052"/>
              <a:ext cx="7038340" cy="360045"/>
            </a:xfrm>
            <a:custGeom>
              <a:avLst/>
              <a:gdLst/>
              <a:ahLst/>
              <a:cxnLst/>
              <a:rect l="l" t="t" r="r" b="b"/>
              <a:pathLst>
                <a:path w="7038340" h="360045">
                  <a:moveTo>
                    <a:pt x="0" y="59944"/>
                  </a:moveTo>
                  <a:lnTo>
                    <a:pt x="4704" y="36609"/>
                  </a:lnTo>
                  <a:lnTo>
                    <a:pt x="17541" y="17556"/>
                  </a:lnTo>
                  <a:lnTo>
                    <a:pt x="36593" y="4710"/>
                  </a:lnTo>
                  <a:lnTo>
                    <a:pt x="59944" y="0"/>
                  </a:lnTo>
                  <a:lnTo>
                    <a:pt x="6977888" y="0"/>
                  </a:lnTo>
                  <a:lnTo>
                    <a:pt x="7001238" y="4710"/>
                  </a:lnTo>
                  <a:lnTo>
                    <a:pt x="7020290" y="17556"/>
                  </a:lnTo>
                  <a:lnTo>
                    <a:pt x="7033127" y="36609"/>
                  </a:lnTo>
                  <a:lnTo>
                    <a:pt x="7037832" y="59944"/>
                  </a:lnTo>
                  <a:lnTo>
                    <a:pt x="7037832" y="299720"/>
                  </a:lnTo>
                  <a:lnTo>
                    <a:pt x="7033127" y="323054"/>
                  </a:lnTo>
                  <a:lnTo>
                    <a:pt x="7020290" y="342107"/>
                  </a:lnTo>
                  <a:lnTo>
                    <a:pt x="7001238" y="354953"/>
                  </a:lnTo>
                  <a:lnTo>
                    <a:pt x="6977888" y="359664"/>
                  </a:lnTo>
                  <a:lnTo>
                    <a:pt x="59944" y="359664"/>
                  </a:lnTo>
                  <a:lnTo>
                    <a:pt x="36593" y="354953"/>
                  </a:lnTo>
                  <a:lnTo>
                    <a:pt x="17541" y="342107"/>
                  </a:lnTo>
                  <a:lnTo>
                    <a:pt x="4704" y="323054"/>
                  </a:lnTo>
                  <a:lnTo>
                    <a:pt x="0" y="299720"/>
                  </a:lnTo>
                  <a:lnTo>
                    <a:pt x="0" y="5994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</p:spPr>
        <p:txBody>
          <a:bodyPr wrap="square" lIns="0" tIns="1162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15"/>
              </a:spcBef>
            </a:pPr>
            <a:endParaRPr sz="1500">
              <a:latin typeface="Times New Roman"/>
              <a:cs typeface="Times New Roman"/>
            </a:endParaRPr>
          </a:p>
          <a:p>
            <a:pPr marL="410209">
              <a:lnSpc>
                <a:spcPct val="100000"/>
              </a:lnSpc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0"/>
              </a:spcBef>
            </a:pP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---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What</a:t>
            </a:r>
            <a:r>
              <a:rPr dirty="0" sz="15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</a:pP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---Transaction</a:t>
            </a:r>
            <a:r>
              <a:rPr dirty="0" sz="15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Process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  <a:tabLst>
                <a:tab pos="1824989" algn="l"/>
              </a:tabLst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i)Read</a:t>
            </a:r>
            <a:r>
              <a:rPr dirty="0" sz="15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ii)Write</a:t>
            </a:r>
            <a:r>
              <a:rPr dirty="0" sz="15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operation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</a:pP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---Properties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transactions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</a:pP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---Transaction</a:t>
            </a:r>
            <a:r>
              <a:rPr dirty="0" sz="15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dirty="0" sz="15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Diagram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0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endParaRPr sz="1500">
              <a:latin typeface="Calibri"/>
              <a:cs typeface="Calibri"/>
            </a:endParaRPr>
          </a:p>
          <a:p>
            <a:pPr marL="553720" indent="-143510">
              <a:lnSpc>
                <a:spcPct val="100000"/>
              </a:lnSpc>
              <a:spcBef>
                <a:spcPts val="1375"/>
              </a:spcBef>
              <a:buAutoNum type="romanLcParenR"/>
              <a:tabLst>
                <a:tab pos="553720" algn="l"/>
              </a:tabLst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Serial</a:t>
            </a:r>
            <a:r>
              <a:rPr dirty="0" sz="15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dirty="0" sz="1500" spc="2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ii)Concurrent</a:t>
            </a:r>
            <a:r>
              <a:rPr dirty="0" sz="15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Serializability</a:t>
            </a:r>
            <a:endParaRPr sz="1500">
              <a:latin typeface="Calibri"/>
              <a:cs typeface="Calibri"/>
            </a:endParaRPr>
          </a:p>
          <a:p>
            <a:pPr marL="510540" indent="-107950">
              <a:lnSpc>
                <a:spcPct val="100000"/>
              </a:lnSpc>
              <a:spcBef>
                <a:spcPts val="1370"/>
              </a:spcBef>
              <a:buSzPct val="93333"/>
              <a:buAutoNum type="romanLcParenR"/>
              <a:tabLst>
                <a:tab pos="510540" algn="l"/>
                <a:tab pos="2373630" algn="l"/>
              </a:tabLst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Conflict</a:t>
            </a:r>
            <a:r>
              <a:rPr dirty="0" sz="1500" spc="2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Serializability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	ii)View</a:t>
            </a:r>
            <a:r>
              <a:rPr dirty="0" sz="15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Serializability</a:t>
            </a:r>
            <a:endParaRPr sz="15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1375"/>
              </a:spcBef>
            </a:pP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Concurrency</a:t>
            </a:r>
            <a:r>
              <a:rPr dirty="0" sz="150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 b="1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1500">
              <a:latin typeface="Calibri"/>
              <a:cs typeface="Calibri"/>
            </a:endParaRPr>
          </a:p>
          <a:p>
            <a:pPr lvl="1" marL="673100" indent="-114300">
              <a:lnSpc>
                <a:spcPct val="100000"/>
              </a:lnSpc>
              <a:spcBef>
                <a:spcPts val="640"/>
              </a:spcBef>
              <a:buFont typeface="Calibri"/>
              <a:buChar char="•"/>
              <a:tabLst>
                <a:tab pos="673100" algn="l"/>
              </a:tabLst>
            </a:pPr>
            <a:r>
              <a:rPr dirty="0" sz="1200" b="1">
                <a:latin typeface="Calibri"/>
                <a:cs typeface="Calibri"/>
              </a:rPr>
              <a:t>Need</a:t>
            </a:r>
            <a:r>
              <a:rPr dirty="0" sz="1200" spc="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of </a:t>
            </a:r>
            <a:r>
              <a:rPr dirty="0" sz="1200" spc="-10" b="1">
                <a:latin typeface="Calibri"/>
                <a:cs typeface="Calibri"/>
              </a:rPr>
              <a:t>Concurrency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control</a:t>
            </a:r>
            <a:endParaRPr sz="1200">
              <a:latin typeface="Calibri"/>
              <a:cs typeface="Calibri"/>
            </a:endParaRPr>
          </a:p>
          <a:p>
            <a:pPr lvl="1" marL="673100" indent="-114300">
              <a:lnSpc>
                <a:spcPct val="100000"/>
              </a:lnSpc>
              <a:spcBef>
                <a:spcPts val="170"/>
              </a:spcBef>
              <a:buFont typeface="Calibri"/>
              <a:buChar char="•"/>
              <a:tabLst>
                <a:tab pos="673100" algn="l"/>
              </a:tabLst>
            </a:pPr>
            <a:r>
              <a:rPr dirty="0" sz="1200" b="1">
                <a:latin typeface="Calibri"/>
                <a:cs typeface="Calibri"/>
              </a:rPr>
              <a:t>Locking</a:t>
            </a:r>
            <a:r>
              <a:rPr dirty="0" sz="1200" spc="-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Methods</a:t>
            </a:r>
            <a:r>
              <a:rPr dirty="0" sz="1200" spc="114" b="1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---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Lock,</a:t>
            </a:r>
            <a:r>
              <a:rPr dirty="0" sz="1200" spc="2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Exclusive </a:t>
            </a:r>
            <a:r>
              <a:rPr dirty="0" sz="1200" spc="-20">
                <a:latin typeface="Calibri"/>
                <a:cs typeface="Calibri"/>
              </a:rPr>
              <a:t>Lock</a:t>
            </a:r>
            <a:endParaRPr sz="1200">
              <a:latin typeface="Calibri"/>
              <a:cs typeface="Calibri"/>
            </a:endParaRPr>
          </a:p>
          <a:p>
            <a:pPr lvl="1" marL="673100" indent="-114300">
              <a:lnSpc>
                <a:spcPct val="100000"/>
              </a:lnSpc>
              <a:spcBef>
                <a:spcPts val="180"/>
              </a:spcBef>
              <a:buFont typeface="Calibri"/>
              <a:buChar char="•"/>
              <a:tabLst>
                <a:tab pos="673100" algn="l"/>
              </a:tabLst>
            </a:pPr>
            <a:r>
              <a:rPr dirty="0" sz="1200" b="1">
                <a:latin typeface="Calibri"/>
                <a:cs typeface="Calibri"/>
              </a:rPr>
              <a:t>Lock</a:t>
            </a:r>
            <a:r>
              <a:rPr dirty="0" sz="12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Based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 spc="-10" b="1">
                <a:latin typeface="Calibri"/>
                <a:cs typeface="Calibri"/>
              </a:rPr>
              <a:t>Protocol</a:t>
            </a:r>
            <a:r>
              <a:rPr dirty="0" sz="1200" spc="-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---</a:t>
            </a:r>
            <a:r>
              <a:rPr dirty="0" sz="1200" spc="-20">
                <a:latin typeface="Calibri"/>
                <a:cs typeface="Calibri"/>
              </a:rPr>
              <a:t>Two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Phase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Locking(2PL)</a:t>
            </a:r>
            <a:endParaRPr sz="1200">
              <a:latin typeface="Calibri"/>
              <a:cs typeface="Calibri"/>
            </a:endParaRPr>
          </a:p>
          <a:p>
            <a:pPr marL="410209">
              <a:lnSpc>
                <a:spcPct val="100000"/>
              </a:lnSpc>
              <a:spcBef>
                <a:spcPts val="615"/>
              </a:spcBef>
            </a:pP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Strict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35">
                <a:solidFill>
                  <a:srgbClr val="FFFFFF"/>
                </a:solidFill>
                <a:latin typeface="Calibri"/>
                <a:cs typeface="Calibri"/>
              </a:rPr>
              <a:t>Two-</a:t>
            </a:r>
            <a:r>
              <a:rPr dirty="0" sz="1500">
                <a:solidFill>
                  <a:srgbClr val="FFFFFF"/>
                </a:solidFill>
                <a:latin typeface="Calibri"/>
                <a:cs typeface="Calibri"/>
              </a:rPr>
              <a:t>Phase</a:t>
            </a:r>
            <a:r>
              <a:rPr dirty="0" sz="15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Calibri"/>
                <a:cs typeface="Calibri"/>
              </a:rPr>
              <a:t>Locking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482600">
              <a:lnSpc>
                <a:spcPts val="4110"/>
              </a:lnSpc>
            </a:pPr>
            <a:r>
              <a:rPr dirty="0" sz="3800" spc="-40" b="0">
                <a:solidFill>
                  <a:srgbClr val="FFFFFF"/>
                </a:solidFill>
                <a:latin typeface="Calibri Light"/>
                <a:cs typeface="Calibri Light"/>
              </a:rPr>
              <a:t>Sub-Modules </a:t>
            </a:r>
            <a:r>
              <a:rPr dirty="0" sz="3800" b="0">
                <a:solidFill>
                  <a:srgbClr val="FFFFFF"/>
                </a:solidFill>
                <a:latin typeface="Calibri Light"/>
                <a:cs typeface="Calibri Light"/>
              </a:rPr>
              <a:t>of</a:t>
            </a:r>
            <a:r>
              <a:rPr dirty="0" sz="3800" spc="-114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800" b="0">
                <a:solidFill>
                  <a:srgbClr val="FFFFFF"/>
                </a:solidFill>
                <a:latin typeface="Calibri Light"/>
                <a:cs typeface="Calibri Light"/>
              </a:rPr>
              <a:t>Unit</a:t>
            </a:r>
            <a:r>
              <a:rPr dirty="0" sz="3800" spc="-1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800" spc="-50" b="0">
                <a:solidFill>
                  <a:srgbClr val="FFFFFF"/>
                </a:solidFill>
                <a:latin typeface="Calibri Light"/>
                <a:cs typeface="Calibri Light"/>
              </a:rPr>
              <a:t>4</a:t>
            </a:r>
            <a:endParaRPr sz="3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044696" y="448055"/>
            <a:ext cx="7688580" cy="5953125"/>
            <a:chOff x="4044696" y="448055"/>
            <a:chExt cx="7688580" cy="5953125"/>
          </a:xfrm>
        </p:grpSpPr>
        <p:sp>
          <p:nvSpPr>
            <p:cNvPr id="5" name="object 5" descr=""/>
            <p:cNvSpPr/>
            <p:nvPr/>
          </p:nvSpPr>
          <p:spPr>
            <a:xfrm>
              <a:off x="4044696" y="448055"/>
              <a:ext cx="7688580" cy="5953125"/>
            </a:xfrm>
            <a:custGeom>
              <a:avLst/>
              <a:gdLst/>
              <a:ahLst/>
              <a:cxnLst/>
              <a:rect l="l" t="t" r="r" b="b"/>
              <a:pathLst>
                <a:path w="7688580" h="5953125">
                  <a:moveTo>
                    <a:pt x="7688580" y="0"/>
                  </a:moveTo>
                  <a:lnTo>
                    <a:pt x="0" y="0"/>
                  </a:lnTo>
                  <a:lnTo>
                    <a:pt x="0" y="5952744"/>
                  </a:lnTo>
                  <a:lnTo>
                    <a:pt x="7688580" y="5952744"/>
                  </a:lnTo>
                  <a:lnTo>
                    <a:pt x="768858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79976" y="1022604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7037832" y="428244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379976" y="1022604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4"/>
                  </a:moveTo>
                  <a:lnTo>
                    <a:pt x="7037832" y="428244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12699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732020" y="772667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4842002" y="0"/>
                  </a:moveTo>
                  <a:lnTo>
                    <a:pt x="83565" y="0"/>
                  </a:lnTo>
                  <a:lnTo>
                    <a:pt x="51059" y="6574"/>
                  </a:lnTo>
                  <a:lnTo>
                    <a:pt x="24495" y="24495"/>
                  </a:lnTo>
                  <a:lnTo>
                    <a:pt x="6574" y="51059"/>
                  </a:lnTo>
                  <a:lnTo>
                    <a:pt x="0" y="83566"/>
                  </a:lnTo>
                  <a:lnTo>
                    <a:pt x="0" y="417830"/>
                  </a:lnTo>
                  <a:lnTo>
                    <a:pt x="6574" y="450336"/>
                  </a:lnTo>
                  <a:lnTo>
                    <a:pt x="24495" y="476900"/>
                  </a:lnTo>
                  <a:lnTo>
                    <a:pt x="51059" y="494821"/>
                  </a:lnTo>
                  <a:lnTo>
                    <a:pt x="83565" y="501396"/>
                  </a:lnTo>
                  <a:lnTo>
                    <a:pt x="4842002" y="501396"/>
                  </a:lnTo>
                  <a:lnTo>
                    <a:pt x="4874508" y="494821"/>
                  </a:lnTo>
                  <a:lnTo>
                    <a:pt x="4901072" y="476900"/>
                  </a:lnTo>
                  <a:lnTo>
                    <a:pt x="4918993" y="450336"/>
                  </a:lnTo>
                  <a:lnTo>
                    <a:pt x="4925568" y="417830"/>
                  </a:lnTo>
                  <a:lnTo>
                    <a:pt x="4925568" y="83566"/>
                  </a:lnTo>
                  <a:lnTo>
                    <a:pt x="4918993" y="51059"/>
                  </a:lnTo>
                  <a:lnTo>
                    <a:pt x="4901072" y="24495"/>
                  </a:lnTo>
                  <a:lnTo>
                    <a:pt x="4874508" y="6574"/>
                  </a:lnTo>
                  <a:lnTo>
                    <a:pt x="4842002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732020" y="772667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0" y="83566"/>
                  </a:moveTo>
                  <a:lnTo>
                    <a:pt x="6574" y="51059"/>
                  </a:lnTo>
                  <a:lnTo>
                    <a:pt x="24495" y="24495"/>
                  </a:lnTo>
                  <a:lnTo>
                    <a:pt x="51059" y="6574"/>
                  </a:lnTo>
                  <a:lnTo>
                    <a:pt x="83565" y="0"/>
                  </a:lnTo>
                  <a:lnTo>
                    <a:pt x="4842002" y="0"/>
                  </a:lnTo>
                  <a:lnTo>
                    <a:pt x="4874508" y="6574"/>
                  </a:lnTo>
                  <a:lnTo>
                    <a:pt x="4901072" y="24495"/>
                  </a:lnTo>
                  <a:lnTo>
                    <a:pt x="4918993" y="51059"/>
                  </a:lnTo>
                  <a:lnTo>
                    <a:pt x="4925568" y="83566"/>
                  </a:lnTo>
                  <a:lnTo>
                    <a:pt x="4925568" y="417830"/>
                  </a:lnTo>
                  <a:lnTo>
                    <a:pt x="4918993" y="450336"/>
                  </a:lnTo>
                  <a:lnTo>
                    <a:pt x="4901072" y="476900"/>
                  </a:lnTo>
                  <a:lnTo>
                    <a:pt x="4874508" y="494821"/>
                  </a:lnTo>
                  <a:lnTo>
                    <a:pt x="4842002" y="501396"/>
                  </a:lnTo>
                  <a:lnTo>
                    <a:pt x="83565" y="501396"/>
                  </a:lnTo>
                  <a:lnTo>
                    <a:pt x="51059" y="494821"/>
                  </a:lnTo>
                  <a:lnTo>
                    <a:pt x="24495" y="476900"/>
                  </a:lnTo>
                  <a:lnTo>
                    <a:pt x="6574" y="450336"/>
                  </a:lnTo>
                  <a:lnTo>
                    <a:pt x="0" y="417830"/>
                  </a:lnTo>
                  <a:lnTo>
                    <a:pt x="0" y="8356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379976" y="1793747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7037832" y="428243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379976" y="1793747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3"/>
                  </a:moveTo>
                  <a:lnTo>
                    <a:pt x="7037832" y="428243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ln w="12699">
              <a:solidFill>
                <a:srgbClr val="55BBD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732020" y="1543811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4842002" y="0"/>
                  </a:moveTo>
                  <a:lnTo>
                    <a:pt x="83565" y="0"/>
                  </a:lnTo>
                  <a:lnTo>
                    <a:pt x="51059" y="6574"/>
                  </a:lnTo>
                  <a:lnTo>
                    <a:pt x="24495" y="24495"/>
                  </a:lnTo>
                  <a:lnTo>
                    <a:pt x="6574" y="51059"/>
                  </a:lnTo>
                  <a:lnTo>
                    <a:pt x="0" y="83565"/>
                  </a:lnTo>
                  <a:lnTo>
                    <a:pt x="0" y="417829"/>
                  </a:lnTo>
                  <a:lnTo>
                    <a:pt x="6574" y="450336"/>
                  </a:lnTo>
                  <a:lnTo>
                    <a:pt x="24495" y="476900"/>
                  </a:lnTo>
                  <a:lnTo>
                    <a:pt x="51059" y="494821"/>
                  </a:lnTo>
                  <a:lnTo>
                    <a:pt x="83565" y="501396"/>
                  </a:lnTo>
                  <a:lnTo>
                    <a:pt x="4842002" y="501396"/>
                  </a:lnTo>
                  <a:lnTo>
                    <a:pt x="4874508" y="494821"/>
                  </a:lnTo>
                  <a:lnTo>
                    <a:pt x="4901072" y="476900"/>
                  </a:lnTo>
                  <a:lnTo>
                    <a:pt x="4918993" y="450336"/>
                  </a:lnTo>
                  <a:lnTo>
                    <a:pt x="4925568" y="417829"/>
                  </a:lnTo>
                  <a:lnTo>
                    <a:pt x="4925568" y="83565"/>
                  </a:lnTo>
                  <a:lnTo>
                    <a:pt x="4918993" y="51059"/>
                  </a:lnTo>
                  <a:lnTo>
                    <a:pt x="4901072" y="24495"/>
                  </a:lnTo>
                  <a:lnTo>
                    <a:pt x="4874508" y="6574"/>
                  </a:lnTo>
                  <a:lnTo>
                    <a:pt x="4842002" y="0"/>
                  </a:lnTo>
                  <a:close/>
                </a:path>
              </a:pathLst>
            </a:custGeom>
            <a:solidFill>
              <a:srgbClr val="55BBD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732020" y="1543811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0" y="83565"/>
                  </a:moveTo>
                  <a:lnTo>
                    <a:pt x="6574" y="51059"/>
                  </a:lnTo>
                  <a:lnTo>
                    <a:pt x="24495" y="24495"/>
                  </a:lnTo>
                  <a:lnTo>
                    <a:pt x="51059" y="6574"/>
                  </a:lnTo>
                  <a:lnTo>
                    <a:pt x="83565" y="0"/>
                  </a:lnTo>
                  <a:lnTo>
                    <a:pt x="4842002" y="0"/>
                  </a:lnTo>
                  <a:lnTo>
                    <a:pt x="4874508" y="6574"/>
                  </a:lnTo>
                  <a:lnTo>
                    <a:pt x="4901072" y="24495"/>
                  </a:lnTo>
                  <a:lnTo>
                    <a:pt x="4918993" y="51059"/>
                  </a:lnTo>
                  <a:lnTo>
                    <a:pt x="4925568" y="83565"/>
                  </a:lnTo>
                  <a:lnTo>
                    <a:pt x="4925568" y="417829"/>
                  </a:lnTo>
                  <a:lnTo>
                    <a:pt x="4918993" y="450336"/>
                  </a:lnTo>
                  <a:lnTo>
                    <a:pt x="4901072" y="476900"/>
                  </a:lnTo>
                  <a:lnTo>
                    <a:pt x="4874508" y="494821"/>
                  </a:lnTo>
                  <a:lnTo>
                    <a:pt x="4842002" y="501396"/>
                  </a:lnTo>
                  <a:lnTo>
                    <a:pt x="83565" y="501396"/>
                  </a:lnTo>
                  <a:lnTo>
                    <a:pt x="51059" y="494821"/>
                  </a:lnTo>
                  <a:lnTo>
                    <a:pt x="24495" y="476900"/>
                  </a:lnTo>
                  <a:lnTo>
                    <a:pt x="6574" y="450336"/>
                  </a:lnTo>
                  <a:lnTo>
                    <a:pt x="0" y="417829"/>
                  </a:lnTo>
                  <a:lnTo>
                    <a:pt x="0" y="835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379976" y="2564891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7037832" y="428243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379976" y="2564891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3"/>
                  </a:moveTo>
                  <a:lnTo>
                    <a:pt x="7037832" y="428243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ln w="12699">
              <a:solidFill>
                <a:srgbClr val="52C9B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32020" y="2314955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4842002" y="0"/>
                  </a:moveTo>
                  <a:lnTo>
                    <a:pt x="83565" y="0"/>
                  </a:lnTo>
                  <a:lnTo>
                    <a:pt x="51059" y="6574"/>
                  </a:lnTo>
                  <a:lnTo>
                    <a:pt x="24495" y="24495"/>
                  </a:lnTo>
                  <a:lnTo>
                    <a:pt x="6574" y="51059"/>
                  </a:lnTo>
                  <a:lnTo>
                    <a:pt x="0" y="83566"/>
                  </a:lnTo>
                  <a:lnTo>
                    <a:pt x="0" y="417830"/>
                  </a:lnTo>
                  <a:lnTo>
                    <a:pt x="6574" y="450336"/>
                  </a:lnTo>
                  <a:lnTo>
                    <a:pt x="24495" y="476900"/>
                  </a:lnTo>
                  <a:lnTo>
                    <a:pt x="51059" y="494821"/>
                  </a:lnTo>
                  <a:lnTo>
                    <a:pt x="83565" y="501396"/>
                  </a:lnTo>
                  <a:lnTo>
                    <a:pt x="4842002" y="501396"/>
                  </a:lnTo>
                  <a:lnTo>
                    <a:pt x="4874508" y="494821"/>
                  </a:lnTo>
                  <a:lnTo>
                    <a:pt x="4901072" y="476900"/>
                  </a:lnTo>
                  <a:lnTo>
                    <a:pt x="4918993" y="450336"/>
                  </a:lnTo>
                  <a:lnTo>
                    <a:pt x="4925568" y="417830"/>
                  </a:lnTo>
                  <a:lnTo>
                    <a:pt x="4925568" y="83566"/>
                  </a:lnTo>
                  <a:lnTo>
                    <a:pt x="4918993" y="51059"/>
                  </a:lnTo>
                  <a:lnTo>
                    <a:pt x="4901072" y="24495"/>
                  </a:lnTo>
                  <a:lnTo>
                    <a:pt x="4874508" y="6574"/>
                  </a:lnTo>
                  <a:lnTo>
                    <a:pt x="4842002" y="0"/>
                  </a:lnTo>
                  <a:close/>
                </a:path>
              </a:pathLst>
            </a:custGeom>
            <a:solidFill>
              <a:srgbClr val="52C9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732020" y="2314955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0" y="83566"/>
                  </a:moveTo>
                  <a:lnTo>
                    <a:pt x="6574" y="51059"/>
                  </a:lnTo>
                  <a:lnTo>
                    <a:pt x="24495" y="24495"/>
                  </a:lnTo>
                  <a:lnTo>
                    <a:pt x="51059" y="6574"/>
                  </a:lnTo>
                  <a:lnTo>
                    <a:pt x="83565" y="0"/>
                  </a:lnTo>
                  <a:lnTo>
                    <a:pt x="4842002" y="0"/>
                  </a:lnTo>
                  <a:lnTo>
                    <a:pt x="4874508" y="6574"/>
                  </a:lnTo>
                  <a:lnTo>
                    <a:pt x="4901072" y="24495"/>
                  </a:lnTo>
                  <a:lnTo>
                    <a:pt x="4918993" y="51059"/>
                  </a:lnTo>
                  <a:lnTo>
                    <a:pt x="4925568" y="83566"/>
                  </a:lnTo>
                  <a:lnTo>
                    <a:pt x="4925568" y="417830"/>
                  </a:lnTo>
                  <a:lnTo>
                    <a:pt x="4918993" y="450336"/>
                  </a:lnTo>
                  <a:lnTo>
                    <a:pt x="4901072" y="476900"/>
                  </a:lnTo>
                  <a:lnTo>
                    <a:pt x="4874508" y="494821"/>
                  </a:lnTo>
                  <a:lnTo>
                    <a:pt x="4842002" y="501396"/>
                  </a:lnTo>
                  <a:lnTo>
                    <a:pt x="83565" y="501396"/>
                  </a:lnTo>
                  <a:lnTo>
                    <a:pt x="51059" y="494821"/>
                  </a:lnTo>
                  <a:lnTo>
                    <a:pt x="24495" y="476900"/>
                  </a:lnTo>
                  <a:lnTo>
                    <a:pt x="6574" y="450336"/>
                  </a:lnTo>
                  <a:lnTo>
                    <a:pt x="0" y="417830"/>
                  </a:lnTo>
                  <a:lnTo>
                    <a:pt x="0" y="83566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379976" y="3336035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7037832" y="428244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4379976" y="3336035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4"/>
                  </a:moveTo>
                  <a:lnTo>
                    <a:pt x="7037832" y="428244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12699">
              <a:solidFill>
                <a:srgbClr val="4DC58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4732020" y="3086100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4842002" y="0"/>
                  </a:moveTo>
                  <a:lnTo>
                    <a:pt x="83565" y="0"/>
                  </a:lnTo>
                  <a:lnTo>
                    <a:pt x="51059" y="6574"/>
                  </a:lnTo>
                  <a:lnTo>
                    <a:pt x="24495" y="24495"/>
                  </a:lnTo>
                  <a:lnTo>
                    <a:pt x="6574" y="51059"/>
                  </a:lnTo>
                  <a:lnTo>
                    <a:pt x="0" y="83565"/>
                  </a:lnTo>
                  <a:lnTo>
                    <a:pt x="0" y="417829"/>
                  </a:lnTo>
                  <a:lnTo>
                    <a:pt x="6574" y="450336"/>
                  </a:lnTo>
                  <a:lnTo>
                    <a:pt x="24495" y="476900"/>
                  </a:lnTo>
                  <a:lnTo>
                    <a:pt x="51059" y="494821"/>
                  </a:lnTo>
                  <a:lnTo>
                    <a:pt x="83565" y="501396"/>
                  </a:lnTo>
                  <a:lnTo>
                    <a:pt x="4842002" y="501396"/>
                  </a:lnTo>
                  <a:lnTo>
                    <a:pt x="4874508" y="494821"/>
                  </a:lnTo>
                  <a:lnTo>
                    <a:pt x="4901072" y="476900"/>
                  </a:lnTo>
                  <a:lnTo>
                    <a:pt x="4918993" y="450336"/>
                  </a:lnTo>
                  <a:lnTo>
                    <a:pt x="4925568" y="417829"/>
                  </a:lnTo>
                  <a:lnTo>
                    <a:pt x="4925568" y="83565"/>
                  </a:lnTo>
                  <a:lnTo>
                    <a:pt x="4918993" y="51059"/>
                  </a:lnTo>
                  <a:lnTo>
                    <a:pt x="4901072" y="24495"/>
                  </a:lnTo>
                  <a:lnTo>
                    <a:pt x="4874508" y="6574"/>
                  </a:lnTo>
                  <a:lnTo>
                    <a:pt x="4842002" y="0"/>
                  </a:lnTo>
                  <a:close/>
                </a:path>
              </a:pathLst>
            </a:custGeom>
            <a:solidFill>
              <a:srgbClr val="4DC58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4732020" y="3086100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0" y="83565"/>
                  </a:moveTo>
                  <a:lnTo>
                    <a:pt x="6574" y="51059"/>
                  </a:lnTo>
                  <a:lnTo>
                    <a:pt x="24495" y="24495"/>
                  </a:lnTo>
                  <a:lnTo>
                    <a:pt x="51059" y="6574"/>
                  </a:lnTo>
                  <a:lnTo>
                    <a:pt x="83565" y="0"/>
                  </a:lnTo>
                  <a:lnTo>
                    <a:pt x="4842002" y="0"/>
                  </a:lnTo>
                  <a:lnTo>
                    <a:pt x="4874508" y="6574"/>
                  </a:lnTo>
                  <a:lnTo>
                    <a:pt x="4901072" y="24495"/>
                  </a:lnTo>
                  <a:lnTo>
                    <a:pt x="4918993" y="51059"/>
                  </a:lnTo>
                  <a:lnTo>
                    <a:pt x="4925568" y="83565"/>
                  </a:lnTo>
                  <a:lnTo>
                    <a:pt x="4925568" y="417829"/>
                  </a:lnTo>
                  <a:lnTo>
                    <a:pt x="4918993" y="450336"/>
                  </a:lnTo>
                  <a:lnTo>
                    <a:pt x="4901072" y="476900"/>
                  </a:lnTo>
                  <a:lnTo>
                    <a:pt x="4874508" y="494821"/>
                  </a:lnTo>
                  <a:lnTo>
                    <a:pt x="4842002" y="501396"/>
                  </a:lnTo>
                  <a:lnTo>
                    <a:pt x="83565" y="501396"/>
                  </a:lnTo>
                  <a:lnTo>
                    <a:pt x="51059" y="494821"/>
                  </a:lnTo>
                  <a:lnTo>
                    <a:pt x="24495" y="476900"/>
                  </a:lnTo>
                  <a:lnTo>
                    <a:pt x="6574" y="450336"/>
                  </a:lnTo>
                  <a:lnTo>
                    <a:pt x="0" y="417829"/>
                  </a:lnTo>
                  <a:lnTo>
                    <a:pt x="0" y="835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379976" y="4107179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7037832" y="428244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379976" y="4107179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4"/>
                  </a:moveTo>
                  <a:lnTo>
                    <a:pt x="7037832" y="428244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12699">
              <a:solidFill>
                <a:srgbClr val="48BE6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4732020" y="3857244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4842002" y="0"/>
                  </a:moveTo>
                  <a:lnTo>
                    <a:pt x="83565" y="0"/>
                  </a:lnTo>
                  <a:lnTo>
                    <a:pt x="51059" y="6574"/>
                  </a:lnTo>
                  <a:lnTo>
                    <a:pt x="24495" y="24495"/>
                  </a:lnTo>
                  <a:lnTo>
                    <a:pt x="6574" y="51059"/>
                  </a:lnTo>
                  <a:lnTo>
                    <a:pt x="0" y="83565"/>
                  </a:lnTo>
                  <a:lnTo>
                    <a:pt x="0" y="417829"/>
                  </a:lnTo>
                  <a:lnTo>
                    <a:pt x="6574" y="450336"/>
                  </a:lnTo>
                  <a:lnTo>
                    <a:pt x="24495" y="476900"/>
                  </a:lnTo>
                  <a:lnTo>
                    <a:pt x="51059" y="494821"/>
                  </a:lnTo>
                  <a:lnTo>
                    <a:pt x="83565" y="501395"/>
                  </a:lnTo>
                  <a:lnTo>
                    <a:pt x="4842002" y="501395"/>
                  </a:lnTo>
                  <a:lnTo>
                    <a:pt x="4874508" y="494821"/>
                  </a:lnTo>
                  <a:lnTo>
                    <a:pt x="4901072" y="476900"/>
                  </a:lnTo>
                  <a:lnTo>
                    <a:pt x="4918993" y="450336"/>
                  </a:lnTo>
                  <a:lnTo>
                    <a:pt x="4925568" y="417829"/>
                  </a:lnTo>
                  <a:lnTo>
                    <a:pt x="4925568" y="83565"/>
                  </a:lnTo>
                  <a:lnTo>
                    <a:pt x="4918993" y="51059"/>
                  </a:lnTo>
                  <a:lnTo>
                    <a:pt x="4901072" y="24495"/>
                  </a:lnTo>
                  <a:lnTo>
                    <a:pt x="4874508" y="6574"/>
                  </a:lnTo>
                  <a:lnTo>
                    <a:pt x="4842002" y="0"/>
                  </a:lnTo>
                  <a:close/>
                </a:path>
              </a:pathLst>
            </a:custGeom>
            <a:solidFill>
              <a:srgbClr val="48BE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4732020" y="3857244"/>
              <a:ext cx="4925695" cy="501650"/>
            </a:xfrm>
            <a:custGeom>
              <a:avLst/>
              <a:gdLst/>
              <a:ahLst/>
              <a:cxnLst/>
              <a:rect l="l" t="t" r="r" b="b"/>
              <a:pathLst>
                <a:path w="4925695" h="501650">
                  <a:moveTo>
                    <a:pt x="0" y="83565"/>
                  </a:moveTo>
                  <a:lnTo>
                    <a:pt x="6574" y="51059"/>
                  </a:lnTo>
                  <a:lnTo>
                    <a:pt x="24495" y="24495"/>
                  </a:lnTo>
                  <a:lnTo>
                    <a:pt x="51059" y="6574"/>
                  </a:lnTo>
                  <a:lnTo>
                    <a:pt x="83565" y="0"/>
                  </a:lnTo>
                  <a:lnTo>
                    <a:pt x="4842002" y="0"/>
                  </a:lnTo>
                  <a:lnTo>
                    <a:pt x="4874508" y="6574"/>
                  </a:lnTo>
                  <a:lnTo>
                    <a:pt x="4901072" y="24495"/>
                  </a:lnTo>
                  <a:lnTo>
                    <a:pt x="4918993" y="51059"/>
                  </a:lnTo>
                  <a:lnTo>
                    <a:pt x="4925568" y="83565"/>
                  </a:lnTo>
                  <a:lnTo>
                    <a:pt x="4925568" y="417829"/>
                  </a:lnTo>
                  <a:lnTo>
                    <a:pt x="4918993" y="450336"/>
                  </a:lnTo>
                  <a:lnTo>
                    <a:pt x="4901072" y="476900"/>
                  </a:lnTo>
                  <a:lnTo>
                    <a:pt x="4874508" y="494821"/>
                  </a:lnTo>
                  <a:lnTo>
                    <a:pt x="4842002" y="501395"/>
                  </a:lnTo>
                  <a:lnTo>
                    <a:pt x="83565" y="501395"/>
                  </a:lnTo>
                  <a:lnTo>
                    <a:pt x="51059" y="494821"/>
                  </a:lnTo>
                  <a:lnTo>
                    <a:pt x="24495" y="476900"/>
                  </a:lnTo>
                  <a:lnTo>
                    <a:pt x="6574" y="450336"/>
                  </a:lnTo>
                  <a:lnTo>
                    <a:pt x="0" y="417829"/>
                  </a:lnTo>
                  <a:lnTo>
                    <a:pt x="0" y="83565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379976" y="4878323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4"/>
                  </a:lnTo>
                  <a:lnTo>
                    <a:pt x="7037832" y="428244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4379976" y="4878323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4"/>
                  </a:moveTo>
                  <a:lnTo>
                    <a:pt x="7037832" y="428244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4"/>
                  </a:lnTo>
                  <a:close/>
                </a:path>
              </a:pathLst>
            </a:custGeom>
            <a:ln w="12699">
              <a:solidFill>
                <a:srgbClr val="50B8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4732020" y="4626864"/>
              <a:ext cx="4925695" cy="502920"/>
            </a:xfrm>
            <a:custGeom>
              <a:avLst/>
              <a:gdLst/>
              <a:ahLst/>
              <a:cxnLst/>
              <a:rect l="l" t="t" r="r" b="b"/>
              <a:pathLst>
                <a:path w="4925695" h="502920">
                  <a:moveTo>
                    <a:pt x="4841748" y="0"/>
                  </a:moveTo>
                  <a:lnTo>
                    <a:pt x="83819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100"/>
                  </a:lnTo>
                  <a:lnTo>
                    <a:pt x="6578" y="451699"/>
                  </a:lnTo>
                  <a:lnTo>
                    <a:pt x="24526" y="478345"/>
                  </a:lnTo>
                  <a:lnTo>
                    <a:pt x="51167" y="496323"/>
                  </a:lnTo>
                  <a:lnTo>
                    <a:pt x="83819" y="502919"/>
                  </a:lnTo>
                  <a:lnTo>
                    <a:pt x="4841748" y="502919"/>
                  </a:lnTo>
                  <a:lnTo>
                    <a:pt x="4874347" y="496323"/>
                  </a:lnTo>
                  <a:lnTo>
                    <a:pt x="4900993" y="478345"/>
                  </a:lnTo>
                  <a:lnTo>
                    <a:pt x="4918971" y="451699"/>
                  </a:lnTo>
                  <a:lnTo>
                    <a:pt x="4925568" y="419100"/>
                  </a:lnTo>
                  <a:lnTo>
                    <a:pt x="4925568" y="83819"/>
                  </a:lnTo>
                  <a:lnTo>
                    <a:pt x="4918971" y="51167"/>
                  </a:lnTo>
                  <a:lnTo>
                    <a:pt x="4900993" y="24526"/>
                  </a:lnTo>
                  <a:lnTo>
                    <a:pt x="4874347" y="6578"/>
                  </a:lnTo>
                  <a:lnTo>
                    <a:pt x="4841748" y="0"/>
                  </a:lnTo>
                  <a:close/>
                </a:path>
              </a:pathLst>
            </a:custGeom>
            <a:solidFill>
              <a:srgbClr val="50B8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4732020" y="4626864"/>
              <a:ext cx="4925695" cy="502920"/>
            </a:xfrm>
            <a:custGeom>
              <a:avLst/>
              <a:gdLst/>
              <a:ahLst/>
              <a:cxnLst/>
              <a:rect l="l" t="t" r="r" b="b"/>
              <a:pathLst>
                <a:path w="4925695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19" y="0"/>
                  </a:lnTo>
                  <a:lnTo>
                    <a:pt x="4841748" y="0"/>
                  </a:lnTo>
                  <a:lnTo>
                    <a:pt x="4874347" y="6578"/>
                  </a:lnTo>
                  <a:lnTo>
                    <a:pt x="4900993" y="24526"/>
                  </a:lnTo>
                  <a:lnTo>
                    <a:pt x="4918971" y="51167"/>
                  </a:lnTo>
                  <a:lnTo>
                    <a:pt x="4925568" y="83819"/>
                  </a:lnTo>
                  <a:lnTo>
                    <a:pt x="4925568" y="419100"/>
                  </a:lnTo>
                  <a:lnTo>
                    <a:pt x="4918971" y="451699"/>
                  </a:lnTo>
                  <a:lnTo>
                    <a:pt x="4900993" y="478345"/>
                  </a:lnTo>
                  <a:lnTo>
                    <a:pt x="4874347" y="496323"/>
                  </a:lnTo>
                  <a:lnTo>
                    <a:pt x="4841748" y="502919"/>
                  </a:lnTo>
                  <a:lnTo>
                    <a:pt x="83819" y="502919"/>
                  </a:lnTo>
                  <a:lnTo>
                    <a:pt x="51167" y="496323"/>
                  </a:lnTo>
                  <a:lnTo>
                    <a:pt x="24526" y="478345"/>
                  </a:lnTo>
                  <a:lnTo>
                    <a:pt x="6578" y="451699"/>
                  </a:lnTo>
                  <a:lnTo>
                    <a:pt x="0" y="419100"/>
                  </a:lnTo>
                  <a:lnTo>
                    <a:pt x="0" y="8381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79976" y="5649467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7037832" y="0"/>
                  </a:moveTo>
                  <a:lnTo>
                    <a:pt x="0" y="0"/>
                  </a:lnTo>
                  <a:lnTo>
                    <a:pt x="0" y="428243"/>
                  </a:lnTo>
                  <a:lnTo>
                    <a:pt x="7037832" y="428243"/>
                  </a:lnTo>
                  <a:lnTo>
                    <a:pt x="703783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4379976" y="5649467"/>
              <a:ext cx="7038340" cy="428625"/>
            </a:xfrm>
            <a:custGeom>
              <a:avLst/>
              <a:gdLst/>
              <a:ahLst/>
              <a:cxnLst/>
              <a:rect l="l" t="t" r="r" b="b"/>
              <a:pathLst>
                <a:path w="7038340" h="428625">
                  <a:moveTo>
                    <a:pt x="0" y="428243"/>
                  </a:moveTo>
                  <a:lnTo>
                    <a:pt x="7037832" y="428243"/>
                  </a:lnTo>
                  <a:lnTo>
                    <a:pt x="7037832" y="0"/>
                  </a:lnTo>
                  <a:lnTo>
                    <a:pt x="0" y="0"/>
                  </a:lnTo>
                  <a:lnTo>
                    <a:pt x="0" y="428243"/>
                  </a:lnTo>
                  <a:close/>
                </a:path>
              </a:pathLst>
            </a:custGeom>
            <a:ln w="12699">
              <a:solidFill>
                <a:srgbClr val="6FAC4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4732020" y="5398008"/>
              <a:ext cx="4925695" cy="502920"/>
            </a:xfrm>
            <a:custGeom>
              <a:avLst/>
              <a:gdLst/>
              <a:ahLst/>
              <a:cxnLst/>
              <a:rect l="l" t="t" r="r" b="b"/>
              <a:pathLst>
                <a:path w="4925695" h="502920">
                  <a:moveTo>
                    <a:pt x="4841748" y="0"/>
                  </a:moveTo>
                  <a:lnTo>
                    <a:pt x="83819" y="0"/>
                  </a:lnTo>
                  <a:lnTo>
                    <a:pt x="51167" y="6578"/>
                  </a:lnTo>
                  <a:lnTo>
                    <a:pt x="24526" y="24526"/>
                  </a:lnTo>
                  <a:lnTo>
                    <a:pt x="6578" y="51167"/>
                  </a:lnTo>
                  <a:lnTo>
                    <a:pt x="0" y="83819"/>
                  </a:lnTo>
                  <a:lnTo>
                    <a:pt x="0" y="419099"/>
                  </a:lnTo>
                  <a:lnTo>
                    <a:pt x="6578" y="451726"/>
                  </a:lnTo>
                  <a:lnTo>
                    <a:pt x="24526" y="478369"/>
                  </a:lnTo>
                  <a:lnTo>
                    <a:pt x="51167" y="496332"/>
                  </a:lnTo>
                  <a:lnTo>
                    <a:pt x="83819" y="502919"/>
                  </a:lnTo>
                  <a:lnTo>
                    <a:pt x="4841748" y="502919"/>
                  </a:lnTo>
                  <a:lnTo>
                    <a:pt x="4874347" y="496332"/>
                  </a:lnTo>
                  <a:lnTo>
                    <a:pt x="4900993" y="478369"/>
                  </a:lnTo>
                  <a:lnTo>
                    <a:pt x="4918971" y="451726"/>
                  </a:lnTo>
                  <a:lnTo>
                    <a:pt x="4925568" y="419099"/>
                  </a:lnTo>
                  <a:lnTo>
                    <a:pt x="4925568" y="83819"/>
                  </a:lnTo>
                  <a:lnTo>
                    <a:pt x="4918971" y="51167"/>
                  </a:lnTo>
                  <a:lnTo>
                    <a:pt x="4900993" y="24526"/>
                  </a:lnTo>
                  <a:lnTo>
                    <a:pt x="4874347" y="6578"/>
                  </a:lnTo>
                  <a:lnTo>
                    <a:pt x="4841748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4732020" y="5398008"/>
              <a:ext cx="4925695" cy="502920"/>
            </a:xfrm>
            <a:custGeom>
              <a:avLst/>
              <a:gdLst/>
              <a:ahLst/>
              <a:cxnLst/>
              <a:rect l="l" t="t" r="r" b="b"/>
              <a:pathLst>
                <a:path w="4925695" h="502920">
                  <a:moveTo>
                    <a:pt x="0" y="83819"/>
                  </a:moveTo>
                  <a:lnTo>
                    <a:pt x="6578" y="51167"/>
                  </a:lnTo>
                  <a:lnTo>
                    <a:pt x="24526" y="24526"/>
                  </a:lnTo>
                  <a:lnTo>
                    <a:pt x="51167" y="6578"/>
                  </a:lnTo>
                  <a:lnTo>
                    <a:pt x="83819" y="0"/>
                  </a:lnTo>
                  <a:lnTo>
                    <a:pt x="4841748" y="0"/>
                  </a:lnTo>
                  <a:lnTo>
                    <a:pt x="4874347" y="6578"/>
                  </a:lnTo>
                  <a:lnTo>
                    <a:pt x="4900993" y="24526"/>
                  </a:lnTo>
                  <a:lnTo>
                    <a:pt x="4918971" y="51167"/>
                  </a:lnTo>
                  <a:lnTo>
                    <a:pt x="4925568" y="83819"/>
                  </a:lnTo>
                  <a:lnTo>
                    <a:pt x="4925568" y="419099"/>
                  </a:lnTo>
                  <a:lnTo>
                    <a:pt x="4918971" y="451726"/>
                  </a:lnTo>
                  <a:lnTo>
                    <a:pt x="4900993" y="478369"/>
                  </a:lnTo>
                  <a:lnTo>
                    <a:pt x="4874347" y="496332"/>
                  </a:lnTo>
                  <a:lnTo>
                    <a:pt x="4841748" y="502919"/>
                  </a:lnTo>
                  <a:lnTo>
                    <a:pt x="83819" y="502919"/>
                  </a:lnTo>
                  <a:lnTo>
                    <a:pt x="51167" y="496332"/>
                  </a:lnTo>
                  <a:lnTo>
                    <a:pt x="24526" y="478369"/>
                  </a:lnTo>
                  <a:lnTo>
                    <a:pt x="6578" y="451726"/>
                  </a:lnTo>
                  <a:lnTo>
                    <a:pt x="0" y="419099"/>
                  </a:lnTo>
                  <a:lnTo>
                    <a:pt x="0" y="83819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</p:spPr>
        <p:txBody>
          <a:bodyPr wrap="square" lIns="0" tIns="1720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5"/>
              </a:spcBef>
            </a:pPr>
            <a:endParaRPr sz="1700">
              <a:latin typeface="Times New Roman"/>
              <a:cs typeface="Times New Roman"/>
            </a:endParaRPr>
          </a:p>
          <a:p>
            <a:pPr marL="1157605" indent="-259079">
              <a:lnSpc>
                <a:spcPct val="100000"/>
              </a:lnSpc>
              <a:buFont typeface="Calibri"/>
              <a:buAutoNum type="romanLcParenR" startAt="4"/>
              <a:tabLst>
                <a:tab pos="1157605" algn="l"/>
              </a:tabLst>
            </a:pP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700" spc="-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Stamping</a:t>
            </a:r>
            <a:r>
              <a:rPr dirty="0" sz="17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Methods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5"/>
              </a:spcBef>
              <a:buClr>
                <a:srgbClr val="FFFFFF"/>
              </a:buClr>
              <a:buFont typeface="Calibri"/>
              <a:buAutoNum type="romanLcParenR" startAt="4"/>
            </a:pPr>
            <a:endParaRPr sz="1700">
              <a:latin typeface="Calibri"/>
              <a:cs typeface="Calibri"/>
            </a:endParaRPr>
          </a:p>
          <a:p>
            <a:pPr marL="898525">
              <a:lnSpc>
                <a:spcPct val="100000"/>
              </a:lnSpc>
            </a:pP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----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stamp</a:t>
            </a:r>
            <a:r>
              <a:rPr dirty="0" sz="1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Based</a:t>
            </a:r>
            <a:r>
              <a:rPr dirty="0" sz="17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Protocol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1700">
              <a:latin typeface="Calibri"/>
              <a:cs typeface="Calibri"/>
            </a:endParaRPr>
          </a:p>
          <a:p>
            <a:pPr marL="1109345" indent="-210820">
              <a:lnSpc>
                <a:spcPct val="100000"/>
              </a:lnSpc>
              <a:buFont typeface="Calibri"/>
              <a:buAutoNum type="romanLcParenR" startAt="5"/>
              <a:tabLst>
                <a:tab pos="1109345" algn="l"/>
              </a:tabLst>
            </a:pP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Optimistic</a:t>
            </a:r>
            <a:r>
              <a:rPr dirty="0" sz="17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Methods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5"/>
              </a:spcBef>
              <a:buClr>
                <a:srgbClr val="FFFFFF"/>
              </a:buClr>
              <a:buFont typeface="Calibri"/>
              <a:buAutoNum type="romanLcParenR" startAt="5"/>
            </a:pPr>
            <a:endParaRPr sz="1700">
              <a:latin typeface="Calibri"/>
              <a:cs typeface="Calibri"/>
            </a:endParaRPr>
          </a:p>
          <a:p>
            <a:pPr marL="898525">
              <a:lnSpc>
                <a:spcPct val="100000"/>
              </a:lnSpc>
              <a:spcBef>
                <a:spcPts val="5"/>
              </a:spcBef>
            </a:pP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---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Optimistic</a:t>
            </a:r>
            <a:r>
              <a:rPr dirty="0" sz="1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Concurrency</a:t>
            </a:r>
            <a:r>
              <a:rPr dirty="0" sz="17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control(OCC)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1700">
              <a:latin typeface="Calibri"/>
              <a:cs typeface="Calibri"/>
            </a:endParaRPr>
          </a:p>
          <a:p>
            <a:pPr marL="1157605" indent="-259079">
              <a:lnSpc>
                <a:spcPct val="100000"/>
              </a:lnSpc>
              <a:buFont typeface="Calibri"/>
              <a:buAutoNum type="romanLcParenR" startAt="6"/>
              <a:tabLst>
                <a:tab pos="1157605" algn="l"/>
              </a:tabLst>
            </a:pP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Deadlocks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60"/>
              </a:spcBef>
            </a:pPr>
            <a:endParaRPr sz="1700">
              <a:latin typeface="Calibri"/>
              <a:cs typeface="Calibri"/>
            </a:endParaRPr>
          </a:p>
          <a:p>
            <a:pPr marL="898525">
              <a:lnSpc>
                <a:spcPct val="100000"/>
              </a:lnSpc>
            </a:pPr>
            <a:r>
              <a:rPr dirty="0" sz="1700" spc="-25">
                <a:solidFill>
                  <a:srgbClr val="FFFFFF"/>
                </a:solidFill>
                <a:latin typeface="Calibri"/>
                <a:cs typeface="Calibri"/>
              </a:rPr>
              <a:t>---</a:t>
            </a:r>
            <a:r>
              <a:rPr dirty="0" sz="1700">
                <a:solidFill>
                  <a:srgbClr val="FFFFFF"/>
                </a:solidFill>
                <a:latin typeface="Calibri"/>
                <a:cs typeface="Calibri"/>
              </a:rPr>
              <a:t>Prevention</a:t>
            </a:r>
            <a:r>
              <a:rPr dirty="0" sz="17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,Detection</a:t>
            </a:r>
            <a:r>
              <a:rPr dirty="0" sz="17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>
                <a:solidFill>
                  <a:srgbClr val="FFFFFF"/>
                </a:solidFill>
                <a:latin typeface="Calibri"/>
                <a:cs typeface="Calibri"/>
              </a:rPr>
              <a:t>,Recovery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55"/>
              </a:spcBef>
            </a:pPr>
            <a:endParaRPr sz="1700">
              <a:latin typeface="Calibri"/>
              <a:cs typeface="Calibri"/>
            </a:endParaRPr>
          </a:p>
          <a:p>
            <a:pPr marL="898525">
              <a:lnSpc>
                <a:spcPct val="100000"/>
              </a:lnSpc>
            </a:pP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Database</a:t>
            </a:r>
            <a:r>
              <a:rPr dirty="0" sz="17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b="1">
                <a:solidFill>
                  <a:srgbClr val="FFFFFF"/>
                </a:solidFill>
                <a:latin typeface="Calibri"/>
                <a:cs typeface="Calibri"/>
              </a:rPr>
              <a:t>Recovery</a:t>
            </a:r>
            <a:r>
              <a:rPr dirty="0" sz="1700" spc="-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700" spc="-10" b="1">
                <a:solidFill>
                  <a:srgbClr val="FFFFFF"/>
                </a:solidFill>
                <a:latin typeface="Calibri"/>
                <a:cs typeface="Calibri"/>
              </a:rPr>
              <a:t>Management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31495">
              <a:lnSpc>
                <a:spcPct val="90000"/>
              </a:lnSpc>
              <a:spcBef>
                <a:spcPts val="5"/>
              </a:spcBef>
            </a:pPr>
            <a:r>
              <a:rPr dirty="0" sz="3500" b="1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dirty="0" sz="35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Transaction Management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082802"/>
            <a:ext cx="64484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SQL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query,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SQL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(DML,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DDL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etc)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87570" y="1384249"/>
            <a:ext cx="5281930" cy="36068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b="0">
                <a:latin typeface="Calibri"/>
                <a:cs typeface="Calibri"/>
              </a:rPr>
              <a:t>sent</a:t>
            </a:r>
            <a:r>
              <a:rPr dirty="0" sz="2200" spc="-55" b="0">
                <a:latin typeface="Calibri"/>
                <a:cs typeface="Calibri"/>
              </a:rPr>
              <a:t> </a:t>
            </a:r>
            <a:r>
              <a:rPr dirty="0" sz="2200" b="0">
                <a:latin typeface="Calibri"/>
                <a:cs typeface="Calibri"/>
              </a:rPr>
              <a:t>to</a:t>
            </a:r>
            <a:r>
              <a:rPr dirty="0" sz="2200" spc="-55" b="0">
                <a:latin typeface="Calibri"/>
                <a:cs typeface="Calibri"/>
              </a:rPr>
              <a:t> </a:t>
            </a:r>
            <a:r>
              <a:rPr dirty="0" sz="2200" b="0">
                <a:latin typeface="Calibri"/>
                <a:cs typeface="Calibri"/>
              </a:rPr>
              <a:t>server</a:t>
            </a:r>
            <a:r>
              <a:rPr dirty="0" sz="2200" spc="-65" b="0">
                <a:latin typeface="Calibri"/>
                <a:cs typeface="Calibri"/>
              </a:rPr>
              <a:t> </a:t>
            </a:r>
            <a:r>
              <a:rPr dirty="0" sz="2200" b="0">
                <a:latin typeface="Calibri"/>
                <a:cs typeface="Calibri"/>
              </a:rPr>
              <a:t>and</a:t>
            </a:r>
            <a:r>
              <a:rPr dirty="0" sz="2200" spc="-65" b="0">
                <a:latin typeface="Calibri"/>
                <a:cs typeface="Calibri"/>
              </a:rPr>
              <a:t> </a:t>
            </a:r>
            <a:r>
              <a:rPr dirty="0" sz="2200" spc="-10" b="0">
                <a:latin typeface="Calibri"/>
                <a:cs typeface="Calibri"/>
              </a:rPr>
              <a:t>executed</a:t>
            </a:r>
            <a:r>
              <a:rPr dirty="0" sz="2200" spc="-40" b="0">
                <a:latin typeface="Calibri"/>
                <a:cs typeface="Calibri"/>
              </a:rPr>
              <a:t> </a:t>
            </a:r>
            <a:r>
              <a:rPr dirty="0" sz="2200" b="0">
                <a:latin typeface="Calibri"/>
                <a:cs typeface="Calibri"/>
              </a:rPr>
              <a:t>one</a:t>
            </a:r>
            <a:r>
              <a:rPr dirty="0" sz="2200" spc="-45" b="0">
                <a:latin typeface="Calibri"/>
                <a:cs typeface="Calibri"/>
              </a:rPr>
              <a:t> </a:t>
            </a:r>
            <a:r>
              <a:rPr dirty="0" sz="2200" b="0">
                <a:latin typeface="Calibri"/>
                <a:cs typeface="Calibri"/>
              </a:rPr>
              <a:t>after</a:t>
            </a:r>
            <a:r>
              <a:rPr dirty="0" sz="2200" spc="-60" b="0">
                <a:latin typeface="Calibri"/>
                <a:cs typeface="Calibri"/>
              </a:rPr>
              <a:t> </a:t>
            </a:r>
            <a:r>
              <a:rPr dirty="0" sz="2200" spc="-10" b="0">
                <a:latin typeface="Calibri"/>
                <a:cs typeface="Calibri"/>
              </a:rPr>
              <a:t>another.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58970" y="1813051"/>
            <a:ext cx="6872605" cy="388620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place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sending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SQL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command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we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combine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logically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similar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logical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unit.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Example: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Transferring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100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account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another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Withdraw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Rs.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100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account_1</a:t>
            </a:r>
            <a:endParaRPr sz="22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4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2200">
                <a:latin typeface="Calibri"/>
                <a:cs typeface="Calibri"/>
              </a:rPr>
              <a:t>Deposit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Rs.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100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account_2</a:t>
            </a:r>
            <a:endParaRPr sz="2200">
              <a:latin typeface="Calibri"/>
              <a:cs typeface="Calibri"/>
            </a:endParaRPr>
          </a:p>
          <a:p>
            <a:pPr marL="241300" marR="78105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Collection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operations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form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single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logical </a:t>
            </a:r>
            <a:r>
              <a:rPr dirty="0" sz="2200">
                <a:latin typeface="Calibri"/>
                <a:cs typeface="Calibri"/>
              </a:rPr>
              <a:t>unit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called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transaction.</a:t>
            </a:r>
            <a:endParaRPr sz="2200">
              <a:latin typeface="Calibri"/>
              <a:cs typeface="Calibri"/>
            </a:endParaRPr>
          </a:p>
          <a:p>
            <a:pPr marL="241300" marR="763270" indent="-228600">
              <a:lnSpc>
                <a:spcPts val="23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sequence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SQL </a:t>
            </a:r>
            <a:r>
              <a:rPr dirty="0" sz="2200" spc="-10">
                <a:latin typeface="Calibri"/>
                <a:cs typeface="Calibri"/>
              </a:rPr>
              <a:t>statements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combined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together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form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single </a:t>
            </a:r>
            <a:r>
              <a:rPr dirty="0" sz="2200">
                <a:latin typeface="Calibri"/>
                <a:cs typeface="Calibri"/>
              </a:rPr>
              <a:t>logical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unit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work.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458970" y="766317"/>
            <a:ext cx="3522979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Calibri"/>
                <a:cs typeface="Calibri"/>
              </a:rPr>
              <a:t>Types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operations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0">
                <a:latin typeface="Calibri"/>
                <a:cs typeface="Calibri"/>
              </a:rPr>
              <a:t> transactions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916170" y="1077214"/>
            <a:ext cx="6416040" cy="221932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Read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</a:t>
            </a:r>
            <a:r>
              <a:rPr dirty="0" sz="1800" spc="-20">
                <a:latin typeface="Calibri"/>
                <a:cs typeface="Calibri"/>
              </a:rPr>
              <a:t> transfers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item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database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buffer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read </a:t>
            </a:r>
            <a:r>
              <a:rPr dirty="0" sz="1800" spc="-10">
                <a:latin typeface="Calibri"/>
                <a:cs typeface="Calibri"/>
              </a:rPr>
              <a:t>operation.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Selection/Retrieval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Language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800">
                <a:latin typeface="Calibri"/>
                <a:cs typeface="Calibri"/>
              </a:rPr>
              <a:t>SELECT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*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STUDENTS</a:t>
            </a:r>
            <a:endParaRPr sz="1800">
              <a:latin typeface="Calibri"/>
              <a:cs typeface="Calibri"/>
            </a:endParaRPr>
          </a:p>
          <a:p>
            <a:pPr algn="just" marL="241300" marR="530225" indent="-228600">
              <a:lnSpc>
                <a:spcPts val="1939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Write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transfers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local buffer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back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database.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Ex: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Manipulation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Language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(DML)</a:t>
            </a:r>
            <a:endParaRPr sz="1800">
              <a:latin typeface="Calibri"/>
              <a:cs typeface="Calibri"/>
            </a:endParaRPr>
          </a:p>
          <a:p>
            <a:pPr lvl="1" marL="698500" indent="-228600">
              <a:lnSpc>
                <a:spcPct val="100000"/>
              </a:lnSpc>
              <a:spcBef>
                <a:spcPts val="27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800" spc="-25">
                <a:latin typeface="Calibri"/>
                <a:cs typeface="Calibri"/>
              </a:rPr>
              <a:t>UPDATE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STUDENT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NAME=‘RAVI’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-10">
                <a:latin typeface="Calibri"/>
                <a:cs typeface="Calibri"/>
              </a:rPr>
              <a:t> SID=102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58970" y="3369691"/>
            <a:ext cx="6684645" cy="265684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marL="241300" marR="109855" indent="-228600">
              <a:lnSpc>
                <a:spcPts val="195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Information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processing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DBMS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divided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individual,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indivisible operational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logical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called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939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20">
                <a:latin typeface="Calibri"/>
                <a:cs typeface="Calibri"/>
              </a:rPr>
              <a:t>Transactions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mechanisms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database</a:t>
            </a:r>
            <a:endParaRPr sz="1800">
              <a:latin typeface="Calibri"/>
              <a:cs typeface="Calibri"/>
            </a:endParaRPr>
          </a:p>
          <a:p>
            <a:pPr marL="241300" marR="242570" indent="-228600">
              <a:lnSpc>
                <a:spcPts val="1939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series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small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together </a:t>
            </a:r>
            <a:r>
              <a:rPr dirty="0" sz="1800">
                <a:latin typeface="Calibri"/>
                <a:cs typeface="Calibri"/>
              </a:rPr>
              <a:t>form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single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operation.</a:t>
            </a:r>
            <a:endParaRPr sz="1800">
              <a:latin typeface="Calibri"/>
              <a:cs typeface="Calibri"/>
            </a:endParaRPr>
          </a:p>
          <a:p>
            <a:pPr marL="241300" marR="262255" indent="-228600">
              <a:lnSpc>
                <a:spcPts val="1939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Application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programs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sequences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important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successfully completed.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31495">
              <a:lnSpc>
                <a:spcPct val="90000"/>
              </a:lnSpc>
              <a:spcBef>
                <a:spcPts val="5"/>
              </a:spcBef>
            </a:pPr>
            <a:r>
              <a:rPr dirty="0" sz="3500" b="1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dirty="0" sz="35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Transaction Management</a:t>
            </a:r>
            <a:endParaRPr sz="3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234950" rIns="0" bIns="0" rtlCol="0" vert="horz">
            <a:spAutoFit/>
          </a:bodyPr>
          <a:lstStyle/>
          <a:p>
            <a:pPr marL="655320" marR="403860" indent="-228600">
              <a:lnSpc>
                <a:spcPts val="1939"/>
              </a:lnSpc>
              <a:spcBef>
                <a:spcPts val="185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800">
                <a:latin typeface="Calibri"/>
                <a:cs typeface="Calibri"/>
              </a:rPr>
              <a:t>During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money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between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bank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is </a:t>
            </a:r>
            <a:r>
              <a:rPr dirty="0" sz="1800" spc="-10">
                <a:latin typeface="Calibri"/>
                <a:cs typeface="Calibri"/>
              </a:rPr>
              <a:t>unacceptable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updates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second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fail.</a:t>
            </a:r>
            <a:endParaRPr sz="1800">
              <a:latin typeface="Calibri"/>
              <a:cs typeface="Calibri"/>
            </a:endParaRPr>
          </a:p>
          <a:p>
            <a:pPr marL="655320" indent="-228600">
              <a:lnSpc>
                <a:spcPts val="2050"/>
              </a:lnSpc>
              <a:spcBef>
                <a:spcPts val="77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would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lead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transferred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money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lost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would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be</a:t>
            </a:r>
            <a:endParaRPr sz="1800">
              <a:latin typeface="Calibri"/>
              <a:cs typeface="Calibri"/>
            </a:endParaRPr>
          </a:p>
          <a:p>
            <a:pPr marL="655320">
              <a:lnSpc>
                <a:spcPts val="2050"/>
              </a:lnSpc>
            </a:pPr>
            <a:r>
              <a:rPr dirty="0" sz="1800">
                <a:latin typeface="Calibri"/>
                <a:cs typeface="Calibri"/>
              </a:rPr>
              <a:t>withdrawn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inserted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second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</a:t>
            </a:r>
            <a:endParaRPr sz="1800">
              <a:latin typeface="Calibri"/>
              <a:cs typeface="Calibri"/>
            </a:endParaRPr>
          </a:p>
          <a:p>
            <a:pPr lvl="1" marL="1112520" indent="-228600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1800">
                <a:latin typeface="Calibri"/>
                <a:cs typeface="Calibri"/>
              </a:rPr>
              <a:t>BEGIN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</a:t>
            </a:r>
            <a:endParaRPr sz="1800">
              <a:latin typeface="Calibri"/>
              <a:cs typeface="Calibri"/>
            </a:endParaRPr>
          </a:p>
          <a:p>
            <a:pPr lvl="2" marL="156972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569720" algn="l"/>
              </a:tabLst>
            </a:pPr>
            <a:r>
              <a:rPr dirty="0" sz="1800" spc="-25">
                <a:latin typeface="Calibri"/>
                <a:cs typeface="Calibri"/>
              </a:rPr>
              <a:t>UPDATE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accounts</a:t>
            </a:r>
            <a:endParaRPr sz="1800">
              <a:latin typeface="Calibri"/>
              <a:cs typeface="Calibri"/>
            </a:endParaRPr>
          </a:p>
          <a:p>
            <a:pPr marL="1550035" marR="3773804">
              <a:lnSpc>
                <a:spcPct val="112799"/>
              </a:lnSpc>
              <a:spcBef>
                <a:spcPts val="15"/>
              </a:spcBef>
            </a:pP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balance=balance-</a:t>
            </a:r>
            <a:r>
              <a:rPr dirty="0" sz="1800" spc="-25">
                <a:latin typeface="Calibri"/>
                <a:cs typeface="Calibri"/>
              </a:rPr>
              <a:t>100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account=A</a:t>
            </a:r>
            <a:endParaRPr sz="1800">
              <a:latin typeface="Calibri"/>
              <a:cs typeface="Calibri"/>
            </a:endParaRPr>
          </a:p>
          <a:p>
            <a:pPr lvl="2" marL="1569720" indent="-228600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1569720" algn="l"/>
              </a:tabLst>
            </a:pPr>
            <a:r>
              <a:rPr dirty="0" sz="1800" spc="-25">
                <a:latin typeface="Calibri"/>
                <a:cs typeface="Calibri"/>
              </a:rPr>
              <a:t>UPDATE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accounts</a:t>
            </a:r>
            <a:endParaRPr sz="1800">
              <a:latin typeface="Calibri"/>
              <a:cs typeface="Calibri"/>
            </a:endParaRPr>
          </a:p>
          <a:p>
            <a:pPr marL="1603375" marR="3677285">
              <a:lnSpc>
                <a:spcPct val="112799"/>
              </a:lnSpc>
              <a:spcBef>
                <a:spcPts val="15"/>
              </a:spcBef>
            </a:pP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balance=balance+100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account=B</a:t>
            </a:r>
            <a:endParaRPr sz="1800">
              <a:latin typeface="Calibri"/>
              <a:cs typeface="Calibri"/>
            </a:endParaRPr>
          </a:p>
          <a:p>
            <a:pPr lvl="2" marL="1569720" marR="3954145" indent="-229235">
              <a:lnSpc>
                <a:spcPct val="113300"/>
              </a:lnSpc>
              <a:buFont typeface="Arial MT"/>
              <a:buChar char="•"/>
              <a:tabLst>
                <a:tab pos="1798320" algn="l"/>
              </a:tabLst>
            </a:pP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errors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then </a:t>
            </a:r>
            <a:r>
              <a:rPr dirty="0" sz="1800" spc="-20">
                <a:latin typeface="Calibri"/>
                <a:cs typeface="Calibri"/>
              </a:rPr>
              <a:t>	</a:t>
            </a:r>
            <a:r>
              <a:rPr dirty="0" sz="1800">
                <a:latin typeface="Calibri"/>
                <a:cs typeface="Calibri"/>
              </a:rPr>
              <a:t>COMMIT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endParaRPr sz="1800">
              <a:latin typeface="Calibri"/>
              <a:cs typeface="Calibri"/>
            </a:endParaRPr>
          </a:p>
          <a:p>
            <a:pPr lvl="2" marL="156972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1569720" algn="l"/>
              </a:tabLst>
            </a:pPr>
            <a:r>
              <a:rPr dirty="0" sz="1800" spc="-20">
                <a:latin typeface="Calibri"/>
                <a:cs typeface="Calibri"/>
              </a:rPr>
              <a:t>Else</a:t>
            </a:r>
            <a:endParaRPr sz="1800">
              <a:latin typeface="Calibri"/>
              <a:cs typeface="Calibri"/>
            </a:endParaRPr>
          </a:p>
          <a:p>
            <a:pPr marL="1798320">
              <a:lnSpc>
                <a:spcPct val="100000"/>
              </a:lnSpc>
              <a:spcBef>
                <a:spcPts val="290"/>
              </a:spcBef>
            </a:pPr>
            <a:r>
              <a:rPr dirty="0" sz="1800" spc="-10">
                <a:latin typeface="Calibri"/>
                <a:cs typeface="Calibri"/>
              </a:rPr>
              <a:t>ROLLBACK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endParaRPr sz="1800">
              <a:latin typeface="Calibri"/>
              <a:cs typeface="Calibri"/>
            </a:endParaRPr>
          </a:p>
          <a:p>
            <a:pPr lvl="2" marL="1569720" indent="-228600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1569720" algn="l"/>
              </a:tabLst>
            </a:pP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If</a:t>
            </a:r>
            <a:endParaRPr sz="1800">
              <a:latin typeface="Calibri"/>
              <a:cs typeface="Calibri"/>
            </a:endParaRPr>
          </a:p>
          <a:p>
            <a:pPr lvl="1" marL="1112520" indent="-228600">
              <a:lnSpc>
                <a:spcPct val="100000"/>
              </a:lnSpc>
              <a:spcBef>
                <a:spcPts val="275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31495">
              <a:lnSpc>
                <a:spcPct val="90000"/>
              </a:lnSpc>
              <a:spcBef>
                <a:spcPts val="5"/>
              </a:spcBef>
            </a:pPr>
            <a:r>
              <a:rPr dirty="0" sz="3500" b="1">
                <a:solidFill>
                  <a:srgbClr val="FFFFFF"/>
                </a:solidFill>
                <a:latin typeface="Calibri"/>
                <a:cs typeface="Calibri"/>
              </a:rPr>
              <a:t>Concept</a:t>
            </a:r>
            <a:r>
              <a:rPr dirty="0" sz="3500" spc="-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Transaction Management</a:t>
            </a:r>
            <a:endParaRPr sz="3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2736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15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691515">
              <a:lnSpc>
                <a:spcPct val="90000"/>
              </a:lnSpc>
            </a:pPr>
            <a:r>
              <a:rPr dirty="0" sz="3800" spc="-35">
                <a:solidFill>
                  <a:srgbClr val="FFFFFF"/>
                </a:solidFill>
              </a:rPr>
              <a:t>Transaction </a:t>
            </a:r>
            <a:r>
              <a:rPr dirty="0" sz="3800" spc="-10">
                <a:solidFill>
                  <a:srgbClr val="FFFFFF"/>
                </a:solidFill>
              </a:rPr>
              <a:t>Structure </a:t>
            </a:r>
            <a:r>
              <a:rPr dirty="0" sz="3800" spc="-25">
                <a:solidFill>
                  <a:srgbClr val="FFFFFF"/>
                </a:solidFill>
              </a:rPr>
              <a:t>And </a:t>
            </a:r>
            <a:r>
              <a:rPr dirty="0" sz="3800" spc="-10">
                <a:solidFill>
                  <a:srgbClr val="FFFFFF"/>
                </a:solidFill>
              </a:rPr>
              <a:t>Boundaries</a:t>
            </a:r>
            <a:endParaRPr sz="38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690117"/>
            <a:ext cx="6868159" cy="542099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1300" marR="425450" indent="-228600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consists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SQL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operations executed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between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begin transaction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end</a:t>
            </a:r>
            <a:r>
              <a:rPr dirty="0" sz="1600" spc="-10">
                <a:latin typeface="Calibri"/>
                <a:cs typeface="Calibri"/>
              </a:rPr>
              <a:t> transaction.</a:t>
            </a:r>
            <a:endParaRPr sz="1600">
              <a:latin typeface="Calibri"/>
              <a:cs typeface="Calibri"/>
            </a:endParaRPr>
          </a:p>
          <a:p>
            <a:pPr marL="241300" marR="45720" indent="-228600">
              <a:lnSpc>
                <a:spcPts val="173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started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issuing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BEGIN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command.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Once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this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starts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monitoring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transaction.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All</a:t>
            </a:r>
            <a:r>
              <a:rPr dirty="0" sz="1600" spc="50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BEGIN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treated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single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large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operation.</a:t>
            </a:r>
            <a:endParaRPr sz="1600">
              <a:latin typeface="Calibri"/>
              <a:cs typeface="Calibri"/>
            </a:endParaRPr>
          </a:p>
          <a:p>
            <a:pPr marL="241300" marR="466725" indent="-228600">
              <a:lnSpc>
                <a:spcPts val="17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either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a </a:t>
            </a:r>
            <a:r>
              <a:rPr dirty="0" sz="1600">
                <a:latin typeface="Calibri"/>
                <a:cs typeface="Calibri"/>
              </a:rPr>
              <a:t>COMMIT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back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ROLLBACK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command.</a:t>
            </a:r>
            <a:endParaRPr sz="1600">
              <a:latin typeface="Calibri"/>
              <a:cs typeface="Calibri"/>
            </a:endParaRPr>
          </a:p>
          <a:p>
            <a:pPr marL="241300" marR="10160" indent="-228600">
              <a:lnSpc>
                <a:spcPts val="1730"/>
              </a:lnSpc>
              <a:spcBef>
                <a:spcPts val="9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Until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commits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back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remains </a:t>
            </a:r>
            <a:r>
              <a:rPr dirty="0" sz="1600">
                <a:latin typeface="Calibri"/>
                <a:cs typeface="Calibri"/>
              </a:rPr>
              <a:t>unchanged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other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Therefore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make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as </a:t>
            </a:r>
            <a:r>
              <a:rPr dirty="0" sz="1600">
                <a:latin typeface="Calibri"/>
                <a:cs typeface="Calibri"/>
              </a:rPr>
              <a:t>many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changes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wishes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but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none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updates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reflected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database </a:t>
            </a:r>
            <a:r>
              <a:rPr dirty="0" sz="1600">
                <a:latin typeface="Calibri"/>
                <a:cs typeface="Calibri"/>
              </a:rPr>
              <a:t>until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transaction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fails.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successful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encountered</a:t>
            </a:r>
            <a:r>
              <a:rPr dirty="0" sz="1600">
                <a:latin typeface="Calibri"/>
                <a:cs typeface="Calibri"/>
              </a:rPr>
              <a:t> no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errors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that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changes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made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permanent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become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visible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other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database.</a:t>
            </a:r>
            <a:endParaRPr sz="1600">
              <a:latin typeface="Calibri"/>
              <a:cs typeface="Calibri"/>
            </a:endParaRPr>
          </a:p>
          <a:p>
            <a:pPr marL="241300" marR="256540" indent="-228600">
              <a:lnSpc>
                <a:spcPts val="173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unsuccessful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encountered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some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type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errors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 </a:t>
            </a:r>
            <a:r>
              <a:rPr dirty="0" sz="1600">
                <a:latin typeface="Calibri"/>
                <a:cs typeface="Calibri"/>
              </a:rPr>
              <a:t>rolled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back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undone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database </a:t>
            </a:r>
            <a:r>
              <a:rPr dirty="0" sz="1600">
                <a:latin typeface="Calibri"/>
                <a:cs typeface="Calibri"/>
              </a:rPr>
              <a:t>remains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unchanged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transaction.</a:t>
            </a:r>
            <a:endParaRPr sz="1600">
              <a:latin typeface="Calibri"/>
              <a:cs typeface="Calibri"/>
            </a:endParaRPr>
          </a:p>
          <a:p>
            <a:pPr algn="just" marL="241300" marR="21590" indent="-228600">
              <a:lnSpc>
                <a:spcPts val="173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dirty="0" sz="1600">
                <a:latin typeface="Calibri"/>
                <a:cs typeface="Calibri"/>
              </a:rPr>
              <a:t>	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 </a:t>
            </a:r>
            <a:r>
              <a:rPr dirty="0" sz="1600" spc="-10">
                <a:latin typeface="Calibri"/>
                <a:cs typeface="Calibri"/>
              </a:rPr>
              <a:t>guarantees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operations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either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fail.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operations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undone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 </a:t>
            </a:r>
            <a:r>
              <a:rPr dirty="0" sz="1600" spc="-10">
                <a:latin typeface="Calibri"/>
                <a:cs typeface="Calibri"/>
              </a:rPr>
              <a:t>returned</a:t>
            </a:r>
            <a:r>
              <a:rPr dirty="0" sz="1600">
                <a:latin typeface="Calibri"/>
                <a:cs typeface="Calibri"/>
              </a:rPr>
              <a:t> to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before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started.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691515">
              <a:lnSpc>
                <a:spcPts val="4110"/>
              </a:lnSpc>
            </a:pPr>
            <a:r>
              <a:rPr dirty="0" sz="3800" b="1">
                <a:solidFill>
                  <a:srgbClr val="FFFFFF"/>
                </a:solidFill>
                <a:latin typeface="Calibri"/>
                <a:cs typeface="Calibri"/>
              </a:rPr>
              <a:t>Need</a:t>
            </a:r>
            <a:r>
              <a:rPr dirty="0" sz="3800" spc="-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800" spc="-35" b="1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082802"/>
            <a:ext cx="6818630" cy="2186305"/>
          </a:xfrm>
          <a:prstGeom prst="rect">
            <a:avLst/>
          </a:prstGeom>
        </p:spPr>
        <p:txBody>
          <a:bodyPr wrap="square" lIns="0" tIns="36195" rIns="0" bIns="0" rtlCol="0" vert="horz">
            <a:spAutoFit/>
          </a:bodyPr>
          <a:lstStyle/>
          <a:p>
            <a:pPr algn="just" marL="241300" marR="118110" indent="-228600">
              <a:lnSpc>
                <a:spcPct val="900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dirty="0" sz="1600">
                <a:latin typeface="Calibri"/>
                <a:cs typeface="Calibri"/>
              </a:rPr>
              <a:t>	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management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(DBMS)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should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able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survive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 </a:t>
            </a:r>
            <a:r>
              <a:rPr dirty="0" sz="1600">
                <a:latin typeface="Calibri"/>
                <a:cs typeface="Calibri"/>
              </a:rPr>
              <a:t>failure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conditions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failure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should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be </a:t>
            </a:r>
            <a:r>
              <a:rPr dirty="0" sz="1600">
                <a:latin typeface="Calibri"/>
                <a:cs typeface="Calibri"/>
              </a:rPr>
              <a:t>possible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restart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without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losing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information contained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0">
                <a:latin typeface="Calibri"/>
                <a:cs typeface="Calibri"/>
              </a:rPr>
              <a:t> database.</a:t>
            </a:r>
            <a:endParaRPr sz="1600">
              <a:latin typeface="Calibri"/>
              <a:cs typeface="Calibri"/>
            </a:endParaRPr>
          </a:p>
          <a:p>
            <a:pPr algn="just" marL="242570" indent="-229870">
              <a:lnSpc>
                <a:spcPct val="100000"/>
              </a:lnSpc>
              <a:spcBef>
                <a:spcPts val="80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sz="1600">
                <a:latin typeface="Calibri"/>
                <a:cs typeface="Calibri"/>
              </a:rPr>
              <a:t>Modern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should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loose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because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failure.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DBMS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data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does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become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corrupt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unavailable.</a:t>
            </a:r>
            <a:endParaRPr sz="1600">
              <a:latin typeface="Calibri"/>
              <a:cs typeface="Calibri"/>
            </a:endParaRPr>
          </a:p>
          <a:p>
            <a:pPr algn="just" marL="242570" indent="-22987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work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correctly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many</a:t>
            </a:r>
            <a:r>
              <a:rPr dirty="0" sz="1600" spc="-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below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reasons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16170" y="3283966"/>
            <a:ext cx="6413500" cy="243459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1300" marR="281940" indent="-228600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 spc="-10" b="1">
                <a:latin typeface="Calibri"/>
                <a:cs typeface="Calibri"/>
              </a:rPr>
              <a:t>Software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Errors</a:t>
            </a:r>
            <a:r>
              <a:rPr dirty="0" sz="1600" spc="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normally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mistakes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logic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program </a:t>
            </a:r>
            <a:r>
              <a:rPr dirty="0" sz="1600">
                <a:latin typeface="Calibri"/>
                <a:cs typeface="Calibri"/>
              </a:rPr>
              <a:t>code.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variable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incorrect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value.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48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 spc="-10" b="1">
                <a:latin typeface="Calibri"/>
                <a:cs typeface="Calibri"/>
              </a:rPr>
              <a:t>Hardware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Errors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occur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component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computer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fails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for </a:t>
            </a:r>
            <a:r>
              <a:rPr dirty="0" sz="1600">
                <a:latin typeface="Calibri"/>
                <a:cs typeface="Calibri"/>
              </a:rPr>
              <a:t>eg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disc</a:t>
            </a:r>
            <a:r>
              <a:rPr dirty="0" sz="1600" spc="-10">
                <a:latin typeface="Calibri"/>
                <a:cs typeface="Calibri"/>
              </a:rPr>
              <a:t> drive.</a:t>
            </a:r>
            <a:endParaRPr sz="1600">
              <a:latin typeface="Calibri"/>
              <a:cs typeface="Calibri"/>
            </a:endParaRPr>
          </a:p>
          <a:p>
            <a:pPr marL="241300" marR="466725" indent="-228600">
              <a:lnSpc>
                <a:spcPct val="9010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 spc="-10" b="1">
                <a:latin typeface="Calibri"/>
                <a:cs typeface="Calibri"/>
              </a:rPr>
              <a:t>Communication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Errors</a:t>
            </a:r>
            <a:r>
              <a:rPr dirty="0" sz="1600" spc="1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large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programs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data </a:t>
            </a:r>
            <a:r>
              <a:rPr dirty="0" sz="1600">
                <a:latin typeface="Calibri"/>
                <a:cs typeface="Calibri"/>
              </a:rPr>
              <a:t>stored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numerous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locations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network.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communication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links </a:t>
            </a:r>
            <a:r>
              <a:rPr dirty="0" sz="1600">
                <a:latin typeface="Calibri"/>
                <a:cs typeface="Calibri"/>
              </a:rPr>
              <a:t>between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sites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network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work.</a:t>
            </a:r>
            <a:endParaRPr sz="1600">
              <a:latin typeface="Calibri"/>
              <a:cs typeface="Calibri"/>
            </a:endParaRPr>
          </a:p>
          <a:p>
            <a:pPr algn="just" marL="241300" marR="180975" indent="-228600">
              <a:lnSpc>
                <a:spcPts val="173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dirty="0" sz="1600">
                <a:latin typeface="Calibri"/>
                <a:cs typeface="Calibri"/>
              </a:rPr>
              <a:t>	</a:t>
            </a:r>
            <a:r>
              <a:rPr dirty="0" sz="1600" b="1">
                <a:latin typeface="Calibri"/>
                <a:cs typeface="Calibri"/>
              </a:rPr>
              <a:t>Conflicting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Programs</a:t>
            </a:r>
            <a:r>
              <a:rPr dirty="0" sz="1600" spc="-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program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same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program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change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same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for </a:t>
            </a:r>
            <a:r>
              <a:rPr dirty="0" sz="1600">
                <a:latin typeface="Calibri"/>
                <a:cs typeface="Calibri"/>
              </a:rPr>
              <a:t>eg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541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60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691515">
              <a:lnSpc>
                <a:spcPts val="4110"/>
              </a:lnSpc>
            </a:pPr>
            <a:r>
              <a:rPr dirty="0" sz="3800">
                <a:solidFill>
                  <a:srgbClr val="FFFFFF"/>
                </a:solidFill>
              </a:rPr>
              <a:t>Need</a:t>
            </a:r>
            <a:r>
              <a:rPr dirty="0" sz="3800" spc="-30">
                <a:solidFill>
                  <a:srgbClr val="FFFFFF"/>
                </a:solidFill>
              </a:rPr>
              <a:t> </a:t>
            </a:r>
            <a:r>
              <a:rPr dirty="0" sz="3800" spc="-25">
                <a:solidFill>
                  <a:srgbClr val="FFFFFF"/>
                </a:solidFill>
              </a:rPr>
              <a:t>Of </a:t>
            </a:r>
            <a:r>
              <a:rPr dirty="0" sz="3800" spc="-35">
                <a:solidFill>
                  <a:srgbClr val="FFFFFF"/>
                </a:solidFill>
              </a:rPr>
              <a:t>Transaction </a:t>
            </a:r>
            <a:r>
              <a:rPr dirty="0" sz="3800" spc="-10">
                <a:solidFill>
                  <a:srgbClr val="FFFFFF"/>
                </a:solidFill>
              </a:rPr>
              <a:t>contd..</a:t>
            </a:r>
            <a:endParaRPr sz="38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314069"/>
            <a:ext cx="6829425" cy="365696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1320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processing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designed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maintain</a:t>
            </a:r>
            <a:r>
              <a:rPr dirty="0" sz="2600" spc="-50">
                <a:latin typeface="Calibri"/>
                <a:cs typeface="Calibri"/>
              </a:rPr>
              <a:t> a </a:t>
            </a:r>
            <a:r>
              <a:rPr dirty="0" sz="2600">
                <a:latin typeface="Calibri"/>
                <a:cs typeface="Calibri"/>
              </a:rPr>
              <a:t>database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consistent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marL="241300" marR="84455" indent="-228600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ensures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operations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carried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out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system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interdependent.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Transactions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either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successfully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or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aborted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successfully.</a:t>
            </a:r>
            <a:endParaRPr sz="2600">
              <a:latin typeface="Calibri"/>
              <a:cs typeface="Calibri"/>
            </a:endParaRPr>
          </a:p>
          <a:p>
            <a:pPr marL="241300" marR="313690" indent="-228600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processing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concurrent execution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recovery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possible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 failure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DBMS.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767839" y="0"/>
            <a:ext cx="10424160" cy="5920740"/>
          </a:xfrm>
          <a:custGeom>
            <a:avLst/>
            <a:gdLst/>
            <a:ahLst/>
            <a:cxnLst/>
            <a:rect l="l" t="t" r="r" b="b"/>
            <a:pathLst>
              <a:path w="10424160" h="5920740">
                <a:moveTo>
                  <a:pt x="10424160" y="0"/>
                </a:moveTo>
                <a:lnTo>
                  <a:pt x="3493135" y="0"/>
                </a:lnTo>
                <a:lnTo>
                  <a:pt x="3453456" y="6899"/>
                </a:lnTo>
                <a:lnTo>
                  <a:pt x="3412734" y="15446"/>
                </a:lnTo>
                <a:lnTo>
                  <a:pt x="3371278" y="27987"/>
                </a:lnTo>
                <a:lnTo>
                  <a:pt x="3329399" y="46867"/>
                </a:lnTo>
                <a:lnTo>
                  <a:pt x="3287406" y="74433"/>
                </a:lnTo>
                <a:lnTo>
                  <a:pt x="3245612" y="113029"/>
                </a:lnTo>
                <a:lnTo>
                  <a:pt x="3296268" y="119717"/>
                </a:lnTo>
                <a:lnTo>
                  <a:pt x="3346761" y="124866"/>
                </a:lnTo>
                <a:lnTo>
                  <a:pt x="3397078" y="128687"/>
                </a:lnTo>
                <a:lnTo>
                  <a:pt x="3447208" y="131393"/>
                </a:lnTo>
                <a:lnTo>
                  <a:pt x="3497138" y="133197"/>
                </a:lnTo>
                <a:lnTo>
                  <a:pt x="3546855" y="134311"/>
                </a:lnTo>
                <a:lnTo>
                  <a:pt x="3596348" y="134947"/>
                </a:lnTo>
                <a:lnTo>
                  <a:pt x="3743360" y="136113"/>
                </a:lnTo>
                <a:lnTo>
                  <a:pt x="3791834" y="136962"/>
                </a:lnTo>
                <a:lnTo>
                  <a:pt x="3840023" y="138396"/>
                </a:lnTo>
                <a:lnTo>
                  <a:pt x="3887914" y="140626"/>
                </a:lnTo>
                <a:lnTo>
                  <a:pt x="3935495" y="143865"/>
                </a:lnTo>
                <a:lnTo>
                  <a:pt x="3982755" y="148325"/>
                </a:lnTo>
                <a:lnTo>
                  <a:pt x="4029681" y="154220"/>
                </a:lnTo>
                <a:lnTo>
                  <a:pt x="4076260" y="161760"/>
                </a:lnTo>
                <a:lnTo>
                  <a:pt x="4122481" y="171159"/>
                </a:lnTo>
                <a:lnTo>
                  <a:pt x="4168331" y="182629"/>
                </a:lnTo>
                <a:lnTo>
                  <a:pt x="4213799" y="196382"/>
                </a:lnTo>
                <a:lnTo>
                  <a:pt x="4258871" y="212631"/>
                </a:lnTo>
                <a:lnTo>
                  <a:pt x="4303536" y="231588"/>
                </a:lnTo>
                <a:lnTo>
                  <a:pt x="4347782" y="253466"/>
                </a:lnTo>
                <a:lnTo>
                  <a:pt x="4391596" y="278476"/>
                </a:lnTo>
                <a:lnTo>
                  <a:pt x="4434967" y="306831"/>
                </a:lnTo>
                <a:lnTo>
                  <a:pt x="4390343" y="343199"/>
                </a:lnTo>
                <a:lnTo>
                  <a:pt x="4344725" y="369862"/>
                </a:lnTo>
                <a:lnTo>
                  <a:pt x="4298286" y="388507"/>
                </a:lnTo>
                <a:lnTo>
                  <a:pt x="4251198" y="400820"/>
                </a:lnTo>
                <a:lnTo>
                  <a:pt x="4203633" y="408489"/>
                </a:lnTo>
                <a:lnTo>
                  <a:pt x="4155764" y="413201"/>
                </a:lnTo>
                <a:lnTo>
                  <a:pt x="4107763" y="416643"/>
                </a:lnTo>
                <a:lnTo>
                  <a:pt x="4059803" y="420502"/>
                </a:lnTo>
                <a:lnTo>
                  <a:pt x="4012057" y="426465"/>
                </a:lnTo>
                <a:lnTo>
                  <a:pt x="3962883" y="434669"/>
                </a:lnTo>
                <a:lnTo>
                  <a:pt x="3914024" y="443852"/>
                </a:lnTo>
                <a:lnTo>
                  <a:pt x="3865390" y="453733"/>
                </a:lnTo>
                <a:lnTo>
                  <a:pt x="3719938" y="484754"/>
                </a:lnTo>
                <a:lnTo>
                  <a:pt x="3671304" y="494616"/>
                </a:lnTo>
                <a:lnTo>
                  <a:pt x="3622445" y="503771"/>
                </a:lnTo>
                <a:lnTo>
                  <a:pt x="3520435" y="520673"/>
                </a:lnTo>
                <a:lnTo>
                  <a:pt x="3467590" y="528086"/>
                </a:lnTo>
                <a:lnTo>
                  <a:pt x="3414738" y="534552"/>
                </a:lnTo>
                <a:lnTo>
                  <a:pt x="3256148" y="552059"/>
                </a:lnTo>
                <a:lnTo>
                  <a:pt x="3203277" y="558525"/>
                </a:lnTo>
                <a:lnTo>
                  <a:pt x="3150404" y="565938"/>
                </a:lnTo>
                <a:lnTo>
                  <a:pt x="3097530" y="574675"/>
                </a:lnTo>
                <a:lnTo>
                  <a:pt x="3057580" y="579861"/>
                </a:lnTo>
                <a:lnTo>
                  <a:pt x="3016960" y="582761"/>
                </a:lnTo>
                <a:lnTo>
                  <a:pt x="2975637" y="584844"/>
                </a:lnTo>
                <a:lnTo>
                  <a:pt x="2933580" y="587580"/>
                </a:lnTo>
                <a:lnTo>
                  <a:pt x="2890758" y="592439"/>
                </a:lnTo>
                <a:lnTo>
                  <a:pt x="2847139" y="600890"/>
                </a:lnTo>
                <a:lnTo>
                  <a:pt x="2802694" y="614405"/>
                </a:lnTo>
                <a:lnTo>
                  <a:pt x="2757389" y="634452"/>
                </a:lnTo>
                <a:lnTo>
                  <a:pt x="2711194" y="662501"/>
                </a:lnTo>
                <a:lnTo>
                  <a:pt x="2664079" y="700024"/>
                </a:lnTo>
                <a:lnTo>
                  <a:pt x="2714895" y="711996"/>
                </a:lnTo>
                <a:lnTo>
                  <a:pt x="2765327" y="721311"/>
                </a:lnTo>
                <a:lnTo>
                  <a:pt x="2815407" y="728222"/>
                </a:lnTo>
                <a:lnTo>
                  <a:pt x="2865169" y="732983"/>
                </a:lnTo>
                <a:lnTo>
                  <a:pt x="2914648" y="735847"/>
                </a:lnTo>
                <a:lnTo>
                  <a:pt x="2963876" y="737065"/>
                </a:lnTo>
                <a:lnTo>
                  <a:pt x="3012888" y="736893"/>
                </a:lnTo>
                <a:lnTo>
                  <a:pt x="3061718" y="735581"/>
                </a:lnTo>
                <a:lnTo>
                  <a:pt x="3110399" y="733384"/>
                </a:lnTo>
                <a:lnTo>
                  <a:pt x="3158965" y="730554"/>
                </a:lnTo>
                <a:lnTo>
                  <a:pt x="3304313" y="720801"/>
                </a:lnTo>
                <a:lnTo>
                  <a:pt x="3352759" y="717971"/>
                </a:lnTo>
                <a:lnTo>
                  <a:pt x="3401258" y="715774"/>
                </a:lnTo>
                <a:lnTo>
                  <a:pt x="3449846" y="714462"/>
                </a:lnTo>
                <a:lnTo>
                  <a:pt x="3498555" y="714290"/>
                </a:lnTo>
                <a:lnTo>
                  <a:pt x="3547421" y="715508"/>
                </a:lnTo>
                <a:lnTo>
                  <a:pt x="3596476" y="718372"/>
                </a:lnTo>
                <a:lnTo>
                  <a:pt x="3645754" y="723133"/>
                </a:lnTo>
                <a:lnTo>
                  <a:pt x="3695289" y="730044"/>
                </a:lnTo>
                <a:lnTo>
                  <a:pt x="3745116" y="739359"/>
                </a:lnTo>
                <a:lnTo>
                  <a:pt x="3795268" y="751332"/>
                </a:lnTo>
                <a:lnTo>
                  <a:pt x="3739327" y="771749"/>
                </a:lnTo>
                <a:lnTo>
                  <a:pt x="3685033" y="787869"/>
                </a:lnTo>
                <a:lnTo>
                  <a:pt x="3632277" y="800385"/>
                </a:lnTo>
                <a:lnTo>
                  <a:pt x="3580948" y="809991"/>
                </a:lnTo>
                <a:lnTo>
                  <a:pt x="3530937" y="817380"/>
                </a:lnTo>
                <a:lnTo>
                  <a:pt x="3482133" y="823245"/>
                </a:lnTo>
                <a:lnTo>
                  <a:pt x="3387710" y="833176"/>
                </a:lnTo>
                <a:lnTo>
                  <a:pt x="3341872" y="838628"/>
                </a:lnTo>
                <a:lnTo>
                  <a:pt x="3296801" y="845329"/>
                </a:lnTo>
                <a:lnTo>
                  <a:pt x="3252390" y="853972"/>
                </a:lnTo>
                <a:lnTo>
                  <a:pt x="3164579" y="876798"/>
                </a:lnTo>
                <a:lnTo>
                  <a:pt x="3119456" y="884412"/>
                </a:lnTo>
                <a:lnTo>
                  <a:pt x="3073565" y="889533"/>
                </a:lnTo>
                <a:lnTo>
                  <a:pt x="3027313" y="893601"/>
                </a:lnTo>
                <a:lnTo>
                  <a:pt x="2981106" y="898053"/>
                </a:lnTo>
                <a:lnTo>
                  <a:pt x="2935351" y="904331"/>
                </a:lnTo>
                <a:lnTo>
                  <a:pt x="2890455" y="913872"/>
                </a:lnTo>
                <a:lnTo>
                  <a:pt x="2846822" y="928116"/>
                </a:lnTo>
                <a:lnTo>
                  <a:pt x="2804861" y="948502"/>
                </a:lnTo>
                <a:lnTo>
                  <a:pt x="2764978" y="976470"/>
                </a:lnTo>
                <a:lnTo>
                  <a:pt x="2727579" y="1013460"/>
                </a:lnTo>
                <a:lnTo>
                  <a:pt x="2689621" y="1053551"/>
                </a:lnTo>
                <a:lnTo>
                  <a:pt x="2650926" y="1084234"/>
                </a:lnTo>
                <a:lnTo>
                  <a:pt x="2611243" y="1105708"/>
                </a:lnTo>
                <a:lnTo>
                  <a:pt x="2570321" y="1118171"/>
                </a:lnTo>
                <a:lnTo>
                  <a:pt x="2527911" y="1121824"/>
                </a:lnTo>
                <a:lnTo>
                  <a:pt x="2483762" y="1116865"/>
                </a:lnTo>
                <a:lnTo>
                  <a:pt x="2437626" y="1103495"/>
                </a:lnTo>
                <a:lnTo>
                  <a:pt x="2345173" y="1062063"/>
                </a:lnTo>
                <a:lnTo>
                  <a:pt x="2300356" y="1049299"/>
                </a:lnTo>
                <a:lnTo>
                  <a:pt x="2255048" y="1043218"/>
                </a:lnTo>
                <a:lnTo>
                  <a:pt x="2209498" y="1043416"/>
                </a:lnTo>
                <a:lnTo>
                  <a:pt x="2163953" y="1049489"/>
                </a:lnTo>
                <a:lnTo>
                  <a:pt x="2118663" y="1061035"/>
                </a:lnTo>
                <a:lnTo>
                  <a:pt x="2073876" y="1077650"/>
                </a:lnTo>
                <a:lnTo>
                  <a:pt x="2029840" y="1098930"/>
                </a:lnTo>
                <a:lnTo>
                  <a:pt x="1971690" y="1140285"/>
                </a:lnTo>
                <a:lnTo>
                  <a:pt x="1945259" y="1207262"/>
                </a:lnTo>
                <a:lnTo>
                  <a:pt x="1954422" y="1257101"/>
                </a:lnTo>
                <a:lnTo>
                  <a:pt x="1978945" y="1289843"/>
                </a:lnTo>
                <a:lnTo>
                  <a:pt x="2014374" y="1309774"/>
                </a:lnTo>
                <a:lnTo>
                  <a:pt x="2056257" y="1321180"/>
                </a:lnTo>
                <a:lnTo>
                  <a:pt x="2097530" y="1329396"/>
                </a:lnTo>
                <a:lnTo>
                  <a:pt x="2140791" y="1335468"/>
                </a:lnTo>
                <a:lnTo>
                  <a:pt x="2184076" y="1337254"/>
                </a:lnTo>
                <a:lnTo>
                  <a:pt x="2225421" y="1332611"/>
                </a:lnTo>
                <a:lnTo>
                  <a:pt x="2276131" y="1324405"/>
                </a:lnTo>
                <a:lnTo>
                  <a:pt x="2326769" y="1318470"/>
                </a:lnTo>
                <a:lnTo>
                  <a:pt x="2377344" y="1314597"/>
                </a:lnTo>
                <a:lnTo>
                  <a:pt x="2427862" y="1312575"/>
                </a:lnTo>
                <a:lnTo>
                  <a:pt x="2478331" y="1312195"/>
                </a:lnTo>
                <a:lnTo>
                  <a:pt x="2528760" y="1313248"/>
                </a:lnTo>
                <a:lnTo>
                  <a:pt x="2579157" y="1315524"/>
                </a:lnTo>
                <a:lnTo>
                  <a:pt x="2629528" y="1318813"/>
                </a:lnTo>
                <a:lnTo>
                  <a:pt x="2679883" y="1322906"/>
                </a:lnTo>
                <a:lnTo>
                  <a:pt x="2730230" y="1327594"/>
                </a:lnTo>
                <a:lnTo>
                  <a:pt x="2881294" y="1343127"/>
                </a:lnTo>
                <a:lnTo>
                  <a:pt x="2931684" y="1348097"/>
                </a:lnTo>
                <a:lnTo>
                  <a:pt x="2982104" y="1352613"/>
                </a:lnTo>
                <a:lnTo>
                  <a:pt x="3032563" y="1356466"/>
                </a:lnTo>
                <a:lnTo>
                  <a:pt x="3083069" y="1359447"/>
                </a:lnTo>
                <a:lnTo>
                  <a:pt x="3133629" y="1361346"/>
                </a:lnTo>
                <a:lnTo>
                  <a:pt x="3184251" y="1361953"/>
                </a:lnTo>
                <a:lnTo>
                  <a:pt x="3234944" y="1361059"/>
                </a:lnTo>
                <a:lnTo>
                  <a:pt x="3185132" y="1372312"/>
                </a:lnTo>
                <a:lnTo>
                  <a:pt x="3135304" y="1383101"/>
                </a:lnTo>
                <a:lnTo>
                  <a:pt x="3085461" y="1393436"/>
                </a:lnTo>
                <a:lnTo>
                  <a:pt x="3035601" y="1403329"/>
                </a:lnTo>
                <a:lnTo>
                  <a:pt x="2985724" y="1412791"/>
                </a:lnTo>
                <a:lnTo>
                  <a:pt x="2935829" y="1421834"/>
                </a:lnTo>
                <a:lnTo>
                  <a:pt x="2885918" y="1430467"/>
                </a:lnTo>
                <a:lnTo>
                  <a:pt x="2835988" y="1438704"/>
                </a:lnTo>
                <a:lnTo>
                  <a:pt x="2786039" y="1446554"/>
                </a:lnTo>
                <a:lnTo>
                  <a:pt x="2736072" y="1454029"/>
                </a:lnTo>
                <a:lnTo>
                  <a:pt x="2686086" y="1461141"/>
                </a:lnTo>
                <a:lnTo>
                  <a:pt x="2636081" y="1467900"/>
                </a:lnTo>
                <a:lnTo>
                  <a:pt x="2586056" y="1474318"/>
                </a:lnTo>
                <a:lnTo>
                  <a:pt x="2536010" y="1480406"/>
                </a:lnTo>
                <a:lnTo>
                  <a:pt x="2485944" y="1486175"/>
                </a:lnTo>
                <a:lnTo>
                  <a:pt x="2435858" y="1491636"/>
                </a:lnTo>
                <a:lnTo>
                  <a:pt x="2385749" y="1496801"/>
                </a:lnTo>
                <a:lnTo>
                  <a:pt x="2335620" y="1501681"/>
                </a:lnTo>
                <a:lnTo>
                  <a:pt x="2285468" y="1506287"/>
                </a:lnTo>
                <a:lnTo>
                  <a:pt x="2185097" y="1514722"/>
                </a:lnTo>
                <a:lnTo>
                  <a:pt x="2084634" y="1522195"/>
                </a:lnTo>
                <a:lnTo>
                  <a:pt x="1984076" y="1528797"/>
                </a:lnTo>
                <a:lnTo>
                  <a:pt x="1883420" y="1534617"/>
                </a:lnTo>
                <a:lnTo>
                  <a:pt x="1782662" y="1539745"/>
                </a:lnTo>
                <a:lnTo>
                  <a:pt x="1681801" y="1544271"/>
                </a:lnTo>
                <a:lnTo>
                  <a:pt x="1530308" y="1550126"/>
                </a:lnTo>
                <a:lnTo>
                  <a:pt x="1277259" y="1558145"/>
                </a:lnTo>
                <a:lnTo>
                  <a:pt x="819874" y="1571103"/>
                </a:lnTo>
                <a:lnTo>
                  <a:pt x="666833" y="1576144"/>
                </a:lnTo>
                <a:lnTo>
                  <a:pt x="513487" y="1582051"/>
                </a:lnTo>
                <a:lnTo>
                  <a:pt x="411082" y="1586620"/>
                </a:lnTo>
                <a:lnTo>
                  <a:pt x="308533" y="1591798"/>
                </a:lnTo>
                <a:lnTo>
                  <a:pt x="205839" y="1597674"/>
                </a:lnTo>
                <a:lnTo>
                  <a:pt x="102995" y="1604340"/>
                </a:lnTo>
                <a:lnTo>
                  <a:pt x="0" y="1611884"/>
                </a:lnTo>
                <a:lnTo>
                  <a:pt x="36500" y="1648425"/>
                </a:lnTo>
                <a:lnTo>
                  <a:pt x="74359" y="1673926"/>
                </a:lnTo>
                <a:lnTo>
                  <a:pt x="113172" y="1690403"/>
                </a:lnTo>
                <a:lnTo>
                  <a:pt x="152536" y="1699876"/>
                </a:lnTo>
                <a:lnTo>
                  <a:pt x="192046" y="1704362"/>
                </a:lnTo>
                <a:lnTo>
                  <a:pt x="231298" y="1705879"/>
                </a:lnTo>
                <a:lnTo>
                  <a:pt x="269889" y="1706447"/>
                </a:lnTo>
                <a:lnTo>
                  <a:pt x="307415" y="1708084"/>
                </a:lnTo>
                <a:lnTo>
                  <a:pt x="343471" y="1712807"/>
                </a:lnTo>
                <a:lnTo>
                  <a:pt x="377654" y="1722635"/>
                </a:lnTo>
                <a:lnTo>
                  <a:pt x="409560" y="1739587"/>
                </a:lnTo>
                <a:lnTo>
                  <a:pt x="438785" y="1765680"/>
                </a:lnTo>
                <a:lnTo>
                  <a:pt x="417009" y="1824070"/>
                </a:lnTo>
                <a:lnTo>
                  <a:pt x="400549" y="1878189"/>
                </a:lnTo>
                <a:lnTo>
                  <a:pt x="389462" y="1928022"/>
                </a:lnTo>
                <a:lnTo>
                  <a:pt x="383804" y="1973556"/>
                </a:lnTo>
                <a:lnTo>
                  <a:pt x="383634" y="2014774"/>
                </a:lnTo>
                <a:lnTo>
                  <a:pt x="389010" y="2051664"/>
                </a:lnTo>
                <a:lnTo>
                  <a:pt x="416626" y="2112396"/>
                </a:lnTo>
                <a:lnTo>
                  <a:pt x="467115" y="2155638"/>
                </a:lnTo>
                <a:lnTo>
                  <a:pt x="540936" y="2181271"/>
                </a:lnTo>
                <a:lnTo>
                  <a:pt x="586740" y="2187448"/>
                </a:lnTo>
                <a:lnTo>
                  <a:pt x="628138" y="2189584"/>
                </a:lnTo>
                <a:lnTo>
                  <a:pt x="669734" y="2189744"/>
                </a:lnTo>
                <a:lnTo>
                  <a:pt x="752617" y="2187780"/>
                </a:lnTo>
                <a:lnTo>
                  <a:pt x="793453" y="2187480"/>
                </a:lnTo>
                <a:lnTo>
                  <a:pt x="833585" y="2188852"/>
                </a:lnTo>
                <a:lnTo>
                  <a:pt x="872787" y="2192805"/>
                </a:lnTo>
                <a:lnTo>
                  <a:pt x="910833" y="2200254"/>
                </a:lnTo>
                <a:lnTo>
                  <a:pt x="947498" y="2212109"/>
                </a:lnTo>
                <a:lnTo>
                  <a:pt x="982556" y="2229282"/>
                </a:lnTo>
                <a:lnTo>
                  <a:pt x="1015782" y="2252686"/>
                </a:lnTo>
                <a:lnTo>
                  <a:pt x="1046951" y="2283232"/>
                </a:lnTo>
                <a:lnTo>
                  <a:pt x="1075836" y="2321832"/>
                </a:lnTo>
                <a:lnTo>
                  <a:pt x="1102213" y="2369398"/>
                </a:lnTo>
                <a:lnTo>
                  <a:pt x="1125855" y="2426842"/>
                </a:lnTo>
                <a:lnTo>
                  <a:pt x="1144976" y="2457633"/>
                </a:lnTo>
                <a:lnTo>
                  <a:pt x="1218145" y="2491949"/>
                </a:lnTo>
                <a:lnTo>
                  <a:pt x="1266618" y="2499487"/>
                </a:lnTo>
                <a:lnTo>
                  <a:pt x="1319300" y="2503286"/>
                </a:lnTo>
                <a:lnTo>
                  <a:pt x="1373403" y="2505352"/>
                </a:lnTo>
                <a:lnTo>
                  <a:pt x="1426140" y="2507693"/>
                </a:lnTo>
                <a:lnTo>
                  <a:pt x="1474724" y="2512314"/>
                </a:lnTo>
                <a:lnTo>
                  <a:pt x="1524474" y="2518916"/>
                </a:lnTo>
                <a:lnTo>
                  <a:pt x="1574529" y="2524008"/>
                </a:lnTo>
                <a:lnTo>
                  <a:pt x="1624828" y="2527948"/>
                </a:lnTo>
                <a:lnTo>
                  <a:pt x="1675308" y="2531096"/>
                </a:lnTo>
                <a:lnTo>
                  <a:pt x="1776569" y="2536448"/>
                </a:lnTo>
                <a:lnTo>
                  <a:pt x="1827227" y="2539371"/>
                </a:lnTo>
                <a:lnTo>
                  <a:pt x="1877821" y="2542936"/>
                </a:lnTo>
                <a:lnTo>
                  <a:pt x="1928291" y="2547503"/>
                </a:lnTo>
                <a:lnTo>
                  <a:pt x="1978574" y="2553431"/>
                </a:lnTo>
                <a:lnTo>
                  <a:pt x="2028609" y="2561078"/>
                </a:lnTo>
                <a:lnTo>
                  <a:pt x="2078335" y="2570803"/>
                </a:lnTo>
                <a:lnTo>
                  <a:pt x="2127690" y="2582965"/>
                </a:lnTo>
                <a:lnTo>
                  <a:pt x="2176613" y="2597923"/>
                </a:lnTo>
                <a:lnTo>
                  <a:pt x="2225043" y="2616036"/>
                </a:lnTo>
                <a:lnTo>
                  <a:pt x="2272919" y="2637663"/>
                </a:lnTo>
                <a:lnTo>
                  <a:pt x="2320085" y="2659982"/>
                </a:lnTo>
                <a:lnTo>
                  <a:pt x="2359467" y="2683246"/>
                </a:lnTo>
                <a:lnTo>
                  <a:pt x="2388568" y="2710307"/>
                </a:lnTo>
                <a:lnTo>
                  <a:pt x="2405954" y="2787217"/>
                </a:lnTo>
                <a:lnTo>
                  <a:pt x="2389251" y="2842767"/>
                </a:lnTo>
                <a:lnTo>
                  <a:pt x="2372474" y="2901652"/>
                </a:lnTo>
                <a:lnTo>
                  <a:pt x="2373018" y="2948803"/>
                </a:lnTo>
                <a:lnTo>
                  <a:pt x="2387949" y="2986754"/>
                </a:lnTo>
                <a:lnTo>
                  <a:pt x="2414331" y="3018037"/>
                </a:lnTo>
                <a:lnTo>
                  <a:pt x="2449229" y="3045186"/>
                </a:lnTo>
                <a:lnTo>
                  <a:pt x="2489708" y="3070733"/>
                </a:lnTo>
                <a:lnTo>
                  <a:pt x="2560926" y="3100352"/>
                </a:lnTo>
                <a:lnTo>
                  <a:pt x="2599340" y="3114976"/>
                </a:lnTo>
                <a:lnTo>
                  <a:pt x="2636886" y="3136236"/>
                </a:lnTo>
                <a:lnTo>
                  <a:pt x="2671512" y="3169202"/>
                </a:lnTo>
                <a:lnTo>
                  <a:pt x="2701163" y="3218941"/>
                </a:lnTo>
                <a:lnTo>
                  <a:pt x="2650741" y="3217182"/>
                </a:lnTo>
                <a:lnTo>
                  <a:pt x="2600403" y="3215027"/>
                </a:lnTo>
                <a:lnTo>
                  <a:pt x="2550144" y="3212521"/>
                </a:lnTo>
                <a:lnTo>
                  <a:pt x="2499960" y="3209709"/>
                </a:lnTo>
                <a:lnTo>
                  <a:pt x="2399798" y="3203347"/>
                </a:lnTo>
                <a:lnTo>
                  <a:pt x="2050935" y="3178021"/>
                </a:lnTo>
                <a:lnTo>
                  <a:pt x="1951599" y="3171387"/>
                </a:lnTo>
                <a:lnTo>
                  <a:pt x="1901965" y="3168394"/>
                </a:lnTo>
                <a:lnTo>
                  <a:pt x="1852348" y="3165677"/>
                </a:lnTo>
                <a:lnTo>
                  <a:pt x="1802744" y="3163281"/>
                </a:lnTo>
                <a:lnTo>
                  <a:pt x="1753148" y="3161249"/>
                </a:lnTo>
                <a:lnTo>
                  <a:pt x="1703555" y="3159628"/>
                </a:lnTo>
                <a:lnTo>
                  <a:pt x="1653961" y="3158461"/>
                </a:lnTo>
                <a:lnTo>
                  <a:pt x="1604362" y="3157793"/>
                </a:lnTo>
                <a:lnTo>
                  <a:pt x="1554754" y="3157670"/>
                </a:lnTo>
                <a:lnTo>
                  <a:pt x="1505131" y="3158136"/>
                </a:lnTo>
                <a:lnTo>
                  <a:pt x="1455489" y="3159235"/>
                </a:lnTo>
                <a:lnTo>
                  <a:pt x="1405824" y="3161013"/>
                </a:lnTo>
                <a:lnTo>
                  <a:pt x="1356131" y="3163513"/>
                </a:lnTo>
                <a:lnTo>
                  <a:pt x="1306407" y="3166782"/>
                </a:lnTo>
                <a:lnTo>
                  <a:pt x="1256646" y="3170863"/>
                </a:lnTo>
                <a:lnTo>
                  <a:pt x="1206844" y="3175802"/>
                </a:lnTo>
                <a:lnTo>
                  <a:pt x="1156996" y="3181642"/>
                </a:lnTo>
                <a:lnTo>
                  <a:pt x="1107099" y="3188430"/>
                </a:lnTo>
                <a:lnTo>
                  <a:pt x="1057148" y="3196209"/>
                </a:lnTo>
                <a:lnTo>
                  <a:pt x="1104841" y="3213718"/>
                </a:lnTo>
                <a:lnTo>
                  <a:pt x="1152762" y="3230288"/>
                </a:lnTo>
                <a:lnTo>
                  <a:pt x="1200897" y="3245976"/>
                </a:lnTo>
                <a:lnTo>
                  <a:pt x="1249232" y="3260838"/>
                </a:lnTo>
                <a:lnTo>
                  <a:pt x="1297754" y="3274929"/>
                </a:lnTo>
                <a:lnTo>
                  <a:pt x="1346448" y="3288306"/>
                </a:lnTo>
                <a:lnTo>
                  <a:pt x="1395300" y="3301025"/>
                </a:lnTo>
                <a:lnTo>
                  <a:pt x="1444297" y="3313142"/>
                </a:lnTo>
                <a:lnTo>
                  <a:pt x="1493424" y="3324712"/>
                </a:lnTo>
                <a:lnTo>
                  <a:pt x="1542668" y="3335793"/>
                </a:lnTo>
                <a:lnTo>
                  <a:pt x="1592016" y="3346440"/>
                </a:lnTo>
                <a:lnTo>
                  <a:pt x="1641452" y="3356709"/>
                </a:lnTo>
                <a:lnTo>
                  <a:pt x="1690964" y="3366657"/>
                </a:lnTo>
                <a:lnTo>
                  <a:pt x="1790157" y="3385812"/>
                </a:lnTo>
                <a:lnTo>
                  <a:pt x="2038485" y="3431995"/>
                </a:lnTo>
                <a:lnTo>
                  <a:pt x="2137663" y="3450966"/>
                </a:lnTo>
                <a:lnTo>
                  <a:pt x="2187164" y="3460782"/>
                </a:lnTo>
                <a:lnTo>
                  <a:pt x="2236587" y="3470893"/>
                </a:lnTo>
                <a:lnTo>
                  <a:pt x="2285919" y="3481356"/>
                </a:lnTo>
                <a:lnTo>
                  <a:pt x="2335146" y="3492226"/>
                </a:lnTo>
                <a:lnTo>
                  <a:pt x="2384254" y="3503560"/>
                </a:lnTo>
                <a:lnTo>
                  <a:pt x="2433229" y="3515414"/>
                </a:lnTo>
                <a:lnTo>
                  <a:pt x="2482057" y="3527843"/>
                </a:lnTo>
                <a:lnTo>
                  <a:pt x="2530724" y="3540904"/>
                </a:lnTo>
                <a:lnTo>
                  <a:pt x="2579217" y="3554653"/>
                </a:lnTo>
                <a:lnTo>
                  <a:pt x="2627522" y="3569146"/>
                </a:lnTo>
                <a:lnTo>
                  <a:pt x="2675625" y="3584440"/>
                </a:lnTo>
                <a:lnTo>
                  <a:pt x="2723511" y="3600589"/>
                </a:lnTo>
                <a:lnTo>
                  <a:pt x="2771167" y="3617651"/>
                </a:lnTo>
                <a:lnTo>
                  <a:pt x="2818580" y="3635681"/>
                </a:lnTo>
                <a:lnTo>
                  <a:pt x="2865734" y="3654736"/>
                </a:lnTo>
                <a:lnTo>
                  <a:pt x="2912618" y="3674872"/>
                </a:lnTo>
                <a:lnTo>
                  <a:pt x="2897137" y="3706824"/>
                </a:lnTo>
                <a:lnTo>
                  <a:pt x="2871771" y="3728111"/>
                </a:lnTo>
                <a:lnTo>
                  <a:pt x="2840862" y="3744115"/>
                </a:lnTo>
                <a:lnTo>
                  <a:pt x="2808753" y="3760218"/>
                </a:lnTo>
                <a:lnTo>
                  <a:pt x="2779788" y="3781805"/>
                </a:lnTo>
                <a:lnTo>
                  <a:pt x="2758309" y="3814258"/>
                </a:lnTo>
                <a:lnTo>
                  <a:pt x="2748661" y="3862958"/>
                </a:lnTo>
                <a:lnTo>
                  <a:pt x="2791576" y="3880957"/>
                </a:lnTo>
                <a:lnTo>
                  <a:pt x="2835215" y="3896296"/>
                </a:lnTo>
                <a:lnTo>
                  <a:pt x="2879515" y="3909284"/>
                </a:lnTo>
                <a:lnTo>
                  <a:pt x="2924413" y="3920229"/>
                </a:lnTo>
                <a:lnTo>
                  <a:pt x="2969846" y="3929440"/>
                </a:lnTo>
                <a:lnTo>
                  <a:pt x="3015753" y="3937224"/>
                </a:lnTo>
                <a:lnTo>
                  <a:pt x="3062071" y="3943891"/>
                </a:lnTo>
                <a:lnTo>
                  <a:pt x="3108737" y="3949747"/>
                </a:lnTo>
                <a:lnTo>
                  <a:pt x="3250199" y="3965543"/>
                </a:lnTo>
                <a:lnTo>
                  <a:pt x="3297634" y="3971244"/>
                </a:lnTo>
                <a:lnTo>
                  <a:pt x="3345104" y="3977677"/>
                </a:lnTo>
                <a:lnTo>
                  <a:pt x="3392548" y="3985150"/>
                </a:lnTo>
                <a:lnTo>
                  <a:pt x="3439902" y="3993971"/>
                </a:lnTo>
                <a:lnTo>
                  <a:pt x="3487105" y="4004449"/>
                </a:lnTo>
                <a:lnTo>
                  <a:pt x="3534095" y="4016892"/>
                </a:lnTo>
                <a:lnTo>
                  <a:pt x="3580807" y="4031608"/>
                </a:lnTo>
                <a:lnTo>
                  <a:pt x="3627181" y="4048906"/>
                </a:lnTo>
                <a:lnTo>
                  <a:pt x="3673154" y="4069094"/>
                </a:lnTo>
                <a:lnTo>
                  <a:pt x="3718662" y="4092479"/>
                </a:lnTo>
                <a:lnTo>
                  <a:pt x="3763645" y="4119372"/>
                </a:lnTo>
                <a:lnTo>
                  <a:pt x="3719987" y="4137412"/>
                </a:lnTo>
                <a:lnTo>
                  <a:pt x="3676839" y="4147735"/>
                </a:lnTo>
                <a:lnTo>
                  <a:pt x="3634142" y="4151724"/>
                </a:lnTo>
                <a:lnTo>
                  <a:pt x="3591839" y="4150764"/>
                </a:lnTo>
                <a:lnTo>
                  <a:pt x="3549871" y="4146240"/>
                </a:lnTo>
                <a:lnTo>
                  <a:pt x="3508180" y="4139538"/>
                </a:lnTo>
                <a:lnTo>
                  <a:pt x="3466707" y="4132041"/>
                </a:lnTo>
                <a:lnTo>
                  <a:pt x="3425394" y="4125136"/>
                </a:lnTo>
                <a:lnTo>
                  <a:pt x="3384184" y="4120207"/>
                </a:lnTo>
                <a:lnTo>
                  <a:pt x="3343017" y="4118638"/>
                </a:lnTo>
                <a:lnTo>
                  <a:pt x="3301835" y="4121815"/>
                </a:lnTo>
                <a:lnTo>
                  <a:pt x="3260581" y="4131123"/>
                </a:lnTo>
                <a:lnTo>
                  <a:pt x="3219196" y="4147947"/>
                </a:lnTo>
                <a:lnTo>
                  <a:pt x="3223499" y="4154538"/>
                </a:lnTo>
                <a:lnTo>
                  <a:pt x="3256112" y="4179690"/>
                </a:lnTo>
                <a:lnTo>
                  <a:pt x="3293328" y="4200646"/>
                </a:lnTo>
                <a:lnTo>
                  <a:pt x="3342043" y="4224682"/>
                </a:lnTo>
                <a:lnTo>
                  <a:pt x="3401501" y="4251564"/>
                </a:lnTo>
                <a:lnTo>
                  <a:pt x="3470948" y="4281061"/>
                </a:lnTo>
                <a:lnTo>
                  <a:pt x="3509181" y="4296716"/>
                </a:lnTo>
                <a:lnTo>
                  <a:pt x="3549629" y="4312938"/>
                </a:lnTo>
                <a:lnTo>
                  <a:pt x="3592196" y="4329697"/>
                </a:lnTo>
                <a:lnTo>
                  <a:pt x="3683311" y="4364709"/>
                </a:lnTo>
                <a:lnTo>
                  <a:pt x="3781772" y="4401520"/>
                </a:lnTo>
                <a:lnTo>
                  <a:pt x="3886823" y="4439897"/>
                </a:lnTo>
                <a:lnTo>
                  <a:pt x="3997711" y="4479607"/>
                </a:lnTo>
                <a:lnTo>
                  <a:pt x="4113679" y="4520418"/>
                </a:lnTo>
                <a:lnTo>
                  <a:pt x="4233973" y="4562097"/>
                </a:lnTo>
                <a:lnTo>
                  <a:pt x="4357837" y="4604410"/>
                </a:lnTo>
                <a:lnTo>
                  <a:pt x="4548676" y="4668561"/>
                </a:lnTo>
                <a:lnTo>
                  <a:pt x="4743302" y="4732830"/>
                </a:lnTo>
                <a:lnTo>
                  <a:pt x="4939167" y="4796433"/>
                </a:lnTo>
                <a:lnTo>
                  <a:pt x="5133721" y="4858582"/>
                </a:lnTo>
                <a:lnTo>
                  <a:pt x="5324416" y="4918493"/>
                </a:lnTo>
                <a:lnTo>
                  <a:pt x="5508705" y="4975380"/>
                </a:lnTo>
                <a:lnTo>
                  <a:pt x="5684039" y="5028456"/>
                </a:lnTo>
                <a:lnTo>
                  <a:pt x="5794695" y="5061335"/>
                </a:lnTo>
                <a:lnTo>
                  <a:pt x="5899483" y="5091939"/>
                </a:lnTo>
                <a:lnTo>
                  <a:pt x="5997648" y="5120034"/>
                </a:lnTo>
                <a:lnTo>
                  <a:pt x="6088435" y="5145388"/>
                </a:lnTo>
                <a:lnTo>
                  <a:pt x="6171090" y="5167769"/>
                </a:lnTo>
                <a:lnTo>
                  <a:pt x="6244856" y="5186942"/>
                </a:lnTo>
                <a:lnTo>
                  <a:pt x="6308980" y="5202676"/>
                </a:lnTo>
                <a:lnTo>
                  <a:pt x="6362705" y="5214738"/>
                </a:lnTo>
                <a:lnTo>
                  <a:pt x="6587188" y="5257820"/>
                </a:lnTo>
                <a:lnTo>
                  <a:pt x="7049095" y="5342887"/>
                </a:lnTo>
                <a:lnTo>
                  <a:pt x="7816761" y="5479761"/>
                </a:lnTo>
                <a:lnTo>
                  <a:pt x="8834475" y="5656272"/>
                </a:lnTo>
                <a:lnTo>
                  <a:pt x="9711892" y="5804485"/>
                </a:lnTo>
                <a:lnTo>
                  <a:pt x="10286111" y="5898730"/>
                </a:lnTo>
                <a:lnTo>
                  <a:pt x="10424160" y="5920740"/>
                </a:lnTo>
                <a:lnTo>
                  <a:pt x="10424160" y="0"/>
                </a:lnTo>
                <a:close/>
              </a:path>
            </a:pathLst>
          </a:custGeom>
          <a:solidFill>
            <a:srgbClr val="E7E6E6">
              <a:alpha val="5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05653" y="429209"/>
            <a:ext cx="5624195" cy="1301115"/>
          </a:xfrm>
          <a:prstGeom prst="rect"/>
        </p:spPr>
        <p:txBody>
          <a:bodyPr wrap="square" lIns="0" tIns="88265" rIns="0" bIns="0" rtlCol="0" vert="horz">
            <a:spAutoFit/>
          </a:bodyPr>
          <a:lstStyle/>
          <a:p>
            <a:pPr marL="12700" marR="5080">
              <a:lnSpc>
                <a:spcPts val="4760"/>
              </a:lnSpc>
              <a:spcBef>
                <a:spcPts val="695"/>
              </a:spcBef>
            </a:pPr>
            <a:r>
              <a:rPr dirty="0" sz="4400"/>
              <a:t>Fundamental</a:t>
            </a:r>
            <a:r>
              <a:rPr dirty="0" sz="4400" spc="-135"/>
              <a:t> </a:t>
            </a:r>
            <a:r>
              <a:rPr dirty="0" sz="4400" spc="-10"/>
              <a:t>Properties </a:t>
            </a:r>
            <a:r>
              <a:rPr dirty="0" sz="4400"/>
              <a:t>(ACID)</a:t>
            </a:r>
            <a:r>
              <a:rPr dirty="0" sz="4400" spc="-45"/>
              <a:t> </a:t>
            </a:r>
            <a:r>
              <a:rPr dirty="0" sz="4400"/>
              <a:t>Of</a:t>
            </a:r>
            <a:r>
              <a:rPr dirty="0" sz="4400" spc="-35"/>
              <a:t> </a:t>
            </a:r>
            <a:r>
              <a:rPr dirty="0" sz="4400" spc="-10"/>
              <a:t>Transaction</a:t>
            </a:r>
            <a:endParaRPr sz="4400"/>
          </a:p>
        </p:txBody>
      </p:sp>
      <p:sp>
        <p:nvSpPr>
          <p:cNvPr id="4" name="object 4" descr=""/>
          <p:cNvSpPr txBox="1"/>
          <p:nvPr/>
        </p:nvSpPr>
        <p:spPr>
          <a:xfrm>
            <a:off x="5605653" y="2041906"/>
            <a:ext cx="5600700" cy="880110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239395" marR="5080" indent="-22669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understand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properties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consider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5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transferring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rupees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account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below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605653" y="2991738"/>
            <a:ext cx="49542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Let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transfers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from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34253" y="3139566"/>
            <a:ext cx="5427980" cy="26327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10540">
              <a:lnSpc>
                <a:spcPts val="1265"/>
              </a:lnSpc>
              <a:spcBef>
                <a:spcPts val="130"/>
              </a:spcBef>
            </a:pPr>
            <a:r>
              <a:rPr dirty="0" sz="1300" spc="-50">
                <a:latin typeface="Calibri"/>
                <a:cs typeface="Calibri"/>
              </a:rPr>
              <a:t>i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ts val="1985"/>
              </a:lnSpc>
            </a:pP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as</a:t>
            </a:r>
            <a:endParaRPr sz="20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Read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469900" marR="41910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Withdraw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rupees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 </a:t>
            </a:r>
            <a:r>
              <a:rPr dirty="0" sz="2000">
                <a:latin typeface="Calibri"/>
                <a:cs typeface="Calibri"/>
              </a:rPr>
              <a:t>back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Read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469265" indent="-227965">
              <a:lnSpc>
                <a:spcPts val="2280"/>
              </a:lnSpc>
              <a:spcBef>
                <a:spcPts val="26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Deposit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rupees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back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888923" y="2776601"/>
          <a:ext cx="3895090" cy="3448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2455"/>
                <a:gridCol w="3226435"/>
              </a:tblGrid>
              <a:tr h="574675">
                <a:tc gridSpan="2">
                  <a:txBody>
                    <a:bodyPr/>
                    <a:lstStyle/>
                    <a:p>
                      <a:pPr marL="7181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700" b="1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700" spc="-90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 b="1">
                          <a:latin typeface="Calibri"/>
                          <a:cs typeface="Calibri"/>
                        </a:rPr>
                        <a:t>(A)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7467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marL="182245">
                        <a:lnSpc>
                          <a:spcPct val="100000"/>
                        </a:lnSpc>
                      </a:pPr>
                      <a:r>
                        <a:rPr dirty="0" sz="2700" spc="-25" b="1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0061" sz="2700" spc="-37" b="1">
                          <a:latin typeface="Calibri"/>
                          <a:cs typeface="Calibri"/>
                        </a:rPr>
                        <a:t>i</a:t>
                      </a:r>
                      <a:endParaRPr baseline="-20061" sz="2700">
                        <a:latin typeface="Calibri"/>
                        <a:cs typeface="Calibri"/>
                      </a:endParaRPr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7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7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latin typeface="Calibri"/>
                          <a:cs typeface="Calibri"/>
                        </a:rPr>
                        <a:t>:=</a:t>
                      </a:r>
                      <a:r>
                        <a:rPr dirty="0" sz="27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7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27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>
                          <a:latin typeface="Calibri"/>
                          <a:cs typeface="Calibri"/>
                        </a:rPr>
                        <a:t>100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  <a:tr h="5746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27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7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>
                          <a:latin typeface="Calibri"/>
                          <a:cs typeface="Calibri"/>
                        </a:rPr>
                        <a:t>(A)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5746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7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7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>
                          <a:latin typeface="Calibri"/>
                          <a:cs typeface="Calibri"/>
                        </a:rPr>
                        <a:t>(B)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  <a:tr h="5746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7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latin typeface="Calibri"/>
                          <a:cs typeface="Calibri"/>
                        </a:rPr>
                        <a:t>:=</a:t>
                      </a:r>
                      <a:r>
                        <a:rPr dirty="0" sz="27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7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0">
                          <a:latin typeface="Calibri"/>
                          <a:cs typeface="Calibri"/>
                        </a:rPr>
                        <a:t>+100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57467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27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700" spc="-1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700" spc="-25">
                          <a:latin typeface="Calibri"/>
                          <a:cs typeface="Calibri"/>
                        </a:rPr>
                        <a:t>(B)</a:t>
                      </a:r>
                      <a:endParaRPr sz="2700">
                        <a:latin typeface="Calibri"/>
                        <a:cs typeface="Calibri"/>
                      </a:endParaRPr>
                    </a:p>
                  </a:txBody>
                  <a:tcPr marL="0" marR="0" marB="0" marT="42545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Atomicity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834897"/>
            <a:ext cx="6862445" cy="510476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114300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20">
                <a:latin typeface="Calibri"/>
                <a:cs typeface="Calibri"/>
              </a:rPr>
              <a:t>Transaction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treated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unit</a:t>
            </a:r>
            <a:r>
              <a:rPr dirty="0" sz="2400" spc="-25">
                <a:latin typeface="Calibri"/>
                <a:cs typeface="Calibri"/>
              </a:rPr>
              <a:t> 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  <a:p>
            <a:pPr marL="240029" marR="128270" indent="-227329">
              <a:lnSpc>
                <a:spcPct val="90100"/>
              </a:lnSpc>
              <a:spcBef>
                <a:spcPts val="96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sequence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performed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treated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single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large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spc="-10">
                <a:latin typeface="Calibri"/>
                <a:cs typeface="Calibri"/>
              </a:rPr>
              <a:t>Examples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 spc="-10">
                <a:latin typeface="Calibri"/>
                <a:cs typeface="Calibri"/>
              </a:rPr>
              <a:t>Withdrawing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money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account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Making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airline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reservation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ts val="259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term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atomic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means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things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divided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into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parts</a:t>
            </a:r>
            <a:endParaRPr sz="2400">
              <a:latin typeface="Calibri"/>
              <a:cs typeface="Calibri"/>
            </a:endParaRPr>
          </a:p>
          <a:p>
            <a:pPr marL="240029" marR="97155" indent="-227329">
              <a:lnSpc>
                <a:spcPts val="260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Similarly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either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nothing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all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No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partial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allowed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1072515">
              <a:lnSpc>
                <a:spcPts val="4110"/>
              </a:lnSpc>
            </a:pPr>
            <a:r>
              <a:rPr dirty="0" sz="3800" spc="-25" b="1">
                <a:solidFill>
                  <a:srgbClr val="FFFFFF"/>
                </a:solidFill>
                <a:latin typeface="Calibri"/>
                <a:cs typeface="Calibri"/>
              </a:rPr>
              <a:t>Atomicity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Contd..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682599"/>
            <a:ext cx="6875145" cy="498729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Money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transfer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lvl="1" marL="698500" marR="5080" indent="-228600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Suppose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occurs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Write(A)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but </a:t>
            </a:r>
            <a:r>
              <a:rPr dirty="0" sz="2000" spc="-10">
                <a:latin typeface="Calibri"/>
                <a:cs typeface="Calibri"/>
              </a:rPr>
              <a:t>before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Write(B)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loose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rupees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>
                <a:latin typeface="Calibri"/>
                <a:cs typeface="Calibri"/>
              </a:rPr>
              <a:t>calculation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cause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error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original </a:t>
            </a:r>
            <a:r>
              <a:rPr dirty="0" sz="2000">
                <a:latin typeface="Calibri"/>
                <a:cs typeface="Calibri"/>
              </a:rPr>
              <a:t>balance(A+B)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preserved.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such </a:t>
            </a:r>
            <a:r>
              <a:rPr dirty="0" sz="2000">
                <a:latin typeface="Calibri"/>
                <a:cs typeface="Calibri"/>
              </a:rPr>
              <a:t>case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automatically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restore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original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items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airline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reservation</a:t>
            </a:r>
            <a:endParaRPr sz="2000">
              <a:latin typeface="Calibri"/>
              <a:cs typeface="Calibri"/>
            </a:endParaRPr>
          </a:p>
          <a:p>
            <a:pPr lvl="1" marL="698500" marR="24130" indent="-228600">
              <a:lnSpc>
                <a:spcPts val="2160"/>
              </a:lnSpc>
              <a:spcBef>
                <a:spcPts val="54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Check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availability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seats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desired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flights.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Airline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confirms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reservation.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Reduces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available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seats.</a:t>
            </a:r>
            <a:r>
              <a:rPr dirty="0" sz="2000" spc="5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Charges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credit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customer.</a:t>
            </a:r>
            <a:endParaRPr sz="2000">
              <a:latin typeface="Calibri"/>
              <a:cs typeface="Calibri"/>
            </a:endParaRPr>
          </a:p>
          <a:p>
            <a:pPr algn="just" marL="239395" marR="15240" indent="-226695">
              <a:lnSpc>
                <a:spcPct val="90100"/>
              </a:lnSpc>
              <a:spcBef>
                <a:spcPts val="9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or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nothing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half-</a:t>
            </a:r>
            <a:r>
              <a:rPr dirty="0" sz="2000">
                <a:latin typeface="Calibri"/>
                <a:cs typeface="Calibri"/>
              </a:rPr>
              <a:t>done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leave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data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incomplete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algn="just" marL="239395" marR="244475" indent="-22669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fails,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fails,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left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unchanged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Consistency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852677"/>
            <a:ext cx="6857365" cy="50825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41300" marR="791210" indent="-228600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Consistent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valid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>
                <a:latin typeface="Calibri"/>
                <a:cs typeface="Calibri"/>
              </a:rPr>
              <a:t>written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41300" marR="254635" indent="-228600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due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reasons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executed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violates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consistency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rules,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>
                <a:latin typeface="Calibri"/>
                <a:cs typeface="Calibri"/>
              </a:rPr>
              <a:t>rolled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restored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 consistent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rules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successfully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will </a:t>
            </a:r>
            <a:r>
              <a:rPr dirty="0" sz="2000" spc="-10">
                <a:latin typeface="Calibri"/>
                <a:cs typeface="Calibri"/>
              </a:rPr>
              <a:t>take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another consistent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marL="241300" marR="314325" indent="-228600">
              <a:lnSpc>
                <a:spcPts val="216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DBMS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handle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inconsistency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rather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clean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endParaRPr sz="2000">
              <a:latin typeface="Calibri"/>
              <a:cs typeface="Calibri"/>
            </a:endParaRPr>
          </a:p>
          <a:p>
            <a:pPr marL="241300" marR="111760" indent="-228600">
              <a:lnSpc>
                <a:spcPts val="216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Consistency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guarantees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will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never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your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half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finished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algn="just" marL="239395" marR="102870" indent="-226695">
              <a:lnSpc>
                <a:spcPts val="216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10">
                <a:latin typeface="Calibri"/>
                <a:cs typeface="Calibri"/>
              </a:rPr>
              <a:t>Consistency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pending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leaving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was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before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initiated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636270">
              <a:lnSpc>
                <a:spcPts val="4110"/>
              </a:lnSpc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Consistency Contd..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609156"/>
            <a:ext cx="6817359" cy="513461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Money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30">
                <a:latin typeface="Calibri"/>
                <a:cs typeface="Calibri"/>
              </a:rPr>
              <a:t>Transfer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lvl="1" marL="698500" marR="5080" indent="-228600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Initially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total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1000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5000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sum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6000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while </a:t>
            </a:r>
            <a:r>
              <a:rPr dirty="0" sz="2000">
                <a:latin typeface="Calibri"/>
                <a:cs typeface="Calibri"/>
              </a:rPr>
              <a:t>carrying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occurs </a:t>
            </a:r>
            <a:r>
              <a:rPr dirty="0" sz="2000">
                <a:latin typeface="Calibri"/>
                <a:cs typeface="Calibri"/>
              </a:rPr>
              <a:t>after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(A)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Write(B)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system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loose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rupees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calculation.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sum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both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5900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(which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should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6000)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10">
                <a:latin typeface="Calibri"/>
                <a:cs typeface="Calibri"/>
              </a:rPr>
              <a:t>consistent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introduces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inconsistency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in </a:t>
            </a:r>
            <a:r>
              <a:rPr dirty="0" sz="2000" spc="-10"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</a:t>
            </a:r>
            <a:r>
              <a:rPr dirty="0" sz="2000" spc="-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lvl="1" marL="698500" marR="330835" indent="-228600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student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details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associated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properly </a:t>
            </a:r>
            <a:r>
              <a:rPr dirty="0" sz="2000">
                <a:latin typeface="Calibri"/>
                <a:cs typeface="Calibri"/>
              </a:rPr>
              <a:t>configured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would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delete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student </a:t>
            </a:r>
            <a:r>
              <a:rPr dirty="0" sz="2000">
                <a:latin typeface="Calibri"/>
                <a:cs typeface="Calibri"/>
              </a:rPr>
              <a:t>record,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leaving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associated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stranded</a:t>
            </a:r>
            <a:endParaRPr sz="2000">
              <a:latin typeface="Calibri"/>
              <a:cs typeface="Calibri"/>
            </a:endParaRPr>
          </a:p>
          <a:p>
            <a:pPr algn="just" marL="239395" marR="19050" indent="-226695">
              <a:lnSpc>
                <a:spcPts val="216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operation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left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consistent 	state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upon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back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integrity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compromised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>
                <a:solidFill>
                  <a:srgbClr val="FFFFFF"/>
                </a:solidFill>
              </a:rPr>
              <a:t>Isolation</a:t>
            </a:r>
            <a:endParaRPr sz="38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044696" y="448055"/>
            <a:ext cx="7688580" cy="5953125"/>
            <a:chOff x="4044696" y="448055"/>
            <a:chExt cx="7688580" cy="5953125"/>
          </a:xfrm>
        </p:grpSpPr>
        <p:sp>
          <p:nvSpPr>
            <p:cNvPr id="5" name="object 5" descr=""/>
            <p:cNvSpPr/>
            <p:nvPr/>
          </p:nvSpPr>
          <p:spPr>
            <a:xfrm>
              <a:off x="4044696" y="448055"/>
              <a:ext cx="7688580" cy="5953125"/>
            </a:xfrm>
            <a:custGeom>
              <a:avLst/>
              <a:gdLst/>
              <a:ahLst/>
              <a:cxnLst/>
              <a:rect l="l" t="t" r="r" b="b"/>
              <a:pathLst>
                <a:path w="7688580" h="5953125">
                  <a:moveTo>
                    <a:pt x="7688580" y="0"/>
                  </a:moveTo>
                  <a:lnTo>
                    <a:pt x="0" y="0"/>
                  </a:lnTo>
                  <a:lnTo>
                    <a:pt x="0" y="5952744"/>
                  </a:lnTo>
                  <a:lnTo>
                    <a:pt x="7688580" y="5952744"/>
                  </a:lnTo>
                  <a:lnTo>
                    <a:pt x="768858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79976" y="690371"/>
              <a:ext cx="7038340" cy="4558665"/>
            </a:xfrm>
            <a:custGeom>
              <a:avLst/>
              <a:gdLst/>
              <a:ahLst/>
              <a:cxnLst/>
              <a:rect l="l" t="t" r="r" b="b"/>
              <a:pathLst>
                <a:path w="7038340" h="4558665">
                  <a:moveTo>
                    <a:pt x="0" y="0"/>
                  </a:moveTo>
                  <a:lnTo>
                    <a:pt x="7037832" y="0"/>
                  </a:lnTo>
                </a:path>
                <a:path w="7038340" h="4558665">
                  <a:moveTo>
                    <a:pt x="0" y="911351"/>
                  </a:moveTo>
                  <a:lnTo>
                    <a:pt x="7037832" y="911351"/>
                  </a:lnTo>
                </a:path>
                <a:path w="7038340" h="4558665">
                  <a:moveTo>
                    <a:pt x="0" y="1822703"/>
                  </a:moveTo>
                  <a:lnTo>
                    <a:pt x="7037832" y="1822703"/>
                  </a:lnTo>
                </a:path>
                <a:path w="7038340" h="4558665">
                  <a:moveTo>
                    <a:pt x="0" y="2734055"/>
                  </a:moveTo>
                  <a:lnTo>
                    <a:pt x="7037832" y="2734055"/>
                  </a:lnTo>
                </a:path>
                <a:path w="7038340" h="4558665">
                  <a:moveTo>
                    <a:pt x="0" y="3646931"/>
                  </a:moveTo>
                  <a:lnTo>
                    <a:pt x="7037832" y="3646931"/>
                  </a:lnTo>
                </a:path>
                <a:path w="7038340" h="4558665">
                  <a:moveTo>
                    <a:pt x="0" y="4558283"/>
                  </a:moveTo>
                  <a:lnTo>
                    <a:pt x="7037832" y="4558283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endParaRPr sz="1800">
              <a:latin typeface="Times New Roman"/>
              <a:cs typeface="Times New Roman"/>
            </a:endParaRPr>
          </a:p>
          <a:p>
            <a:pPr marL="403860" marR="496570">
              <a:lnSpc>
                <a:spcPts val="1970"/>
              </a:lnSpc>
            </a:pPr>
            <a:r>
              <a:rPr dirty="0" sz="1800">
                <a:latin typeface="Calibri"/>
                <a:cs typeface="Calibri"/>
              </a:rPr>
              <a:t>Isolation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property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ensures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remain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unaware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0"/>
              </a:spcBef>
            </a:pPr>
            <a:endParaRPr sz="1800">
              <a:latin typeface="Calibri"/>
              <a:cs typeface="Calibri"/>
            </a:endParaRPr>
          </a:p>
          <a:p>
            <a:pPr marL="403860" marR="495300">
              <a:lnSpc>
                <a:spcPts val="1970"/>
              </a:lnSpc>
            </a:pPr>
            <a:r>
              <a:rPr dirty="0" sz="1800">
                <a:latin typeface="Calibri"/>
                <a:cs typeface="Calibri"/>
              </a:rPr>
              <a:t>Isolation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property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keeps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multiple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separated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other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completed.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1800">
              <a:latin typeface="Calibri"/>
              <a:cs typeface="Calibri"/>
            </a:endParaRPr>
          </a:p>
          <a:p>
            <a:pPr marL="403860" marR="690245">
              <a:lnSpc>
                <a:spcPts val="1970"/>
              </a:lnSpc>
            </a:pP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occurring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invisible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commits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rolls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back.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Calibri"/>
              <a:cs typeface="Calibri"/>
            </a:endParaRPr>
          </a:p>
          <a:p>
            <a:pPr marL="403860">
              <a:lnSpc>
                <a:spcPts val="2065"/>
              </a:lnSpc>
              <a:spcBef>
                <a:spcPts val="5"/>
              </a:spcBef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example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changes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bank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balance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other</a:t>
            </a:r>
            <a:endParaRPr sz="1800">
              <a:latin typeface="Calibri"/>
              <a:cs typeface="Calibri"/>
            </a:endParaRPr>
          </a:p>
          <a:p>
            <a:pPr marL="403860">
              <a:lnSpc>
                <a:spcPts val="2065"/>
              </a:lnSpc>
            </a:pP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cannot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new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balance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commits.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1800">
              <a:latin typeface="Calibri"/>
              <a:cs typeface="Calibri"/>
            </a:endParaRPr>
          </a:p>
          <a:p>
            <a:pPr marL="403860">
              <a:lnSpc>
                <a:spcPct val="100000"/>
              </a:lnSpc>
            </a:pPr>
            <a:r>
              <a:rPr dirty="0" sz="1800" spc="-20">
                <a:latin typeface="Calibri"/>
                <a:cs typeface="Calibri"/>
              </a:rPr>
              <a:t>Different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isolation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modify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default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behaviour.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800">
              <a:latin typeface="Calibri"/>
              <a:cs typeface="Calibri"/>
            </a:endParaRPr>
          </a:p>
          <a:p>
            <a:pPr marL="403860" marR="664845">
              <a:lnSpc>
                <a:spcPct val="91400"/>
              </a:lnSpc>
              <a:spcBef>
                <a:spcPts val="5"/>
              </a:spcBef>
            </a:pPr>
            <a:r>
              <a:rPr dirty="0" sz="1800" spc="-2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isolation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generally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configurable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variety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modes.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For </a:t>
            </a:r>
            <a:r>
              <a:rPr dirty="0" sz="1800" spc="-10">
                <a:latin typeface="Calibri"/>
                <a:cs typeface="Calibri"/>
              </a:rPr>
              <a:t>example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blocks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 finishes.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1264285">
              <a:lnSpc>
                <a:spcPts val="4110"/>
              </a:lnSpc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Isolation contd..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08170" y="614553"/>
            <a:ext cx="6891020" cy="456946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92100" marR="81280" indent="-228600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1800">
                <a:latin typeface="Calibri"/>
                <a:cs typeface="Calibri"/>
              </a:rPr>
              <a:t>Even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though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system.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guarantee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every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(T</a:t>
            </a:r>
            <a:r>
              <a:rPr dirty="0" baseline="-20833" sz="1800">
                <a:latin typeface="Calibri"/>
                <a:cs typeface="Calibri"/>
              </a:rPr>
              <a:t>i</a:t>
            </a:r>
            <a:r>
              <a:rPr dirty="0" sz="1800">
                <a:latin typeface="Calibri"/>
                <a:cs typeface="Calibri"/>
              </a:rPr>
              <a:t>)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25">
                <a:latin typeface="Calibri"/>
                <a:cs typeface="Calibri"/>
              </a:rPr>
              <a:t> all </a:t>
            </a:r>
            <a:r>
              <a:rPr dirty="0" sz="1800">
                <a:latin typeface="Calibri"/>
                <a:cs typeface="Calibri"/>
              </a:rPr>
              <a:t>transactions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finished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before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(T</a:t>
            </a:r>
            <a:r>
              <a:rPr dirty="0" baseline="-20833" sz="1800">
                <a:latin typeface="Calibri"/>
                <a:cs typeface="Calibri"/>
              </a:rPr>
              <a:t>i</a:t>
            </a:r>
            <a:r>
              <a:rPr dirty="0" sz="1800">
                <a:latin typeface="Calibri"/>
                <a:cs typeface="Calibri"/>
              </a:rPr>
              <a:t>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started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other transactions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started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after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(T</a:t>
            </a:r>
            <a:r>
              <a:rPr dirty="0" baseline="-20833" sz="1800">
                <a:latin typeface="Calibri"/>
                <a:cs typeface="Calibri"/>
              </a:rPr>
              <a:t>i</a:t>
            </a:r>
            <a:r>
              <a:rPr dirty="0" sz="1800">
                <a:latin typeface="Calibri"/>
                <a:cs typeface="Calibri"/>
              </a:rPr>
              <a:t>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finished.</a:t>
            </a:r>
            <a:endParaRPr sz="1800">
              <a:latin typeface="Calibri"/>
              <a:cs typeface="Calibri"/>
            </a:endParaRPr>
          </a:p>
          <a:p>
            <a:pPr marL="292100" marR="866775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means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unaware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 executing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simultaneously.</a:t>
            </a:r>
            <a:endParaRPr sz="1800">
              <a:latin typeface="Calibri"/>
              <a:cs typeface="Calibri"/>
            </a:endParaRPr>
          </a:p>
          <a:p>
            <a:pPr marL="2914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91465" algn="l"/>
              </a:tabLst>
            </a:pPr>
            <a:r>
              <a:rPr dirty="0" sz="1800">
                <a:latin typeface="Calibri"/>
                <a:cs typeface="Calibri"/>
              </a:rPr>
              <a:t>Example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Money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transfer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above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lvl="1" marL="749300" marR="118110" indent="-228600">
              <a:lnSpc>
                <a:spcPct val="90000"/>
              </a:lnSpc>
              <a:spcBef>
                <a:spcPts val="505"/>
              </a:spcBef>
              <a:buFont typeface="Arial MT"/>
              <a:buChar char="•"/>
              <a:tabLst>
                <a:tab pos="749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temporarily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inconsistent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while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deducted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total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written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increased </a:t>
            </a:r>
            <a:r>
              <a:rPr dirty="0" sz="1800">
                <a:latin typeface="Calibri"/>
                <a:cs typeface="Calibri"/>
              </a:rPr>
              <a:t>total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written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some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concurrently </a:t>
            </a:r>
            <a:r>
              <a:rPr dirty="0" sz="1800">
                <a:latin typeface="Calibri"/>
                <a:cs typeface="Calibri"/>
              </a:rPr>
              <a:t>running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balance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this </a:t>
            </a:r>
            <a:r>
              <a:rPr dirty="0" sz="1800" spc="-10">
                <a:latin typeface="Calibri"/>
                <a:cs typeface="Calibri"/>
              </a:rPr>
              <a:t>intermediate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point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computes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A+B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observe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 </a:t>
            </a:r>
            <a:r>
              <a:rPr dirty="0" sz="1800" spc="-10">
                <a:latin typeface="Calibri"/>
                <a:cs typeface="Calibri"/>
              </a:rPr>
              <a:t>inconsistent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(Rs.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5900).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other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wants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perform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updates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inconsistent </a:t>
            </a:r>
            <a:r>
              <a:rPr dirty="0" sz="1800">
                <a:latin typeface="Calibri"/>
                <a:cs typeface="Calibri"/>
              </a:rPr>
              <a:t>values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(Rs.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5900)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left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an </a:t>
            </a:r>
            <a:r>
              <a:rPr dirty="0" sz="1800" spc="-10">
                <a:latin typeface="Calibri"/>
                <a:cs typeface="Calibri"/>
              </a:rPr>
              <a:t>inconsistent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even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after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been </a:t>
            </a:r>
            <a:r>
              <a:rPr dirty="0" sz="1800" spc="-10">
                <a:latin typeface="Calibri"/>
                <a:cs typeface="Calibri"/>
              </a:rPr>
              <a:t>completed.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458970" y="5257546"/>
            <a:ext cx="6853555" cy="54673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241300" marR="50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avoid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concurrently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 spc="-10">
                <a:latin typeface="Calibri"/>
                <a:cs typeface="Calibri"/>
              </a:rPr>
              <a:t>execute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time.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48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</a:pPr>
            <a:r>
              <a:rPr dirty="0" sz="3800" spc="-10">
                <a:solidFill>
                  <a:srgbClr val="FFFFFF"/>
                </a:solidFill>
              </a:rPr>
              <a:t>Durability</a:t>
            </a:r>
            <a:endParaRPr sz="38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044696" y="448055"/>
            <a:ext cx="7688580" cy="5953125"/>
            <a:chOff x="4044696" y="448055"/>
            <a:chExt cx="7688580" cy="5953125"/>
          </a:xfrm>
        </p:grpSpPr>
        <p:sp>
          <p:nvSpPr>
            <p:cNvPr id="5" name="object 5" descr=""/>
            <p:cNvSpPr/>
            <p:nvPr/>
          </p:nvSpPr>
          <p:spPr>
            <a:xfrm>
              <a:off x="4044696" y="448055"/>
              <a:ext cx="7688580" cy="5953125"/>
            </a:xfrm>
            <a:custGeom>
              <a:avLst/>
              <a:gdLst/>
              <a:ahLst/>
              <a:cxnLst/>
              <a:rect l="l" t="t" r="r" b="b"/>
              <a:pathLst>
                <a:path w="7688580" h="5953125">
                  <a:moveTo>
                    <a:pt x="7688580" y="0"/>
                  </a:moveTo>
                  <a:lnTo>
                    <a:pt x="0" y="0"/>
                  </a:lnTo>
                  <a:lnTo>
                    <a:pt x="0" y="5952744"/>
                  </a:lnTo>
                  <a:lnTo>
                    <a:pt x="7688580" y="5952744"/>
                  </a:lnTo>
                  <a:lnTo>
                    <a:pt x="768858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79976" y="687323"/>
              <a:ext cx="7038340" cy="4107179"/>
            </a:xfrm>
            <a:custGeom>
              <a:avLst/>
              <a:gdLst/>
              <a:ahLst/>
              <a:cxnLst/>
              <a:rect l="l" t="t" r="r" b="b"/>
              <a:pathLst>
                <a:path w="7038340" h="4107179">
                  <a:moveTo>
                    <a:pt x="0" y="0"/>
                  </a:moveTo>
                  <a:lnTo>
                    <a:pt x="7037832" y="0"/>
                  </a:lnTo>
                </a:path>
                <a:path w="7038340" h="4107179">
                  <a:moveTo>
                    <a:pt x="0" y="1368552"/>
                  </a:moveTo>
                  <a:lnTo>
                    <a:pt x="7037832" y="1368552"/>
                  </a:lnTo>
                </a:path>
                <a:path w="7038340" h="4107179">
                  <a:moveTo>
                    <a:pt x="0" y="2737104"/>
                  </a:moveTo>
                  <a:lnTo>
                    <a:pt x="7037832" y="2737104"/>
                  </a:lnTo>
                </a:path>
                <a:path w="7038340" h="4107179">
                  <a:moveTo>
                    <a:pt x="0" y="4107179"/>
                  </a:moveTo>
                  <a:lnTo>
                    <a:pt x="7037832" y="4107179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5"/>
              </a:spcBef>
            </a:pPr>
            <a:endParaRPr sz="1600">
              <a:latin typeface="Times New Roman"/>
              <a:cs typeface="Times New Roman"/>
            </a:endParaRPr>
          </a:p>
          <a:p>
            <a:pPr marL="396875" marR="378460">
              <a:lnSpc>
                <a:spcPts val="1750"/>
              </a:lnSpc>
            </a:pPr>
            <a:r>
              <a:rPr dirty="0" sz="1600">
                <a:latin typeface="Calibri"/>
                <a:cs typeface="Calibri"/>
              </a:rPr>
              <a:t>Durability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property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guarantees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keep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track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pending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changes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way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recover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abnormal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termination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600">
              <a:latin typeface="Calibri"/>
              <a:cs typeface="Calibri"/>
            </a:endParaRPr>
          </a:p>
          <a:p>
            <a:pPr marL="396875" marR="829310">
              <a:lnSpc>
                <a:spcPts val="1750"/>
              </a:lnSpc>
              <a:spcBef>
                <a:spcPts val="5"/>
              </a:spcBef>
            </a:pPr>
            <a:r>
              <a:rPr dirty="0" sz="1600" spc="-10">
                <a:latin typeface="Calibri"/>
                <a:cs typeface="Calibri"/>
              </a:rPr>
              <a:t>Even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server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unplugged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middle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will </a:t>
            </a:r>
            <a:r>
              <a:rPr dirty="0" sz="1600">
                <a:latin typeface="Calibri"/>
                <a:cs typeface="Calibri"/>
              </a:rPr>
              <a:t>return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consistent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restarted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1600">
              <a:latin typeface="Calibri"/>
              <a:cs typeface="Calibri"/>
            </a:endParaRPr>
          </a:p>
          <a:p>
            <a:pPr marL="396875" marR="405130">
              <a:lnSpc>
                <a:spcPct val="91600"/>
              </a:lnSpc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handles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storing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uncommitted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0">
                <a:latin typeface="Calibri"/>
                <a:cs typeface="Calibri"/>
              </a:rPr>
              <a:t> log.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virtue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consistency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partially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won’t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written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event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abnormal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termination.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However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is </a:t>
            </a:r>
            <a:r>
              <a:rPr dirty="0" sz="1600" spc="-10">
                <a:latin typeface="Calibri"/>
                <a:cs typeface="Calibri"/>
              </a:rPr>
              <a:t>restarted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such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termination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examines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completed transactions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been</a:t>
            </a:r>
            <a:r>
              <a:rPr dirty="0" sz="1600" spc="-10">
                <a:latin typeface="Calibri"/>
                <a:cs typeface="Calibri"/>
              </a:rPr>
              <a:t> committed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applies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them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600">
              <a:latin typeface="Calibri"/>
              <a:cs typeface="Calibri"/>
            </a:endParaRPr>
          </a:p>
          <a:p>
            <a:pPr marL="396875" marR="574040">
              <a:lnSpc>
                <a:spcPts val="1750"/>
              </a:lnSpc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results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successfully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database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remain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unchanged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even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fails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1028065">
              <a:lnSpc>
                <a:spcPts val="4110"/>
              </a:lnSpc>
            </a:pPr>
            <a:r>
              <a:rPr dirty="0" sz="3800" spc="-20" b="1">
                <a:solidFill>
                  <a:srgbClr val="FFFFFF"/>
                </a:solidFill>
                <a:latin typeface="Calibri"/>
                <a:cs typeface="Calibri"/>
              </a:rPr>
              <a:t>Durability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Contd..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842518"/>
            <a:ext cx="6762115" cy="460057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95504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Changes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made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during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are </a:t>
            </a:r>
            <a:r>
              <a:rPr dirty="0" sz="2600">
                <a:latin typeface="Calibri"/>
                <a:cs typeface="Calibri"/>
              </a:rPr>
              <a:t>permanent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once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commits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Example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–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Once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execution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transaction </a:t>
            </a:r>
            <a:r>
              <a:rPr dirty="0" sz="2600">
                <a:latin typeface="Calibri"/>
                <a:cs typeface="Calibri"/>
              </a:rPr>
              <a:t>completes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successfully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will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be </a:t>
            </a:r>
            <a:r>
              <a:rPr dirty="0" sz="2600">
                <a:latin typeface="Calibri"/>
                <a:cs typeface="Calibri"/>
              </a:rPr>
              <a:t>notified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transfer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amount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has </a:t>
            </a:r>
            <a:r>
              <a:rPr dirty="0" sz="2600" spc="-10">
                <a:latin typeface="Calibri"/>
                <a:cs typeface="Calibri"/>
              </a:rPr>
              <a:t>taken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place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failure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this </a:t>
            </a:r>
            <a:r>
              <a:rPr dirty="0" sz="2600" spc="-10">
                <a:latin typeface="Calibri"/>
                <a:cs typeface="Calibri"/>
              </a:rPr>
              <a:t>transfer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funds</a:t>
            </a:r>
            <a:endParaRPr sz="2600">
              <a:latin typeface="Calibri"/>
              <a:cs typeface="Calibri"/>
            </a:endParaRPr>
          </a:p>
          <a:p>
            <a:pPr marL="241300" marR="173355" indent="-228600">
              <a:lnSpc>
                <a:spcPts val="2810"/>
              </a:lnSpc>
              <a:spcBef>
                <a:spcPts val="10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durability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property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guarantees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once</a:t>
            </a:r>
            <a:r>
              <a:rPr dirty="0" sz="2600" spc="-50">
                <a:latin typeface="Calibri"/>
                <a:cs typeface="Calibri"/>
              </a:rPr>
              <a:t> a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completes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successfully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changes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made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database </a:t>
            </a:r>
            <a:r>
              <a:rPr dirty="0" sz="2600">
                <a:latin typeface="Calibri"/>
                <a:cs typeface="Calibri"/>
              </a:rPr>
              <a:t>persist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even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failure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completes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execution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307340" rIns="0" bIns="0" rtlCol="0" vert="horz">
            <a:spAutoFit/>
          </a:bodyPr>
          <a:lstStyle/>
          <a:p>
            <a:pPr marL="401955" marR="535940">
              <a:lnSpc>
                <a:spcPct val="90000"/>
              </a:lnSpc>
              <a:spcBef>
                <a:spcPts val="2420"/>
              </a:spcBef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dirty="0" sz="3800" spc="-1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Transaction </a:t>
            </a:r>
            <a:r>
              <a:rPr dirty="0" sz="3800" b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dirty="0" sz="3800" spc="-10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50" b="1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Transaction State Diagram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537464"/>
            <a:ext cx="6863080" cy="530733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123825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successfully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saved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server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called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committed 	transaction</a:t>
            </a:r>
            <a:endParaRPr sz="2400">
              <a:latin typeface="Calibri"/>
              <a:cs typeface="Calibri"/>
            </a:endParaRPr>
          </a:p>
          <a:p>
            <a:pPr marL="240029" marR="5080" indent="-227329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committed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transfers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database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one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consistent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consistent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which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must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persist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system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failure</a:t>
            </a:r>
            <a:endParaRPr sz="2400">
              <a:latin typeface="Calibri"/>
              <a:cs typeface="Calibri"/>
            </a:endParaRPr>
          </a:p>
          <a:p>
            <a:pPr marL="240029" marR="354965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20">
                <a:latin typeface="Calibri"/>
                <a:cs typeface="Calibri"/>
              </a:rPr>
              <a:t>Transaction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always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complete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successfully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aborted</a:t>
            </a:r>
            <a:endParaRPr sz="2400">
              <a:latin typeface="Calibri"/>
              <a:cs typeface="Calibri"/>
            </a:endParaRPr>
          </a:p>
          <a:p>
            <a:pPr marL="240029" marR="256540" indent="-227329">
              <a:lnSpc>
                <a:spcPts val="259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aborted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any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change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aborted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database.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Such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changes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back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ts val="2735"/>
              </a:lnSpc>
              <a:spcBef>
                <a:spcPts val="68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Once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committed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cannot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undo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its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735"/>
              </a:lnSpc>
            </a:pPr>
            <a:r>
              <a:rPr dirty="0" sz="2400" spc="-10">
                <a:latin typeface="Calibri"/>
                <a:cs typeface="Calibri"/>
              </a:rPr>
              <a:t>effects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aborting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821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State</a:t>
            </a:r>
            <a:r>
              <a:rPr dirty="0" sz="4000" spc="-100"/>
              <a:t> </a:t>
            </a:r>
            <a:r>
              <a:rPr dirty="0" sz="4000" spc="-10"/>
              <a:t>Diagram</a:t>
            </a:r>
            <a:r>
              <a:rPr dirty="0" sz="4000" spc="-80"/>
              <a:t> </a:t>
            </a:r>
            <a:r>
              <a:rPr dirty="0" sz="4000"/>
              <a:t>Of</a:t>
            </a:r>
            <a:r>
              <a:rPr dirty="0" sz="4000" spc="-105"/>
              <a:t> </a:t>
            </a:r>
            <a:r>
              <a:rPr dirty="0" sz="4000"/>
              <a:t>A</a:t>
            </a:r>
            <a:r>
              <a:rPr dirty="0" sz="4000" spc="-105"/>
              <a:t> </a:t>
            </a:r>
            <a:r>
              <a:rPr dirty="0" sz="4000" spc="-10"/>
              <a:t>Transaction</a:t>
            </a:r>
            <a:endParaRPr sz="4000"/>
          </a:p>
        </p:txBody>
      </p:sp>
      <p:sp>
        <p:nvSpPr>
          <p:cNvPr id="3" name="object 3" descr=""/>
          <p:cNvSpPr/>
          <p:nvPr/>
        </p:nvSpPr>
        <p:spPr>
          <a:xfrm>
            <a:off x="2523744" y="3000755"/>
            <a:ext cx="1483360" cy="1071880"/>
          </a:xfrm>
          <a:custGeom>
            <a:avLst/>
            <a:gdLst/>
            <a:ahLst/>
            <a:cxnLst/>
            <a:rect l="l" t="t" r="r" b="b"/>
            <a:pathLst>
              <a:path w="1483360" h="1071879">
                <a:moveTo>
                  <a:pt x="0" y="535686"/>
                </a:moveTo>
                <a:lnTo>
                  <a:pt x="2033" y="495699"/>
                </a:lnTo>
                <a:lnTo>
                  <a:pt x="8039" y="456512"/>
                </a:lnTo>
                <a:lnTo>
                  <a:pt x="17874" y="418229"/>
                </a:lnTo>
                <a:lnTo>
                  <a:pt x="31393" y="380951"/>
                </a:lnTo>
                <a:lnTo>
                  <a:pt x="48455" y="344783"/>
                </a:lnTo>
                <a:lnTo>
                  <a:pt x="68914" y="309828"/>
                </a:lnTo>
                <a:lnTo>
                  <a:pt x="92629" y="276191"/>
                </a:lnTo>
                <a:lnTo>
                  <a:pt x="119455" y="243973"/>
                </a:lnTo>
                <a:lnTo>
                  <a:pt x="149250" y="213279"/>
                </a:lnTo>
                <a:lnTo>
                  <a:pt x="181869" y="184212"/>
                </a:lnTo>
                <a:lnTo>
                  <a:pt x="217170" y="156876"/>
                </a:lnTo>
                <a:lnTo>
                  <a:pt x="255008" y="131374"/>
                </a:lnTo>
                <a:lnTo>
                  <a:pt x="295241" y="107810"/>
                </a:lnTo>
                <a:lnTo>
                  <a:pt x="337725" y="86287"/>
                </a:lnTo>
                <a:lnTo>
                  <a:pt x="382316" y="66908"/>
                </a:lnTo>
                <a:lnTo>
                  <a:pt x="428872" y="49778"/>
                </a:lnTo>
                <a:lnTo>
                  <a:pt x="477249" y="34999"/>
                </a:lnTo>
                <a:lnTo>
                  <a:pt x="527303" y="22675"/>
                </a:lnTo>
                <a:lnTo>
                  <a:pt x="578891" y="12910"/>
                </a:lnTo>
                <a:lnTo>
                  <a:pt x="631870" y="5806"/>
                </a:lnTo>
                <a:lnTo>
                  <a:pt x="686096" y="1468"/>
                </a:lnTo>
                <a:lnTo>
                  <a:pt x="741426" y="0"/>
                </a:lnTo>
                <a:lnTo>
                  <a:pt x="796755" y="1468"/>
                </a:lnTo>
                <a:lnTo>
                  <a:pt x="850981" y="5806"/>
                </a:lnTo>
                <a:lnTo>
                  <a:pt x="903960" y="12910"/>
                </a:lnTo>
                <a:lnTo>
                  <a:pt x="955548" y="22675"/>
                </a:lnTo>
                <a:lnTo>
                  <a:pt x="1005602" y="34999"/>
                </a:lnTo>
                <a:lnTo>
                  <a:pt x="1053979" y="49778"/>
                </a:lnTo>
                <a:lnTo>
                  <a:pt x="1100535" y="66908"/>
                </a:lnTo>
                <a:lnTo>
                  <a:pt x="1145126" y="86287"/>
                </a:lnTo>
                <a:lnTo>
                  <a:pt x="1187610" y="107810"/>
                </a:lnTo>
                <a:lnTo>
                  <a:pt x="1227843" y="131374"/>
                </a:lnTo>
                <a:lnTo>
                  <a:pt x="1265682" y="156876"/>
                </a:lnTo>
                <a:lnTo>
                  <a:pt x="1300982" y="184212"/>
                </a:lnTo>
                <a:lnTo>
                  <a:pt x="1333601" y="213279"/>
                </a:lnTo>
                <a:lnTo>
                  <a:pt x="1363396" y="243973"/>
                </a:lnTo>
                <a:lnTo>
                  <a:pt x="1390222" y="276191"/>
                </a:lnTo>
                <a:lnTo>
                  <a:pt x="1413937" y="309828"/>
                </a:lnTo>
                <a:lnTo>
                  <a:pt x="1434396" y="344783"/>
                </a:lnTo>
                <a:lnTo>
                  <a:pt x="1451458" y="380951"/>
                </a:lnTo>
                <a:lnTo>
                  <a:pt x="1464977" y="418229"/>
                </a:lnTo>
                <a:lnTo>
                  <a:pt x="1474812" y="456512"/>
                </a:lnTo>
                <a:lnTo>
                  <a:pt x="1480818" y="495699"/>
                </a:lnTo>
                <a:lnTo>
                  <a:pt x="1482852" y="535686"/>
                </a:lnTo>
                <a:lnTo>
                  <a:pt x="1480818" y="575672"/>
                </a:lnTo>
                <a:lnTo>
                  <a:pt x="1474812" y="614859"/>
                </a:lnTo>
                <a:lnTo>
                  <a:pt x="1464977" y="653142"/>
                </a:lnTo>
                <a:lnTo>
                  <a:pt x="1451458" y="690420"/>
                </a:lnTo>
                <a:lnTo>
                  <a:pt x="1434396" y="726588"/>
                </a:lnTo>
                <a:lnTo>
                  <a:pt x="1413937" y="761543"/>
                </a:lnTo>
                <a:lnTo>
                  <a:pt x="1390222" y="795180"/>
                </a:lnTo>
                <a:lnTo>
                  <a:pt x="1363396" y="827398"/>
                </a:lnTo>
                <a:lnTo>
                  <a:pt x="1333601" y="858092"/>
                </a:lnTo>
                <a:lnTo>
                  <a:pt x="1300982" y="887159"/>
                </a:lnTo>
                <a:lnTo>
                  <a:pt x="1265682" y="914495"/>
                </a:lnTo>
                <a:lnTo>
                  <a:pt x="1227843" y="939997"/>
                </a:lnTo>
                <a:lnTo>
                  <a:pt x="1187610" y="963561"/>
                </a:lnTo>
                <a:lnTo>
                  <a:pt x="1145126" y="985084"/>
                </a:lnTo>
                <a:lnTo>
                  <a:pt x="1100535" y="1004463"/>
                </a:lnTo>
                <a:lnTo>
                  <a:pt x="1053979" y="1021593"/>
                </a:lnTo>
                <a:lnTo>
                  <a:pt x="1005602" y="1036372"/>
                </a:lnTo>
                <a:lnTo>
                  <a:pt x="955548" y="1048696"/>
                </a:lnTo>
                <a:lnTo>
                  <a:pt x="903960" y="1058461"/>
                </a:lnTo>
                <a:lnTo>
                  <a:pt x="850981" y="1065565"/>
                </a:lnTo>
                <a:lnTo>
                  <a:pt x="796755" y="1069903"/>
                </a:lnTo>
                <a:lnTo>
                  <a:pt x="741426" y="1071372"/>
                </a:lnTo>
                <a:lnTo>
                  <a:pt x="686096" y="1069903"/>
                </a:lnTo>
                <a:lnTo>
                  <a:pt x="631870" y="1065565"/>
                </a:lnTo>
                <a:lnTo>
                  <a:pt x="578891" y="1058461"/>
                </a:lnTo>
                <a:lnTo>
                  <a:pt x="527303" y="1048696"/>
                </a:lnTo>
                <a:lnTo>
                  <a:pt x="477249" y="1036372"/>
                </a:lnTo>
                <a:lnTo>
                  <a:pt x="428872" y="1021593"/>
                </a:lnTo>
                <a:lnTo>
                  <a:pt x="382316" y="1004463"/>
                </a:lnTo>
                <a:lnTo>
                  <a:pt x="337725" y="985084"/>
                </a:lnTo>
                <a:lnTo>
                  <a:pt x="295241" y="963561"/>
                </a:lnTo>
                <a:lnTo>
                  <a:pt x="255008" y="939997"/>
                </a:lnTo>
                <a:lnTo>
                  <a:pt x="217170" y="914495"/>
                </a:lnTo>
                <a:lnTo>
                  <a:pt x="181869" y="887159"/>
                </a:lnTo>
                <a:lnTo>
                  <a:pt x="149250" y="858092"/>
                </a:lnTo>
                <a:lnTo>
                  <a:pt x="119455" y="827398"/>
                </a:lnTo>
                <a:lnTo>
                  <a:pt x="92629" y="795180"/>
                </a:lnTo>
                <a:lnTo>
                  <a:pt x="68914" y="761543"/>
                </a:lnTo>
                <a:lnTo>
                  <a:pt x="48455" y="726588"/>
                </a:lnTo>
                <a:lnTo>
                  <a:pt x="31393" y="690420"/>
                </a:lnTo>
                <a:lnTo>
                  <a:pt x="17874" y="653142"/>
                </a:lnTo>
                <a:lnTo>
                  <a:pt x="8039" y="614859"/>
                </a:lnTo>
                <a:lnTo>
                  <a:pt x="2033" y="575672"/>
                </a:lnTo>
                <a:lnTo>
                  <a:pt x="0" y="53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2881376" y="3367277"/>
            <a:ext cx="76644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65">
                <a:latin typeface="Cambria"/>
                <a:cs typeface="Cambria"/>
              </a:rPr>
              <a:t>Active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4453128" y="2380488"/>
            <a:ext cx="2176780" cy="1001394"/>
          </a:xfrm>
          <a:custGeom>
            <a:avLst/>
            <a:gdLst/>
            <a:ahLst/>
            <a:cxnLst/>
            <a:rect l="l" t="t" r="r" b="b"/>
            <a:pathLst>
              <a:path w="2176779" h="1001395">
                <a:moveTo>
                  <a:pt x="0" y="500634"/>
                </a:moveTo>
                <a:lnTo>
                  <a:pt x="7320" y="442251"/>
                </a:lnTo>
                <a:lnTo>
                  <a:pt x="28738" y="385847"/>
                </a:lnTo>
                <a:lnTo>
                  <a:pt x="63436" y="331796"/>
                </a:lnTo>
                <a:lnTo>
                  <a:pt x="110598" y="280473"/>
                </a:lnTo>
                <a:lnTo>
                  <a:pt x="169408" y="232256"/>
                </a:lnTo>
                <a:lnTo>
                  <a:pt x="202926" y="209428"/>
                </a:lnTo>
                <a:lnTo>
                  <a:pt x="239050" y="187518"/>
                </a:lnTo>
                <a:lnTo>
                  <a:pt x="277677" y="166572"/>
                </a:lnTo>
                <a:lnTo>
                  <a:pt x="318706" y="146637"/>
                </a:lnTo>
                <a:lnTo>
                  <a:pt x="362035" y="127760"/>
                </a:lnTo>
                <a:lnTo>
                  <a:pt x="407561" y="109987"/>
                </a:lnTo>
                <a:lnTo>
                  <a:pt x="455182" y="93367"/>
                </a:lnTo>
                <a:lnTo>
                  <a:pt x="504797" y="77946"/>
                </a:lnTo>
                <a:lnTo>
                  <a:pt x="556304" y="63770"/>
                </a:lnTo>
                <a:lnTo>
                  <a:pt x="609600" y="50887"/>
                </a:lnTo>
                <a:lnTo>
                  <a:pt x="664583" y="39344"/>
                </a:lnTo>
                <a:lnTo>
                  <a:pt x="721151" y="29187"/>
                </a:lnTo>
                <a:lnTo>
                  <a:pt x="779202" y="20464"/>
                </a:lnTo>
                <a:lnTo>
                  <a:pt x="838635" y="13222"/>
                </a:lnTo>
                <a:lnTo>
                  <a:pt x="899347" y="7508"/>
                </a:lnTo>
                <a:lnTo>
                  <a:pt x="961235" y="3368"/>
                </a:lnTo>
                <a:lnTo>
                  <a:pt x="1024199" y="849"/>
                </a:lnTo>
                <a:lnTo>
                  <a:pt x="1088136" y="0"/>
                </a:lnTo>
                <a:lnTo>
                  <a:pt x="1152072" y="849"/>
                </a:lnTo>
                <a:lnTo>
                  <a:pt x="1215036" y="3368"/>
                </a:lnTo>
                <a:lnTo>
                  <a:pt x="1276924" y="7508"/>
                </a:lnTo>
                <a:lnTo>
                  <a:pt x="1337636" y="13222"/>
                </a:lnTo>
                <a:lnTo>
                  <a:pt x="1397069" y="20464"/>
                </a:lnTo>
                <a:lnTo>
                  <a:pt x="1455120" y="29187"/>
                </a:lnTo>
                <a:lnTo>
                  <a:pt x="1511688" y="39344"/>
                </a:lnTo>
                <a:lnTo>
                  <a:pt x="1566672" y="50887"/>
                </a:lnTo>
                <a:lnTo>
                  <a:pt x="1619967" y="63770"/>
                </a:lnTo>
                <a:lnTo>
                  <a:pt x="1671474" y="77946"/>
                </a:lnTo>
                <a:lnTo>
                  <a:pt x="1721089" y="93367"/>
                </a:lnTo>
                <a:lnTo>
                  <a:pt x="1768710" y="109987"/>
                </a:lnTo>
                <a:lnTo>
                  <a:pt x="1814236" y="127760"/>
                </a:lnTo>
                <a:lnTo>
                  <a:pt x="1857565" y="146637"/>
                </a:lnTo>
                <a:lnTo>
                  <a:pt x="1898594" y="166572"/>
                </a:lnTo>
                <a:lnTo>
                  <a:pt x="1937221" y="187518"/>
                </a:lnTo>
                <a:lnTo>
                  <a:pt x="1973345" y="209428"/>
                </a:lnTo>
                <a:lnTo>
                  <a:pt x="2006863" y="232256"/>
                </a:lnTo>
                <a:lnTo>
                  <a:pt x="2037673" y="255953"/>
                </a:lnTo>
                <a:lnTo>
                  <a:pt x="2090761" y="305770"/>
                </a:lnTo>
                <a:lnTo>
                  <a:pt x="2131793" y="358504"/>
                </a:lnTo>
                <a:lnTo>
                  <a:pt x="2159953" y="413779"/>
                </a:lnTo>
                <a:lnTo>
                  <a:pt x="2174424" y="471219"/>
                </a:lnTo>
                <a:lnTo>
                  <a:pt x="2176272" y="500634"/>
                </a:lnTo>
                <a:lnTo>
                  <a:pt x="2174424" y="530048"/>
                </a:lnTo>
                <a:lnTo>
                  <a:pt x="2159953" y="587488"/>
                </a:lnTo>
                <a:lnTo>
                  <a:pt x="2131793" y="642763"/>
                </a:lnTo>
                <a:lnTo>
                  <a:pt x="2090761" y="695497"/>
                </a:lnTo>
                <a:lnTo>
                  <a:pt x="2037673" y="745314"/>
                </a:lnTo>
                <a:lnTo>
                  <a:pt x="2006863" y="769011"/>
                </a:lnTo>
                <a:lnTo>
                  <a:pt x="1973345" y="791839"/>
                </a:lnTo>
                <a:lnTo>
                  <a:pt x="1937221" y="813749"/>
                </a:lnTo>
                <a:lnTo>
                  <a:pt x="1898594" y="834695"/>
                </a:lnTo>
                <a:lnTo>
                  <a:pt x="1857565" y="854630"/>
                </a:lnTo>
                <a:lnTo>
                  <a:pt x="1814236" y="873507"/>
                </a:lnTo>
                <a:lnTo>
                  <a:pt x="1768710" y="891280"/>
                </a:lnTo>
                <a:lnTo>
                  <a:pt x="1721089" y="907900"/>
                </a:lnTo>
                <a:lnTo>
                  <a:pt x="1671474" y="923321"/>
                </a:lnTo>
                <a:lnTo>
                  <a:pt x="1619967" y="937497"/>
                </a:lnTo>
                <a:lnTo>
                  <a:pt x="1566671" y="950380"/>
                </a:lnTo>
                <a:lnTo>
                  <a:pt x="1511688" y="961923"/>
                </a:lnTo>
                <a:lnTo>
                  <a:pt x="1455120" y="972080"/>
                </a:lnTo>
                <a:lnTo>
                  <a:pt x="1397069" y="980803"/>
                </a:lnTo>
                <a:lnTo>
                  <a:pt x="1337636" y="988045"/>
                </a:lnTo>
                <a:lnTo>
                  <a:pt x="1276924" y="993759"/>
                </a:lnTo>
                <a:lnTo>
                  <a:pt x="1215036" y="997899"/>
                </a:lnTo>
                <a:lnTo>
                  <a:pt x="1152072" y="1000418"/>
                </a:lnTo>
                <a:lnTo>
                  <a:pt x="1088136" y="1001267"/>
                </a:lnTo>
                <a:lnTo>
                  <a:pt x="1024199" y="1000418"/>
                </a:lnTo>
                <a:lnTo>
                  <a:pt x="961235" y="997899"/>
                </a:lnTo>
                <a:lnTo>
                  <a:pt x="899347" y="993759"/>
                </a:lnTo>
                <a:lnTo>
                  <a:pt x="838635" y="988045"/>
                </a:lnTo>
                <a:lnTo>
                  <a:pt x="779202" y="980803"/>
                </a:lnTo>
                <a:lnTo>
                  <a:pt x="721151" y="972080"/>
                </a:lnTo>
                <a:lnTo>
                  <a:pt x="664583" y="961923"/>
                </a:lnTo>
                <a:lnTo>
                  <a:pt x="609599" y="950380"/>
                </a:lnTo>
                <a:lnTo>
                  <a:pt x="556304" y="937497"/>
                </a:lnTo>
                <a:lnTo>
                  <a:pt x="504797" y="923321"/>
                </a:lnTo>
                <a:lnTo>
                  <a:pt x="455182" y="907900"/>
                </a:lnTo>
                <a:lnTo>
                  <a:pt x="407561" y="891280"/>
                </a:lnTo>
                <a:lnTo>
                  <a:pt x="362035" y="873507"/>
                </a:lnTo>
                <a:lnTo>
                  <a:pt x="318706" y="854630"/>
                </a:lnTo>
                <a:lnTo>
                  <a:pt x="277677" y="834695"/>
                </a:lnTo>
                <a:lnTo>
                  <a:pt x="239050" y="813749"/>
                </a:lnTo>
                <a:lnTo>
                  <a:pt x="202926" y="791839"/>
                </a:lnTo>
                <a:lnTo>
                  <a:pt x="169408" y="769011"/>
                </a:lnTo>
                <a:lnTo>
                  <a:pt x="138598" y="745314"/>
                </a:lnTo>
                <a:lnTo>
                  <a:pt x="85510" y="695497"/>
                </a:lnTo>
                <a:lnTo>
                  <a:pt x="44478" y="642763"/>
                </a:lnTo>
                <a:lnTo>
                  <a:pt x="16318" y="587488"/>
                </a:lnTo>
                <a:lnTo>
                  <a:pt x="1847" y="530048"/>
                </a:lnTo>
                <a:lnTo>
                  <a:pt x="0" y="500634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878704" y="2559557"/>
            <a:ext cx="1327785" cy="636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5"/>
              </a:spcBef>
            </a:pPr>
            <a:r>
              <a:rPr dirty="0" sz="2000" spc="90">
                <a:latin typeface="Cambria"/>
                <a:cs typeface="Cambria"/>
              </a:rPr>
              <a:t>Partially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2000" spc="80">
                <a:latin typeface="Cambria"/>
                <a:cs typeface="Cambria"/>
              </a:rPr>
              <a:t>Committe</a:t>
            </a:r>
            <a:r>
              <a:rPr dirty="0" sz="1800" spc="80">
                <a:latin typeface="Cambria"/>
                <a:cs typeface="Cambria"/>
              </a:rPr>
              <a:t>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4453128" y="4287011"/>
            <a:ext cx="1414780" cy="1071880"/>
          </a:xfrm>
          <a:custGeom>
            <a:avLst/>
            <a:gdLst/>
            <a:ahLst/>
            <a:cxnLst/>
            <a:rect l="l" t="t" r="r" b="b"/>
            <a:pathLst>
              <a:path w="1414779" h="1071879">
                <a:moveTo>
                  <a:pt x="0" y="535686"/>
                </a:moveTo>
                <a:lnTo>
                  <a:pt x="2127" y="493814"/>
                </a:lnTo>
                <a:lnTo>
                  <a:pt x="8405" y="452826"/>
                </a:lnTo>
                <a:lnTo>
                  <a:pt x="18676" y="412839"/>
                </a:lnTo>
                <a:lnTo>
                  <a:pt x="32783" y="373973"/>
                </a:lnTo>
                <a:lnTo>
                  <a:pt x="50569" y="336347"/>
                </a:lnTo>
                <a:lnTo>
                  <a:pt x="71876" y="300079"/>
                </a:lnTo>
                <a:lnTo>
                  <a:pt x="96548" y="265288"/>
                </a:lnTo>
                <a:lnTo>
                  <a:pt x="124426" y="232095"/>
                </a:lnTo>
                <a:lnTo>
                  <a:pt x="155354" y="200617"/>
                </a:lnTo>
                <a:lnTo>
                  <a:pt x="189175" y="170973"/>
                </a:lnTo>
                <a:lnTo>
                  <a:pt x="225731" y="143283"/>
                </a:lnTo>
                <a:lnTo>
                  <a:pt x="264864" y="117665"/>
                </a:lnTo>
                <a:lnTo>
                  <a:pt x="306419" y="94239"/>
                </a:lnTo>
                <a:lnTo>
                  <a:pt x="350237" y="73123"/>
                </a:lnTo>
                <a:lnTo>
                  <a:pt x="396162" y="54437"/>
                </a:lnTo>
                <a:lnTo>
                  <a:pt x="444035" y="38299"/>
                </a:lnTo>
                <a:lnTo>
                  <a:pt x="493701" y="24828"/>
                </a:lnTo>
                <a:lnTo>
                  <a:pt x="545001" y="14144"/>
                </a:lnTo>
                <a:lnTo>
                  <a:pt x="597778" y="6365"/>
                </a:lnTo>
                <a:lnTo>
                  <a:pt x="651875" y="1611"/>
                </a:lnTo>
                <a:lnTo>
                  <a:pt x="707136" y="0"/>
                </a:lnTo>
                <a:lnTo>
                  <a:pt x="762396" y="1611"/>
                </a:lnTo>
                <a:lnTo>
                  <a:pt x="816493" y="6365"/>
                </a:lnTo>
                <a:lnTo>
                  <a:pt x="869270" y="14144"/>
                </a:lnTo>
                <a:lnTo>
                  <a:pt x="920570" y="24828"/>
                </a:lnTo>
                <a:lnTo>
                  <a:pt x="970236" y="38299"/>
                </a:lnTo>
                <a:lnTo>
                  <a:pt x="1018109" y="54437"/>
                </a:lnTo>
                <a:lnTo>
                  <a:pt x="1064034" y="73123"/>
                </a:lnTo>
                <a:lnTo>
                  <a:pt x="1107852" y="94239"/>
                </a:lnTo>
                <a:lnTo>
                  <a:pt x="1149407" y="117665"/>
                </a:lnTo>
                <a:lnTo>
                  <a:pt x="1188540" y="143283"/>
                </a:lnTo>
                <a:lnTo>
                  <a:pt x="1225096" y="170973"/>
                </a:lnTo>
                <a:lnTo>
                  <a:pt x="1258917" y="200617"/>
                </a:lnTo>
                <a:lnTo>
                  <a:pt x="1289845" y="232095"/>
                </a:lnTo>
                <a:lnTo>
                  <a:pt x="1317723" y="265288"/>
                </a:lnTo>
                <a:lnTo>
                  <a:pt x="1342395" y="300079"/>
                </a:lnTo>
                <a:lnTo>
                  <a:pt x="1363702" y="336347"/>
                </a:lnTo>
                <a:lnTo>
                  <a:pt x="1381488" y="373973"/>
                </a:lnTo>
                <a:lnTo>
                  <a:pt x="1395595" y="412839"/>
                </a:lnTo>
                <a:lnTo>
                  <a:pt x="1405866" y="452826"/>
                </a:lnTo>
                <a:lnTo>
                  <a:pt x="1412144" y="493814"/>
                </a:lnTo>
                <a:lnTo>
                  <a:pt x="1414272" y="535686"/>
                </a:lnTo>
                <a:lnTo>
                  <a:pt x="1412144" y="577557"/>
                </a:lnTo>
                <a:lnTo>
                  <a:pt x="1405866" y="618545"/>
                </a:lnTo>
                <a:lnTo>
                  <a:pt x="1395595" y="658532"/>
                </a:lnTo>
                <a:lnTo>
                  <a:pt x="1381488" y="697398"/>
                </a:lnTo>
                <a:lnTo>
                  <a:pt x="1363702" y="735024"/>
                </a:lnTo>
                <a:lnTo>
                  <a:pt x="1342395" y="771292"/>
                </a:lnTo>
                <a:lnTo>
                  <a:pt x="1317723" y="806083"/>
                </a:lnTo>
                <a:lnTo>
                  <a:pt x="1289845" y="839276"/>
                </a:lnTo>
                <a:lnTo>
                  <a:pt x="1258917" y="870754"/>
                </a:lnTo>
                <a:lnTo>
                  <a:pt x="1225096" y="900398"/>
                </a:lnTo>
                <a:lnTo>
                  <a:pt x="1188540" y="928088"/>
                </a:lnTo>
                <a:lnTo>
                  <a:pt x="1149407" y="953706"/>
                </a:lnTo>
                <a:lnTo>
                  <a:pt x="1107852" y="977132"/>
                </a:lnTo>
                <a:lnTo>
                  <a:pt x="1064034" y="998248"/>
                </a:lnTo>
                <a:lnTo>
                  <a:pt x="1018109" y="1016934"/>
                </a:lnTo>
                <a:lnTo>
                  <a:pt x="970236" y="1033072"/>
                </a:lnTo>
                <a:lnTo>
                  <a:pt x="920570" y="1046543"/>
                </a:lnTo>
                <a:lnTo>
                  <a:pt x="869270" y="1057227"/>
                </a:lnTo>
                <a:lnTo>
                  <a:pt x="816493" y="1065006"/>
                </a:lnTo>
                <a:lnTo>
                  <a:pt x="762396" y="1069760"/>
                </a:lnTo>
                <a:lnTo>
                  <a:pt x="707136" y="1071372"/>
                </a:lnTo>
                <a:lnTo>
                  <a:pt x="651875" y="1069760"/>
                </a:lnTo>
                <a:lnTo>
                  <a:pt x="597778" y="1065006"/>
                </a:lnTo>
                <a:lnTo>
                  <a:pt x="545001" y="1057227"/>
                </a:lnTo>
                <a:lnTo>
                  <a:pt x="493701" y="1046543"/>
                </a:lnTo>
                <a:lnTo>
                  <a:pt x="444035" y="1033072"/>
                </a:lnTo>
                <a:lnTo>
                  <a:pt x="396162" y="1016934"/>
                </a:lnTo>
                <a:lnTo>
                  <a:pt x="350237" y="998248"/>
                </a:lnTo>
                <a:lnTo>
                  <a:pt x="306419" y="977132"/>
                </a:lnTo>
                <a:lnTo>
                  <a:pt x="264864" y="953706"/>
                </a:lnTo>
                <a:lnTo>
                  <a:pt x="225731" y="928088"/>
                </a:lnTo>
                <a:lnTo>
                  <a:pt x="189175" y="900398"/>
                </a:lnTo>
                <a:lnTo>
                  <a:pt x="155354" y="870754"/>
                </a:lnTo>
                <a:lnTo>
                  <a:pt x="124426" y="839276"/>
                </a:lnTo>
                <a:lnTo>
                  <a:pt x="96548" y="806083"/>
                </a:lnTo>
                <a:lnTo>
                  <a:pt x="71876" y="771292"/>
                </a:lnTo>
                <a:lnTo>
                  <a:pt x="50569" y="735024"/>
                </a:lnTo>
                <a:lnTo>
                  <a:pt x="32783" y="697398"/>
                </a:lnTo>
                <a:lnTo>
                  <a:pt x="18676" y="658532"/>
                </a:lnTo>
                <a:lnTo>
                  <a:pt x="8405" y="618545"/>
                </a:lnTo>
                <a:lnTo>
                  <a:pt x="2127" y="577557"/>
                </a:lnTo>
                <a:lnTo>
                  <a:pt x="0" y="53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773548" y="4653534"/>
            <a:ext cx="7708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90">
                <a:latin typeface="Cambria"/>
                <a:cs typeface="Cambria"/>
              </a:rPr>
              <a:t>Failed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167371" y="2429255"/>
            <a:ext cx="2281555" cy="1071880"/>
          </a:xfrm>
          <a:custGeom>
            <a:avLst/>
            <a:gdLst/>
            <a:ahLst/>
            <a:cxnLst/>
            <a:rect l="l" t="t" r="r" b="b"/>
            <a:pathLst>
              <a:path w="2281554" h="1071879">
                <a:moveTo>
                  <a:pt x="0" y="535686"/>
                </a:moveTo>
                <a:lnTo>
                  <a:pt x="7158" y="475324"/>
                </a:lnTo>
                <a:lnTo>
                  <a:pt x="28119" y="416926"/>
                </a:lnTo>
                <a:lnTo>
                  <a:pt x="62113" y="360852"/>
                </a:lnTo>
                <a:lnTo>
                  <a:pt x="108370" y="307465"/>
                </a:lnTo>
                <a:lnTo>
                  <a:pt x="166120" y="257125"/>
                </a:lnTo>
                <a:lnTo>
                  <a:pt x="199064" y="233211"/>
                </a:lnTo>
                <a:lnTo>
                  <a:pt x="234593" y="210195"/>
                </a:lnTo>
                <a:lnTo>
                  <a:pt x="272609" y="188121"/>
                </a:lnTo>
                <a:lnTo>
                  <a:pt x="313018" y="167035"/>
                </a:lnTo>
                <a:lnTo>
                  <a:pt x="355722" y="146982"/>
                </a:lnTo>
                <a:lnTo>
                  <a:pt x="400625" y="128007"/>
                </a:lnTo>
                <a:lnTo>
                  <a:pt x="447632" y="110155"/>
                </a:lnTo>
                <a:lnTo>
                  <a:pt x="496645" y="93472"/>
                </a:lnTo>
                <a:lnTo>
                  <a:pt x="547569" y="78002"/>
                </a:lnTo>
                <a:lnTo>
                  <a:pt x="600308" y="63792"/>
                </a:lnTo>
                <a:lnTo>
                  <a:pt x="654764" y="50885"/>
                </a:lnTo>
                <a:lnTo>
                  <a:pt x="710842" y="39328"/>
                </a:lnTo>
                <a:lnTo>
                  <a:pt x="768446" y="29165"/>
                </a:lnTo>
                <a:lnTo>
                  <a:pt x="827479" y="20441"/>
                </a:lnTo>
                <a:lnTo>
                  <a:pt x="887845" y="13203"/>
                </a:lnTo>
                <a:lnTo>
                  <a:pt x="949448" y="7494"/>
                </a:lnTo>
                <a:lnTo>
                  <a:pt x="1012191" y="3361"/>
                </a:lnTo>
                <a:lnTo>
                  <a:pt x="1075978" y="847"/>
                </a:lnTo>
                <a:lnTo>
                  <a:pt x="1140713" y="0"/>
                </a:lnTo>
                <a:lnTo>
                  <a:pt x="1205449" y="847"/>
                </a:lnTo>
                <a:lnTo>
                  <a:pt x="1269236" y="3361"/>
                </a:lnTo>
                <a:lnTo>
                  <a:pt x="1331979" y="7494"/>
                </a:lnTo>
                <a:lnTo>
                  <a:pt x="1393582" y="13203"/>
                </a:lnTo>
                <a:lnTo>
                  <a:pt x="1453948" y="20441"/>
                </a:lnTo>
                <a:lnTo>
                  <a:pt x="1512981" y="29165"/>
                </a:lnTo>
                <a:lnTo>
                  <a:pt x="1570585" y="39328"/>
                </a:lnTo>
                <a:lnTo>
                  <a:pt x="1626663" y="50885"/>
                </a:lnTo>
                <a:lnTo>
                  <a:pt x="1681119" y="63792"/>
                </a:lnTo>
                <a:lnTo>
                  <a:pt x="1733858" y="78002"/>
                </a:lnTo>
                <a:lnTo>
                  <a:pt x="1784782" y="93472"/>
                </a:lnTo>
                <a:lnTo>
                  <a:pt x="1833795" y="110155"/>
                </a:lnTo>
                <a:lnTo>
                  <a:pt x="1880802" y="128007"/>
                </a:lnTo>
                <a:lnTo>
                  <a:pt x="1925705" y="146982"/>
                </a:lnTo>
                <a:lnTo>
                  <a:pt x="1968409" y="167035"/>
                </a:lnTo>
                <a:lnTo>
                  <a:pt x="2008818" y="188121"/>
                </a:lnTo>
                <a:lnTo>
                  <a:pt x="2046834" y="210195"/>
                </a:lnTo>
                <a:lnTo>
                  <a:pt x="2082363" y="233211"/>
                </a:lnTo>
                <a:lnTo>
                  <a:pt x="2115307" y="257125"/>
                </a:lnTo>
                <a:lnTo>
                  <a:pt x="2145570" y="281892"/>
                </a:lnTo>
                <a:lnTo>
                  <a:pt x="2197670" y="333800"/>
                </a:lnTo>
                <a:lnTo>
                  <a:pt x="2237892" y="388576"/>
                </a:lnTo>
                <a:lnTo>
                  <a:pt x="2265466" y="445857"/>
                </a:lnTo>
                <a:lnTo>
                  <a:pt x="2279622" y="505282"/>
                </a:lnTo>
                <a:lnTo>
                  <a:pt x="2281428" y="535686"/>
                </a:lnTo>
                <a:lnTo>
                  <a:pt x="2279622" y="566089"/>
                </a:lnTo>
                <a:lnTo>
                  <a:pt x="2265466" y="625514"/>
                </a:lnTo>
                <a:lnTo>
                  <a:pt x="2237892" y="682795"/>
                </a:lnTo>
                <a:lnTo>
                  <a:pt x="2197670" y="737571"/>
                </a:lnTo>
                <a:lnTo>
                  <a:pt x="2145570" y="789479"/>
                </a:lnTo>
                <a:lnTo>
                  <a:pt x="2115307" y="814246"/>
                </a:lnTo>
                <a:lnTo>
                  <a:pt x="2082363" y="838160"/>
                </a:lnTo>
                <a:lnTo>
                  <a:pt x="2046834" y="861176"/>
                </a:lnTo>
                <a:lnTo>
                  <a:pt x="2008818" y="883250"/>
                </a:lnTo>
                <a:lnTo>
                  <a:pt x="1968409" y="904336"/>
                </a:lnTo>
                <a:lnTo>
                  <a:pt x="1925705" y="924389"/>
                </a:lnTo>
                <a:lnTo>
                  <a:pt x="1880802" y="943364"/>
                </a:lnTo>
                <a:lnTo>
                  <a:pt x="1833795" y="961216"/>
                </a:lnTo>
                <a:lnTo>
                  <a:pt x="1784782" y="977899"/>
                </a:lnTo>
                <a:lnTo>
                  <a:pt x="1733858" y="993369"/>
                </a:lnTo>
                <a:lnTo>
                  <a:pt x="1681119" y="1007579"/>
                </a:lnTo>
                <a:lnTo>
                  <a:pt x="1626663" y="1020486"/>
                </a:lnTo>
                <a:lnTo>
                  <a:pt x="1570585" y="1032043"/>
                </a:lnTo>
                <a:lnTo>
                  <a:pt x="1512981" y="1042206"/>
                </a:lnTo>
                <a:lnTo>
                  <a:pt x="1453948" y="1050930"/>
                </a:lnTo>
                <a:lnTo>
                  <a:pt x="1393582" y="1058168"/>
                </a:lnTo>
                <a:lnTo>
                  <a:pt x="1331979" y="1063877"/>
                </a:lnTo>
                <a:lnTo>
                  <a:pt x="1269236" y="1068010"/>
                </a:lnTo>
                <a:lnTo>
                  <a:pt x="1205449" y="1070524"/>
                </a:lnTo>
                <a:lnTo>
                  <a:pt x="1140713" y="1071372"/>
                </a:lnTo>
                <a:lnTo>
                  <a:pt x="1075978" y="1070524"/>
                </a:lnTo>
                <a:lnTo>
                  <a:pt x="1012191" y="1068010"/>
                </a:lnTo>
                <a:lnTo>
                  <a:pt x="949448" y="1063877"/>
                </a:lnTo>
                <a:lnTo>
                  <a:pt x="887845" y="1058168"/>
                </a:lnTo>
                <a:lnTo>
                  <a:pt x="827479" y="1050930"/>
                </a:lnTo>
                <a:lnTo>
                  <a:pt x="768446" y="1042206"/>
                </a:lnTo>
                <a:lnTo>
                  <a:pt x="710842" y="1032043"/>
                </a:lnTo>
                <a:lnTo>
                  <a:pt x="654764" y="1020486"/>
                </a:lnTo>
                <a:lnTo>
                  <a:pt x="600308" y="1007579"/>
                </a:lnTo>
                <a:lnTo>
                  <a:pt x="547569" y="993369"/>
                </a:lnTo>
                <a:lnTo>
                  <a:pt x="496645" y="977899"/>
                </a:lnTo>
                <a:lnTo>
                  <a:pt x="447632" y="961216"/>
                </a:lnTo>
                <a:lnTo>
                  <a:pt x="400625" y="943364"/>
                </a:lnTo>
                <a:lnTo>
                  <a:pt x="355722" y="924389"/>
                </a:lnTo>
                <a:lnTo>
                  <a:pt x="313018" y="904336"/>
                </a:lnTo>
                <a:lnTo>
                  <a:pt x="272609" y="883250"/>
                </a:lnTo>
                <a:lnTo>
                  <a:pt x="234593" y="861176"/>
                </a:lnTo>
                <a:lnTo>
                  <a:pt x="199064" y="838160"/>
                </a:lnTo>
                <a:lnTo>
                  <a:pt x="166120" y="814246"/>
                </a:lnTo>
                <a:lnTo>
                  <a:pt x="135857" y="789479"/>
                </a:lnTo>
                <a:lnTo>
                  <a:pt x="83757" y="737571"/>
                </a:lnTo>
                <a:lnTo>
                  <a:pt x="43535" y="682795"/>
                </a:lnTo>
                <a:lnTo>
                  <a:pt x="15961" y="625514"/>
                </a:lnTo>
                <a:lnTo>
                  <a:pt x="1805" y="566089"/>
                </a:lnTo>
                <a:lnTo>
                  <a:pt x="0" y="535686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7638415" y="2795777"/>
            <a:ext cx="13417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80">
                <a:latin typeface="Cambria"/>
                <a:cs typeface="Cambria"/>
              </a:rPr>
              <a:t>Committed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7310628" y="4500371"/>
            <a:ext cx="1858010" cy="1000125"/>
          </a:xfrm>
          <a:custGeom>
            <a:avLst/>
            <a:gdLst/>
            <a:ahLst/>
            <a:cxnLst/>
            <a:rect l="l" t="t" r="r" b="b"/>
            <a:pathLst>
              <a:path w="1858009" h="1000125">
                <a:moveTo>
                  <a:pt x="0" y="499871"/>
                </a:moveTo>
                <a:lnTo>
                  <a:pt x="7822" y="434700"/>
                </a:lnTo>
                <a:lnTo>
                  <a:pt x="30636" y="372065"/>
                </a:lnTo>
                <a:lnTo>
                  <a:pt x="67463" y="312493"/>
                </a:lnTo>
                <a:lnTo>
                  <a:pt x="117322" y="256509"/>
                </a:lnTo>
                <a:lnTo>
                  <a:pt x="146833" y="230028"/>
                </a:lnTo>
                <a:lnTo>
                  <a:pt x="179234" y="204642"/>
                </a:lnTo>
                <a:lnTo>
                  <a:pt x="214404" y="180417"/>
                </a:lnTo>
                <a:lnTo>
                  <a:pt x="252219" y="157418"/>
                </a:lnTo>
                <a:lnTo>
                  <a:pt x="292558" y="135711"/>
                </a:lnTo>
                <a:lnTo>
                  <a:pt x="335298" y="115363"/>
                </a:lnTo>
                <a:lnTo>
                  <a:pt x="380317" y="96438"/>
                </a:lnTo>
                <a:lnTo>
                  <a:pt x="427491" y="79004"/>
                </a:lnTo>
                <a:lnTo>
                  <a:pt x="476699" y="63125"/>
                </a:lnTo>
                <a:lnTo>
                  <a:pt x="527818" y="48867"/>
                </a:lnTo>
                <a:lnTo>
                  <a:pt x="580726" y="36298"/>
                </a:lnTo>
                <a:lnTo>
                  <a:pt x="635300" y="25481"/>
                </a:lnTo>
                <a:lnTo>
                  <a:pt x="691418" y="16483"/>
                </a:lnTo>
                <a:lnTo>
                  <a:pt x="748957" y="9370"/>
                </a:lnTo>
                <a:lnTo>
                  <a:pt x="807795" y="4208"/>
                </a:lnTo>
                <a:lnTo>
                  <a:pt x="867809" y="1063"/>
                </a:lnTo>
                <a:lnTo>
                  <a:pt x="928877" y="0"/>
                </a:lnTo>
                <a:lnTo>
                  <a:pt x="989946" y="1063"/>
                </a:lnTo>
                <a:lnTo>
                  <a:pt x="1049960" y="4208"/>
                </a:lnTo>
                <a:lnTo>
                  <a:pt x="1108798" y="9370"/>
                </a:lnTo>
                <a:lnTo>
                  <a:pt x="1166337" y="16483"/>
                </a:lnTo>
                <a:lnTo>
                  <a:pt x="1222455" y="25481"/>
                </a:lnTo>
                <a:lnTo>
                  <a:pt x="1277029" y="36298"/>
                </a:lnTo>
                <a:lnTo>
                  <a:pt x="1329937" y="48867"/>
                </a:lnTo>
                <a:lnTo>
                  <a:pt x="1381056" y="63125"/>
                </a:lnTo>
                <a:lnTo>
                  <a:pt x="1430264" y="79004"/>
                </a:lnTo>
                <a:lnTo>
                  <a:pt x="1477438" y="96438"/>
                </a:lnTo>
                <a:lnTo>
                  <a:pt x="1522457" y="115363"/>
                </a:lnTo>
                <a:lnTo>
                  <a:pt x="1565197" y="135711"/>
                </a:lnTo>
                <a:lnTo>
                  <a:pt x="1605536" y="157418"/>
                </a:lnTo>
                <a:lnTo>
                  <a:pt x="1643351" y="180417"/>
                </a:lnTo>
                <a:lnTo>
                  <a:pt x="1678521" y="204642"/>
                </a:lnTo>
                <a:lnTo>
                  <a:pt x="1710922" y="230028"/>
                </a:lnTo>
                <a:lnTo>
                  <a:pt x="1740433" y="256509"/>
                </a:lnTo>
                <a:lnTo>
                  <a:pt x="1766930" y="284019"/>
                </a:lnTo>
                <a:lnTo>
                  <a:pt x="1810396" y="341863"/>
                </a:lnTo>
                <a:lnTo>
                  <a:pt x="1840339" y="403033"/>
                </a:lnTo>
                <a:lnTo>
                  <a:pt x="1855779" y="467002"/>
                </a:lnTo>
                <a:lnTo>
                  <a:pt x="1857755" y="499871"/>
                </a:lnTo>
                <a:lnTo>
                  <a:pt x="1855779" y="532741"/>
                </a:lnTo>
                <a:lnTo>
                  <a:pt x="1840339" y="596710"/>
                </a:lnTo>
                <a:lnTo>
                  <a:pt x="1810396" y="657880"/>
                </a:lnTo>
                <a:lnTo>
                  <a:pt x="1766930" y="715724"/>
                </a:lnTo>
                <a:lnTo>
                  <a:pt x="1740433" y="743234"/>
                </a:lnTo>
                <a:lnTo>
                  <a:pt x="1710922" y="769715"/>
                </a:lnTo>
                <a:lnTo>
                  <a:pt x="1678521" y="795101"/>
                </a:lnTo>
                <a:lnTo>
                  <a:pt x="1643351" y="819326"/>
                </a:lnTo>
                <a:lnTo>
                  <a:pt x="1605536" y="842325"/>
                </a:lnTo>
                <a:lnTo>
                  <a:pt x="1565197" y="864032"/>
                </a:lnTo>
                <a:lnTo>
                  <a:pt x="1522457" y="884380"/>
                </a:lnTo>
                <a:lnTo>
                  <a:pt x="1477438" y="903305"/>
                </a:lnTo>
                <a:lnTo>
                  <a:pt x="1430264" y="920739"/>
                </a:lnTo>
                <a:lnTo>
                  <a:pt x="1381056" y="936618"/>
                </a:lnTo>
                <a:lnTo>
                  <a:pt x="1329937" y="950876"/>
                </a:lnTo>
                <a:lnTo>
                  <a:pt x="1277029" y="963445"/>
                </a:lnTo>
                <a:lnTo>
                  <a:pt x="1222455" y="974262"/>
                </a:lnTo>
                <a:lnTo>
                  <a:pt x="1166337" y="983260"/>
                </a:lnTo>
                <a:lnTo>
                  <a:pt x="1108798" y="990373"/>
                </a:lnTo>
                <a:lnTo>
                  <a:pt x="1049960" y="995535"/>
                </a:lnTo>
                <a:lnTo>
                  <a:pt x="989946" y="998680"/>
                </a:lnTo>
                <a:lnTo>
                  <a:pt x="928877" y="999743"/>
                </a:lnTo>
                <a:lnTo>
                  <a:pt x="867809" y="998680"/>
                </a:lnTo>
                <a:lnTo>
                  <a:pt x="807795" y="995535"/>
                </a:lnTo>
                <a:lnTo>
                  <a:pt x="748957" y="990373"/>
                </a:lnTo>
                <a:lnTo>
                  <a:pt x="691418" y="983260"/>
                </a:lnTo>
                <a:lnTo>
                  <a:pt x="635300" y="974262"/>
                </a:lnTo>
                <a:lnTo>
                  <a:pt x="580726" y="963445"/>
                </a:lnTo>
                <a:lnTo>
                  <a:pt x="527818" y="950876"/>
                </a:lnTo>
                <a:lnTo>
                  <a:pt x="476699" y="936618"/>
                </a:lnTo>
                <a:lnTo>
                  <a:pt x="427491" y="920739"/>
                </a:lnTo>
                <a:lnTo>
                  <a:pt x="380317" y="903305"/>
                </a:lnTo>
                <a:lnTo>
                  <a:pt x="335298" y="884380"/>
                </a:lnTo>
                <a:lnTo>
                  <a:pt x="292558" y="864032"/>
                </a:lnTo>
                <a:lnTo>
                  <a:pt x="252219" y="842325"/>
                </a:lnTo>
                <a:lnTo>
                  <a:pt x="214404" y="819326"/>
                </a:lnTo>
                <a:lnTo>
                  <a:pt x="179234" y="795101"/>
                </a:lnTo>
                <a:lnTo>
                  <a:pt x="146833" y="769715"/>
                </a:lnTo>
                <a:lnTo>
                  <a:pt x="117322" y="743234"/>
                </a:lnTo>
                <a:lnTo>
                  <a:pt x="90825" y="715724"/>
                </a:lnTo>
                <a:lnTo>
                  <a:pt x="47359" y="657880"/>
                </a:lnTo>
                <a:lnTo>
                  <a:pt x="17416" y="596710"/>
                </a:lnTo>
                <a:lnTo>
                  <a:pt x="1976" y="532741"/>
                </a:lnTo>
                <a:lnTo>
                  <a:pt x="0" y="499871"/>
                </a:lnTo>
                <a:close/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7756652" y="4832096"/>
            <a:ext cx="9652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5">
                <a:latin typeface="Cambria"/>
                <a:cs typeface="Cambria"/>
              </a:rPr>
              <a:t>Aborted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3786886" y="2866643"/>
            <a:ext cx="3524250" cy="2181225"/>
          </a:xfrm>
          <a:custGeom>
            <a:avLst/>
            <a:gdLst/>
            <a:ahLst/>
            <a:cxnLst/>
            <a:rect l="l" t="t" r="r" b="b"/>
            <a:pathLst>
              <a:path w="3524250" h="2181225">
                <a:moveTo>
                  <a:pt x="666623" y="13716"/>
                </a:moveTo>
                <a:lnTo>
                  <a:pt x="659053" y="12700"/>
                </a:lnTo>
                <a:lnTo>
                  <a:pt x="568325" y="508"/>
                </a:lnTo>
                <a:lnTo>
                  <a:pt x="564896" y="0"/>
                </a:lnTo>
                <a:lnTo>
                  <a:pt x="561721" y="2540"/>
                </a:lnTo>
                <a:lnTo>
                  <a:pt x="560705" y="9398"/>
                </a:lnTo>
                <a:lnTo>
                  <a:pt x="563245" y="12700"/>
                </a:lnTo>
                <a:lnTo>
                  <a:pt x="566674" y="13081"/>
                </a:lnTo>
                <a:lnTo>
                  <a:pt x="630796" y="21755"/>
                </a:lnTo>
                <a:lnTo>
                  <a:pt x="889" y="284099"/>
                </a:lnTo>
                <a:lnTo>
                  <a:pt x="5715" y="295783"/>
                </a:lnTo>
                <a:lnTo>
                  <a:pt x="635749" y="33388"/>
                </a:lnTo>
                <a:lnTo>
                  <a:pt x="656120" y="24892"/>
                </a:lnTo>
                <a:lnTo>
                  <a:pt x="657352" y="24384"/>
                </a:lnTo>
                <a:lnTo>
                  <a:pt x="635749" y="33388"/>
                </a:lnTo>
                <a:lnTo>
                  <a:pt x="596646" y="85090"/>
                </a:lnTo>
                <a:lnTo>
                  <a:pt x="594487" y="87884"/>
                </a:lnTo>
                <a:lnTo>
                  <a:pt x="595122" y="91821"/>
                </a:lnTo>
                <a:lnTo>
                  <a:pt x="597916" y="93980"/>
                </a:lnTo>
                <a:lnTo>
                  <a:pt x="600710" y="96012"/>
                </a:lnTo>
                <a:lnTo>
                  <a:pt x="604647" y="95504"/>
                </a:lnTo>
                <a:lnTo>
                  <a:pt x="606806" y="92710"/>
                </a:lnTo>
                <a:lnTo>
                  <a:pt x="666623" y="13716"/>
                </a:lnTo>
                <a:close/>
              </a:path>
              <a:path w="3524250" h="2181225">
                <a:moveTo>
                  <a:pt x="873760" y="1576705"/>
                </a:moveTo>
                <a:lnTo>
                  <a:pt x="873137" y="1575562"/>
                </a:lnTo>
                <a:lnTo>
                  <a:pt x="824738" y="1486535"/>
                </a:lnTo>
                <a:lnTo>
                  <a:pt x="820928" y="1485392"/>
                </a:lnTo>
                <a:lnTo>
                  <a:pt x="817880" y="1487043"/>
                </a:lnTo>
                <a:lnTo>
                  <a:pt x="814705" y="1488694"/>
                </a:lnTo>
                <a:lnTo>
                  <a:pt x="813562" y="1492631"/>
                </a:lnTo>
                <a:lnTo>
                  <a:pt x="815340" y="1495679"/>
                </a:lnTo>
                <a:lnTo>
                  <a:pt x="846226" y="1552613"/>
                </a:lnTo>
                <a:lnTo>
                  <a:pt x="852055" y="1563344"/>
                </a:lnTo>
                <a:lnTo>
                  <a:pt x="852170" y="1563573"/>
                </a:lnTo>
                <a:lnTo>
                  <a:pt x="846226" y="1552613"/>
                </a:lnTo>
                <a:lnTo>
                  <a:pt x="6604" y="1043051"/>
                </a:lnTo>
                <a:lnTo>
                  <a:pt x="0" y="1053973"/>
                </a:lnTo>
                <a:lnTo>
                  <a:pt x="839520" y="1563344"/>
                </a:lnTo>
                <a:lnTo>
                  <a:pt x="774827" y="1562227"/>
                </a:lnTo>
                <a:lnTo>
                  <a:pt x="771398" y="1562227"/>
                </a:lnTo>
                <a:lnTo>
                  <a:pt x="768477" y="1565021"/>
                </a:lnTo>
                <a:lnTo>
                  <a:pt x="768350" y="1572006"/>
                </a:lnTo>
                <a:lnTo>
                  <a:pt x="771144" y="1574927"/>
                </a:lnTo>
                <a:lnTo>
                  <a:pt x="774700" y="1574927"/>
                </a:lnTo>
                <a:lnTo>
                  <a:pt x="873760" y="1576705"/>
                </a:lnTo>
                <a:close/>
              </a:path>
              <a:path w="3524250" h="2181225">
                <a:moveTo>
                  <a:pt x="1760220" y="517525"/>
                </a:moveTo>
                <a:lnTo>
                  <a:pt x="1748536" y="512699"/>
                </a:lnTo>
                <a:lnTo>
                  <a:pt x="1381493" y="1384439"/>
                </a:lnTo>
                <a:lnTo>
                  <a:pt x="1373124" y="1320292"/>
                </a:lnTo>
                <a:lnTo>
                  <a:pt x="1372743" y="1316863"/>
                </a:lnTo>
                <a:lnTo>
                  <a:pt x="1369568" y="1314450"/>
                </a:lnTo>
                <a:lnTo>
                  <a:pt x="1366012" y="1314831"/>
                </a:lnTo>
                <a:lnTo>
                  <a:pt x="1362583" y="1315339"/>
                </a:lnTo>
                <a:lnTo>
                  <a:pt x="1360043" y="1318514"/>
                </a:lnTo>
                <a:lnTo>
                  <a:pt x="1360551" y="1321943"/>
                </a:lnTo>
                <a:lnTo>
                  <a:pt x="1373378" y="1420241"/>
                </a:lnTo>
                <a:lnTo>
                  <a:pt x="1385531" y="1411097"/>
                </a:lnTo>
                <a:lnTo>
                  <a:pt x="1452626" y="1360678"/>
                </a:lnTo>
                <a:lnTo>
                  <a:pt x="1455420" y="1358646"/>
                </a:lnTo>
                <a:lnTo>
                  <a:pt x="1455928" y="1354582"/>
                </a:lnTo>
                <a:lnTo>
                  <a:pt x="1453896" y="1351788"/>
                </a:lnTo>
                <a:lnTo>
                  <a:pt x="1451737" y="1348994"/>
                </a:lnTo>
                <a:lnTo>
                  <a:pt x="1447800" y="1348486"/>
                </a:lnTo>
                <a:lnTo>
                  <a:pt x="1445006" y="1350518"/>
                </a:lnTo>
                <a:lnTo>
                  <a:pt x="1393126" y="1389519"/>
                </a:lnTo>
                <a:lnTo>
                  <a:pt x="1760220" y="517525"/>
                </a:lnTo>
                <a:close/>
              </a:path>
              <a:path w="3524250" h="2181225">
                <a:moveTo>
                  <a:pt x="3380740" y="97282"/>
                </a:moveTo>
                <a:lnTo>
                  <a:pt x="3301111" y="32639"/>
                </a:lnTo>
                <a:lnTo>
                  <a:pt x="3297047" y="33020"/>
                </a:lnTo>
                <a:lnTo>
                  <a:pt x="3292602" y="38481"/>
                </a:lnTo>
                <a:lnTo>
                  <a:pt x="3293110" y="42418"/>
                </a:lnTo>
                <a:lnTo>
                  <a:pt x="3295777" y="44704"/>
                </a:lnTo>
                <a:lnTo>
                  <a:pt x="3345865" y="85420"/>
                </a:lnTo>
                <a:lnTo>
                  <a:pt x="2843530" y="7493"/>
                </a:lnTo>
                <a:lnTo>
                  <a:pt x="2841485" y="19939"/>
                </a:lnTo>
                <a:lnTo>
                  <a:pt x="3344037" y="97993"/>
                </a:lnTo>
                <a:lnTo>
                  <a:pt x="3280537" y="122936"/>
                </a:lnTo>
                <a:lnTo>
                  <a:pt x="3278886" y="126619"/>
                </a:lnTo>
                <a:lnTo>
                  <a:pt x="3280283" y="129921"/>
                </a:lnTo>
                <a:lnTo>
                  <a:pt x="3281553" y="133223"/>
                </a:lnTo>
                <a:lnTo>
                  <a:pt x="3285236" y="134747"/>
                </a:lnTo>
                <a:lnTo>
                  <a:pt x="3369716" y="101600"/>
                </a:lnTo>
                <a:lnTo>
                  <a:pt x="3380740" y="97282"/>
                </a:lnTo>
                <a:close/>
              </a:path>
              <a:path w="3524250" h="2181225">
                <a:moveTo>
                  <a:pt x="3513112" y="2139188"/>
                </a:moveTo>
                <a:lnTo>
                  <a:pt x="3511169" y="2139188"/>
                </a:lnTo>
                <a:lnTo>
                  <a:pt x="3485743" y="2139188"/>
                </a:lnTo>
                <a:lnTo>
                  <a:pt x="3430397" y="2168398"/>
                </a:lnTo>
                <a:lnTo>
                  <a:pt x="3427222" y="2169922"/>
                </a:lnTo>
                <a:lnTo>
                  <a:pt x="3426079" y="2173859"/>
                </a:lnTo>
                <a:lnTo>
                  <a:pt x="3427730" y="2176907"/>
                </a:lnTo>
                <a:lnTo>
                  <a:pt x="3429381" y="2180082"/>
                </a:lnTo>
                <a:lnTo>
                  <a:pt x="3433191" y="2181225"/>
                </a:lnTo>
                <a:lnTo>
                  <a:pt x="3436239" y="2179574"/>
                </a:lnTo>
                <a:lnTo>
                  <a:pt x="3513112" y="2139188"/>
                </a:lnTo>
                <a:close/>
              </a:path>
              <a:path w="3524250" h="2181225">
                <a:moveTo>
                  <a:pt x="3523996" y="2133473"/>
                </a:moveTo>
                <a:lnTo>
                  <a:pt x="3437636" y="2077847"/>
                </a:lnTo>
                <a:lnTo>
                  <a:pt x="3433699" y="2078736"/>
                </a:lnTo>
                <a:lnTo>
                  <a:pt x="3431794" y="2081657"/>
                </a:lnTo>
                <a:lnTo>
                  <a:pt x="3429889" y="2084705"/>
                </a:lnTo>
                <a:lnTo>
                  <a:pt x="3430778" y="2088642"/>
                </a:lnTo>
                <a:lnTo>
                  <a:pt x="3433699" y="2090547"/>
                </a:lnTo>
                <a:lnTo>
                  <a:pt x="3488169" y="2125472"/>
                </a:lnTo>
                <a:lnTo>
                  <a:pt x="1881124" y="2055622"/>
                </a:lnTo>
                <a:lnTo>
                  <a:pt x="1880616" y="2068322"/>
                </a:lnTo>
                <a:lnTo>
                  <a:pt x="3487788" y="2138172"/>
                </a:lnTo>
                <a:lnTo>
                  <a:pt x="3507994" y="2138172"/>
                </a:lnTo>
                <a:lnTo>
                  <a:pt x="3511207" y="2138172"/>
                </a:lnTo>
                <a:lnTo>
                  <a:pt x="3515042" y="2138172"/>
                </a:lnTo>
                <a:lnTo>
                  <a:pt x="3523996" y="213347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344" y="448055"/>
            <a:ext cx="3413760" cy="3801110"/>
          </a:xfrm>
          <a:prstGeom prst="rect"/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3200">
              <a:latin typeface="Times New Roman"/>
              <a:cs typeface="Times New Roman"/>
            </a:endParaRPr>
          </a:p>
          <a:p>
            <a:pPr marL="401955" marR="626745">
              <a:lnSpc>
                <a:spcPct val="90000"/>
              </a:lnSpc>
            </a:pPr>
            <a:r>
              <a:rPr dirty="0" sz="3200" spc="-10">
                <a:solidFill>
                  <a:srgbClr val="FFFFFF"/>
                </a:solidFill>
              </a:rPr>
              <a:t>Working</a:t>
            </a:r>
            <a:r>
              <a:rPr dirty="0" sz="3200" spc="-120">
                <a:solidFill>
                  <a:srgbClr val="FFFFFF"/>
                </a:solidFill>
              </a:rPr>
              <a:t> </a:t>
            </a:r>
            <a:r>
              <a:rPr dirty="0" sz="3200" spc="-25">
                <a:solidFill>
                  <a:srgbClr val="FFFFFF"/>
                </a:solidFill>
              </a:rPr>
              <a:t>Of </a:t>
            </a:r>
            <a:r>
              <a:rPr dirty="0" sz="3200" spc="-10">
                <a:solidFill>
                  <a:srgbClr val="FFFFFF"/>
                </a:solidFill>
              </a:rPr>
              <a:t>Transaction </a:t>
            </a:r>
            <a:r>
              <a:rPr dirty="0" sz="3200">
                <a:solidFill>
                  <a:srgbClr val="FFFFFF"/>
                </a:solidFill>
              </a:rPr>
              <a:t>Processing</a:t>
            </a:r>
            <a:r>
              <a:rPr dirty="0" sz="3200" spc="-90">
                <a:solidFill>
                  <a:srgbClr val="FFFFFF"/>
                </a:solidFill>
              </a:rPr>
              <a:t> </a:t>
            </a:r>
            <a:r>
              <a:rPr dirty="0" sz="3200" spc="-50">
                <a:solidFill>
                  <a:srgbClr val="FFFFFF"/>
                </a:solidFill>
              </a:rPr>
              <a:t>– </a:t>
            </a:r>
            <a:r>
              <a:rPr dirty="0" sz="3200" spc="-10">
                <a:solidFill>
                  <a:srgbClr val="FFFFFF"/>
                </a:solidFill>
              </a:rPr>
              <a:t>Transaction </a:t>
            </a:r>
            <a:r>
              <a:rPr dirty="0" sz="3200">
                <a:solidFill>
                  <a:srgbClr val="FFFFFF"/>
                </a:solidFill>
              </a:rPr>
              <a:t>State</a:t>
            </a:r>
            <a:r>
              <a:rPr dirty="0" sz="3200" spc="-140">
                <a:solidFill>
                  <a:srgbClr val="FFFFFF"/>
                </a:solidFill>
              </a:rPr>
              <a:t> </a:t>
            </a:r>
            <a:r>
              <a:rPr dirty="0" sz="3200" spc="-10">
                <a:solidFill>
                  <a:srgbClr val="FFFFFF"/>
                </a:solidFill>
              </a:rPr>
              <a:t>Diagram</a:t>
            </a:r>
            <a:endParaRPr sz="3200"/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  <a:solidFill>
            <a:srgbClr val="7E7E7E">
              <a:alpha val="1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000">
              <a:latin typeface="Times New Roman"/>
              <a:cs typeface="Times New Roman"/>
            </a:endParaRPr>
          </a:p>
          <a:p>
            <a:pPr marL="655320" indent="-228600">
              <a:lnSpc>
                <a:spcPct val="100000"/>
              </a:lnSpc>
              <a:buFont typeface="Arial MT"/>
              <a:buChar char="•"/>
              <a:tabLst>
                <a:tab pos="655320" algn="l"/>
              </a:tabLst>
            </a:pPr>
            <a:r>
              <a:rPr dirty="0" sz="2000" spc="-10">
                <a:latin typeface="Calibri"/>
                <a:cs typeface="Calibri"/>
              </a:rPr>
              <a:t>Active</a:t>
            </a:r>
            <a:endParaRPr sz="2000">
              <a:latin typeface="Calibri"/>
              <a:cs typeface="Calibri"/>
            </a:endParaRPr>
          </a:p>
          <a:p>
            <a:pPr lvl="1" marL="1112520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initial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execution</a:t>
            </a:r>
            <a:endParaRPr sz="2000">
              <a:latin typeface="Calibri"/>
              <a:cs typeface="Calibri"/>
            </a:endParaRPr>
          </a:p>
          <a:p>
            <a:pPr lvl="1" marL="1112520" indent="-228600">
              <a:lnSpc>
                <a:spcPct val="100000"/>
              </a:lnSpc>
              <a:spcBef>
                <a:spcPts val="265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active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lvl="1" marL="1112520" indent="-228600">
              <a:lnSpc>
                <a:spcPct val="100000"/>
              </a:lnSpc>
              <a:spcBef>
                <a:spcPts val="250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2000" spc="-20">
                <a:latin typeface="Calibri"/>
                <a:cs typeface="Calibri"/>
              </a:rPr>
              <a:t>Transaction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remains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till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finishes</a:t>
            </a:r>
            <a:endParaRPr sz="2000">
              <a:latin typeface="Calibri"/>
              <a:cs typeface="Calibri"/>
            </a:endParaRPr>
          </a:p>
          <a:p>
            <a:pPr marL="65532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655320" algn="l"/>
              </a:tabLst>
            </a:pPr>
            <a:r>
              <a:rPr dirty="0" sz="2000">
                <a:latin typeface="Calibri"/>
                <a:cs typeface="Calibri"/>
              </a:rPr>
              <a:t>Partially</a:t>
            </a:r>
            <a:r>
              <a:rPr dirty="0" sz="2000" spc="-10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Committed</a:t>
            </a:r>
            <a:endParaRPr sz="2000">
              <a:latin typeface="Calibri"/>
              <a:cs typeface="Calibri"/>
            </a:endParaRPr>
          </a:p>
          <a:p>
            <a:pPr lvl="1" marL="1112520" marR="1317625" indent="-228600">
              <a:lnSpc>
                <a:spcPts val="2160"/>
              </a:lnSpc>
              <a:spcBef>
                <a:spcPts val="525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executed transaction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goes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partially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committed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lvl="1" marL="1112520" marR="408940" indent="-228600">
              <a:lnSpc>
                <a:spcPct val="90000"/>
              </a:lnSpc>
              <a:spcBef>
                <a:spcPts val="475"/>
              </a:spcBef>
              <a:buFont typeface="Arial MT"/>
              <a:buChar char="•"/>
              <a:tabLst>
                <a:tab pos="1112520" algn="l"/>
              </a:tabLst>
            </a:pP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condition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completed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its </a:t>
            </a:r>
            <a:r>
              <a:rPr dirty="0" sz="2000" spc="-10">
                <a:latin typeface="Calibri"/>
                <a:cs typeface="Calibri"/>
              </a:rPr>
              <a:t>execution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commit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server,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aborted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be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thus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failure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may </a:t>
            </a:r>
            <a:r>
              <a:rPr dirty="0" sz="2000">
                <a:latin typeface="Calibri"/>
                <a:cs typeface="Calibri"/>
              </a:rPr>
              <a:t>prohibit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successful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completion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3200">
              <a:latin typeface="Times New Roman"/>
              <a:cs typeface="Times New Roman"/>
            </a:endParaRPr>
          </a:p>
          <a:p>
            <a:pPr marL="401955" marR="626745">
              <a:lnSpc>
                <a:spcPct val="90000"/>
              </a:lnSpc>
            </a:pP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Working</a:t>
            </a:r>
            <a:r>
              <a:rPr dirty="0" sz="3200" spc="-1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Transaction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Processing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50" b="1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Transaction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dirty="0" sz="32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Diagram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704468"/>
            <a:ext cx="74041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 spc="-10">
                <a:latin typeface="Calibri"/>
                <a:cs typeface="Calibri"/>
              </a:rPr>
              <a:t>Failed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916170" y="987933"/>
            <a:ext cx="6129655" cy="7708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ts val="1825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transaction</a:t>
            </a:r>
            <a:r>
              <a:rPr dirty="0" sz="1600" spc="2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enters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failed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determines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ts val="1825"/>
              </a:lnSpc>
            </a:pPr>
            <a:r>
              <a:rPr dirty="0" sz="1600">
                <a:latin typeface="Calibri"/>
                <a:cs typeface="Calibri"/>
              </a:rPr>
              <a:t>transaction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longer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normal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execution</a:t>
            </a:r>
            <a:endParaRPr sz="16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>
                <a:latin typeface="Calibri"/>
                <a:cs typeface="Calibri"/>
              </a:rPr>
              <a:t>Example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hardware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logical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errors while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458970" y="1837181"/>
            <a:ext cx="9296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 spc="-10">
                <a:latin typeface="Calibri"/>
                <a:cs typeface="Calibri"/>
              </a:rPr>
              <a:t>Aborted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916170" y="2078888"/>
            <a:ext cx="6341745" cy="81216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 spc="-20">
                <a:latin typeface="Calibri"/>
                <a:cs typeface="Calibri"/>
              </a:rPr>
              <a:t>Transaction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been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back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restoring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prior</a:t>
            </a:r>
            <a:r>
              <a:rPr dirty="0" sz="1600" spc="-10">
                <a:latin typeface="Calibri"/>
                <a:cs typeface="Calibri"/>
              </a:rPr>
              <a:t> state</a:t>
            </a:r>
            <a:endParaRPr sz="16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Failed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rolled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back.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enters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aborted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state.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In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stage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two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options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73370" y="2905760"/>
            <a:ext cx="5842635" cy="120904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1300" marR="20320" indent="-229235">
              <a:lnSpc>
                <a:spcPts val="173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 spc="-10">
                <a:latin typeface="Calibri"/>
                <a:cs typeface="Calibri"/>
              </a:rPr>
              <a:t>Restart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restarted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considered 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be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new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recover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possible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failure</a:t>
            </a:r>
            <a:endParaRPr sz="1600">
              <a:latin typeface="Calibri"/>
              <a:cs typeface="Calibri"/>
            </a:endParaRPr>
          </a:p>
          <a:p>
            <a:pPr marL="241300" marR="5080" indent="-229235">
              <a:lnSpc>
                <a:spcPts val="1730"/>
              </a:lnSpc>
              <a:spcBef>
                <a:spcPts val="48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600">
                <a:latin typeface="Calibri"/>
                <a:cs typeface="Calibri"/>
              </a:rPr>
              <a:t>Kill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Because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input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because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>
                <a:latin typeface="Calibri"/>
                <a:cs typeface="Calibri"/>
              </a:rPr>
              <a:t>desired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present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database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error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occur.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In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kill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recover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failure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458970" y="4154576"/>
            <a:ext cx="6329045" cy="159575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600" spc="-10">
                <a:latin typeface="Calibri"/>
                <a:cs typeface="Calibri"/>
              </a:rPr>
              <a:t>Committed</a:t>
            </a:r>
            <a:endParaRPr sz="1600">
              <a:latin typeface="Calibri"/>
              <a:cs typeface="Calibri"/>
            </a:endParaRPr>
          </a:p>
          <a:p>
            <a:pPr lvl="1" marL="698500" marR="204470" indent="-228600">
              <a:lnSpc>
                <a:spcPts val="173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When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last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item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written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out,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enters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into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state</a:t>
            </a:r>
            <a:endParaRPr sz="16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84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occurs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successful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completion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endParaRPr sz="1600">
              <a:latin typeface="Calibri"/>
              <a:cs typeface="Calibri"/>
            </a:endParaRPr>
          </a:p>
          <a:p>
            <a:pPr lvl="1" marL="698500" marR="5080" indent="-228600">
              <a:lnSpc>
                <a:spcPts val="1730"/>
              </a:lnSpc>
              <a:spcBef>
                <a:spcPts val="52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transaction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said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terminated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either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committed</a:t>
            </a:r>
            <a:r>
              <a:rPr dirty="0" sz="1600" spc="-25">
                <a:latin typeface="Calibri"/>
                <a:cs typeface="Calibri"/>
              </a:rPr>
              <a:t> or </a:t>
            </a:r>
            <a:r>
              <a:rPr dirty="0" sz="1600" spc="-10">
                <a:latin typeface="Calibri"/>
                <a:cs typeface="Calibri"/>
              </a:rPr>
              <a:t>aborted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45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499109">
              <a:lnSpc>
                <a:spcPts val="4110"/>
              </a:lnSpc>
            </a:pPr>
            <a:r>
              <a:rPr dirty="0" sz="3800" spc="-30" b="1">
                <a:solidFill>
                  <a:srgbClr val="FFFFFF"/>
                </a:solidFill>
                <a:latin typeface="Calibri"/>
                <a:cs typeface="Calibri"/>
              </a:rPr>
              <a:t>Transactions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Schedules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370070" y="1013205"/>
            <a:ext cx="7052309" cy="4766310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marL="330200" marR="106680" indent="-228600">
              <a:lnSpc>
                <a:spcPts val="1939"/>
              </a:lnSpc>
              <a:spcBef>
                <a:spcPts val="345"/>
              </a:spcBef>
              <a:buFont typeface="Arial MT"/>
              <a:buChar char="•"/>
              <a:tabLst>
                <a:tab pos="330200" algn="l"/>
              </a:tabLst>
            </a:pPr>
            <a:r>
              <a:rPr dirty="0" sz="1800">
                <a:latin typeface="Calibri"/>
                <a:cs typeface="Calibri"/>
              </a:rPr>
              <a:t>Schedule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sequence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specify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sequential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order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 </a:t>
            </a:r>
            <a:r>
              <a:rPr dirty="0" sz="1800" spc="-10">
                <a:latin typeface="Calibri"/>
                <a:cs typeface="Calibri"/>
              </a:rPr>
              <a:t>instructions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endParaRPr sz="1800">
              <a:latin typeface="Calibri"/>
              <a:cs typeface="Calibri"/>
            </a:endParaRPr>
          </a:p>
          <a:p>
            <a:pPr marL="330200" marR="600075" indent="-228600">
              <a:lnSpc>
                <a:spcPct val="90100"/>
              </a:lnSpc>
              <a:spcBef>
                <a:spcPts val="985"/>
              </a:spcBef>
              <a:buFont typeface="Arial MT"/>
              <a:buChar char="•"/>
              <a:tabLst>
                <a:tab pos="3302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consist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instructions </a:t>
            </a:r>
            <a:r>
              <a:rPr dirty="0" sz="1800">
                <a:latin typeface="Calibri"/>
                <a:cs typeface="Calibri"/>
              </a:rPr>
              <a:t>present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save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order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instructions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appear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individual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endParaRPr sz="1800">
              <a:latin typeface="Calibri"/>
              <a:cs typeface="Calibri"/>
            </a:endParaRPr>
          </a:p>
          <a:p>
            <a:pPr marL="330200" marR="551815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3302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successfully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completes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 </a:t>
            </a:r>
            <a:r>
              <a:rPr dirty="0" sz="1800">
                <a:latin typeface="Calibri"/>
                <a:cs typeface="Calibri"/>
              </a:rPr>
              <a:t>commit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instructions executed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endParaRPr sz="1800">
              <a:latin typeface="Calibri"/>
              <a:cs typeface="Calibri"/>
            </a:endParaRPr>
          </a:p>
          <a:p>
            <a:pPr marL="330200" marR="218440" indent="-228600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3302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fails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successfully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complete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have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abort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instructions executed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execution</a:t>
            </a:r>
            <a:endParaRPr sz="1800">
              <a:latin typeface="Calibri"/>
              <a:cs typeface="Calibri"/>
            </a:endParaRPr>
          </a:p>
          <a:p>
            <a:pPr marL="329565" indent="-227965">
              <a:lnSpc>
                <a:spcPct val="100000"/>
              </a:lnSpc>
              <a:spcBef>
                <a:spcPts val="790"/>
              </a:spcBef>
              <a:buFont typeface="Arial MT"/>
              <a:buChar char="•"/>
              <a:tabLst>
                <a:tab pos="329565" algn="l"/>
              </a:tabLst>
            </a:pP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denote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  <a:p>
            <a:pPr lvl="1" marL="787400" marR="155575" indent="-228600">
              <a:lnSpc>
                <a:spcPts val="1939"/>
              </a:lnSpc>
              <a:spcBef>
                <a:spcPts val="525"/>
              </a:spcBef>
              <a:buFont typeface="Arial MT"/>
              <a:buChar char="•"/>
              <a:tabLst>
                <a:tab pos="787400" algn="l"/>
              </a:tabLst>
            </a:pPr>
            <a:r>
              <a:rPr dirty="0" sz="1800">
                <a:latin typeface="Calibri"/>
                <a:cs typeface="Calibri"/>
              </a:rPr>
              <a:t>R</a:t>
            </a:r>
            <a:r>
              <a:rPr dirty="0" baseline="-20833" sz="180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(X)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Denotes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performed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on </a:t>
            </a:r>
            <a:r>
              <a:rPr dirty="0" sz="1800">
                <a:latin typeface="Calibri"/>
                <a:cs typeface="Calibri"/>
              </a:rPr>
              <a:t>object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 lvl="1" marL="786765" indent="-227965">
              <a:lnSpc>
                <a:spcPts val="2050"/>
              </a:lnSpc>
              <a:spcBef>
                <a:spcPts val="265"/>
              </a:spcBef>
              <a:buFont typeface="Arial MT"/>
              <a:buChar char="•"/>
              <a:tabLst>
                <a:tab pos="786765" algn="l"/>
              </a:tabLst>
            </a:pPr>
            <a:r>
              <a:rPr dirty="0" sz="1800">
                <a:latin typeface="Calibri"/>
                <a:cs typeface="Calibri"/>
              </a:rPr>
              <a:t>W</a:t>
            </a:r>
            <a:r>
              <a:rPr dirty="0" baseline="-20833" sz="1800">
                <a:latin typeface="Calibri"/>
                <a:cs typeface="Calibri"/>
              </a:rPr>
              <a:t>r</a:t>
            </a:r>
            <a:r>
              <a:rPr dirty="0" sz="1800">
                <a:latin typeface="Calibri"/>
                <a:cs typeface="Calibri"/>
              </a:rPr>
              <a:t>(X)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Denotes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performed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T</a:t>
            </a:r>
            <a:endParaRPr sz="1800">
              <a:latin typeface="Calibri"/>
              <a:cs typeface="Calibri"/>
            </a:endParaRPr>
          </a:p>
          <a:p>
            <a:pPr marL="787400">
              <a:lnSpc>
                <a:spcPts val="2050"/>
              </a:lnSpc>
            </a:pP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object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X</a:t>
            </a:r>
            <a:endParaRPr sz="1800">
              <a:latin typeface="Calibri"/>
              <a:cs typeface="Calibri"/>
            </a:endParaRPr>
          </a:p>
          <a:p>
            <a:pPr marL="3295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329565" algn="l"/>
              </a:tabLst>
            </a:pP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specify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action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commit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abort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-15493"/>
            <a:ext cx="521271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Serial</a:t>
            </a:r>
            <a:r>
              <a:rPr dirty="0" sz="3200" spc="-25"/>
              <a:t> </a:t>
            </a:r>
            <a:r>
              <a:rPr dirty="0" sz="3200" spc="-20"/>
              <a:t>Transactions</a:t>
            </a:r>
            <a:r>
              <a:rPr dirty="0" sz="3200" spc="-50"/>
              <a:t> </a:t>
            </a:r>
            <a:r>
              <a:rPr dirty="0" sz="3200"/>
              <a:t>/</a:t>
            </a:r>
            <a:r>
              <a:rPr dirty="0" sz="3200" spc="-5"/>
              <a:t> </a:t>
            </a:r>
            <a:r>
              <a:rPr dirty="0" sz="3200" spc="-10"/>
              <a:t>Schedules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2047494" y="768858"/>
            <a:ext cx="8098790" cy="29806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254000" marR="177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54000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simple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model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2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executed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serial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order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means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finishing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first</a:t>
            </a:r>
            <a:r>
              <a:rPr dirty="0" sz="2200" spc="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second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1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starts </a:t>
            </a:r>
            <a:r>
              <a:rPr dirty="0" sz="2200">
                <a:latin typeface="Calibri"/>
                <a:cs typeface="Calibri"/>
              </a:rPr>
              <a:t>its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execution</a:t>
            </a:r>
            <a:endParaRPr sz="2200">
              <a:latin typeface="Calibri"/>
              <a:cs typeface="Calibri"/>
            </a:endParaRPr>
          </a:p>
          <a:p>
            <a:pPr algn="just" marL="253365" indent="-227965">
              <a:lnSpc>
                <a:spcPts val="2510"/>
              </a:lnSpc>
              <a:spcBef>
                <a:spcPts val="690"/>
              </a:spcBef>
              <a:buFont typeface="Arial MT"/>
              <a:buChar char="•"/>
              <a:tabLst>
                <a:tab pos="253365" algn="l"/>
              </a:tabLst>
            </a:pP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3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specifies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first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my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3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3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your</a:t>
            </a:r>
            <a:r>
              <a:rPr dirty="0" sz="2200" spc="3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transaction</a:t>
            </a:r>
            <a:endParaRPr sz="2200">
              <a:latin typeface="Calibri"/>
              <a:cs typeface="Calibri"/>
            </a:endParaRPr>
          </a:p>
          <a:p>
            <a:pPr algn="just" marL="2540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preliminary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results</a:t>
            </a:r>
            <a:endParaRPr sz="2200">
              <a:latin typeface="Calibri"/>
              <a:cs typeface="Calibri"/>
            </a:endParaRPr>
          </a:p>
          <a:p>
            <a:pPr marL="2533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53365" algn="l"/>
              </a:tabLst>
            </a:pPr>
            <a:r>
              <a:rPr dirty="0" sz="2200">
                <a:latin typeface="Calibri"/>
                <a:cs typeface="Calibri"/>
              </a:rPr>
              <a:t>Example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Consider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below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T1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T2</a:t>
            </a:r>
            <a:endParaRPr sz="2200">
              <a:latin typeface="Calibri"/>
              <a:cs typeface="Calibri"/>
            </a:endParaRPr>
          </a:p>
          <a:p>
            <a:pPr marL="253365" indent="-227965">
              <a:lnSpc>
                <a:spcPct val="100000"/>
              </a:lnSpc>
              <a:spcBef>
                <a:spcPts val="745"/>
              </a:spcBef>
              <a:buFont typeface="Arial MT"/>
              <a:buChar char="•"/>
              <a:tabLst>
                <a:tab pos="253365" algn="l"/>
              </a:tabLst>
            </a:pPr>
            <a:r>
              <a:rPr dirty="0" sz="2200" spc="-20">
                <a:latin typeface="Calibri"/>
                <a:cs typeface="Calibri"/>
              </a:rPr>
              <a:t>Transaction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</a:t>
            </a:r>
            <a:r>
              <a:rPr dirty="0" baseline="-21072" sz="2175">
                <a:latin typeface="Calibri"/>
                <a:cs typeface="Calibri"/>
              </a:rPr>
              <a:t>1</a:t>
            </a:r>
            <a:r>
              <a:rPr dirty="0" baseline="-21072" sz="2175" spc="217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Deposits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Rs.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100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accounts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B</a:t>
            </a:r>
            <a:endParaRPr sz="2200">
              <a:latin typeface="Calibri"/>
              <a:cs typeface="Calibri"/>
            </a:endParaRPr>
          </a:p>
          <a:p>
            <a:pPr marL="253365" indent="-227965">
              <a:lnSpc>
                <a:spcPct val="100000"/>
              </a:lnSpc>
              <a:spcBef>
                <a:spcPts val="730"/>
              </a:spcBef>
              <a:buFont typeface="Arial MT"/>
              <a:buChar char="•"/>
              <a:tabLst>
                <a:tab pos="253365" algn="l"/>
              </a:tabLst>
            </a:pPr>
            <a:r>
              <a:rPr dirty="0" sz="2200" spc="-20">
                <a:latin typeface="Calibri"/>
                <a:cs typeface="Calibri"/>
              </a:rPr>
              <a:t>Transaction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</a:t>
            </a:r>
            <a:r>
              <a:rPr dirty="0" baseline="-21072" sz="2175">
                <a:latin typeface="Calibri"/>
                <a:cs typeface="Calibri"/>
              </a:rPr>
              <a:t>2</a:t>
            </a:r>
            <a:r>
              <a:rPr dirty="0" baseline="-21072" sz="2175" spc="232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Doubles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balance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accounts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B</a:t>
            </a:r>
            <a:endParaRPr sz="22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446273" y="4001770"/>
          <a:ext cx="1779905" cy="27711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/>
              </a:tblGrid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1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5970651" y="3950970"/>
          <a:ext cx="1779905" cy="27717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0370"/>
              </a:tblGrid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2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6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03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A</a:t>
            </a:r>
            <a:r>
              <a:rPr dirty="0" sz="3600" spc="-70"/>
              <a:t> </a:t>
            </a:r>
            <a:r>
              <a:rPr dirty="0" sz="3600" spc="-10"/>
              <a:t>Consistent</a:t>
            </a:r>
            <a:r>
              <a:rPr dirty="0" sz="3600" spc="-55"/>
              <a:t> </a:t>
            </a:r>
            <a:r>
              <a:rPr dirty="0" sz="3600"/>
              <a:t>Serial</a:t>
            </a:r>
            <a:r>
              <a:rPr dirty="0" sz="3600" spc="-70"/>
              <a:t> </a:t>
            </a:r>
            <a:r>
              <a:rPr dirty="0" sz="3600" spc="-10"/>
              <a:t>Schedule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06830" y="1619250"/>
          <a:ext cx="10187305" cy="49396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54375"/>
                <a:gridCol w="2917825"/>
                <a:gridCol w="847090"/>
                <a:gridCol w="847090"/>
                <a:gridCol w="223139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1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2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Operation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Initial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Balance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(A)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(B)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+100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(A)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(B)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2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Balance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5410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60"/>
              </a:spcBef>
            </a:pPr>
            <a:endParaRPr sz="3800">
              <a:latin typeface="Times New Roman"/>
              <a:cs typeface="Times New Roman"/>
            </a:endParaRPr>
          </a:p>
          <a:p>
            <a:pPr marL="401955" marR="499745">
              <a:lnSpc>
                <a:spcPts val="4110"/>
              </a:lnSpc>
            </a:pP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Concurrent </a:t>
            </a:r>
            <a:r>
              <a:rPr dirty="0" sz="3800" spc="-30" b="1">
                <a:solidFill>
                  <a:srgbClr val="FFFFFF"/>
                </a:solidFill>
                <a:latin typeface="Calibri"/>
                <a:cs typeface="Calibri"/>
              </a:rPr>
              <a:t>Transactions</a:t>
            </a:r>
            <a:endParaRPr sz="3800">
              <a:latin typeface="Calibri"/>
              <a:cs typeface="Calibri"/>
            </a:endParaRPr>
          </a:p>
          <a:p>
            <a:pPr marL="401955">
              <a:lnSpc>
                <a:spcPts val="4040"/>
              </a:lnSpc>
            </a:pPr>
            <a:r>
              <a:rPr dirty="0" sz="3800" b="1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dirty="0" sz="380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800" spc="-10" b="1">
                <a:solidFill>
                  <a:srgbClr val="FFFFFF"/>
                </a:solidFill>
                <a:latin typeface="Calibri"/>
                <a:cs typeface="Calibri"/>
              </a:rPr>
              <a:t>Schedules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123690" y="474726"/>
            <a:ext cx="763143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 spc="-20">
                <a:latin typeface="Calibri"/>
                <a:cs typeface="Calibri"/>
              </a:rPr>
              <a:t>Transactions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executed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concurrently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means</a:t>
            </a:r>
            <a:r>
              <a:rPr dirty="0" sz="1500" spc="-10">
                <a:latin typeface="Calibri"/>
                <a:cs typeface="Calibri"/>
              </a:rPr>
              <a:t> operating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system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executes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one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for </a:t>
            </a:r>
            <a:r>
              <a:rPr dirty="0" sz="1500" spc="-50">
                <a:latin typeface="Calibri"/>
                <a:cs typeface="Calibri"/>
              </a:rPr>
              <a:t>a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123690" y="576169"/>
            <a:ext cx="7478395" cy="2306955"/>
          </a:xfrm>
          <a:prstGeom prst="rect">
            <a:avLst/>
          </a:prstGeom>
        </p:spPr>
        <p:txBody>
          <a:bodyPr wrap="square" lIns="0" tIns="116839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19"/>
              </a:spcBef>
            </a:pPr>
            <a:r>
              <a:rPr dirty="0" sz="1500">
                <a:latin typeface="Calibri"/>
                <a:cs typeface="Calibri"/>
              </a:rPr>
              <a:t>while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context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switches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second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transaction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on</a:t>
            </a:r>
            <a:endParaRPr sz="1500">
              <a:latin typeface="Calibri"/>
              <a:cs typeface="Calibri"/>
            </a:endParaRPr>
          </a:p>
          <a:p>
            <a:pPr marL="241300" marR="389890" indent="-229235">
              <a:lnSpc>
                <a:spcPts val="162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 spc="-20">
                <a:latin typeface="Calibri"/>
                <a:cs typeface="Calibri"/>
              </a:rPr>
              <a:t>Transaction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processing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can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allow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multiple</a:t>
            </a:r>
            <a:r>
              <a:rPr dirty="0" sz="1500" spc="-10">
                <a:latin typeface="Calibri"/>
                <a:cs typeface="Calibri"/>
              </a:rPr>
              <a:t> transactions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executed simultaneously</a:t>
            </a:r>
            <a:r>
              <a:rPr dirty="0" sz="1500" spc="-25">
                <a:latin typeface="Calibri"/>
                <a:cs typeface="Calibri"/>
              </a:rPr>
              <a:t> on </a:t>
            </a:r>
            <a:r>
              <a:rPr dirty="0" sz="1500">
                <a:latin typeface="Calibri"/>
                <a:cs typeface="Calibri"/>
              </a:rPr>
              <a:t>database</a:t>
            </a:r>
            <a:r>
              <a:rPr dirty="0" sz="1500" spc="-7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server</a:t>
            </a:r>
            <a:endParaRPr sz="1500">
              <a:latin typeface="Calibri"/>
              <a:cs typeface="Calibri"/>
            </a:endParaRPr>
          </a:p>
          <a:p>
            <a:pPr marL="241300" marR="608330" indent="-229235">
              <a:lnSpc>
                <a:spcPts val="162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latin typeface="Calibri"/>
                <a:cs typeface="Calibri"/>
              </a:rPr>
              <a:t>Allowing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multiple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transactions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change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database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concurrently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causes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several complications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with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consistency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data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10">
                <a:latin typeface="Calibri"/>
                <a:cs typeface="Calibri"/>
              </a:rPr>
              <a:t> database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ts val="1710"/>
              </a:lnSpc>
              <a:spcBef>
                <a:spcPts val="7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very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simple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maintain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consistency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case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serial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execution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compared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concurrent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10"/>
              </a:lnSpc>
            </a:pPr>
            <a:r>
              <a:rPr dirty="0" sz="1500" spc="-10">
                <a:latin typeface="Calibri"/>
                <a:cs typeface="Calibri"/>
              </a:rPr>
              <a:t>execution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transactions</a:t>
            </a:r>
            <a:endParaRPr sz="15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 spc="-10">
                <a:latin typeface="Calibri"/>
                <a:cs typeface="Calibri"/>
              </a:rPr>
              <a:t>Advantages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4581271" y="2898394"/>
            <a:ext cx="195008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 spc="-10">
                <a:latin typeface="Calibri"/>
                <a:cs typeface="Calibri"/>
              </a:rPr>
              <a:t>Improved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Throughput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38471" y="3168141"/>
            <a:ext cx="6203315" cy="93408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41300" marR="5080" indent="-228600">
              <a:lnSpc>
                <a:spcPts val="1620"/>
              </a:lnSpc>
              <a:spcBef>
                <a:spcPts val="3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500" spc="-10">
                <a:latin typeface="Calibri"/>
                <a:cs typeface="Calibri"/>
              </a:rPr>
              <a:t>Throughput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transaction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defined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number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transactions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given </a:t>
            </a:r>
            <a:r>
              <a:rPr dirty="0" sz="1500">
                <a:latin typeface="Calibri"/>
                <a:cs typeface="Calibri"/>
              </a:rPr>
              <a:t>amount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time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ts val="1710"/>
              </a:lnSpc>
              <a:spcBef>
                <a:spcPts val="2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>
                <a:latin typeface="Calibri"/>
                <a:cs typeface="Calibri"/>
              </a:rPr>
              <a:t>If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we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are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executing </a:t>
            </a:r>
            <a:r>
              <a:rPr dirty="0" sz="1500">
                <a:latin typeface="Calibri"/>
                <a:cs typeface="Calibri"/>
              </a:rPr>
              <a:t>multiple</a:t>
            </a:r>
            <a:r>
              <a:rPr dirty="0" sz="1500" spc="-10">
                <a:latin typeface="Calibri"/>
                <a:cs typeface="Calibri"/>
              </a:rPr>
              <a:t> transactions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simultaneously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that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may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increase</a:t>
            </a:r>
            <a:endParaRPr sz="1500">
              <a:latin typeface="Calibri"/>
              <a:cs typeface="Calibri"/>
            </a:endParaRPr>
          </a:p>
          <a:p>
            <a:pPr marL="241300">
              <a:lnSpc>
                <a:spcPts val="1710"/>
              </a:lnSpc>
            </a:pPr>
            <a:r>
              <a:rPr dirty="0" sz="1500" spc="-10">
                <a:latin typeface="Calibri"/>
                <a:cs typeface="Calibri"/>
              </a:rPr>
              <a:t>throughput</a:t>
            </a:r>
            <a:r>
              <a:rPr dirty="0" sz="1500" spc="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considerably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581271" y="4117975"/>
            <a:ext cx="17951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 spc="-10">
                <a:latin typeface="Calibri"/>
                <a:cs typeface="Calibri"/>
              </a:rPr>
              <a:t>Resource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Utilization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581271" y="4348098"/>
            <a:ext cx="7219950" cy="198755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It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is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defined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processor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disk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performing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useful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work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or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not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idle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state</a:t>
            </a:r>
            <a:endParaRPr sz="1500">
              <a:latin typeface="Calibri"/>
              <a:cs typeface="Calibri"/>
            </a:endParaRPr>
          </a:p>
          <a:p>
            <a:pPr marL="698500" marR="260350" indent="-228600">
              <a:lnSpc>
                <a:spcPts val="1620"/>
              </a:lnSpc>
              <a:spcBef>
                <a:spcPts val="51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00">
                <a:latin typeface="Calibri"/>
                <a:cs typeface="Calibri"/>
              </a:rPr>
              <a:t>The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processor</a:t>
            </a:r>
            <a:r>
              <a:rPr dirty="0" sz="1500" spc="29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disk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utilization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increases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as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number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of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concurrent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 increases</a:t>
            </a:r>
            <a:endParaRPr sz="15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500" spc="-10">
                <a:latin typeface="Calibri"/>
                <a:cs typeface="Calibri"/>
              </a:rPr>
              <a:t>Reduced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Waiting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20">
                <a:latin typeface="Calibri"/>
                <a:cs typeface="Calibri"/>
              </a:rPr>
              <a:t>Time</a:t>
            </a:r>
            <a:endParaRPr sz="15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500">
                <a:latin typeface="Calibri"/>
                <a:cs typeface="Calibri"/>
              </a:rPr>
              <a:t>There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some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small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and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some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long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transactions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may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be</a:t>
            </a:r>
            <a:r>
              <a:rPr dirty="0" sz="1500" spc="-10">
                <a:latin typeface="Calibri"/>
                <a:cs typeface="Calibri"/>
              </a:rPr>
              <a:t> executing </a:t>
            </a:r>
            <a:r>
              <a:rPr dirty="0" sz="1500">
                <a:latin typeface="Calibri"/>
                <a:cs typeface="Calibri"/>
              </a:rPr>
              <a:t>on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system</a:t>
            </a:r>
            <a:endParaRPr sz="1500">
              <a:latin typeface="Calibri"/>
              <a:cs typeface="Calibri"/>
            </a:endParaRPr>
          </a:p>
          <a:p>
            <a:pPr lvl="1" marL="698500" marR="103505" indent="-228600">
              <a:lnSpc>
                <a:spcPts val="1620"/>
              </a:lnSpc>
              <a:spcBef>
                <a:spcPts val="52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1500">
                <a:latin typeface="Calibri"/>
                <a:cs typeface="Calibri"/>
              </a:rPr>
              <a:t>If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transactions</a:t>
            </a:r>
            <a:r>
              <a:rPr dirty="0" sz="1500" spc="-6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are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running</a:t>
            </a:r>
            <a:r>
              <a:rPr dirty="0" sz="1500" spc="-5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serially</a:t>
            </a:r>
            <a:r>
              <a:rPr dirty="0" sz="1500" spc="-1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short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transaction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may</a:t>
            </a:r>
            <a:r>
              <a:rPr dirty="0" sz="1500" spc="-4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have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wait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for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a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earlier </a:t>
            </a:r>
            <a:r>
              <a:rPr dirty="0" sz="1500">
                <a:latin typeface="Calibri"/>
                <a:cs typeface="Calibri"/>
              </a:rPr>
              <a:t>long</a:t>
            </a:r>
            <a:r>
              <a:rPr dirty="0" sz="1500" spc="-35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transaction</a:t>
            </a:r>
            <a:r>
              <a:rPr dirty="0" sz="1500" spc="-5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complete</a:t>
            </a:r>
            <a:r>
              <a:rPr dirty="0" sz="1500" spc="-2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which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can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lead</a:t>
            </a:r>
            <a:r>
              <a:rPr dirty="0" sz="1500" spc="-2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to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random</a:t>
            </a:r>
            <a:r>
              <a:rPr dirty="0" sz="1500" spc="-30">
                <a:latin typeface="Calibri"/>
                <a:cs typeface="Calibri"/>
              </a:rPr>
              <a:t> </a:t>
            </a:r>
            <a:r>
              <a:rPr dirty="0" sz="1500" spc="-10">
                <a:latin typeface="Calibri"/>
                <a:cs typeface="Calibri"/>
              </a:rPr>
              <a:t>delays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in</a:t>
            </a:r>
            <a:r>
              <a:rPr dirty="0" sz="1500" spc="-10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running</a:t>
            </a:r>
            <a:r>
              <a:rPr dirty="0" sz="1500" spc="-45">
                <a:latin typeface="Calibri"/>
                <a:cs typeface="Calibri"/>
              </a:rPr>
              <a:t> </a:t>
            </a:r>
            <a:r>
              <a:rPr dirty="0" sz="1500" spc="-50">
                <a:latin typeface="Calibri"/>
                <a:cs typeface="Calibri"/>
              </a:rPr>
              <a:t>a </a:t>
            </a:r>
            <a:r>
              <a:rPr dirty="0" sz="1500" spc="-10">
                <a:latin typeface="Calibri"/>
                <a:cs typeface="Calibri"/>
              </a:rPr>
              <a:t>transaction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60194" y="364312"/>
            <a:ext cx="6830059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10"/>
              <a:t>Concurrent</a:t>
            </a:r>
            <a:r>
              <a:rPr dirty="0" sz="4000" spc="-175"/>
              <a:t> </a:t>
            </a:r>
            <a:r>
              <a:rPr dirty="0" sz="4000" spc="-30"/>
              <a:t>Transaction</a:t>
            </a:r>
            <a:r>
              <a:rPr dirty="0" sz="4000" spc="-160"/>
              <a:t> </a:t>
            </a:r>
            <a:r>
              <a:rPr dirty="0" sz="4000" spc="-10"/>
              <a:t>Example</a:t>
            </a:r>
            <a:endParaRPr sz="4000"/>
          </a:p>
        </p:txBody>
      </p:sp>
      <p:sp>
        <p:nvSpPr>
          <p:cNvPr id="3" name="object 3" descr=""/>
          <p:cNvSpPr txBox="1"/>
          <p:nvPr/>
        </p:nvSpPr>
        <p:spPr>
          <a:xfrm>
            <a:off x="1164945" y="1338846"/>
            <a:ext cx="6337935" cy="122936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266065" indent="-227965">
              <a:lnSpc>
                <a:spcPct val="100000"/>
              </a:lnSpc>
              <a:spcBef>
                <a:spcPts val="850"/>
              </a:spcBef>
              <a:buFont typeface="Arial MT"/>
              <a:buChar char="•"/>
              <a:tabLst>
                <a:tab pos="266065" algn="l"/>
              </a:tabLst>
            </a:pP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Consider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T1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T2</a:t>
            </a:r>
            <a:endParaRPr sz="20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66065" algn="l"/>
              </a:tabLst>
            </a:pPr>
            <a:r>
              <a:rPr dirty="0" sz="2000" spc="-20">
                <a:latin typeface="Calibri"/>
                <a:cs typeface="Calibri"/>
              </a:rPr>
              <a:t>Transaction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</a:t>
            </a:r>
            <a:r>
              <a:rPr dirty="0" baseline="-21367" sz="1950">
                <a:latin typeface="Calibri"/>
                <a:cs typeface="Calibri"/>
              </a:rPr>
              <a:t>1</a:t>
            </a:r>
            <a:r>
              <a:rPr dirty="0" baseline="-21367" sz="1950" spc="217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Deposits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Rs.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  <a:p>
            <a:pPr marL="2660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66065" algn="l"/>
              </a:tabLst>
            </a:pPr>
            <a:r>
              <a:rPr dirty="0" sz="2000" spc="-25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</a:t>
            </a:r>
            <a:r>
              <a:rPr dirty="0" baseline="-21367" sz="1950">
                <a:latin typeface="Calibri"/>
                <a:cs typeface="Calibri"/>
              </a:rPr>
              <a:t>2</a:t>
            </a:r>
            <a:r>
              <a:rPr dirty="0" baseline="-21367" sz="1950" spc="20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Doubles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accounts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64945" y="5849823"/>
            <a:ext cx="10248900" cy="60515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266700" marR="30480" indent="-22923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transactions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cab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executed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concurrently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obtained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interleaving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>
                <a:latin typeface="Calibri"/>
                <a:cs typeface="Calibri"/>
              </a:rPr>
              <a:t>actions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</a:t>
            </a:r>
            <a:r>
              <a:rPr dirty="0" baseline="-21367" sz="1950">
                <a:latin typeface="Calibri"/>
                <a:cs typeface="Calibri"/>
              </a:rPr>
              <a:t>1</a:t>
            </a:r>
            <a:r>
              <a:rPr dirty="0" baseline="-21367" sz="1950" spc="202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those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</a:t>
            </a:r>
            <a:r>
              <a:rPr dirty="0" baseline="-21367" sz="1950" spc="-37">
                <a:latin typeface="Calibri"/>
                <a:cs typeface="Calibri"/>
              </a:rPr>
              <a:t>2</a:t>
            </a:r>
            <a:endParaRPr baseline="-21367" sz="1950">
              <a:latin typeface="Calibri"/>
              <a:cs typeface="Calibri"/>
            </a:endParaRPr>
          </a:p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2303398" y="2922523"/>
          <a:ext cx="1779905" cy="26187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1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= A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+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 +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100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4613275" y="2898520"/>
          <a:ext cx="1779905" cy="2592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005"/>
              </a:tblGrid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dirty="0" sz="18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2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3111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= A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*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(A)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8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18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8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>
                          <a:latin typeface="Calibri"/>
                          <a:cs typeface="Calibri"/>
                        </a:rPr>
                        <a:t>B *</a:t>
                      </a:r>
                      <a:r>
                        <a:rPr dirty="0" sz="180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702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180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8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25">
                          <a:latin typeface="Calibri"/>
                          <a:cs typeface="Calibri"/>
                        </a:rPr>
                        <a:t>(B)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7033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A</a:t>
            </a:r>
            <a:r>
              <a:rPr dirty="0" sz="3600" spc="-125"/>
              <a:t> </a:t>
            </a:r>
            <a:r>
              <a:rPr dirty="0" sz="3600" spc="-10"/>
              <a:t>Consistent</a:t>
            </a:r>
            <a:r>
              <a:rPr dirty="0" sz="3600" spc="-105"/>
              <a:t> </a:t>
            </a:r>
            <a:r>
              <a:rPr dirty="0" sz="3600" spc="-10"/>
              <a:t>Concurrent</a:t>
            </a:r>
            <a:r>
              <a:rPr dirty="0" sz="3600" spc="-125"/>
              <a:t> </a:t>
            </a:r>
            <a:r>
              <a:rPr dirty="0" sz="3600" spc="-10"/>
              <a:t>Schedule</a:t>
            </a:r>
            <a:endParaRPr sz="3600"/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106830" y="1632457"/>
          <a:ext cx="9763125" cy="4940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17850"/>
                <a:gridCol w="2795270"/>
                <a:gridCol w="811529"/>
                <a:gridCol w="811529"/>
                <a:gridCol w="2137410"/>
              </a:tblGrid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1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</a:t>
                      </a:r>
                      <a:r>
                        <a:rPr dirty="0" baseline="-21367" sz="1950" spc="-37">
                          <a:latin typeface="Calibri"/>
                          <a:cs typeface="Calibri"/>
                        </a:rPr>
                        <a:t>2</a:t>
                      </a:r>
                      <a:endParaRPr baseline="-21367" sz="195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A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B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Operation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Initial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Balance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(A)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(A)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(A)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(B)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+100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125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40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(B)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;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*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50">
                          <a:latin typeface="Calibri"/>
                          <a:cs typeface="Calibri"/>
                        </a:rPr>
                        <a:t>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(B)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250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Final</a:t>
                      </a:r>
                      <a:r>
                        <a:rPr dirty="0" sz="20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Balance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7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>
              <a:lnSpc>
                <a:spcPct val="100000"/>
              </a:lnSpc>
              <a:spcBef>
                <a:spcPts val="5"/>
              </a:spcBef>
            </a:pP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Serializability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949274"/>
            <a:ext cx="6807834" cy="489458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1300" marR="908685" indent="-228600">
              <a:lnSpc>
                <a:spcPct val="9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control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remains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 </a:t>
            </a:r>
            <a:r>
              <a:rPr dirty="0" sz="1800" spc="-10">
                <a:latin typeface="Calibri"/>
                <a:cs typeface="Calibri"/>
              </a:rPr>
              <a:t>consistent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state.</a:t>
            </a:r>
            <a:endParaRPr sz="1800">
              <a:latin typeface="Calibri"/>
              <a:cs typeface="Calibri"/>
            </a:endParaRPr>
          </a:p>
          <a:p>
            <a:pPr marL="241300" marR="154305" indent="-228600">
              <a:lnSpc>
                <a:spcPts val="1939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first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understand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ensure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consistency,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not.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schedule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actual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execution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sequence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two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more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 b="1">
                <a:latin typeface="Calibri"/>
                <a:cs typeface="Calibri"/>
              </a:rPr>
              <a:t>concurrent</a:t>
            </a:r>
            <a:r>
              <a:rPr dirty="0" sz="1800" spc="-10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transactions.</a:t>
            </a:r>
            <a:endParaRPr sz="1800">
              <a:latin typeface="Calibri"/>
              <a:cs typeface="Calibri"/>
            </a:endParaRPr>
          </a:p>
          <a:p>
            <a:pPr marL="241300" marR="222250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T1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T2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serializable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if </a:t>
            </a:r>
            <a:r>
              <a:rPr dirty="0" sz="1800" spc="-10">
                <a:latin typeface="Calibri"/>
                <a:cs typeface="Calibri"/>
              </a:rPr>
              <a:t>executing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same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effect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either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T1:T2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T2:T1.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consider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operations: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&amp;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write.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Between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instruction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item,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sequence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copy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is </a:t>
            </a:r>
            <a:r>
              <a:rPr dirty="0" sz="1800">
                <a:latin typeface="Calibri"/>
                <a:cs typeface="Calibri"/>
              </a:rPr>
              <a:t>residing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local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buffer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Various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forms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schedule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equivalence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are</a:t>
            </a:r>
            <a:endParaRPr sz="18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b="1">
                <a:latin typeface="Calibri"/>
                <a:cs typeface="Calibri"/>
              </a:rPr>
              <a:t>Conflict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Serializability</a:t>
            </a:r>
            <a:endParaRPr sz="1800">
              <a:latin typeface="Calibri"/>
              <a:cs typeface="Calibri"/>
            </a:endParaRPr>
          </a:p>
          <a:p>
            <a:pPr lvl="1" marL="697865" indent="-22796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697865" algn="l"/>
              </a:tabLst>
            </a:pPr>
            <a:r>
              <a:rPr dirty="0" sz="1800" b="1">
                <a:latin typeface="Calibri"/>
                <a:cs typeface="Calibri"/>
              </a:rPr>
              <a:t>View</a:t>
            </a:r>
            <a:r>
              <a:rPr dirty="0" sz="1800" spc="3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Serializability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659" y="321563"/>
            <a:ext cx="7058025" cy="1964689"/>
          </a:xfrm>
          <a:prstGeom prst="rect"/>
          <a:solidFill>
            <a:srgbClr val="4471C4"/>
          </a:solidFill>
        </p:spPr>
        <p:txBody>
          <a:bodyPr wrap="square" lIns="0" tIns="26225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65"/>
              </a:spcBef>
            </a:pPr>
            <a:endParaRPr sz="4400">
              <a:latin typeface="Times New Roman"/>
              <a:cs typeface="Times New Roman"/>
            </a:endParaRPr>
          </a:p>
          <a:p>
            <a:pPr marL="287655">
              <a:lnSpc>
                <a:spcPct val="100000"/>
              </a:lnSpc>
            </a:pPr>
            <a:r>
              <a:rPr dirty="0" sz="4400" spc="-25" b="0">
                <a:solidFill>
                  <a:srgbClr val="FFFFFF"/>
                </a:solidFill>
                <a:latin typeface="Calibri Light"/>
                <a:cs typeface="Calibri Light"/>
              </a:rPr>
              <a:t>Conflict</a:t>
            </a:r>
            <a:r>
              <a:rPr dirty="0" sz="4400" spc="-21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4400" spc="-10" b="0">
                <a:solidFill>
                  <a:srgbClr val="FFFFFF"/>
                </a:solidFill>
                <a:latin typeface="Calibri Light"/>
                <a:cs typeface="Calibri Light"/>
              </a:rPr>
              <a:t>Serializability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329184" y="2432304"/>
            <a:ext cx="7056120" cy="4102735"/>
          </a:xfrm>
          <a:custGeom>
            <a:avLst/>
            <a:gdLst/>
            <a:ahLst/>
            <a:cxnLst/>
            <a:rect l="l" t="t" r="r" b="b"/>
            <a:pathLst>
              <a:path w="7056120" h="4102734">
                <a:moveTo>
                  <a:pt x="7056120" y="0"/>
                </a:moveTo>
                <a:lnTo>
                  <a:pt x="0" y="0"/>
                </a:lnTo>
                <a:lnTo>
                  <a:pt x="0" y="4102608"/>
                </a:lnTo>
                <a:lnTo>
                  <a:pt x="7056120" y="4102608"/>
                </a:lnTo>
                <a:lnTo>
                  <a:pt x="705612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7534656" y="321563"/>
            <a:ext cx="4335780" cy="6215380"/>
          </a:xfrm>
          <a:custGeom>
            <a:avLst/>
            <a:gdLst/>
            <a:ahLst/>
            <a:cxnLst/>
            <a:rect l="l" t="t" r="r" b="b"/>
            <a:pathLst>
              <a:path w="4335780" h="6215380">
                <a:moveTo>
                  <a:pt x="4335780" y="0"/>
                </a:moveTo>
                <a:lnTo>
                  <a:pt x="0" y="0"/>
                </a:lnTo>
                <a:lnTo>
                  <a:pt x="0" y="6214872"/>
                </a:lnTo>
                <a:lnTo>
                  <a:pt x="4335780" y="6214872"/>
                </a:lnTo>
                <a:lnTo>
                  <a:pt x="4335780" y="0"/>
                </a:lnTo>
                <a:close/>
              </a:path>
            </a:pathLst>
          </a:custGeom>
          <a:solidFill>
            <a:srgbClr val="58585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959343" y="585343"/>
            <a:ext cx="3582670" cy="39744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241300" marR="179070" indent="-228600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pair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consecutive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database actions(reads,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writes)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in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conflict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their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order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would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change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result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at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least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transactions.</a:t>
            </a:r>
            <a:endParaRPr sz="2000">
              <a:latin typeface="Calibri"/>
              <a:cs typeface="Calibri"/>
            </a:endParaRPr>
          </a:p>
          <a:p>
            <a:pPr marL="241300" marR="243840" indent="-228600">
              <a:lnSpc>
                <a:spcPct val="80000"/>
              </a:lnSpc>
              <a:spcBef>
                <a:spcPts val="5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dirty="0" sz="20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schedule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two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consecutive</a:t>
            </a:r>
            <a:r>
              <a:rPr dirty="0" sz="20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instructions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0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Ij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from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transactions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0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Tj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respectively.</a:t>
            </a:r>
            <a:endParaRPr sz="2000">
              <a:latin typeface="Calibri"/>
              <a:cs typeface="Calibri"/>
            </a:endParaRPr>
          </a:p>
          <a:p>
            <a:pPr marL="241300" marR="5080" indent="-2286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Ij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items,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they</a:t>
            </a:r>
            <a:r>
              <a:rPr dirty="0" sz="20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will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not</a:t>
            </a:r>
            <a:r>
              <a:rPr dirty="0" sz="2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conflict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swapped.</a:t>
            </a:r>
            <a:endParaRPr sz="2000">
              <a:latin typeface="Calibri"/>
              <a:cs typeface="Calibri"/>
            </a:endParaRPr>
          </a:p>
          <a:p>
            <a:pPr marL="241300" marR="167005" indent="-228600">
              <a:lnSpc>
                <a:spcPct val="80000"/>
              </a:lnSpc>
              <a:spcBef>
                <a:spcPts val="6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If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Ii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Ij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access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same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  <a:r>
              <a:rPr dirty="0" sz="2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then</a:t>
            </a:r>
            <a:r>
              <a:rPr dirty="0" sz="2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FFFFFF"/>
                </a:solidFill>
                <a:latin typeface="Calibri"/>
                <a:cs typeface="Calibri"/>
              </a:rPr>
              <a:t>consider</a:t>
            </a:r>
            <a:r>
              <a:rPr dirty="0" sz="20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Calibri"/>
                <a:cs typeface="Calibri"/>
              </a:rPr>
              <a:t>following consequences: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566750" y="3189477"/>
          <a:ext cx="6656705" cy="2548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49120"/>
                <a:gridCol w="1602105"/>
                <a:gridCol w="1616710"/>
                <a:gridCol w="1511935"/>
              </a:tblGrid>
              <a:tr h="827405">
                <a:tc gridSpan="4">
                  <a:txBody>
                    <a:bodyPr/>
                    <a:lstStyle/>
                    <a:p>
                      <a:pPr marL="200533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2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Transaction</a:t>
                      </a:r>
                      <a:r>
                        <a:rPr dirty="0" sz="22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Tj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solidFill>
                      <a:srgbClr val="000000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3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796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Read(D)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Write(D)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13335">
                    <a:solidFill>
                      <a:srgbClr val="E7E7E7"/>
                    </a:solidFill>
                  </a:tcPr>
                </a:tc>
              </a:tr>
              <a:tr h="802005"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20" b="1">
                          <a:latin typeface="Calibri"/>
                          <a:cs typeface="Calibri"/>
                        </a:rPr>
                        <a:t>Transaction</a:t>
                      </a:r>
                      <a:r>
                        <a:rPr dirty="0" sz="2200" spc="-35" b="1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200" spc="-25" b="1">
                          <a:latin typeface="Calibri"/>
                          <a:cs typeface="Calibri"/>
                        </a:rPr>
                        <a:t>Ti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Read(D)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47498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25">
                          <a:latin typeface="Calibri"/>
                          <a:cs typeface="Calibri"/>
                        </a:rPr>
                        <a:t>No</a:t>
                      </a:r>
                      <a:endParaRPr sz="2200">
                        <a:latin typeface="Calibri"/>
                        <a:cs typeface="Calibri"/>
                      </a:endParaRPr>
                    </a:p>
                    <a:p>
                      <a:pPr marL="474980">
                        <a:lnSpc>
                          <a:spcPct val="100000"/>
                        </a:lnSpc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Conflict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Conflict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solidFill>
                      <a:srgbClr val="FFFFFF"/>
                    </a:solidFill>
                  </a:tcPr>
                </a:tc>
              </a:tr>
              <a:tr h="4660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15621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Write(D)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6733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Conflict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2355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2200" spc="-10">
                          <a:latin typeface="Calibri"/>
                          <a:cs typeface="Calibri"/>
                        </a:rPr>
                        <a:t>Conflict</a:t>
                      </a:r>
                      <a:endParaRPr sz="2200">
                        <a:latin typeface="Calibri"/>
                        <a:cs typeface="Calibri"/>
                      </a:endParaRPr>
                    </a:p>
                  </a:txBody>
                  <a:tcPr marL="0" marR="0" marB="0" marT="26034"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25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40385">
              <a:lnSpc>
                <a:spcPct val="90000"/>
              </a:lnSpc>
            </a:pP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Conflict Serializability contd..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717549"/>
            <a:ext cx="6848475" cy="491807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202565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Ii=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Read(D),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Ij=Read(D)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read </a:t>
            </a:r>
            <a:r>
              <a:rPr dirty="0" sz="2200" spc="-10">
                <a:latin typeface="Calibri"/>
                <a:cs typeface="Calibri"/>
              </a:rPr>
              <a:t>value.</a:t>
            </a:r>
            <a:endParaRPr sz="2200">
              <a:latin typeface="Calibri"/>
              <a:cs typeface="Calibri"/>
            </a:endParaRPr>
          </a:p>
          <a:p>
            <a:pPr marL="241300" marR="241935" indent="-228600">
              <a:lnSpc>
                <a:spcPts val="23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Ii=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Read(D),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Ij=Write(D)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 spc="-10">
                <a:latin typeface="Calibri"/>
                <a:cs typeface="Calibri"/>
              </a:rPr>
              <a:t>swapped.</a:t>
            </a:r>
            <a:endParaRPr sz="2200">
              <a:latin typeface="Calibri"/>
              <a:cs typeface="Calibri"/>
            </a:endParaRPr>
          </a:p>
          <a:p>
            <a:pPr marL="241300" marR="241935" indent="-228600">
              <a:lnSpc>
                <a:spcPts val="23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Ii=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Write(D),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Ij=Read(D)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 spc="-10">
                <a:latin typeface="Calibri"/>
                <a:cs typeface="Calibri"/>
              </a:rPr>
              <a:t>swapped.</a:t>
            </a:r>
            <a:endParaRPr sz="2200">
              <a:latin typeface="Calibri"/>
              <a:cs typeface="Calibri"/>
            </a:endParaRPr>
          </a:p>
          <a:p>
            <a:pPr marL="241300" marR="177165" indent="-228600">
              <a:lnSpc>
                <a:spcPts val="238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Ii=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Write(D),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Ij=Write(D)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cannot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 spc="-10">
                <a:latin typeface="Calibri"/>
                <a:cs typeface="Calibri"/>
              </a:rPr>
              <a:t>swapped.</a:t>
            </a:r>
            <a:endParaRPr sz="2200">
              <a:latin typeface="Calibri"/>
              <a:cs typeface="Calibri"/>
            </a:endParaRPr>
          </a:p>
          <a:p>
            <a:pPr algn="just" marL="241300" marR="5080" indent="-228600">
              <a:lnSpc>
                <a:spcPts val="238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So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both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consecutive </a:t>
            </a:r>
            <a:r>
              <a:rPr dirty="0" sz="2200">
                <a:latin typeface="Calibri"/>
                <a:cs typeface="Calibri"/>
              </a:rPr>
              <a:t>instructions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operation.</a:t>
            </a:r>
            <a:endParaRPr sz="2200">
              <a:latin typeface="Calibri"/>
              <a:cs typeface="Calibri"/>
            </a:endParaRPr>
          </a:p>
          <a:p>
            <a:pPr marL="241300" marR="11430" indent="-228600">
              <a:lnSpc>
                <a:spcPct val="90100"/>
              </a:lnSpc>
              <a:spcBef>
                <a:spcPts val="9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Ii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&amp;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Ij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consider </a:t>
            </a:r>
            <a:r>
              <a:rPr dirty="0" sz="2200">
                <a:latin typeface="Calibri"/>
                <a:cs typeface="Calibri"/>
              </a:rPr>
              <a:t>following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all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consequences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read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or </a:t>
            </a:r>
            <a:r>
              <a:rPr dirty="0" sz="2200">
                <a:latin typeface="Calibri"/>
                <a:cs typeface="Calibri"/>
              </a:rPr>
              <a:t>write</a:t>
            </a:r>
            <a:r>
              <a:rPr dirty="0" sz="2200" spc="-1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different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values.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25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40385">
              <a:lnSpc>
                <a:spcPct val="90000"/>
              </a:lnSpc>
            </a:pP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Conflict Serializability contd..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5B9BD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044696" y="448055"/>
            <a:ext cx="7688580" cy="5953125"/>
            <a:chOff x="4044696" y="448055"/>
            <a:chExt cx="7688580" cy="5953125"/>
          </a:xfrm>
        </p:grpSpPr>
        <p:sp>
          <p:nvSpPr>
            <p:cNvPr id="5" name="object 5" descr=""/>
            <p:cNvSpPr/>
            <p:nvPr/>
          </p:nvSpPr>
          <p:spPr>
            <a:xfrm>
              <a:off x="4044696" y="448055"/>
              <a:ext cx="7688580" cy="5953125"/>
            </a:xfrm>
            <a:custGeom>
              <a:avLst/>
              <a:gdLst/>
              <a:ahLst/>
              <a:cxnLst/>
              <a:rect l="l" t="t" r="r" b="b"/>
              <a:pathLst>
                <a:path w="7688580" h="5953125">
                  <a:moveTo>
                    <a:pt x="7688580" y="0"/>
                  </a:moveTo>
                  <a:lnTo>
                    <a:pt x="0" y="0"/>
                  </a:lnTo>
                  <a:lnTo>
                    <a:pt x="0" y="5952744"/>
                  </a:lnTo>
                  <a:lnTo>
                    <a:pt x="7688580" y="5952744"/>
                  </a:lnTo>
                  <a:lnTo>
                    <a:pt x="7688580" y="0"/>
                  </a:lnTo>
                  <a:close/>
                </a:path>
              </a:pathLst>
            </a:custGeom>
            <a:solidFill>
              <a:srgbClr val="7E7E7E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379976" y="690371"/>
              <a:ext cx="7038340" cy="4558665"/>
            </a:xfrm>
            <a:custGeom>
              <a:avLst/>
              <a:gdLst/>
              <a:ahLst/>
              <a:cxnLst/>
              <a:rect l="l" t="t" r="r" b="b"/>
              <a:pathLst>
                <a:path w="7038340" h="4558665">
                  <a:moveTo>
                    <a:pt x="0" y="0"/>
                  </a:moveTo>
                  <a:lnTo>
                    <a:pt x="7037832" y="0"/>
                  </a:lnTo>
                </a:path>
                <a:path w="7038340" h="4558665">
                  <a:moveTo>
                    <a:pt x="0" y="911351"/>
                  </a:moveTo>
                  <a:lnTo>
                    <a:pt x="7037832" y="911351"/>
                  </a:lnTo>
                </a:path>
                <a:path w="7038340" h="4558665">
                  <a:moveTo>
                    <a:pt x="0" y="1822703"/>
                  </a:moveTo>
                  <a:lnTo>
                    <a:pt x="7037832" y="1822703"/>
                  </a:lnTo>
                </a:path>
                <a:path w="7038340" h="4558665">
                  <a:moveTo>
                    <a:pt x="0" y="2734055"/>
                  </a:moveTo>
                  <a:lnTo>
                    <a:pt x="7037832" y="2734055"/>
                  </a:lnTo>
                </a:path>
                <a:path w="7038340" h="4558665">
                  <a:moveTo>
                    <a:pt x="0" y="3646931"/>
                  </a:moveTo>
                  <a:lnTo>
                    <a:pt x="7037832" y="3646931"/>
                  </a:lnTo>
                </a:path>
                <a:path w="7038340" h="4558665">
                  <a:moveTo>
                    <a:pt x="0" y="4558283"/>
                  </a:moveTo>
                  <a:lnTo>
                    <a:pt x="7037832" y="4558283"/>
                  </a:lnTo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4044696" y="448055"/>
            <a:ext cx="7688580" cy="5953125"/>
          </a:xfrm>
          <a:prstGeom prst="rect">
            <a:avLst/>
          </a:prstGeom>
        </p:spPr>
        <p:txBody>
          <a:bodyPr wrap="square" lIns="0" tIns="280035" rIns="0" bIns="0" rtlCol="0" vert="horz">
            <a:spAutoFit/>
          </a:bodyPr>
          <a:lstStyle/>
          <a:p>
            <a:pPr marL="422909">
              <a:lnSpc>
                <a:spcPts val="2645"/>
              </a:lnSpc>
              <a:spcBef>
                <a:spcPts val="2205"/>
              </a:spcBef>
            </a:pPr>
            <a:r>
              <a:rPr dirty="0" sz="2300">
                <a:latin typeface="Calibri"/>
                <a:cs typeface="Calibri"/>
              </a:rPr>
              <a:t>Ii=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Read(D)/Write(D),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Ij=</a:t>
            </a:r>
            <a:r>
              <a:rPr dirty="0" sz="2300" spc="-20">
                <a:latin typeface="Calibri"/>
                <a:cs typeface="Calibri"/>
              </a:rPr>
              <a:t> Read(P)/Write(P)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then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25">
                <a:latin typeface="Calibri"/>
                <a:cs typeface="Calibri"/>
              </a:rPr>
              <a:t>no</a:t>
            </a:r>
            <a:endParaRPr sz="2300">
              <a:latin typeface="Calibri"/>
              <a:cs typeface="Calibri"/>
            </a:endParaRPr>
          </a:p>
          <a:p>
            <a:pPr marL="422909">
              <a:lnSpc>
                <a:spcPts val="2645"/>
              </a:lnSpc>
            </a:pPr>
            <a:r>
              <a:rPr dirty="0" sz="2300">
                <a:latin typeface="Calibri"/>
                <a:cs typeface="Calibri"/>
              </a:rPr>
              <a:t>conflict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as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they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are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only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reading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or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writing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different</a:t>
            </a:r>
            <a:r>
              <a:rPr dirty="0" sz="2300" spc="-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data.</a:t>
            </a:r>
            <a:endParaRPr sz="2300">
              <a:latin typeface="Calibri"/>
              <a:cs typeface="Calibri"/>
            </a:endParaRPr>
          </a:p>
          <a:p>
            <a:pPr marL="422909">
              <a:lnSpc>
                <a:spcPct val="100000"/>
              </a:lnSpc>
              <a:spcBef>
                <a:spcPts val="1890"/>
              </a:spcBef>
            </a:pP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following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set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of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actions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is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conflicting: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300">
              <a:latin typeface="Calibri"/>
              <a:cs typeface="Calibri"/>
            </a:endParaRPr>
          </a:p>
          <a:p>
            <a:pPr marL="422909">
              <a:lnSpc>
                <a:spcPct val="100000"/>
              </a:lnSpc>
              <a:spcBef>
                <a:spcPts val="5"/>
              </a:spcBef>
            </a:pPr>
            <a:r>
              <a:rPr dirty="0" sz="2300">
                <a:latin typeface="Calibri"/>
                <a:cs typeface="Calibri"/>
              </a:rPr>
              <a:t>T1:R(X),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T2:W(X),</a:t>
            </a:r>
            <a:r>
              <a:rPr dirty="0" sz="2300" spc="-6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T3:W(X)</a:t>
            </a:r>
            <a:endParaRPr sz="2300">
              <a:latin typeface="Calibri"/>
              <a:cs typeface="Calibri"/>
            </a:endParaRPr>
          </a:p>
          <a:p>
            <a:pPr marL="422909" marR="2182495">
              <a:lnSpc>
                <a:spcPct val="260200"/>
              </a:lnSpc>
            </a:pPr>
            <a:r>
              <a:rPr dirty="0" sz="2300">
                <a:latin typeface="Calibri"/>
                <a:cs typeface="Calibri"/>
              </a:rPr>
              <a:t>While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following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sets</a:t>
            </a:r>
            <a:r>
              <a:rPr dirty="0" sz="2300" spc="-5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of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actions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are</a:t>
            </a:r>
            <a:r>
              <a:rPr dirty="0" sz="2300" spc="-40">
                <a:latin typeface="Calibri"/>
                <a:cs typeface="Calibri"/>
              </a:rPr>
              <a:t> </a:t>
            </a:r>
            <a:r>
              <a:rPr dirty="0" sz="2300" spc="-20">
                <a:latin typeface="Calibri"/>
                <a:cs typeface="Calibri"/>
              </a:rPr>
              <a:t>not: </a:t>
            </a:r>
            <a:r>
              <a:rPr dirty="0" sz="2300">
                <a:latin typeface="Calibri"/>
                <a:cs typeface="Calibri"/>
              </a:rPr>
              <a:t>T1:R(X),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T2:R(X),</a:t>
            </a:r>
            <a:r>
              <a:rPr dirty="0" sz="2300" spc="-5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T3:R(X)</a:t>
            </a:r>
            <a:endParaRPr sz="23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05"/>
              </a:spcBef>
            </a:pPr>
            <a:endParaRPr sz="2300">
              <a:latin typeface="Calibri"/>
              <a:cs typeface="Calibri"/>
            </a:endParaRPr>
          </a:p>
          <a:p>
            <a:pPr marL="422909">
              <a:lnSpc>
                <a:spcPct val="100000"/>
              </a:lnSpc>
              <a:spcBef>
                <a:spcPts val="5"/>
              </a:spcBef>
            </a:pPr>
            <a:r>
              <a:rPr dirty="0" sz="2300">
                <a:latin typeface="Calibri"/>
                <a:cs typeface="Calibri"/>
              </a:rPr>
              <a:t>T1:R(X),</a:t>
            </a:r>
            <a:r>
              <a:rPr dirty="0" sz="2300" spc="-30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T2:W(Y),</a:t>
            </a:r>
            <a:r>
              <a:rPr dirty="0" sz="2300" spc="-4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T3:R(X)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8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40385">
              <a:lnSpc>
                <a:spcPts val="3779"/>
              </a:lnSpc>
            </a:pPr>
            <a:r>
              <a:rPr dirty="0" sz="3500" spc="-20" b="1">
                <a:solidFill>
                  <a:srgbClr val="FFFFFF"/>
                </a:solidFill>
                <a:latin typeface="Calibri"/>
                <a:cs typeface="Calibri"/>
              </a:rPr>
              <a:t>View </a:t>
            </a: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Serializability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025397"/>
            <a:ext cx="6757034" cy="472376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40029" marR="13335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equivalence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less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strict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conflict 	equivalence,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like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conflict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equivalence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based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transactions.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Conditions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equivalence</a:t>
            </a:r>
            <a:endParaRPr sz="2400">
              <a:latin typeface="Calibri"/>
              <a:cs typeface="Calibri"/>
            </a:endParaRPr>
          </a:p>
          <a:p>
            <a:pPr lvl="1" marL="697230" marR="57150" indent="-227329">
              <a:lnSpc>
                <a:spcPts val="2590"/>
              </a:lnSpc>
              <a:spcBef>
                <a:spcPts val="53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400">
                <a:latin typeface="Calibri"/>
                <a:cs typeface="Calibri"/>
              </a:rPr>
              <a:t>Schedule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S1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S2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view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equivalent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they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satisfy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conditions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D.</a:t>
            </a:r>
            <a:endParaRPr sz="2400">
              <a:latin typeface="Calibri"/>
              <a:cs typeface="Calibri"/>
            </a:endParaRPr>
          </a:p>
          <a:p>
            <a:pPr lvl="2" marL="1154430" marR="91440" indent="-227965">
              <a:lnSpc>
                <a:spcPts val="2590"/>
              </a:lnSpc>
              <a:spcBef>
                <a:spcPts val="509"/>
              </a:spcBef>
              <a:buFont typeface="Arial MT"/>
              <a:buChar char="•"/>
              <a:tabLst>
                <a:tab pos="1155700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reads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initial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S1,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also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reads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initial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S2.</a:t>
            </a:r>
            <a:endParaRPr sz="2400">
              <a:latin typeface="Calibri"/>
              <a:cs typeface="Calibri"/>
            </a:endParaRPr>
          </a:p>
          <a:p>
            <a:pPr lvl="2" marL="1155700" marR="5080" indent="-229235">
              <a:lnSpc>
                <a:spcPts val="2590"/>
              </a:lnSpc>
              <a:spcBef>
                <a:spcPts val="505"/>
              </a:spcBef>
              <a:buChar char="•"/>
              <a:tabLst>
                <a:tab pos="1155700" algn="l"/>
                <a:tab pos="1224280" algn="l"/>
              </a:tabLst>
            </a:pPr>
            <a:r>
              <a:rPr dirty="0" sz="2400">
                <a:latin typeface="Arial MT"/>
                <a:cs typeface="Arial MT"/>
              </a:rPr>
              <a:t>	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written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Tj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S1,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then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written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Tj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S2.</a:t>
            </a:r>
            <a:endParaRPr sz="2400">
              <a:latin typeface="Calibri"/>
              <a:cs typeface="Calibri"/>
            </a:endParaRPr>
          </a:p>
          <a:p>
            <a:pPr lvl="2" marL="1155065" indent="-227965">
              <a:lnSpc>
                <a:spcPts val="2735"/>
              </a:lnSpc>
              <a:spcBef>
                <a:spcPts val="170"/>
              </a:spcBef>
              <a:buFont typeface="Arial MT"/>
              <a:buChar char="•"/>
              <a:tabLst>
                <a:tab pos="1155065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final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S1,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also</a:t>
            </a:r>
            <a:endParaRPr sz="2400">
              <a:latin typeface="Calibri"/>
              <a:cs typeface="Calibri"/>
            </a:endParaRPr>
          </a:p>
          <a:p>
            <a:pPr marL="11557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writes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final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S2.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3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90"/>
              </a:spcBef>
            </a:pPr>
            <a:endParaRPr sz="3500">
              <a:latin typeface="Times New Roman"/>
              <a:cs typeface="Times New Roman"/>
            </a:endParaRPr>
          </a:p>
          <a:p>
            <a:pPr marL="401955" marR="540385">
              <a:lnSpc>
                <a:spcPts val="3779"/>
              </a:lnSpc>
              <a:spcBef>
                <a:spcPts val="5"/>
              </a:spcBef>
            </a:pPr>
            <a:r>
              <a:rPr dirty="0" sz="3500" spc="-20" b="1">
                <a:solidFill>
                  <a:srgbClr val="FFFFFF"/>
                </a:solidFill>
                <a:latin typeface="Calibri"/>
                <a:cs typeface="Calibri"/>
              </a:rPr>
              <a:t>View </a:t>
            </a:r>
            <a:r>
              <a:rPr dirty="0" sz="3500" spc="-10" b="1">
                <a:solidFill>
                  <a:srgbClr val="FFFFFF"/>
                </a:solidFill>
                <a:latin typeface="Calibri"/>
                <a:cs typeface="Calibri"/>
              </a:rPr>
              <a:t>Serializability contd..</a:t>
            </a:r>
            <a:endParaRPr sz="35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778586"/>
            <a:ext cx="6645909" cy="521081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241300" marR="93980" indent="-228600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First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2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conditions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ensure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reads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both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schedules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Condition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3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ensures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final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consistent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marL="241300" marR="117475" indent="-228600">
              <a:lnSpc>
                <a:spcPct val="9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concurrent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schedule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view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equivalent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a </a:t>
            </a:r>
            <a:r>
              <a:rPr dirty="0" sz="2600">
                <a:latin typeface="Calibri"/>
                <a:cs typeface="Calibri"/>
              </a:rPr>
              <a:t>serial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schedule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transactions,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View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Serializable.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ts val="2810"/>
              </a:lnSpc>
              <a:spcBef>
                <a:spcPts val="104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Consider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following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Schedule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S1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concurrent </a:t>
            </a:r>
            <a:r>
              <a:rPr dirty="0" sz="2600">
                <a:latin typeface="Calibri"/>
                <a:cs typeface="Calibri"/>
              </a:rPr>
              <a:t>transactions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&lt;T1,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T3&gt;</a:t>
            </a:r>
            <a:endParaRPr sz="2600">
              <a:latin typeface="Calibri"/>
              <a:cs typeface="Calibri"/>
            </a:endParaRPr>
          </a:p>
          <a:p>
            <a:pPr marL="241300" marR="374015" indent="-228600">
              <a:lnSpc>
                <a:spcPts val="281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both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schedule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S1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serial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schedule </a:t>
            </a:r>
            <a:r>
              <a:rPr dirty="0" sz="2600">
                <a:latin typeface="Calibri"/>
                <a:cs typeface="Calibri"/>
              </a:rPr>
              <a:t>S2&lt;T1,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T3&gt;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reads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initial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D.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T3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writes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final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D.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So </a:t>
            </a:r>
            <a:r>
              <a:rPr dirty="0" sz="2600">
                <a:latin typeface="Calibri"/>
                <a:cs typeface="Calibri"/>
              </a:rPr>
              <a:t>schedule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S1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satisfies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three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conditions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and </a:t>
            </a:r>
            <a:r>
              <a:rPr dirty="0" sz="2600">
                <a:latin typeface="Calibri"/>
                <a:cs typeface="Calibri"/>
              </a:rPr>
              <a:t>view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serializable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&lt;T1,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T3&gt;.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4631" y="470916"/>
            <a:ext cx="4380230" cy="5892165"/>
          </a:xfrm>
          <a:custGeom>
            <a:avLst/>
            <a:gdLst/>
            <a:ahLst/>
            <a:cxnLst/>
            <a:rect l="l" t="t" r="r" b="b"/>
            <a:pathLst>
              <a:path w="4380230" h="5892165">
                <a:moveTo>
                  <a:pt x="4156709" y="0"/>
                </a:moveTo>
                <a:lnTo>
                  <a:pt x="0" y="0"/>
                </a:lnTo>
                <a:lnTo>
                  <a:pt x="0" y="5891784"/>
                </a:lnTo>
                <a:lnTo>
                  <a:pt x="4158106" y="5891784"/>
                </a:lnTo>
                <a:lnTo>
                  <a:pt x="4165473" y="5844146"/>
                </a:lnTo>
                <a:lnTo>
                  <a:pt x="4176776" y="5767870"/>
                </a:lnTo>
                <a:lnTo>
                  <a:pt x="4202938" y="5569331"/>
                </a:lnTo>
                <a:lnTo>
                  <a:pt x="4218051" y="5450078"/>
                </a:lnTo>
                <a:lnTo>
                  <a:pt x="4233799" y="5315686"/>
                </a:lnTo>
                <a:lnTo>
                  <a:pt x="4250690" y="5169204"/>
                </a:lnTo>
                <a:lnTo>
                  <a:pt x="4267454" y="5010023"/>
                </a:lnTo>
                <a:lnTo>
                  <a:pt x="4284472" y="4840478"/>
                </a:lnTo>
                <a:lnTo>
                  <a:pt x="4300347" y="4657725"/>
                </a:lnTo>
                <a:lnTo>
                  <a:pt x="4315587" y="4466463"/>
                </a:lnTo>
                <a:lnTo>
                  <a:pt x="4329303" y="4264279"/>
                </a:lnTo>
                <a:lnTo>
                  <a:pt x="4342510" y="4053586"/>
                </a:lnTo>
                <a:lnTo>
                  <a:pt x="4354830" y="3833876"/>
                </a:lnTo>
                <a:lnTo>
                  <a:pt x="4359275" y="3721227"/>
                </a:lnTo>
                <a:lnTo>
                  <a:pt x="4364101" y="3606165"/>
                </a:lnTo>
                <a:lnTo>
                  <a:pt x="4368673" y="3489452"/>
                </a:lnTo>
                <a:lnTo>
                  <a:pt x="4371721" y="3371977"/>
                </a:lnTo>
                <a:lnTo>
                  <a:pt x="4377182" y="3131058"/>
                </a:lnTo>
                <a:lnTo>
                  <a:pt x="4379087" y="3007614"/>
                </a:lnTo>
                <a:lnTo>
                  <a:pt x="4379087" y="2882900"/>
                </a:lnTo>
                <a:lnTo>
                  <a:pt x="4379976" y="2756916"/>
                </a:lnTo>
                <a:lnTo>
                  <a:pt x="4379087" y="2629789"/>
                </a:lnTo>
                <a:lnTo>
                  <a:pt x="4375404" y="2371979"/>
                </a:lnTo>
                <a:lnTo>
                  <a:pt x="4367783" y="2109216"/>
                </a:lnTo>
                <a:lnTo>
                  <a:pt x="4363212" y="1977263"/>
                </a:lnTo>
                <a:lnTo>
                  <a:pt x="4356734" y="1844039"/>
                </a:lnTo>
                <a:lnTo>
                  <a:pt x="4349115" y="1709674"/>
                </a:lnTo>
                <a:lnTo>
                  <a:pt x="4341749" y="1574673"/>
                </a:lnTo>
                <a:lnTo>
                  <a:pt x="4332351" y="1439799"/>
                </a:lnTo>
                <a:lnTo>
                  <a:pt x="4309745" y="1167892"/>
                </a:lnTo>
                <a:lnTo>
                  <a:pt x="4296664" y="1030478"/>
                </a:lnTo>
                <a:lnTo>
                  <a:pt x="4282440" y="892556"/>
                </a:lnTo>
                <a:lnTo>
                  <a:pt x="4267454" y="756285"/>
                </a:lnTo>
                <a:lnTo>
                  <a:pt x="4249801" y="618236"/>
                </a:lnTo>
                <a:lnTo>
                  <a:pt x="4212335" y="342900"/>
                </a:lnTo>
                <a:lnTo>
                  <a:pt x="4190619" y="205486"/>
                </a:lnTo>
                <a:lnTo>
                  <a:pt x="4168267" y="68707"/>
                </a:lnTo>
                <a:lnTo>
                  <a:pt x="415670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941933" y="2690622"/>
            <a:ext cx="2926715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10" b="1">
                <a:solidFill>
                  <a:srgbClr val="FFFFFF"/>
                </a:solidFill>
                <a:latin typeface="Calibri"/>
                <a:cs typeface="Calibri"/>
              </a:rPr>
              <a:t>Concurrency Control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193791" y="475487"/>
            <a:ext cx="6513830" cy="980440"/>
            <a:chOff x="5193791" y="475487"/>
            <a:chExt cx="6513830" cy="980440"/>
          </a:xfrm>
        </p:grpSpPr>
        <p:sp>
          <p:nvSpPr>
            <p:cNvPr id="5" name="object 5" descr=""/>
            <p:cNvSpPr/>
            <p:nvPr/>
          </p:nvSpPr>
          <p:spPr>
            <a:xfrm>
              <a:off x="5193791" y="475487"/>
              <a:ext cx="6513830" cy="980440"/>
            </a:xfrm>
            <a:custGeom>
              <a:avLst/>
              <a:gdLst/>
              <a:ahLst/>
              <a:cxnLst/>
              <a:rect l="l" t="t" r="r" b="b"/>
              <a:pathLst>
                <a:path w="6513830" h="980440">
                  <a:moveTo>
                    <a:pt x="6415532" y="0"/>
                  </a:moveTo>
                  <a:lnTo>
                    <a:pt x="98044" y="0"/>
                  </a:lnTo>
                  <a:lnTo>
                    <a:pt x="59846" y="7693"/>
                  </a:lnTo>
                  <a:lnTo>
                    <a:pt x="28686" y="28686"/>
                  </a:lnTo>
                  <a:lnTo>
                    <a:pt x="7693" y="59846"/>
                  </a:lnTo>
                  <a:lnTo>
                    <a:pt x="0" y="98044"/>
                  </a:lnTo>
                  <a:lnTo>
                    <a:pt x="0" y="881888"/>
                  </a:lnTo>
                  <a:lnTo>
                    <a:pt x="7693" y="920085"/>
                  </a:lnTo>
                  <a:lnTo>
                    <a:pt x="28686" y="951245"/>
                  </a:lnTo>
                  <a:lnTo>
                    <a:pt x="59846" y="972238"/>
                  </a:lnTo>
                  <a:lnTo>
                    <a:pt x="98044" y="979932"/>
                  </a:lnTo>
                  <a:lnTo>
                    <a:pt x="6415532" y="979932"/>
                  </a:lnTo>
                  <a:lnTo>
                    <a:pt x="6453729" y="972238"/>
                  </a:lnTo>
                  <a:lnTo>
                    <a:pt x="6484889" y="951245"/>
                  </a:lnTo>
                  <a:lnTo>
                    <a:pt x="6505882" y="920085"/>
                  </a:lnTo>
                  <a:lnTo>
                    <a:pt x="6513576" y="881888"/>
                  </a:lnTo>
                  <a:lnTo>
                    <a:pt x="6513576" y="98044"/>
                  </a:lnTo>
                  <a:lnTo>
                    <a:pt x="6505882" y="59846"/>
                  </a:lnTo>
                  <a:lnTo>
                    <a:pt x="6484889" y="28686"/>
                  </a:lnTo>
                  <a:lnTo>
                    <a:pt x="6453729" y="7693"/>
                  </a:lnTo>
                  <a:lnTo>
                    <a:pt x="641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605703" y="755852"/>
              <a:ext cx="310515" cy="421640"/>
            </a:xfrm>
            <a:custGeom>
              <a:avLst/>
              <a:gdLst/>
              <a:ahLst/>
              <a:cxnLst/>
              <a:rect l="l" t="t" r="r" b="b"/>
              <a:pathLst>
                <a:path w="310514" h="421640">
                  <a:moveTo>
                    <a:pt x="310273" y="288264"/>
                  </a:moveTo>
                  <a:lnTo>
                    <a:pt x="298030" y="305485"/>
                  </a:lnTo>
                  <a:lnTo>
                    <a:pt x="277025" y="314375"/>
                  </a:lnTo>
                  <a:lnTo>
                    <a:pt x="277025" y="359219"/>
                  </a:lnTo>
                  <a:lnTo>
                    <a:pt x="277025" y="372529"/>
                  </a:lnTo>
                  <a:lnTo>
                    <a:pt x="272592" y="376961"/>
                  </a:lnTo>
                  <a:lnTo>
                    <a:pt x="259295" y="376961"/>
                  </a:lnTo>
                  <a:lnTo>
                    <a:pt x="254863" y="372529"/>
                  </a:lnTo>
                  <a:lnTo>
                    <a:pt x="254863" y="359219"/>
                  </a:lnTo>
                  <a:lnTo>
                    <a:pt x="259295" y="354787"/>
                  </a:lnTo>
                  <a:lnTo>
                    <a:pt x="272592" y="354787"/>
                  </a:lnTo>
                  <a:lnTo>
                    <a:pt x="277025" y="359219"/>
                  </a:lnTo>
                  <a:lnTo>
                    <a:pt x="277025" y="314375"/>
                  </a:lnTo>
                  <a:lnTo>
                    <a:pt x="264693" y="319582"/>
                  </a:lnTo>
                  <a:lnTo>
                    <a:pt x="215366" y="329107"/>
                  </a:lnTo>
                  <a:lnTo>
                    <a:pt x="155130" y="332613"/>
                  </a:lnTo>
                  <a:lnTo>
                    <a:pt x="94894" y="329107"/>
                  </a:lnTo>
                  <a:lnTo>
                    <a:pt x="45567" y="319582"/>
                  </a:lnTo>
                  <a:lnTo>
                    <a:pt x="12242" y="305485"/>
                  </a:lnTo>
                  <a:lnTo>
                    <a:pt x="0" y="288264"/>
                  </a:lnTo>
                  <a:lnTo>
                    <a:pt x="0" y="376961"/>
                  </a:lnTo>
                  <a:lnTo>
                    <a:pt x="12242" y="394182"/>
                  </a:lnTo>
                  <a:lnTo>
                    <a:pt x="45567" y="408279"/>
                  </a:lnTo>
                  <a:lnTo>
                    <a:pt x="94894" y="417804"/>
                  </a:lnTo>
                  <a:lnTo>
                    <a:pt x="155130" y="421309"/>
                  </a:lnTo>
                  <a:lnTo>
                    <a:pt x="215366" y="417804"/>
                  </a:lnTo>
                  <a:lnTo>
                    <a:pt x="264693" y="408279"/>
                  </a:lnTo>
                  <a:lnTo>
                    <a:pt x="298030" y="394182"/>
                  </a:lnTo>
                  <a:lnTo>
                    <a:pt x="310273" y="376961"/>
                  </a:lnTo>
                  <a:lnTo>
                    <a:pt x="310273" y="354787"/>
                  </a:lnTo>
                  <a:lnTo>
                    <a:pt x="310273" y="332613"/>
                  </a:lnTo>
                  <a:lnTo>
                    <a:pt x="310273" y="288264"/>
                  </a:lnTo>
                  <a:close/>
                </a:path>
                <a:path w="310514" h="421640">
                  <a:moveTo>
                    <a:pt x="310273" y="177393"/>
                  </a:moveTo>
                  <a:lnTo>
                    <a:pt x="298030" y="194614"/>
                  </a:lnTo>
                  <a:lnTo>
                    <a:pt x="277025" y="203504"/>
                  </a:lnTo>
                  <a:lnTo>
                    <a:pt x="277025" y="248348"/>
                  </a:lnTo>
                  <a:lnTo>
                    <a:pt x="277025" y="261658"/>
                  </a:lnTo>
                  <a:lnTo>
                    <a:pt x="272592" y="266090"/>
                  </a:lnTo>
                  <a:lnTo>
                    <a:pt x="259295" y="266090"/>
                  </a:lnTo>
                  <a:lnTo>
                    <a:pt x="254863" y="261658"/>
                  </a:lnTo>
                  <a:lnTo>
                    <a:pt x="254863" y="248348"/>
                  </a:lnTo>
                  <a:lnTo>
                    <a:pt x="259295" y="243916"/>
                  </a:lnTo>
                  <a:lnTo>
                    <a:pt x="272592" y="243916"/>
                  </a:lnTo>
                  <a:lnTo>
                    <a:pt x="277025" y="248348"/>
                  </a:lnTo>
                  <a:lnTo>
                    <a:pt x="277025" y="203504"/>
                  </a:lnTo>
                  <a:lnTo>
                    <a:pt x="264693" y="208711"/>
                  </a:lnTo>
                  <a:lnTo>
                    <a:pt x="215366" y="218236"/>
                  </a:lnTo>
                  <a:lnTo>
                    <a:pt x="155130" y="221742"/>
                  </a:lnTo>
                  <a:lnTo>
                    <a:pt x="94894" y="218236"/>
                  </a:lnTo>
                  <a:lnTo>
                    <a:pt x="45567" y="208711"/>
                  </a:lnTo>
                  <a:lnTo>
                    <a:pt x="12242" y="194614"/>
                  </a:lnTo>
                  <a:lnTo>
                    <a:pt x="0" y="177393"/>
                  </a:lnTo>
                  <a:lnTo>
                    <a:pt x="0" y="266090"/>
                  </a:lnTo>
                  <a:lnTo>
                    <a:pt x="12242" y="283311"/>
                  </a:lnTo>
                  <a:lnTo>
                    <a:pt x="45567" y="297408"/>
                  </a:lnTo>
                  <a:lnTo>
                    <a:pt x="94894" y="306933"/>
                  </a:lnTo>
                  <a:lnTo>
                    <a:pt x="155130" y="310438"/>
                  </a:lnTo>
                  <a:lnTo>
                    <a:pt x="215366" y="306933"/>
                  </a:lnTo>
                  <a:lnTo>
                    <a:pt x="264693" y="297408"/>
                  </a:lnTo>
                  <a:lnTo>
                    <a:pt x="298030" y="283311"/>
                  </a:lnTo>
                  <a:lnTo>
                    <a:pt x="310273" y="266090"/>
                  </a:lnTo>
                  <a:lnTo>
                    <a:pt x="310273" y="243916"/>
                  </a:lnTo>
                  <a:lnTo>
                    <a:pt x="310273" y="221742"/>
                  </a:lnTo>
                  <a:lnTo>
                    <a:pt x="310273" y="177393"/>
                  </a:lnTo>
                  <a:close/>
                </a:path>
                <a:path w="310514" h="421640">
                  <a:moveTo>
                    <a:pt x="310273" y="66522"/>
                  </a:moveTo>
                  <a:lnTo>
                    <a:pt x="298030" y="83743"/>
                  </a:lnTo>
                  <a:lnTo>
                    <a:pt x="277025" y="92633"/>
                  </a:lnTo>
                  <a:lnTo>
                    <a:pt x="277025" y="137477"/>
                  </a:lnTo>
                  <a:lnTo>
                    <a:pt x="277025" y="150787"/>
                  </a:lnTo>
                  <a:lnTo>
                    <a:pt x="272592" y="155219"/>
                  </a:lnTo>
                  <a:lnTo>
                    <a:pt x="259295" y="155219"/>
                  </a:lnTo>
                  <a:lnTo>
                    <a:pt x="254863" y="150787"/>
                  </a:lnTo>
                  <a:lnTo>
                    <a:pt x="254863" y="137477"/>
                  </a:lnTo>
                  <a:lnTo>
                    <a:pt x="259295" y="133045"/>
                  </a:lnTo>
                  <a:lnTo>
                    <a:pt x="272592" y="133045"/>
                  </a:lnTo>
                  <a:lnTo>
                    <a:pt x="277025" y="137477"/>
                  </a:lnTo>
                  <a:lnTo>
                    <a:pt x="277025" y="92633"/>
                  </a:lnTo>
                  <a:lnTo>
                    <a:pt x="264693" y="97840"/>
                  </a:lnTo>
                  <a:lnTo>
                    <a:pt x="215366" y="107365"/>
                  </a:lnTo>
                  <a:lnTo>
                    <a:pt x="155130" y="110871"/>
                  </a:lnTo>
                  <a:lnTo>
                    <a:pt x="94894" y="107365"/>
                  </a:lnTo>
                  <a:lnTo>
                    <a:pt x="45567" y="97840"/>
                  </a:lnTo>
                  <a:lnTo>
                    <a:pt x="12242" y="83743"/>
                  </a:lnTo>
                  <a:lnTo>
                    <a:pt x="0" y="66522"/>
                  </a:lnTo>
                  <a:lnTo>
                    <a:pt x="0" y="155219"/>
                  </a:lnTo>
                  <a:lnTo>
                    <a:pt x="12242" y="172440"/>
                  </a:lnTo>
                  <a:lnTo>
                    <a:pt x="45567" y="186537"/>
                  </a:lnTo>
                  <a:lnTo>
                    <a:pt x="94894" y="196062"/>
                  </a:lnTo>
                  <a:lnTo>
                    <a:pt x="155130" y="199567"/>
                  </a:lnTo>
                  <a:lnTo>
                    <a:pt x="215366" y="196062"/>
                  </a:lnTo>
                  <a:lnTo>
                    <a:pt x="264693" y="186537"/>
                  </a:lnTo>
                  <a:lnTo>
                    <a:pt x="298030" y="172440"/>
                  </a:lnTo>
                  <a:lnTo>
                    <a:pt x="310273" y="155219"/>
                  </a:lnTo>
                  <a:lnTo>
                    <a:pt x="310273" y="133045"/>
                  </a:lnTo>
                  <a:lnTo>
                    <a:pt x="310273" y="110871"/>
                  </a:lnTo>
                  <a:lnTo>
                    <a:pt x="310273" y="66522"/>
                  </a:lnTo>
                  <a:close/>
                </a:path>
                <a:path w="310514" h="421640">
                  <a:moveTo>
                    <a:pt x="310273" y="44348"/>
                  </a:moveTo>
                  <a:lnTo>
                    <a:pt x="298081" y="27076"/>
                  </a:lnTo>
                  <a:lnTo>
                    <a:pt x="264833" y="12992"/>
                  </a:lnTo>
                  <a:lnTo>
                    <a:pt x="215519" y="3479"/>
                  </a:lnTo>
                  <a:lnTo>
                    <a:pt x="155130" y="0"/>
                  </a:lnTo>
                  <a:lnTo>
                    <a:pt x="94742" y="3479"/>
                  </a:lnTo>
                  <a:lnTo>
                    <a:pt x="45440" y="12992"/>
                  </a:lnTo>
                  <a:lnTo>
                    <a:pt x="12192" y="27076"/>
                  </a:lnTo>
                  <a:lnTo>
                    <a:pt x="0" y="44348"/>
                  </a:lnTo>
                  <a:lnTo>
                    <a:pt x="12192" y="61607"/>
                  </a:lnTo>
                  <a:lnTo>
                    <a:pt x="45440" y="75704"/>
                  </a:lnTo>
                  <a:lnTo>
                    <a:pt x="94742" y="85204"/>
                  </a:lnTo>
                  <a:lnTo>
                    <a:pt x="155130" y="88696"/>
                  </a:lnTo>
                  <a:lnTo>
                    <a:pt x="215519" y="85204"/>
                  </a:lnTo>
                  <a:lnTo>
                    <a:pt x="264833" y="75704"/>
                  </a:lnTo>
                  <a:lnTo>
                    <a:pt x="298081" y="61607"/>
                  </a:lnTo>
                  <a:lnTo>
                    <a:pt x="310273" y="44348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417309" y="617982"/>
            <a:ext cx="5099685" cy="67373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only</a:t>
            </a:r>
            <a:r>
              <a:rPr dirty="0" sz="1400" spc="25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any </a:t>
            </a:r>
            <a:r>
              <a:rPr dirty="0" sz="1400">
                <a:latin typeface="Calibri"/>
                <a:cs typeface="Calibri"/>
              </a:rPr>
              <a:t>times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multiuse,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this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means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DBMS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have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concern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how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changes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made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will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affect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users.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5193791" y="1699260"/>
            <a:ext cx="6513830" cy="980440"/>
            <a:chOff x="5193791" y="1699260"/>
            <a:chExt cx="6513830" cy="980440"/>
          </a:xfrm>
        </p:grpSpPr>
        <p:sp>
          <p:nvSpPr>
            <p:cNvPr id="9" name="object 9" descr=""/>
            <p:cNvSpPr/>
            <p:nvPr/>
          </p:nvSpPr>
          <p:spPr>
            <a:xfrm>
              <a:off x="5193791" y="1699260"/>
              <a:ext cx="6513830" cy="980440"/>
            </a:xfrm>
            <a:custGeom>
              <a:avLst/>
              <a:gdLst/>
              <a:ahLst/>
              <a:cxnLst/>
              <a:rect l="l" t="t" r="r" b="b"/>
              <a:pathLst>
                <a:path w="6513830" h="980439">
                  <a:moveTo>
                    <a:pt x="6415532" y="0"/>
                  </a:moveTo>
                  <a:lnTo>
                    <a:pt x="98044" y="0"/>
                  </a:lnTo>
                  <a:lnTo>
                    <a:pt x="59846" y="7693"/>
                  </a:lnTo>
                  <a:lnTo>
                    <a:pt x="28686" y="28686"/>
                  </a:lnTo>
                  <a:lnTo>
                    <a:pt x="7693" y="59846"/>
                  </a:lnTo>
                  <a:lnTo>
                    <a:pt x="0" y="98043"/>
                  </a:lnTo>
                  <a:lnTo>
                    <a:pt x="0" y="881888"/>
                  </a:lnTo>
                  <a:lnTo>
                    <a:pt x="7693" y="920085"/>
                  </a:lnTo>
                  <a:lnTo>
                    <a:pt x="28686" y="951245"/>
                  </a:lnTo>
                  <a:lnTo>
                    <a:pt x="59846" y="972238"/>
                  </a:lnTo>
                  <a:lnTo>
                    <a:pt x="98044" y="979931"/>
                  </a:lnTo>
                  <a:lnTo>
                    <a:pt x="6415532" y="979931"/>
                  </a:lnTo>
                  <a:lnTo>
                    <a:pt x="6453729" y="972238"/>
                  </a:lnTo>
                  <a:lnTo>
                    <a:pt x="6484889" y="951245"/>
                  </a:lnTo>
                  <a:lnTo>
                    <a:pt x="6505882" y="920085"/>
                  </a:lnTo>
                  <a:lnTo>
                    <a:pt x="6513576" y="881888"/>
                  </a:lnTo>
                  <a:lnTo>
                    <a:pt x="6513576" y="98043"/>
                  </a:lnTo>
                  <a:lnTo>
                    <a:pt x="6505882" y="59846"/>
                  </a:lnTo>
                  <a:lnTo>
                    <a:pt x="6484889" y="28686"/>
                  </a:lnTo>
                  <a:lnTo>
                    <a:pt x="6453729" y="7693"/>
                  </a:lnTo>
                  <a:lnTo>
                    <a:pt x="641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666653" y="2012876"/>
              <a:ext cx="188595" cy="78105"/>
            </a:xfrm>
            <a:custGeom>
              <a:avLst/>
              <a:gdLst/>
              <a:ahLst/>
              <a:cxnLst/>
              <a:rect l="l" t="t" r="r" b="b"/>
              <a:pathLst>
                <a:path w="188595" h="78105">
                  <a:moveTo>
                    <a:pt x="188378" y="0"/>
                  </a:moveTo>
                  <a:lnTo>
                    <a:pt x="0" y="0"/>
                  </a:lnTo>
                  <a:lnTo>
                    <a:pt x="0" y="77610"/>
                  </a:lnTo>
                  <a:lnTo>
                    <a:pt x="188378" y="77610"/>
                  </a:lnTo>
                  <a:lnTo>
                    <a:pt x="18837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61382" y="2306687"/>
              <a:ext cx="66486" cy="66523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27599" y="2306687"/>
              <a:ext cx="66486" cy="66523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93815" y="2306687"/>
              <a:ext cx="66486" cy="66523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5583545" y="2112661"/>
              <a:ext cx="354965" cy="177800"/>
            </a:xfrm>
            <a:custGeom>
              <a:avLst/>
              <a:gdLst/>
              <a:ahLst/>
              <a:cxnLst/>
              <a:rect l="l" t="t" r="r" b="b"/>
              <a:pathLst>
                <a:path w="354964" h="177800">
                  <a:moveTo>
                    <a:pt x="188378" y="0"/>
                  </a:moveTo>
                  <a:lnTo>
                    <a:pt x="166216" y="0"/>
                  </a:lnTo>
                  <a:lnTo>
                    <a:pt x="166216" y="52664"/>
                  </a:lnTo>
                  <a:lnTo>
                    <a:pt x="141283" y="77610"/>
                  </a:lnTo>
                  <a:lnTo>
                    <a:pt x="0" y="77610"/>
                  </a:lnTo>
                  <a:lnTo>
                    <a:pt x="0" y="177394"/>
                  </a:lnTo>
                  <a:lnTo>
                    <a:pt x="22162" y="177394"/>
                  </a:lnTo>
                  <a:lnTo>
                    <a:pt x="22162" y="99784"/>
                  </a:lnTo>
                  <a:lnTo>
                    <a:pt x="160675" y="99784"/>
                  </a:lnTo>
                  <a:lnTo>
                    <a:pt x="149594" y="88697"/>
                  </a:lnTo>
                  <a:lnTo>
                    <a:pt x="177297" y="60979"/>
                  </a:lnTo>
                  <a:lnTo>
                    <a:pt x="196689" y="60979"/>
                  </a:lnTo>
                  <a:lnTo>
                    <a:pt x="188378" y="52664"/>
                  </a:lnTo>
                  <a:lnTo>
                    <a:pt x="188378" y="0"/>
                  </a:lnTo>
                  <a:close/>
                </a:path>
                <a:path w="354964" h="177800">
                  <a:moveTo>
                    <a:pt x="160675" y="99784"/>
                  </a:moveTo>
                  <a:lnTo>
                    <a:pt x="141283" y="99784"/>
                  </a:lnTo>
                  <a:lnTo>
                    <a:pt x="166216" y="124730"/>
                  </a:lnTo>
                  <a:lnTo>
                    <a:pt x="166216" y="177394"/>
                  </a:lnTo>
                  <a:lnTo>
                    <a:pt x="188378" y="177394"/>
                  </a:lnTo>
                  <a:lnTo>
                    <a:pt x="188378" y="124730"/>
                  </a:lnTo>
                  <a:lnTo>
                    <a:pt x="196689" y="116415"/>
                  </a:lnTo>
                  <a:lnTo>
                    <a:pt x="177297" y="116415"/>
                  </a:lnTo>
                  <a:lnTo>
                    <a:pt x="160675" y="99784"/>
                  </a:lnTo>
                  <a:close/>
                </a:path>
                <a:path w="354964" h="177800">
                  <a:moveTo>
                    <a:pt x="354594" y="99784"/>
                  </a:moveTo>
                  <a:lnTo>
                    <a:pt x="332432" y="99784"/>
                  </a:lnTo>
                  <a:lnTo>
                    <a:pt x="332432" y="177394"/>
                  </a:lnTo>
                  <a:lnTo>
                    <a:pt x="354594" y="177394"/>
                  </a:lnTo>
                  <a:lnTo>
                    <a:pt x="354594" y="99784"/>
                  </a:lnTo>
                  <a:close/>
                </a:path>
                <a:path w="354964" h="177800">
                  <a:moveTo>
                    <a:pt x="196689" y="60979"/>
                  </a:moveTo>
                  <a:lnTo>
                    <a:pt x="177297" y="60979"/>
                  </a:lnTo>
                  <a:lnTo>
                    <a:pt x="205000" y="88697"/>
                  </a:lnTo>
                  <a:lnTo>
                    <a:pt x="177297" y="116415"/>
                  </a:lnTo>
                  <a:lnTo>
                    <a:pt x="196689" y="116415"/>
                  </a:lnTo>
                  <a:lnTo>
                    <a:pt x="213310" y="99784"/>
                  </a:lnTo>
                  <a:lnTo>
                    <a:pt x="354594" y="99784"/>
                  </a:lnTo>
                  <a:lnTo>
                    <a:pt x="354594" y="77610"/>
                  </a:lnTo>
                  <a:lnTo>
                    <a:pt x="213310" y="77610"/>
                  </a:lnTo>
                  <a:lnTo>
                    <a:pt x="196689" y="60979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6417309" y="1842262"/>
            <a:ext cx="5038725" cy="674370"/>
          </a:xfrm>
          <a:prstGeom prst="rect"/>
        </p:spPr>
        <p:txBody>
          <a:bodyPr wrap="square" lIns="0" tIns="8890" rIns="0" bIns="0" rtlCol="0" vert="horz">
            <a:spAutoFit/>
          </a:bodyPr>
          <a:lstStyle/>
          <a:p>
            <a:pPr algn="just" marL="12700" marR="5080">
              <a:lnSpc>
                <a:spcPct val="101899"/>
              </a:lnSpc>
              <a:spcBef>
                <a:spcPts val="70"/>
              </a:spcBef>
            </a:pPr>
            <a:r>
              <a:rPr dirty="0" sz="1400" b="0">
                <a:latin typeface="Calibri"/>
                <a:cs typeface="Calibri"/>
              </a:rPr>
              <a:t>In</a:t>
            </a:r>
            <a:r>
              <a:rPr dirty="0" sz="1400" spc="-3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a</a:t>
            </a:r>
            <a:r>
              <a:rPr dirty="0" sz="1400" spc="-35" b="0">
                <a:latin typeface="Calibri"/>
                <a:cs typeface="Calibri"/>
              </a:rPr>
              <a:t> </a:t>
            </a:r>
            <a:r>
              <a:rPr dirty="0" sz="1400" spc="-10" b="0">
                <a:latin typeface="Calibri"/>
                <a:cs typeface="Calibri"/>
              </a:rPr>
              <a:t>multi-</a:t>
            </a:r>
            <a:r>
              <a:rPr dirty="0" sz="1400" b="0">
                <a:latin typeface="Calibri"/>
                <a:cs typeface="Calibri"/>
              </a:rPr>
              <a:t>user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spc="-10" b="0">
                <a:latin typeface="Calibri"/>
                <a:cs typeface="Calibri"/>
              </a:rPr>
              <a:t>database</a:t>
            </a:r>
            <a:r>
              <a:rPr dirty="0" sz="1400" spc="-4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many</a:t>
            </a:r>
            <a:r>
              <a:rPr dirty="0" sz="1400" spc="-3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users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may</a:t>
            </a:r>
            <a:r>
              <a:rPr dirty="0" sz="1400" spc="-4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be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accessing</a:t>
            </a:r>
            <a:r>
              <a:rPr dirty="0" sz="1400" spc="-4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the</a:t>
            </a:r>
            <a:r>
              <a:rPr dirty="0" sz="1400" spc="-3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data</a:t>
            </a:r>
            <a:r>
              <a:rPr dirty="0" sz="1400" spc="-3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at</a:t>
            </a:r>
            <a:r>
              <a:rPr dirty="0" sz="1400" spc="-40" b="0">
                <a:latin typeface="Calibri"/>
                <a:cs typeface="Calibri"/>
              </a:rPr>
              <a:t> </a:t>
            </a:r>
            <a:r>
              <a:rPr dirty="0" sz="1400" spc="-25" b="0">
                <a:latin typeface="Calibri"/>
                <a:cs typeface="Calibri"/>
              </a:rPr>
              <a:t>the </a:t>
            </a:r>
            <a:r>
              <a:rPr dirty="0" sz="1400" b="0">
                <a:latin typeface="Calibri"/>
                <a:cs typeface="Calibri"/>
              </a:rPr>
              <a:t>same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time.</a:t>
            </a:r>
            <a:r>
              <a:rPr dirty="0" sz="1400" spc="-2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The</a:t>
            </a:r>
            <a:r>
              <a:rPr dirty="0" sz="1400" spc="-15" b="0">
                <a:latin typeface="Calibri"/>
                <a:cs typeface="Calibri"/>
              </a:rPr>
              <a:t> </a:t>
            </a:r>
            <a:r>
              <a:rPr dirty="0" sz="1400" spc="-10" b="0">
                <a:latin typeface="Calibri"/>
                <a:cs typeface="Calibri"/>
              </a:rPr>
              <a:t>operations</a:t>
            </a:r>
            <a:r>
              <a:rPr dirty="0" sz="1400" spc="-4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of</a:t>
            </a:r>
            <a:r>
              <a:rPr dirty="0" sz="1400" spc="-2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one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user</a:t>
            </a:r>
            <a:r>
              <a:rPr dirty="0" sz="1400" spc="-2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may</a:t>
            </a:r>
            <a:r>
              <a:rPr dirty="0" sz="1400" spc="-25" b="0">
                <a:latin typeface="Calibri"/>
                <a:cs typeface="Calibri"/>
              </a:rPr>
              <a:t> </a:t>
            </a:r>
            <a:r>
              <a:rPr dirty="0" sz="1400" spc="-20" b="0">
                <a:latin typeface="Calibri"/>
                <a:cs typeface="Calibri"/>
              </a:rPr>
              <a:t>interfere</a:t>
            </a:r>
            <a:r>
              <a:rPr dirty="0" sz="1400" spc="-25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with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other</a:t>
            </a:r>
            <a:r>
              <a:rPr dirty="0" sz="1400" spc="-20" b="0">
                <a:latin typeface="Calibri"/>
                <a:cs typeface="Calibri"/>
              </a:rPr>
              <a:t> </a:t>
            </a:r>
            <a:r>
              <a:rPr dirty="0" sz="1400" spc="-10" b="0">
                <a:latin typeface="Calibri"/>
                <a:cs typeface="Calibri"/>
              </a:rPr>
              <a:t>users </a:t>
            </a:r>
            <a:r>
              <a:rPr dirty="0" sz="1400" b="0">
                <a:latin typeface="Calibri"/>
                <a:cs typeface="Calibri"/>
              </a:rPr>
              <a:t>of</a:t>
            </a:r>
            <a:r>
              <a:rPr dirty="0" sz="1400" spc="-30" b="0">
                <a:latin typeface="Calibri"/>
                <a:cs typeface="Calibri"/>
              </a:rPr>
              <a:t> </a:t>
            </a:r>
            <a:r>
              <a:rPr dirty="0" sz="1400" b="0">
                <a:latin typeface="Calibri"/>
                <a:cs typeface="Calibri"/>
              </a:rPr>
              <a:t>the</a:t>
            </a:r>
            <a:r>
              <a:rPr dirty="0" sz="1400" spc="-20" b="0">
                <a:latin typeface="Calibri"/>
                <a:cs typeface="Calibri"/>
              </a:rPr>
              <a:t> </a:t>
            </a:r>
            <a:r>
              <a:rPr dirty="0" sz="1400" spc="-10" b="0">
                <a:latin typeface="Calibri"/>
                <a:cs typeface="Calibri"/>
              </a:rPr>
              <a:t>database.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5193791" y="2924555"/>
            <a:ext cx="6513830" cy="978535"/>
            <a:chOff x="5193791" y="2924555"/>
            <a:chExt cx="6513830" cy="978535"/>
          </a:xfrm>
        </p:grpSpPr>
        <p:sp>
          <p:nvSpPr>
            <p:cNvPr id="17" name="object 17" descr=""/>
            <p:cNvSpPr/>
            <p:nvPr/>
          </p:nvSpPr>
          <p:spPr>
            <a:xfrm>
              <a:off x="5193791" y="2924555"/>
              <a:ext cx="6513830" cy="978535"/>
            </a:xfrm>
            <a:custGeom>
              <a:avLst/>
              <a:gdLst/>
              <a:ahLst/>
              <a:cxnLst/>
              <a:rect l="l" t="t" r="r" b="b"/>
              <a:pathLst>
                <a:path w="6513830" h="978535">
                  <a:moveTo>
                    <a:pt x="6415786" y="0"/>
                  </a:moveTo>
                  <a:lnTo>
                    <a:pt x="97790" y="0"/>
                  </a:lnTo>
                  <a:lnTo>
                    <a:pt x="59739" y="7689"/>
                  </a:lnTo>
                  <a:lnTo>
                    <a:pt x="28654" y="28654"/>
                  </a:lnTo>
                  <a:lnTo>
                    <a:pt x="7689" y="59739"/>
                  </a:lnTo>
                  <a:lnTo>
                    <a:pt x="0" y="97790"/>
                  </a:lnTo>
                  <a:lnTo>
                    <a:pt x="0" y="880618"/>
                  </a:lnTo>
                  <a:lnTo>
                    <a:pt x="7689" y="918668"/>
                  </a:lnTo>
                  <a:lnTo>
                    <a:pt x="28654" y="949753"/>
                  </a:lnTo>
                  <a:lnTo>
                    <a:pt x="59739" y="970718"/>
                  </a:lnTo>
                  <a:lnTo>
                    <a:pt x="97790" y="978408"/>
                  </a:lnTo>
                  <a:lnTo>
                    <a:pt x="6415786" y="978408"/>
                  </a:lnTo>
                  <a:lnTo>
                    <a:pt x="6453836" y="970718"/>
                  </a:lnTo>
                  <a:lnTo>
                    <a:pt x="6484921" y="949753"/>
                  </a:lnTo>
                  <a:lnTo>
                    <a:pt x="6505886" y="918668"/>
                  </a:lnTo>
                  <a:lnTo>
                    <a:pt x="6513576" y="880618"/>
                  </a:lnTo>
                  <a:lnTo>
                    <a:pt x="6513576" y="97790"/>
                  </a:lnTo>
                  <a:lnTo>
                    <a:pt x="6505886" y="59739"/>
                  </a:lnTo>
                  <a:lnTo>
                    <a:pt x="6484921" y="28654"/>
                  </a:lnTo>
                  <a:lnTo>
                    <a:pt x="6453836" y="7689"/>
                  </a:lnTo>
                  <a:lnTo>
                    <a:pt x="6415786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505970" y="3259150"/>
              <a:ext cx="509905" cy="311785"/>
            </a:xfrm>
            <a:custGeom>
              <a:avLst/>
              <a:gdLst/>
              <a:ahLst/>
              <a:cxnLst/>
              <a:rect l="l" t="t" r="r" b="b"/>
              <a:pathLst>
                <a:path w="509904" h="311785">
                  <a:moveTo>
                    <a:pt x="332435" y="22237"/>
                  </a:moveTo>
                  <a:lnTo>
                    <a:pt x="330682" y="13601"/>
                  </a:lnTo>
                  <a:lnTo>
                    <a:pt x="325920" y="6540"/>
                  </a:lnTo>
                  <a:lnTo>
                    <a:pt x="318871" y="1752"/>
                  </a:lnTo>
                  <a:lnTo>
                    <a:pt x="310273" y="0"/>
                  </a:lnTo>
                  <a:lnTo>
                    <a:pt x="299186" y="0"/>
                  </a:lnTo>
                  <a:lnTo>
                    <a:pt x="299186" y="33362"/>
                  </a:lnTo>
                  <a:lnTo>
                    <a:pt x="299186" y="211251"/>
                  </a:lnTo>
                  <a:lnTo>
                    <a:pt x="33248" y="211251"/>
                  </a:lnTo>
                  <a:lnTo>
                    <a:pt x="33248" y="33362"/>
                  </a:lnTo>
                  <a:lnTo>
                    <a:pt x="299186" y="33362"/>
                  </a:lnTo>
                  <a:lnTo>
                    <a:pt x="299186" y="0"/>
                  </a:lnTo>
                  <a:lnTo>
                    <a:pt x="22161" y="0"/>
                  </a:lnTo>
                  <a:lnTo>
                    <a:pt x="13563" y="1752"/>
                  </a:lnTo>
                  <a:lnTo>
                    <a:pt x="6515" y="6540"/>
                  </a:lnTo>
                  <a:lnTo>
                    <a:pt x="1752" y="13601"/>
                  </a:lnTo>
                  <a:lnTo>
                    <a:pt x="0" y="22237"/>
                  </a:lnTo>
                  <a:lnTo>
                    <a:pt x="0" y="222377"/>
                  </a:lnTo>
                  <a:lnTo>
                    <a:pt x="1752" y="231013"/>
                  </a:lnTo>
                  <a:lnTo>
                    <a:pt x="6515" y="238074"/>
                  </a:lnTo>
                  <a:lnTo>
                    <a:pt x="13563" y="242862"/>
                  </a:lnTo>
                  <a:lnTo>
                    <a:pt x="22161" y="244614"/>
                  </a:lnTo>
                  <a:lnTo>
                    <a:pt x="132969" y="244614"/>
                  </a:lnTo>
                  <a:lnTo>
                    <a:pt x="132969" y="277964"/>
                  </a:lnTo>
                  <a:lnTo>
                    <a:pt x="83108" y="277964"/>
                  </a:lnTo>
                  <a:lnTo>
                    <a:pt x="83108" y="311327"/>
                  </a:lnTo>
                  <a:lnTo>
                    <a:pt x="249326" y="311327"/>
                  </a:lnTo>
                  <a:lnTo>
                    <a:pt x="249326" y="277964"/>
                  </a:lnTo>
                  <a:lnTo>
                    <a:pt x="199466" y="277964"/>
                  </a:lnTo>
                  <a:lnTo>
                    <a:pt x="199466" y="244614"/>
                  </a:lnTo>
                  <a:lnTo>
                    <a:pt x="310273" y="244614"/>
                  </a:lnTo>
                  <a:lnTo>
                    <a:pt x="318871" y="242862"/>
                  </a:lnTo>
                  <a:lnTo>
                    <a:pt x="325920" y="238074"/>
                  </a:lnTo>
                  <a:lnTo>
                    <a:pt x="330682" y="231013"/>
                  </a:lnTo>
                  <a:lnTo>
                    <a:pt x="332435" y="222377"/>
                  </a:lnTo>
                  <a:lnTo>
                    <a:pt x="332435" y="211251"/>
                  </a:lnTo>
                  <a:lnTo>
                    <a:pt x="332435" y="33362"/>
                  </a:lnTo>
                  <a:lnTo>
                    <a:pt x="332435" y="22237"/>
                  </a:lnTo>
                  <a:close/>
                </a:path>
                <a:path w="509904" h="311785">
                  <a:moveTo>
                    <a:pt x="509727" y="22237"/>
                  </a:moveTo>
                  <a:lnTo>
                    <a:pt x="507987" y="13601"/>
                  </a:lnTo>
                  <a:lnTo>
                    <a:pt x="503224" y="6540"/>
                  </a:lnTo>
                  <a:lnTo>
                    <a:pt x="496176" y="1752"/>
                  </a:lnTo>
                  <a:lnTo>
                    <a:pt x="487565" y="0"/>
                  </a:lnTo>
                  <a:lnTo>
                    <a:pt x="487565" y="22237"/>
                  </a:lnTo>
                  <a:lnTo>
                    <a:pt x="487565" y="55600"/>
                  </a:lnTo>
                  <a:lnTo>
                    <a:pt x="487565" y="77838"/>
                  </a:lnTo>
                  <a:lnTo>
                    <a:pt x="487565" y="111188"/>
                  </a:lnTo>
                  <a:lnTo>
                    <a:pt x="448779" y="111188"/>
                  </a:lnTo>
                  <a:lnTo>
                    <a:pt x="448779" y="251841"/>
                  </a:lnTo>
                  <a:lnTo>
                    <a:pt x="448779" y="270738"/>
                  </a:lnTo>
                  <a:lnTo>
                    <a:pt x="441579" y="277964"/>
                  </a:lnTo>
                  <a:lnTo>
                    <a:pt x="422744" y="277964"/>
                  </a:lnTo>
                  <a:lnTo>
                    <a:pt x="415544" y="270738"/>
                  </a:lnTo>
                  <a:lnTo>
                    <a:pt x="415544" y="251841"/>
                  </a:lnTo>
                  <a:lnTo>
                    <a:pt x="422744" y="244614"/>
                  </a:lnTo>
                  <a:lnTo>
                    <a:pt x="441579" y="244614"/>
                  </a:lnTo>
                  <a:lnTo>
                    <a:pt x="448779" y="251841"/>
                  </a:lnTo>
                  <a:lnTo>
                    <a:pt x="448779" y="111188"/>
                  </a:lnTo>
                  <a:lnTo>
                    <a:pt x="376758" y="111188"/>
                  </a:lnTo>
                  <a:lnTo>
                    <a:pt x="376758" y="77838"/>
                  </a:lnTo>
                  <a:lnTo>
                    <a:pt x="487565" y="77838"/>
                  </a:lnTo>
                  <a:lnTo>
                    <a:pt x="487565" y="55600"/>
                  </a:lnTo>
                  <a:lnTo>
                    <a:pt x="376758" y="55600"/>
                  </a:lnTo>
                  <a:lnTo>
                    <a:pt x="376758" y="22237"/>
                  </a:lnTo>
                  <a:lnTo>
                    <a:pt x="487565" y="22237"/>
                  </a:lnTo>
                  <a:lnTo>
                    <a:pt x="487565" y="0"/>
                  </a:lnTo>
                  <a:lnTo>
                    <a:pt x="376758" y="0"/>
                  </a:lnTo>
                  <a:lnTo>
                    <a:pt x="368147" y="1752"/>
                  </a:lnTo>
                  <a:lnTo>
                    <a:pt x="361099" y="6540"/>
                  </a:lnTo>
                  <a:lnTo>
                    <a:pt x="356349" y="13601"/>
                  </a:lnTo>
                  <a:lnTo>
                    <a:pt x="354596" y="22237"/>
                  </a:lnTo>
                  <a:lnTo>
                    <a:pt x="354596" y="289090"/>
                  </a:lnTo>
                  <a:lnTo>
                    <a:pt x="356349" y="297726"/>
                  </a:lnTo>
                  <a:lnTo>
                    <a:pt x="361099" y="304787"/>
                  </a:lnTo>
                  <a:lnTo>
                    <a:pt x="368147" y="309575"/>
                  </a:lnTo>
                  <a:lnTo>
                    <a:pt x="376758" y="311327"/>
                  </a:lnTo>
                  <a:lnTo>
                    <a:pt x="487565" y="311327"/>
                  </a:lnTo>
                  <a:lnTo>
                    <a:pt x="496176" y="309575"/>
                  </a:lnTo>
                  <a:lnTo>
                    <a:pt x="503224" y="304787"/>
                  </a:lnTo>
                  <a:lnTo>
                    <a:pt x="507987" y="297726"/>
                  </a:lnTo>
                  <a:lnTo>
                    <a:pt x="509727" y="289090"/>
                  </a:lnTo>
                  <a:lnTo>
                    <a:pt x="509727" y="277964"/>
                  </a:lnTo>
                  <a:lnTo>
                    <a:pt x="509727" y="244614"/>
                  </a:lnTo>
                  <a:lnTo>
                    <a:pt x="509727" y="111188"/>
                  </a:lnTo>
                  <a:lnTo>
                    <a:pt x="509727" y="77838"/>
                  </a:lnTo>
                  <a:lnTo>
                    <a:pt x="509727" y="55600"/>
                  </a:lnTo>
                  <a:lnTo>
                    <a:pt x="509727" y="22237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6417309" y="3283965"/>
            <a:ext cx="4965700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DBMS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concurrency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control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manage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multiuser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databases.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193791" y="4148328"/>
            <a:ext cx="6513830" cy="980440"/>
            <a:chOff x="5193791" y="4148328"/>
            <a:chExt cx="6513830" cy="980440"/>
          </a:xfrm>
        </p:grpSpPr>
        <p:sp>
          <p:nvSpPr>
            <p:cNvPr id="21" name="object 21" descr=""/>
            <p:cNvSpPr/>
            <p:nvPr/>
          </p:nvSpPr>
          <p:spPr>
            <a:xfrm>
              <a:off x="5193791" y="4148328"/>
              <a:ext cx="6513830" cy="980440"/>
            </a:xfrm>
            <a:custGeom>
              <a:avLst/>
              <a:gdLst/>
              <a:ahLst/>
              <a:cxnLst/>
              <a:rect l="l" t="t" r="r" b="b"/>
              <a:pathLst>
                <a:path w="6513830" h="980439">
                  <a:moveTo>
                    <a:pt x="6415532" y="0"/>
                  </a:moveTo>
                  <a:lnTo>
                    <a:pt x="98044" y="0"/>
                  </a:lnTo>
                  <a:lnTo>
                    <a:pt x="59846" y="7693"/>
                  </a:lnTo>
                  <a:lnTo>
                    <a:pt x="28686" y="28686"/>
                  </a:lnTo>
                  <a:lnTo>
                    <a:pt x="7693" y="59846"/>
                  </a:lnTo>
                  <a:lnTo>
                    <a:pt x="0" y="98044"/>
                  </a:lnTo>
                  <a:lnTo>
                    <a:pt x="0" y="881888"/>
                  </a:lnTo>
                  <a:lnTo>
                    <a:pt x="7693" y="920085"/>
                  </a:lnTo>
                  <a:lnTo>
                    <a:pt x="28686" y="951245"/>
                  </a:lnTo>
                  <a:lnTo>
                    <a:pt x="59846" y="972238"/>
                  </a:lnTo>
                  <a:lnTo>
                    <a:pt x="98044" y="979932"/>
                  </a:lnTo>
                  <a:lnTo>
                    <a:pt x="6415532" y="979932"/>
                  </a:lnTo>
                  <a:lnTo>
                    <a:pt x="6453729" y="972238"/>
                  </a:lnTo>
                  <a:lnTo>
                    <a:pt x="6484889" y="951245"/>
                  </a:lnTo>
                  <a:lnTo>
                    <a:pt x="6505882" y="920085"/>
                  </a:lnTo>
                  <a:lnTo>
                    <a:pt x="6513576" y="881888"/>
                  </a:lnTo>
                  <a:lnTo>
                    <a:pt x="6513576" y="98044"/>
                  </a:lnTo>
                  <a:lnTo>
                    <a:pt x="6505882" y="59846"/>
                  </a:lnTo>
                  <a:lnTo>
                    <a:pt x="6484889" y="28686"/>
                  </a:lnTo>
                  <a:lnTo>
                    <a:pt x="6453729" y="7693"/>
                  </a:lnTo>
                  <a:lnTo>
                    <a:pt x="641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95060" y="4450030"/>
              <a:ext cx="210106" cy="17187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6518" y="4655257"/>
              <a:ext cx="210106" cy="171871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6417309" y="4399915"/>
            <a:ext cx="5125720" cy="457834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 marR="5080">
              <a:lnSpc>
                <a:spcPct val="102099"/>
              </a:lnSpc>
              <a:spcBef>
                <a:spcPts val="65"/>
              </a:spcBef>
            </a:pPr>
            <a:r>
              <a:rPr dirty="0" sz="1400" spc="-10">
                <a:latin typeface="Calibri"/>
                <a:cs typeface="Calibri"/>
              </a:rPr>
              <a:t>Concurrency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control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concerned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preventing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loss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integrity </a:t>
            </a:r>
            <a:r>
              <a:rPr dirty="0" sz="1400">
                <a:latin typeface="Calibri"/>
                <a:cs typeface="Calibri"/>
              </a:rPr>
              <a:t>due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interference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between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multiuser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environment.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5193791" y="5372100"/>
            <a:ext cx="6513830" cy="980440"/>
            <a:chOff x="5193791" y="5372100"/>
            <a:chExt cx="6513830" cy="980440"/>
          </a:xfrm>
        </p:grpSpPr>
        <p:sp>
          <p:nvSpPr>
            <p:cNvPr id="26" name="object 26" descr=""/>
            <p:cNvSpPr/>
            <p:nvPr/>
          </p:nvSpPr>
          <p:spPr>
            <a:xfrm>
              <a:off x="5193791" y="5372100"/>
              <a:ext cx="6513830" cy="980440"/>
            </a:xfrm>
            <a:custGeom>
              <a:avLst/>
              <a:gdLst/>
              <a:ahLst/>
              <a:cxnLst/>
              <a:rect l="l" t="t" r="r" b="b"/>
              <a:pathLst>
                <a:path w="6513830" h="980439">
                  <a:moveTo>
                    <a:pt x="6415532" y="0"/>
                  </a:moveTo>
                  <a:lnTo>
                    <a:pt x="98044" y="0"/>
                  </a:lnTo>
                  <a:lnTo>
                    <a:pt x="59846" y="7693"/>
                  </a:lnTo>
                  <a:lnTo>
                    <a:pt x="28686" y="28686"/>
                  </a:lnTo>
                  <a:lnTo>
                    <a:pt x="7693" y="59846"/>
                  </a:lnTo>
                  <a:lnTo>
                    <a:pt x="0" y="98043"/>
                  </a:lnTo>
                  <a:lnTo>
                    <a:pt x="0" y="881938"/>
                  </a:lnTo>
                  <a:lnTo>
                    <a:pt x="7693" y="920079"/>
                  </a:lnTo>
                  <a:lnTo>
                    <a:pt x="28686" y="951228"/>
                  </a:lnTo>
                  <a:lnTo>
                    <a:pt x="59846" y="972230"/>
                  </a:lnTo>
                  <a:lnTo>
                    <a:pt x="98044" y="979932"/>
                  </a:lnTo>
                  <a:lnTo>
                    <a:pt x="6415532" y="979932"/>
                  </a:lnTo>
                  <a:lnTo>
                    <a:pt x="6453729" y="972230"/>
                  </a:lnTo>
                  <a:lnTo>
                    <a:pt x="6484889" y="951228"/>
                  </a:lnTo>
                  <a:lnTo>
                    <a:pt x="6505882" y="920079"/>
                  </a:lnTo>
                  <a:lnTo>
                    <a:pt x="6513576" y="881938"/>
                  </a:lnTo>
                  <a:lnTo>
                    <a:pt x="6513576" y="98043"/>
                  </a:lnTo>
                  <a:lnTo>
                    <a:pt x="6505882" y="59846"/>
                  </a:lnTo>
                  <a:lnTo>
                    <a:pt x="6484889" y="28686"/>
                  </a:lnTo>
                  <a:lnTo>
                    <a:pt x="6453729" y="7693"/>
                  </a:lnTo>
                  <a:lnTo>
                    <a:pt x="641553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574119" y="5646915"/>
              <a:ext cx="375920" cy="431800"/>
            </a:xfrm>
            <a:custGeom>
              <a:avLst/>
              <a:gdLst/>
              <a:ahLst/>
              <a:cxnLst/>
              <a:rect l="l" t="t" r="r" b="b"/>
              <a:pathLst>
                <a:path w="375920" h="431800">
                  <a:moveTo>
                    <a:pt x="86982" y="232257"/>
                  </a:moveTo>
                  <a:lnTo>
                    <a:pt x="82029" y="227291"/>
                  </a:lnTo>
                  <a:lnTo>
                    <a:pt x="69786" y="227291"/>
                  </a:lnTo>
                  <a:lnTo>
                    <a:pt x="64820" y="232257"/>
                  </a:lnTo>
                  <a:lnTo>
                    <a:pt x="64820" y="244500"/>
                  </a:lnTo>
                  <a:lnTo>
                    <a:pt x="69786" y="249466"/>
                  </a:lnTo>
                  <a:lnTo>
                    <a:pt x="82029" y="249466"/>
                  </a:lnTo>
                  <a:lnTo>
                    <a:pt x="86982" y="244500"/>
                  </a:lnTo>
                  <a:lnTo>
                    <a:pt x="86982" y="238379"/>
                  </a:lnTo>
                  <a:lnTo>
                    <a:pt x="86982" y="232257"/>
                  </a:lnTo>
                  <a:close/>
                </a:path>
                <a:path w="375920" h="431800">
                  <a:moveTo>
                    <a:pt x="197802" y="348665"/>
                  </a:moveTo>
                  <a:lnTo>
                    <a:pt x="192836" y="343700"/>
                  </a:lnTo>
                  <a:lnTo>
                    <a:pt x="180594" y="343700"/>
                  </a:lnTo>
                  <a:lnTo>
                    <a:pt x="175641" y="348665"/>
                  </a:lnTo>
                  <a:lnTo>
                    <a:pt x="175641" y="360921"/>
                  </a:lnTo>
                  <a:lnTo>
                    <a:pt x="180594" y="365874"/>
                  </a:lnTo>
                  <a:lnTo>
                    <a:pt x="192836" y="365874"/>
                  </a:lnTo>
                  <a:lnTo>
                    <a:pt x="197802" y="360921"/>
                  </a:lnTo>
                  <a:lnTo>
                    <a:pt x="197802" y="354787"/>
                  </a:lnTo>
                  <a:lnTo>
                    <a:pt x="197802" y="348665"/>
                  </a:lnTo>
                  <a:close/>
                </a:path>
                <a:path w="375920" h="431800">
                  <a:moveTo>
                    <a:pt x="197802" y="126923"/>
                  </a:moveTo>
                  <a:lnTo>
                    <a:pt x="192836" y="121958"/>
                  </a:lnTo>
                  <a:lnTo>
                    <a:pt x="180594" y="121958"/>
                  </a:lnTo>
                  <a:lnTo>
                    <a:pt x="175641" y="126923"/>
                  </a:lnTo>
                  <a:lnTo>
                    <a:pt x="175641" y="139179"/>
                  </a:lnTo>
                  <a:lnTo>
                    <a:pt x="180594" y="144132"/>
                  </a:lnTo>
                  <a:lnTo>
                    <a:pt x="192836" y="144132"/>
                  </a:lnTo>
                  <a:lnTo>
                    <a:pt x="197802" y="139179"/>
                  </a:lnTo>
                  <a:lnTo>
                    <a:pt x="197802" y="133045"/>
                  </a:lnTo>
                  <a:lnTo>
                    <a:pt x="197802" y="126923"/>
                  </a:lnTo>
                  <a:close/>
                </a:path>
                <a:path w="375920" h="431800">
                  <a:moveTo>
                    <a:pt x="249326" y="285496"/>
                  </a:moveTo>
                  <a:lnTo>
                    <a:pt x="197802" y="233946"/>
                  </a:lnTo>
                  <a:lnTo>
                    <a:pt x="197802" y="160769"/>
                  </a:lnTo>
                  <a:lnTo>
                    <a:pt x="175641" y="160769"/>
                  </a:lnTo>
                  <a:lnTo>
                    <a:pt x="175641" y="241147"/>
                  </a:lnTo>
                  <a:lnTo>
                    <a:pt x="176745" y="243916"/>
                  </a:lnTo>
                  <a:lnTo>
                    <a:pt x="233807" y="301015"/>
                  </a:lnTo>
                  <a:lnTo>
                    <a:pt x="249326" y="285496"/>
                  </a:lnTo>
                  <a:close/>
                </a:path>
                <a:path w="375920" h="431800">
                  <a:moveTo>
                    <a:pt x="308610" y="232257"/>
                  </a:moveTo>
                  <a:lnTo>
                    <a:pt x="303644" y="227291"/>
                  </a:lnTo>
                  <a:lnTo>
                    <a:pt x="291414" y="227291"/>
                  </a:lnTo>
                  <a:lnTo>
                    <a:pt x="286448" y="232257"/>
                  </a:lnTo>
                  <a:lnTo>
                    <a:pt x="286448" y="244500"/>
                  </a:lnTo>
                  <a:lnTo>
                    <a:pt x="291414" y="249466"/>
                  </a:lnTo>
                  <a:lnTo>
                    <a:pt x="303644" y="249466"/>
                  </a:lnTo>
                  <a:lnTo>
                    <a:pt x="308610" y="244500"/>
                  </a:lnTo>
                  <a:lnTo>
                    <a:pt x="308610" y="238379"/>
                  </a:lnTo>
                  <a:lnTo>
                    <a:pt x="308610" y="232257"/>
                  </a:lnTo>
                  <a:close/>
                </a:path>
                <a:path w="375920" h="431800">
                  <a:moveTo>
                    <a:pt x="375589" y="245757"/>
                  </a:moveTo>
                  <a:lnTo>
                    <a:pt x="369214" y="196062"/>
                  </a:lnTo>
                  <a:lnTo>
                    <a:pt x="349859" y="149440"/>
                  </a:lnTo>
                  <a:lnTo>
                    <a:pt x="341858" y="139192"/>
                  </a:lnTo>
                  <a:lnTo>
                    <a:pt x="341858" y="243916"/>
                  </a:lnTo>
                  <a:lnTo>
                    <a:pt x="333959" y="293065"/>
                  </a:lnTo>
                  <a:lnTo>
                    <a:pt x="311975" y="335673"/>
                  </a:lnTo>
                  <a:lnTo>
                    <a:pt x="278422" y="369252"/>
                  </a:lnTo>
                  <a:lnTo>
                    <a:pt x="235826" y="391248"/>
                  </a:lnTo>
                  <a:lnTo>
                    <a:pt x="186715" y="399135"/>
                  </a:lnTo>
                  <a:lnTo>
                    <a:pt x="137604" y="391248"/>
                  </a:lnTo>
                  <a:lnTo>
                    <a:pt x="95008" y="369252"/>
                  </a:lnTo>
                  <a:lnTo>
                    <a:pt x="61455" y="335673"/>
                  </a:lnTo>
                  <a:lnTo>
                    <a:pt x="39471" y="293065"/>
                  </a:lnTo>
                  <a:lnTo>
                    <a:pt x="31584" y="243916"/>
                  </a:lnTo>
                  <a:lnTo>
                    <a:pt x="39471" y="194779"/>
                  </a:lnTo>
                  <a:lnTo>
                    <a:pt x="61455" y="152158"/>
                  </a:lnTo>
                  <a:lnTo>
                    <a:pt x="95008" y="118592"/>
                  </a:lnTo>
                  <a:lnTo>
                    <a:pt x="137604" y="96596"/>
                  </a:lnTo>
                  <a:lnTo>
                    <a:pt x="186715" y="88696"/>
                  </a:lnTo>
                  <a:lnTo>
                    <a:pt x="235826" y="96596"/>
                  </a:lnTo>
                  <a:lnTo>
                    <a:pt x="278422" y="118592"/>
                  </a:lnTo>
                  <a:lnTo>
                    <a:pt x="311975" y="152158"/>
                  </a:lnTo>
                  <a:lnTo>
                    <a:pt x="333959" y="194779"/>
                  </a:lnTo>
                  <a:lnTo>
                    <a:pt x="341858" y="243916"/>
                  </a:lnTo>
                  <a:lnTo>
                    <a:pt x="341858" y="139192"/>
                  </a:lnTo>
                  <a:lnTo>
                    <a:pt x="318033" y="108661"/>
                  </a:lnTo>
                  <a:lnTo>
                    <a:pt x="334645" y="92024"/>
                  </a:lnTo>
                  <a:lnTo>
                    <a:pt x="336715" y="88696"/>
                  </a:lnTo>
                  <a:lnTo>
                    <a:pt x="337400" y="87591"/>
                  </a:lnTo>
                  <a:lnTo>
                    <a:pt x="338074" y="86512"/>
                  </a:lnTo>
                  <a:lnTo>
                    <a:pt x="339153" y="80391"/>
                  </a:lnTo>
                  <a:lnTo>
                    <a:pt x="337845" y="74256"/>
                  </a:lnTo>
                  <a:lnTo>
                    <a:pt x="334098" y="68745"/>
                  </a:lnTo>
                  <a:lnTo>
                    <a:pt x="328828" y="65227"/>
                  </a:lnTo>
                  <a:lnTo>
                    <a:pt x="322668" y="63893"/>
                  </a:lnTo>
                  <a:lnTo>
                    <a:pt x="316407" y="64846"/>
                  </a:lnTo>
                  <a:lnTo>
                    <a:pt x="310819" y="68186"/>
                  </a:lnTo>
                  <a:lnTo>
                    <a:pt x="291985" y="87591"/>
                  </a:lnTo>
                  <a:lnTo>
                    <a:pt x="271360" y="75565"/>
                  </a:lnTo>
                  <a:lnTo>
                    <a:pt x="249529" y="66243"/>
                  </a:lnTo>
                  <a:lnTo>
                    <a:pt x="226771" y="59842"/>
                  </a:lnTo>
                  <a:lnTo>
                    <a:pt x="203339" y="56553"/>
                  </a:lnTo>
                  <a:lnTo>
                    <a:pt x="203339" y="33261"/>
                  </a:lnTo>
                  <a:lnTo>
                    <a:pt x="253199" y="33261"/>
                  </a:lnTo>
                  <a:lnTo>
                    <a:pt x="253199" y="0"/>
                  </a:lnTo>
                  <a:lnTo>
                    <a:pt x="120230" y="0"/>
                  </a:lnTo>
                  <a:lnTo>
                    <a:pt x="120230" y="33261"/>
                  </a:lnTo>
                  <a:lnTo>
                    <a:pt x="170091" y="33261"/>
                  </a:lnTo>
                  <a:lnTo>
                    <a:pt x="170091" y="55994"/>
                  </a:lnTo>
                  <a:lnTo>
                    <a:pt x="119646" y="67576"/>
                  </a:lnTo>
                  <a:lnTo>
                    <a:pt x="75361" y="91719"/>
                  </a:lnTo>
                  <a:lnTo>
                    <a:pt x="39293" y="126479"/>
                  </a:lnTo>
                  <a:lnTo>
                    <a:pt x="13487" y="169913"/>
                  </a:lnTo>
                  <a:lnTo>
                    <a:pt x="0" y="220078"/>
                  </a:lnTo>
                  <a:lnTo>
                    <a:pt x="622" y="272034"/>
                  </a:lnTo>
                  <a:lnTo>
                    <a:pt x="14808" y="320535"/>
                  </a:lnTo>
                  <a:lnTo>
                    <a:pt x="41084" y="363169"/>
                  </a:lnTo>
                  <a:lnTo>
                    <a:pt x="78016" y="397560"/>
                  </a:lnTo>
                  <a:lnTo>
                    <a:pt x="124104" y="421309"/>
                  </a:lnTo>
                  <a:lnTo>
                    <a:pt x="174929" y="431711"/>
                  </a:lnTo>
                  <a:lnTo>
                    <a:pt x="225285" y="428205"/>
                  </a:lnTo>
                  <a:lnTo>
                    <a:pt x="272542" y="411695"/>
                  </a:lnTo>
                  <a:lnTo>
                    <a:pt x="290766" y="399135"/>
                  </a:lnTo>
                  <a:lnTo>
                    <a:pt x="314121" y="383057"/>
                  </a:lnTo>
                  <a:lnTo>
                    <a:pt x="347395" y="343154"/>
                  </a:lnTo>
                  <a:lnTo>
                    <a:pt x="368490" y="295719"/>
                  </a:lnTo>
                  <a:lnTo>
                    <a:pt x="375589" y="245757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6417309" y="5515762"/>
            <a:ext cx="5178425" cy="67373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>
              <a:lnSpc>
                <a:spcPct val="101800"/>
              </a:lnSpc>
              <a:spcBef>
                <a:spcPts val="70"/>
              </a:spcBef>
            </a:pPr>
            <a:r>
              <a:rPr dirty="0" sz="1400" spc="-10">
                <a:latin typeface="Calibri"/>
                <a:cs typeface="Calibri"/>
              </a:rPr>
              <a:t>Concurrency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control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should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provide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mechanism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avoiding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10">
                <a:latin typeface="Calibri"/>
                <a:cs typeface="Calibri"/>
              </a:rPr>
              <a:t>managing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conflict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between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various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database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data </a:t>
            </a:r>
            <a:r>
              <a:rPr dirty="0" sz="1400">
                <a:latin typeface="Calibri"/>
                <a:cs typeface="Calibri"/>
              </a:rPr>
              <a:t>item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same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time.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4" name="object 4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wrap="square" lIns="0" tIns="144780" rIns="0" bIns="0" rtlCol="0" vert="horz">
            <a:spAutoFit/>
          </a:bodyPr>
          <a:lstStyle/>
          <a:p>
            <a:pPr marL="494030">
              <a:lnSpc>
                <a:spcPts val="4560"/>
              </a:lnSpc>
              <a:spcBef>
                <a:spcPts val="1140"/>
              </a:spcBef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Caused</a:t>
            </a:r>
            <a:r>
              <a:rPr dirty="0" sz="40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40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Concurrent</a:t>
            </a:r>
            <a:r>
              <a:rPr dirty="0" sz="40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Executions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5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4000">
              <a:latin typeface="Calibri"/>
              <a:cs typeface="Calibri"/>
            </a:endParaRPr>
          </a:p>
          <a:p>
            <a:pPr marL="494030">
              <a:lnSpc>
                <a:spcPts val="4560"/>
              </a:lnSpc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Lost</a:t>
            </a:r>
            <a:r>
              <a:rPr dirty="0" sz="4000" spc="-1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40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03933" y="2471673"/>
            <a:ext cx="1833245" cy="2037714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39395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 spc="-10">
                <a:latin typeface="Calibri"/>
                <a:cs typeface="Calibri"/>
              </a:rPr>
              <a:t>Overwrite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update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made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by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another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60">
                <a:latin typeface="Calibri"/>
                <a:cs typeface="Calibri"/>
              </a:rPr>
              <a:t>/ </a:t>
            </a:r>
            <a:r>
              <a:rPr dirty="0" sz="2400" spc="-6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user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3830192" y="2510917"/>
          <a:ext cx="7804150" cy="433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8095"/>
                <a:gridCol w="2633345"/>
                <a:gridCol w="2745105"/>
                <a:gridCol w="1067434"/>
              </a:tblGrid>
              <a:tr h="51435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0">
                          <a:latin typeface="Calibri"/>
                          <a:cs typeface="Calibri"/>
                        </a:rPr>
                        <a:t>Time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X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50">
                          <a:latin typeface="Calibri"/>
                          <a:cs typeface="Calibri"/>
                        </a:rPr>
                        <a:t>Y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Bal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455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T1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Transaction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88455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T2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Transaction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9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(Bal)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71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T3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2000" spc="-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(Bal)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=Bal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+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100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71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T4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20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20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>
                          <a:latin typeface="Calibri"/>
                          <a:cs typeface="Calibri"/>
                        </a:rPr>
                        <a:t>–</a:t>
                      </a:r>
                      <a:r>
                        <a:rPr dirty="0" sz="20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25">
                          <a:latin typeface="Calibri"/>
                          <a:cs typeface="Calibri"/>
                        </a:rPr>
                        <a:t>10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(Bal)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4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200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71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T5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2000" spc="-7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2000" spc="-10">
                          <a:latin typeface="Calibri"/>
                          <a:cs typeface="Calibri"/>
                        </a:rPr>
                        <a:t>(Bal)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Commit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90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51371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T6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10">
                          <a:latin typeface="Calibri"/>
                          <a:cs typeface="Calibri"/>
                        </a:rPr>
                        <a:t>Commit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2000" spc="-25">
                          <a:latin typeface="Calibri"/>
                          <a:cs typeface="Calibri"/>
                        </a:rPr>
                        <a:t>90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927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30"/>
              </a:spcBef>
            </a:pPr>
            <a:endParaRPr sz="3200">
              <a:latin typeface="Times New Roman"/>
              <a:cs typeface="Times New Roman"/>
            </a:endParaRPr>
          </a:p>
          <a:p>
            <a:pPr marL="401955" marR="480059">
              <a:lnSpc>
                <a:spcPct val="90000"/>
              </a:lnSpc>
            </a:pP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Problems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Caused</a:t>
            </a:r>
            <a:r>
              <a:rPr dirty="0" sz="3200" spc="-25" b="1">
                <a:solidFill>
                  <a:srgbClr val="FFFFFF"/>
                </a:solidFill>
                <a:latin typeface="Calibri"/>
                <a:cs typeface="Calibri"/>
              </a:rPr>
              <a:t> By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Concurrent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Executions</a:t>
            </a:r>
            <a:r>
              <a:rPr dirty="0" sz="3200" spc="-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50" b="1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Lost</a:t>
            </a:r>
            <a:r>
              <a:rPr dirty="0" sz="3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Calibri"/>
                <a:cs typeface="Calibri"/>
              </a:rPr>
              <a:t>Update </a:t>
            </a:r>
            <a:r>
              <a:rPr dirty="0" sz="320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dirty="0" sz="3200" spc="-9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FFFF"/>
                </a:solidFill>
                <a:latin typeface="Calibri"/>
                <a:cs typeface="Calibri"/>
              </a:rPr>
              <a:t>Contd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041882"/>
            <a:ext cx="6790055" cy="4607560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10">
                <a:latin typeface="Calibri"/>
                <a:cs typeface="Calibri"/>
              </a:rPr>
              <a:t>Example</a:t>
            </a:r>
            <a:endParaRPr sz="2000">
              <a:latin typeface="Calibri"/>
              <a:cs typeface="Calibri"/>
            </a:endParaRPr>
          </a:p>
          <a:p>
            <a:pPr marL="241300" marR="309880" indent="-228600">
              <a:lnSpc>
                <a:spcPts val="2160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25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T2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T3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100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T4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subtracted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bal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>
                <a:latin typeface="Calibri"/>
                <a:cs typeface="Calibri"/>
              </a:rPr>
              <a:t>(200)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disc</a:t>
            </a:r>
            <a:endParaRPr sz="2000">
              <a:latin typeface="Calibri"/>
              <a:cs typeface="Calibri"/>
            </a:endParaRPr>
          </a:p>
          <a:p>
            <a:pPr marL="241300" marR="38735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T4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subtracted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25">
                <a:latin typeface="Calibri"/>
                <a:cs typeface="Calibri"/>
              </a:rPr>
              <a:t> of </a:t>
            </a:r>
            <a:r>
              <a:rPr dirty="0" sz="2000">
                <a:latin typeface="Calibri"/>
                <a:cs typeface="Calibri"/>
              </a:rPr>
              <a:t>bal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(100)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produce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90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25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25">
                <a:latin typeface="Calibri"/>
                <a:cs typeface="Calibri"/>
              </a:rPr>
              <a:t> T5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280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update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(bal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+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100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=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200)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been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lost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000" spc="-25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overwritten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Y</a:t>
            </a:r>
            <a:endParaRPr sz="2000">
              <a:latin typeface="Calibri"/>
              <a:cs typeface="Calibri"/>
            </a:endParaRPr>
          </a:p>
          <a:p>
            <a:pPr marL="241300" marR="260350" indent="-228600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avoided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read </a:t>
            </a:r>
            <a:r>
              <a:rPr dirty="0" sz="2000">
                <a:latin typeface="Calibri"/>
                <a:cs typeface="Calibri"/>
              </a:rPr>
              <a:t>bal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until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committed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update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1222735" y="635508"/>
            <a:ext cx="329565" cy="1742439"/>
          </a:xfrm>
          <a:custGeom>
            <a:avLst/>
            <a:gdLst/>
            <a:ahLst/>
            <a:cxnLst/>
            <a:rect l="l" t="t" r="r" b="b"/>
            <a:pathLst>
              <a:path w="329565" h="1742439">
                <a:moveTo>
                  <a:pt x="329184" y="0"/>
                </a:moveTo>
                <a:lnTo>
                  <a:pt x="0" y="198627"/>
                </a:lnTo>
                <a:lnTo>
                  <a:pt x="0" y="1741931"/>
                </a:lnTo>
                <a:lnTo>
                  <a:pt x="329184" y="1543303"/>
                </a:lnTo>
                <a:lnTo>
                  <a:pt x="329184" y="0"/>
                </a:lnTo>
                <a:close/>
              </a:path>
            </a:pathLst>
          </a:custGeom>
          <a:solidFill>
            <a:srgbClr val="1F3863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409955" y="641604"/>
            <a:ext cx="708660" cy="2476500"/>
            <a:chOff x="409955" y="641604"/>
            <a:chExt cx="708660" cy="2476500"/>
          </a:xfrm>
        </p:grpSpPr>
        <p:sp>
          <p:nvSpPr>
            <p:cNvPr id="4" name="object 4" descr=""/>
            <p:cNvSpPr/>
            <p:nvPr/>
          </p:nvSpPr>
          <p:spPr>
            <a:xfrm>
              <a:off x="409955" y="1022604"/>
              <a:ext cx="708660" cy="2095500"/>
            </a:xfrm>
            <a:custGeom>
              <a:avLst/>
              <a:gdLst/>
              <a:ahLst/>
              <a:cxnLst/>
              <a:rect l="l" t="t" r="r" b="b"/>
              <a:pathLst>
                <a:path w="708660" h="2095500">
                  <a:moveTo>
                    <a:pt x="0" y="0"/>
                  </a:moveTo>
                  <a:lnTo>
                    <a:pt x="0" y="1517396"/>
                  </a:lnTo>
                  <a:lnTo>
                    <a:pt x="708660" y="2095500"/>
                  </a:lnTo>
                  <a:lnTo>
                    <a:pt x="708660" y="578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09955" y="838200"/>
              <a:ext cx="402590" cy="1705610"/>
            </a:xfrm>
            <a:custGeom>
              <a:avLst/>
              <a:gdLst/>
              <a:ahLst/>
              <a:cxnLst/>
              <a:rect l="l" t="t" r="r" b="b"/>
              <a:pathLst>
                <a:path w="402590" h="1705610">
                  <a:moveTo>
                    <a:pt x="402336" y="0"/>
                  </a:moveTo>
                  <a:lnTo>
                    <a:pt x="0" y="183007"/>
                  </a:lnTo>
                  <a:lnTo>
                    <a:pt x="0" y="1705355"/>
                  </a:lnTo>
                  <a:lnTo>
                    <a:pt x="402336" y="1517777"/>
                  </a:lnTo>
                  <a:lnTo>
                    <a:pt x="402336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44651" y="641604"/>
              <a:ext cx="167640" cy="1713230"/>
            </a:xfrm>
            <a:custGeom>
              <a:avLst/>
              <a:gdLst/>
              <a:ahLst/>
              <a:cxnLst/>
              <a:rect l="l" t="t" r="r" b="b"/>
              <a:pathLst>
                <a:path w="167640" h="1713230">
                  <a:moveTo>
                    <a:pt x="0" y="0"/>
                  </a:moveTo>
                  <a:lnTo>
                    <a:pt x="0" y="1545336"/>
                  </a:lnTo>
                  <a:lnTo>
                    <a:pt x="167640" y="1712976"/>
                  </a:lnTo>
                  <a:lnTo>
                    <a:pt x="167640" y="1691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644651" y="635508"/>
            <a:ext cx="10907395" cy="1542415"/>
          </a:xfrm>
          <a:prstGeom prst="rect">
            <a:avLst/>
          </a:prstGeom>
          <a:solidFill>
            <a:srgbClr val="4471C4"/>
          </a:solidFill>
        </p:spPr>
        <p:txBody>
          <a:bodyPr wrap="square" lIns="0" tIns="144780" rIns="0" bIns="0" rtlCol="0" vert="horz">
            <a:spAutoFit/>
          </a:bodyPr>
          <a:lstStyle/>
          <a:p>
            <a:pPr marL="494030">
              <a:lnSpc>
                <a:spcPts val="4560"/>
              </a:lnSpc>
              <a:spcBef>
                <a:spcPts val="1140"/>
              </a:spcBef>
            </a:pP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Caused</a:t>
            </a:r>
            <a:r>
              <a:rPr dirty="0" sz="40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4000" spc="-15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Concurrent</a:t>
            </a:r>
            <a:r>
              <a:rPr dirty="0" sz="4000" spc="-13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Executions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50" b="1">
                <a:solidFill>
                  <a:srgbClr val="FFFFFF"/>
                </a:solidFill>
                <a:latin typeface="Calibri"/>
                <a:cs typeface="Calibri"/>
              </a:rPr>
              <a:t>–</a:t>
            </a:r>
            <a:endParaRPr sz="4000">
              <a:latin typeface="Calibri"/>
              <a:cs typeface="Calibri"/>
            </a:endParaRPr>
          </a:p>
          <a:p>
            <a:pPr marL="494030">
              <a:lnSpc>
                <a:spcPts val="4560"/>
              </a:lnSpc>
            </a:pPr>
            <a:r>
              <a:rPr dirty="0" sz="4000" spc="-20" b="1">
                <a:solidFill>
                  <a:srgbClr val="FFFFFF"/>
                </a:solidFill>
                <a:latin typeface="Calibri"/>
                <a:cs typeface="Calibri"/>
              </a:rPr>
              <a:t>Uncommitted</a:t>
            </a:r>
            <a:r>
              <a:rPr dirty="0" sz="4000" spc="-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b="1">
                <a:solidFill>
                  <a:srgbClr val="FFFFFF"/>
                </a:solidFill>
                <a:latin typeface="Calibri"/>
                <a:cs typeface="Calibri"/>
              </a:rPr>
              <a:t>Dependency</a:t>
            </a:r>
            <a:r>
              <a:rPr dirty="0" sz="4000" spc="-1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503933" y="2471673"/>
            <a:ext cx="2525395" cy="1708785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39395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user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sees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intermediate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step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another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1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before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committed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4410964" y="2371725"/>
          <a:ext cx="7657465" cy="43027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7910"/>
                <a:gridCol w="2844800"/>
                <a:gridCol w="2771140"/>
                <a:gridCol w="894079"/>
              </a:tblGrid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Time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X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Y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Bal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7520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15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Transaction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8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349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+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1500" spc="3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Transaction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(Bal)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 Bal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Rollback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13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(Bal)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78155"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175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Commit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239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4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261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60"/>
              </a:spcBef>
            </a:pPr>
            <a:endParaRPr sz="2900">
              <a:latin typeface="Times New Roman"/>
              <a:cs typeface="Times New Roman"/>
            </a:endParaRPr>
          </a:p>
          <a:p>
            <a:pPr marL="401955" marR="374015">
              <a:lnSpc>
                <a:spcPct val="90000"/>
              </a:lnSpc>
            </a:pP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r>
              <a:rPr dirty="0" sz="29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Caused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9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Concurrent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Executions</a:t>
            </a:r>
            <a:r>
              <a:rPr dirty="0" sz="29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Uncommitted Dependency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dirty="0" sz="29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9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20" b="1">
                <a:solidFill>
                  <a:srgbClr val="FFFFFF"/>
                </a:solidFill>
                <a:latin typeface="Calibri"/>
                <a:cs typeface="Calibri"/>
              </a:rPr>
              <a:t>Contd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909504"/>
            <a:ext cx="6831330" cy="487426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Example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Transaction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(100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+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100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200)</a:t>
            </a:r>
            <a:r>
              <a:rPr dirty="0" sz="1800" spc="-25">
                <a:latin typeface="Calibri"/>
                <a:cs typeface="Calibri"/>
              </a:rPr>
              <a:t> and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>
                <a:latin typeface="Calibri"/>
                <a:cs typeface="Calibri"/>
              </a:rPr>
              <a:t>writes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T4</a:t>
            </a:r>
            <a:endParaRPr sz="1800">
              <a:latin typeface="Calibri"/>
              <a:cs typeface="Calibri"/>
            </a:endParaRPr>
          </a:p>
          <a:p>
            <a:pPr marL="241300" marR="757555" indent="-228600">
              <a:lnSpc>
                <a:spcPts val="1939"/>
              </a:lnSpc>
              <a:spcBef>
                <a:spcPts val="10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T5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(200)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written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However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T6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failed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rolled</a:t>
            </a:r>
            <a:r>
              <a:rPr dirty="0" sz="1800" spc="-20">
                <a:latin typeface="Calibri"/>
                <a:cs typeface="Calibri"/>
              </a:rPr>
              <a:t> back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means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made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undone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35">
                <a:latin typeface="Calibri"/>
                <a:cs typeface="Calibri"/>
              </a:rPr>
              <a:t>is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 spc="-10">
                <a:latin typeface="Calibri"/>
                <a:cs typeface="Calibri"/>
              </a:rPr>
              <a:t>returned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to100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>
                <a:latin typeface="Calibri"/>
                <a:cs typeface="Calibri"/>
              </a:rPr>
              <a:t>Therefore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updating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incorrect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(200)</a:t>
            </a:r>
            <a:endParaRPr sz="1800">
              <a:latin typeface="Calibri"/>
              <a:cs typeface="Calibri"/>
            </a:endParaRPr>
          </a:p>
          <a:p>
            <a:pPr marL="241300" marR="151765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20">
                <a:latin typeface="Calibri"/>
                <a:cs typeface="Calibri"/>
              </a:rPr>
              <a:t>Transaction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should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=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100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because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has </a:t>
            </a:r>
            <a:r>
              <a:rPr dirty="0" sz="1800">
                <a:latin typeface="Calibri"/>
                <a:cs typeface="Calibri"/>
              </a:rPr>
              <a:t>been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rolled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back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undone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2055"/>
              </a:lnSpc>
              <a:spcBef>
                <a:spcPts val="7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20">
                <a:latin typeface="Calibri"/>
                <a:cs typeface="Calibri"/>
              </a:rPr>
              <a:t>Transaction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-25">
                <a:latin typeface="Calibri"/>
                <a:cs typeface="Calibri"/>
              </a:rPr>
              <a:t> was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dirty="0" sz="1800">
                <a:latin typeface="Calibri"/>
                <a:cs typeface="Calibri"/>
              </a:rPr>
              <a:t>incorrect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failed</a:t>
            </a:r>
            <a:endParaRPr sz="1800">
              <a:latin typeface="Calibri"/>
              <a:cs typeface="Calibri"/>
            </a:endParaRPr>
          </a:p>
          <a:p>
            <a:pPr marL="241300" marR="9525" indent="-228600">
              <a:lnSpc>
                <a:spcPts val="1939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problem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avoided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value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until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either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commits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rolls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back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1772" y="449580"/>
            <a:ext cx="3904615" cy="4234180"/>
          </a:xfrm>
          <a:prstGeom prst="rect"/>
          <a:solidFill>
            <a:srgbClr val="585858"/>
          </a:solidFill>
        </p:spPr>
        <p:txBody>
          <a:bodyPr wrap="square" lIns="0" tIns="3486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745"/>
              </a:spcBef>
            </a:pPr>
            <a:endParaRPr sz="3500">
              <a:latin typeface="Times New Roman"/>
              <a:cs typeface="Times New Roman"/>
            </a:endParaRPr>
          </a:p>
          <a:p>
            <a:pPr marL="360680" marR="511809">
              <a:lnSpc>
                <a:spcPct val="90000"/>
              </a:lnSpc>
            </a:pPr>
            <a:r>
              <a:rPr dirty="0" sz="3500" spc="-35" b="0">
                <a:solidFill>
                  <a:srgbClr val="FFFFFF"/>
                </a:solidFill>
                <a:latin typeface="Calibri Light"/>
                <a:cs typeface="Calibri Light"/>
              </a:rPr>
              <a:t>Problems</a:t>
            </a:r>
            <a:r>
              <a:rPr dirty="0" sz="3500" spc="-135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500" spc="-20" b="0">
                <a:solidFill>
                  <a:srgbClr val="FFFFFF"/>
                </a:solidFill>
                <a:latin typeface="Calibri Light"/>
                <a:cs typeface="Calibri Light"/>
              </a:rPr>
              <a:t>Caused </a:t>
            </a:r>
            <a:r>
              <a:rPr dirty="0" sz="3500" b="0">
                <a:solidFill>
                  <a:srgbClr val="FFFFFF"/>
                </a:solidFill>
                <a:latin typeface="Calibri Light"/>
                <a:cs typeface="Calibri Light"/>
              </a:rPr>
              <a:t>By</a:t>
            </a:r>
            <a:r>
              <a:rPr dirty="0" sz="3500" spc="-12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500" spc="-10" b="0">
                <a:solidFill>
                  <a:srgbClr val="FFFFFF"/>
                </a:solidFill>
                <a:latin typeface="Calibri Light"/>
                <a:cs typeface="Calibri Light"/>
              </a:rPr>
              <a:t>Concurrent </a:t>
            </a:r>
            <a:r>
              <a:rPr dirty="0" sz="3500" spc="-35" b="0">
                <a:solidFill>
                  <a:srgbClr val="FFFFFF"/>
                </a:solidFill>
                <a:latin typeface="Calibri Light"/>
                <a:cs typeface="Calibri Light"/>
              </a:rPr>
              <a:t>Executions</a:t>
            </a:r>
            <a:r>
              <a:rPr dirty="0" sz="3500" spc="-10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500" spc="-50" b="0">
                <a:solidFill>
                  <a:srgbClr val="FFFFFF"/>
                </a:solidFill>
                <a:latin typeface="Calibri Light"/>
                <a:cs typeface="Calibri Light"/>
              </a:rPr>
              <a:t>– </a:t>
            </a:r>
            <a:r>
              <a:rPr dirty="0" sz="3500" spc="-10" b="0">
                <a:solidFill>
                  <a:srgbClr val="FFFFFF"/>
                </a:solidFill>
                <a:latin typeface="Calibri Light"/>
                <a:cs typeface="Calibri Light"/>
              </a:rPr>
              <a:t>Inconsistent </a:t>
            </a:r>
            <a:r>
              <a:rPr dirty="0" sz="3500" spc="-25" b="0">
                <a:solidFill>
                  <a:srgbClr val="FFFFFF"/>
                </a:solidFill>
                <a:latin typeface="Calibri Light"/>
                <a:cs typeface="Calibri Light"/>
              </a:rPr>
              <a:t>Analysis</a:t>
            </a:r>
            <a:r>
              <a:rPr dirty="0" sz="3500" spc="-150" b="0">
                <a:solidFill>
                  <a:srgbClr val="FFFFFF"/>
                </a:solidFill>
                <a:latin typeface="Calibri Light"/>
                <a:cs typeface="Calibri Light"/>
              </a:rPr>
              <a:t> </a:t>
            </a:r>
            <a:r>
              <a:rPr dirty="0" sz="3500" spc="-10" b="0">
                <a:solidFill>
                  <a:srgbClr val="FFFFFF"/>
                </a:solidFill>
                <a:latin typeface="Calibri Light"/>
                <a:cs typeface="Calibri Light"/>
              </a:rPr>
              <a:t>Problem</a:t>
            </a:r>
            <a:endParaRPr sz="35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66344" y="4846320"/>
            <a:ext cx="2395855" cy="1564005"/>
          </a:xfrm>
          <a:prstGeom prst="rect">
            <a:avLst/>
          </a:prstGeom>
          <a:solidFill>
            <a:srgbClr val="4471C4">
              <a:alpha val="94900"/>
            </a:srgbClr>
          </a:solidFill>
        </p:spPr>
        <p:txBody>
          <a:bodyPr wrap="square" lIns="0" tIns="143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30"/>
              </a:spcBef>
            </a:pPr>
            <a:endParaRPr sz="1300">
              <a:latin typeface="Times New Roman"/>
              <a:cs typeface="Times New Roman"/>
            </a:endParaRPr>
          </a:p>
          <a:p>
            <a:pPr marL="356235" marR="482600">
              <a:lnSpc>
                <a:spcPts val="1400"/>
              </a:lnSpc>
            </a:pP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dirty="0" sz="13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reads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partial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results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of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incomplete</a:t>
            </a:r>
            <a:r>
              <a:rPr dirty="0" sz="13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transaction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update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made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other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endParaRPr sz="13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4515611" y="452627"/>
          <a:ext cx="7292975" cy="5935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4385"/>
                <a:gridCol w="1864360"/>
                <a:gridCol w="1878964"/>
                <a:gridCol w="683260"/>
                <a:gridCol w="620395"/>
                <a:gridCol w="620395"/>
                <a:gridCol w="742950"/>
              </a:tblGrid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0">
                          <a:latin typeface="Calibri"/>
                          <a:cs typeface="Calibri"/>
                        </a:rPr>
                        <a:t>Time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X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Y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(X)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28892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Bal (Y)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 marR="28829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Bal (Z)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Sum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1500" spc="-4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Transaction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209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Begin</a:t>
                      </a:r>
                      <a:r>
                        <a:rPr dirty="0" sz="1500" spc="3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Transaction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(Bal(X))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(Bal(X))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50">
                          <a:latin typeface="Calibri"/>
                          <a:cs typeface="Calibri"/>
                        </a:rPr>
                        <a:t>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(X)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Bal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(X)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Bal(X)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(Bal(X))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(Bal(Y))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100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(Bal(Z))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Bal(Y)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Bal(Z)</a:t>
                      </a:r>
                      <a:r>
                        <a:rPr dirty="0" sz="150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Bal(Z)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+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25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2984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Write</a:t>
                      </a:r>
                      <a:r>
                        <a:rPr dirty="0" sz="1500" spc="-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(Bal(Z))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35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Commit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Read</a:t>
                      </a:r>
                      <a:r>
                        <a:rPr dirty="0" sz="15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(Bal(Z))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35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T10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>
                          <a:latin typeface="Calibri"/>
                          <a:cs typeface="Calibri"/>
                        </a:rPr>
                        <a:t>Sum</a:t>
                      </a:r>
                      <a:r>
                        <a:rPr dirty="0" sz="150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=</a:t>
                      </a:r>
                      <a:r>
                        <a:rPr dirty="0" sz="1500" spc="-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Sum +</a:t>
                      </a:r>
                      <a:r>
                        <a:rPr dirty="0" sz="1500" spc="-1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500">
                          <a:latin typeface="Calibri"/>
                          <a:cs typeface="Calibri"/>
                        </a:rPr>
                        <a:t>Bal </a:t>
                      </a:r>
                      <a:r>
                        <a:rPr dirty="0" sz="1500" spc="-25">
                          <a:latin typeface="Calibri"/>
                          <a:cs typeface="Calibri"/>
                        </a:rPr>
                        <a:t>(Z)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35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185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  <a:tr h="372110"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T11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10">
                          <a:latin typeface="Calibri"/>
                          <a:cs typeface="Calibri"/>
                        </a:rPr>
                        <a:t>Commit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90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50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35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1500" spc="-25">
                          <a:latin typeface="Calibri"/>
                          <a:cs typeface="Calibri"/>
                        </a:rPr>
                        <a:t>185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7E7E7E">
                        <a:alpha val="23921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object 5" descr=""/>
          <p:cNvSpPr/>
          <p:nvPr/>
        </p:nvSpPr>
        <p:spPr>
          <a:xfrm>
            <a:off x="3017520" y="4835652"/>
            <a:ext cx="1348740" cy="1572895"/>
          </a:xfrm>
          <a:custGeom>
            <a:avLst/>
            <a:gdLst/>
            <a:ahLst/>
            <a:cxnLst/>
            <a:rect l="l" t="t" r="r" b="b"/>
            <a:pathLst>
              <a:path w="1348739" h="1572895">
                <a:moveTo>
                  <a:pt x="1348740" y="0"/>
                </a:moveTo>
                <a:lnTo>
                  <a:pt x="0" y="0"/>
                </a:lnTo>
                <a:lnTo>
                  <a:pt x="0" y="1572768"/>
                </a:lnTo>
                <a:lnTo>
                  <a:pt x="1348740" y="1572768"/>
                </a:lnTo>
                <a:lnTo>
                  <a:pt x="1348740" y="0"/>
                </a:lnTo>
                <a:close/>
              </a:path>
            </a:pathLst>
          </a:custGeom>
          <a:solidFill>
            <a:srgbClr val="A4A4A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66344" y="448055"/>
            <a:ext cx="3413760" cy="3801110"/>
          </a:xfrm>
          <a:prstGeom prst="rect">
            <a:avLst/>
          </a:prstGeom>
          <a:solidFill>
            <a:srgbClr val="585858"/>
          </a:solidFill>
        </p:spPr>
        <p:txBody>
          <a:bodyPr wrap="square" lIns="0" tIns="2616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060"/>
              </a:spcBef>
            </a:pPr>
            <a:endParaRPr sz="2900">
              <a:latin typeface="Times New Roman"/>
              <a:cs typeface="Times New Roman"/>
            </a:endParaRPr>
          </a:p>
          <a:p>
            <a:pPr marL="401955" marR="374015">
              <a:lnSpc>
                <a:spcPct val="90000"/>
              </a:lnSpc>
            </a:pP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r>
              <a:rPr dirty="0" sz="2900" spc="-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Caused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9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Concurrent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Executions</a:t>
            </a:r>
            <a:r>
              <a:rPr dirty="0" sz="2900" spc="-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50" b="1">
                <a:solidFill>
                  <a:srgbClr val="FFFFFF"/>
                </a:solidFill>
                <a:latin typeface="Calibri"/>
                <a:cs typeface="Calibri"/>
              </a:rPr>
              <a:t>– </a:t>
            </a:r>
            <a:r>
              <a:rPr dirty="0" sz="2900" spc="-10" b="1">
                <a:solidFill>
                  <a:srgbClr val="FFFFFF"/>
                </a:solidFill>
                <a:latin typeface="Calibri"/>
                <a:cs typeface="Calibri"/>
              </a:rPr>
              <a:t>Uncommitted Dependency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dirty="0" sz="2900" spc="-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b="1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dirty="0" sz="2900" spc="-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900" spc="-20" b="1">
                <a:solidFill>
                  <a:srgbClr val="FFFFFF"/>
                </a:solidFill>
                <a:latin typeface="Calibri"/>
                <a:cs typeface="Calibri"/>
              </a:rPr>
              <a:t>Contd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466344" y="4419600"/>
            <a:ext cx="3413760" cy="1979930"/>
          </a:xfrm>
          <a:custGeom>
            <a:avLst/>
            <a:gdLst/>
            <a:ahLst/>
            <a:cxnLst/>
            <a:rect l="l" t="t" r="r" b="b"/>
            <a:pathLst>
              <a:path w="3413760" h="1979929">
                <a:moveTo>
                  <a:pt x="3413759" y="0"/>
                </a:moveTo>
                <a:lnTo>
                  <a:pt x="0" y="0"/>
                </a:lnTo>
                <a:lnTo>
                  <a:pt x="0" y="1979676"/>
                </a:lnTo>
                <a:lnTo>
                  <a:pt x="3413759" y="1979676"/>
                </a:lnTo>
                <a:lnTo>
                  <a:pt x="3413759" y="0"/>
                </a:lnTo>
                <a:close/>
              </a:path>
            </a:pathLst>
          </a:custGeom>
          <a:solidFill>
            <a:srgbClr val="4471C4">
              <a:alpha val="949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4044696" y="448055"/>
            <a:ext cx="7688580" cy="5953125"/>
          </a:xfrm>
          <a:custGeom>
            <a:avLst/>
            <a:gdLst/>
            <a:ahLst/>
            <a:cxnLst/>
            <a:rect l="l" t="t" r="r" b="b"/>
            <a:pathLst>
              <a:path w="7688580" h="5953125">
                <a:moveTo>
                  <a:pt x="7688580" y="0"/>
                </a:moveTo>
                <a:lnTo>
                  <a:pt x="0" y="0"/>
                </a:lnTo>
                <a:lnTo>
                  <a:pt x="0" y="5952744"/>
                </a:lnTo>
                <a:lnTo>
                  <a:pt x="7688580" y="5952744"/>
                </a:lnTo>
                <a:lnTo>
                  <a:pt x="7688580" y="0"/>
                </a:lnTo>
                <a:close/>
              </a:path>
            </a:pathLst>
          </a:custGeom>
          <a:solidFill>
            <a:srgbClr val="7E7E7E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458970" y="1113259"/>
            <a:ext cx="6750684" cy="445643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10">
                <a:latin typeface="Calibri"/>
                <a:cs typeface="Calibri"/>
              </a:rPr>
              <a:t>Example</a:t>
            </a:r>
            <a:endParaRPr sz="2600">
              <a:latin typeface="Calibri"/>
              <a:cs typeface="Calibri"/>
            </a:endParaRPr>
          </a:p>
          <a:p>
            <a:pPr marL="241300" marR="80645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summing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(X),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(Y),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(Z).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However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time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transferring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10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pounds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between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(X)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(Z)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965"/>
              </a:lnSpc>
              <a:spcBef>
                <a:spcPts val="69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balances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Bal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dirty="0" sz="2600">
                <a:latin typeface="Calibri"/>
                <a:cs typeface="Calibri"/>
              </a:rPr>
              <a:t>(X)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(Z)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final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result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incorrect</a:t>
            </a:r>
            <a:endParaRPr sz="2600">
              <a:latin typeface="Calibri"/>
              <a:cs typeface="Calibri"/>
            </a:endParaRPr>
          </a:p>
          <a:p>
            <a:pPr marL="241300" marR="58420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problem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would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solved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preventing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from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transferring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money </a:t>
            </a:r>
            <a:r>
              <a:rPr dirty="0" sz="2600">
                <a:latin typeface="Calibri"/>
                <a:cs typeface="Calibri"/>
              </a:rPr>
              <a:t>between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accounts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before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has </a:t>
            </a:r>
            <a:r>
              <a:rPr dirty="0" sz="2600" spc="-10">
                <a:latin typeface="Calibri"/>
                <a:cs typeface="Calibri"/>
              </a:rPr>
              <a:t>committed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83081" y="2590927"/>
            <a:ext cx="4254500" cy="141605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 marR="5080" indent="531495">
              <a:lnSpc>
                <a:spcPts val="5190"/>
              </a:lnSpc>
              <a:spcBef>
                <a:spcPts val="745"/>
              </a:spcBef>
            </a:pPr>
            <a:r>
              <a:rPr dirty="0" sz="4800" spc="-10" b="1">
                <a:latin typeface="Calibri"/>
                <a:cs typeface="Calibri"/>
              </a:rPr>
              <a:t>Concurrency </a:t>
            </a:r>
            <a:r>
              <a:rPr dirty="0" sz="4800" b="1">
                <a:latin typeface="Calibri"/>
                <a:cs typeface="Calibri"/>
              </a:rPr>
              <a:t>Control</a:t>
            </a:r>
            <a:r>
              <a:rPr dirty="0" sz="4800" spc="-170" b="1">
                <a:latin typeface="Calibri"/>
                <a:cs typeface="Calibri"/>
              </a:rPr>
              <a:t> </a:t>
            </a:r>
            <a:r>
              <a:rPr dirty="0" sz="4800" spc="-10" b="1">
                <a:latin typeface="Calibri"/>
                <a:cs typeface="Calibri"/>
              </a:rPr>
              <a:t>Schemes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0"/>
            <a:ext cx="127000" cy="6858000"/>
          </a:xfrm>
          <a:custGeom>
            <a:avLst/>
            <a:gdLst/>
            <a:ahLst/>
            <a:cxnLst/>
            <a:rect l="l" t="t" r="r" b="b"/>
            <a:pathLst>
              <a:path w="127000" h="6858000">
                <a:moveTo>
                  <a:pt x="126492" y="0"/>
                </a:moveTo>
                <a:lnTo>
                  <a:pt x="0" y="0"/>
                </a:lnTo>
                <a:lnTo>
                  <a:pt x="0" y="6858000"/>
                </a:lnTo>
                <a:lnTo>
                  <a:pt x="126492" y="6858000"/>
                </a:lnTo>
                <a:lnTo>
                  <a:pt x="126492" y="0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5817108" y="493776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897117" y="521334"/>
            <a:ext cx="4855845" cy="726440"/>
          </a:xfrm>
          <a:prstGeom prst="rect"/>
        </p:spPr>
        <p:txBody>
          <a:bodyPr wrap="square" lIns="0" tIns="48895" rIns="0" bIns="0" rtlCol="0" vert="horz">
            <a:spAutoFit/>
          </a:bodyPr>
          <a:lstStyle/>
          <a:p>
            <a:pPr marL="12700" marR="5080">
              <a:lnSpc>
                <a:spcPts val="2640"/>
              </a:lnSpc>
              <a:spcBef>
                <a:spcPts val="385"/>
              </a:spcBef>
            </a:pPr>
            <a:r>
              <a:rPr dirty="0" sz="2400" b="0">
                <a:latin typeface="Calibri"/>
                <a:cs typeface="Calibri"/>
              </a:rPr>
              <a:t>Fundamental</a:t>
            </a:r>
            <a:r>
              <a:rPr dirty="0" sz="2400" spc="-90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property</a:t>
            </a:r>
            <a:r>
              <a:rPr dirty="0" sz="2400" spc="-85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of</a:t>
            </a:r>
            <a:r>
              <a:rPr dirty="0" sz="2400" spc="-75" b="0">
                <a:latin typeface="Calibri"/>
                <a:cs typeface="Calibri"/>
              </a:rPr>
              <a:t> </a:t>
            </a:r>
            <a:r>
              <a:rPr dirty="0" sz="2400" b="0">
                <a:latin typeface="Calibri"/>
                <a:cs typeface="Calibri"/>
              </a:rPr>
              <a:t>transaction</a:t>
            </a:r>
            <a:r>
              <a:rPr dirty="0" sz="2400" spc="-90" b="0">
                <a:latin typeface="Calibri"/>
                <a:cs typeface="Calibri"/>
              </a:rPr>
              <a:t> </a:t>
            </a:r>
            <a:r>
              <a:rPr dirty="0" sz="2400" spc="-25" b="0">
                <a:latin typeface="Calibri"/>
                <a:cs typeface="Calibri"/>
              </a:rPr>
              <a:t>is </a:t>
            </a:r>
            <a:r>
              <a:rPr dirty="0" sz="2400" spc="-10" b="0">
                <a:latin typeface="Calibri"/>
                <a:cs typeface="Calibri"/>
              </a:rPr>
              <a:t>Isolation.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5817108" y="1306067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A4A4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5817108" y="2409444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5817108" y="3578352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5B9BD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5817108" y="4843271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5897117" y="1333246"/>
            <a:ext cx="6005830" cy="426529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just" marL="12700" marR="9525">
              <a:lnSpc>
                <a:spcPct val="91500"/>
              </a:lnSpc>
              <a:spcBef>
                <a:spcPts val="345"/>
              </a:spcBef>
            </a:pPr>
            <a:r>
              <a:rPr dirty="0" sz="2400">
                <a:latin typeface="Calibri"/>
                <a:cs typeface="Calibri"/>
              </a:rPr>
              <a:t>Isolation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property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ensures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each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1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remain</a:t>
            </a:r>
            <a:r>
              <a:rPr dirty="0" sz="2400" spc="1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unaware</a:t>
            </a:r>
            <a:r>
              <a:rPr dirty="0" sz="2400" spc="1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13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125">
                <a:latin typeface="Calibri"/>
                <a:cs typeface="Calibri"/>
              </a:rPr>
              <a:t>  </a:t>
            </a:r>
            <a:r>
              <a:rPr dirty="0" sz="2400" spc="-10">
                <a:latin typeface="Calibri"/>
                <a:cs typeface="Calibri"/>
              </a:rPr>
              <a:t>concurrently executing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transactions.</a:t>
            </a:r>
            <a:endParaRPr sz="2400">
              <a:latin typeface="Calibri"/>
              <a:cs typeface="Calibri"/>
            </a:endParaRPr>
          </a:p>
          <a:p>
            <a:pPr algn="just" marL="12700" marR="7620">
              <a:lnSpc>
                <a:spcPct val="91500"/>
              </a:lnSpc>
              <a:spcBef>
                <a:spcPts val="785"/>
              </a:spcBef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245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several</a:t>
            </a:r>
            <a:r>
              <a:rPr dirty="0" sz="2400" spc="250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transactions</a:t>
            </a:r>
            <a:r>
              <a:rPr dirty="0" sz="2400" spc="250">
                <a:latin typeface="Calibri"/>
                <a:cs typeface="Calibri"/>
              </a:rPr>
              <a:t>  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250">
                <a:latin typeface="Calibri"/>
                <a:cs typeface="Calibri"/>
              </a:rPr>
              <a:t>   </a:t>
            </a:r>
            <a:r>
              <a:rPr dirty="0" sz="2400" spc="-10">
                <a:latin typeface="Calibri"/>
                <a:cs typeface="Calibri"/>
              </a:rPr>
              <a:t>executing </a:t>
            </a:r>
            <a:r>
              <a:rPr dirty="0" sz="2400">
                <a:latin typeface="Calibri"/>
                <a:cs typeface="Calibri"/>
              </a:rPr>
              <a:t>simultaneously</a:t>
            </a:r>
            <a:r>
              <a:rPr dirty="0" sz="2400" spc="34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35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5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database</a:t>
            </a:r>
            <a:r>
              <a:rPr dirty="0" sz="2400" spc="35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3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355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not </a:t>
            </a:r>
            <a:r>
              <a:rPr dirty="0" sz="2400" spc="-10">
                <a:latin typeface="Calibri"/>
                <a:cs typeface="Calibri"/>
              </a:rPr>
              <a:t>preserve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isolation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property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long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algn="just" marL="12700" marR="9525">
              <a:lnSpc>
                <a:spcPct val="91500"/>
              </a:lnSpc>
              <a:spcBef>
                <a:spcPts val="1305"/>
              </a:spcBef>
            </a:pP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implement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concurrent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system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must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be </a:t>
            </a:r>
            <a:r>
              <a:rPr dirty="0" sz="2400">
                <a:latin typeface="Calibri"/>
                <a:cs typeface="Calibri"/>
              </a:rPr>
              <a:t>interaction</a:t>
            </a:r>
            <a:r>
              <a:rPr dirty="0" sz="2400" spc="430">
                <a:latin typeface="Calibri"/>
                <a:cs typeface="Calibri"/>
              </a:rPr>
              <a:t>    </a:t>
            </a:r>
            <a:r>
              <a:rPr dirty="0" sz="2400">
                <a:latin typeface="Calibri"/>
                <a:cs typeface="Calibri"/>
              </a:rPr>
              <a:t>among</a:t>
            </a:r>
            <a:r>
              <a:rPr dirty="0" sz="2400" spc="430">
                <a:latin typeface="Calibri"/>
                <a:cs typeface="Calibri"/>
              </a:rPr>
              <a:t>    </a:t>
            </a:r>
            <a:r>
              <a:rPr dirty="0" sz="2400">
                <a:latin typeface="Calibri"/>
                <a:cs typeface="Calibri"/>
              </a:rPr>
              <a:t>various</a:t>
            </a:r>
            <a:r>
              <a:rPr dirty="0" sz="2400" spc="434">
                <a:latin typeface="Calibri"/>
                <a:cs typeface="Calibri"/>
              </a:rPr>
              <a:t>    </a:t>
            </a:r>
            <a:r>
              <a:rPr dirty="0" sz="2400" spc="-10">
                <a:latin typeface="Calibri"/>
                <a:cs typeface="Calibri"/>
              </a:rPr>
              <a:t>concurrent transactions.</a:t>
            </a:r>
            <a:endParaRPr sz="2400">
              <a:latin typeface="Calibri"/>
              <a:cs typeface="Calibri"/>
            </a:endParaRPr>
          </a:p>
          <a:p>
            <a:pPr algn="just" marL="12700" marR="5080">
              <a:lnSpc>
                <a:spcPts val="2640"/>
              </a:lnSpc>
              <a:spcBef>
                <a:spcPts val="2100"/>
              </a:spcBef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41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43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4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done</a:t>
            </a:r>
            <a:r>
              <a:rPr dirty="0" sz="2400" spc="42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42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42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one</a:t>
            </a:r>
            <a:r>
              <a:rPr dirty="0" sz="2400" spc="42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425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>
                <a:latin typeface="Calibri"/>
                <a:cs typeface="Calibri"/>
              </a:rPr>
              <a:t>concurrency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control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schemes.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5817108" y="5655564"/>
            <a:ext cx="6163310" cy="0"/>
          </a:xfrm>
          <a:custGeom>
            <a:avLst/>
            <a:gdLst/>
            <a:ahLst/>
            <a:cxnLst/>
            <a:rect l="l" t="t" r="r" b="b"/>
            <a:pathLst>
              <a:path w="6163309" h="0">
                <a:moveTo>
                  <a:pt x="0" y="0"/>
                </a:moveTo>
                <a:lnTo>
                  <a:pt x="6163056" y="0"/>
                </a:lnTo>
              </a:path>
            </a:pathLst>
          </a:custGeom>
          <a:ln w="12700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016304" y="2640914"/>
            <a:ext cx="2814955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222885" marR="5080" indent="-210820">
              <a:lnSpc>
                <a:spcPts val="5190"/>
              </a:lnSpc>
              <a:spcBef>
                <a:spcPts val="750"/>
              </a:spcBef>
            </a:pPr>
            <a:r>
              <a:rPr dirty="0" sz="4800" b="1">
                <a:latin typeface="Calibri"/>
                <a:cs typeface="Calibri"/>
              </a:rPr>
              <a:t>Lock</a:t>
            </a:r>
            <a:r>
              <a:rPr dirty="0" sz="4800" spc="-20" b="1">
                <a:latin typeface="Calibri"/>
                <a:cs typeface="Calibri"/>
              </a:rPr>
              <a:t> </a:t>
            </a:r>
            <a:r>
              <a:rPr dirty="0" sz="4800" spc="-10" b="1">
                <a:latin typeface="Calibri"/>
                <a:cs typeface="Calibri"/>
              </a:rPr>
              <a:t>Based Protocols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513578" y="377443"/>
            <a:ext cx="5760085" cy="2365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240665" indent="-227965">
              <a:lnSpc>
                <a:spcPts val="263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 spc="-10" b="1">
                <a:latin typeface="Calibri"/>
                <a:cs typeface="Calibri"/>
              </a:rPr>
              <a:t>Introduction</a:t>
            </a:r>
            <a:endParaRPr sz="2200">
              <a:latin typeface="Calibri"/>
              <a:cs typeface="Calibri"/>
            </a:endParaRPr>
          </a:p>
          <a:p>
            <a:pPr algn="just" lvl="1" marL="698500" marR="6350" indent="-228600">
              <a:lnSpc>
                <a:spcPct val="80000"/>
              </a:lnSpc>
              <a:spcBef>
                <a:spcPts val="51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2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concurrent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users</a:t>
            </a:r>
            <a:r>
              <a:rPr dirty="0" sz="2200" spc="22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can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3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same</a:t>
            </a:r>
            <a:r>
              <a:rPr dirty="0" sz="2200" spc="3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3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DBMS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simultaneously,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feeling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exclusive</a:t>
            </a:r>
            <a:r>
              <a:rPr dirty="0" sz="2200" spc="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8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database.</a:t>
            </a:r>
            <a:endParaRPr sz="2200">
              <a:latin typeface="Calibri"/>
              <a:cs typeface="Calibri"/>
            </a:endParaRPr>
          </a:p>
          <a:p>
            <a:pPr algn="just" lvl="1" marL="698500" marR="5080" indent="-228600">
              <a:lnSpc>
                <a:spcPct val="80100"/>
              </a:lnSpc>
              <a:spcBef>
                <a:spcPts val="49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29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achieve</a:t>
            </a:r>
            <a:r>
              <a:rPr dirty="0" sz="2200" spc="30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29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30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we</a:t>
            </a:r>
            <a:r>
              <a:rPr dirty="0" sz="2200" spc="30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must</a:t>
            </a:r>
            <a:r>
              <a:rPr dirty="0" sz="2200" spc="300">
                <a:latin typeface="Calibri"/>
                <a:cs typeface="Calibri"/>
              </a:rPr>
              <a:t>  </a:t>
            </a:r>
            <a:r>
              <a:rPr dirty="0" sz="2200" spc="-20">
                <a:latin typeface="Calibri"/>
                <a:cs typeface="Calibri"/>
              </a:rPr>
              <a:t>have </a:t>
            </a:r>
            <a:r>
              <a:rPr dirty="0" sz="2200">
                <a:latin typeface="Calibri"/>
                <a:cs typeface="Calibri"/>
              </a:rPr>
              <a:t>interaction</a:t>
            </a:r>
            <a:r>
              <a:rPr dirty="0" sz="2200" spc="310">
                <a:latin typeface="Calibri"/>
                <a:cs typeface="Calibri"/>
              </a:rPr>
              <a:t>   </a:t>
            </a:r>
            <a:r>
              <a:rPr dirty="0" sz="2200">
                <a:latin typeface="Calibri"/>
                <a:cs typeface="Calibri"/>
              </a:rPr>
              <a:t>amongst</a:t>
            </a:r>
            <a:r>
              <a:rPr dirty="0" sz="2200" spc="305">
                <a:latin typeface="Calibri"/>
                <a:cs typeface="Calibri"/>
              </a:rPr>
              <a:t>   </a:t>
            </a:r>
            <a:r>
              <a:rPr dirty="0" sz="2200">
                <a:latin typeface="Calibri"/>
                <a:cs typeface="Calibri"/>
              </a:rPr>
              <a:t>those</a:t>
            </a:r>
            <a:r>
              <a:rPr dirty="0" sz="2200" spc="310">
                <a:latin typeface="Calibri"/>
                <a:cs typeface="Calibri"/>
              </a:rPr>
              <a:t>   </a:t>
            </a:r>
            <a:r>
              <a:rPr dirty="0" sz="2200" spc="-10">
                <a:latin typeface="Calibri"/>
                <a:cs typeface="Calibri"/>
              </a:rPr>
              <a:t>concurrent transactions.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70778" y="2714370"/>
            <a:ext cx="5302250" cy="122936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Whenever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accessing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 </a:t>
            </a:r>
            <a:r>
              <a:rPr dirty="0" sz="2200">
                <a:latin typeface="Calibri"/>
                <a:cs typeface="Calibri"/>
              </a:rPr>
              <a:t>second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change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241300" marR="7620" indent="-228600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Transaction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access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locked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transaction.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970778" y="3913454"/>
            <a:ext cx="530225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355090" algn="l"/>
                <a:tab pos="1792605" algn="l"/>
                <a:tab pos="3176270" algn="l"/>
                <a:tab pos="3650615" algn="l"/>
                <a:tab pos="4048760" algn="l"/>
              </a:tabLst>
            </a:pPr>
            <a:r>
              <a:rPr dirty="0" sz="2200" spc="-10">
                <a:latin typeface="Calibri"/>
                <a:cs typeface="Calibri"/>
              </a:rPr>
              <a:t>Locking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is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necessary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in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50">
                <a:latin typeface="Calibri"/>
                <a:cs typeface="Calibri"/>
              </a:rPr>
              <a:t>a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concurrent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70778" y="4182236"/>
            <a:ext cx="5302250" cy="1497330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algn="just" marL="241300" marR="5080">
              <a:lnSpc>
                <a:spcPct val="80000"/>
              </a:lnSpc>
              <a:spcBef>
                <a:spcPts val="625"/>
              </a:spcBef>
            </a:pPr>
            <a:r>
              <a:rPr dirty="0" sz="2200">
                <a:latin typeface="Calibri"/>
                <a:cs typeface="Calibri"/>
              </a:rPr>
              <a:t>environment</a:t>
            </a:r>
            <a:r>
              <a:rPr dirty="0" sz="2200" spc="15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14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assure</a:t>
            </a:r>
            <a:r>
              <a:rPr dirty="0" sz="2200" spc="14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that</a:t>
            </a:r>
            <a:r>
              <a:rPr dirty="0" sz="2200" spc="13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145">
                <a:latin typeface="Calibri"/>
                <a:cs typeface="Calibri"/>
              </a:rPr>
              <a:t>  </a:t>
            </a:r>
            <a:r>
              <a:rPr dirty="0" sz="2200" spc="-10">
                <a:latin typeface="Calibri"/>
                <a:cs typeface="Calibri"/>
              </a:rPr>
              <a:t>process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20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not</a:t>
            </a:r>
            <a:r>
              <a:rPr dirty="0" sz="2200" spc="19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retrieve</a:t>
            </a:r>
            <a:r>
              <a:rPr dirty="0" sz="2200" spc="20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or</a:t>
            </a:r>
            <a:r>
              <a:rPr dirty="0" sz="2200" spc="204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update</a:t>
            </a:r>
            <a:r>
              <a:rPr dirty="0" sz="2200" spc="19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00">
                <a:latin typeface="Calibri"/>
                <a:cs typeface="Calibri"/>
              </a:rPr>
              <a:t>  </a:t>
            </a:r>
            <a:r>
              <a:rPr dirty="0" sz="2200" spc="-10">
                <a:latin typeface="Calibri"/>
                <a:cs typeface="Calibri"/>
              </a:rPr>
              <a:t>record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another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process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updating.</a:t>
            </a:r>
            <a:endParaRPr sz="2200">
              <a:latin typeface="Calibri"/>
              <a:cs typeface="Calibri"/>
            </a:endParaRPr>
          </a:p>
          <a:p>
            <a:pPr algn="just" marL="240665" indent="-227965">
              <a:lnSpc>
                <a:spcPts val="2350"/>
              </a:lnSpc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Failure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3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3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would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result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inconsistent</a:t>
            </a:r>
            <a:endParaRPr sz="2200">
              <a:latin typeface="Calibri"/>
              <a:cs typeface="Calibri"/>
            </a:endParaRPr>
          </a:p>
          <a:p>
            <a:pPr algn="just" marL="241300">
              <a:lnSpc>
                <a:spcPts val="2375"/>
              </a:lnSpc>
            </a:pP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corrupted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660015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44536A"/>
                </a:solidFill>
              </a:rPr>
              <a:t>Lock</a:t>
            </a:r>
            <a:r>
              <a:rPr dirty="0" spc="-40">
                <a:solidFill>
                  <a:srgbClr val="44536A"/>
                </a:solidFill>
              </a:rPr>
              <a:t> </a:t>
            </a:r>
            <a:r>
              <a:rPr dirty="0">
                <a:solidFill>
                  <a:srgbClr val="44536A"/>
                </a:solidFill>
              </a:rPr>
              <a:t>based</a:t>
            </a:r>
            <a:r>
              <a:rPr dirty="0" spc="-30">
                <a:solidFill>
                  <a:srgbClr val="44536A"/>
                </a:solidFill>
              </a:rPr>
              <a:t> </a:t>
            </a:r>
            <a:r>
              <a:rPr dirty="0" spc="-10">
                <a:solidFill>
                  <a:srgbClr val="44536A"/>
                </a:solidFill>
              </a:rPr>
              <a:t>protocol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915412" cy="2188337"/>
          </a:xfrm>
          <a:prstGeom prst="rect">
            <a:avLst/>
          </a:prstGeom>
        </p:spPr>
      </p:pic>
      <p:grpSp>
        <p:nvGrpSpPr>
          <p:cNvPr id="4" name="object 4" descr=""/>
          <p:cNvGrpSpPr/>
          <p:nvPr/>
        </p:nvGrpSpPr>
        <p:grpSpPr>
          <a:xfrm>
            <a:off x="1167383" y="2901695"/>
            <a:ext cx="4700270" cy="3135630"/>
            <a:chOff x="1167383" y="2901695"/>
            <a:chExt cx="4700270" cy="3135630"/>
          </a:xfrm>
        </p:grpSpPr>
        <p:sp>
          <p:nvSpPr>
            <p:cNvPr id="5" name="object 5" descr=""/>
            <p:cNvSpPr/>
            <p:nvPr/>
          </p:nvSpPr>
          <p:spPr>
            <a:xfrm>
              <a:off x="1167383" y="2901695"/>
              <a:ext cx="4224655" cy="2682240"/>
            </a:xfrm>
            <a:custGeom>
              <a:avLst/>
              <a:gdLst/>
              <a:ahLst/>
              <a:cxnLst/>
              <a:rect l="l" t="t" r="r" b="b"/>
              <a:pathLst>
                <a:path w="4224655" h="2682240">
                  <a:moveTo>
                    <a:pt x="3956304" y="0"/>
                  </a:moveTo>
                  <a:lnTo>
                    <a:pt x="268224" y="0"/>
                  </a:lnTo>
                  <a:lnTo>
                    <a:pt x="220024" y="4323"/>
                  </a:lnTo>
                  <a:lnTo>
                    <a:pt x="174653" y="16786"/>
                  </a:lnTo>
                  <a:lnTo>
                    <a:pt x="132870" y="36632"/>
                  </a:lnTo>
                  <a:lnTo>
                    <a:pt x="95432" y="63100"/>
                  </a:lnTo>
                  <a:lnTo>
                    <a:pt x="63100" y="95432"/>
                  </a:lnTo>
                  <a:lnTo>
                    <a:pt x="36632" y="132870"/>
                  </a:lnTo>
                  <a:lnTo>
                    <a:pt x="16786" y="174653"/>
                  </a:lnTo>
                  <a:lnTo>
                    <a:pt x="4323" y="220024"/>
                  </a:lnTo>
                  <a:lnTo>
                    <a:pt x="0" y="268224"/>
                  </a:lnTo>
                  <a:lnTo>
                    <a:pt x="0" y="2414016"/>
                  </a:lnTo>
                  <a:lnTo>
                    <a:pt x="4323" y="2462215"/>
                  </a:lnTo>
                  <a:lnTo>
                    <a:pt x="16786" y="2507586"/>
                  </a:lnTo>
                  <a:lnTo>
                    <a:pt x="36632" y="2549369"/>
                  </a:lnTo>
                  <a:lnTo>
                    <a:pt x="63100" y="2586807"/>
                  </a:lnTo>
                  <a:lnTo>
                    <a:pt x="95432" y="2619139"/>
                  </a:lnTo>
                  <a:lnTo>
                    <a:pt x="132870" y="2645607"/>
                  </a:lnTo>
                  <a:lnTo>
                    <a:pt x="174653" y="2665453"/>
                  </a:lnTo>
                  <a:lnTo>
                    <a:pt x="220024" y="2677916"/>
                  </a:lnTo>
                  <a:lnTo>
                    <a:pt x="268224" y="2682240"/>
                  </a:lnTo>
                  <a:lnTo>
                    <a:pt x="3956304" y="2682240"/>
                  </a:lnTo>
                  <a:lnTo>
                    <a:pt x="4004503" y="2677916"/>
                  </a:lnTo>
                  <a:lnTo>
                    <a:pt x="4049874" y="2665453"/>
                  </a:lnTo>
                  <a:lnTo>
                    <a:pt x="4091657" y="2645607"/>
                  </a:lnTo>
                  <a:lnTo>
                    <a:pt x="4129095" y="2619139"/>
                  </a:lnTo>
                  <a:lnTo>
                    <a:pt x="4161427" y="2586807"/>
                  </a:lnTo>
                  <a:lnTo>
                    <a:pt x="4187895" y="2549369"/>
                  </a:lnTo>
                  <a:lnTo>
                    <a:pt x="4207741" y="2507586"/>
                  </a:lnTo>
                  <a:lnTo>
                    <a:pt x="4220204" y="2462215"/>
                  </a:lnTo>
                  <a:lnTo>
                    <a:pt x="4224528" y="2414016"/>
                  </a:lnTo>
                  <a:lnTo>
                    <a:pt x="4224528" y="268224"/>
                  </a:lnTo>
                  <a:lnTo>
                    <a:pt x="4220204" y="220024"/>
                  </a:lnTo>
                  <a:lnTo>
                    <a:pt x="4207741" y="174653"/>
                  </a:lnTo>
                  <a:lnTo>
                    <a:pt x="4187895" y="132870"/>
                  </a:lnTo>
                  <a:lnTo>
                    <a:pt x="4161427" y="95432"/>
                  </a:lnTo>
                  <a:lnTo>
                    <a:pt x="4129095" y="63100"/>
                  </a:lnTo>
                  <a:lnTo>
                    <a:pt x="4091657" y="36632"/>
                  </a:lnTo>
                  <a:lnTo>
                    <a:pt x="4049874" y="16786"/>
                  </a:lnTo>
                  <a:lnTo>
                    <a:pt x="4004503" y="4323"/>
                  </a:lnTo>
                  <a:lnTo>
                    <a:pt x="39563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1636775" y="3346703"/>
              <a:ext cx="4224655" cy="2684145"/>
            </a:xfrm>
            <a:custGeom>
              <a:avLst/>
              <a:gdLst/>
              <a:ahLst/>
              <a:cxnLst/>
              <a:rect l="l" t="t" r="r" b="b"/>
              <a:pathLst>
                <a:path w="4224655" h="2684145">
                  <a:moveTo>
                    <a:pt x="3956177" y="0"/>
                  </a:moveTo>
                  <a:lnTo>
                    <a:pt x="268350" y="0"/>
                  </a:lnTo>
                  <a:lnTo>
                    <a:pt x="220113" y="4323"/>
                  </a:lnTo>
                  <a:lnTo>
                    <a:pt x="174713" y="16788"/>
                  </a:lnTo>
                  <a:lnTo>
                    <a:pt x="132907" y="36637"/>
                  </a:lnTo>
                  <a:lnTo>
                    <a:pt x="95454" y="63111"/>
                  </a:lnTo>
                  <a:lnTo>
                    <a:pt x="63111" y="95454"/>
                  </a:lnTo>
                  <a:lnTo>
                    <a:pt x="36637" y="132907"/>
                  </a:lnTo>
                  <a:lnTo>
                    <a:pt x="16788" y="174713"/>
                  </a:lnTo>
                  <a:lnTo>
                    <a:pt x="4323" y="220113"/>
                  </a:lnTo>
                  <a:lnTo>
                    <a:pt x="0" y="268351"/>
                  </a:lnTo>
                  <a:lnTo>
                    <a:pt x="0" y="2415387"/>
                  </a:lnTo>
                  <a:lnTo>
                    <a:pt x="4323" y="2463628"/>
                  </a:lnTo>
                  <a:lnTo>
                    <a:pt x="16788" y="2509033"/>
                  </a:lnTo>
                  <a:lnTo>
                    <a:pt x="36637" y="2550842"/>
                  </a:lnTo>
                  <a:lnTo>
                    <a:pt x="63111" y="2588299"/>
                  </a:lnTo>
                  <a:lnTo>
                    <a:pt x="95454" y="2620645"/>
                  </a:lnTo>
                  <a:lnTo>
                    <a:pt x="132907" y="2647123"/>
                  </a:lnTo>
                  <a:lnTo>
                    <a:pt x="174713" y="2666973"/>
                  </a:lnTo>
                  <a:lnTo>
                    <a:pt x="220113" y="2679440"/>
                  </a:lnTo>
                  <a:lnTo>
                    <a:pt x="268350" y="2683764"/>
                  </a:lnTo>
                  <a:lnTo>
                    <a:pt x="3956177" y="2683764"/>
                  </a:lnTo>
                  <a:lnTo>
                    <a:pt x="4004414" y="2679440"/>
                  </a:lnTo>
                  <a:lnTo>
                    <a:pt x="4049814" y="2666973"/>
                  </a:lnTo>
                  <a:lnTo>
                    <a:pt x="4091620" y="2647123"/>
                  </a:lnTo>
                  <a:lnTo>
                    <a:pt x="4129073" y="2620645"/>
                  </a:lnTo>
                  <a:lnTo>
                    <a:pt x="4161416" y="2588299"/>
                  </a:lnTo>
                  <a:lnTo>
                    <a:pt x="4187890" y="2550842"/>
                  </a:lnTo>
                  <a:lnTo>
                    <a:pt x="4207739" y="2509033"/>
                  </a:lnTo>
                  <a:lnTo>
                    <a:pt x="4220204" y="2463628"/>
                  </a:lnTo>
                  <a:lnTo>
                    <a:pt x="4224528" y="2415387"/>
                  </a:lnTo>
                  <a:lnTo>
                    <a:pt x="4224528" y="268351"/>
                  </a:lnTo>
                  <a:lnTo>
                    <a:pt x="4220204" y="220113"/>
                  </a:lnTo>
                  <a:lnTo>
                    <a:pt x="4207739" y="174713"/>
                  </a:lnTo>
                  <a:lnTo>
                    <a:pt x="4187890" y="132907"/>
                  </a:lnTo>
                  <a:lnTo>
                    <a:pt x="4161416" y="95454"/>
                  </a:lnTo>
                  <a:lnTo>
                    <a:pt x="4129073" y="63111"/>
                  </a:lnTo>
                  <a:lnTo>
                    <a:pt x="4091620" y="36637"/>
                  </a:lnTo>
                  <a:lnTo>
                    <a:pt x="4049814" y="16788"/>
                  </a:lnTo>
                  <a:lnTo>
                    <a:pt x="4004414" y="4323"/>
                  </a:lnTo>
                  <a:lnTo>
                    <a:pt x="395617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636775" y="3346703"/>
              <a:ext cx="4224655" cy="2684145"/>
            </a:xfrm>
            <a:custGeom>
              <a:avLst/>
              <a:gdLst/>
              <a:ahLst/>
              <a:cxnLst/>
              <a:rect l="l" t="t" r="r" b="b"/>
              <a:pathLst>
                <a:path w="4224655" h="2684145">
                  <a:moveTo>
                    <a:pt x="0" y="268351"/>
                  </a:moveTo>
                  <a:lnTo>
                    <a:pt x="4323" y="220113"/>
                  </a:lnTo>
                  <a:lnTo>
                    <a:pt x="16788" y="174713"/>
                  </a:lnTo>
                  <a:lnTo>
                    <a:pt x="36637" y="132907"/>
                  </a:lnTo>
                  <a:lnTo>
                    <a:pt x="63111" y="95454"/>
                  </a:lnTo>
                  <a:lnTo>
                    <a:pt x="95454" y="63111"/>
                  </a:lnTo>
                  <a:lnTo>
                    <a:pt x="132907" y="36637"/>
                  </a:lnTo>
                  <a:lnTo>
                    <a:pt x="174713" y="16788"/>
                  </a:lnTo>
                  <a:lnTo>
                    <a:pt x="220113" y="4323"/>
                  </a:lnTo>
                  <a:lnTo>
                    <a:pt x="268350" y="0"/>
                  </a:lnTo>
                  <a:lnTo>
                    <a:pt x="3956177" y="0"/>
                  </a:lnTo>
                  <a:lnTo>
                    <a:pt x="4004414" y="4323"/>
                  </a:lnTo>
                  <a:lnTo>
                    <a:pt x="4049814" y="16788"/>
                  </a:lnTo>
                  <a:lnTo>
                    <a:pt x="4091620" y="36637"/>
                  </a:lnTo>
                  <a:lnTo>
                    <a:pt x="4129073" y="63111"/>
                  </a:lnTo>
                  <a:lnTo>
                    <a:pt x="4161416" y="95454"/>
                  </a:lnTo>
                  <a:lnTo>
                    <a:pt x="4187890" y="132907"/>
                  </a:lnTo>
                  <a:lnTo>
                    <a:pt x="4207739" y="174713"/>
                  </a:lnTo>
                  <a:lnTo>
                    <a:pt x="4220204" y="220113"/>
                  </a:lnTo>
                  <a:lnTo>
                    <a:pt x="4224528" y="268351"/>
                  </a:lnTo>
                  <a:lnTo>
                    <a:pt x="4224528" y="2415387"/>
                  </a:lnTo>
                  <a:lnTo>
                    <a:pt x="4220204" y="2463628"/>
                  </a:lnTo>
                  <a:lnTo>
                    <a:pt x="4207739" y="2509033"/>
                  </a:lnTo>
                  <a:lnTo>
                    <a:pt x="4187890" y="2550842"/>
                  </a:lnTo>
                  <a:lnTo>
                    <a:pt x="4161416" y="2588299"/>
                  </a:lnTo>
                  <a:lnTo>
                    <a:pt x="4129073" y="2620645"/>
                  </a:lnTo>
                  <a:lnTo>
                    <a:pt x="4091620" y="2647123"/>
                  </a:lnTo>
                  <a:lnTo>
                    <a:pt x="4049814" y="2666973"/>
                  </a:lnTo>
                  <a:lnTo>
                    <a:pt x="4004414" y="2679440"/>
                  </a:lnTo>
                  <a:lnTo>
                    <a:pt x="3956177" y="2683764"/>
                  </a:lnTo>
                  <a:lnTo>
                    <a:pt x="268350" y="2683764"/>
                  </a:lnTo>
                  <a:lnTo>
                    <a:pt x="220113" y="2679440"/>
                  </a:lnTo>
                  <a:lnTo>
                    <a:pt x="174713" y="2666973"/>
                  </a:lnTo>
                  <a:lnTo>
                    <a:pt x="132907" y="2647123"/>
                  </a:lnTo>
                  <a:lnTo>
                    <a:pt x="95454" y="2620645"/>
                  </a:lnTo>
                  <a:lnTo>
                    <a:pt x="63111" y="2588299"/>
                  </a:lnTo>
                  <a:lnTo>
                    <a:pt x="36637" y="2550842"/>
                  </a:lnTo>
                  <a:lnTo>
                    <a:pt x="16788" y="2509033"/>
                  </a:lnTo>
                  <a:lnTo>
                    <a:pt x="4323" y="2463628"/>
                  </a:lnTo>
                  <a:lnTo>
                    <a:pt x="0" y="2415387"/>
                  </a:lnTo>
                  <a:lnTo>
                    <a:pt x="0" y="268351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442210" y="4032961"/>
            <a:ext cx="2613025" cy="11931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 marR="5080" indent="196215">
              <a:lnSpc>
                <a:spcPts val="4390"/>
              </a:lnSpc>
              <a:spcBef>
                <a:spcPts val="585"/>
              </a:spcBef>
            </a:pPr>
            <a:r>
              <a:rPr dirty="0" sz="4000" spc="-35">
                <a:latin typeface="Calibri"/>
                <a:cs typeface="Calibri"/>
              </a:rPr>
              <a:t>Two</a:t>
            </a:r>
            <a:r>
              <a:rPr dirty="0" sz="4000" spc="-175">
                <a:latin typeface="Calibri"/>
                <a:cs typeface="Calibri"/>
              </a:rPr>
              <a:t> </a:t>
            </a:r>
            <a:r>
              <a:rPr dirty="0" sz="4000" spc="-20">
                <a:latin typeface="Calibri"/>
                <a:cs typeface="Calibri"/>
              </a:rPr>
              <a:t>phase </a:t>
            </a:r>
            <a:r>
              <a:rPr dirty="0" sz="4000" spc="-10">
                <a:latin typeface="Calibri"/>
                <a:cs typeface="Calibri"/>
              </a:rPr>
              <a:t>Locking(2PL)</a:t>
            </a:r>
            <a:endParaRPr sz="40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6330696" y="2901695"/>
            <a:ext cx="4700270" cy="3135630"/>
            <a:chOff x="6330696" y="2901695"/>
            <a:chExt cx="4700270" cy="3135630"/>
          </a:xfrm>
        </p:grpSpPr>
        <p:sp>
          <p:nvSpPr>
            <p:cNvPr id="10" name="object 10" descr=""/>
            <p:cNvSpPr/>
            <p:nvPr/>
          </p:nvSpPr>
          <p:spPr>
            <a:xfrm>
              <a:off x="6330696" y="2901695"/>
              <a:ext cx="4224655" cy="2682240"/>
            </a:xfrm>
            <a:custGeom>
              <a:avLst/>
              <a:gdLst/>
              <a:ahLst/>
              <a:cxnLst/>
              <a:rect l="l" t="t" r="r" b="b"/>
              <a:pathLst>
                <a:path w="4224655" h="2682240">
                  <a:moveTo>
                    <a:pt x="3956304" y="0"/>
                  </a:moveTo>
                  <a:lnTo>
                    <a:pt x="268224" y="0"/>
                  </a:lnTo>
                  <a:lnTo>
                    <a:pt x="220024" y="4323"/>
                  </a:lnTo>
                  <a:lnTo>
                    <a:pt x="174653" y="16786"/>
                  </a:lnTo>
                  <a:lnTo>
                    <a:pt x="132870" y="36632"/>
                  </a:lnTo>
                  <a:lnTo>
                    <a:pt x="95432" y="63100"/>
                  </a:lnTo>
                  <a:lnTo>
                    <a:pt x="63100" y="95432"/>
                  </a:lnTo>
                  <a:lnTo>
                    <a:pt x="36632" y="132870"/>
                  </a:lnTo>
                  <a:lnTo>
                    <a:pt x="16786" y="174653"/>
                  </a:lnTo>
                  <a:lnTo>
                    <a:pt x="4323" y="220024"/>
                  </a:lnTo>
                  <a:lnTo>
                    <a:pt x="0" y="268224"/>
                  </a:lnTo>
                  <a:lnTo>
                    <a:pt x="0" y="2414016"/>
                  </a:lnTo>
                  <a:lnTo>
                    <a:pt x="4323" y="2462215"/>
                  </a:lnTo>
                  <a:lnTo>
                    <a:pt x="16786" y="2507586"/>
                  </a:lnTo>
                  <a:lnTo>
                    <a:pt x="36632" y="2549369"/>
                  </a:lnTo>
                  <a:lnTo>
                    <a:pt x="63100" y="2586807"/>
                  </a:lnTo>
                  <a:lnTo>
                    <a:pt x="95432" y="2619139"/>
                  </a:lnTo>
                  <a:lnTo>
                    <a:pt x="132870" y="2645607"/>
                  </a:lnTo>
                  <a:lnTo>
                    <a:pt x="174653" y="2665453"/>
                  </a:lnTo>
                  <a:lnTo>
                    <a:pt x="220024" y="2677916"/>
                  </a:lnTo>
                  <a:lnTo>
                    <a:pt x="268224" y="2682240"/>
                  </a:lnTo>
                  <a:lnTo>
                    <a:pt x="3956304" y="2682240"/>
                  </a:lnTo>
                  <a:lnTo>
                    <a:pt x="4004503" y="2677916"/>
                  </a:lnTo>
                  <a:lnTo>
                    <a:pt x="4049874" y="2665453"/>
                  </a:lnTo>
                  <a:lnTo>
                    <a:pt x="4091657" y="2645607"/>
                  </a:lnTo>
                  <a:lnTo>
                    <a:pt x="4129095" y="2619139"/>
                  </a:lnTo>
                  <a:lnTo>
                    <a:pt x="4161427" y="2586807"/>
                  </a:lnTo>
                  <a:lnTo>
                    <a:pt x="4187895" y="2549369"/>
                  </a:lnTo>
                  <a:lnTo>
                    <a:pt x="4207741" y="2507586"/>
                  </a:lnTo>
                  <a:lnTo>
                    <a:pt x="4220204" y="2462215"/>
                  </a:lnTo>
                  <a:lnTo>
                    <a:pt x="4224528" y="2414016"/>
                  </a:lnTo>
                  <a:lnTo>
                    <a:pt x="4224528" y="268224"/>
                  </a:lnTo>
                  <a:lnTo>
                    <a:pt x="4220204" y="220024"/>
                  </a:lnTo>
                  <a:lnTo>
                    <a:pt x="4207741" y="174653"/>
                  </a:lnTo>
                  <a:lnTo>
                    <a:pt x="4187895" y="132870"/>
                  </a:lnTo>
                  <a:lnTo>
                    <a:pt x="4161427" y="95432"/>
                  </a:lnTo>
                  <a:lnTo>
                    <a:pt x="4129095" y="63100"/>
                  </a:lnTo>
                  <a:lnTo>
                    <a:pt x="4091657" y="36632"/>
                  </a:lnTo>
                  <a:lnTo>
                    <a:pt x="4049874" y="16786"/>
                  </a:lnTo>
                  <a:lnTo>
                    <a:pt x="4004503" y="4323"/>
                  </a:lnTo>
                  <a:lnTo>
                    <a:pt x="395630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00088" y="3346703"/>
              <a:ext cx="4224655" cy="2684145"/>
            </a:xfrm>
            <a:custGeom>
              <a:avLst/>
              <a:gdLst/>
              <a:ahLst/>
              <a:cxnLst/>
              <a:rect l="l" t="t" r="r" b="b"/>
              <a:pathLst>
                <a:path w="4224655" h="2684145">
                  <a:moveTo>
                    <a:pt x="3956177" y="0"/>
                  </a:moveTo>
                  <a:lnTo>
                    <a:pt x="268350" y="0"/>
                  </a:lnTo>
                  <a:lnTo>
                    <a:pt x="220113" y="4323"/>
                  </a:lnTo>
                  <a:lnTo>
                    <a:pt x="174713" y="16788"/>
                  </a:lnTo>
                  <a:lnTo>
                    <a:pt x="132907" y="36637"/>
                  </a:lnTo>
                  <a:lnTo>
                    <a:pt x="95454" y="63111"/>
                  </a:lnTo>
                  <a:lnTo>
                    <a:pt x="63111" y="95454"/>
                  </a:lnTo>
                  <a:lnTo>
                    <a:pt x="36637" y="132907"/>
                  </a:lnTo>
                  <a:lnTo>
                    <a:pt x="16788" y="174713"/>
                  </a:lnTo>
                  <a:lnTo>
                    <a:pt x="4323" y="220113"/>
                  </a:lnTo>
                  <a:lnTo>
                    <a:pt x="0" y="268351"/>
                  </a:lnTo>
                  <a:lnTo>
                    <a:pt x="0" y="2415387"/>
                  </a:lnTo>
                  <a:lnTo>
                    <a:pt x="4323" y="2463628"/>
                  </a:lnTo>
                  <a:lnTo>
                    <a:pt x="16788" y="2509033"/>
                  </a:lnTo>
                  <a:lnTo>
                    <a:pt x="36637" y="2550842"/>
                  </a:lnTo>
                  <a:lnTo>
                    <a:pt x="63111" y="2588299"/>
                  </a:lnTo>
                  <a:lnTo>
                    <a:pt x="95454" y="2620645"/>
                  </a:lnTo>
                  <a:lnTo>
                    <a:pt x="132907" y="2647123"/>
                  </a:lnTo>
                  <a:lnTo>
                    <a:pt x="174713" y="2666973"/>
                  </a:lnTo>
                  <a:lnTo>
                    <a:pt x="220113" y="2679440"/>
                  </a:lnTo>
                  <a:lnTo>
                    <a:pt x="268350" y="2683764"/>
                  </a:lnTo>
                  <a:lnTo>
                    <a:pt x="3956177" y="2683764"/>
                  </a:lnTo>
                  <a:lnTo>
                    <a:pt x="4004414" y="2679440"/>
                  </a:lnTo>
                  <a:lnTo>
                    <a:pt x="4049814" y="2666973"/>
                  </a:lnTo>
                  <a:lnTo>
                    <a:pt x="4091620" y="2647123"/>
                  </a:lnTo>
                  <a:lnTo>
                    <a:pt x="4129073" y="2620645"/>
                  </a:lnTo>
                  <a:lnTo>
                    <a:pt x="4161416" y="2588299"/>
                  </a:lnTo>
                  <a:lnTo>
                    <a:pt x="4187890" y="2550842"/>
                  </a:lnTo>
                  <a:lnTo>
                    <a:pt x="4207739" y="2509033"/>
                  </a:lnTo>
                  <a:lnTo>
                    <a:pt x="4220204" y="2463628"/>
                  </a:lnTo>
                  <a:lnTo>
                    <a:pt x="4224528" y="2415387"/>
                  </a:lnTo>
                  <a:lnTo>
                    <a:pt x="4224528" y="268351"/>
                  </a:lnTo>
                  <a:lnTo>
                    <a:pt x="4220204" y="220113"/>
                  </a:lnTo>
                  <a:lnTo>
                    <a:pt x="4207739" y="174713"/>
                  </a:lnTo>
                  <a:lnTo>
                    <a:pt x="4187890" y="132907"/>
                  </a:lnTo>
                  <a:lnTo>
                    <a:pt x="4161416" y="95454"/>
                  </a:lnTo>
                  <a:lnTo>
                    <a:pt x="4129073" y="63111"/>
                  </a:lnTo>
                  <a:lnTo>
                    <a:pt x="4091620" y="36637"/>
                  </a:lnTo>
                  <a:lnTo>
                    <a:pt x="4049814" y="16788"/>
                  </a:lnTo>
                  <a:lnTo>
                    <a:pt x="4004414" y="4323"/>
                  </a:lnTo>
                  <a:lnTo>
                    <a:pt x="395617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6800088" y="3346703"/>
              <a:ext cx="4224655" cy="2684145"/>
            </a:xfrm>
            <a:custGeom>
              <a:avLst/>
              <a:gdLst/>
              <a:ahLst/>
              <a:cxnLst/>
              <a:rect l="l" t="t" r="r" b="b"/>
              <a:pathLst>
                <a:path w="4224655" h="2684145">
                  <a:moveTo>
                    <a:pt x="0" y="268351"/>
                  </a:moveTo>
                  <a:lnTo>
                    <a:pt x="4323" y="220113"/>
                  </a:lnTo>
                  <a:lnTo>
                    <a:pt x="16788" y="174713"/>
                  </a:lnTo>
                  <a:lnTo>
                    <a:pt x="36637" y="132907"/>
                  </a:lnTo>
                  <a:lnTo>
                    <a:pt x="63111" y="95454"/>
                  </a:lnTo>
                  <a:lnTo>
                    <a:pt x="95454" y="63111"/>
                  </a:lnTo>
                  <a:lnTo>
                    <a:pt x="132907" y="36637"/>
                  </a:lnTo>
                  <a:lnTo>
                    <a:pt x="174713" y="16788"/>
                  </a:lnTo>
                  <a:lnTo>
                    <a:pt x="220113" y="4323"/>
                  </a:lnTo>
                  <a:lnTo>
                    <a:pt x="268350" y="0"/>
                  </a:lnTo>
                  <a:lnTo>
                    <a:pt x="3956177" y="0"/>
                  </a:lnTo>
                  <a:lnTo>
                    <a:pt x="4004414" y="4323"/>
                  </a:lnTo>
                  <a:lnTo>
                    <a:pt x="4049814" y="16788"/>
                  </a:lnTo>
                  <a:lnTo>
                    <a:pt x="4091620" y="36637"/>
                  </a:lnTo>
                  <a:lnTo>
                    <a:pt x="4129073" y="63111"/>
                  </a:lnTo>
                  <a:lnTo>
                    <a:pt x="4161416" y="95454"/>
                  </a:lnTo>
                  <a:lnTo>
                    <a:pt x="4187890" y="132907"/>
                  </a:lnTo>
                  <a:lnTo>
                    <a:pt x="4207739" y="174713"/>
                  </a:lnTo>
                  <a:lnTo>
                    <a:pt x="4220204" y="220113"/>
                  </a:lnTo>
                  <a:lnTo>
                    <a:pt x="4224528" y="268351"/>
                  </a:lnTo>
                  <a:lnTo>
                    <a:pt x="4224528" y="2415387"/>
                  </a:lnTo>
                  <a:lnTo>
                    <a:pt x="4220204" y="2463628"/>
                  </a:lnTo>
                  <a:lnTo>
                    <a:pt x="4207739" y="2509033"/>
                  </a:lnTo>
                  <a:lnTo>
                    <a:pt x="4187890" y="2550842"/>
                  </a:lnTo>
                  <a:lnTo>
                    <a:pt x="4161416" y="2588299"/>
                  </a:lnTo>
                  <a:lnTo>
                    <a:pt x="4129073" y="2620645"/>
                  </a:lnTo>
                  <a:lnTo>
                    <a:pt x="4091620" y="2647123"/>
                  </a:lnTo>
                  <a:lnTo>
                    <a:pt x="4049814" y="2666973"/>
                  </a:lnTo>
                  <a:lnTo>
                    <a:pt x="4004414" y="2679440"/>
                  </a:lnTo>
                  <a:lnTo>
                    <a:pt x="3956177" y="2683764"/>
                  </a:lnTo>
                  <a:lnTo>
                    <a:pt x="268350" y="2683764"/>
                  </a:lnTo>
                  <a:lnTo>
                    <a:pt x="220113" y="2679440"/>
                  </a:lnTo>
                  <a:lnTo>
                    <a:pt x="174713" y="2666973"/>
                  </a:lnTo>
                  <a:lnTo>
                    <a:pt x="132907" y="2647123"/>
                  </a:lnTo>
                  <a:lnTo>
                    <a:pt x="95454" y="2620645"/>
                  </a:lnTo>
                  <a:lnTo>
                    <a:pt x="63111" y="2588299"/>
                  </a:lnTo>
                  <a:lnTo>
                    <a:pt x="36637" y="2550842"/>
                  </a:lnTo>
                  <a:lnTo>
                    <a:pt x="16788" y="2509033"/>
                  </a:lnTo>
                  <a:lnTo>
                    <a:pt x="4323" y="2463628"/>
                  </a:lnTo>
                  <a:lnTo>
                    <a:pt x="0" y="2415387"/>
                  </a:lnTo>
                  <a:lnTo>
                    <a:pt x="0" y="268351"/>
                  </a:lnTo>
                  <a:close/>
                </a:path>
              </a:pathLst>
            </a:custGeom>
            <a:ln w="1270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7185406" y="4032961"/>
            <a:ext cx="3456304" cy="1193165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952500" marR="5080" indent="-940435">
              <a:lnSpc>
                <a:spcPts val="4390"/>
              </a:lnSpc>
              <a:spcBef>
                <a:spcPts val="585"/>
              </a:spcBef>
            </a:pPr>
            <a:r>
              <a:rPr dirty="0" sz="4000">
                <a:latin typeface="Calibri"/>
                <a:cs typeface="Calibri"/>
              </a:rPr>
              <a:t>Strict</a:t>
            </a:r>
            <a:r>
              <a:rPr dirty="0" sz="4000" spc="20">
                <a:latin typeface="Calibri"/>
                <a:cs typeface="Calibri"/>
              </a:rPr>
              <a:t> </a:t>
            </a:r>
            <a:r>
              <a:rPr dirty="0" sz="4000" spc="-80">
                <a:latin typeface="Calibri"/>
                <a:cs typeface="Calibri"/>
              </a:rPr>
              <a:t>Two-</a:t>
            </a:r>
            <a:r>
              <a:rPr dirty="0" sz="4000" spc="-10">
                <a:latin typeface="Calibri"/>
                <a:cs typeface="Calibri"/>
              </a:rPr>
              <a:t>Phase Locking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0" y="6857999"/>
                </a:moveTo>
                <a:lnTo>
                  <a:pt x="4059935" y="6858000"/>
                </a:lnTo>
                <a:lnTo>
                  <a:pt x="405993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26109" y="2334259"/>
            <a:ext cx="2728595" cy="20739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 marL="12700" marR="5080">
              <a:lnSpc>
                <a:spcPts val="5190"/>
              </a:lnSpc>
              <a:spcBef>
                <a:spcPts val="745"/>
              </a:spcBef>
            </a:pP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Two</a:t>
            </a:r>
            <a:r>
              <a:rPr dirty="0" sz="4800" spc="-18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spc="-10" b="1">
                <a:solidFill>
                  <a:srgbClr val="FFFFFF"/>
                </a:solidFill>
                <a:latin typeface="Calibri"/>
                <a:cs typeface="Calibri"/>
              </a:rPr>
              <a:t>phase locking (2PL)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79009" y="10795"/>
            <a:ext cx="6692900" cy="41268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just" marL="239395" marR="6350" indent="-226695">
              <a:lnSpc>
                <a:spcPts val="192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0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locking</a:t>
            </a:r>
            <a:r>
              <a:rPr dirty="0" sz="2000" spc="2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protocol</a:t>
            </a:r>
            <a:r>
              <a:rPr dirty="0" sz="2000" spc="20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divides</a:t>
            </a:r>
            <a:r>
              <a:rPr dirty="0" sz="2000" spc="2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execution</a:t>
            </a:r>
            <a:r>
              <a:rPr dirty="0" sz="2000" spc="21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phase</a:t>
            </a:r>
            <a:r>
              <a:rPr dirty="0" sz="2000" spc="2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10">
                <a:latin typeface="Calibri"/>
                <a:cs typeface="Calibri"/>
              </a:rPr>
              <a:t>  </a:t>
            </a:r>
            <a:r>
              <a:rPr dirty="0" sz="2000" spc="-50">
                <a:latin typeface="Calibri"/>
                <a:cs typeface="Calibri"/>
              </a:rPr>
              <a:t>a </a:t>
            </a:r>
            <a:r>
              <a:rPr dirty="0" sz="2000" spc="-5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parts.</a:t>
            </a:r>
            <a:endParaRPr sz="2000">
              <a:latin typeface="Calibri"/>
              <a:cs typeface="Calibri"/>
            </a:endParaRPr>
          </a:p>
          <a:p>
            <a:pPr algn="just" marL="239395" marR="5080" indent="-226695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part,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executing,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it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seeks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permission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locks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requires.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acquires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locks.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soon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>
                <a:latin typeface="Calibri"/>
                <a:cs typeface="Calibri"/>
              </a:rPr>
              <a:t> releases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lock, the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third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phase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starts.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phase,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cannot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demand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new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locks;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only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releases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acquired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locks.</a:t>
            </a:r>
            <a:endParaRPr sz="2000">
              <a:latin typeface="Calibri"/>
              <a:cs typeface="Calibri"/>
            </a:endParaRPr>
          </a:p>
          <a:p>
            <a:pPr algn="just" marL="239395" marR="5080" indent="-226695">
              <a:lnSpc>
                <a:spcPts val="192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spc="-40">
                <a:latin typeface="Calibri"/>
                <a:cs typeface="Calibri"/>
              </a:rPr>
              <a:t>Two-</a:t>
            </a:r>
            <a:r>
              <a:rPr dirty="0" sz="2000">
                <a:latin typeface="Calibri"/>
                <a:cs typeface="Calibri"/>
              </a:rPr>
              <a:t>phase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locking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phases,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growing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all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locks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6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being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acquired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transaction;</a:t>
            </a:r>
            <a:r>
              <a:rPr dirty="0" sz="2000" spc="5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phase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shrinking,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locks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held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14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transaction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released.</a:t>
            </a:r>
            <a:endParaRPr sz="2000">
              <a:latin typeface="Calibri"/>
              <a:cs typeface="Calibri"/>
            </a:endParaRPr>
          </a:p>
          <a:p>
            <a:pPr algn="just" marL="239395" marR="6985" indent="-226695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claim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exclusive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(write)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lock,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first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acquire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shared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(read)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lock</a:t>
            </a:r>
            <a:r>
              <a:rPr dirty="0" sz="2000" spc="10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1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upgrade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0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an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exclusive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lock.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44654" y="4482429"/>
            <a:ext cx="5343432" cy="2319007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060190" cy="6858000"/>
          </a:xfrm>
          <a:custGeom>
            <a:avLst/>
            <a:gdLst/>
            <a:ahLst/>
            <a:cxnLst/>
            <a:rect l="l" t="t" r="r" b="b"/>
            <a:pathLst>
              <a:path w="4060190" h="6858000">
                <a:moveTo>
                  <a:pt x="0" y="6857999"/>
                </a:moveTo>
                <a:lnTo>
                  <a:pt x="4059935" y="6858000"/>
                </a:lnTo>
                <a:lnTo>
                  <a:pt x="4059936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818489" y="2334259"/>
            <a:ext cx="2745740" cy="207391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 marL="12065" marR="5080">
              <a:lnSpc>
                <a:spcPts val="5190"/>
              </a:lnSpc>
              <a:spcBef>
                <a:spcPts val="745"/>
              </a:spcBef>
            </a:pPr>
            <a:r>
              <a:rPr dirty="0" sz="4800" b="1">
                <a:solidFill>
                  <a:srgbClr val="FFFFFF"/>
                </a:solidFill>
                <a:latin typeface="Calibri"/>
                <a:cs typeface="Calibri"/>
              </a:rPr>
              <a:t>Strict</a:t>
            </a:r>
            <a:r>
              <a:rPr dirty="0" sz="4800" spc="-9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4800" spc="-35" b="1">
                <a:solidFill>
                  <a:srgbClr val="FFFFFF"/>
                </a:solidFill>
                <a:latin typeface="Calibri"/>
                <a:cs typeface="Calibri"/>
              </a:rPr>
              <a:t>Two- </a:t>
            </a:r>
            <a:r>
              <a:rPr dirty="0" sz="4800" spc="-10" b="1">
                <a:solidFill>
                  <a:srgbClr val="FFFFFF"/>
                </a:solidFill>
                <a:latin typeface="Calibri"/>
                <a:cs typeface="Calibri"/>
              </a:rPr>
              <a:t>Phase locking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779009" y="287858"/>
            <a:ext cx="6692265" cy="256730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240029" marR="5080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3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first</a:t>
            </a:r>
            <a:r>
              <a:rPr dirty="0" sz="2400" spc="3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phase</a:t>
            </a:r>
            <a:r>
              <a:rPr dirty="0" sz="2400" spc="3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3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Strict-</a:t>
            </a:r>
            <a:r>
              <a:rPr dirty="0" sz="2400">
                <a:latin typeface="Calibri"/>
                <a:cs typeface="Calibri"/>
              </a:rPr>
              <a:t>2PL</a:t>
            </a:r>
            <a:r>
              <a:rPr dirty="0" sz="2400" spc="3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3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3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3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2PL.</a:t>
            </a:r>
            <a:r>
              <a:rPr dirty="0" sz="2400" spc="33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After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acquiring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locks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first</a:t>
            </a:r>
            <a:r>
              <a:rPr dirty="0" sz="2400" spc="229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phase,</a:t>
            </a:r>
            <a:r>
              <a:rPr dirty="0" sz="2400" spc="225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3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continues</a:t>
            </a:r>
            <a:r>
              <a:rPr dirty="0" sz="2400" spc="4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4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execute</a:t>
            </a:r>
            <a:r>
              <a:rPr dirty="0" sz="2400" spc="4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normally.</a:t>
            </a:r>
            <a:r>
              <a:rPr dirty="0" sz="2400" spc="4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3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in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contrast</a:t>
            </a:r>
            <a:r>
              <a:rPr dirty="0" sz="2400" spc="3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2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2PL,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Strict-</a:t>
            </a:r>
            <a:r>
              <a:rPr dirty="0" sz="2400">
                <a:latin typeface="Calibri"/>
                <a:cs typeface="Calibri"/>
              </a:rPr>
              <a:t>2PL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does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3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release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lock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after</a:t>
            </a:r>
            <a:r>
              <a:rPr dirty="0" sz="2400" spc="1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using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it.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Strict-</a:t>
            </a:r>
            <a:r>
              <a:rPr dirty="0" sz="2400">
                <a:latin typeface="Calibri"/>
                <a:cs typeface="Calibri"/>
              </a:rPr>
              <a:t>2PL</a:t>
            </a:r>
            <a:r>
              <a:rPr dirty="0" sz="2400" spc="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holds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1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locks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until</a:t>
            </a:r>
            <a:r>
              <a:rPr dirty="0" sz="2400" spc="13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commit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point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releases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algn="just" marL="240029" marR="6985" indent="-227329">
              <a:lnSpc>
                <a:spcPts val="2300"/>
              </a:lnSpc>
              <a:spcBef>
                <a:spcPts val="9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 spc="-10">
                <a:latin typeface="Calibri"/>
                <a:cs typeface="Calibri"/>
              </a:rPr>
              <a:t>Strict-</a:t>
            </a:r>
            <a:r>
              <a:rPr dirty="0" sz="2400">
                <a:latin typeface="Calibri"/>
                <a:cs typeface="Calibri"/>
              </a:rPr>
              <a:t>2PL</a:t>
            </a:r>
            <a:r>
              <a:rPr dirty="0" sz="2400" spc="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does</a:t>
            </a:r>
            <a:r>
              <a:rPr dirty="0" sz="2400" spc="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have</a:t>
            </a:r>
            <a:r>
              <a:rPr dirty="0" sz="2400" spc="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cascading</a:t>
            </a:r>
            <a:r>
              <a:rPr dirty="0" sz="2400" spc="5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abort</a:t>
            </a:r>
            <a:r>
              <a:rPr dirty="0" sz="2400" spc="4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40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2PL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does.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83312" y="3704669"/>
            <a:ext cx="5141085" cy="24829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90040" y="2640914"/>
            <a:ext cx="2465705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12700" marR="5080" indent="271145">
              <a:lnSpc>
                <a:spcPts val="5190"/>
              </a:lnSpc>
              <a:spcBef>
                <a:spcPts val="750"/>
              </a:spcBef>
            </a:pPr>
            <a:r>
              <a:rPr dirty="0" sz="4800" spc="-10" b="1">
                <a:latin typeface="Calibri"/>
                <a:cs typeface="Calibri"/>
              </a:rPr>
              <a:t>Locking Methods: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513578" y="2347086"/>
            <a:ext cx="5759450" cy="720725"/>
          </a:xfrm>
          <a:prstGeom prst="rect"/>
        </p:spPr>
        <p:txBody>
          <a:bodyPr wrap="square" lIns="0" tIns="53975" rIns="0" bIns="0" rtlCol="0" vert="horz">
            <a:spAutoFit/>
          </a:bodyPr>
          <a:lstStyle/>
          <a:p>
            <a:pPr marL="12700" marR="5080">
              <a:lnSpc>
                <a:spcPts val="2590"/>
              </a:lnSpc>
              <a:spcBef>
                <a:spcPts val="425"/>
              </a:spcBef>
              <a:tabLst>
                <a:tab pos="899160" algn="l"/>
                <a:tab pos="1475740" algn="l"/>
                <a:tab pos="2124710" algn="l"/>
                <a:tab pos="2969260" algn="l"/>
                <a:tab pos="3394710" algn="l"/>
                <a:tab pos="4438650" algn="l"/>
                <a:tab pos="4869815" algn="l"/>
              </a:tabLst>
            </a:pPr>
            <a:r>
              <a:rPr dirty="0" sz="2400" spc="-10" b="0">
                <a:latin typeface="Calibri"/>
                <a:cs typeface="Calibri"/>
              </a:rPr>
              <a:t>There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are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two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10" b="0">
                <a:latin typeface="Calibri"/>
                <a:cs typeface="Calibri"/>
              </a:rPr>
              <a:t>types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of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10" b="0">
                <a:latin typeface="Calibri"/>
                <a:cs typeface="Calibri"/>
              </a:rPr>
              <a:t>locking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to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control </a:t>
            </a:r>
            <a:r>
              <a:rPr dirty="0" sz="2400" b="0">
                <a:latin typeface="Calibri"/>
                <a:cs typeface="Calibri"/>
              </a:rPr>
              <a:t>concurrent</a:t>
            </a:r>
            <a:r>
              <a:rPr dirty="0" sz="2400" spc="-13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access.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13578" y="3499485"/>
            <a:ext cx="2275840" cy="93726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527685" indent="-514984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527685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Lock</a:t>
            </a:r>
            <a:endParaRPr sz="2400">
              <a:latin typeface="Calibri"/>
              <a:cs typeface="Calibri"/>
            </a:endParaRPr>
          </a:p>
          <a:p>
            <a:pPr marL="527685" indent="-514984">
              <a:lnSpc>
                <a:spcPct val="100000"/>
              </a:lnSpc>
              <a:spcBef>
                <a:spcPts val="710"/>
              </a:spcBef>
              <a:buAutoNum type="arabicPeriod"/>
              <a:tabLst>
                <a:tab pos="527685" algn="l"/>
              </a:tabLst>
            </a:pP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Lock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894384" y="2970098"/>
            <a:ext cx="305816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b="1">
                <a:latin typeface="Calibri"/>
                <a:cs typeface="Calibri"/>
              </a:rPr>
              <a:t>Shared</a:t>
            </a:r>
            <a:r>
              <a:rPr dirty="0" sz="4800" spc="-155" b="1">
                <a:latin typeface="Calibri"/>
                <a:cs typeface="Calibri"/>
              </a:rPr>
              <a:t> </a:t>
            </a:r>
            <a:r>
              <a:rPr dirty="0" sz="4800" spc="-20" b="1">
                <a:latin typeface="Calibri"/>
                <a:cs typeface="Calibri"/>
              </a:rPr>
              <a:t>Lock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70778" y="974216"/>
            <a:ext cx="5302250" cy="480568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240029" marR="5715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locking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DBMS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3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3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wants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3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30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without</a:t>
            </a:r>
            <a:r>
              <a:rPr dirty="0" sz="2400" spc="11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performing</a:t>
            </a:r>
            <a:r>
              <a:rPr dirty="0" sz="2400" spc="9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modification</a:t>
            </a:r>
            <a:r>
              <a:rPr dirty="0" sz="2400" spc="11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105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it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from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algn="just" marL="240029" marR="5080" indent="-227329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Another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concurrent</a:t>
            </a:r>
            <a:r>
              <a:rPr dirty="0" sz="2400" spc="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also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acquire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2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2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2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204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same</a:t>
            </a:r>
            <a:r>
              <a:rPr dirty="0" sz="2400" spc="1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allowing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49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read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algn="just" marL="240029" indent="-227329">
              <a:lnSpc>
                <a:spcPts val="276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represented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S.</a:t>
            </a:r>
            <a:endParaRPr sz="2400">
              <a:latin typeface="Calibri"/>
              <a:cs typeface="Calibri"/>
            </a:endParaRPr>
          </a:p>
          <a:p>
            <a:pPr algn="just" marL="240029" marR="5080" indent="-227329">
              <a:lnSpc>
                <a:spcPts val="2300"/>
              </a:lnSpc>
              <a:spcBef>
                <a:spcPts val="5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 T1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 obtained</a:t>
            </a:r>
            <a:r>
              <a:rPr dirty="0" sz="2400" spc="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shared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1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1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1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1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18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T1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only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5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5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509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but</a:t>
            </a:r>
            <a:r>
              <a:rPr dirty="0" sz="2400" spc="49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cannot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  <a:p>
            <a:pPr algn="just" marL="240029" indent="-227329">
              <a:lnSpc>
                <a:spcPts val="280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implementation: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840"/>
              </a:lnSpc>
            </a:pP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30">
                <a:latin typeface="Calibri"/>
                <a:cs typeface="Calibri"/>
              </a:rPr>
              <a:t>TABLE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Customer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SHARED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4762" y="-4762"/>
            <a:ext cx="4906645" cy="6867525"/>
            <a:chOff x="-4762" y="-4762"/>
            <a:chExt cx="4906645" cy="68675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05910" y="0"/>
              <a:ext cx="1295358" cy="685800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360591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605911" y="6857999"/>
                  </a:lnTo>
                  <a:lnTo>
                    <a:pt x="3668903" y="6788730"/>
                  </a:lnTo>
                  <a:lnTo>
                    <a:pt x="3697951" y="6753210"/>
                  </a:lnTo>
                  <a:lnTo>
                    <a:pt x="3726691" y="6717324"/>
                  </a:lnTo>
                  <a:lnTo>
                    <a:pt x="3755121" y="6681075"/>
                  </a:lnTo>
                  <a:lnTo>
                    <a:pt x="3783238" y="6644466"/>
                  </a:lnTo>
                  <a:lnTo>
                    <a:pt x="3811039" y="6607500"/>
                  </a:lnTo>
                  <a:lnTo>
                    <a:pt x="3838522" y="6570181"/>
                  </a:lnTo>
                  <a:lnTo>
                    <a:pt x="3865684" y="6532511"/>
                  </a:lnTo>
                  <a:lnTo>
                    <a:pt x="3892522" y="6494494"/>
                  </a:lnTo>
                  <a:lnTo>
                    <a:pt x="3919035" y="6456132"/>
                  </a:lnTo>
                  <a:lnTo>
                    <a:pt x="3945219" y="6417430"/>
                  </a:lnTo>
                  <a:lnTo>
                    <a:pt x="3971071" y="6378390"/>
                  </a:lnTo>
                  <a:lnTo>
                    <a:pt x="3996590" y="6339015"/>
                  </a:lnTo>
                  <a:lnTo>
                    <a:pt x="4021772" y="6299308"/>
                  </a:lnTo>
                  <a:lnTo>
                    <a:pt x="4046616" y="6259273"/>
                  </a:lnTo>
                  <a:lnTo>
                    <a:pt x="4071117" y="6218913"/>
                  </a:lnTo>
                  <a:lnTo>
                    <a:pt x="4095275" y="6178231"/>
                  </a:lnTo>
                  <a:lnTo>
                    <a:pt x="4119086" y="6137229"/>
                  </a:lnTo>
                  <a:lnTo>
                    <a:pt x="4142547" y="6095912"/>
                  </a:lnTo>
                  <a:lnTo>
                    <a:pt x="4165656" y="6054282"/>
                  </a:lnTo>
                  <a:lnTo>
                    <a:pt x="4188411" y="6012342"/>
                  </a:lnTo>
                  <a:lnTo>
                    <a:pt x="4210808" y="5970096"/>
                  </a:lnTo>
                  <a:lnTo>
                    <a:pt x="4232846" y="5927547"/>
                  </a:lnTo>
                  <a:lnTo>
                    <a:pt x="4254521" y="5884697"/>
                  </a:lnTo>
                  <a:lnTo>
                    <a:pt x="4275832" y="5841550"/>
                  </a:lnTo>
                  <a:lnTo>
                    <a:pt x="4296774" y="5798110"/>
                  </a:lnTo>
                  <a:lnTo>
                    <a:pt x="4317347" y="5754379"/>
                  </a:lnTo>
                  <a:lnTo>
                    <a:pt x="4337547" y="5710360"/>
                  </a:lnTo>
                  <a:lnTo>
                    <a:pt x="4357371" y="5666057"/>
                  </a:lnTo>
                  <a:lnTo>
                    <a:pt x="4376818" y="5621472"/>
                  </a:lnTo>
                  <a:lnTo>
                    <a:pt x="4395884" y="5576610"/>
                  </a:lnTo>
                  <a:lnTo>
                    <a:pt x="4414566" y="5531472"/>
                  </a:lnTo>
                  <a:lnTo>
                    <a:pt x="4432863" y="5486062"/>
                  </a:lnTo>
                  <a:lnTo>
                    <a:pt x="4450772" y="5440384"/>
                  </a:lnTo>
                  <a:lnTo>
                    <a:pt x="4468290" y="5394440"/>
                  </a:lnTo>
                  <a:lnTo>
                    <a:pt x="4485414" y="5348234"/>
                  </a:lnTo>
                  <a:lnTo>
                    <a:pt x="4502142" y="5301769"/>
                  </a:lnTo>
                  <a:lnTo>
                    <a:pt x="4518472" y="5255047"/>
                  </a:lnTo>
                  <a:lnTo>
                    <a:pt x="4534400" y="5208072"/>
                  </a:lnTo>
                  <a:lnTo>
                    <a:pt x="4549924" y="5160848"/>
                  </a:lnTo>
                  <a:lnTo>
                    <a:pt x="4565041" y="5113377"/>
                  </a:lnTo>
                  <a:lnTo>
                    <a:pt x="4579750" y="5065662"/>
                  </a:lnTo>
                  <a:lnTo>
                    <a:pt x="4594047" y="5017707"/>
                  </a:lnTo>
                  <a:lnTo>
                    <a:pt x="4607929" y="4969514"/>
                  </a:lnTo>
                  <a:lnTo>
                    <a:pt x="4621395" y="4921088"/>
                  </a:lnTo>
                  <a:lnTo>
                    <a:pt x="4634441" y="4872430"/>
                  </a:lnTo>
                  <a:lnTo>
                    <a:pt x="4647065" y="4823545"/>
                  </a:lnTo>
                  <a:lnTo>
                    <a:pt x="4659265" y="4774434"/>
                  </a:lnTo>
                  <a:lnTo>
                    <a:pt x="4671037" y="4725103"/>
                  </a:lnTo>
                  <a:lnTo>
                    <a:pt x="4682379" y="4675553"/>
                  </a:lnTo>
                  <a:lnTo>
                    <a:pt x="4693289" y="4625787"/>
                  </a:lnTo>
                  <a:lnTo>
                    <a:pt x="4703764" y="4575810"/>
                  </a:lnTo>
                  <a:lnTo>
                    <a:pt x="4713801" y="4525623"/>
                  </a:lnTo>
                  <a:lnTo>
                    <a:pt x="4723398" y="4475231"/>
                  </a:lnTo>
                  <a:lnTo>
                    <a:pt x="4732552" y="4424636"/>
                  </a:lnTo>
                  <a:lnTo>
                    <a:pt x="4741261" y="4373841"/>
                  </a:lnTo>
                  <a:lnTo>
                    <a:pt x="4749521" y="4322850"/>
                  </a:lnTo>
                  <a:lnTo>
                    <a:pt x="4757331" y="4271666"/>
                  </a:lnTo>
                  <a:lnTo>
                    <a:pt x="4764688" y="4220292"/>
                  </a:lnTo>
                  <a:lnTo>
                    <a:pt x="4771589" y="4168730"/>
                  </a:lnTo>
                  <a:lnTo>
                    <a:pt x="4778032" y="4116985"/>
                  </a:lnTo>
                  <a:lnTo>
                    <a:pt x="4784013" y="4065059"/>
                  </a:lnTo>
                  <a:lnTo>
                    <a:pt x="4789531" y="4012956"/>
                  </a:lnTo>
                  <a:lnTo>
                    <a:pt x="4794583" y="3960678"/>
                  </a:lnTo>
                  <a:lnTo>
                    <a:pt x="4799165" y="3908229"/>
                  </a:lnTo>
                  <a:lnTo>
                    <a:pt x="4803277" y="3855612"/>
                  </a:lnTo>
                  <a:lnTo>
                    <a:pt x="4806915" y="3802830"/>
                  </a:lnTo>
                  <a:lnTo>
                    <a:pt x="4810075" y="3749886"/>
                  </a:lnTo>
                  <a:lnTo>
                    <a:pt x="4812757" y="3696783"/>
                  </a:lnTo>
                  <a:lnTo>
                    <a:pt x="4814957" y="3643525"/>
                  </a:lnTo>
                  <a:lnTo>
                    <a:pt x="4816673" y="3590114"/>
                  </a:lnTo>
                  <a:lnTo>
                    <a:pt x="4817901" y="3536554"/>
                  </a:lnTo>
                  <a:lnTo>
                    <a:pt x="4818641" y="3482848"/>
                  </a:lnTo>
                  <a:lnTo>
                    <a:pt x="4818888" y="3429000"/>
                  </a:lnTo>
                  <a:lnTo>
                    <a:pt x="4818641" y="3375151"/>
                  </a:lnTo>
                  <a:lnTo>
                    <a:pt x="4817901" y="3321445"/>
                  </a:lnTo>
                  <a:lnTo>
                    <a:pt x="4816673" y="3267885"/>
                  </a:lnTo>
                  <a:lnTo>
                    <a:pt x="4814957" y="3214474"/>
                  </a:lnTo>
                  <a:lnTo>
                    <a:pt x="4812757" y="3161216"/>
                  </a:lnTo>
                  <a:lnTo>
                    <a:pt x="4810075" y="3108114"/>
                  </a:lnTo>
                  <a:lnTo>
                    <a:pt x="4806915" y="3055170"/>
                  </a:lnTo>
                  <a:lnTo>
                    <a:pt x="4803277" y="3002388"/>
                  </a:lnTo>
                  <a:lnTo>
                    <a:pt x="4799165" y="2949771"/>
                  </a:lnTo>
                  <a:lnTo>
                    <a:pt x="4794583" y="2897322"/>
                  </a:lnTo>
                  <a:lnTo>
                    <a:pt x="4789531" y="2845045"/>
                  </a:lnTo>
                  <a:lnTo>
                    <a:pt x="4784013" y="2792941"/>
                  </a:lnTo>
                  <a:lnTo>
                    <a:pt x="4778032" y="2741016"/>
                  </a:lnTo>
                  <a:lnTo>
                    <a:pt x="4771589" y="2689271"/>
                  </a:lnTo>
                  <a:lnTo>
                    <a:pt x="4764688" y="2637709"/>
                  </a:lnTo>
                  <a:lnTo>
                    <a:pt x="4757331" y="2586335"/>
                  </a:lnTo>
                  <a:lnTo>
                    <a:pt x="4749521" y="2535151"/>
                  </a:lnTo>
                  <a:lnTo>
                    <a:pt x="4741261" y="2484160"/>
                  </a:lnTo>
                  <a:lnTo>
                    <a:pt x="4732552" y="2433366"/>
                  </a:lnTo>
                  <a:lnTo>
                    <a:pt x="4723398" y="2382771"/>
                  </a:lnTo>
                  <a:lnTo>
                    <a:pt x="4713801" y="2332379"/>
                  </a:lnTo>
                  <a:lnTo>
                    <a:pt x="4703764" y="2282193"/>
                  </a:lnTo>
                  <a:lnTo>
                    <a:pt x="4693289" y="2232215"/>
                  </a:lnTo>
                  <a:lnTo>
                    <a:pt x="4682379" y="2182450"/>
                  </a:lnTo>
                  <a:lnTo>
                    <a:pt x="4671037" y="2132900"/>
                  </a:lnTo>
                  <a:lnTo>
                    <a:pt x="4659265" y="2083568"/>
                  </a:lnTo>
                  <a:lnTo>
                    <a:pt x="4647065" y="2034458"/>
                  </a:lnTo>
                  <a:lnTo>
                    <a:pt x="4634441" y="1985573"/>
                  </a:lnTo>
                  <a:lnTo>
                    <a:pt x="4621395" y="1936915"/>
                  </a:lnTo>
                  <a:lnTo>
                    <a:pt x="4607929" y="1888489"/>
                  </a:lnTo>
                  <a:lnTo>
                    <a:pt x="4594047" y="1840296"/>
                  </a:lnTo>
                  <a:lnTo>
                    <a:pt x="4579750" y="1792341"/>
                  </a:lnTo>
                  <a:lnTo>
                    <a:pt x="4565041" y="1744626"/>
                  </a:lnTo>
                  <a:lnTo>
                    <a:pt x="4549924" y="1697154"/>
                  </a:lnTo>
                  <a:lnTo>
                    <a:pt x="4534400" y="1649930"/>
                  </a:lnTo>
                  <a:lnTo>
                    <a:pt x="4518472" y="1602955"/>
                  </a:lnTo>
                  <a:lnTo>
                    <a:pt x="4502142" y="1556233"/>
                  </a:lnTo>
                  <a:lnTo>
                    <a:pt x="4485414" y="1509767"/>
                  </a:lnTo>
                  <a:lnTo>
                    <a:pt x="4468290" y="1463560"/>
                  </a:lnTo>
                  <a:lnTo>
                    <a:pt x="4450772" y="1417616"/>
                  </a:lnTo>
                  <a:lnTo>
                    <a:pt x="4432863" y="1371937"/>
                  </a:lnTo>
                  <a:lnTo>
                    <a:pt x="4414566" y="1326527"/>
                  </a:lnTo>
                  <a:lnTo>
                    <a:pt x="4395884" y="1281389"/>
                  </a:lnTo>
                  <a:lnTo>
                    <a:pt x="4376818" y="1236526"/>
                  </a:lnTo>
                  <a:lnTo>
                    <a:pt x="4357371" y="1191941"/>
                  </a:lnTo>
                  <a:lnTo>
                    <a:pt x="4337547" y="1147637"/>
                  </a:lnTo>
                  <a:lnTo>
                    <a:pt x="4317347" y="1103617"/>
                  </a:lnTo>
                  <a:lnTo>
                    <a:pt x="4296774" y="1059885"/>
                  </a:lnTo>
                  <a:lnTo>
                    <a:pt x="4275832" y="1016443"/>
                  </a:lnTo>
                  <a:lnTo>
                    <a:pt x="4254521" y="973296"/>
                  </a:lnTo>
                  <a:lnTo>
                    <a:pt x="4232846" y="930445"/>
                  </a:lnTo>
                  <a:lnTo>
                    <a:pt x="4210808" y="887894"/>
                  </a:lnTo>
                  <a:lnTo>
                    <a:pt x="4188411" y="845647"/>
                  </a:lnTo>
                  <a:lnTo>
                    <a:pt x="4165656" y="803706"/>
                  </a:lnTo>
                  <a:lnTo>
                    <a:pt x="4142547" y="762074"/>
                  </a:lnTo>
                  <a:lnTo>
                    <a:pt x="4119086" y="720756"/>
                  </a:lnTo>
                  <a:lnTo>
                    <a:pt x="4095275" y="679753"/>
                  </a:lnTo>
                  <a:lnTo>
                    <a:pt x="4071117" y="639068"/>
                  </a:lnTo>
                  <a:lnTo>
                    <a:pt x="4046616" y="598706"/>
                  </a:lnTo>
                  <a:lnTo>
                    <a:pt x="4021772" y="558669"/>
                  </a:lnTo>
                  <a:lnTo>
                    <a:pt x="3996590" y="518961"/>
                  </a:lnTo>
                  <a:lnTo>
                    <a:pt x="3971071" y="479584"/>
                  </a:lnTo>
                  <a:lnTo>
                    <a:pt x="3945219" y="440542"/>
                  </a:lnTo>
                  <a:lnTo>
                    <a:pt x="3919035" y="401837"/>
                  </a:lnTo>
                  <a:lnTo>
                    <a:pt x="3892522" y="363473"/>
                  </a:lnTo>
                  <a:lnTo>
                    <a:pt x="3865684" y="325454"/>
                  </a:lnTo>
                  <a:lnTo>
                    <a:pt x="3838522" y="287781"/>
                  </a:lnTo>
                  <a:lnTo>
                    <a:pt x="3811039" y="250459"/>
                  </a:lnTo>
                  <a:lnTo>
                    <a:pt x="3783238" y="213491"/>
                  </a:lnTo>
                  <a:lnTo>
                    <a:pt x="3755121" y="176879"/>
                  </a:lnTo>
                  <a:lnTo>
                    <a:pt x="3726691" y="140627"/>
                  </a:lnTo>
                  <a:lnTo>
                    <a:pt x="3697951" y="104738"/>
                  </a:lnTo>
                  <a:lnTo>
                    <a:pt x="3668903" y="69215"/>
                  </a:lnTo>
                  <a:lnTo>
                    <a:pt x="360591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0"/>
              <a:ext cx="4819015" cy="6858000"/>
            </a:xfrm>
            <a:custGeom>
              <a:avLst/>
              <a:gdLst/>
              <a:ahLst/>
              <a:cxnLst/>
              <a:rect l="l" t="t" r="r" b="b"/>
              <a:pathLst>
                <a:path w="4819015" h="6858000">
                  <a:moveTo>
                    <a:pt x="0" y="0"/>
                  </a:moveTo>
                  <a:lnTo>
                    <a:pt x="3605911" y="0"/>
                  </a:lnTo>
                  <a:lnTo>
                    <a:pt x="3668903" y="69215"/>
                  </a:lnTo>
                  <a:lnTo>
                    <a:pt x="3697951" y="104738"/>
                  </a:lnTo>
                  <a:lnTo>
                    <a:pt x="3726691" y="140627"/>
                  </a:lnTo>
                  <a:lnTo>
                    <a:pt x="3755121" y="176879"/>
                  </a:lnTo>
                  <a:lnTo>
                    <a:pt x="3783238" y="213491"/>
                  </a:lnTo>
                  <a:lnTo>
                    <a:pt x="3811039" y="250459"/>
                  </a:lnTo>
                  <a:lnTo>
                    <a:pt x="3838522" y="287781"/>
                  </a:lnTo>
                  <a:lnTo>
                    <a:pt x="3865684" y="325454"/>
                  </a:lnTo>
                  <a:lnTo>
                    <a:pt x="3892522" y="363473"/>
                  </a:lnTo>
                  <a:lnTo>
                    <a:pt x="3919035" y="401837"/>
                  </a:lnTo>
                  <a:lnTo>
                    <a:pt x="3945219" y="440542"/>
                  </a:lnTo>
                  <a:lnTo>
                    <a:pt x="3971071" y="479584"/>
                  </a:lnTo>
                  <a:lnTo>
                    <a:pt x="3996590" y="518961"/>
                  </a:lnTo>
                  <a:lnTo>
                    <a:pt x="4021772" y="558669"/>
                  </a:lnTo>
                  <a:lnTo>
                    <a:pt x="4046616" y="598706"/>
                  </a:lnTo>
                  <a:lnTo>
                    <a:pt x="4071117" y="639068"/>
                  </a:lnTo>
                  <a:lnTo>
                    <a:pt x="4095275" y="679753"/>
                  </a:lnTo>
                  <a:lnTo>
                    <a:pt x="4119086" y="720756"/>
                  </a:lnTo>
                  <a:lnTo>
                    <a:pt x="4142547" y="762074"/>
                  </a:lnTo>
                  <a:lnTo>
                    <a:pt x="4165656" y="803706"/>
                  </a:lnTo>
                  <a:lnTo>
                    <a:pt x="4188411" y="845647"/>
                  </a:lnTo>
                  <a:lnTo>
                    <a:pt x="4210808" y="887894"/>
                  </a:lnTo>
                  <a:lnTo>
                    <a:pt x="4232846" y="930445"/>
                  </a:lnTo>
                  <a:lnTo>
                    <a:pt x="4254521" y="973296"/>
                  </a:lnTo>
                  <a:lnTo>
                    <a:pt x="4275832" y="1016443"/>
                  </a:lnTo>
                  <a:lnTo>
                    <a:pt x="4296774" y="1059885"/>
                  </a:lnTo>
                  <a:lnTo>
                    <a:pt x="4317347" y="1103617"/>
                  </a:lnTo>
                  <a:lnTo>
                    <a:pt x="4337547" y="1147637"/>
                  </a:lnTo>
                  <a:lnTo>
                    <a:pt x="4357371" y="1191941"/>
                  </a:lnTo>
                  <a:lnTo>
                    <a:pt x="4376818" y="1236526"/>
                  </a:lnTo>
                  <a:lnTo>
                    <a:pt x="4395884" y="1281389"/>
                  </a:lnTo>
                  <a:lnTo>
                    <a:pt x="4414566" y="1326527"/>
                  </a:lnTo>
                  <a:lnTo>
                    <a:pt x="4432863" y="1371937"/>
                  </a:lnTo>
                  <a:lnTo>
                    <a:pt x="4450772" y="1417616"/>
                  </a:lnTo>
                  <a:lnTo>
                    <a:pt x="4468290" y="1463560"/>
                  </a:lnTo>
                  <a:lnTo>
                    <a:pt x="4485414" y="1509767"/>
                  </a:lnTo>
                  <a:lnTo>
                    <a:pt x="4502142" y="1556233"/>
                  </a:lnTo>
                  <a:lnTo>
                    <a:pt x="4518472" y="1602955"/>
                  </a:lnTo>
                  <a:lnTo>
                    <a:pt x="4534400" y="1649930"/>
                  </a:lnTo>
                  <a:lnTo>
                    <a:pt x="4549924" y="1697154"/>
                  </a:lnTo>
                  <a:lnTo>
                    <a:pt x="4565041" y="1744626"/>
                  </a:lnTo>
                  <a:lnTo>
                    <a:pt x="4579750" y="1792341"/>
                  </a:lnTo>
                  <a:lnTo>
                    <a:pt x="4594047" y="1840296"/>
                  </a:lnTo>
                  <a:lnTo>
                    <a:pt x="4607929" y="1888489"/>
                  </a:lnTo>
                  <a:lnTo>
                    <a:pt x="4621395" y="1936915"/>
                  </a:lnTo>
                  <a:lnTo>
                    <a:pt x="4634441" y="1985573"/>
                  </a:lnTo>
                  <a:lnTo>
                    <a:pt x="4647065" y="2034458"/>
                  </a:lnTo>
                  <a:lnTo>
                    <a:pt x="4659265" y="2083568"/>
                  </a:lnTo>
                  <a:lnTo>
                    <a:pt x="4671037" y="2132900"/>
                  </a:lnTo>
                  <a:lnTo>
                    <a:pt x="4682379" y="2182450"/>
                  </a:lnTo>
                  <a:lnTo>
                    <a:pt x="4693289" y="2232215"/>
                  </a:lnTo>
                  <a:lnTo>
                    <a:pt x="4703764" y="2282193"/>
                  </a:lnTo>
                  <a:lnTo>
                    <a:pt x="4713801" y="2332379"/>
                  </a:lnTo>
                  <a:lnTo>
                    <a:pt x="4723398" y="2382771"/>
                  </a:lnTo>
                  <a:lnTo>
                    <a:pt x="4732552" y="2433366"/>
                  </a:lnTo>
                  <a:lnTo>
                    <a:pt x="4741261" y="2484160"/>
                  </a:lnTo>
                  <a:lnTo>
                    <a:pt x="4749521" y="2535151"/>
                  </a:lnTo>
                  <a:lnTo>
                    <a:pt x="4757331" y="2586335"/>
                  </a:lnTo>
                  <a:lnTo>
                    <a:pt x="4764688" y="2637709"/>
                  </a:lnTo>
                  <a:lnTo>
                    <a:pt x="4771589" y="2689271"/>
                  </a:lnTo>
                  <a:lnTo>
                    <a:pt x="4778032" y="2741016"/>
                  </a:lnTo>
                  <a:lnTo>
                    <a:pt x="4784013" y="2792941"/>
                  </a:lnTo>
                  <a:lnTo>
                    <a:pt x="4789531" y="2845045"/>
                  </a:lnTo>
                  <a:lnTo>
                    <a:pt x="4794583" y="2897322"/>
                  </a:lnTo>
                  <a:lnTo>
                    <a:pt x="4799165" y="2949771"/>
                  </a:lnTo>
                  <a:lnTo>
                    <a:pt x="4803277" y="3002388"/>
                  </a:lnTo>
                  <a:lnTo>
                    <a:pt x="4806915" y="3055170"/>
                  </a:lnTo>
                  <a:lnTo>
                    <a:pt x="4810075" y="3108114"/>
                  </a:lnTo>
                  <a:lnTo>
                    <a:pt x="4812757" y="3161216"/>
                  </a:lnTo>
                  <a:lnTo>
                    <a:pt x="4814957" y="3214474"/>
                  </a:lnTo>
                  <a:lnTo>
                    <a:pt x="4816673" y="3267885"/>
                  </a:lnTo>
                  <a:lnTo>
                    <a:pt x="4817901" y="3321445"/>
                  </a:lnTo>
                  <a:lnTo>
                    <a:pt x="4818641" y="3375151"/>
                  </a:lnTo>
                  <a:lnTo>
                    <a:pt x="4818888" y="3429000"/>
                  </a:lnTo>
                  <a:lnTo>
                    <a:pt x="4818641" y="3482848"/>
                  </a:lnTo>
                  <a:lnTo>
                    <a:pt x="4817901" y="3536554"/>
                  </a:lnTo>
                  <a:lnTo>
                    <a:pt x="4816673" y="3590114"/>
                  </a:lnTo>
                  <a:lnTo>
                    <a:pt x="4814957" y="3643525"/>
                  </a:lnTo>
                  <a:lnTo>
                    <a:pt x="4812757" y="3696783"/>
                  </a:lnTo>
                  <a:lnTo>
                    <a:pt x="4810075" y="3749886"/>
                  </a:lnTo>
                  <a:lnTo>
                    <a:pt x="4806915" y="3802830"/>
                  </a:lnTo>
                  <a:lnTo>
                    <a:pt x="4803277" y="3855612"/>
                  </a:lnTo>
                  <a:lnTo>
                    <a:pt x="4799165" y="3908229"/>
                  </a:lnTo>
                  <a:lnTo>
                    <a:pt x="4794583" y="3960678"/>
                  </a:lnTo>
                  <a:lnTo>
                    <a:pt x="4789531" y="4012956"/>
                  </a:lnTo>
                  <a:lnTo>
                    <a:pt x="4784013" y="4065059"/>
                  </a:lnTo>
                  <a:lnTo>
                    <a:pt x="4778032" y="4116985"/>
                  </a:lnTo>
                  <a:lnTo>
                    <a:pt x="4771589" y="4168730"/>
                  </a:lnTo>
                  <a:lnTo>
                    <a:pt x="4764688" y="4220292"/>
                  </a:lnTo>
                  <a:lnTo>
                    <a:pt x="4757331" y="4271666"/>
                  </a:lnTo>
                  <a:lnTo>
                    <a:pt x="4749521" y="4322850"/>
                  </a:lnTo>
                  <a:lnTo>
                    <a:pt x="4741261" y="4373841"/>
                  </a:lnTo>
                  <a:lnTo>
                    <a:pt x="4732552" y="4424636"/>
                  </a:lnTo>
                  <a:lnTo>
                    <a:pt x="4723398" y="4475231"/>
                  </a:lnTo>
                  <a:lnTo>
                    <a:pt x="4713801" y="4525623"/>
                  </a:lnTo>
                  <a:lnTo>
                    <a:pt x="4703764" y="4575810"/>
                  </a:lnTo>
                  <a:lnTo>
                    <a:pt x="4693289" y="4625787"/>
                  </a:lnTo>
                  <a:lnTo>
                    <a:pt x="4682379" y="4675553"/>
                  </a:lnTo>
                  <a:lnTo>
                    <a:pt x="4671037" y="4725103"/>
                  </a:lnTo>
                  <a:lnTo>
                    <a:pt x="4659265" y="4774434"/>
                  </a:lnTo>
                  <a:lnTo>
                    <a:pt x="4647065" y="4823545"/>
                  </a:lnTo>
                  <a:lnTo>
                    <a:pt x="4634441" y="4872430"/>
                  </a:lnTo>
                  <a:lnTo>
                    <a:pt x="4621395" y="4921088"/>
                  </a:lnTo>
                  <a:lnTo>
                    <a:pt x="4607929" y="4969514"/>
                  </a:lnTo>
                  <a:lnTo>
                    <a:pt x="4594047" y="5017707"/>
                  </a:lnTo>
                  <a:lnTo>
                    <a:pt x="4579750" y="5065662"/>
                  </a:lnTo>
                  <a:lnTo>
                    <a:pt x="4565041" y="5113377"/>
                  </a:lnTo>
                  <a:lnTo>
                    <a:pt x="4549924" y="5160848"/>
                  </a:lnTo>
                  <a:lnTo>
                    <a:pt x="4534400" y="5208072"/>
                  </a:lnTo>
                  <a:lnTo>
                    <a:pt x="4518472" y="5255047"/>
                  </a:lnTo>
                  <a:lnTo>
                    <a:pt x="4502142" y="5301769"/>
                  </a:lnTo>
                  <a:lnTo>
                    <a:pt x="4485414" y="5348234"/>
                  </a:lnTo>
                  <a:lnTo>
                    <a:pt x="4468290" y="5394440"/>
                  </a:lnTo>
                  <a:lnTo>
                    <a:pt x="4450772" y="5440384"/>
                  </a:lnTo>
                  <a:lnTo>
                    <a:pt x="4432863" y="5486062"/>
                  </a:lnTo>
                  <a:lnTo>
                    <a:pt x="4414566" y="5531472"/>
                  </a:lnTo>
                  <a:lnTo>
                    <a:pt x="4395884" y="5576610"/>
                  </a:lnTo>
                  <a:lnTo>
                    <a:pt x="4376818" y="5621472"/>
                  </a:lnTo>
                  <a:lnTo>
                    <a:pt x="4357371" y="5666057"/>
                  </a:lnTo>
                  <a:lnTo>
                    <a:pt x="4337547" y="5710360"/>
                  </a:lnTo>
                  <a:lnTo>
                    <a:pt x="4317347" y="5754379"/>
                  </a:lnTo>
                  <a:lnTo>
                    <a:pt x="4296774" y="5798110"/>
                  </a:lnTo>
                  <a:lnTo>
                    <a:pt x="4275832" y="5841550"/>
                  </a:lnTo>
                  <a:lnTo>
                    <a:pt x="4254521" y="5884697"/>
                  </a:lnTo>
                  <a:lnTo>
                    <a:pt x="4232846" y="5927547"/>
                  </a:lnTo>
                  <a:lnTo>
                    <a:pt x="4210808" y="5970096"/>
                  </a:lnTo>
                  <a:lnTo>
                    <a:pt x="4188411" y="6012342"/>
                  </a:lnTo>
                  <a:lnTo>
                    <a:pt x="4165656" y="6054282"/>
                  </a:lnTo>
                  <a:lnTo>
                    <a:pt x="4142547" y="6095912"/>
                  </a:lnTo>
                  <a:lnTo>
                    <a:pt x="4119086" y="6137229"/>
                  </a:lnTo>
                  <a:lnTo>
                    <a:pt x="4095275" y="6178231"/>
                  </a:lnTo>
                  <a:lnTo>
                    <a:pt x="4071117" y="6218913"/>
                  </a:lnTo>
                  <a:lnTo>
                    <a:pt x="4046616" y="6259273"/>
                  </a:lnTo>
                  <a:lnTo>
                    <a:pt x="4021772" y="6299308"/>
                  </a:lnTo>
                  <a:lnTo>
                    <a:pt x="3996590" y="6339015"/>
                  </a:lnTo>
                  <a:lnTo>
                    <a:pt x="3971071" y="6378390"/>
                  </a:lnTo>
                  <a:lnTo>
                    <a:pt x="3945219" y="6417430"/>
                  </a:lnTo>
                  <a:lnTo>
                    <a:pt x="3919035" y="6456132"/>
                  </a:lnTo>
                  <a:lnTo>
                    <a:pt x="3892522" y="6494494"/>
                  </a:lnTo>
                  <a:lnTo>
                    <a:pt x="3865684" y="6532511"/>
                  </a:lnTo>
                  <a:lnTo>
                    <a:pt x="3838522" y="6570181"/>
                  </a:lnTo>
                  <a:lnTo>
                    <a:pt x="3811039" y="6607500"/>
                  </a:lnTo>
                  <a:lnTo>
                    <a:pt x="3783238" y="6644466"/>
                  </a:lnTo>
                  <a:lnTo>
                    <a:pt x="3755121" y="6681075"/>
                  </a:lnTo>
                  <a:lnTo>
                    <a:pt x="3726691" y="6717324"/>
                  </a:lnTo>
                  <a:lnTo>
                    <a:pt x="3697951" y="6753210"/>
                  </a:lnTo>
                  <a:lnTo>
                    <a:pt x="3668903" y="6788730"/>
                  </a:lnTo>
                  <a:lnTo>
                    <a:pt x="3605911" y="6857999"/>
                  </a:lnTo>
                  <a:lnTo>
                    <a:pt x="0" y="6857999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E6E6E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0" y="0"/>
              <a:ext cx="4811395" cy="6858000"/>
            </a:xfrm>
            <a:custGeom>
              <a:avLst/>
              <a:gdLst/>
              <a:ahLst/>
              <a:cxnLst/>
              <a:rect l="l" t="t" r="r" b="b"/>
              <a:pathLst>
                <a:path w="4811395" h="6858000">
                  <a:moveTo>
                    <a:pt x="3598291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3598291" y="6857999"/>
                  </a:lnTo>
                  <a:lnTo>
                    <a:pt x="3661283" y="6788730"/>
                  </a:lnTo>
                  <a:lnTo>
                    <a:pt x="3690331" y="6753210"/>
                  </a:lnTo>
                  <a:lnTo>
                    <a:pt x="3719071" y="6717324"/>
                  </a:lnTo>
                  <a:lnTo>
                    <a:pt x="3747501" y="6681075"/>
                  </a:lnTo>
                  <a:lnTo>
                    <a:pt x="3775618" y="6644466"/>
                  </a:lnTo>
                  <a:lnTo>
                    <a:pt x="3803419" y="6607500"/>
                  </a:lnTo>
                  <a:lnTo>
                    <a:pt x="3830902" y="6570181"/>
                  </a:lnTo>
                  <a:lnTo>
                    <a:pt x="3858064" y="6532511"/>
                  </a:lnTo>
                  <a:lnTo>
                    <a:pt x="3884902" y="6494494"/>
                  </a:lnTo>
                  <a:lnTo>
                    <a:pt x="3911415" y="6456132"/>
                  </a:lnTo>
                  <a:lnTo>
                    <a:pt x="3937599" y="6417430"/>
                  </a:lnTo>
                  <a:lnTo>
                    <a:pt x="3963451" y="6378390"/>
                  </a:lnTo>
                  <a:lnTo>
                    <a:pt x="3988970" y="6339015"/>
                  </a:lnTo>
                  <a:lnTo>
                    <a:pt x="4014152" y="6299308"/>
                  </a:lnTo>
                  <a:lnTo>
                    <a:pt x="4038996" y="6259273"/>
                  </a:lnTo>
                  <a:lnTo>
                    <a:pt x="4063497" y="6218913"/>
                  </a:lnTo>
                  <a:lnTo>
                    <a:pt x="4087655" y="6178231"/>
                  </a:lnTo>
                  <a:lnTo>
                    <a:pt x="4111466" y="6137229"/>
                  </a:lnTo>
                  <a:lnTo>
                    <a:pt x="4134927" y="6095912"/>
                  </a:lnTo>
                  <a:lnTo>
                    <a:pt x="4158036" y="6054282"/>
                  </a:lnTo>
                  <a:lnTo>
                    <a:pt x="4180791" y="6012342"/>
                  </a:lnTo>
                  <a:lnTo>
                    <a:pt x="4203188" y="5970096"/>
                  </a:lnTo>
                  <a:lnTo>
                    <a:pt x="4225226" y="5927547"/>
                  </a:lnTo>
                  <a:lnTo>
                    <a:pt x="4246901" y="5884697"/>
                  </a:lnTo>
                  <a:lnTo>
                    <a:pt x="4268212" y="5841550"/>
                  </a:lnTo>
                  <a:lnTo>
                    <a:pt x="4289154" y="5798110"/>
                  </a:lnTo>
                  <a:lnTo>
                    <a:pt x="4309727" y="5754379"/>
                  </a:lnTo>
                  <a:lnTo>
                    <a:pt x="4329927" y="5710360"/>
                  </a:lnTo>
                  <a:lnTo>
                    <a:pt x="4349751" y="5666057"/>
                  </a:lnTo>
                  <a:lnTo>
                    <a:pt x="4369198" y="5621472"/>
                  </a:lnTo>
                  <a:lnTo>
                    <a:pt x="4388264" y="5576610"/>
                  </a:lnTo>
                  <a:lnTo>
                    <a:pt x="4406946" y="5531472"/>
                  </a:lnTo>
                  <a:lnTo>
                    <a:pt x="4425243" y="5486062"/>
                  </a:lnTo>
                  <a:lnTo>
                    <a:pt x="4443152" y="5440384"/>
                  </a:lnTo>
                  <a:lnTo>
                    <a:pt x="4460670" y="5394440"/>
                  </a:lnTo>
                  <a:lnTo>
                    <a:pt x="4477794" y="5348234"/>
                  </a:lnTo>
                  <a:lnTo>
                    <a:pt x="4494522" y="5301769"/>
                  </a:lnTo>
                  <a:lnTo>
                    <a:pt x="4510852" y="5255047"/>
                  </a:lnTo>
                  <a:lnTo>
                    <a:pt x="4526780" y="5208072"/>
                  </a:lnTo>
                  <a:lnTo>
                    <a:pt x="4542304" y="5160848"/>
                  </a:lnTo>
                  <a:lnTo>
                    <a:pt x="4557421" y="5113377"/>
                  </a:lnTo>
                  <a:lnTo>
                    <a:pt x="4572130" y="5065662"/>
                  </a:lnTo>
                  <a:lnTo>
                    <a:pt x="4586427" y="5017707"/>
                  </a:lnTo>
                  <a:lnTo>
                    <a:pt x="4600309" y="4969514"/>
                  </a:lnTo>
                  <a:lnTo>
                    <a:pt x="4613775" y="4921088"/>
                  </a:lnTo>
                  <a:lnTo>
                    <a:pt x="4626821" y="4872430"/>
                  </a:lnTo>
                  <a:lnTo>
                    <a:pt x="4639445" y="4823545"/>
                  </a:lnTo>
                  <a:lnTo>
                    <a:pt x="4651645" y="4774434"/>
                  </a:lnTo>
                  <a:lnTo>
                    <a:pt x="4663417" y="4725103"/>
                  </a:lnTo>
                  <a:lnTo>
                    <a:pt x="4674759" y="4675553"/>
                  </a:lnTo>
                  <a:lnTo>
                    <a:pt x="4685669" y="4625787"/>
                  </a:lnTo>
                  <a:lnTo>
                    <a:pt x="4696144" y="4575810"/>
                  </a:lnTo>
                  <a:lnTo>
                    <a:pt x="4706181" y="4525623"/>
                  </a:lnTo>
                  <a:lnTo>
                    <a:pt x="4715778" y="4475231"/>
                  </a:lnTo>
                  <a:lnTo>
                    <a:pt x="4724932" y="4424636"/>
                  </a:lnTo>
                  <a:lnTo>
                    <a:pt x="4733641" y="4373841"/>
                  </a:lnTo>
                  <a:lnTo>
                    <a:pt x="4741901" y="4322850"/>
                  </a:lnTo>
                  <a:lnTo>
                    <a:pt x="4749711" y="4271666"/>
                  </a:lnTo>
                  <a:lnTo>
                    <a:pt x="4757068" y="4220292"/>
                  </a:lnTo>
                  <a:lnTo>
                    <a:pt x="4763969" y="4168730"/>
                  </a:lnTo>
                  <a:lnTo>
                    <a:pt x="4770412" y="4116985"/>
                  </a:lnTo>
                  <a:lnTo>
                    <a:pt x="4776393" y="4065059"/>
                  </a:lnTo>
                  <a:lnTo>
                    <a:pt x="4781911" y="4012956"/>
                  </a:lnTo>
                  <a:lnTo>
                    <a:pt x="4786963" y="3960678"/>
                  </a:lnTo>
                  <a:lnTo>
                    <a:pt x="4791545" y="3908229"/>
                  </a:lnTo>
                  <a:lnTo>
                    <a:pt x="4795657" y="3855612"/>
                  </a:lnTo>
                  <a:lnTo>
                    <a:pt x="4799295" y="3802830"/>
                  </a:lnTo>
                  <a:lnTo>
                    <a:pt x="4802455" y="3749886"/>
                  </a:lnTo>
                  <a:lnTo>
                    <a:pt x="4805137" y="3696783"/>
                  </a:lnTo>
                  <a:lnTo>
                    <a:pt x="4807337" y="3643525"/>
                  </a:lnTo>
                  <a:lnTo>
                    <a:pt x="4809053" y="3590114"/>
                  </a:lnTo>
                  <a:lnTo>
                    <a:pt x="4810281" y="3536554"/>
                  </a:lnTo>
                  <a:lnTo>
                    <a:pt x="4811021" y="3482848"/>
                  </a:lnTo>
                  <a:lnTo>
                    <a:pt x="4811268" y="3429000"/>
                  </a:lnTo>
                  <a:lnTo>
                    <a:pt x="4811021" y="3375151"/>
                  </a:lnTo>
                  <a:lnTo>
                    <a:pt x="4810281" y="3321445"/>
                  </a:lnTo>
                  <a:lnTo>
                    <a:pt x="4809053" y="3267885"/>
                  </a:lnTo>
                  <a:lnTo>
                    <a:pt x="4807337" y="3214474"/>
                  </a:lnTo>
                  <a:lnTo>
                    <a:pt x="4805137" y="3161216"/>
                  </a:lnTo>
                  <a:lnTo>
                    <a:pt x="4802455" y="3108114"/>
                  </a:lnTo>
                  <a:lnTo>
                    <a:pt x="4799295" y="3055170"/>
                  </a:lnTo>
                  <a:lnTo>
                    <a:pt x="4795657" y="3002388"/>
                  </a:lnTo>
                  <a:lnTo>
                    <a:pt x="4791545" y="2949771"/>
                  </a:lnTo>
                  <a:lnTo>
                    <a:pt x="4786963" y="2897322"/>
                  </a:lnTo>
                  <a:lnTo>
                    <a:pt x="4781911" y="2845045"/>
                  </a:lnTo>
                  <a:lnTo>
                    <a:pt x="4776393" y="2792941"/>
                  </a:lnTo>
                  <a:lnTo>
                    <a:pt x="4770412" y="2741016"/>
                  </a:lnTo>
                  <a:lnTo>
                    <a:pt x="4763969" y="2689271"/>
                  </a:lnTo>
                  <a:lnTo>
                    <a:pt x="4757068" y="2637709"/>
                  </a:lnTo>
                  <a:lnTo>
                    <a:pt x="4749711" y="2586335"/>
                  </a:lnTo>
                  <a:lnTo>
                    <a:pt x="4741901" y="2535151"/>
                  </a:lnTo>
                  <a:lnTo>
                    <a:pt x="4733641" y="2484160"/>
                  </a:lnTo>
                  <a:lnTo>
                    <a:pt x="4724932" y="2433366"/>
                  </a:lnTo>
                  <a:lnTo>
                    <a:pt x="4715778" y="2382771"/>
                  </a:lnTo>
                  <a:lnTo>
                    <a:pt x="4706181" y="2332379"/>
                  </a:lnTo>
                  <a:lnTo>
                    <a:pt x="4696144" y="2282193"/>
                  </a:lnTo>
                  <a:lnTo>
                    <a:pt x="4685669" y="2232215"/>
                  </a:lnTo>
                  <a:lnTo>
                    <a:pt x="4674759" y="2182450"/>
                  </a:lnTo>
                  <a:lnTo>
                    <a:pt x="4663417" y="2132900"/>
                  </a:lnTo>
                  <a:lnTo>
                    <a:pt x="4651645" y="2083568"/>
                  </a:lnTo>
                  <a:lnTo>
                    <a:pt x="4639445" y="2034458"/>
                  </a:lnTo>
                  <a:lnTo>
                    <a:pt x="4626821" y="1985573"/>
                  </a:lnTo>
                  <a:lnTo>
                    <a:pt x="4613775" y="1936915"/>
                  </a:lnTo>
                  <a:lnTo>
                    <a:pt x="4600309" y="1888489"/>
                  </a:lnTo>
                  <a:lnTo>
                    <a:pt x="4586427" y="1840296"/>
                  </a:lnTo>
                  <a:lnTo>
                    <a:pt x="4572130" y="1792341"/>
                  </a:lnTo>
                  <a:lnTo>
                    <a:pt x="4557421" y="1744626"/>
                  </a:lnTo>
                  <a:lnTo>
                    <a:pt x="4542304" y="1697154"/>
                  </a:lnTo>
                  <a:lnTo>
                    <a:pt x="4526780" y="1649930"/>
                  </a:lnTo>
                  <a:lnTo>
                    <a:pt x="4510852" y="1602955"/>
                  </a:lnTo>
                  <a:lnTo>
                    <a:pt x="4494522" y="1556233"/>
                  </a:lnTo>
                  <a:lnTo>
                    <a:pt x="4477794" y="1509767"/>
                  </a:lnTo>
                  <a:lnTo>
                    <a:pt x="4460670" y="1463560"/>
                  </a:lnTo>
                  <a:lnTo>
                    <a:pt x="4443152" y="1417616"/>
                  </a:lnTo>
                  <a:lnTo>
                    <a:pt x="4425243" y="1371937"/>
                  </a:lnTo>
                  <a:lnTo>
                    <a:pt x="4406946" y="1326527"/>
                  </a:lnTo>
                  <a:lnTo>
                    <a:pt x="4388264" y="1281389"/>
                  </a:lnTo>
                  <a:lnTo>
                    <a:pt x="4369198" y="1236526"/>
                  </a:lnTo>
                  <a:lnTo>
                    <a:pt x="4349751" y="1191941"/>
                  </a:lnTo>
                  <a:lnTo>
                    <a:pt x="4329927" y="1147637"/>
                  </a:lnTo>
                  <a:lnTo>
                    <a:pt x="4309727" y="1103617"/>
                  </a:lnTo>
                  <a:lnTo>
                    <a:pt x="4289154" y="1059885"/>
                  </a:lnTo>
                  <a:lnTo>
                    <a:pt x="4268212" y="1016443"/>
                  </a:lnTo>
                  <a:lnTo>
                    <a:pt x="4246901" y="973296"/>
                  </a:lnTo>
                  <a:lnTo>
                    <a:pt x="4225226" y="930445"/>
                  </a:lnTo>
                  <a:lnTo>
                    <a:pt x="4203188" y="887894"/>
                  </a:lnTo>
                  <a:lnTo>
                    <a:pt x="4180791" y="845647"/>
                  </a:lnTo>
                  <a:lnTo>
                    <a:pt x="4158036" y="803706"/>
                  </a:lnTo>
                  <a:lnTo>
                    <a:pt x="4134927" y="762074"/>
                  </a:lnTo>
                  <a:lnTo>
                    <a:pt x="4111466" y="720756"/>
                  </a:lnTo>
                  <a:lnTo>
                    <a:pt x="4087655" y="679753"/>
                  </a:lnTo>
                  <a:lnTo>
                    <a:pt x="4063497" y="639068"/>
                  </a:lnTo>
                  <a:lnTo>
                    <a:pt x="4038996" y="598706"/>
                  </a:lnTo>
                  <a:lnTo>
                    <a:pt x="4014152" y="558669"/>
                  </a:lnTo>
                  <a:lnTo>
                    <a:pt x="3988970" y="518961"/>
                  </a:lnTo>
                  <a:lnTo>
                    <a:pt x="3963451" y="479584"/>
                  </a:lnTo>
                  <a:lnTo>
                    <a:pt x="3937599" y="440542"/>
                  </a:lnTo>
                  <a:lnTo>
                    <a:pt x="3911415" y="401837"/>
                  </a:lnTo>
                  <a:lnTo>
                    <a:pt x="3884902" y="363473"/>
                  </a:lnTo>
                  <a:lnTo>
                    <a:pt x="3858064" y="325454"/>
                  </a:lnTo>
                  <a:lnTo>
                    <a:pt x="3830902" y="287781"/>
                  </a:lnTo>
                  <a:lnTo>
                    <a:pt x="3803419" y="250459"/>
                  </a:lnTo>
                  <a:lnTo>
                    <a:pt x="3775618" y="213491"/>
                  </a:lnTo>
                  <a:lnTo>
                    <a:pt x="3747501" y="176879"/>
                  </a:lnTo>
                  <a:lnTo>
                    <a:pt x="3719071" y="140627"/>
                  </a:lnTo>
                  <a:lnTo>
                    <a:pt x="3690331" y="104738"/>
                  </a:lnTo>
                  <a:lnTo>
                    <a:pt x="3661283" y="69215"/>
                  </a:lnTo>
                  <a:lnTo>
                    <a:pt x="35982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02766" y="2640914"/>
            <a:ext cx="2242820" cy="1416050"/>
          </a:xfrm>
          <a:prstGeom prst="rect">
            <a:avLst/>
          </a:prstGeom>
        </p:spPr>
        <p:txBody>
          <a:bodyPr wrap="square" lIns="0" tIns="95250" rIns="0" bIns="0" rtlCol="0" vert="horz">
            <a:spAutoFit/>
          </a:bodyPr>
          <a:lstStyle/>
          <a:p>
            <a:pPr marL="448309" marR="5080" indent="-436245">
              <a:lnSpc>
                <a:spcPts val="5190"/>
              </a:lnSpc>
              <a:spcBef>
                <a:spcPts val="750"/>
              </a:spcBef>
            </a:pPr>
            <a:r>
              <a:rPr dirty="0" sz="4800" spc="-25">
                <a:latin typeface="Calibri"/>
                <a:cs typeface="Calibri"/>
              </a:rPr>
              <a:t>Exclusive </a:t>
            </a:r>
            <a:r>
              <a:rPr dirty="0" sz="4800" spc="-10">
                <a:latin typeface="Calibri"/>
                <a:cs typeface="Calibri"/>
              </a:rPr>
              <a:t>Locks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0" y="3101339"/>
            <a:ext cx="128270" cy="655320"/>
          </a:xfrm>
          <a:custGeom>
            <a:avLst/>
            <a:gdLst/>
            <a:ahLst/>
            <a:cxnLst/>
            <a:rect l="l" t="t" r="r" b="b"/>
            <a:pathLst>
              <a:path w="128270" h="655320">
                <a:moveTo>
                  <a:pt x="128016" y="0"/>
                </a:moveTo>
                <a:lnTo>
                  <a:pt x="0" y="0"/>
                </a:lnTo>
                <a:lnTo>
                  <a:pt x="0" y="655320"/>
                </a:lnTo>
                <a:lnTo>
                  <a:pt x="128016" y="655320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970778" y="1089405"/>
            <a:ext cx="5302885" cy="227393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240029" marR="5715" indent="-227329">
              <a:lnSpc>
                <a:spcPct val="8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locking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used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DBMS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8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7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7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wants</a:t>
            </a:r>
            <a:r>
              <a:rPr dirty="0" sz="2400" spc="8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7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75">
                <a:latin typeface="Calibri"/>
                <a:cs typeface="Calibri"/>
              </a:rPr>
              <a:t>  </a:t>
            </a:r>
            <a:r>
              <a:rPr dirty="0" sz="2400" spc="-25">
                <a:latin typeface="Calibri"/>
                <a:cs typeface="Calibri"/>
              </a:rPr>
              <a:t>or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database.</a:t>
            </a:r>
            <a:endParaRPr sz="2400">
              <a:latin typeface="Calibri"/>
              <a:cs typeface="Calibri"/>
            </a:endParaRPr>
          </a:p>
          <a:p>
            <a:pPr algn="just" marL="240029" marR="5080" indent="-227329">
              <a:lnSpc>
                <a:spcPct val="80100"/>
              </a:lnSpc>
              <a:spcBef>
                <a:spcPts val="4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When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lock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3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3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3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other</a:t>
            </a:r>
            <a:r>
              <a:rPr dirty="0" sz="2400" spc="3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30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cannot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acquire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any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type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data.</a:t>
            </a:r>
            <a:endParaRPr sz="2400">
              <a:latin typeface="Calibri"/>
              <a:cs typeface="Calibri"/>
            </a:endParaRPr>
          </a:p>
          <a:p>
            <a:pPr algn="just" marL="240029" indent="-227329">
              <a:lnSpc>
                <a:spcPts val="2810"/>
              </a:lnSpc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represented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970778" y="3328542"/>
            <a:ext cx="53003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635635" algn="l"/>
                <a:tab pos="1007744" algn="l"/>
                <a:tab pos="2629535" algn="l"/>
                <a:tab pos="3156585" algn="l"/>
                <a:tab pos="3809365" algn="l"/>
                <a:tab pos="5140960" algn="l"/>
              </a:tabLst>
            </a:pPr>
            <a:r>
              <a:rPr dirty="0" sz="2400" spc="-25">
                <a:latin typeface="Calibri"/>
                <a:cs typeface="Calibri"/>
              </a:rPr>
              <a:t>If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50">
                <a:latin typeface="Calibri"/>
                <a:cs typeface="Calibri"/>
              </a:rPr>
              <a:t>a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transaction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T1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has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obtained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5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99378" y="3621151"/>
            <a:ext cx="5073015" cy="9766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675"/>
              </a:spcBef>
            </a:pPr>
            <a:r>
              <a:rPr dirty="0" sz="2400">
                <a:latin typeface="Calibri"/>
                <a:cs typeface="Calibri"/>
              </a:rPr>
              <a:t>exclusive</a:t>
            </a:r>
            <a:r>
              <a:rPr dirty="0" sz="2400" spc="26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26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26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270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265">
                <a:latin typeface="Calibri"/>
                <a:cs typeface="Calibri"/>
              </a:rPr>
              <a:t> 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260">
                <a:latin typeface="Calibri"/>
                <a:cs typeface="Calibri"/>
              </a:rPr>
              <a:t>  </a:t>
            </a:r>
            <a:r>
              <a:rPr dirty="0" sz="2400" spc="-20">
                <a:latin typeface="Calibri"/>
                <a:cs typeface="Calibri"/>
              </a:rPr>
              <a:t>then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T1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1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10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9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and </a:t>
            </a:r>
            <a:r>
              <a:rPr dirty="0" sz="2400">
                <a:latin typeface="Calibri"/>
                <a:cs typeface="Calibri"/>
              </a:rPr>
              <a:t>also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can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data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X.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70778" y="4561713"/>
            <a:ext cx="5302250" cy="1040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ts val="2845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>
                <a:latin typeface="Calibri"/>
                <a:cs typeface="Calibri"/>
              </a:rPr>
              <a:t>SQL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implementation:</a:t>
            </a:r>
            <a:endParaRPr sz="2400">
              <a:latin typeface="Calibri"/>
              <a:cs typeface="Calibri"/>
            </a:endParaRPr>
          </a:p>
          <a:p>
            <a:pPr marL="12700" marR="5080" indent="68580">
              <a:lnSpc>
                <a:spcPts val="2300"/>
              </a:lnSpc>
              <a:spcBef>
                <a:spcPts val="520"/>
              </a:spcBef>
              <a:tabLst>
                <a:tab pos="983615" algn="l"/>
                <a:tab pos="1985010" algn="l"/>
                <a:tab pos="3441700" algn="l"/>
                <a:tab pos="3972560" algn="l"/>
              </a:tabLst>
            </a:pPr>
            <a:r>
              <a:rPr dirty="0" sz="2400" spc="-20">
                <a:latin typeface="Calibri"/>
                <a:cs typeface="Calibri"/>
              </a:rPr>
              <a:t>LOCK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TABLE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Customer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IN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5">
                <a:latin typeface="Calibri"/>
                <a:cs typeface="Calibri"/>
              </a:rPr>
              <a:t>EXCLUSIVE </a:t>
            </a:r>
            <a:r>
              <a:rPr dirty="0" sz="2400" spc="-20">
                <a:latin typeface="Calibri"/>
                <a:cs typeface="Calibri"/>
              </a:rPr>
              <a:t>MODE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06730" y="860021"/>
            <a:ext cx="2159635" cy="1494790"/>
          </a:xfrm>
          <a:custGeom>
            <a:avLst/>
            <a:gdLst/>
            <a:ahLst/>
            <a:cxnLst/>
            <a:rect l="l" t="t" r="r" b="b"/>
            <a:pathLst>
              <a:path w="2159635" h="1494789">
                <a:moveTo>
                  <a:pt x="2159127" y="156867"/>
                </a:moveTo>
                <a:lnTo>
                  <a:pt x="2115508" y="136001"/>
                </a:lnTo>
                <a:lnTo>
                  <a:pt x="2071556" y="116668"/>
                </a:lnTo>
                <a:lnTo>
                  <a:pt x="2027301" y="98856"/>
                </a:lnTo>
                <a:lnTo>
                  <a:pt x="1982775" y="82556"/>
                </a:lnTo>
                <a:lnTo>
                  <a:pt x="1938009" y="67756"/>
                </a:lnTo>
                <a:lnTo>
                  <a:pt x="1893033" y="54446"/>
                </a:lnTo>
                <a:lnTo>
                  <a:pt x="1847880" y="42616"/>
                </a:lnTo>
                <a:lnTo>
                  <a:pt x="1802579" y="32256"/>
                </a:lnTo>
                <a:lnTo>
                  <a:pt x="1757162" y="23355"/>
                </a:lnTo>
                <a:lnTo>
                  <a:pt x="1711660" y="15902"/>
                </a:lnTo>
                <a:lnTo>
                  <a:pt x="1666105" y="9887"/>
                </a:lnTo>
                <a:lnTo>
                  <a:pt x="1620526" y="5300"/>
                </a:lnTo>
                <a:lnTo>
                  <a:pt x="1574956" y="2130"/>
                </a:lnTo>
                <a:lnTo>
                  <a:pt x="1529425" y="366"/>
                </a:lnTo>
                <a:lnTo>
                  <a:pt x="1483965" y="0"/>
                </a:lnTo>
                <a:lnTo>
                  <a:pt x="1438607" y="1019"/>
                </a:lnTo>
                <a:lnTo>
                  <a:pt x="1393380" y="3413"/>
                </a:lnTo>
                <a:lnTo>
                  <a:pt x="1348318" y="7172"/>
                </a:lnTo>
                <a:lnTo>
                  <a:pt x="1303450" y="12287"/>
                </a:lnTo>
                <a:lnTo>
                  <a:pt x="1258809" y="18745"/>
                </a:lnTo>
                <a:lnTo>
                  <a:pt x="1214424" y="26537"/>
                </a:lnTo>
                <a:lnTo>
                  <a:pt x="1170327" y="35652"/>
                </a:lnTo>
                <a:lnTo>
                  <a:pt x="1126549" y="46080"/>
                </a:lnTo>
                <a:lnTo>
                  <a:pt x="1083122" y="57810"/>
                </a:lnTo>
                <a:lnTo>
                  <a:pt x="1040075" y="70833"/>
                </a:lnTo>
                <a:lnTo>
                  <a:pt x="997441" y="85136"/>
                </a:lnTo>
                <a:lnTo>
                  <a:pt x="955250" y="100711"/>
                </a:lnTo>
                <a:lnTo>
                  <a:pt x="913534" y="117547"/>
                </a:lnTo>
                <a:lnTo>
                  <a:pt x="872323" y="135633"/>
                </a:lnTo>
                <a:lnTo>
                  <a:pt x="831649" y="154958"/>
                </a:lnTo>
                <a:lnTo>
                  <a:pt x="791543" y="175513"/>
                </a:lnTo>
                <a:lnTo>
                  <a:pt x="752035" y="197287"/>
                </a:lnTo>
                <a:lnTo>
                  <a:pt x="713157" y="220269"/>
                </a:lnTo>
                <a:lnTo>
                  <a:pt x="674941" y="244450"/>
                </a:lnTo>
                <a:lnTo>
                  <a:pt x="637416" y="269817"/>
                </a:lnTo>
                <a:lnTo>
                  <a:pt x="600614" y="296362"/>
                </a:lnTo>
                <a:lnTo>
                  <a:pt x="564566" y="324074"/>
                </a:lnTo>
                <a:lnTo>
                  <a:pt x="529304" y="352942"/>
                </a:lnTo>
                <a:lnTo>
                  <a:pt x="494858" y="382956"/>
                </a:lnTo>
                <a:lnTo>
                  <a:pt x="461259" y="414105"/>
                </a:lnTo>
                <a:lnTo>
                  <a:pt x="428539" y="446379"/>
                </a:lnTo>
                <a:lnTo>
                  <a:pt x="396728" y="479768"/>
                </a:lnTo>
                <a:lnTo>
                  <a:pt x="365858" y="514260"/>
                </a:lnTo>
                <a:lnTo>
                  <a:pt x="335960" y="549847"/>
                </a:lnTo>
                <a:lnTo>
                  <a:pt x="307064" y="586516"/>
                </a:lnTo>
                <a:lnTo>
                  <a:pt x="279202" y="624259"/>
                </a:lnTo>
                <a:lnTo>
                  <a:pt x="252405" y="663063"/>
                </a:lnTo>
                <a:lnTo>
                  <a:pt x="226705" y="702920"/>
                </a:lnTo>
                <a:lnTo>
                  <a:pt x="202131" y="743818"/>
                </a:lnTo>
                <a:lnTo>
                  <a:pt x="178715" y="785747"/>
                </a:lnTo>
                <a:lnTo>
                  <a:pt x="156489" y="828697"/>
                </a:lnTo>
                <a:lnTo>
                  <a:pt x="135191" y="873343"/>
                </a:lnTo>
                <a:lnTo>
                  <a:pt x="115414" y="918592"/>
                </a:lnTo>
                <a:lnTo>
                  <a:pt x="97166" y="964406"/>
                </a:lnTo>
                <a:lnTo>
                  <a:pt x="80456" y="1010745"/>
                </a:lnTo>
                <a:lnTo>
                  <a:pt x="65293" y="1057571"/>
                </a:lnTo>
                <a:lnTo>
                  <a:pt x="51688" y="1104846"/>
                </a:lnTo>
                <a:lnTo>
                  <a:pt x="39649" y="1152531"/>
                </a:lnTo>
                <a:lnTo>
                  <a:pt x="29185" y="1200587"/>
                </a:lnTo>
                <a:lnTo>
                  <a:pt x="20306" y="1248975"/>
                </a:lnTo>
                <a:lnTo>
                  <a:pt x="13020" y="1297658"/>
                </a:lnTo>
                <a:lnTo>
                  <a:pt x="7337" y="1346596"/>
                </a:lnTo>
                <a:lnTo>
                  <a:pt x="3267" y="1395751"/>
                </a:lnTo>
                <a:lnTo>
                  <a:pt x="818" y="1445085"/>
                </a:lnTo>
                <a:lnTo>
                  <a:pt x="0" y="149455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485132" y="434340"/>
            <a:ext cx="7218045" cy="5922645"/>
            <a:chOff x="4485132" y="434340"/>
            <a:chExt cx="7218045" cy="5922645"/>
          </a:xfrm>
        </p:grpSpPr>
        <p:sp>
          <p:nvSpPr>
            <p:cNvPr id="5" name="object 5" descr=""/>
            <p:cNvSpPr/>
            <p:nvPr/>
          </p:nvSpPr>
          <p:spPr>
            <a:xfrm>
              <a:off x="4485132" y="434340"/>
              <a:ext cx="7218045" cy="5922645"/>
            </a:xfrm>
            <a:custGeom>
              <a:avLst/>
              <a:gdLst/>
              <a:ahLst/>
              <a:cxnLst/>
              <a:rect l="l" t="t" r="r" b="b"/>
              <a:pathLst>
                <a:path w="7218045" h="5922645">
                  <a:moveTo>
                    <a:pt x="7029704" y="0"/>
                  </a:moveTo>
                  <a:lnTo>
                    <a:pt x="187959" y="0"/>
                  </a:lnTo>
                  <a:lnTo>
                    <a:pt x="138009" y="6717"/>
                  </a:lnTo>
                  <a:lnTo>
                    <a:pt x="93114" y="25672"/>
                  </a:lnTo>
                  <a:lnTo>
                    <a:pt x="55070" y="55070"/>
                  </a:lnTo>
                  <a:lnTo>
                    <a:pt x="25672" y="93114"/>
                  </a:lnTo>
                  <a:lnTo>
                    <a:pt x="6717" y="138009"/>
                  </a:lnTo>
                  <a:lnTo>
                    <a:pt x="0" y="187960"/>
                  </a:lnTo>
                  <a:lnTo>
                    <a:pt x="0" y="5734291"/>
                  </a:lnTo>
                  <a:lnTo>
                    <a:pt x="6717" y="5784260"/>
                  </a:lnTo>
                  <a:lnTo>
                    <a:pt x="25672" y="5829162"/>
                  </a:lnTo>
                  <a:lnTo>
                    <a:pt x="55070" y="5867206"/>
                  </a:lnTo>
                  <a:lnTo>
                    <a:pt x="93114" y="5896599"/>
                  </a:lnTo>
                  <a:lnTo>
                    <a:pt x="138009" y="5915549"/>
                  </a:lnTo>
                  <a:lnTo>
                    <a:pt x="187959" y="5922264"/>
                  </a:lnTo>
                  <a:lnTo>
                    <a:pt x="7029704" y="5922264"/>
                  </a:lnTo>
                  <a:lnTo>
                    <a:pt x="7079654" y="5915549"/>
                  </a:lnTo>
                  <a:lnTo>
                    <a:pt x="7124549" y="5896599"/>
                  </a:lnTo>
                  <a:lnTo>
                    <a:pt x="7162593" y="5867206"/>
                  </a:lnTo>
                  <a:lnTo>
                    <a:pt x="7191991" y="5829162"/>
                  </a:lnTo>
                  <a:lnTo>
                    <a:pt x="7210946" y="5784260"/>
                  </a:lnTo>
                  <a:lnTo>
                    <a:pt x="7217663" y="5734291"/>
                  </a:lnTo>
                  <a:lnTo>
                    <a:pt x="7217663" y="187960"/>
                  </a:lnTo>
                  <a:lnTo>
                    <a:pt x="7210946" y="138009"/>
                  </a:lnTo>
                  <a:lnTo>
                    <a:pt x="7191991" y="93114"/>
                  </a:lnTo>
                  <a:lnTo>
                    <a:pt x="7162593" y="55070"/>
                  </a:lnTo>
                  <a:lnTo>
                    <a:pt x="7124549" y="25672"/>
                  </a:lnTo>
                  <a:lnTo>
                    <a:pt x="7079654" y="6717"/>
                  </a:lnTo>
                  <a:lnTo>
                    <a:pt x="7029704" y="0"/>
                  </a:lnTo>
                  <a:close/>
                </a:path>
              </a:pathLst>
            </a:custGeom>
            <a:solidFill>
              <a:srgbClr val="FFFFFF">
                <a:alpha val="949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4024" y="609600"/>
              <a:ext cx="6736080" cy="0"/>
            </a:xfrm>
            <a:custGeom>
              <a:avLst/>
              <a:gdLst/>
              <a:ahLst/>
              <a:cxnLst/>
              <a:rect l="l" t="t" r="r" b="b"/>
              <a:pathLst>
                <a:path w="6736080" h="0">
                  <a:moveTo>
                    <a:pt x="0" y="0"/>
                  </a:moveTo>
                  <a:lnTo>
                    <a:pt x="6736080" y="0"/>
                  </a:lnTo>
                </a:path>
              </a:pathLst>
            </a:custGeom>
            <a:ln w="1270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99482" y="704850"/>
            <a:ext cx="4959350" cy="1924050"/>
          </a:xfrm>
          <a:prstGeom prst="rect"/>
        </p:spPr>
        <p:txBody>
          <a:bodyPr wrap="square" lIns="0" tIns="109855" rIns="0" bIns="0" rtlCol="0" vert="horz">
            <a:spAutoFit/>
          </a:bodyPr>
          <a:lstStyle/>
          <a:p>
            <a:pPr marL="12700" marR="5080">
              <a:lnSpc>
                <a:spcPts val="7140"/>
              </a:lnSpc>
              <a:spcBef>
                <a:spcPts val="865"/>
              </a:spcBef>
            </a:pPr>
            <a:r>
              <a:rPr dirty="0" sz="6500" b="0">
                <a:latin typeface="Calibri"/>
                <a:cs typeface="Calibri"/>
              </a:rPr>
              <a:t>Time </a:t>
            </a:r>
            <a:r>
              <a:rPr dirty="0" sz="6500" spc="-25" b="0">
                <a:latin typeface="Calibri"/>
                <a:cs typeface="Calibri"/>
              </a:rPr>
              <a:t>stamping </a:t>
            </a:r>
            <a:r>
              <a:rPr dirty="0" sz="6500" spc="-10" b="0">
                <a:latin typeface="Calibri"/>
                <a:cs typeface="Calibri"/>
              </a:rPr>
              <a:t>Methods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4764023" y="3392423"/>
            <a:ext cx="6736080" cy="0"/>
          </a:xfrm>
          <a:custGeom>
            <a:avLst/>
            <a:gdLst/>
            <a:ahLst/>
            <a:cxnLst/>
            <a:rect l="l" t="t" r="r" b="b"/>
            <a:pathLst>
              <a:path w="6736080" h="0">
                <a:moveTo>
                  <a:pt x="0" y="0"/>
                </a:moveTo>
                <a:lnTo>
                  <a:pt x="6736080" y="0"/>
                </a:lnTo>
              </a:path>
            </a:pathLst>
          </a:custGeom>
          <a:ln w="12700">
            <a:solidFill>
              <a:srgbClr val="6FAC4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16939" y="3011246"/>
            <a:ext cx="7533640" cy="2400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4515"/>
              </a:lnSpc>
              <a:spcBef>
                <a:spcPts val="105"/>
              </a:spcBef>
            </a:pP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Contents</a:t>
            </a:r>
            <a:endParaRPr sz="4400">
              <a:latin typeface="Calibri Light"/>
              <a:cs typeface="Calibri Light"/>
            </a:endParaRPr>
          </a:p>
          <a:p>
            <a:pPr marL="4095115" marR="5080">
              <a:lnSpc>
                <a:spcPts val="7140"/>
              </a:lnSpc>
            </a:pPr>
            <a:r>
              <a:rPr dirty="0" sz="6500" spc="-10">
                <a:latin typeface="Calibri"/>
                <a:cs typeface="Calibri"/>
              </a:rPr>
              <a:t>Optimistic Methods</a:t>
            </a:r>
            <a:endParaRPr sz="6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2496057"/>
            <a:ext cx="3917950" cy="1530985"/>
          </a:xfrm>
          <a:prstGeom prst="rect"/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ts val="5620"/>
              </a:lnSpc>
              <a:spcBef>
                <a:spcPts val="800"/>
              </a:spcBef>
            </a:pPr>
            <a:r>
              <a:rPr dirty="0" sz="5200" b="0">
                <a:latin typeface="Calibri Light"/>
                <a:cs typeface="Calibri Light"/>
              </a:rPr>
              <a:t>Time</a:t>
            </a:r>
            <a:r>
              <a:rPr dirty="0" sz="5200" spc="-114" b="0">
                <a:latin typeface="Calibri Light"/>
                <a:cs typeface="Calibri Light"/>
              </a:rPr>
              <a:t> </a:t>
            </a:r>
            <a:r>
              <a:rPr dirty="0" sz="5200" spc="-10" b="0">
                <a:latin typeface="Calibri Light"/>
                <a:cs typeface="Calibri Light"/>
              </a:rPr>
              <a:t>stamping methods</a:t>
            </a:r>
            <a:endParaRPr sz="5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351776" y="621791"/>
            <a:ext cx="2752725" cy="1652270"/>
          </a:xfrm>
          <a:prstGeom prst="rect">
            <a:avLst/>
          </a:prstGeom>
          <a:solidFill>
            <a:srgbClr val="EC7C30"/>
          </a:solidFill>
        </p:spPr>
        <p:txBody>
          <a:bodyPr wrap="square" lIns="0" tIns="114935" rIns="0" bIns="0" rtlCol="0" vert="horz">
            <a:spAutoFit/>
          </a:bodyPr>
          <a:lstStyle/>
          <a:p>
            <a:pPr algn="ctr" marL="365760" marR="356235">
              <a:lnSpc>
                <a:spcPts val="3620"/>
              </a:lnSpc>
              <a:spcBef>
                <a:spcPts val="905"/>
              </a:spcBef>
            </a:pPr>
            <a:r>
              <a:rPr dirty="0" sz="33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33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3300" spc="-10">
                <a:solidFill>
                  <a:srgbClr val="FFFFFF"/>
                </a:solidFill>
                <a:latin typeface="Calibri"/>
                <a:cs typeface="Calibri"/>
              </a:rPr>
              <a:t>Stamp Based Protocol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351776" y="2548127"/>
            <a:ext cx="2752725" cy="1652270"/>
          </a:xfrm>
          <a:prstGeom prst="rect">
            <a:avLst/>
          </a:prstGeom>
          <a:solidFill>
            <a:srgbClr val="A4A4A4"/>
          </a:solidFill>
        </p:spPr>
        <p:txBody>
          <a:bodyPr wrap="square" lIns="0" tIns="346075" rIns="0" bIns="0" rtlCol="0" vert="horz">
            <a:spAutoFit/>
          </a:bodyPr>
          <a:lstStyle/>
          <a:p>
            <a:pPr marL="420370" marR="412750" indent="7620">
              <a:lnSpc>
                <a:spcPts val="3620"/>
              </a:lnSpc>
              <a:spcBef>
                <a:spcPts val="2725"/>
              </a:spcBef>
            </a:pPr>
            <a:r>
              <a:rPr dirty="0" sz="3300" spc="-10">
                <a:solidFill>
                  <a:srgbClr val="FFFFFF"/>
                </a:solidFill>
                <a:latin typeface="Calibri"/>
                <a:cs typeface="Calibri"/>
              </a:rPr>
              <a:t>Timestamp </a:t>
            </a:r>
            <a:r>
              <a:rPr dirty="0" sz="3300" spc="-20">
                <a:solidFill>
                  <a:srgbClr val="FFFFFF"/>
                </a:solidFill>
                <a:latin typeface="Calibri"/>
                <a:cs typeface="Calibri"/>
              </a:rPr>
              <a:t>Generation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351776" y="4474464"/>
            <a:ext cx="2752725" cy="1652270"/>
          </a:xfrm>
          <a:prstGeom prst="rect">
            <a:avLst/>
          </a:prstGeom>
          <a:solidFill>
            <a:srgbClr val="FFC000"/>
          </a:solidFill>
        </p:spPr>
        <p:txBody>
          <a:bodyPr wrap="square" lIns="0" tIns="107314" rIns="0" bIns="0" rtlCol="0" vert="horz">
            <a:spAutoFit/>
          </a:bodyPr>
          <a:lstStyle/>
          <a:p>
            <a:pPr algn="ctr" marL="427990" marR="421005">
              <a:lnSpc>
                <a:spcPct val="91500"/>
              </a:lnSpc>
              <a:spcBef>
                <a:spcPts val="844"/>
              </a:spcBef>
            </a:pPr>
            <a:r>
              <a:rPr dirty="0" sz="3300" spc="-20">
                <a:solidFill>
                  <a:srgbClr val="FFFFFF"/>
                </a:solidFill>
                <a:latin typeface="Calibri"/>
                <a:cs typeface="Calibri"/>
              </a:rPr>
              <a:t>Timestamp </a:t>
            </a:r>
            <a:r>
              <a:rPr dirty="0" sz="3300" spc="-10">
                <a:solidFill>
                  <a:srgbClr val="FFFFFF"/>
                </a:solidFill>
                <a:latin typeface="Calibri"/>
                <a:cs typeface="Calibri"/>
              </a:rPr>
              <a:t>ordering algorithm</a:t>
            </a:r>
            <a:endParaRPr sz="3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9988" y="338150"/>
            <a:ext cx="6118860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latin typeface="Calibri Light"/>
                <a:cs typeface="Calibri Light"/>
              </a:rPr>
              <a:t>Time</a:t>
            </a:r>
            <a:r>
              <a:rPr dirty="0" sz="4400" spc="-65" b="0">
                <a:latin typeface="Calibri Light"/>
                <a:cs typeface="Calibri Light"/>
              </a:rPr>
              <a:t> </a:t>
            </a:r>
            <a:r>
              <a:rPr dirty="0" sz="4400" b="0">
                <a:latin typeface="Calibri Light"/>
                <a:cs typeface="Calibri Light"/>
              </a:rPr>
              <a:t>stamp</a:t>
            </a:r>
            <a:r>
              <a:rPr dirty="0" sz="4400" spc="-55" b="0">
                <a:latin typeface="Calibri Light"/>
                <a:cs typeface="Calibri Light"/>
              </a:rPr>
              <a:t> </a:t>
            </a:r>
            <a:r>
              <a:rPr dirty="0" sz="4400" b="0">
                <a:latin typeface="Calibri Light"/>
                <a:cs typeface="Calibri Light"/>
              </a:rPr>
              <a:t>based</a:t>
            </a:r>
            <a:r>
              <a:rPr dirty="0" sz="4400" spc="-60" b="0">
                <a:latin typeface="Calibri Light"/>
                <a:cs typeface="Calibri Light"/>
              </a:rPr>
              <a:t> </a:t>
            </a:r>
            <a:r>
              <a:rPr dirty="0" sz="4400" spc="-10" b="0">
                <a:latin typeface="Calibri Light"/>
                <a:cs typeface="Calibri Light"/>
              </a:rPr>
              <a:t>protocol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417576"/>
            <a:ext cx="128270" cy="631190"/>
          </a:xfrm>
          <a:custGeom>
            <a:avLst/>
            <a:gdLst/>
            <a:ahLst/>
            <a:cxnLst/>
            <a:rect l="l" t="t" r="r" b="b"/>
            <a:pathLst>
              <a:path w="128270" h="631190">
                <a:moveTo>
                  <a:pt x="128016" y="0"/>
                </a:moveTo>
                <a:lnTo>
                  <a:pt x="0" y="0"/>
                </a:lnTo>
                <a:lnTo>
                  <a:pt x="0" y="630936"/>
                </a:lnTo>
                <a:lnTo>
                  <a:pt x="128016" y="630936"/>
                </a:lnTo>
                <a:lnTo>
                  <a:pt x="128016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841247" y="1380744"/>
            <a:ext cx="10506710" cy="18415"/>
          </a:xfrm>
          <a:custGeom>
            <a:avLst/>
            <a:gdLst/>
            <a:ahLst/>
            <a:cxnLst/>
            <a:rect l="l" t="t" r="r" b="b"/>
            <a:pathLst>
              <a:path w="10506710" h="18415">
                <a:moveTo>
                  <a:pt x="10506456" y="0"/>
                </a:moveTo>
                <a:lnTo>
                  <a:pt x="0" y="0"/>
                </a:lnTo>
                <a:lnTo>
                  <a:pt x="0" y="18287"/>
                </a:lnTo>
                <a:lnTo>
                  <a:pt x="10506456" y="18287"/>
                </a:lnTo>
                <a:lnTo>
                  <a:pt x="10506456" y="0"/>
                </a:lnTo>
                <a:close/>
              </a:path>
            </a:pathLst>
          </a:custGeom>
          <a:solidFill>
            <a:srgbClr val="D4D4D4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838200" y="1650492"/>
            <a:ext cx="10506710" cy="1310640"/>
            <a:chOff x="838200" y="1650492"/>
            <a:chExt cx="10506710" cy="1310640"/>
          </a:xfrm>
        </p:grpSpPr>
        <p:sp>
          <p:nvSpPr>
            <p:cNvPr id="6" name="object 6" descr=""/>
            <p:cNvSpPr/>
            <p:nvPr/>
          </p:nvSpPr>
          <p:spPr>
            <a:xfrm>
              <a:off x="838200" y="1650492"/>
              <a:ext cx="10506710" cy="1310640"/>
            </a:xfrm>
            <a:custGeom>
              <a:avLst/>
              <a:gdLst/>
              <a:ahLst/>
              <a:cxnLst/>
              <a:rect l="l" t="t" r="r" b="b"/>
              <a:pathLst>
                <a:path w="10506710" h="1310639">
                  <a:moveTo>
                    <a:pt x="10375392" y="0"/>
                  </a:moveTo>
                  <a:lnTo>
                    <a:pt x="131063" y="0"/>
                  </a:lnTo>
                  <a:lnTo>
                    <a:pt x="80051" y="10298"/>
                  </a:lnTo>
                  <a:lnTo>
                    <a:pt x="38390" y="38385"/>
                  </a:lnTo>
                  <a:lnTo>
                    <a:pt x="10300" y="80045"/>
                  </a:lnTo>
                  <a:lnTo>
                    <a:pt x="0" y="131063"/>
                  </a:lnTo>
                  <a:lnTo>
                    <a:pt x="0" y="1179576"/>
                  </a:lnTo>
                  <a:lnTo>
                    <a:pt x="10300" y="1230594"/>
                  </a:lnTo>
                  <a:lnTo>
                    <a:pt x="38390" y="1272254"/>
                  </a:lnTo>
                  <a:lnTo>
                    <a:pt x="80051" y="1300341"/>
                  </a:lnTo>
                  <a:lnTo>
                    <a:pt x="131063" y="1310640"/>
                  </a:lnTo>
                  <a:lnTo>
                    <a:pt x="10375392" y="1310640"/>
                  </a:lnTo>
                  <a:lnTo>
                    <a:pt x="10426410" y="1300341"/>
                  </a:lnTo>
                  <a:lnTo>
                    <a:pt x="10468070" y="1272254"/>
                  </a:lnTo>
                  <a:lnTo>
                    <a:pt x="10496157" y="1230594"/>
                  </a:lnTo>
                  <a:lnTo>
                    <a:pt x="10506456" y="1179576"/>
                  </a:lnTo>
                  <a:lnTo>
                    <a:pt x="10506456" y="131063"/>
                  </a:lnTo>
                  <a:lnTo>
                    <a:pt x="10496157" y="80045"/>
                  </a:lnTo>
                  <a:lnTo>
                    <a:pt x="10468070" y="38385"/>
                  </a:lnTo>
                  <a:lnTo>
                    <a:pt x="10426410" y="10298"/>
                  </a:lnTo>
                  <a:lnTo>
                    <a:pt x="1037539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1388173" y="2025535"/>
              <a:ext cx="415925" cy="563880"/>
            </a:xfrm>
            <a:custGeom>
              <a:avLst/>
              <a:gdLst/>
              <a:ahLst/>
              <a:cxnLst/>
              <a:rect l="l" t="t" r="r" b="b"/>
              <a:pathLst>
                <a:path w="415925" h="563880">
                  <a:moveTo>
                    <a:pt x="415747" y="385457"/>
                  </a:moveTo>
                  <a:lnTo>
                    <a:pt x="405104" y="404139"/>
                  </a:lnTo>
                  <a:lnTo>
                    <a:pt x="375500" y="420420"/>
                  </a:lnTo>
                  <a:lnTo>
                    <a:pt x="371195" y="421652"/>
                  </a:lnTo>
                  <a:lnTo>
                    <a:pt x="371195" y="480326"/>
                  </a:lnTo>
                  <a:lnTo>
                    <a:pt x="371195" y="498119"/>
                  </a:lnTo>
                  <a:lnTo>
                    <a:pt x="365264" y="504050"/>
                  </a:lnTo>
                  <a:lnTo>
                    <a:pt x="347446" y="504050"/>
                  </a:lnTo>
                  <a:lnTo>
                    <a:pt x="341503" y="498119"/>
                  </a:lnTo>
                  <a:lnTo>
                    <a:pt x="341503" y="480326"/>
                  </a:lnTo>
                  <a:lnTo>
                    <a:pt x="347446" y="474395"/>
                  </a:lnTo>
                  <a:lnTo>
                    <a:pt x="365264" y="474395"/>
                  </a:lnTo>
                  <a:lnTo>
                    <a:pt x="371195" y="480326"/>
                  </a:lnTo>
                  <a:lnTo>
                    <a:pt x="371195" y="421652"/>
                  </a:lnTo>
                  <a:lnTo>
                    <a:pt x="330428" y="433273"/>
                  </a:lnTo>
                  <a:lnTo>
                    <a:pt x="273392" y="441718"/>
                  </a:lnTo>
                  <a:lnTo>
                    <a:pt x="207873" y="444754"/>
                  </a:lnTo>
                  <a:lnTo>
                    <a:pt x="142354" y="441718"/>
                  </a:lnTo>
                  <a:lnTo>
                    <a:pt x="85305" y="433273"/>
                  </a:lnTo>
                  <a:lnTo>
                    <a:pt x="40246" y="420420"/>
                  </a:lnTo>
                  <a:lnTo>
                    <a:pt x="10642" y="404139"/>
                  </a:lnTo>
                  <a:lnTo>
                    <a:pt x="0" y="385457"/>
                  </a:lnTo>
                  <a:lnTo>
                    <a:pt x="0" y="504050"/>
                  </a:lnTo>
                  <a:lnTo>
                    <a:pt x="40246" y="539013"/>
                  </a:lnTo>
                  <a:lnTo>
                    <a:pt x="85305" y="551865"/>
                  </a:lnTo>
                  <a:lnTo>
                    <a:pt x="142354" y="560311"/>
                  </a:lnTo>
                  <a:lnTo>
                    <a:pt x="207873" y="563346"/>
                  </a:lnTo>
                  <a:lnTo>
                    <a:pt x="273392" y="560311"/>
                  </a:lnTo>
                  <a:lnTo>
                    <a:pt x="330428" y="551865"/>
                  </a:lnTo>
                  <a:lnTo>
                    <a:pt x="375500" y="539013"/>
                  </a:lnTo>
                  <a:lnTo>
                    <a:pt x="405104" y="522744"/>
                  </a:lnTo>
                  <a:lnTo>
                    <a:pt x="415747" y="504050"/>
                  </a:lnTo>
                  <a:lnTo>
                    <a:pt x="415747" y="474395"/>
                  </a:lnTo>
                  <a:lnTo>
                    <a:pt x="415747" y="444754"/>
                  </a:lnTo>
                  <a:lnTo>
                    <a:pt x="415747" y="385457"/>
                  </a:lnTo>
                  <a:close/>
                </a:path>
                <a:path w="415925" h="563880">
                  <a:moveTo>
                    <a:pt x="415747" y="237197"/>
                  </a:moveTo>
                  <a:lnTo>
                    <a:pt x="405104" y="255892"/>
                  </a:lnTo>
                  <a:lnTo>
                    <a:pt x="375500" y="272161"/>
                  </a:lnTo>
                  <a:lnTo>
                    <a:pt x="371195" y="273392"/>
                  </a:lnTo>
                  <a:lnTo>
                    <a:pt x="371195" y="332079"/>
                  </a:lnTo>
                  <a:lnTo>
                    <a:pt x="371195" y="349872"/>
                  </a:lnTo>
                  <a:lnTo>
                    <a:pt x="365264" y="355803"/>
                  </a:lnTo>
                  <a:lnTo>
                    <a:pt x="347446" y="355803"/>
                  </a:lnTo>
                  <a:lnTo>
                    <a:pt x="341503" y="349872"/>
                  </a:lnTo>
                  <a:lnTo>
                    <a:pt x="341503" y="332079"/>
                  </a:lnTo>
                  <a:lnTo>
                    <a:pt x="347446" y="326148"/>
                  </a:lnTo>
                  <a:lnTo>
                    <a:pt x="365264" y="326148"/>
                  </a:lnTo>
                  <a:lnTo>
                    <a:pt x="371195" y="332079"/>
                  </a:lnTo>
                  <a:lnTo>
                    <a:pt x="371195" y="273392"/>
                  </a:lnTo>
                  <a:lnTo>
                    <a:pt x="330428" y="285026"/>
                  </a:lnTo>
                  <a:lnTo>
                    <a:pt x="273392" y="293471"/>
                  </a:lnTo>
                  <a:lnTo>
                    <a:pt x="207873" y="296506"/>
                  </a:lnTo>
                  <a:lnTo>
                    <a:pt x="142354" y="293471"/>
                  </a:lnTo>
                  <a:lnTo>
                    <a:pt x="85305" y="285026"/>
                  </a:lnTo>
                  <a:lnTo>
                    <a:pt x="40246" y="272161"/>
                  </a:lnTo>
                  <a:lnTo>
                    <a:pt x="10642" y="255892"/>
                  </a:lnTo>
                  <a:lnTo>
                    <a:pt x="0" y="237197"/>
                  </a:lnTo>
                  <a:lnTo>
                    <a:pt x="0" y="355803"/>
                  </a:lnTo>
                  <a:lnTo>
                    <a:pt x="40246" y="390766"/>
                  </a:lnTo>
                  <a:lnTo>
                    <a:pt x="85305" y="403618"/>
                  </a:lnTo>
                  <a:lnTo>
                    <a:pt x="142354" y="412064"/>
                  </a:lnTo>
                  <a:lnTo>
                    <a:pt x="207873" y="415099"/>
                  </a:lnTo>
                  <a:lnTo>
                    <a:pt x="273392" y="412064"/>
                  </a:lnTo>
                  <a:lnTo>
                    <a:pt x="330428" y="403618"/>
                  </a:lnTo>
                  <a:lnTo>
                    <a:pt x="375500" y="390766"/>
                  </a:lnTo>
                  <a:lnTo>
                    <a:pt x="405104" y="374497"/>
                  </a:lnTo>
                  <a:lnTo>
                    <a:pt x="415747" y="355803"/>
                  </a:lnTo>
                  <a:lnTo>
                    <a:pt x="415747" y="326148"/>
                  </a:lnTo>
                  <a:lnTo>
                    <a:pt x="415747" y="296506"/>
                  </a:lnTo>
                  <a:lnTo>
                    <a:pt x="415747" y="237197"/>
                  </a:lnTo>
                  <a:close/>
                </a:path>
                <a:path w="415925" h="563880">
                  <a:moveTo>
                    <a:pt x="415747" y="88950"/>
                  </a:moveTo>
                  <a:lnTo>
                    <a:pt x="405104" y="107645"/>
                  </a:lnTo>
                  <a:lnTo>
                    <a:pt x="375500" y="123913"/>
                  </a:lnTo>
                  <a:lnTo>
                    <a:pt x="371195" y="125145"/>
                  </a:lnTo>
                  <a:lnTo>
                    <a:pt x="371195" y="183832"/>
                  </a:lnTo>
                  <a:lnTo>
                    <a:pt x="371195" y="201625"/>
                  </a:lnTo>
                  <a:lnTo>
                    <a:pt x="365264" y="207556"/>
                  </a:lnTo>
                  <a:lnTo>
                    <a:pt x="347446" y="207556"/>
                  </a:lnTo>
                  <a:lnTo>
                    <a:pt x="341503" y="201625"/>
                  </a:lnTo>
                  <a:lnTo>
                    <a:pt x="341503" y="183832"/>
                  </a:lnTo>
                  <a:lnTo>
                    <a:pt x="347446" y="177901"/>
                  </a:lnTo>
                  <a:lnTo>
                    <a:pt x="365264" y="177901"/>
                  </a:lnTo>
                  <a:lnTo>
                    <a:pt x="371195" y="183832"/>
                  </a:lnTo>
                  <a:lnTo>
                    <a:pt x="371195" y="125145"/>
                  </a:lnTo>
                  <a:lnTo>
                    <a:pt x="330428" y="136766"/>
                  </a:lnTo>
                  <a:lnTo>
                    <a:pt x="273392" y="145211"/>
                  </a:lnTo>
                  <a:lnTo>
                    <a:pt x="207873" y="148247"/>
                  </a:lnTo>
                  <a:lnTo>
                    <a:pt x="142354" y="145211"/>
                  </a:lnTo>
                  <a:lnTo>
                    <a:pt x="85305" y="136766"/>
                  </a:lnTo>
                  <a:lnTo>
                    <a:pt x="40246" y="123913"/>
                  </a:lnTo>
                  <a:lnTo>
                    <a:pt x="10642" y="107645"/>
                  </a:lnTo>
                  <a:lnTo>
                    <a:pt x="0" y="88950"/>
                  </a:lnTo>
                  <a:lnTo>
                    <a:pt x="0" y="207556"/>
                  </a:lnTo>
                  <a:lnTo>
                    <a:pt x="40246" y="242519"/>
                  </a:lnTo>
                  <a:lnTo>
                    <a:pt x="85305" y="255371"/>
                  </a:lnTo>
                  <a:lnTo>
                    <a:pt x="142354" y="263817"/>
                  </a:lnTo>
                  <a:lnTo>
                    <a:pt x="207873" y="266852"/>
                  </a:lnTo>
                  <a:lnTo>
                    <a:pt x="273392" y="263817"/>
                  </a:lnTo>
                  <a:lnTo>
                    <a:pt x="330428" y="255371"/>
                  </a:lnTo>
                  <a:lnTo>
                    <a:pt x="375500" y="242519"/>
                  </a:lnTo>
                  <a:lnTo>
                    <a:pt x="405104" y="226237"/>
                  </a:lnTo>
                  <a:lnTo>
                    <a:pt x="415747" y="207556"/>
                  </a:lnTo>
                  <a:lnTo>
                    <a:pt x="415747" y="177901"/>
                  </a:lnTo>
                  <a:lnTo>
                    <a:pt x="415747" y="148247"/>
                  </a:lnTo>
                  <a:lnTo>
                    <a:pt x="415747" y="88950"/>
                  </a:lnTo>
                  <a:close/>
                </a:path>
                <a:path w="415925" h="563880">
                  <a:moveTo>
                    <a:pt x="415747" y="59309"/>
                  </a:moveTo>
                  <a:lnTo>
                    <a:pt x="375640" y="24282"/>
                  </a:lnTo>
                  <a:lnTo>
                    <a:pt x="330644" y="11442"/>
                  </a:lnTo>
                  <a:lnTo>
                    <a:pt x="273570" y="3022"/>
                  </a:lnTo>
                  <a:lnTo>
                    <a:pt x="207873" y="0"/>
                  </a:lnTo>
                  <a:lnTo>
                    <a:pt x="142163" y="3022"/>
                  </a:lnTo>
                  <a:lnTo>
                    <a:pt x="85102" y="11442"/>
                  </a:lnTo>
                  <a:lnTo>
                    <a:pt x="40106" y="24282"/>
                  </a:lnTo>
                  <a:lnTo>
                    <a:pt x="10591" y="40563"/>
                  </a:lnTo>
                  <a:lnTo>
                    <a:pt x="0" y="59309"/>
                  </a:lnTo>
                  <a:lnTo>
                    <a:pt x="10591" y="78041"/>
                  </a:lnTo>
                  <a:lnTo>
                    <a:pt x="40106" y="94322"/>
                  </a:lnTo>
                  <a:lnTo>
                    <a:pt x="85102" y="107162"/>
                  </a:lnTo>
                  <a:lnTo>
                    <a:pt x="142163" y="115582"/>
                  </a:lnTo>
                  <a:lnTo>
                    <a:pt x="207873" y="118605"/>
                  </a:lnTo>
                  <a:lnTo>
                    <a:pt x="273570" y="115582"/>
                  </a:lnTo>
                  <a:lnTo>
                    <a:pt x="330644" y="107162"/>
                  </a:lnTo>
                  <a:lnTo>
                    <a:pt x="375640" y="94322"/>
                  </a:lnTo>
                  <a:lnTo>
                    <a:pt x="405142" y="78041"/>
                  </a:lnTo>
                  <a:lnTo>
                    <a:pt x="415747" y="593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477261" y="1785619"/>
            <a:ext cx="8500110" cy="97472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315"/>
              </a:spcBef>
            </a:pP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Timestamp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identifier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formed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by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DBMS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recognize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relative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starting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transaction.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Generally,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timestamp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values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assigned</a:t>
            </a:r>
            <a:r>
              <a:rPr dirty="0" sz="220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order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transactions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are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submitted</a:t>
            </a:r>
            <a:r>
              <a:rPr dirty="0" sz="22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system.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38200" y="3287267"/>
            <a:ext cx="10506710" cy="1310640"/>
            <a:chOff x="838200" y="3287267"/>
            <a:chExt cx="10506710" cy="1310640"/>
          </a:xfrm>
        </p:grpSpPr>
        <p:sp>
          <p:nvSpPr>
            <p:cNvPr id="10" name="object 10" descr=""/>
            <p:cNvSpPr/>
            <p:nvPr/>
          </p:nvSpPr>
          <p:spPr>
            <a:xfrm>
              <a:off x="838200" y="3287267"/>
              <a:ext cx="10506710" cy="1310640"/>
            </a:xfrm>
            <a:custGeom>
              <a:avLst/>
              <a:gdLst/>
              <a:ahLst/>
              <a:cxnLst/>
              <a:rect l="l" t="t" r="r" b="b"/>
              <a:pathLst>
                <a:path w="10506710" h="1310639">
                  <a:moveTo>
                    <a:pt x="10375392" y="0"/>
                  </a:moveTo>
                  <a:lnTo>
                    <a:pt x="131063" y="0"/>
                  </a:lnTo>
                  <a:lnTo>
                    <a:pt x="80051" y="10298"/>
                  </a:lnTo>
                  <a:lnTo>
                    <a:pt x="38390" y="38385"/>
                  </a:lnTo>
                  <a:lnTo>
                    <a:pt x="10300" y="80045"/>
                  </a:lnTo>
                  <a:lnTo>
                    <a:pt x="0" y="131064"/>
                  </a:lnTo>
                  <a:lnTo>
                    <a:pt x="0" y="1179576"/>
                  </a:lnTo>
                  <a:lnTo>
                    <a:pt x="10300" y="1230594"/>
                  </a:lnTo>
                  <a:lnTo>
                    <a:pt x="38390" y="1272254"/>
                  </a:lnTo>
                  <a:lnTo>
                    <a:pt x="80051" y="1300341"/>
                  </a:lnTo>
                  <a:lnTo>
                    <a:pt x="131063" y="1310640"/>
                  </a:lnTo>
                  <a:lnTo>
                    <a:pt x="10375392" y="1310640"/>
                  </a:lnTo>
                  <a:lnTo>
                    <a:pt x="10426410" y="1300341"/>
                  </a:lnTo>
                  <a:lnTo>
                    <a:pt x="10468070" y="1272254"/>
                  </a:lnTo>
                  <a:lnTo>
                    <a:pt x="10496157" y="1230594"/>
                  </a:lnTo>
                  <a:lnTo>
                    <a:pt x="10506456" y="1179576"/>
                  </a:lnTo>
                  <a:lnTo>
                    <a:pt x="10506456" y="131064"/>
                  </a:lnTo>
                  <a:lnTo>
                    <a:pt x="10496157" y="80045"/>
                  </a:lnTo>
                  <a:lnTo>
                    <a:pt x="10468070" y="38385"/>
                  </a:lnTo>
                  <a:lnTo>
                    <a:pt x="10426410" y="10298"/>
                  </a:lnTo>
                  <a:lnTo>
                    <a:pt x="10375392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299090" y="3729021"/>
              <a:ext cx="594360" cy="437515"/>
            </a:xfrm>
            <a:custGeom>
              <a:avLst/>
              <a:gdLst/>
              <a:ahLst/>
              <a:cxnLst/>
              <a:rect l="l" t="t" r="r" b="b"/>
              <a:pathLst>
                <a:path w="594360" h="437514">
                  <a:moveTo>
                    <a:pt x="212327" y="0"/>
                  </a:moveTo>
                  <a:lnTo>
                    <a:pt x="0" y="177899"/>
                  </a:lnTo>
                  <a:lnTo>
                    <a:pt x="212327" y="355798"/>
                  </a:lnTo>
                  <a:lnTo>
                    <a:pt x="212327" y="259436"/>
                  </a:lnTo>
                  <a:lnTo>
                    <a:pt x="381884" y="288171"/>
                  </a:lnTo>
                  <a:lnTo>
                    <a:pt x="500843" y="349219"/>
                  </a:lnTo>
                  <a:lnTo>
                    <a:pt x="570942" y="409851"/>
                  </a:lnTo>
                  <a:lnTo>
                    <a:pt x="593921" y="437335"/>
                  </a:lnTo>
                  <a:lnTo>
                    <a:pt x="580129" y="385633"/>
                  </a:lnTo>
                  <a:lnTo>
                    <a:pt x="525342" y="271666"/>
                  </a:lnTo>
                  <a:lnTo>
                    <a:pt x="409446" y="157144"/>
                  </a:lnTo>
                  <a:lnTo>
                    <a:pt x="212327" y="103774"/>
                  </a:lnTo>
                  <a:lnTo>
                    <a:pt x="2123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2477261" y="3729685"/>
            <a:ext cx="71113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timestamp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can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be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considered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as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starting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transaction.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38200" y="4925567"/>
            <a:ext cx="10506710" cy="1309370"/>
            <a:chOff x="838200" y="4925567"/>
            <a:chExt cx="10506710" cy="1309370"/>
          </a:xfrm>
        </p:grpSpPr>
        <p:sp>
          <p:nvSpPr>
            <p:cNvPr id="14" name="object 14" descr=""/>
            <p:cNvSpPr/>
            <p:nvPr/>
          </p:nvSpPr>
          <p:spPr>
            <a:xfrm>
              <a:off x="838200" y="4925567"/>
              <a:ext cx="10506710" cy="1309370"/>
            </a:xfrm>
            <a:custGeom>
              <a:avLst/>
              <a:gdLst/>
              <a:ahLst/>
              <a:cxnLst/>
              <a:rect l="l" t="t" r="r" b="b"/>
              <a:pathLst>
                <a:path w="10506710" h="1309370">
                  <a:moveTo>
                    <a:pt x="10375519" y="0"/>
                  </a:moveTo>
                  <a:lnTo>
                    <a:pt x="130911" y="0"/>
                  </a:lnTo>
                  <a:lnTo>
                    <a:pt x="79954" y="10296"/>
                  </a:lnTo>
                  <a:lnTo>
                    <a:pt x="38342" y="38369"/>
                  </a:lnTo>
                  <a:lnTo>
                    <a:pt x="10287" y="79992"/>
                  </a:lnTo>
                  <a:lnTo>
                    <a:pt x="0" y="130936"/>
                  </a:lnTo>
                  <a:lnTo>
                    <a:pt x="0" y="1178204"/>
                  </a:lnTo>
                  <a:lnTo>
                    <a:pt x="10287" y="1229161"/>
                  </a:lnTo>
                  <a:lnTo>
                    <a:pt x="38342" y="1270773"/>
                  </a:lnTo>
                  <a:lnTo>
                    <a:pt x="79954" y="1298828"/>
                  </a:lnTo>
                  <a:lnTo>
                    <a:pt x="130911" y="1309115"/>
                  </a:lnTo>
                  <a:lnTo>
                    <a:pt x="10375519" y="1309128"/>
                  </a:lnTo>
                  <a:lnTo>
                    <a:pt x="10426463" y="1298840"/>
                  </a:lnTo>
                  <a:lnTo>
                    <a:pt x="10468086" y="1270784"/>
                  </a:lnTo>
                  <a:lnTo>
                    <a:pt x="10496159" y="1229168"/>
                  </a:lnTo>
                  <a:lnTo>
                    <a:pt x="10506456" y="1178204"/>
                  </a:lnTo>
                  <a:lnTo>
                    <a:pt x="10506456" y="130936"/>
                  </a:lnTo>
                  <a:lnTo>
                    <a:pt x="10496176" y="79992"/>
                  </a:lnTo>
                  <a:lnTo>
                    <a:pt x="10468133" y="38369"/>
                  </a:lnTo>
                  <a:lnTo>
                    <a:pt x="10426517" y="10296"/>
                  </a:lnTo>
                  <a:lnTo>
                    <a:pt x="1037551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469843" y="5343827"/>
              <a:ext cx="252729" cy="104139"/>
            </a:xfrm>
            <a:custGeom>
              <a:avLst/>
              <a:gdLst/>
              <a:ahLst/>
              <a:cxnLst/>
              <a:rect l="l" t="t" r="r" b="b"/>
              <a:pathLst>
                <a:path w="252730" h="104139">
                  <a:moveTo>
                    <a:pt x="252416" y="0"/>
                  </a:moveTo>
                  <a:lnTo>
                    <a:pt x="0" y="0"/>
                  </a:lnTo>
                  <a:lnTo>
                    <a:pt x="0" y="103993"/>
                  </a:lnTo>
                  <a:lnTo>
                    <a:pt x="252416" y="103993"/>
                  </a:lnTo>
                  <a:lnTo>
                    <a:pt x="25241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8786" y="5737516"/>
              <a:ext cx="89088" cy="89137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1507" y="5737516"/>
              <a:ext cx="89088" cy="89137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74228" y="5737516"/>
              <a:ext cx="89088" cy="89137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358483" y="5477533"/>
              <a:ext cx="475615" cy="238125"/>
            </a:xfrm>
            <a:custGeom>
              <a:avLst/>
              <a:gdLst/>
              <a:ahLst/>
              <a:cxnLst/>
              <a:rect l="l" t="t" r="r" b="b"/>
              <a:pathLst>
                <a:path w="475614" h="238125">
                  <a:moveTo>
                    <a:pt x="252416" y="0"/>
                  </a:moveTo>
                  <a:lnTo>
                    <a:pt x="222720" y="0"/>
                  </a:lnTo>
                  <a:lnTo>
                    <a:pt x="222720" y="70567"/>
                  </a:lnTo>
                  <a:lnTo>
                    <a:pt x="189312" y="103993"/>
                  </a:lnTo>
                  <a:lnTo>
                    <a:pt x="0" y="103993"/>
                  </a:lnTo>
                  <a:lnTo>
                    <a:pt x="0" y="237699"/>
                  </a:lnTo>
                  <a:lnTo>
                    <a:pt x="29696" y="237699"/>
                  </a:lnTo>
                  <a:lnTo>
                    <a:pt x="29696" y="133705"/>
                  </a:lnTo>
                  <a:lnTo>
                    <a:pt x="215296" y="133705"/>
                  </a:lnTo>
                  <a:lnTo>
                    <a:pt x="200448" y="118849"/>
                  </a:lnTo>
                  <a:lnTo>
                    <a:pt x="237568" y="81709"/>
                  </a:lnTo>
                  <a:lnTo>
                    <a:pt x="263552" y="81709"/>
                  </a:lnTo>
                  <a:lnTo>
                    <a:pt x="252416" y="70567"/>
                  </a:lnTo>
                  <a:lnTo>
                    <a:pt x="252416" y="0"/>
                  </a:lnTo>
                  <a:close/>
                </a:path>
                <a:path w="475614" h="238125">
                  <a:moveTo>
                    <a:pt x="215296" y="133705"/>
                  </a:moveTo>
                  <a:lnTo>
                    <a:pt x="189312" y="133705"/>
                  </a:lnTo>
                  <a:lnTo>
                    <a:pt x="222720" y="167132"/>
                  </a:lnTo>
                  <a:lnTo>
                    <a:pt x="222720" y="237699"/>
                  </a:lnTo>
                  <a:lnTo>
                    <a:pt x="252416" y="237699"/>
                  </a:lnTo>
                  <a:lnTo>
                    <a:pt x="252416" y="167132"/>
                  </a:lnTo>
                  <a:lnTo>
                    <a:pt x="263552" y="155990"/>
                  </a:lnTo>
                  <a:lnTo>
                    <a:pt x="237568" y="155990"/>
                  </a:lnTo>
                  <a:lnTo>
                    <a:pt x="215296" y="133705"/>
                  </a:lnTo>
                  <a:close/>
                </a:path>
                <a:path w="475614" h="238125">
                  <a:moveTo>
                    <a:pt x="475137" y="133705"/>
                  </a:moveTo>
                  <a:lnTo>
                    <a:pt x="445441" y="133705"/>
                  </a:lnTo>
                  <a:lnTo>
                    <a:pt x="445441" y="237699"/>
                  </a:lnTo>
                  <a:lnTo>
                    <a:pt x="475137" y="237699"/>
                  </a:lnTo>
                  <a:lnTo>
                    <a:pt x="475137" y="133705"/>
                  </a:lnTo>
                  <a:close/>
                </a:path>
                <a:path w="475614" h="238125">
                  <a:moveTo>
                    <a:pt x="263552" y="81709"/>
                  </a:moveTo>
                  <a:lnTo>
                    <a:pt x="237568" y="81709"/>
                  </a:lnTo>
                  <a:lnTo>
                    <a:pt x="274688" y="118849"/>
                  </a:lnTo>
                  <a:lnTo>
                    <a:pt x="237568" y="155990"/>
                  </a:lnTo>
                  <a:lnTo>
                    <a:pt x="263552" y="155990"/>
                  </a:lnTo>
                  <a:lnTo>
                    <a:pt x="285824" y="133705"/>
                  </a:lnTo>
                  <a:lnTo>
                    <a:pt x="475137" y="133705"/>
                  </a:lnTo>
                  <a:lnTo>
                    <a:pt x="475137" y="103993"/>
                  </a:lnTo>
                  <a:lnTo>
                    <a:pt x="285824" y="103993"/>
                  </a:lnTo>
                  <a:lnTo>
                    <a:pt x="263552" y="817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477261" y="5213984"/>
            <a:ext cx="8717915" cy="668020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12700" marR="5080">
              <a:lnSpc>
                <a:spcPts val="2420"/>
              </a:lnSpc>
              <a:spcBef>
                <a:spcPts val="360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So,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time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stamping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is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method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concurrency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dirty="0" sz="22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which</a:t>
            </a:r>
            <a:r>
              <a:rPr dirty="0" sz="22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and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every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dirty="0" sz="22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has</a:t>
            </a:r>
            <a:r>
              <a:rPr dirty="0" sz="22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distinct</a:t>
            </a:r>
            <a:r>
              <a:rPr dirty="0" sz="22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transaction</a:t>
            </a:r>
            <a:r>
              <a:rPr dirty="0" sz="22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timestamp.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5759" y="2664968"/>
            <a:ext cx="2521585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Timestamp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generation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492379"/>
            <a:ext cx="6502400" cy="518604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240029" marR="62611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10">
                <a:latin typeface="Calibri"/>
                <a:cs typeface="Calibri"/>
              </a:rPr>
              <a:t>Timestamp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generated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several 	ways.</a:t>
            </a:r>
            <a:endParaRPr sz="2800">
              <a:latin typeface="Calibri"/>
              <a:cs typeface="Calibri"/>
            </a:endParaRPr>
          </a:p>
          <a:p>
            <a:pPr marL="240029" marR="650240" indent="-227329">
              <a:lnSpc>
                <a:spcPts val="303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way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assign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numbers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each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created.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this,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counter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used.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ts val="3190"/>
              </a:lnSpc>
              <a:spcBef>
                <a:spcPts val="60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timestamps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numbered</a:t>
            </a:r>
            <a:endParaRPr sz="2800">
              <a:latin typeface="Calibri"/>
              <a:cs typeface="Calibri"/>
            </a:endParaRPr>
          </a:p>
          <a:p>
            <a:pPr marL="241300">
              <a:lnSpc>
                <a:spcPts val="3190"/>
              </a:lnSpc>
            </a:pP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1,2,3,…n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985519" indent="-227329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counter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reset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zero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when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no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transactions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executing.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30">
                <a:latin typeface="Calibri"/>
                <a:cs typeface="Calibri"/>
              </a:rPr>
              <a:t>System’s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current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date/time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value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used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implement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timestamps.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Its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another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way</a:t>
            </a:r>
            <a:r>
              <a:rPr dirty="0" sz="2800" spc="-10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generate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timestamp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value.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5759" y="2363216"/>
            <a:ext cx="2521585" cy="1904364"/>
          </a:xfrm>
          <a:prstGeom prst="rect"/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20" b="0">
                <a:solidFill>
                  <a:srgbClr val="FFFFFF"/>
                </a:solidFill>
                <a:latin typeface="Calibri Light"/>
                <a:cs typeface="Calibri Light"/>
              </a:rPr>
              <a:t>Timestamp </a:t>
            </a:r>
            <a:r>
              <a:rPr dirty="0" sz="4400" spc="-10" b="0">
                <a:solidFill>
                  <a:srgbClr val="FFFFFF"/>
                </a:solidFill>
                <a:latin typeface="Calibri Light"/>
                <a:cs typeface="Calibri Light"/>
              </a:rPr>
              <a:t>ordering algorithm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01260" y="985773"/>
            <a:ext cx="6741795" cy="452247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65430" marR="304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timestamp-</a:t>
            </a:r>
            <a:r>
              <a:rPr dirty="0" sz="2400">
                <a:latin typeface="Calibri"/>
                <a:cs typeface="Calibri"/>
              </a:rPr>
              <a:t>ordering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protocol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ensures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Serializability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among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their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conflicting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operations.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responsibility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protocol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system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conflicting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pair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of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tasks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according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the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timestamp</a:t>
            </a:r>
            <a:r>
              <a:rPr dirty="0" sz="2400" spc="-10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values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transactions.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timestamp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</a:t>
            </a:r>
            <a:r>
              <a:rPr dirty="0" baseline="-20833" sz="2400">
                <a:latin typeface="Calibri"/>
                <a:cs typeface="Calibri"/>
              </a:rPr>
              <a:t>i</a:t>
            </a:r>
            <a:r>
              <a:rPr dirty="0" baseline="-20833" sz="2400" spc="202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denoted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TS(T</a:t>
            </a:r>
            <a:r>
              <a:rPr dirty="0" baseline="-20833" sz="2400" spc="-15">
                <a:latin typeface="Calibri"/>
                <a:cs typeface="Calibri"/>
              </a:rPr>
              <a:t>i</a:t>
            </a:r>
            <a:r>
              <a:rPr dirty="0" sz="2400" spc="-1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265430" marR="472440" indent="-227329">
              <a:lnSpc>
                <a:spcPts val="2590"/>
              </a:lnSpc>
              <a:spcBef>
                <a:spcPts val="1035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2400">
                <a:latin typeface="Calibri"/>
                <a:cs typeface="Calibri"/>
              </a:rPr>
              <a:t>Read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time-stamp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data-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denoted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R-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timestamp(X).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ts val="2735"/>
              </a:lnSpc>
              <a:spcBef>
                <a:spcPts val="67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400">
                <a:latin typeface="Calibri"/>
                <a:cs typeface="Calibri"/>
              </a:rPr>
              <a:t>Write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time-</a:t>
            </a:r>
            <a:r>
              <a:rPr dirty="0" sz="2400">
                <a:latin typeface="Calibri"/>
                <a:cs typeface="Calibri"/>
              </a:rPr>
              <a:t>stamp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data-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X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denoted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W-</a:t>
            </a:r>
            <a:endParaRPr sz="2400">
              <a:latin typeface="Calibri"/>
              <a:cs typeface="Calibri"/>
            </a:endParaRPr>
          </a:p>
          <a:p>
            <a:pPr marL="266700">
              <a:lnSpc>
                <a:spcPts val="2735"/>
              </a:lnSpc>
            </a:pPr>
            <a:r>
              <a:rPr dirty="0" sz="2400" spc="-10">
                <a:latin typeface="Calibri"/>
                <a:cs typeface="Calibri"/>
              </a:rPr>
              <a:t>timestamp(X).</a:t>
            </a:r>
            <a:endParaRPr sz="2400">
              <a:latin typeface="Calibri"/>
              <a:cs typeface="Calibri"/>
            </a:endParaRPr>
          </a:p>
          <a:p>
            <a:pPr marL="265430" indent="-227329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265430" algn="l"/>
              </a:tabLst>
            </a:pPr>
            <a:r>
              <a:rPr dirty="0" sz="2400" spc="-10">
                <a:latin typeface="Calibri"/>
                <a:cs typeface="Calibri"/>
              </a:rPr>
              <a:t>Timestamp</a:t>
            </a:r>
            <a:r>
              <a:rPr dirty="0" sz="2400" spc="-9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ordering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protocol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works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5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5759" y="2363216"/>
            <a:ext cx="2521585" cy="1904364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Timestamp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ordering algorithm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667639"/>
            <a:ext cx="6015355" cy="23837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latin typeface="Calibri"/>
                <a:cs typeface="Calibri"/>
              </a:rPr>
              <a:t>If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transaction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Ti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issues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read(X)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operation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spc="-50" b="1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 lvl="1" marL="984885" indent="-28638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984885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TS(Ti)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</a:t>
            </a:r>
            <a:r>
              <a:rPr dirty="0" sz="2400" spc="-25">
                <a:latin typeface="Calibri"/>
                <a:cs typeface="Calibri"/>
              </a:rPr>
              <a:t> W-</a:t>
            </a:r>
            <a:r>
              <a:rPr dirty="0" sz="2400" spc="-10">
                <a:latin typeface="Calibri"/>
                <a:cs typeface="Calibri"/>
              </a:rPr>
              <a:t>timestamp(X)</a:t>
            </a:r>
            <a:endParaRPr sz="2400">
              <a:latin typeface="Calibri"/>
              <a:cs typeface="Calibri"/>
            </a:endParaRPr>
          </a:p>
          <a:p>
            <a:pPr lvl="2" marL="1442085" indent="-28638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442085" algn="l"/>
              </a:tabLst>
            </a:pP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rejected.</a:t>
            </a:r>
            <a:endParaRPr sz="2400">
              <a:latin typeface="Calibri"/>
              <a:cs typeface="Calibri"/>
            </a:endParaRPr>
          </a:p>
          <a:p>
            <a:pPr lvl="1" marL="984885" indent="-286385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984885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TS(Ti)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&gt;=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W-</a:t>
            </a:r>
            <a:r>
              <a:rPr dirty="0" sz="2400" spc="-10">
                <a:latin typeface="Calibri"/>
                <a:cs typeface="Calibri"/>
              </a:rPr>
              <a:t>timestamp(X)</a:t>
            </a:r>
            <a:endParaRPr sz="2400">
              <a:latin typeface="Calibri"/>
              <a:cs typeface="Calibri"/>
            </a:endParaRPr>
          </a:p>
          <a:p>
            <a:pPr lvl="2" marL="1442085" indent="-28638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1442085" algn="l"/>
              </a:tabLst>
            </a:pP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executed.</a:t>
            </a:r>
            <a:endParaRPr sz="2400">
              <a:latin typeface="Calibri"/>
              <a:cs typeface="Calibri"/>
            </a:endParaRPr>
          </a:p>
          <a:p>
            <a:pPr lvl="1" marL="984885" indent="-28638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984885" algn="l"/>
              </a:tabLst>
            </a:pPr>
            <a:r>
              <a:rPr dirty="0" sz="2400">
                <a:latin typeface="Calibri"/>
                <a:cs typeface="Calibri"/>
              </a:rPr>
              <a:t>All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data-</a:t>
            </a:r>
            <a:r>
              <a:rPr dirty="0" sz="2400">
                <a:latin typeface="Calibri"/>
                <a:cs typeface="Calibri"/>
              </a:rPr>
              <a:t>item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timestamps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updated.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3352038"/>
            <a:ext cx="6108700" cy="23837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400" b="1">
                <a:latin typeface="Calibri"/>
                <a:cs typeface="Calibri"/>
              </a:rPr>
              <a:t>If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transaction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Ti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issues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write(X)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operation</a:t>
            </a:r>
            <a:r>
              <a:rPr dirty="0" sz="2400" spc="-50" b="1">
                <a:latin typeface="Calibri"/>
                <a:cs typeface="Calibri"/>
              </a:rPr>
              <a:t> −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TS(Ti)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R-timestamp(X)</a:t>
            </a:r>
            <a:endParaRPr sz="2400">
              <a:latin typeface="Calibri"/>
              <a:cs typeface="Calibri"/>
            </a:endParaRPr>
          </a:p>
          <a:p>
            <a:pPr lvl="2" marL="11544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rejected.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TS(Ti)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&lt;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W-timestamp(X)</a:t>
            </a:r>
            <a:endParaRPr sz="2400">
              <a:latin typeface="Calibri"/>
              <a:cs typeface="Calibri"/>
            </a:endParaRPr>
          </a:p>
          <a:p>
            <a:pPr lvl="2" marL="1154430" indent="-227329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1154430" algn="l"/>
              </a:tabLst>
            </a:pP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rejected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rolled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back.</a:t>
            </a:r>
            <a:endParaRPr sz="2400">
              <a:latin typeface="Calibri"/>
              <a:cs typeface="Calibri"/>
            </a:endParaRPr>
          </a:p>
          <a:p>
            <a:pPr lvl="1" marL="697230" indent="-227329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dirty="0" sz="2400">
                <a:latin typeface="Calibri"/>
                <a:cs typeface="Calibri"/>
              </a:rPr>
              <a:t>Otherwise,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operation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executed.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765759" y="2664968"/>
            <a:ext cx="2308225" cy="1300480"/>
          </a:xfrm>
          <a:prstGeom prst="rect">
            <a:avLst/>
          </a:prstGeom>
        </p:spPr>
        <p:txBody>
          <a:bodyPr wrap="square" lIns="0" tIns="89535" rIns="0" bIns="0" rtlCol="0" vert="horz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dirty="0" sz="4400" spc="-20">
                <a:solidFill>
                  <a:srgbClr val="FFFFFF"/>
                </a:solidFill>
                <a:latin typeface="Calibri Light"/>
                <a:cs typeface="Calibri Light"/>
              </a:rPr>
              <a:t>Optimistic </a:t>
            </a: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methods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526660" y="305841"/>
            <a:ext cx="6557009" cy="3853179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Optimistic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Concurrency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Control(OCC)</a:t>
            </a:r>
            <a:endParaRPr sz="2200">
              <a:latin typeface="Calibri"/>
              <a:cs typeface="Calibri"/>
            </a:endParaRPr>
          </a:p>
          <a:p>
            <a:pPr marL="241300" marR="751205" indent="-228600">
              <a:lnSpc>
                <a:spcPts val="238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concurrency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method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applied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to </a:t>
            </a:r>
            <a:r>
              <a:rPr dirty="0" sz="2200">
                <a:latin typeface="Calibri"/>
                <a:cs typeface="Calibri"/>
              </a:rPr>
              <a:t>transactional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relational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database management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systems.</a:t>
            </a:r>
            <a:endParaRPr sz="22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5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OCC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generally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environments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data </a:t>
            </a:r>
            <a:r>
              <a:rPr dirty="0" sz="2200" spc="-10">
                <a:latin typeface="Calibri"/>
                <a:cs typeface="Calibri"/>
              </a:rPr>
              <a:t>contention.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conflicts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rare,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can </a:t>
            </a:r>
            <a:r>
              <a:rPr dirty="0" sz="2200" spc="-10">
                <a:latin typeface="Calibri"/>
                <a:cs typeface="Calibri"/>
              </a:rPr>
              <a:t>complete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expense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managing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locks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and </a:t>
            </a:r>
            <a:r>
              <a:rPr dirty="0" sz="2200">
                <a:latin typeface="Calibri"/>
                <a:cs typeface="Calibri"/>
              </a:rPr>
              <a:t>without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having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wait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another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locks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clear,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leading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higher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throughput </a:t>
            </a:r>
            <a:r>
              <a:rPr dirty="0" sz="2200">
                <a:latin typeface="Calibri"/>
                <a:cs typeface="Calibri"/>
              </a:rPr>
              <a:t>than</a:t>
            </a:r>
            <a:r>
              <a:rPr dirty="0" sz="2200" spc="-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other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concurrency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control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methods.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4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OCC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involves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these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three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phases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526660" y="4133646"/>
            <a:ext cx="2435860" cy="1739900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469265" algn="l"/>
              </a:tabLst>
            </a:pPr>
            <a:r>
              <a:rPr dirty="0" sz="2200" spc="-10">
                <a:latin typeface="Calibri"/>
                <a:cs typeface="Calibri"/>
              </a:rPr>
              <a:t>Begin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30"/>
              </a:spcBef>
              <a:buAutoNum type="arabicPeriod"/>
              <a:tabLst>
                <a:tab pos="469265" algn="l"/>
              </a:tabLst>
            </a:pPr>
            <a:r>
              <a:rPr dirty="0" sz="2200" spc="-10">
                <a:latin typeface="Calibri"/>
                <a:cs typeface="Calibri"/>
              </a:rPr>
              <a:t>Modify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45"/>
              </a:spcBef>
              <a:buAutoNum type="arabicPeriod"/>
              <a:tabLst>
                <a:tab pos="469265" algn="l"/>
              </a:tabLst>
            </a:pPr>
            <a:r>
              <a:rPr dirty="0" sz="2200" spc="-10">
                <a:latin typeface="Calibri"/>
                <a:cs typeface="Calibri"/>
              </a:rPr>
              <a:t>Validate</a:t>
            </a:r>
            <a:endParaRPr sz="22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35"/>
              </a:spcBef>
              <a:buAutoNum type="arabicPeriod"/>
              <a:tabLst>
                <a:tab pos="469265" algn="l"/>
              </a:tabLst>
            </a:pPr>
            <a:r>
              <a:rPr dirty="0" sz="2200" spc="-10">
                <a:latin typeface="Calibri"/>
                <a:cs typeface="Calibri"/>
              </a:rPr>
              <a:t>Commit/Rollback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4166870" cy="6858000"/>
          </a:xfrm>
          <a:custGeom>
            <a:avLst/>
            <a:gdLst/>
            <a:ahLst/>
            <a:cxnLst/>
            <a:rect l="l" t="t" r="r" b="b"/>
            <a:pathLst>
              <a:path w="4166870" h="6858000">
                <a:moveTo>
                  <a:pt x="2259203" y="0"/>
                </a:moveTo>
                <a:lnTo>
                  <a:pt x="0" y="0"/>
                </a:lnTo>
                <a:lnTo>
                  <a:pt x="0" y="6857999"/>
                </a:lnTo>
                <a:lnTo>
                  <a:pt x="2259203" y="6857999"/>
                </a:lnTo>
                <a:lnTo>
                  <a:pt x="2387473" y="6775778"/>
                </a:lnTo>
                <a:lnTo>
                  <a:pt x="2427059" y="6748686"/>
                </a:lnTo>
                <a:lnTo>
                  <a:pt x="2466306" y="6721137"/>
                </a:lnTo>
                <a:lnTo>
                  <a:pt x="2505209" y="6693136"/>
                </a:lnTo>
                <a:lnTo>
                  <a:pt x="2543765" y="6664686"/>
                </a:lnTo>
                <a:lnTo>
                  <a:pt x="2581969" y="6635792"/>
                </a:lnTo>
                <a:lnTo>
                  <a:pt x="2619817" y="6606457"/>
                </a:lnTo>
                <a:lnTo>
                  <a:pt x="2657307" y="6576685"/>
                </a:lnTo>
                <a:lnTo>
                  <a:pt x="2694433" y="6546479"/>
                </a:lnTo>
                <a:lnTo>
                  <a:pt x="2731193" y="6515844"/>
                </a:lnTo>
                <a:lnTo>
                  <a:pt x="2767582" y="6484784"/>
                </a:lnTo>
                <a:lnTo>
                  <a:pt x="2803597" y="6453301"/>
                </a:lnTo>
                <a:lnTo>
                  <a:pt x="2839233" y="6421401"/>
                </a:lnTo>
                <a:lnTo>
                  <a:pt x="2874488" y="6389086"/>
                </a:lnTo>
                <a:lnTo>
                  <a:pt x="2909356" y="6356362"/>
                </a:lnTo>
                <a:lnTo>
                  <a:pt x="2943835" y="6323230"/>
                </a:lnTo>
                <a:lnTo>
                  <a:pt x="2977921" y="6289696"/>
                </a:lnTo>
                <a:lnTo>
                  <a:pt x="3011609" y="6255763"/>
                </a:lnTo>
                <a:lnTo>
                  <a:pt x="3044896" y="6221435"/>
                </a:lnTo>
                <a:lnTo>
                  <a:pt x="3077778" y="6186716"/>
                </a:lnTo>
                <a:lnTo>
                  <a:pt x="3110252" y="6151609"/>
                </a:lnTo>
                <a:lnTo>
                  <a:pt x="3142313" y="6116118"/>
                </a:lnTo>
                <a:lnTo>
                  <a:pt x="3173957" y="6080248"/>
                </a:lnTo>
                <a:lnTo>
                  <a:pt x="3205181" y="6044002"/>
                </a:lnTo>
                <a:lnTo>
                  <a:pt x="3235982" y="6007384"/>
                </a:lnTo>
                <a:lnTo>
                  <a:pt x="3266354" y="5970397"/>
                </a:lnTo>
                <a:lnTo>
                  <a:pt x="3296295" y="5933046"/>
                </a:lnTo>
                <a:lnTo>
                  <a:pt x="3325800" y="5895333"/>
                </a:lnTo>
                <a:lnTo>
                  <a:pt x="3354866" y="5857265"/>
                </a:lnTo>
                <a:lnTo>
                  <a:pt x="3383489" y="5818842"/>
                </a:lnTo>
                <a:lnTo>
                  <a:pt x="3411665" y="5780071"/>
                </a:lnTo>
                <a:lnTo>
                  <a:pt x="3439390" y="5740954"/>
                </a:lnTo>
                <a:lnTo>
                  <a:pt x="3466661" y="5701496"/>
                </a:lnTo>
                <a:lnTo>
                  <a:pt x="3493474" y="5661700"/>
                </a:lnTo>
                <a:lnTo>
                  <a:pt x="3519824" y="5621569"/>
                </a:lnTo>
                <a:lnTo>
                  <a:pt x="3545708" y="5581109"/>
                </a:lnTo>
                <a:lnTo>
                  <a:pt x="3571122" y="5540322"/>
                </a:lnTo>
                <a:lnTo>
                  <a:pt x="3596063" y="5499213"/>
                </a:lnTo>
                <a:lnTo>
                  <a:pt x="3620526" y="5457784"/>
                </a:lnTo>
                <a:lnTo>
                  <a:pt x="3644508" y="5416041"/>
                </a:lnTo>
                <a:lnTo>
                  <a:pt x="3668005" y="5373987"/>
                </a:lnTo>
                <a:lnTo>
                  <a:pt x="3691013" y="5331626"/>
                </a:lnTo>
                <a:lnTo>
                  <a:pt x="3713528" y="5288961"/>
                </a:lnTo>
                <a:lnTo>
                  <a:pt x="3735547" y="5245996"/>
                </a:lnTo>
                <a:lnTo>
                  <a:pt x="3757066" y="5202736"/>
                </a:lnTo>
                <a:lnTo>
                  <a:pt x="3778080" y="5159183"/>
                </a:lnTo>
                <a:lnTo>
                  <a:pt x="3798586" y="5115342"/>
                </a:lnTo>
                <a:lnTo>
                  <a:pt x="3818580" y="5071217"/>
                </a:lnTo>
                <a:lnTo>
                  <a:pt x="3838059" y="5026811"/>
                </a:lnTo>
                <a:lnTo>
                  <a:pt x="3857019" y="4982129"/>
                </a:lnTo>
                <a:lnTo>
                  <a:pt x="3875455" y="4937174"/>
                </a:lnTo>
                <a:lnTo>
                  <a:pt x="3893364" y="4891949"/>
                </a:lnTo>
                <a:lnTo>
                  <a:pt x="3910742" y="4846459"/>
                </a:lnTo>
                <a:lnTo>
                  <a:pt x="3927585" y="4800708"/>
                </a:lnTo>
                <a:lnTo>
                  <a:pt x="3943890" y="4754699"/>
                </a:lnTo>
                <a:lnTo>
                  <a:pt x="3959653" y="4708436"/>
                </a:lnTo>
                <a:lnTo>
                  <a:pt x="3974869" y="4661923"/>
                </a:lnTo>
                <a:lnTo>
                  <a:pt x="3989536" y="4615164"/>
                </a:lnTo>
                <a:lnTo>
                  <a:pt x="4003649" y="4568162"/>
                </a:lnTo>
                <a:lnTo>
                  <a:pt x="4017204" y="4520922"/>
                </a:lnTo>
                <a:lnTo>
                  <a:pt x="4030197" y="4473447"/>
                </a:lnTo>
                <a:lnTo>
                  <a:pt x="4042626" y="4425741"/>
                </a:lnTo>
                <a:lnTo>
                  <a:pt x="4054485" y="4377808"/>
                </a:lnTo>
                <a:lnTo>
                  <a:pt x="4065772" y="4329652"/>
                </a:lnTo>
                <a:lnTo>
                  <a:pt x="4076481" y="4281276"/>
                </a:lnTo>
                <a:lnTo>
                  <a:pt x="4086611" y="4232684"/>
                </a:lnTo>
                <a:lnTo>
                  <a:pt x="4096156" y="4183881"/>
                </a:lnTo>
                <a:lnTo>
                  <a:pt x="4105112" y="4134870"/>
                </a:lnTo>
                <a:lnTo>
                  <a:pt x="4113477" y="4085654"/>
                </a:lnTo>
                <a:lnTo>
                  <a:pt x="4121246" y="4036238"/>
                </a:lnTo>
                <a:lnTo>
                  <a:pt x="4128416" y="3986625"/>
                </a:lnTo>
                <a:lnTo>
                  <a:pt x="4134982" y="3936819"/>
                </a:lnTo>
                <a:lnTo>
                  <a:pt x="4140941" y="3886825"/>
                </a:lnTo>
                <a:lnTo>
                  <a:pt x="4146289" y="3836645"/>
                </a:lnTo>
                <a:lnTo>
                  <a:pt x="4151022" y="3786284"/>
                </a:lnTo>
                <a:lnTo>
                  <a:pt x="4155136" y="3735745"/>
                </a:lnTo>
                <a:lnTo>
                  <a:pt x="4158628" y="3685033"/>
                </a:lnTo>
                <a:lnTo>
                  <a:pt x="4161493" y="3634151"/>
                </a:lnTo>
                <a:lnTo>
                  <a:pt x="4163728" y="3583103"/>
                </a:lnTo>
                <a:lnTo>
                  <a:pt x="4165330" y="3531892"/>
                </a:lnTo>
                <a:lnTo>
                  <a:pt x="4166293" y="3480523"/>
                </a:lnTo>
                <a:lnTo>
                  <a:pt x="4166616" y="3429000"/>
                </a:lnTo>
                <a:lnTo>
                  <a:pt x="4166293" y="3377476"/>
                </a:lnTo>
                <a:lnTo>
                  <a:pt x="4165330" y="3326107"/>
                </a:lnTo>
                <a:lnTo>
                  <a:pt x="4163728" y="3274897"/>
                </a:lnTo>
                <a:lnTo>
                  <a:pt x="4161493" y="3223849"/>
                </a:lnTo>
                <a:lnTo>
                  <a:pt x="4158628" y="3172967"/>
                </a:lnTo>
                <a:lnTo>
                  <a:pt x="4155136" y="3122255"/>
                </a:lnTo>
                <a:lnTo>
                  <a:pt x="4151022" y="3071716"/>
                </a:lnTo>
                <a:lnTo>
                  <a:pt x="4146289" y="3021356"/>
                </a:lnTo>
                <a:lnTo>
                  <a:pt x="4140941" y="2971176"/>
                </a:lnTo>
                <a:lnTo>
                  <a:pt x="4134982" y="2921182"/>
                </a:lnTo>
                <a:lnTo>
                  <a:pt x="4128416" y="2871377"/>
                </a:lnTo>
                <a:lnTo>
                  <a:pt x="4121246" y="2821765"/>
                </a:lnTo>
                <a:lnTo>
                  <a:pt x="4113477" y="2772349"/>
                </a:lnTo>
                <a:lnTo>
                  <a:pt x="4105112" y="2723134"/>
                </a:lnTo>
                <a:lnTo>
                  <a:pt x="4096156" y="2674123"/>
                </a:lnTo>
                <a:lnTo>
                  <a:pt x="4086611" y="2625320"/>
                </a:lnTo>
                <a:lnTo>
                  <a:pt x="4076481" y="2576729"/>
                </a:lnTo>
                <a:lnTo>
                  <a:pt x="4065772" y="2528354"/>
                </a:lnTo>
                <a:lnTo>
                  <a:pt x="4054485" y="2480198"/>
                </a:lnTo>
                <a:lnTo>
                  <a:pt x="4042626" y="2432266"/>
                </a:lnTo>
                <a:lnTo>
                  <a:pt x="4030197" y="2384560"/>
                </a:lnTo>
                <a:lnTo>
                  <a:pt x="4017204" y="2337086"/>
                </a:lnTo>
                <a:lnTo>
                  <a:pt x="4003649" y="2289846"/>
                </a:lnTo>
                <a:lnTo>
                  <a:pt x="3989536" y="2242846"/>
                </a:lnTo>
                <a:lnTo>
                  <a:pt x="3974869" y="2196087"/>
                </a:lnTo>
                <a:lnTo>
                  <a:pt x="3959653" y="2149575"/>
                </a:lnTo>
                <a:lnTo>
                  <a:pt x="3943890" y="2103312"/>
                </a:lnTo>
                <a:lnTo>
                  <a:pt x="3927585" y="2057304"/>
                </a:lnTo>
                <a:lnTo>
                  <a:pt x="3910742" y="2011553"/>
                </a:lnTo>
                <a:lnTo>
                  <a:pt x="3893364" y="1966064"/>
                </a:lnTo>
                <a:lnTo>
                  <a:pt x="3875455" y="1920840"/>
                </a:lnTo>
                <a:lnTo>
                  <a:pt x="3857019" y="1875885"/>
                </a:lnTo>
                <a:lnTo>
                  <a:pt x="3838059" y="1831203"/>
                </a:lnTo>
                <a:lnTo>
                  <a:pt x="3818580" y="1786797"/>
                </a:lnTo>
                <a:lnTo>
                  <a:pt x="3798586" y="1742673"/>
                </a:lnTo>
                <a:lnTo>
                  <a:pt x="3778080" y="1698832"/>
                </a:lnTo>
                <a:lnTo>
                  <a:pt x="3757066" y="1655280"/>
                </a:lnTo>
                <a:lnTo>
                  <a:pt x="3735547" y="1612020"/>
                </a:lnTo>
                <a:lnTo>
                  <a:pt x="3713528" y="1569055"/>
                </a:lnTo>
                <a:lnTo>
                  <a:pt x="3691013" y="1526391"/>
                </a:lnTo>
                <a:lnTo>
                  <a:pt x="3668005" y="1484029"/>
                </a:lnTo>
                <a:lnTo>
                  <a:pt x="3644508" y="1441975"/>
                </a:lnTo>
                <a:lnTo>
                  <a:pt x="3620526" y="1400232"/>
                </a:lnTo>
                <a:lnTo>
                  <a:pt x="3596063" y="1358804"/>
                </a:lnTo>
                <a:lnTo>
                  <a:pt x="3571122" y="1317694"/>
                </a:lnTo>
                <a:lnTo>
                  <a:pt x="3545708" y="1276907"/>
                </a:lnTo>
                <a:lnTo>
                  <a:pt x="3519824" y="1236446"/>
                </a:lnTo>
                <a:lnTo>
                  <a:pt x="3493474" y="1196316"/>
                </a:lnTo>
                <a:lnTo>
                  <a:pt x="3466661" y="1156519"/>
                </a:lnTo>
                <a:lnTo>
                  <a:pt x="3439390" y="1117060"/>
                </a:lnTo>
                <a:lnTo>
                  <a:pt x="3411665" y="1077943"/>
                </a:lnTo>
                <a:lnTo>
                  <a:pt x="3383489" y="1039171"/>
                </a:lnTo>
                <a:lnTo>
                  <a:pt x="3354866" y="1000748"/>
                </a:lnTo>
                <a:lnTo>
                  <a:pt x="3325800" y="962678"/>
                </a:lnTo>
                <a:lnTo>
                  <a:pt x="3296295" y="924965"/>
                </a:lnTo>
                <a:lnTo>
                  <a:pt x="3266354" y="887613"/>
                </a:lnTo>
                <a:lnTo>
                  <a:pt x="3235982" y="850625"/>
                </a:lnTo>
                <a:lnTo>
                  <a:pt x="3205181" y="814006"/>
                </a:lnTo>
                <a:lnTo>
                  <a:pt x="3173957" y="777758"/>
                </a:lnTo>
                <a:lnTo>
                  <a:pt x="3142313" y="741886"/>
                </a:lnTo>
                <a:lnTo>
                  <a:pt x="3110252" y="706395"/>
                </a:lnTo>
                <a:lnTo>
                  <a:pt x="3077778" y="671286"/>
                </a:lnTo>
                <a:lnTo>
                  <a:pt x="3044896" y="636565"/>
                </a:lnTo>
                <a:lnTo>
                  <a:pt x="3011609" y="602235"/>
                </a:lnTo>
                <a:lnTo>
                  <a:pt x="2977921" y="568300"/>
                </a:lnTo>
                <a:lnTo>
                  <a:pt x="2943835" y="534764"/>
                </a:lnTo>
                <a:lnTo>
                  <a:pt x="2909356" y="501631"/>
                </a:lnTo>
                <a:lnTo>
                  <a:pt x="2874488" y="468903"/>
                </a:lnTo>
                <a:lnTo>
                  <a:pt x="2839233" y="436586"/>
                </a:lnTo>
                <a:lnTo>
                  <a:pt x="2803597" y="404684"/>
                </a:lnTo>
                <a:lnTo>
                  <a:pt x="2767582" y="373198"/>
                </a:lnTo>
                <a:lnTo>
                  <a:pt x="2731193" y="342135"/>
                </a:lnTo>
                <a:lnTo>
                  <a:pt x="2694433" y="311497"/>
                </a:lnTo>
                <a:lnTo>
                  <a:pt x="2657307" y="281288"/>
                </a:lnTo>
                <a:lnTo>
                  <a:pt x="2619817" y="251513"/>
                </a:lnTo>
                <a:lnTo>
                  <a:pt x="2581969" y="222174"/>
                </a:lnTo>
                <a:lnTo>
                  <a:pt x="2543765" y="193276"/>
                </a:lnTo>
                <a:lnTo>
                  <a:pt x="2505209" y="164823"/>
                </a:lnTo>
                <a:lnTo>
                  <a:pt x="2466306" y="136818"/>
                </a:lnTo>
                <a:lnTo>
                  <a:pt x="2427059" y="109265"/>
                </a:lnTo>
                <a:lnTo>
                  <a:pt x="2387473" y="82169"/>
                </a:lnTo>
                <a:lnTo>
                  <a:pt x="2259203" y="0"/>
                </a:lnTo>
                <a:close/>
              </a:path>
            </a:pathLst>
          </a:custGeom>
          <a:solidFill>
            <a:srgbClr val="EC7C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9592818" y="4498085"/>
            <a:ext cx="2042160" cy="2042160"/>
          </a:xfrm>
          <a:custGeom>
            <a:avLst/>
            <a:gdLst/>
            <a:ahLst/>
            <a:cxnLst/>
            <a:rect l="l" t="t" r="r" b="b"/>
            <a:pathLst>
              <a:path w="2042159" h="2042159">
                <a:moveTo>
                  <a:pt x="0" y="2042159"/>
                </a:moveTo>
                <a:lnTo>
                  <a:pt x="48205" y="2041602"/>
                </a:lnTo>
                <a:lnTo>
                  <a:pt x="96136" y="2039937"/>
                </a:lnTo>
                <a:lnTo>
                  <a:pt x="143781" y="2037177"/>
                </a:lnTo>
                <a:lnTo>
                  <a:pt x="191128" y="2033334"/>
                </a:lnTo>
                <a:lnTo>
                  <a:pt x="238165" y="2028420"/>
                </a:lnTo>
                <a:lnTo>
                  <a:pt x="284878" y="2022449"/>
                </a:lnTo>
                <a:lnTo>
                  <a:pt x="331257" y="2015431"/>
                </a:lnTo>
                <a:lnTo>
                  <a:pt x="377288" y="2007379"/>
                </a:lnTo>
                <a:lnTo>
                  <a:pt x="422959" y="1998307"/>
                </a:lnTo>
                <a:lnTo>
                  <a:pt x="468258" y="1988224"/>
                </a:lnTo>
                <a:lnTo>
                  <a:pt x="513174" y="1977145"/>
                </a:lnTo>
                <a:lnTo>
                  <a:pt x="557693" y="1965081"/>
                </a:lnTo>
                <a:lnTo>
                  <a:pt x="601803" y="1952045"/>
                </a:lnTo>
                <a:lnTo>
                  <a:pt x="645493" y="1938048"/>
                </a:lnTo>
                <a:lnTo>
                  <a:pt x="688749" y="1923104"/>
                </a:lnTo>
                <a:lnTo>
                  <a:pt x="731560" y="1907224"/>
                </a:lnTo>
                <a:lnTo>
                  <a:pt x="773913" y="1890420"/>
                </a:lnTo>
                <a:lnTo>
                  <a:pt x="815796" y="1872705"/>
                </a:lnTo>
                <a:lnTo>
                  <a:pt x="857198" y="1854092"/>
                </a:lnTo>
                <a:lnTo>
                  <a:pt x="898104" y="1834591"/>
                </a:lnTo>
                <a:lnTo>
                  <a:pt x="938504" y="1814216"/>
                </a:lnTo>
                <a:lnTo>
                  <a:pt x="978385" y="1792979"/>
                </a:lnTo>
                <a:lnTo>
                  <a:pt x="1017735" y="1770893"/>
                </a:lnTo>
                <a:lnTo>
                  <a:pt x="1056541" y="1747968"/>
                </a:lnTo>
                <a:lnTo>
                  <a:pt x="1094792" y="1724219"/>
                </a:lnTo>
                <a:lnTo>
                  <a:pt x="1132475" y="1699656"/>
                </a:lnTo>
                <a:lnTo>
                  <a:pt x="1169577" y="1674292"/>
                </a:lnTo>
                <a:lnTo>
                  <a:pt x="1206087" y="1648140"/>
                </a:lnTo>
                <a:lnTo>
                  <a:pt x="1241992" y="1621211"/>
                </a:lnTo>
                <a:lnTo>
                  <a:pt x="1277280" y="1593518"/>
                </a:lnTo>
                <a:lnTo>
                  <a:pt x="1311939" y="1565074"/>
                </a:lnTo>
                <a:lnTo>
                  <a:pt x="1345957" y="1535890"/>
                </a:lnTo>
                <a:lnTo>
                  <a:pt x="1379320" y="1505978"/>
                </a:lnTo>
                <a:lnTo>
                  <a:pt x="1412018" y="1475352"/>
                </a:lnTo>
                <a:lnTo>
                  <a:pt x="1444037" y="1444023"/>
                </a:lnTo>
                <a:lnTo>
                  <a:pt x="1475366" y="1412003"/>
                </a:lnTo>
                <a:lnTo>
                  <a:pt x="1505992" y="1379305"/>
                </a:lnTo>
                <a:lnTo>
                  <a:pt x="1535903" y="1345941"/>
                </a:lnTo>
                <a:lnTo>
                  <a:pt x="1565086" y="1311924"/>
                </a:lnTo>
                <a:lnTo>
                  <a:pt x="1593530" y="1277264"/>
                </a:lnTo>
                <a:lnTo>
                  <a:pt x="1621223" y="1241976"/>
                </a:lnTo>
                <a:lnTo>
                  <a:pt x="1648151" y="1206071"/>
                </a:lnTo>
                <a:lnTo>
                  <a:pt x="1674302" y="1169560"/>
                </a:lnTo>
                <a:lnTo>
                  <a:pt x="1699666" y="1132458"/>
                </a:lnTo>
                <a:lnTo>
                  <a:pt x="1724228" y="1094775"/>
                </a:lnTo>
                <a:lnTo>
                  <a:pt x="1747977" y="1056524"/>
                </a:lnTo>
                <a:lnTo>
                  <a:pt x="1770901" y="1017718"/>
                </a:lnTo>
                <a:lnTo>
                  <a:pt x="1792987" y="978368"/>
                </a:lnTo>
                <a:lnTo>
                  <a:pt x="1814224" y="938487"/>
                </a:lnTo>
                <a:lnTo>
                  <a:pt x="1834598" y="898088"/>
                </a:lnTo>
                <a:lnTo>
                  <a:pt x="1854098" y="857181"/>
                </a:lnTo>
                <a:lnTo>
                  <a:pt x="1872711" y="815780"/>
                </a:lnTo>
                <a:lnTo>
                  <a:pt x="1890425" y="773897"/>
                </a:lnTo>
                <a:lnTo>
                  <a:pt x="1907228" y="731544"/>
                </a:lnTo>
                <a:lnTo>
                  <a:pt x="1923108" y="688734"/>
                </a:lnTo>
                <a:lnTo>
                  <a:pt x="1938052" y="645478"/>
                </a:lnTo>
                <a:lnTo>
                  <a:pt x="1952048" y="601789"/>
                </a:lnTo>
                <a:lnTo>
                  <a:pt x="1965084" y="557679"/>
                </a:lnTo>
                <a:lnTo>
                  <a:pt x="1977148" y="513161"/>
                </a:lnTo>
                <a:lnTo>
                  <a:pt x="1988226" y="468247"/>
                </a:lnTo>
                <a:lnTo>
                  <a:pt x="1998308" y="422948"/>
                </a:lnTo>
                <a:lnTo>
                  <a:pt x="2007381" y="377277"/>
                </a:lnTo>
                <a:lnTo>
                  <a:pt x="2015432" y="331247"/>
                </a:lnTo>
                <a:lnTo>
                  <a:pt x="2022449" y="284870"/>
                </a:lnTo>
                <a:lnTo>
                  <a:pt x="2028421" y="238158"/>
                </a:lnTo>
                <a:lnTo>
                  <a:pt x="2033334" y="191122"/>
                </a:lnTo>
                <a:lnTo>
                  <a:pt x="2037177" y="143777"/>
                </a:lnTo>
                <a:lnTo>
                  <a:pt x="2039937" y="96133"/>
                </a:lnTo>
                <a:lnTo>
                  <a:pt x="2041602" y="48203"/>
                </a:lnTo>
                <a:lnTo>
                  <a:pt x="2042159" y="0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4526660" y="624077"/>
            <a:ext cx="6742430" cy="54406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1300" indent="-228600">
              <a:lnSpc>
                <a:spcPts val="2965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Begin: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record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timestamp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marking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965"/>
              </a:lnSpc>
            </a:pPr>
            <a:r>
              <a:rPr dirty="0" sz="2600" spc="-10">
                <a:latin typeface="Calibri"/>
                <a:cs typeface="Calibri"/>
              </a:rPr>
              <a:t>transaction’s</a:t>
            </a:r>
            <a:r>
              <a:rPr dirty="0" sz="2600" spc="-1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beginning.</a:t>
            </a:r>
            <a:endParaRPr sz="2600">
              <a:latin typeface="Calibri"/>
              <a:cs typeface="Calibri"/>
            </a:endParaRPr>
          </a:p>
          <a:p>
            <a:pPr marL="241300" marR="325120" indent="-228600">
              <a:lnSpc>
                <a:spcPts val="2810"/>
              </a:lnSpc>
              <a:spcBef>
                <a:spcPts val="103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Modify: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Read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database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values,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tentatively </a:t>
            </a:r>
            <a:r>
              <a:rPr dirty="0" sz="2600">
                <a:latin typeface="Calibri"/>
                <a:cs typeface="Calibri"/>
              </a:rPr>
              <a:t>write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changes.</a:t>
            </a:r>
            <a:endParaRPr sz="2600">
              <a:latin typeface="Calibri"/>
              <a:cs typeface="Calibri"/>
            </a:endParaRPr>
          </a:p>
          <a:p>
            <a:pPr marL="241300" marR="35560" indent="-228600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spc="-20">
                <a:latin typeface="Calibri"/>
                <a:cs typeface="Calibri"/>
              </a:rPr>
              <a:t>Validate: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Check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whether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other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transactions</a:t>
            </a:r>
            <a:r>
              <a:rPr dirty="0" sz="2600" spc="6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have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modified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has </a:t>
            </a:r>
            <a:r>
              <a:rPr dirty="0" sz="2600">
                <a:latin typeface="Calibri"/>
                <a:cs typeface="Calibri"/>
              </a:rPr>
              <a:t>used(read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written).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includes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transactions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completed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after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transaction’s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start</a:t>
            </a:r>
            <a:r>
              <a:rPr dirty="0" sz="2600" spc="6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optionally,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still </a:t>
            </a:r>
            <a:r>
              <a:rPr dirty="0" sz="2600">
                <a:latin typeface="Calibri"/>
                <a:cs typeface="Calibri"/>
              </a:rPr>
              <a:t>active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at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validation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time.</a:t>
            </a:r>
            <a:endParaRPr sz="2600">
              <a:latin typeface="Calibri"/>
              <a:cs typeface="Calibri"/>
            </a:endParaRPr>
          </a:p>
          <a:p>
            <a:pPr marL="241300" marR="5080" indent="-228600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Commit/Rollback: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conflict,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make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all </a:t>
            </a:r>
            <a:r>
              <a:rPr dirty="0" sz="2600">
                <a:latin typeface="Calibri"/>
                <a:cs typeface="Calibri"/>
              </a:rPr>
              <a:t>changes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permanent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database.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there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is </a:t>
            </a:r>
            <a:r>
              <a:rPr dirty="0" sz="2600">
                <a:latin typeface="Calibri"/>
                <a:cs typeface="Calibri"/>
              </a:rPr>
              <a:t>conflict,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resolve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typically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by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aborting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 spc="-10">
                <a:latin typeface="Calibri"/>
                <a:cs typeface="Calibri"/>
              </a:rPr>
              <a:t>transaction.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484631" y="470916"/>
            <a:ext cx="4380230" cy="5892165"/>
          </a:xfrm>
          <a:custGeom>
            <a:avLst/>
            <a:gdLst/>
            <a:ahLst/>
            <a:cxnLst/>
            <a:rect l="l" t="t" r="r" b="b"/>
            <a:pathLst>
              <a:path w="4380230" h="5892165">
                <a:moveTo>
                  <a:pt x="4156709" y="0"/>
                </a:moveTo>
                <a:lnTo>
                  <a:pt x="0" y="0"/>
                </a:lnTo>
                <a:lnTo>
                  <a:pt x="0" y="5891784"/>
                </a:lnTo>
                <a:lnTo>
                  <a:pt x="4158106" y="5891784"/>
                </a:lnTo>
                <a:lnTo>
                  <a:pt x="4165473" y="5844146"/>
                </a:lnTo>
                <a:lnTo>
                  <a:pt x="4176776" y="5767870"/>
                </a:lnTo>
                <a:lnTo>
                  <a:pt x="4202938" y="5569331"/>
                </a:lnTo>
                <a:lnTo>
                  <a:pt x="4218051" y="5450078"/>
                </a:lnTo>
                <a:lnTo>
                  <a:pt x="4233799" y="5315686"/>
                </a:lnTo>
                <a:lnTo>
                  <a:pt x="4250690" y="5169204"/>
                </a:lnTo>
                <a:lnTo>
                  <a:pt x="4267454" y="5010023"/>
                </a:lnTo>
                <a:lnTo>
                  <a:pt x="4284472" y="4840478"/>
                </a:lnTo>
                <a:lnTo>
                  <a:pt x="4300347" y="4657725"/>
                </a:lnTo>
                <a:lnTo>
                  <a:pt x="4315587" y="4466463"/>
                </a:lnTo>
                <a:lnTo>
                  <a:pt x="4329303" y="4264279"/>
                </a:lnTo>
                <a:lnTo>
                  <a:pt x="4342510" y="4053586"/>
                </a:lnTo>
                <a:lnTo>
                  <a:pt x="4354830" y="3833876"/>
                </a:lnTo>
                <a:lnTo>
                  <a:pt x="4359275" y="3721227"/>
                </a:lnTo>
                <a:lnTo>
                  <a:pt x="4364101" y="3606165"/>
                </a:lnTo>
                <a:lnTo>
                  <a:pt x="4368673" y="3489452"/>
                </a:lnTo>
                <a:lnTo>
                  <a:pt x="4371721" y="3371977"/>
                </a:lnTo>
                <a:lnTo>
                  <a:pt x="4377182" y="3131058"/>
                </a:lnTo>
                <a:lnTo>
                  <a:pt x="4379087" y="3007614"/>
                </a:lnTo>
                <a:lnTo>
                  <a:pt x="4379087" y="2882900"/>
                </a:lnTo>
                <a:lnTo>
                  <a:pt x="4379976" y="2756916"/>
                </a:lnTo>
                <a:lnTo>
                  <a:pt x="4379087" y="2629789"/>
                </a:lnTo>
                <a:lnTo>
                  <a:pt x="4375404" y="2371979"/>
                </a:lnTo>
                <a:lnTo>
                  <a:pt x="4367783" y="2109216"/>
                </a:lnTo>
                <a:lnTo>
                  <a:pt x="4363212" y="1977263"/>
                </a:lnTo>
                <a:lnTo>
                  <a:pt x="4356734" y="1844039"/>
                </a:lnTo>
                <a:lnTo>
                  <a:pt x="4349115" y="1709674"/>
                </a:lnTo>
                <a:lnTo>
                  <a:pt x="4341749" y="1574673"/>
                </a:lnTo>
                <a:lnTo>
                  <a:pt x="4332351" y="1439799"/>
                </a:lnTo>
                <a:lnTo>
                  <a:pt x="4309745" y="1167892"/>
                </a:lnTo>
                <a:lnTo>
                  <a:pt x="4296664" y="1030478"/>
                </a:lnTo>
                <a:lnTo>
                  <a:pt x="4282440" y="892556"/>
                </a:lnTo>
                <a:lnTo>
                  <a:pt x="4267454" y="756285"/>
                </a:lnTo>
                <a:lnTo>
                  <a:pt x="4249801" y="618236"/>
                </a:lnTo>
                <a:lnTo>
                  <a:pt x="4212335" y="342900"/>
                </a:lnTo>
                <a:lnTo>
                  <a:pt x="4190619" y="205486"/>
                </a:lnTo>
                <a:lnTo>
                  <a:pt x="4168267" y="68707"/>
                </a:lnTo>
                <a:lnTo>
                  <a:pt x="4156709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193791" y="737616"/>
            <a:ext cx="6513830" cy="2583180"/>
          </a:xfrm>
          <a:custGeom>
            <a:avLst/>
            <a:gdLst/>
            <a:ahLst/>
            <a:cxnLst/>
            <a:rect l="l" t="t" r="r" b="b"/>
            <a:pathLst>
              <a:path w="6513830" h="2583179">
                <a:moveTo>
                  <a:pt x="6083046" y="0"/>
                </a:moveTo>
                <a:lnTo>
                  <a:pt x="430530" y="0"/>
                </a:lnTo>
                <a:lnTo>
                  <a:pt x="383624" y="2526"/>
                </a:lnTo>
                <a:lnTo>
                  <a:pt x="338180" y="9931"/>
                </a:lnTo>
                <a:lnTo>
                  <a:pt x="294461" y="21951"/>
                </a:lnTo>
                <a:lnTo>
                  <a:pt x="252729" y="38324"/>
                </a:lnTo>
                <a:lnTo>
                  <a:pt x="213247" y="58786"/>
                </a:lnTo>
                <a:lnTo>
                  <a:pt x="176278" y="83076"/>
                </a:lnTo>
                <a:lnTo>
                  <a:pt x="142084" y="110929"/>
                </a:lnTo>
                <a:lnTo>
                  <a:pt x="110929" y="142084"/>
                </a:lnTo>
                <a:lnTo>
                  <a:pt x="83076" y="176278"/>
                </a:lnTo>
                <a:lnTo>
                  <a:pt x="58786" y="213247"/>
                </a:lnTo>
                <a:lnTo>
                  <a:pt x="38324" y="252729"/>
                </a:lnTo>
                <a:lnTo>
                  <a:pt x="21951" y="294461"/>
                </a:lnTo>
                <a:lnTo>
                  <a:pt x="9931" y="338180"/>
                </a:lnTo>
                <a:lnTo>
                  <a:pt x="2526" y="383624"/>
                </a:lnTo>
                <a:lnTo>
                  <a:pt x="0" y="430530"/>
                </a:lnTo>
                <a:lnTo>
                  <a:pt x="0" y="2152650"/>
                </a:lnTo>
                <a:lnTo>
                  <a:pt x="2526" y="2199555"/>
                </a:lnTo>
                <a:lnTo>
                  <a:pt x="9931" y="2244999"/>
                </a:lnTo>
                <a:lnTo>
                  <a:pt x="21951" y="2288718"/>
                </a:lnTo>
                <a:lnTo>
                  <a:pt x="38324" y="2330450"/>
                </a:lnTo>
                <a:lnTo>
                  <a:pt x="58786" y="2369932"/>
                </a:lnTo>
                <a:lnTo>
                  <a:pt x="83076" y="2406901"/>
                </a:lnTo>
                <a:lnTo>
                  <a:pt x="110929" y="2441095"/>
                </a:lnTo>
                <a:lnTo>
                  <a:pt x="142084" y="2472250"/>
                </a:lnTo>
                <a:lnTo>
                  <a:pt x="176278" y="2500103"/>
                </a:lnTo>
                <a:lnTo>
                  <a:pt x="213247" y="2524393"/>
                </a:lnTo>
                <a:lnTo>
                  <a:pt x="252729" y="2544855"/>
                </a:lnTo>
                <a:lnTo>
                  <a:pt x="294461" y="2561228"/>
                </a:lnTo>
                <a:lnTo>
                  <a:pt x="338180" y="2573248"/>
                </a:lnTo>
                <a:lnTo>
                  <a:pt x="383624" y="2580653"/>
                </a:lnTo>
                <a:lnTo>
                  <a:pt x="430530" y="2583180"/>
                </a:lnTo>
                <a:lnTo>
                  <a:pt x="6083046" y="2583180"/>
                </a:lnTo>
                <a:lnTo>
                  <a:pt x="6129951" y="2580653"/>
                </a:lnTo>
                <a:lnTo>
                  <a:pt x="6175395" y="2573248"/>
                </a:lnTo>
                <a:lnTo>
                  <a:pt x="6219114" y="2561228"/>
                </a:lnTo>
                <a:lnTo>
                  <a:pt x="6260846" y="2544855"/>
                </a:lnTo>
                <a:lnTo>
                  <a:pt x="6300328" y="2524393"/>
                </a:lnTo>
                <a:lnTo>
                  <a:pt x="6337297" y="2500103"/>
                </a:lnTo>
                <a:lnTo>
                  <a:pt x="6371491" y="2472250"/>
                </a:lnTo>
                <a:lnTo>
                  <a:pt x="6402646" y="2441095"/>
                </a:lnTo>
                <a:lnTo>
                  <a:pt x="6430499" y="2406901"/>
                </a:lnTo>
                <a:lnTo>
                  <a:pt x="6454789" y="2369932"/>
                </a:lnTo>
                <a:lnTo>
                  <a:pt x="6475251" y="2330450"/>
                </a:lnTo>
                <a:lnTo>
                  <a:pt x="6491624" y="2288718"/>
                </a:lnTo>
                <a:lnTo>
                  <a:pt x="6503644" y="2244999"/>
                </a:lnTo>
                <a:lnTo>
                  <a:pt x="6511049" y="2199555"/>
                </a:lnTo>
                <a:lnTo>
                  <a:pt x="6513576" y="2152650"/>
                </a:lnTo>
                <a:lnTo>
                  <a:pt x="6513576" y="430530"/>
                </a:lnTo>
                <a:lnTo>
                  <a:pt x="6511049" y="383624"/>
                </a:lnTo>
                <a:lnTo>
                  <a:pt x="6503644" y="338180"/>
                </a:lnTo>
                <a:lnTo>
                  <a:pt x="6491624" y="294461"/>
                </a:lnTo>
                <a:lnTo>
                  <a:pt x="6475251" y="252729"/>
                </a:lnTo>
                <a:lnTo>
                  <a:pt x="6454789" y="213247"/>
                </a:lnTo>
                <a:lnTo>
                  <a:pt x="6430499" y="176278"/>
                </a:lnTo>
                <a:lnTo>
                  <a:pt x="6402646" y="142084"/>
                </a:lnTo>
                <a:lnTo>
                  <a:pt x="6371491" y="110929"/>
                </a:lnTo>
                <a:lnTo>
                  <a:pt x="6337297" y="83076"/>
                </a:lnTo>
                <a:lnTo>
                  <a:pt x="6300328" y="58786"/>
                </a:lnTo>
                <a:lnTo>
                  <a:pt x="6260846" y="38324"/>
                </a:lnTo>
                <a:lnTo>
                  <a:pt x="6219114" y="21951"/>
                </a:lnTo>
                <a:lnTo>
                  <a:pt x="6175395" y="9931"/>
                </a:lnTo>
                <a:lnTo>
                  <a:pt x="6129951" y="2526"/>
                </a:lnTo>
                <a:lnTo>
                  <a:pt x="6083046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555996" y="1422602"/>
            <a:ext cx="3128010" cy="10172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500" spc="-10" b="0">
                <a:solidFill>
                  <a:srgbClr val="FFFFFF"/>
                </a:solidFill>
                <a:latin typeface="Calibri"/>
                <a:cs typeface="Calibri"/>
              </a:rPr>
              <a:t>Deadlock</a:t>
            </a:r>
            <a:endParaRPr sz="6500">
              <a:latin typeface="Calibri"/>
              <a:cs typeface="Calibri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5193791" y="3506723"/>
            <a:ext cx="6513830" cy="2583180"/>
          </a:xfrm>
          <a:custGeom>
            <a:avLst/>
            <a:gdLst/>
            <a:ahLst/>
            <a:cxnLst/>
            <a:rect l="l" t="t" r="r" b="b"/>
            <a:pathLst>
              <a:path w="6513830" h="2583179">
                <a:moveTo>
                  <a:pt x="6083046" y="0"/>
                </a:moveTo>
                <a:lnTo>
                  <a:pt x="430530" y="0"/>
                </a:lnTo>
                <a:lnTo>
                  <a:pt x="383624" y="2526"/>
                </a:lnTo>
                <a:lnTo>
                  <a:pt x="338180" y="9931"/>
                </a:lnTo>
                <a:lnTo>
                  <a:pt x="294461" y="21951"/>
                </a:lnTo>
                <a:lnTo>
                  <a:pt x="252729" y="38324"/>
                </a:lnTo>
                <a:lnTo>
                  <a:pt x="213247" y="58786"/>
                </a:lnTo>
                <a:lnTo>
                  <a:pt x="176278" y="83076"/>
                </a:lnTo>
                <a:lnTo>
                  <a:pt x="142084" y="110929"/>
                </a:lnTo>
                <a:lnTo>
                  <a:pt x="110929" y="142084"/>
                </a:lnTo>
                <a:lnTo>
                  <a:pt x="83076" y="176278"/>
                </a:lnTo>
                <a:lnTo>
                  <a:pt x="58786" y="213247"/>
                </a:lnTo>
                <a:lnTo>
                  <a:pt x="38324" y="252729"/>
                </a:lnTo>
                <a:lnTo>
                  <a:pt x="21951" y="294461"/>
                </a:lnTo>
                <a:lnTo>
                  <a:pt x="9931" y="338180"/>
                </a:lnTo>
                <a:lnTo>
                  <a:pt x="2526" y="383624"/>
                </a:lnTo>
                <a:lnTo>
                  <a:pt x="0" y="430530"/>
                </a:lnTo>
                <a:lnTo>
                  <a:pt x="0" y="2152637"/>
                </a:lnTo>
                <a:lnTo>
                  <a:pt x="2526" y="2199549"/>
                </a:lnTo>
                <a:lnTo>
                  <a:pt x="9931" y="2244998"/>
                </a:lnTo>
                <a:lnTo>
                  <a:pt x="21951" y="2288722"/>
                </a:lnTo>
                <a:lnTo>
                  <a:pt x="38324" y="2330456"/>
                </a:lnTo>
                <a:lnTo>
                  <a:pt x="58786" y="2369940"/>
                </a:lnTo>
                <a:lnTo>
                  <a:pt x="83076" y="2406910"/>
                </a:lnTo>
                <a:lnTo>
                  <a:pt x="110929" y="2441103"/>
                </a:lnTo>
                <a:lnTo>
                  <a:pt x="142084" y="2472257"/>
                </a:lnTo>
                <a:lnTo>
                  <a:pt x="176278" y="2500110"/>
                </a:lnTo>
                <a:lnTo>
                  <a:pt x="213247" y="2524398"/>
                </a:lnTo>
                <a:lnTo>
                  <a:pt x="252729" y="2544859"/>
                </a:lnTo>
                <a:lnTo>
                  <a:pt x="294461" y="2561230"/>
                </a:lnTo>
                <a:lnTo>
                  <a:pt x="338180" y="2573249"/>
                </a:lnTo>
                <a:lnTo>
                  <a:pt x="383624" y="2580653"/>
                </a:lnTo>
                <a:lnTo>
                  <a:pt x="430530" y="2583180"/>
                </a:lnTo>
                <a:lnTo>
                  <a:pt x="6083046" y="2583180"/>
                </a:lnTo>
                <a:lnTo>
                  <a:pt x="6129951" y="2580653"/>
                </a:lnTo>
                <a:lnTo>
                  <a:pt x="6175395" y="2573249"/>
                </a:lnTo>
                <a:lnTo>
                  <a:pt x="6219114" y="2561230"/>
                </a:lnTo>
                <a:lnTo>
                  <a:pt x="6260846" y="2544859"/>
                </a:lnTo>
                <a:lnTo>
                  <a:pt x="6300328" y="2524398"/>
                </a:lnTo>
                <a:lnTo>
                  <a:pt x="6337297" y="2500110"/>
                </a:lnTo>
                <a:lnTo>
                  <a:pt x="6371491" y="2472257"/>
                </a:lnTo>
                <a:lnTo>
                  <a:pt x="6402646" y="2441103"/>
                </a:lnTo>
                <a:lnTo>
                  <a:pt x="6430499" y="2406910"/>
                </a:lnTo>
                <a:lnTo>
                  <a:pt x="6454789" y="2369940"/>
                </a:lnTo>
                <a:lnTo>
                  <a:pt x="6475251" y="2330456"/>
                </a:lnTo>
                <a:lnTo>
                  <a:pt x="6491624" y="2288722"/>
                </a:lnTo>
                <a:lnTo>
                  <a:pt x="6503644" y="2244998"/>
                </a:lnTo>
                <a:lnTo>
                  <a:pt x="6511049" y="2199549"/>
                </a:lnTo>
                <a:lnTo>
                  <a:pt x="6513576" y="2152637"/>
                </a:lnTo>
                <a:lnTo>
                  <a:pt x="6513576" y="430530"/>
                </a:lnTo>
                <a:lnTo>
                  <a:pt x="6511049" y="383624"/>
                </a:lnTo>
                <a:lnTo>
                  <a:pt x="6503644" y="338180"/>
                </a:lnTo>
                <a:lnTo>
                  <a:pt x="6491624" y="294461"/>
                </a:lnTo>
                <a:lnTo>
                  <a:pt x="6475251" y="252729"/>
                </a:lnTo>
                <a:lnTo>
                  <a:pt x="6454789" y="213247"/>
                </a:lnTo>
                <a:lnTo>
                  <a:pt x="6430499" y="176278"/>
                </a:lnTo>
                <a:lnTo>
                  <a:pt x="6402646" y="142084"/>
                </a:lnTo>
                <a:lnTo>
                  <a:pt x="6371491" y="110929"/>
                </a:lnTo>
                <a:lnTo>
                  <a:pt x="6337297" y="83076"/>
                </a:lnTo>
                <a:lnTo>
                  <a:pt x="6300328" y="58786"/>
                </a:lnTo>
                <a:lnTo>
                  <a:pt x="6260846" y="38324"/>
                </a:lnTo>
                <a:lnTo>
                  <a:pt x="6219114" y="21951"/>
                </a:lnTo>
                <a:lnTo>
                  <a:pt x="6175395" y="9931"/>
                </a:lnTo>
                <a:lnTo>
                  <a:pt x="6129951" y="2526"/>
                </a:lnTo>
                <a:lnTo>
                  <a:pt x="6083046" y="0"/>
                </a:lnTo>
                <a:close/>
              </a:path>
            </a:pathLst>
          </a:custGeom>
          <a:solidFill>
            <a:srgbClr val="6FAC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41933" y="2941243"/>
            <a:ext cx="8288655" cy="272224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dirty="0" sz="4400" spc="-10">
                <a:solidFill>
                  <a:srgbClr val="FFFFFF"/>
                </a:solidFill>
                <a:latin typeface="Calibri Light"/>
                <a:cs typeface="Calibri Light"/>
              </a:rPr>
              <a:t>Contents</a:t>
            </a:r>
            <a:endParaRPr sz="4400">
              <a:latin typeface="Calibri Light"/>
              <a:cs typeface="Calibri Light"/>
            </a:endParaRPr>
          </a:p>
          <a:p>
            <a:pPr marL="4626610" marR="5080">
              <a:lnSpc>
                <a:spcPts val="7140"/>
              </a:lnSpc>
              <a:spcBef>
                <a:spcPts val="1365"/>
              </a:spcBef>
            </a:pPr>
            <a:r>
              <a:rPr dirty="0" sz="6500" spc="-10">
                <a:solidFill>
                  <a:srgbClr val="FFFFFF"/>
                </a:solidFill>
                <a:latin typeface="Calibri"/>
                <a:cs typeface="Calibri"/>
              </a:rPr>
              <a:t>Deadlock </a:t>
            </a:r>
            <a:r>
              <a:rPr dirty="0" sz="6500" spc="-35">
                <a:solidFill>
                  <a:srgbClr val="FFFFFF"/>
                </a:solidFill>
                <a:latin typeface="Calibri"/>
                <a:cs typeface="Calibri"/>
              </a:rPr>
              <a:t>Prevention</a:t>
            </a:r>
            <a:endParaRPr sz="6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268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spc="-10" b="0">
                <a:latin typeface="Calibri Light"/>
                <a:cs typeface="Calibri Light"/>
              </a:rPr>
              <a:t>Deadlock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16939" y="1798066"/>
            <a:ext cx="10260965" cy="4243705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41300" marR="198120" indent="-229235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database,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deadlock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unwanted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situation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which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two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more </a:t>
            </a:r>
            <a:r>
              <a:rPr dirty="0" sz="2600">
                <a:latin typeface="Calibri"/>
                <a:cs typeface="Calibri"/>
              </a:rPr>
              <a:t>transactions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are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indefinitely</a:t>
            </a:r>
            <a:r>
              <a:rPr dirty="0" sz="2600" spc="-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another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give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locks. </a:t>
            </a:r>
            <a:r>
              <a:rPr dirty="0" sz="2600">
                <a:latin typeface="Calibri"/>
                <a:cs typeface="Calibri"/>
              </a:rPr>
              <a:t>Deadlock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said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most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feared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complications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DBMS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it </a:t>
            </a:r>
            <a:r>
              <a:rPr dirty="0" sz="2600">
                <a:latin typeface="Calibri"/>
                <a:cs typeface="Calibri"/>
              </a:rPr>
              <a:t>brings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whole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system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Halt.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Font typeface="Arial MT"/>
              <a:buChar char="•"/>
            </a:pPr>
            <a:endParaRPr sz="2600">
              <a:latin typeface="Calibri"/>
              <a:cs typeface="Calibri"/>
            </a:endParaRPr>
          </a:p>
          <a:p>
            <a:pPr marL="241300" marR="5080" indent="-229235">
              <a:lnSpc>
                <a:spcPct val="9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 b="1">
                <a:latin typeface="Calibri"/>
                <a:cs typeface="Calibri"/>
              </a:rPr>
              <a:t>Example</a:t>
            </a:r>
            <a:r>
              <a:rPr dirty="0" sz="2600" spc="-4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–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let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understand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concept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Deadlock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example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: </a:t>
            </a:r>
            <a:r>
              <a:rPr dirty="0" sz="2600">
                <a:latin typeface="Calibri"/>
                <a:cs typeface="Calibri"/>
              </a:rPr>
              <a:t>Suppose,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T1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holds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lock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Students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table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needs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to</a:t>
            </a:r>
            <a:r>
              <a:rPr dirty="0" sz="2600" spc="-7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update</a:t>
            </a:r>
            <a:r>
              <a:rPr dirty="0" sz="2600" spc="-20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Grades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table.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Simultaneously, </a:t>
            </a:r>
            <a:r>
              <a:rPr dirty="0" sz="2600" spc="-20">
                <a:latin typeface="Calibri"/>
                <a:cs typeface="Calibri"/>
              </a:rPr>
              <a:t>Transaction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T2</a:t>
            </a:r>
            <a:r>
              <a:rPr dirty="0" sz="2600" spc="-35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holds</a:t>
            </a:r>
            <a:r>
              <a:rPr dirty="0" sz="2600" spc="-2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locks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those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very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rows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(Which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T1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needs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update)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Grades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but</a:t>
            </a:r>
            <a:r>
              <a:rPr dirty="0" sz="2600" spc="-40" b="1">
                <a:latin typeface="Calibri"/>
                <a:cs typeface="Calibri"/>
              </a:rPr>
              <a:t> </a:t>
            </a:r>
            <a:r>
              <a:rPr dirty="0" sz="2600" b="1">
                <a:latin typeface="Calibri"/>
                <a:cs typeface="Calibri"/>
              </a:rPr>
              <a:t>needs</a:t>
            </a:r>
            <a:r>
              <a:rPr dirty="0" sz="2600" spc="-15" b="1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update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rows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Student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table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0" b="1">
                <a:latin typeface="Calibri"/>
                <a:cs typeface="Calibri"/>
              </a:rPr>
              <a:t>held </a:t>
            </a:r>
            <a:r>
              <a:rPr dirty="0" sz="2600" b="1">
                <a:latin typeface="Calibri"/>
                <a:cs typeface="Calibri"/>
              </a:rPr>
              <a:t>by</a:t>
            </a:r>
            <a:r>
              <a:rPr dirty="0" sz="2600" spc="-8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Transaction</a:t>
            </a:r>
            <a:r>
              <a:rPr dirty="0" sz="2600" spc="-90" b="1">
                <a:latin typeface="Calibri"/>
                <a:cs typeface="Calibri"/>
              </a:rPr>
              <a:t> </a:t>
            </a:r>
            <a:r>
              <a:rPr dirty="0" sz="2600" spc="-25" b="1">
                <a:latin typeface="Calibri"/>
                <a:cs typeface="Calibri"/>
              </a:rPr>
              <a:t>T1</a:t>
            </a:r>
            <a:r>
              <a:rPr dirty="0" sz="2600" spc="-25">
                <a:latin typeface="Calibri"/>
                <a:cs typeface="Calibri"/>
              </a:rPr>
              <a:t>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1793493"/>
            <a:ext cx="10305415" cy="198818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 spc="-55">
                <a:latin typeface="Calibri"/>
                <a:cs typeface="Calibri"/>
              </a:rPr>
              <a:t>Now,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main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problem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arises.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Transaction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T1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wait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T2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give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lock,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similarly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T2</a:t>
            </a:r>
            <a:r>
              <a:rPr dirty="0" sz="2800" spc="-3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will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wait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for</a:t>
            </a:r>
            <a:r>
              <a:rPr dirty="0" sz="2800" spc="700">
                <a:latin typeface="Calibri"/>
                <a:cs typeface="Calibri"/>
              </a:rPr>
              <a:t> </a:t>
            </a:r>
            <a:r>
              <a:rPr dirty="0" sz="2800" spc="70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T1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give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up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lock.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consequence, </a:t>
            </a:r>
            <a:r>
              <a:rPr dirty="0" sz="2800">
                <a:latin typeface="Calibri"/>
                <a:cs typeface="Calibri"/>
              </a:rPr>
              <a:t>All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activity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comes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to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halt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remains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at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standstill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forever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unless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DBMS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detects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aborts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transactions.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1923" y="4108703"/>
            <a:ext cx="5292852" cy="251307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456882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35" b="0">
                <a:latin typeface="Calibri Light"/>
                <a:cs typeface="Calibri Light"/>
              </a:rPr>
              <a:t>Deadlock</a:t>
            </a:r>
            <a:r>
              <a:rPr dirty="0" sz="4400" spc="-175" b="0">
                <a:latin typeface="Calibri Light"/>
                <a:cs typeface="Calibri Light"/>
              </a:rPr>
              <a:t> </a:t>
            </a:r>
            <a:r>
              <a:rPr dirty="0" sz="4400" spc="-45" b="0">
                <a:latin typeface="Calibri Light"/>
                <a:cs typeface="Calibri Light"/>
              </a:rPr>
              <a:t>Prevention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16939" y="1793493"/>
            <a:ext cx="9785350" cy="352171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large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database,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prevention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method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suitable.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prevented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are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allocated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such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a </a:t>
            </a:r>
            <a:r>
              <a:rPr dirty="0" sz="2800" spc="-5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way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that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never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35">
                <a:latin typeface="Calibri"/>
                <a:cs typeface="Calibri"/>
              </a:rPr>
              <a:t>occur.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DBMS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analyzes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operations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whether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can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create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situation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not,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they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do,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that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never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allowed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executed.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0029" algn="l"/>
              </a:tabLst>
            </a:pPr>
            <a:r>
              <a:rPr dirty="0" sz="2800">
                <a:latin typeface="Calibri"/>
                <a:cs typeface="Calibri"/>
              </a:rPr>
              <a:t>Deadlock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prevention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mechanism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proposes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two</a:t>
            </a:r>
            <a:r>
              <a:rPr dirty="0" sz="2800" spc="-10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schemes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50">
                <a:latin typeface="Calibri"/>
                <a:cs typeface="Calibri"/>
              </a:rPr>
              <a:t>:</a:t>
            </a:r>
            <a:endParaRPr sz="2800">
              <a:latin typeface="Calibri"/>
              <a:cs typeface="Calibri"/>
            </a:endParaRPr>
          </a:p>
          <a:p>
            <a:pPr lvl="1" marL="608965" indent="-353695">
              <a:lnSpc>
                <a:spcPct val="100000"/>
              </a:lnSpc>
              <a:spcBef>
                <a:spcPts val="660"/>
              </a:spcBef>
              <a:buFont typeface="Calibri"/>
              <a:buAutoNum type="arabicPeriod"/>
              <a:tabLst>
                <a:tab pos="608965" algn="l"/>
              </a:tabLst>
            </a:pPr>
            <a:r>
              <a:rPr dirty="0" sz="2800" spc="-40" b="1">
                <a:latin typeface="Calibri"/>
                <a:cs typeface="Calibri"/>
              </a:rPr>
              <a:t>Wait-</a:t>
            </a:r>
            <a:r>
              <a:rPr dirty="0" sz="2800" b="1">
                <a:latin typeface="Calibri"/>
                <a:cs typeface="Calibri"/>
              </a:rPr>
              <a:t>Die</a:t>
            </a:r>
            <a:r>
              <a:rPr dirty="0" sz="2800" spc="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Scheme</a:t>
            </a:r>
            <a:endParaRPr sz="2800">
              <a:latin typeface="Calibri"/>
              <a:cs typeface="Calibri"/>
            </a:endParaRPr>
          </a:p>
          <a:p>
            <a:pPr lvl="1" marL="608965" indent="-353695">
              <a:lnSpc>
                <a:spcPct val="100000"/>
              </a:lnSpc>
              <a:spcBef>
                <a:spcPts val="660"/>
              </a:spcBef>
              <a:buFont typeface="Calibri"/>
              <a:buAutoNum type="arabicPeriod"/>
              <a:tabLst>
                <a:tab pos="608965" algn="l"/>
              </a:tabLst>
            </a:pPr>
            <a:r>
              <a:rPr dirty="0" sz="2800" b="1">
                <a:latin typeface="Calibri"/>
                <a:cs typeface="Calibri"/>
              </a:rPr>
              <a:t>Wound</a:t>
            </a:r>
            <a:r>
              <a:rPr dirty="0" sz="2800" spc="-15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Wait</a:t>
            </a:r>
            <a:r>
              <a:rPr dirty="0" sz="2800" spc="-13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Scheme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216152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8"/>
                </a:lnTo>
                <a:lnTo>
                  <a:pt x="196596" y="673608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268224" y="1216152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8"/>
                </a:lnTo>
                <a:lnTo>
                  <a:pt x="195072" y="673608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98348" y="598931"/>
            <a:ext cx="11181715" cy="2169160"/>
            <a:chOff x="498348" y="598931"/>
            <a:chExt cx="11181715" cy="2169160"/>
          </a:xfrm>
        </p:grpSpPr>
        <p:sp>
          <p:nvSpPr>
            <p:cNvPr id="5" name="object 5" descr=""/>
            <p:cNvSpPr/>
            <p:nvPr/>
          </p:nvSpPr>
          <p:spPr>
            <a:xfrm>
              <a:off x="534924" y="1216151"/>
              <a:ext cx="105410" cy="673735"/>
            </a:xfrm>
            <a:custGeom>
              <a:avLst/>
              <a:gdLst/>
              <a:ahLst/>
              <a:cxnLst/>
              <a:rect l="l" t="t" r="r" b="b"/>
              <a:pathLst>
                <a:path w="105409" h="673735">
                  <a:moveTo>
                    <a:pt x="0" y="673608"/>
                  </a:moveTo>
                  <a:lnTo>
                    <a:pt x="105156" y="673608"/>
                  </a:lnTo>
                  <a:lnTo>
                    <a:pt x="105156" y="0"/>
                  </a:lnTo>
                  <a:lnTo>
                    <a:pt x="0" y="0"/>
                  </a:lnTo>
                  <a:lnTo>
                    <a:pt x="0" y="673608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8348" y="598931"/>
              <a:ext cx="11181588" cy="21686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40080" y="614172"/>
            <a:ext cx="10907395" cy="1894839"/>
          </a:xfrm>
          <a:prstGeom prst="rect"/>
          <a:solidFill>
            <a:srgbClr val="FFFFFF"/>
          </a:solidFill>
        </p:spPr>
        <p:txBody>
          <a:bodyPr wrap="square" lIns="0" tIns="201930" rIns="0" bIns="0" rtlCol="0" vert="horz">
            <a:spAutoFit/>
          </a:bodyPr>
          <a:lstStyle/>
          <a:p>
            <a:pPr marL="494665">
              <a:lnSpc>
                <a:spcPct val="100000"/>
              </a:lnSpc>
              <a:spcBef>
                <a:spcPts val="1590"/>
              </a:spcBef>
            </a:pPr>
            <a:r>
              <a:rPr dirty="0" spc="-135" b="0">
                <a:latin typeface="Calibri Light"/>
                <a:cs typeface="Calibri Light"/>
              </a:rPr>
              <a:t>1.Wait-</a:t>
            </a:r>
            <a:r>
              <a:rPr dirty="0" b="0">
                <a:latin typeface="Calibri Light"/>
                <a:cs typeface="Calibri Light"/>
              </a:rPr>
              <a:t>Die</a:t>
            </a:r>
            <a:r>
              <a:rPr dirty="0" spc="-165" b="0">
                <a:latin typeface="Calibri Light"/>
                <a:cs typeface="Calibri Light"/>
              </a:rPr>
              <a:t> </a:t>
            </a:r>
            <a:r>
              <a:rPr dirty="0" spc="-10" b="0">
                <a:latin typeface="Calibri Light"/>
                <a:cs typeface="Calibri Light"/>
              </a:rPr>
              <a:t>Scheme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1123899" y="2902965"/>
            <a:ext cx="9634855" cy="282448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239395" marR="5080" indent="-227329">
              <a:lnSpc>
                <a:spcPct val="9000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scheme,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request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locked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DBMS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simply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checks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timestamp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both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allows</a:t>
            </a:r>
            <a:r>
              <a:rPr dirty="0" sz="2400" spc="-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older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wait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until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is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available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execution.</a:t>
            </a:r>
            <a:endParaRPr sz="2400">
              <a:latin typeface="Calibri"/>
              <a:cs typeface="Calibri"/>
            </a:endParaRPr>
          </a:p>
          <a:p>
            <a:pPr marL="239395" marR="434975" indent="-227329">
              <a:lnSpc>
                <a:spcPct val="9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Suppose,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are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two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transactions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T1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T2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Let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timestamp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any </a:t>
            </a:r>
            <a:r>
              <a:rPr dirty="0" sz="2400" spc="-25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(T).</a:t>
            </a:r>
            <a:r>
              <a:rPr dirty="0" sz="2400" spc="-45">
                <a:latin typeface="Calibri"/>
                <a:cs typeface="Calibri"/>
              </a:rPr>
              <a:t> Now,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there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lock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on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T2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some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other </a:t>
            </a:r>
            <a:r>
              <a:rPr dirty="0" sz="2400" spc="-1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and</a:t>
            </a:r>
            <a:r>
              <a:rPr dirty="0" sz="2400" spc="-4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T1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requesting</a:t>
            </a:r>
            <a:r>
              <a:rPr dirty="0" sz="2400" spc="-5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resources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held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by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T2,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then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DBMS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performs</a:t>
            </a:r>
            <a:r>
              <a:rPr dirty="0" sz="2400" spc="-11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following</a:t>
            </a:r>
            <a:r>
              <a:rPr dirty="0" sz="2400" spc="-1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actions: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838200" y="6484620"/>
            <a:ext cx="10515600" cy="0"/>
          </a:xfrm>
          <a:custGeom>
            <a:avLst/>
            <a:gdLst/>
            <a:ahLst/>
            <a:cxnLst/>
            <a:rect l="l" t="t" r="r" b="b"/>
            <a:pathLst>
              <a:path w="10515600" h="0">
                <a:moveTo>
                  <a:pt x="10515600" y="0"/>
                </a:moveTo>
                <a:lnTo>
                  <a:pt x="0" y="0"/>
                </a:lnTo>
              </a:path>
            </a:pathLst>
          </a:custGeom>
          <a:ln w="57150">
            <a:solidFill>
              <a:srgbClr val="FFC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16939" y="1798066"/>
            <a:ext cx="10264140" cy="3989070"/>
          </a:xfrm>
          <a:prstGeom prst="rect">
            <a:avLst/>
          </a:prstGeom>
        </p:spPr>
        <p:txBody>
          <a:bodyPr wrap="square" lIns="0" tIns="52705" rIns="0" bIns="0" rtlCol="0" vert="horz">
            <a:spAutoFit/>
          </a:bodyPr>
          <a:lstStyle/>
          <a:p>
            <a:pPr marL="241300" marR="5080" indent="-229235">
              <a:lnSpc>
                <a:spcPct val="90000"/>
              </a:lnSpc>
              <a:spcBef>
                <a:spcPts val="4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600">
                <a:latin typeface="Calibri"/>
                <a:cs typeface="Calibri"/>
              </a:rPr>
              <a:t>Checks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(T1)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&lt;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(T2)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–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T1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older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held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resource,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T1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until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available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10">
                <a:latin typeface="Calibri"/>
                <a:cs typeface="Calibri"/>
              </a:rPr>
              <a:t>execution.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That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means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younger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locked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resource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waiting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it,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allowed </a:t>
            </a:r>
            <a:r>
              <a:rPr dirty="0" sz="2600">
                <a:latin typeface="Calibri"/>
                <a:cs typeface="Calibri"/>
              </a:rPr>
              <a:t>wait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till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available.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T1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older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held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some </a:t>
            </a:r>
            <a:r>
              <a:rPr dirty="0" sz="2600">
                <a:latin typeface="Calibri"/>
                <a:cs typeface="Calibri"/>
              </a:rPr>
              <a:t>resource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waiting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it,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T2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killed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restarted </a:t>
            </a:r>
            <a:r>
              <a:rPr dirty="0" sz="2600">
                <a:latin typeface="Calibri"/>
                <a:cs typeface="Calibri"/>
              </a:rPr>
              <a:t>latter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random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delay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timestamp.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i.e.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if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older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has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held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some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resource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younger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waits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the </a:t>
            </a:r>
            <a:r>
              <a:rPr dirty="0" sz="2600">
                <a:latin typeface="Calibri"/>
                <a:cs typeface="Calibri"/>
              </a:rPr>
              <a:t>resource,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then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younger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killed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restarted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very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minute </a:t>
            </a:r>
            <a:r>
              <a:rPr dirty="0" sz="2600">
                <a:latin typeface="Calibri"/>
                <a:cs typeface="Calibri"/>
              </a:rPr>
              <a:t>delay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with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same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timestamp.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810"/>
              </a:lnSpc>
            </a:pPr>
            <a:r>
              <a:rPr dirty="0" sz="2600">
                <a:latin typeface="Calibri"/>
                <a:cs typeface="Calibri"/>
              </a:rPr>
              <a:t>This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scheme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allows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older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transaction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wait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but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kills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younger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one.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209276" y="0"/>
            <a:ext cx="1134110" cy="478790"/>
          </a:xfrm>
          <a:custGeom>
            <a:avLst/>
            <a:gdLst/>
            <a:ahLst/>
            <a:cxnLst/>
            <a:rect l="l" t="t" r="r" b="b"/>
            <a:pathLst>
              <a:path w="1134109" h="478790">
                <a:moveTo>
                  <a:pt x="1133855" y="0"/>
                </a:moveTo>
                <a:lnTo>
                  <a:pt x="0" y="0"/>
                </a:lnTo>
                <a:lnTo>
                  <a:pt x="1650" y="16891"/>
                </a:lnTo>
                <a:lnTo>
                  <a:pt x="12982" y="62669"/>
                </a:lnTo>
                <a:lnTo>
                  <a:pt x="27864" y="106933"/>
                </a:lnTo>
                <a:lnTo>
                  <a:pt x="46135" y="149518"/>
                </a:lnTo>
                <a:lnTo>
                  <a:pt x="67632" y="190264"/>
                </a:lnTo>
                <a:lnTo>
                  <a:pt x="92192" y="229006"/>
                </a:lnTo>
                <a:lnTo>
                  <a:pt x="119655" y="265584"/>
                </a:lnTo>
                <a:lnTo>
                  <a:pt x="149858" y="299833"/>
                </a:lnTo>
                <a:lnTo>
                  <a:pt x="182639" y="331592"/>
                </a:lnTo>
                <a:lnTo>
                  <a:pt x="217835" y="360699"/>
                </a:lnTo>
                <a:lnTo>
                  <a:pt x="255286" y="386989"/>
                </a:lnTo>
                <a:lnTo>
                  <a:pt x="294827" y="410302"/>
                </a:lnTo>
                <a:lnTo>
                  <a:pt x="336299" y="430474"/>
                </a:lnTo>
                <a:lnTo>
                  <a:pt x="379538" y="447342"/>
                </a:lnTo>
                <a:lnTo>
                  <a:pt x="424382" y="460746"/>
                </a:lnTo>
                <a:lnTo>
                  <a:pt x="470670" y="470521"/>
                </a:lnTo>
                <a:lnTo>
                  <a:pt x="518239" y="476505"/>
                </a:lnTo>
                <a:lnTo>
                  <a:pt x="566927" y="478536"/>
                </a:lnTo>
                <a:lnTo>
                  <a:pt x="615616" y="476505"/>
                </a:lnTo>
                <a:lnTo>
                  <a:pt x="663185" y="470521"/>
                </a:lnTo>
                <a:lnTo>
                  <a:pt x="709473" y="460746"/>
                </a:lnTo>
                <a:lnTo>
                  <a:pt x="754317" y="447342"/>
                </a:lnTo>
                <a:lnTo>
                  <a:pt x="797556" y="430474"/>
                </a:lnTo>
                <a:lnTo>
                  <a:pt x="839028" y="410302"/>
                </a:lnTo>
                <a:lnTo>
                  <a:pt x="878569" y="386989"/>
                </a:lnTo>
                <a:lnTo>
                  <a:pt x="916020" y="360699"/>
                </a:lnTo>
                <a:lnTo>
                  <a:pt x="951216" y="331592"/>
                </a:lnTo>
                <a:lnTo>
                  <a:pt x="983997" y="299833"/>
                </a:lnTo>
                <a:lnTo>
                  <a:pt x="1014200" y="265584"/>
                </a:lnTo>
                <a:lnTo>
                  <a:pt x="1041663" y="229006"/>
                </a:lnTo>
                <a:lnTo>
                  <a:pt x="1066223" y="190264"/>
                </a:lnTo>
                <a:lnTo>
                  <a:pt x="1087720" y="149518"/>
                </a:lnTo>
                <a:lnTo>
                  <a:pt x="1105991" y="106933"/>
                </a:lnTo>
                <a:lnTo>
                  <a:pt x="1120873" y="62669"/>
                </a:lnTo>
                <a:lnTo>
                  <a:pt x="1132204" y="16891"/>
                </a:lnTo>
                <a:lnTo>
                  <a:pt x="113385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5180965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 b="0">
                <a:latin typeface="Calibri Light"/>
                <a:cs typeface="Calibri Light"/>
              </a:rPr>
              <a:t>2.</a:t>
            </a:r>
            <a:r>
              <a:rPr dirty="0" sz="4400" spc="-120" b="0">
                <a:latin typeface="Calibri Light"/>
                <a:cs typeface="Calibri Light"/>
              </a:rPr>
              <a:t> </a:t>
            </a:r>
            <a:r>
              <a:rPr dirty="0" sz="4400" spc="-75" b="0">
                <a:latin typeface="Calibri Light"/>
                <a:cs typeface="Calibri Light"/>
              </a:rPr>
              <a:t>Wound</a:t>
            </a:r>
            <a:r>
              <a:rPr dirty="0" sz="4400" spc="-175" b="0">
                <a:latin typeface="Calibri Light"/>
                <a:cs typeface="Calibri Light"/>
              </a:rPr>
              <a:t> </a:t>
            </a:r>
            <a:r>
              <a:rPr dirty="0" sz="4400" spc="-50" b="0">
                <a:latin typeface="Calibri Light"/>
                <a:cs typeface="Calibri Light"/>
              </a:rPr>
              <a:t>Wait</a:t>
            </a:r>
            <a:r>
              <a:rPr dirty="0" sz="4400" spc="-135" b="0">
                <a:latin typeface="Calibri Light"/>
                <a:cs typeface="Calibri Light"/>
              </a:rPr>
              <a:t> </a:t>
            </a:r>
            <a:r>
              <a:rPr dirty="0" sz="4400" spc="-10" b="0">
                <a:latin typeface="Calibri Light"/>
                <a:cs typeface="Calibri Light"/>
              </a:rPr>
              <a:t>Scheme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57022" y="4226052"/>
            <a:ext cx="2041525" cy="2041525"/>
          </a:xfrm>
          <a:custGeom>
            <a:avLst/>
            <a:gdLst/>
            <a:ahLst/>
            <a:cxnLst/>
            <a:rect l="l" t="t" r="r" b="b"/>
            <a:pathLst>
              <a:path w="2041525" h="2041525">
                <a:moveTo>
                  <a:pt x="0" y="0"/>
                </a:moveTo>
                <a:lnTo>
                  <a:pt x="557" y="48183"/>
                </a:lnTo>
                <a:lnTo>
                  <a:pt x="2222" y="96093"/>
                </a:lnTo>
                <a:lnTo>
                  <a:pt x="4981" y="143717"/>
                </a:lnTo>
                <a:lnTo>
                  <a:pt x="8822" y="191044"/>
                </a:lnTo>
                <a:lnTo>
                  <a:pt x="13734" y="238060"/>
                </a:lnTo>
                <a:lnTo>
                  <a:pt x="19704" y="284753"/>
                </a:lnTo>
                <a:lnTo>
                  <a:pt x="26719" y="331112"/>
                </a:lnTo>
                <a:lnTo>
                  <a:pt x="34768" y="377123"/>
                </a:lnTo>
                <a:lnTo>
                  <a:pt x="43838" y="422776"/>
                </a:lnTo>
                <a:lnTo>
                  <a:pt x="53917" y="468056"/>
                </a:lnTo>
                <a:lnTo>
                  <a:pt x="64993" y="512953"/>
                </a:lnTo>
                <a:lnTo>
                  <a:pt x="77053" y="557454"/>
                </a:lnTo>
                <a:lnTo>
                  <a:pt x="90085" y="601547"/>
                </a:lnTo>
                <a:lnTo>
                  <a:pt x="104077" y="645218"/>
                </a:lnTo>
                <a:lnTo>
                  <a:pt x="119016" y="688457"/>
                </a:lnTo>
                <a:lnTo>
                  <a:pt x="134891" y="731251"/>
                </a:lnTo>
                <a:lnTo>
                  <a:pt x="151689" y="773588"/>
                </a:lnTo>
                <a:lnTo>
                  <a:pt x="169398" y="815455"/>
                </a:lnTo>
                <a:lnTo>
                  <a:pt x="188005" y="856840"/>
                </a:lnTo>
                <a:lnTo>
                  <a:pt x="207499" y="897731"/>
                </a:lnTo>
                <a:lnTo>
                  <a:pt x="227867" y="938116"/>
                </a:lnTo>
                <a:lnTo>
                  <a:pt x="249097" y="977982"/>
                </a:lnTo>
                <a:lnTo>
                  <a:pt x="271176" y="1017317"/>
                </a:lnTo>
                <a:lnTo>
                  <a:pt x="294092" y="1056108"/>
                </a:lnTo>
                <a:lnTo>
                  <a:pt x="317834" y="1094345"/>
                </a:lnTo>
                <a:lnTo>
                  <a:pt x="342388" y="1132014"/>
                </a:lnTo>
                <a:lnTo>
                  <a:pt x="367743" y="1169103"/>
                </a:lnTo>
                <a:lnTo>
                  <a:pt x="393886" y="1205599"/>
                </a:lnTo>
                <a:lnTo>
                  <a:pt x="420806" y="1241492"/>
                </a:lnTo>
                <a:lnTo>
                  <a:pt x="448489" y="1276767"/>
                </a:lnTo>
                <a:lnTo>
                  <a:pt x="476923" y="1311414"/>
                </a:lnTo>
                <a:lnTo>
                  <a:pt x="506097" y="1345419"/>
                </a:lnTo>
                <a:lnTo>
                  <a:pt x="535998" y="1378771"/>
                </a:lnTo>
                <a:lnTo>
                  <a:pt x="566613" y="1411457"/>
                </a:lnTo>
                <a:lnTo>
                  <a:pt x="597931" y="1443466"/>
                </a:lnTo>
                <a:lnTo>
                  <a:pt x="629940" y="1474784"/>
                </a:lnTo>
                <a:lnTo>
                  <a:pt x="662626" y="1505399"/>
                </a:lnTo>
                <a:lnTo>
                  <a:pt x="695978" y="1535300"/>
                </a:lnTo>
                <a:lnTo>
                  <a:pt x="729983" y="1564474"/>
                </a:lnTo>
                <a:lnTo>
                  <a:pt x="764630" y="1592908"/>
                </a:lnTo>
                <a:lnTo>
                  <a:pt x="799905" y="1620591"/>
                </a:lnTo>
                <a:lnTo>
                  <a:pt x="835798" y="1647511"/>
                </a:lnTo>
                <a:lnTo>
                  <a:pt x="872294" y="1673654"/>
                </a:lnTo>
                <a:lnTo>
                  <a:pt x="909383" y="1699009"/>
                </a:lnTo>
                <a:lnTo>
                  <a:pt x="947052" y="1723563"/>
                </a:lnTo>
                <a:lnTo>
                  <a:pt x="985289" y="1747305"/>
                </a:lnTo>
                <a:lnTo>
                  <a:pt x="1024080" y="1770221"/>
                </a:lnTo>
                <a:lnTo>
                  <a:pt x="1063415" y="1792300"/>
                </a:lnTo>
                <a:lnTo>
                  <a:pt x="1103281" y="1813530"/>
                </a:lnTo>
                <a:lnTo>
                  <a:pt x="1143666" y="1833898"/>
                </a:lnTo>
                <a:lnTo>
                  <a:pt x="1184557" y="1853392"/>
                </a:lnTo>
                <a:lnTo>
                  <a:pt x="1225942" y="1871999"/>
                </a:lnTo>
                <a:lnTo>
                  <a:pt x="1267809" y="1889708"/>
                </a:lnTo>
                <a:lnTo>
                  <a:pt x="1310146" y="1906506"/>
                </a:lnTo>
                <a:lnTo>
                  <a:pt x="1352940" y="1922381"/>
                </a:lnTo>
                <a:lnTo>
                  <a:pt x="1396179" y="1937320"/>
                </a:lnTo>
                <a:lnTo>
                  <a:pt x="1439850" y="1951312"/>
                </a:lnTo>
                <a:lnTo>
                  <a:pt x="1483943" y="1964344"/>
                </a:lnTo>
                <a:lnTo>
                  <a:pt x="1528444" y="1976404"/>
                </a:lnTo>
                <a:lnTo>
                  <a:pt x="1573341" y="1987480"/>
                </a:lnTo>
                <a:lnTo>
                  <a:pt x="1618621" y="1997559"/>
                </a:lnTo>
                <a:lnTo>
                  <a:pt x="1664274" y="2006629"/>
                </a:lnTo>
                <a:lnTo>
                  <a:pt x="1710285" y="2014678"/>
                </a:lnTo>
                <a:lnTo>
                  <a:pt x="1756644" y="2021693"/>
                </a:lnTo>
                <a:lnTo>
                  <a:pt x="1803337" y="2027663"/>
                </a:lnTo>
                <a:lnTo>
                  <a:pt x="1850353" y="2032575"/>
                </a:lnTo>
                <a:lnTo>
                  <a:pt x="1897680" y="2036416"/>
                </a:lnTo>
                <a:lnTo>
                  <a:pt x="1945304" y="2039175"/>
                </a:lnTo>
                <a:lnTo>
                  <a:pt x="1993214" y="2040840"/>
                </a:lnTo>
                <a:lnTo>
                  <a:pt x="2041398" y="2041398"/>
                </a:lnTo>
              </a:path>
            </a:pathLst>
          </a:custGeom>
          <a:ln w="127000">
            <a:solidFill>
              <a:srgbClr val="FFC000"/>
            </a:solidFill>
            <a:prstDash val="dash"/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916939" y="1793493"/>
            <a:ext cx="10214610" cy="275653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240029" marR="5080" indent="-227965">
              <a:lnSpc>
                <a:spcPct val="90000"/>
              </a:lnSpc>
              <a:spcBef>
                <a:spcPts val="4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800">
                <a:latin typeface="Calibri"/>
                <a:cs typeface="Calibri"/>
              </a:rPr>
              <a:t>In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this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scheme,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older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requests</a:t>
            </a:r>
            <a:r>
              <a:rPr dirty="0" sz="2800" spc="-3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for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held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by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younger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transaction,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older</a:t>
            </a:r>
            <a:r>
              <a:rPr dirty="0" sz="2800" spc="-9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8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forces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younger 	transaction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kill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and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release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resource.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The </a:t>
            </a:r>
            <a:r>
              <a:rPr dirty="0" sz="2800" spc="-25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younger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restarted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minute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delay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but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with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same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 spc="-10">
                <a:latin typeface="Calibri"/>
                <a:cs typeface="Calibri"/>
              </a:rPr>
              <a:t>timestamp.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If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younger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requesting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7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resource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which </a:t>
            </a:r>
            <a:r>
              <a:rPr dirty="0" sz="2800" spc="-1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held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by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older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one,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then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younger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transaction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is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asked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to</a:t>
            </a:r>
            <a:r>
              <a:rPr dirty="0" sz="2800" spc="-7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wait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till </a:t>
            </a:r>
            <a:r>
              <a:rPr dirty="0" sz="2800" spc="-20">
                <a:latin typeface="Calibri"/>
                <a:cs typeface="Calibri"/>
              </a:rPr>
              <a:t>	</a:t>
            </a:r>
            <a:r>
              <a:rPr dirty="0" sz="2800">
                <a:latin typeface="Calibri"/>
                <a:cs typeface="Calibri"/>
              </a:rPr>
              <a:t>older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>
                <a:latin typeface="Calibri"/>
                <a:cs typeface="Calibri"/>
              </a:rPr>
              <a:t>releases</a:t>
            </a:r>
            <a:r>
              <a:rPr dirty="0" sz="2800" spc="-50">
                <a:latin typeface="Calibri"/>
                <a:cs typeface="Calibri"/>
              </a:rPr>
              <a:t> </a:t>
            </a:r>
            <a:r>
              <a:rPr dirty="0" sz="2800" spc="-25">
                <a:latin typeface="Calibri"/>
                <a:cs typeface="Calibri"/>
              </a:rPr>
              <a:t>it.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23899" y="3018789"/>
            <a:ext cx="275717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400" spc="-20" b="1">
                <a:latin typeface="Calibri"/>
                <a:cs typeface="Calibri"/>
              </a:rPr>
              <a:t>Contents:</a:t>
            </a:r>
            <a:endParaRPr sz="5400">
              <a:latin typeface="Calibri"/>
              <a:cs typeface="Calibri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0" y="3163823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7"/>
                </a:lnTo>
                <a:lnTo>
                  <a:pt x="196596" y="673607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68224" y="3163823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7"/>
                </a:lnTo>
                <a:lnTo>
                  <a:pt x="195072" y="673607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34923" y="3163823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5" y="0"/>
                </a:moveTo>
                <a:lnTo>
                  <a:pt x="0" y="0"/>
                </a:lnTo>
                <a:lnTo>
                  <a:pt x="0" y="673607"/>
                </a:lnTo>
                <a:lnTo>
                  <a:pt x="196595" y="673607"/>
                </a:lnTo>
                <a:lnTo>
                  <a:pt x="19659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5544311" y="0"/>
            <a:ext cx="6647815" cy="6858000"/>
            <a:chOff x="5544311" y="0"/>
            <a:chExt cx="6647815" cy="6858000"/>
          </a:xfrm>
        </p:grpSpPr>
        <p:sp>
          <p:nvSpPr>
            <p:cNvPr id="7" name="object 7" descr=""/>
            <p:cNvSpPr/>
            <p:nvPr/>
          </p:nvSpPr>
          <p:spPr>
            <a:xfrm>
              <a:off x="10696955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4311" y="967752"/>
              <a:ext cx="6283451" cy="5394960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5686044" y="982980"/>
            <a:ext cx="6009640" cy="512064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2600">
              <a:latin typeface="Times New Roman"/>
              <a:cs typeface="Times New Roman"/>
            </a:endParaRPr>
          </a:p>
          <a:p>
            <a:pPr marL="730250" indent="-228600">
              <a:lnSpc>
                <a:spcPct val="100000"/>
              </a:lnSpc>
              <a:buFont typeface="Arial MT"/>
              <a:buChar char="•"/>
              <a:tabLst>
                <a:tab pos="730250" algn="l"/>
              </a:tabLst>
            </a:pPr>
            <a:r>
              <a:rPr dirty="0" sz="2600" b="1">
                <a:latin typeface="Calibri"/>
                <a:cs typeface="Calibri"/>
              </a:rPr>
              <a:t>Deadlock</a:t>
            </a:r>
            <a:r>
              <a:rPr dirty="0" sz="2600" spc="-1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Detection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685"/>
              </a:spcBef>
            </a:pPr>
            <a:r>
              <a:rPr dirty="0" sz="2600" spc="-25">
                <a:latin typeface="Calibri"/>
                <a:cs typeface="Calibri"/>
              </a:rPr>
              <a:t>--</a:t>
            </a:r>
            <a:r>
              <a:rPr dirty="0" sz="2600">
                <a:latin typeface="Calibri"/>
                <a:cs typeface="Calibri"/>
              </a:rPr>
              <a:t>Wait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for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Graph</a:t>
            </a:r>
            <a:endParaRPr sz="2600">
              <a:latin typeface="Calibri"/>
              <a:cs typeface="Calibri"/>
            </a:endParaRPr>
          </a:p>
          <a:p>
            <a:pPr marL="730250" indent="-2286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730250" algn="l"/>
              </a:tabLst>
            </a:pPr>
            <a:r>
              <a:rPr dirty="0" sz="2600" b="1">
                <a:latin typeface="Calibri"/>
                <a:cs typeface="Calibri"/>
              </a:rPr>
              <a:t>Deadlock</a:t>
            </a:r>
            <a:r>
              <a:rPr dirty="0" sz="2600" spc="-10" b="1">
                <a:latin typeface="Calibri"/>
                <a:cs typeface="Calibri"/>
              </a:rPr>
              <a:t> Recovery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685"/>
              </a:spcBef>
            </a:pPr>
            <a:r>
              <a:rPr dirty="0" sz="2600" spc="-25">
                <a:latin typeface="Calibri"/>
                <a:cs typeface="Calibri"/>
              </a:rPr>
              <a:t>--</a:t>
            </a:r>
            <a:r>
              <a:rPr dirty="0" sz="2600">
                <a:latin typeface="Calibri"/>
                <a:cs typeface="Calibri"/>
              </a:rPr>
              <a:t>Selection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1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Victim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685"/>
              </a:spcBef>
            </a:pPr>
            <a:r>
              <a:rPr dirty="0" sz="2600" spc="-25">
                <a:latin typeface="Calibri"/>
                <a:cs typeface="Calibri"/>
              </a:rPr>
              <a:t>--</a:t>
            </a:r>
            <a:r>
              <a:rPr dirty="0" sz="2600" spc="-10">
                <a:latin typeface="Calibri"/>
                <a:cs typeface="Calibri"/>
              </a:rPr>
              <a:t>Rollback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700"/>
              </a:spcBef>
            </a:pPr>
            <a:r>
              <a:rPr dirty="0" sz="2600" spc="-25">
                <a:latin typeface="Calibri"/>
                <a:cs typeface="Calibri"/>
              </a:rPr>
              <a:t>--</a:t>
            </a:r>
            <a:r>
              <a:rPr dirty="0" sz="2600" spc="-10">
                <a:latin typeface="Calibri"/>
                <a:cs typeface="Calibri"/>
              </a:rPr>
              <a:t>Starvation</a:t>
            </a:r>
            <a:endParaRPr sz="2600">
              <a:latin typeface="Calibri"/>
              <a:cs typeface="Calibri"/>
            </a:endParaRPr>
          </a:p>
          <a:p>
            <a:pPr marL="730250" indent="-22860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730250" algn="l"/>
              </a:tabLst>
            </a:pPr>
            <a:r>
              <a:rPr dirty="0" sz="2600" b="1">
                <a:latin typeface="Calibri"/>
                <a:cs typeface="Calibri"/>
              </a:rPr>
              <a:t>Database</a:t>
            </a:r>
            <a:r>
              <a:rPr dirty="0" sz="2600" spc="-95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Recovery</a:t>
            </a:r>
            <a:r>
              <a:rPr dirty="0" sz="2600" spc="-110" b="1">
                <a:latin typeface="Calibri"/>
                <a:cs typeface="Calibri"/>
              </a:rPr>
              <a:t> </a:t>
            </a:r>
            <a:r>
              <a:rPr dirty="0" sz="2600" spc="-10" b="1">
                <a:latin typeface="Calibri"/>
                <a:cs typeface="Calibri"/>
              </a:rPr>
              <a:t>Management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690"/>
              </a:spcBef>
            </a:pPr>
            <a:r>
              <a:rPr dirty="0" sz="2600" spc="-2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Log</a:t>
            </a:r>
            <a:r>
              <a:rPr dirty="0" sz="2600" spc="-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Based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Recovery</a:t>
            </a:r>
            <a:endParaRPr sz="2600">
              <a:latin typeface="Calibri"/>
              <a:cs typeface="Calibri"/>
            </a:endParaRPr>
          </a:p>
          <a:p>
            <a:pPr marL="501650">
              <a:lnSpc>
                <a:spcPct val="100000"/>
              </a:lnSpc>
              <a:spcBef>
                <a:spcPts val="695"/>
              </a:spcBef>
            </a:pPr>
            <a:r>
              <a:rPr dirty="0" sz="2600" spc="-2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-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Shadow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Paging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32408" y="2734132"/>
            <a:ext cx="2700655" cy="15316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12700" marR="5080">
              <a:lnSpc>
                <a:spcPts val="5620"/>
              </a:lnSpc>
              <a:spcBef>
                <a:spcPts val="800"/>
              </a:spcBef>
            </a:pPr>
            <a:r>
              <a:rPr dirty="0" sz="5200" spc="-10" b="1">
                <a:latin typeface="Calibri"/>
                <a:cs typeface="Calibri"/>
              </a:rPr>
              <a:t>Deadlock </a:t>
            </a:r>
            <a:r>
              <a:rPr dirty="0" sz="5200" spc="-20" b="1">
                <a:latin typeface="Calibri"/>
                <a:cs typeface="Calibri"/>
              </a:rPr>
              <a:t>Detection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669663" y="288442"/>
            <a:ext cx="6423025" cy="228473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2200" spc="-40" b="1">
                <a:latin typeface="Calibri"/>
                <a:cs typeface="Calibri"/>
              </a:rPr>
              <a:t>Wait-</a:t>
            </a:r>
            <a:r>
              <a:rPr dirty="0" sz="2200" b="1">
                <a:latin typeface="Calibri"/>
                <a:cs typeface="Calibri"/>
              </a:rPr>
              <a:t>for</a:t>
            </a:r>
            <a:r>
              <a:rPr dirty="0" sz="2200" spc="2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Graph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375"/>
              </a:lnSpc>
              <a:spcBef>
                <a:spcPts val="47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Deadlocks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described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wait-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graph,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which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365"/>
              </a:lnSpc>
            </a:pPr>
            <a:r>
              <a:rPr dirty="0" sz="2200">
                <a:latin typeface="Calibri"/>
                <a:cs typeface="Calibri"/>
              </a:rPr>
              <a:t>consists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pair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=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(V,E)</a:t>
            </a:r>
            <a:endParaRPr sz="2200">
              <a:latin typeface="Calibri"/>
              <a:cs typeface="Calibri"/>
            </a:endParaRPr>
          </a:p>
          <a:p>
            <a:pPr lvl="1" marL="698500" marR="5715" indent="-228600">
              <a:lnSpc>
                <a:spcPct val="80000"/>
              </a:lnSpc>
              <a:spcBef>
                <a:spcPts val="51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V</a:t>
            </a:r>
            <a:r>
              <a:rPr dirty="0" sz="2200" spc="3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3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3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vertices</a:t>
            </a:r>
            <a:r>
              <a:rPr dirty="0" sz="2200" spc="3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(all</a:t>
            </a:r>
            <a:r>
              <a:rPr dirty="0" sz="2200" spc="3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transactions</a:t>
            </a:r>
            <a:r>
              <a:rPr dirty="0" sz="2200" spc="3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 </a:t>
            </a:r>
            <a:r>
              <a:rPr dirty="0" sz="2200" spc="-10">
                <a:latin typeface="Calibri"/>
                <a:cs typeface="Calibri"/>
              </a:rPr>
              <a:t>system).</a:t>
            </a:r>
            <a:endParaRPr sz="2200">
              <a:latin typeface="Calibri"/>
              <a:cs typeface="Calibri"/>
            </a:endParaRPr>
          </a:p>
          <a:p>
            <a:pPr lvl="1" marL="698500" marR="5080" indent="-228600">
              <a:lnSpc>
                <a:spcPct val="80000"/>
              </a:lnSpc>
              <a:spcBef>
                <a:spcPts val="505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>
                <a:latin typeface="Calibri"/>
                <a:cs typeface="Calibri"/>
              </a:rPr>
              <a:t>E</a:t>
            </a:r>
            <a:r>
              <a:rPr dirty="0" sz="2200" spc="3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3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3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edges;</a:t>
            </a:r>
            <a:r>
              <a:rPr dirty="0" sz="2200" spc="3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each</a:t>
            </a:r>
            <a:r>
              <a:rPr dirty="0" sz="2200" spc="3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element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</a:t>
            </a:r>
            <a:r>
              <a:rPr dirty="0" sz="2200" spc="3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ordered </a:t>
            </a:r>
            <a:r>
              <a:rPr dirty="0" sz="2200">
                <a:latin typeface="Calibri"/>
                <a:cs typeface="Calibri"/>
              </a:rPr>
              <a:t>pair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 spc="-20">
                <a:latin typeface="Symbol"/>
                <a:cs typeface="Symbol"/>
              </a:rPr>
              <a:t></a:t>
            </a:r>
            <a:r>
              <a:rPr dirty="0" sz="2200" spc="-20">
                <a:latin typeface="Calibri"/>
                <a:cs typeface="Calibri"/>
              </a:rPr>
              <a:t>Tj.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669663" y="2607691"/>
            <a:ext cx="642112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0665" algn="l"/>
                <a:tab pos="1153795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50">
                <a:latin typeface="Symbol"/>
                <a:cs typeface="Symbol"/>
              </a:rPr>
              <a:t></a:t>
            </a:r>
            <a:r>
              <a:rPr dirty="0" sz="2200">
                <a:latin typeface="Times New Roman"/>
                <a:cs typeface="Times New Roman"/>
              </a:rPr>
              <a:t>	</a:t>
            </a:r>
            <a:r>
              <a:rPr dirty="0" sz="2200">
                <a:latin typeface="Calibri"/>
                <a:cs typeface="Calibri"/>
              </a:rPr>
              <a:t>Tj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E,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directed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edge</a:t>
            </a:r>
            <a:r>
              <a:rPr dirty="0" sz="2200" spc="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from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Ti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98263" y="2875914"/>
            <a:ext cx="61944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to Tj, implying that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waiting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Tj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release a </a:t>
            </a:r>
            <a:r>
              <a:rPr dirty="0" sz="2200" spc="-20">
                <a:latin typeface="Calibri"/>
                <a:cs typeface="Calibri"/>
              </a:rPr>
              <a:t>data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98263" y="3144138"/>
            <a:ext cx="61150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Calibri"/>
                <a:cs typeface="Calibri"/>
              </a:rPr>
              <a:t>item.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669663" y="3538854"/>
            <a:ext cx="6422390" cy="62865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241300" marR="5080" indent="-228600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requests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currently</a:t>
            </a:r>
            <a:r>
              <a:rPr dirty="0" sz="2200" spc="1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being</a:t>
            </a:r>
            <a:r>
              <a:rPr dirty="0" sz="2200" spc="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held</a:t>
            </a:r>
            <a:r>
              <a:rPr dirty="0" sz="2200" spc="10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 </a:t>
            </a:r>
            <a:r>
              <a:rPr dirty="0" sz="2200">
                <a:latin typeface="Calibri"/>
                <a:cs typeface="Calibri"/>
              </a:rPr>
              <a:t>Tj,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edge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Symbol"/>
                <a:cs typeface="Symbol"/>
              </a:rPr>
              <a:t></a:t>
            </a:r>
            <a:r>
              <a:rPr dirty="0" sz="2200" spc="265">
                <a:latin typeface="Times New Roman"/>
                <a:cs typeface="Times New Roman"/>
              </a:rPr>
              <a:t> </a:t>
            </a:r>
            <a:r>
              <a:rPr dirty="0" sz="2200">
                <a:latin typeface="Calibri"/>
                <a:cs typeface="Calibri"/>
              </a:rPr>
              <a:t>Tj</a:t>
            </a:r>
            <a:r>
              <a:rPr dirty="0" sz="2200" spc="3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inserted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0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wait-</a:t>
            </a:r>
            <a:r>
              <a:rPr dirty="0" sz="2200" spc="-25">
                <a:latin typeface="Calibri"/>
                <a:cs typeface="Calibri"/>
              </a:rPr>
              <a:t>for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98263" y="4074998"/>
            <a:ext cx="61950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graph.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edge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removed</a:t>
            </a:r>
            <a:r>
              <a:rPr dirty="0" sz="2200" spc="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when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Tj</a:t>
            </a:r>
            <a:r>
              <a:rPr dirty="0" sz="2200" spc="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no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longer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669663" y="4282211"/>
            <a:ext cx="6421120" cy="81788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580"/>
              </a:spcBef>
            </a:pPr>
            <a:r>
              <a:rPr dirty="0" sz="2200">
                <a:latin typeface="Calibri"/>
                <a:cs typeface="Calibri"/>
              </a:rPr>
              <a:t>holding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Ti.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3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system</a:t>
            </a:r>
            <a:r>
              <a:rPr dirty="0" sz="2200" spc="3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3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deadlock</a:t>
            </a:r>
            <a:r>
              <a:rPr dirty="0" sz="2200" spc="3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state</a:t>
            </a:r>
            <a:r>
              <a:rPr dirty="0" sz="2200" spc="3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4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only</a:t>
            </a:r>
            <a:r>
              <a:rPr dirty="0" sz="2200" spc="3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898263" y="5008245"/>
            <a:ext cx="6193790" cy="628650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2700" marR="5080">
              <a:lnSpc>
                <a:spcPts val="2110"/>
              </a:lnSpc>
              <a:spcBef>
                <a:spcPts val="605"/>
              </a:spcBef>
              <a:tabLst>
                <a:tab pos="3317875" algn="l"/>
              </a:tabLst>
            </a:pPr>
            <a:r>
              <a:rPr dirty="0" sz="2200" spc="-20">
                <a:latin typeface="Calibri"/>
                <a:cs typeface="Calibri"/>
              </a:rPr>
              <a:t>wait-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2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graph</a:t>
            </a:r>
            <a:r>
              <a:rPr dirty="0" sz="2200" spc="2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2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7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cycle.</a:t>
            </a:r>
            <a:r>
              <a:rPr dirty="0" sz="2200">
                <a:latin typeface="Calibri"/>
                <a:cs typeface="Calibri"/>
              </a:rPr>
              <a:t>	Must</a:t>
            </a:r>
            <a:r>
              <a:rPr dirty="0" sz="2200" spc="2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invoke</a:t>
            </a:r>
            <a:r>
              <a:rPr dirty="0" sz="2200" spc="229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deadlock- </a:t>
            </a:r>
            <a:r>
              <a:rPr dirty="0" sz="2200">
                <a:latin typeface="Calibri"/>
                <a:cs typeface="Calibri"/>
              </a:rPr>
              <a:t>detection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algorithm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periodically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look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cycles.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4872" y="2160270"/>
            <a:ext cx="2806700" cy="2330450"/>
          </a:xfrm>
          <a:prstGeom prst="rect"/>
        </p:spPr>
        <p:txBody>
          <a:bodyPr wrap="square" lIns="0" tIns="106045" rIns="0" bIns="0" rtlCol="0" vert="horz">
            <a:spAutoFit/>
          </a:bodyPr>
          <a:lstStyle/>
          <a:p>
            <a:pPr algn="just" marL="12700" marR="5080">
              <a:lnSpc>
                <a:spcPts val="5830"/>
              </a:lnSpc>
              <a:spcBef>
                <a:spcPts val="835"/>
              </a:spcBef>
            </a:pPr>
            <a:r>
              <a:rPr dirty="0" sz="5400" spc="-10"/>
              <a:t>Deadlock </a:t>
            </a:r>
            <a:r>
              <a:rPr dirty="0" sz="5400" spc="-20"/>
              <a:t>Detection </a:t>
            </a:r>
            <a:r>
              <a:rPr dirty="0" sz="5400" spc="-10"/>
              <a:t>Contd..</a:t>
            </a:r>
            <a:endParaRPr sz="5400"/>
          </a:p>
        </p:txBody>
      </p:sp>
      <p:sp>
        <p:nvSpPr>
          <p:cNvPr id="3" name="object 3" descr=""/>
          <p:cNvSpPr/>
          <p:nvPr/>
        </p:nvSpPr>
        <p:spPr>
          <a:xfrm>
            <a:off x="0" y="3048000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6" y="0"/>
                </a:moveTo>
                <a:lnTo>
                  <a:pt x="0" y="0"/>
                </a:lnTo>
                <a:lnTo>
                  <a:pt x="0" y="673607"/>
                </a:lnTo>
                <a:lnTo>
                  <a:pt x="196596" y="673607"/>
                </a:lnTo>
                <a:lnTo>
                  <a:pt x="196596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268224" y="3048000"/>
            <a:ext cx="195580" cy="673735"/>
          </a:xfrm>
          <a:custGeom>
            <a:avLst/>
            <a:gdLst/>
            <a:ahLst/>
            <a:cxnLst/>
            <a:rect l="l" t="t" r="r" b="b"/>
            <a:pathLst>
              <a:path w="195579" h="673735">
                <a:moveTo>
                  <a:pt x="195072" y="0"/>
                </a:moveTo>
                <a:lnTo>
                  <a:pt x="0" y="0"/>
                </a:lnTo>
                <a:lnTo>
                  <a:pt x="0" y="673607"/>
                </a:lnTo>
                <a:lnTo>
                  <a:pt x="195072" y="673607"/>
                </a:lnTo>
                <a:lnTo>
                  <a:pt x="195072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34923" y="3048000"/>
            <a:ext cx="196850" cy="673735"/>
          </a:xfrm>
          <a:custGeom>
            <a:avLst/>
            <a:gdLst/>
            <a:ahLst/>
            <a:cxnLst/>
            <a:rect l="l" t="t" r="r" b="b"/>
            <a:pathLst>
              <a:path w="196850" h="673735">
                <a:moveTo>
                  <a:pt x="196595" y="0"/>
                </a:moveTo>
                <a:lnTo>
                  <a:pt x="0" y="0"/>
                </a:lnTo>
                <a:lnTo>
                  <a:pt x="0" y="673607"/>
                </a:lnTo>
                <a:lnTo>
                  <a:pt x="196595" y="673607"/>
                </a:lnTo>
                <a:lnTo>
                  <a:pt x="196595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6716268" y="0"/>
            <a:ext cx="5476240" cy="6858000"/>
            <a:chOff x="6716268" y="0"/>
            <a:chExt cx="5476240" cy="6858000"/>
          </a:xfrm>
        </p:grpSpPr>
        <p:sp>
          <p:nvSpPr>
            <p:cNvPr id="7" name="object 7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6268" y="242315"/>
              <a:ext cx="5111496" cy="325374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858000" y="257556"/>
              <a:ext cx="4837430" cy="2979420"/>
            </a:xfrm>
            <a:custGeom>
              <a:avLst/>
              <a:gdLst/>
              <a:ahLst/>
              <a:cxnLst/>
              <a:rect l="l" t="t" r="r" b="b"/>
              <a:pathLst>
                <a:path w="4837430" h="2979420">
                  <a:moveTo>
                    <a:pt x="4837176" y="0"/>
                  </a:moveTo>
                  <a:lnTo>
                    <a:pt x="0" y="0"/>
                  </a:lnTo>
                  <a:lnTo>
                    <a:pt x="0" y="2979420"/>
                  </a:lnTo>
                  <a:lnTo>
                    <a:pt x="4837176" y="2979420"/>
                  </a:lnTo>
                  <a:lnTo>
                    <a:pt x="4837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45748" y="473542"/>
              <a:ext cx="3454081" cy="2528007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16268" y="3447262"/>
              <a:ext cx="5111496" cy="325374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6858000" y="3462528"/>
              <a:ext cx="4837430" cy="2979420"/>
            </a:xfrm>
            <a:custGeom>
              <a:avLst/>
              <a:gdLst/>
              <a:ahLst/>
              <a:cxnLst/>
              <a:rect l="l" t="t" r="r" b="b"/>
              <a:pathLst>
                <a:path w="4837430" h="2979420">
                  <a:moveTo>
                    <a:pt x="4837176" y="0"/>
                  </a:moveTo>
                  <a:lnTo>
                    <a:pt x="0" y="0"/>
                  </a:lnTo>
                  <a:lnTo>
                    <a:pt x="0" y="2979420"/>
                  </a:lnTo>
                  <a:lnTo>
                    <a:pt x="4837176" y="2979420"/>
                  </a:lnTo>
                  <a:lnTo>
                    <a:pt x="483717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35078" y="3668174"/>
              <a:ext cx="3473941" cy="2538331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7546847" y="2962655"/>
            <a:ext cx="3459479" cy="274320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wrap="square" lIns="0" tIns="34290" rIns="0" bIns="0" rtlCol="0" vert="horz">
            <a:spAutoFit/>
          </a:bodyPr>
          <a:lstStyle/>
          <a:p>
            <a:pPr marL="711835">
              <a:lnSpc>
                <a:spcPct val="100000"/>
              </a:lnSpc>
              <a:spcBef>
                <a:spcPts val="270"/>
              </a:spcBef>
            </a:pP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Wait-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graph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without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3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cycle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536180" y="6166103"/>
            <a:ext cx="3481070" cy="276225"/>
          </a:xfrm>
          <a:prstGeom prst="rect">
            <a:avLst/>
          </a:prstGeom>
          <a:solidFill>
            <a:srgbClr val="000000">
              <a:alpha val="50195"/>
            </a:srgbClr>
          </a:solidFill>
        </p:spPr>
        <p:txBody>
          <a:bodyPr wrap="square" lIns="0" tIns="36194" rIns="0" bIns="0" rtlCol="0" vert="horz">
            <a:spAutoFit/>
          </a:bodyPr>
          <a:lstStyle/>
          <a:p>
            <a:pPr marL="836930">
              <a:lnSpc>
                <a:spcPct val="100000"/>
              </a:lnSpc>
              <a:spcBef>
                <a:spcPts val="284"/>
              </a:spcBef>
            </a:pP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Wait-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for graph</a:t>
            </a:r>
            <a:r>
              <a:rPr dirty="0" sz="13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with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3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Calibri"/>
                <a:cs typeface="Calibri"/>
              </a:rPr>
              <a:t>cycle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Recovery</a:t>
            </a:r>
            <a:r>
              <a:rPr dirty="0" spc="-155"/>
              <a:t> </a:t>
            </a:r>
            <a:r>
              <a:rPr dirty="0"/>
              <a:t>from</a:t>
            </a:r>
            <a:r>
              <a:rPr dirty="0" spc="-170"/>
              <a:t> </a:t>
            </a:r>
            <a:r>
              <a:rPr dirty="0" spc="-10"/>
              <a:t>Deadlock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0960" rIns="0" bIns="0" rtlCol="0" vert="horz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When</a:t>
            </a:r>
            <a:r>
              <a:rPr dirty="0" spc="60"/>
              <a:t> </a:t>
            </a:r>
            <a:r>
              <a:rPr dirty="0"/>
              <a:t>deadlock</a:t>
            </a:r>
            <a:r>
              <a:rPr dirty="0" spc="65"/>
              <a:t> </a:t>
            </a:r>
            <a:r>
              <a:rPr dirty="0"/>
              <a:t>is</a:t>
            </a:r>
            <a:r>
              <a:rPr dirty="0" spc="60"/>
              <a:t> </a:t>
            </a:r>
            <a:r>
              <a:rPr dirty="0"/>
              <a:t>detected</a:t>
            </a:r>
            <a:r>
              <a:rPr dirty="0" spc="55"/>
              <a:t> </a:t>
            </a:r>
            <a:r>
              <a:rPr dirty="0"/>
              <a:t>in</a:t>
            </a:r>
            <a:r>
              <a:rPr dirty="0" spc="60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system,</a:t>
            </a:r>
            <a:r>
              <a:rPr dirty="0" spc="70"/>
              <a:t> </a:t>
            </a:r>
            <a:r>
              <a:rPr dirty="0"/>
              <a:t>then</a:t>
            </a:r>
            <a:r>
              <a:rPr dirty="0" spc="50"/>
              <a:t> </a:t>
            </a:r>
            <a:r>
              <a:rPr dirty="0"/>
              <a:t>the</a:t>
            </a:r>
            <a:r>
              <a:rPr dirty="0" spc="60"/>
              <a:t> </a:t>
            </a:r>
            <a:r>
              <a:rPr dirty="0"/>
              <a:t>system</a:t>
            </a:r>
            <a:r>
              <a:rPr dirty="0" spc="50"/>
              <a:t> </a:t>
            </a:r>
            <a:r>
              <a:rPr dirty="0"/>
              <a:t>should</a:t>
            </a:r>
            <a:r>
              <a:rPr dirty="0" spc="80"/>
              <a:t> </a:t>
            </a:r>
            <a:r>
              <a:rPr dirty="0" spc="-25"/>
              <a:t>be </a:t>
            </a:r>
            <a:r>
              <a:rPr dirty="0" spc="-25"/>
              <a:t>	</a:t>
            </a:r>
            <a:r>
              <a:rPr dirty="0" spc="-10"/>
              <a:t>recovered</a:t>
            </a:r>
            <a:r>
              <a:rPr dirty="0" spc="-114"/>
              <a:t> </a:t>
            </a:r>
            <a:r>
              <a:rPr dirty="0"/>
              <a:t>from</a:t>
            </a:r>
            <a:r>
              <a:rPr dirty="0" spc="-100"/>
              <a:t> </a:t>
            </a:r>
            <a:r>
              <a:rPr dirty="0"/>
              <a:t>deadlock</a:t>
            </a:r>
            <a:r>
              <a:rPr dirty="0" spc="-105"/>
              <a:t> </a:t>
            </a:r>
            <a:r>
              <a:rPr dirty="0"/>
              <a:t>using</a:t>
            </a:r>
            <a:r>
              <a:rPr dirty="0" spc="-95"/>
              <a:t> </a:t>
            </a:r>
            <a:r>
              <a:rPr dirty="0"/>
              <a:t>recovery</a:t>
            </a:r>
            <a:r>
              <a:rPr dirty="0" spc="-105"/>
              <a:t> </a:t>
            </a:r>
            <a:r>
              <a:rPr dirty="0" spc="-10"/>
              <a:t>schemes.</a:t>
            </a:r>
          </a:p>
          <a:p>
            <a:pPr marL="240029" marR="6350" indent="-22796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dirty="0" spc="-10"/>
              <a:t> </a:t>
            </a:r>
            <a:r>
              <a:rPr dirty="0"/>
              <a:t>most</a:t>
            </a:r>
            <a:r>
              <a:rPr dirty="0" spc="-5"/>
              <a:t> </a:t>
            </a:r>
            <a:r>
              <a:rPr dirty="0"/>
              <a:t>common</a:t>
            </a:r>
            <a:r>
              <a:rPr dirty="0" spc="-5"/>
              <a:t> </a:t>
            </a:r>
            <a:r>
              <a:rPr dirty="0"/>
              <a:t>solution</a:t>
            </a:r>
            <a:r>
              <a:rPr dirty="0" spc="-5"/>
              <a:t> </a:t>
            </a:r>
            <a:r>
              <a:rPr dirty="0"/>
              <a:t>is</a:t>
            </a:r>
            <a:r>
              <a:rPr dirty="0" spc="-10"/>
              <a:t> </a:t>
            </a:r>
            <a:r>
              <a:rPr dirty="0"/>
              <a:t>rollback one</a:t>
            </a:r>
            <a:r>
              <a:rPr dirty="0" spc="-15"/>
              <a:t> </a:t>
            </a:r>
            <a:r>
              <a:rPr dirty="0"/>
              <a:t>or</a:t>
            </a:r>
            <a:r>
              <a:rPr dirty="0" spc="-10"/>
              <a:t> </a:t>
            </a:r>
            <a:r>
              <a:rPr dirty="0"/>
              <a:t>more</a:t>
            </a:r>
            <a:r>
              <a:rPr dirty="0" spc="-10"/>
              <a:t> </a:t>
            </a:r>
            <a:r>
              <a:rPr dirty="0"/>
              <a:t>transaction</a:t>
            </a:r>
            <a:r>
              <a:rPr dirty="0" spc="10"/>
              <a:t> </a:t>
            </a:r>
            <a:r>
              <a:rPr dirty="0"/>
              <a:t>to</a:t>
            </a:r>
            <a:r>
              <a:rPr dirty="0" spc="-10"/>
              <a:t> break </a:t>
            </a:r>
            <a:r>
              <a:rPr dirty="0" spc="-10"/>
              <a:t>	</a:t>
            </a:r>
            <a:r>
              <a:rPr dirty="0"/>
              <a:t>the</a:t>
            </a:r>
            <a:r>
              <a:rPr dirty="0" spc="-35"/>
              <a:t> </a:t>
            </a:r>
            <a:r>
              <a:rPr dirty="0" spc="-10"/>
              <a:t>deadlock.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449705" y="2467432"/>
            <a:ext cx="3414395" cy="2074545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ctr" marL="12065" marR="5080" indent="1270">
              <a:lnSpc>
                <a:spcPct val="90000"/>
              </a:lnSpc>
              <a:spcBef>
                <a:spcPts val="675"/>
              </a:spcBef>
            </a:pPr>
            <a:r>
              <a:rPr dirty="0" sz="4800" b="1">
                <a:latin typeface="Calibri"/>
                <a:cs typeface="Calibri"/>
              </a:rPr>
              <a:t>Methods</a:t>
            </a:r>
            <a:r>
              <a:rPr dirty="0" sz="4800" spc="-50" b="1">
                <a:latin typeface="Calibri"/>
                <a:cs typeface="Calibri"/>
              </a:rPr>
              <a:t> </a:t>
            </a:r>
            <a:r>
              <a:rPr dirty="0" sz="4800" spc="-25" b="1">
                <a:latin typeface="Calibri"/>
                <a:cs typeface="Calibri"/>
              </a:rPr>
              <a:t>To </a:t>
            </a:r>
            <a:r>
              <a:rPr dirty="0" sz="4800" b="1">
                <a:latin typeface="Calibri"/>
                <a:cs typeface="Calibri"/>
              </a:rPr>
              <a:t>Recover</a:t>
            </a:r>
            <a:r>
              <a:rPr dirty="0" sz="4800" spc="-235" b="1">
                <a:latin typeface="Calibri"/>
                <a:cs typeface="Calibri"/>
              </a:rPr>
              <a:t> </a:t>
            </a:r>
            <a:r>
              <a:rPr dirty="0" sz="4800" spc="-20" b="1">
                <a:latin typeface="Calibri"/>
                <a:cs typeface="Calibri"/>
              </a:rPr>
              <a:t>from </a:t>
            </a:r>
            <a:r>
              <a:rPr dirty="0" sz="4800" spc="-10" b="1">
                <a:latin typeface="Calibri"/>
                <a:cs typeface="Calibri"/>
              </a:rPr>
              <a:t>Deadlock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6263385" y="2452497"/>
            <a:ext cx="433387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25" b="0">
                <a:latin typeface="Calibri"/>
                <a:cs typeface="Calibri"/>
              </a:rPr>
              <a:t>1.</a:t>
            </a:r>
            <a:r>
              <a:rPr dirty="0" sz="4000" spc="-340" b="0">
                <a:latin typeface="Calibri"/>
                <a:cs typeface="Calibri"/>
              </a:rPr>
              <a:t> </a:t>
            </a:r>
            <a:r>
              <a:rPr dirty="0" sz="4000" b="0">
                <a:latin typeface="Calibri"/>
                <a:cs typeface="Calibri"/>
              </a:rPr>
              <a:t>Selection</a:t>
            </a:r>
            <a:r>
              <a:rPr dirty="0" sz="4000" spc="-45" b="0">
                <a:latin typeface="Calibri"/>
                <a:cs typeface="Calibri"/>
              </a:rPr>
              <a:t> </a:t>
            </a:r>
            <a:r>
              <a:rPr dirty="0" sz="4000" b="0">
                <a:latin typeface="Calibri"/>
                <a:cs typeface="Calibri"/>
              </a:rPr>
              <a:t>of</a:t>
            </a:r>
            <a:r>
              <a:rPr dirty="0" sz="4000" spc="-25" b="0">
                <a:latin typeface="Calibri"/>
                <a:cs typeface="Calibri"/>
              </a:rPr>
              <a:t> </a:t>
            </a:r>
            <a:r>
              <a:rPr dirty="0" sz="4000" spc="-10" b="0">
                <a:latin typeface="Calibri"/>
                <a:cs typeface="Calibri"/>
              </a:rPr>
              <a:t>Victim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263385" y="3062630"/>
            <a:ext cx="2585720" cy="137668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468630" indent="-455930">
              <a:lnSpc>
                <a:spcPct val="100000"/>
              </a:lnSpc>
              <a:spcBef>
                <a:spcPts val="620"/>
              </a:spcBef>
              <a:buAutoNum type="arabicPeriod" startAt="2"/>
              <a:tabLst>
                <a:tab pos="468630" algn="l"/>
              </a:tabLst>
            </a:pPr>
            <a:r>
              <a:rPr dirty="0" sz="4000" spc="-10">
                <a:latin typeface="Calibri"/>
                <a:cs typeface="Calibri"/>
              </a:rPr>
              <a:t>Rollback</a:t>
            </a:r>
            <a:endParaRPr sz="4000">
              <a:latin typeface="Calibri"/>
              <a:cs typeface="Calibri"/>
            </a:endParaRPr>
          </a:p>
          <a:p>
            <a:pPr marL="468630" indent="-455930">
              <a:lnSpc>
                <a:spcPct val="100000"/>
              </a:lnSpc>
              <a:spcBef>
                <a:spcPts val="515"/>
              </a:spcBef>
              <a:buAutoNum type="arabicPeriod" startAt="2"/>
              <a:tabLst>
                <a:tab pos="468630" algn="l"/>
              </a:tabLst>
            </a:pPr>
            <a:r>
              <a:rPr dirty="0" sz="4000" spc="-10">
                <a:latin typeface="Calibri"/>
                <a:cs typeface="Calibri"/>
              </a:rPr>
              <a:t>Starvation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557908" y="2734132"/>
            <a:ext cx="3201670" cy="15316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364490" marR="5080" indent="-352425">
              <a:lnSpc>
                <a:spcPts val="5620"/>
              </a:lnSpc>
              <a:spcBef>
                <a:spcPts val="800"/>
              </a:spcBef>
            </a:pPr>
            <a:r>
              <a:rPr dirty="0" sz="5200" b="1">
                <a:latin typeface="Calibri"/>
                <a:cs typeface="Calibri"/>
              </a:rPr>
              <a:t>1.</a:t>
            </a:r>
            <a:r>
              <a:rPr dirty="0" sz="5200" spc="-5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Selection </a:t>
            </a:r>
            <a:r>
              <a:rPr dirty="0" sz="5200" b="1">
                <a:latin typeface="Calibri"/>
                <a:cs typeface="Calibri"/>
              </a:rPr>
              <a:t>of</a:t>
            </a:r>
            <a:r>
              <a:rPr dirty="0" sz="5200" spc="-4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Victim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25030" y="713612"/>
            <a:ext cx="3393440" cy="6623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2700" marR="5080" indent="31750">
              <a:lnSpc>
                <a:spcPts val="2380"/>
              </a:lnSpc>
              <a:spcBef>
                <a:spcPts val="390"/>
              </a:spcBef>
              <a:tabLst>
                <a:tab pos="437515" algn="l"/>
                <a:tab pos="577850" algn="l"/>
                <a:tab pos="1724025" algn="l"/>
                <a:tab pos="2161540" algn="l"/>
                <a:tab pos="2480310" algn="l"/>
                <a:tab pos="3001010" algn="l"/>
                <a:tab pos="3133725" algn="l"/>
              </a:tabLst>
            </a:pPr>
            <a:r>
              <a:rPr dirty="0" sz="2200" spc="-25">
                <a:latin typeface="Calibri"/>
                <a:cs typeface="Calibri"/>
              </a:rPr>
              <a:t>is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detected,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4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	</a:t>
            </a:r>
            <a:r>
              <a:rPr dirty="0" sz="2200" spc="-25">
                <a:latin typeface="Calibri"/>
                <a:cs typeface="Calibri"/>
              </a:rPr>
              <a:t>one</a:t>
            </a:r>
            <a:r>
              <a:rPr dirty="0" sz="2200">
                <a:latin typeface="Calibri"/>
                <a:cs typeface="Calibri"/>
              </a:rPr>
              <a:t>		</a:t>
            </a:r>
            <a:r>
              <a:rPr dirty="0" sz="2200" spc="-25">
                <a:latin typeface="Calibri"/>
                <a:cs typeface="Calibri"/>
              </a:rPr>
              <a:t>or are</a:t>
            </a:r>
            <a:r>
              <a:rPr dirty="0" sz="2200">
                <a:latin typeface="Calibri"/>
                <a:cs typeface="Calibri"/>
              </a:rPr>
              <a:t>		</a:t>
            </a:r>
            <a:r>
              <a:rPr dirty="0" sz="2200" spc="-10">
                <a:latin typeface="Calibri"/>
                <a:cs typeface="Calibri"/>
              </a:rPr>
              <a:t>selected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to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break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412740" y="713612"/>
            <a:ext cx="1651635" cy="96393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If</a:t>
            </a:r>
            <a:r>
              <a:rPr dirty="0" sz="2200" spc="355">
                <a:latin typeface="Calibri"/>
                <a:cs typeface="Calibri"/>
              </a:rPr>
              <a:t>  </a:t>
            </a:r>
            <a:r>
              <a:rPr dirty="0" sz="2200" spc="-10">
                <a:latin typeface="Calibri"/>
                <a:cs typeface="Calibri"/>
              </a:rPr>
              <a:t>deadlock transactions deadlock.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12740" y="1745361"/>
            <a:ext cx="5205095" cy="109093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 spc="-10">
                <a:latin typeface="Calibri"/>
                <a:cs typeface="Calibri"/>
              </a:rPr>
              <a:t>Transactions</a:t>
            </a:r>
            <a:r>
              <a:rPr dirty="0" sz="2200" spc="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with</a:t>
            </a:r>
            <a:r>
              <a:rPr dirty="0" sz="2200" spc="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minimum</a:t>
            </a:r>
            <a:r>
              <a:rPr dirty="0" sz="2200" spc="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cost</a:t>
            </a:r>
            <a:r>
              <a:rPr dirty="0" sz="2200" spc="1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should</a:t>
            </a:r>
            <a:r>
              <a:rPr dirty="0" sz="2200" spc="114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be </a:t>
            </a:r>
            <a:r>
              <a:rPr dirty="0" sz="2200">
                <a:latin typeface="Calibri"/>
                <a:cs typeface="Calibri"/>
              </a:rPr>
              <a:t>selected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-9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rollbacks.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Cost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detected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by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following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factors.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869940" y="2841498"/>
            <a:ext cx="4749800" cy="132969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algn="just"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For</a:t>
            </a:r>
            <a:r>
              <a:rPr dirty="0" sz="2200" spc="114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120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much</a:t>
            </a:r>
            <a:r>
              <a:rPr dirty="0" sz="2200" spc="114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125">
                <a:latin typeface="Calibri"/>
                <a:cs typeface="Calibri"/>
              </a:rPr>
              <a:t> 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120">
                <a:latin typeface="Calibri"/>
                <a:cs typeface="Calibri"/>
              </a:rPr>
              <a:t>  </a:t>
            </a:r>
            <a:r>
              <a:rPr dirty="0" sz="2200" spc="-25">
                <a:latin typeface="Calibri"/>
                <a:cs typeface="Calibri"/>
              </a:rPr>
              <a:t>has </a:t>
            </a:r>
            <a:r>
              <a:rPr dirty="0" sz="2200">
                <a:latin typeface="Calibri"/>
                <a:cs typeface="Calibri"/>
              </a:rPr>
              <a:t>computed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much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1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needs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do.</a:t>
            </a:r>
            <a:endParaRPr sz="2200">
              <a:latin typeface="Calibri"/>
              <a:cs typeface="Calibri"/>
            </a:endParaRPr>
          </a:p>
          <a:p>
            <a:pPr algn="just" marL="240665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How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many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locked?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69940" y="4175252"/>
            <a:ext cx="4747260" cy="102806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80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  <a:tab pos="931544" algn="l"/>
                <a:tab pos="1725295" algn="l"/>
                <a:tab pos="2394585" algn="l"/>
                <a:tab pos="3188335" algn="l"/>
                <a:tab pos="3516629" algn="l"/>
                <a:tab pos="4163060" algn="l"/>
              </a:tabLst>
            </a:pPr>
            <a:r>
              <a:rPr dirty="0" sz="2200" spc="-25">
                <a:latin typeface="Calibri"/>
                <a:cs typeface="Calibri"/>
              </a:rPr>
              <a:t>How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many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data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items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it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may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need </a:t>
            </a:r>
            <a:r>
              <a:rPr dirty="0" sz="2200" spc="-10">
                <a:latin typeface="Calibri"/>
                <a:cs typeface="Calibri"/>
              </a:rPr>
              <a:t>ahead?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Number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rollback?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306830" y="2864357"/>
            <a:ext cx="2995930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b="1">
                <a:latin typeface="Calibri"/>
                <a:cs typeface="Calibri"/>
              </a:rPr>
              <a:t>2.</a:t>
            </a:r>
            <a:r>
              <a:rPr dirty="0" sz="5200" spc="-5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Rollback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146419" y="749299"/>
            <a:ext cx="4885690" cy="199580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98425" indent="-228600">
              <a:lnSpc>
                <a:spcPts val="238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Once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victims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decided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there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are </a:t>
            </a:r>
            <a:r>
              <a:rPr dirty="0" sz="2200">
                <a:latin typeface="Calibri"/>
                <a:cs typeface="Calibri"/>
              </a:rPr>
              <a:t>two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ways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do</a:t>
            </a:r>
            <a:endParaRPr sz="2200">
              <a:latin typeface="Calibri"/>
              <a:cs typeface="Calibri"/>
            </a:endParaRPr>
          </a:p>
          <a:p>
            <a:pPr lvl="1" marL="698500" marR="309245" indent="-228600">
              <a:lnSpc>
                <a:spcPts val="2380"/>
              </a:lnSpc>
              <a:spcBef>
                <a:spcPts val="484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 spc="-35" b="1">
                <a:latin typeface="Calibri"/>
                <a:cs typeface="Calibri"/>
              </a:rPr>
              <a:t>Total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Rollback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is </a:t>
            </a:r>
            <a:r>
              <a:rPr dirty="0" sz="2200">
                <a:latin typeface="Calibri"/>
                <a:cs typeface="Calibri"/>
              </a:rPr>
              <a:t>aborted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then</a:t>
            </a:r>
            <a:r>
              <a:rPr dirty="0" sz="2200" spc="-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restarted.</a:t>
            </a:r>
            <a:endParaRPr sz="2200">
              <a:latin typeface="Calibri"/>
              <a:cs typeface="Calibri"/>
            </a:endParaRPr>
          </a:p>
          <a:p>
            <a:pPr lvl="1" marL="698500" indent="-228600">
              <a:lnSpc>
                <a:spcPts val="2510"/>
              </a:lnSpc>
              <a:spcBef>
                <a:spcPts val="200"/>
              </a:spcBef>
              <a:buFont typeface="Arial MT"/>
              <a:buChar char="•"/>
              <a:tabLst>
                <a:tab pos="698500" algn="l"/>
              </a:tabLst>
            </a:pPr>
            <a:r>
              <a:rPr dirty="0" sz="2200" b="1">
                <a:latin typeface="Calibri"/>
                <a:cs typeface="Calibri"/>
              </a:rPr>
              <a:t>Partial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Rollback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–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Rollback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only</a:t>
            </a:r>
            <a:endParaRPr sz="2200">
              <a:latin typeface="Calibri"/>
              <a:cs typeface="Calibri"/>
            </a:endParaRPr>
          </a:p>
          <a:p>
            <a:pPr marL="6985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needed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break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32472" y="2686938"/>
            <a:ext cx="155956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deadlock.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146419" y="3052698"/>
            <a:ext cx="4838065" cy="1567815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200">
                <a:latin typeface="Calibri"/>
                <a:cs typeface="Calibri"/>
              </a:rPr>
              <a:t>But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this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approach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needs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record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some </a:t>
            </a:r>
            <a:r>
              <a:rPr dirty="0" sz="2200">
                <a:latin typeface="Calibri"/>
                <a:cs typeface="Calibri"/>
              </a:rPr>
              <a:t>more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information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like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state</a:t>
            </a:r>
            <a:r>
              <a:rPr dirty="0" sz="2200" spc="-6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running </a:t>
            </a:r>
            <a:r>
              <a:rPr dirty="0" sz="2200">
                <a:latin typeface="Calibri"/>
                <a:cs typeface="Calibri"/>
              </a:rPr>
              <a:t>transactions,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locks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data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item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held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by </a:t>
            </a:r>
            <a:r>
              <a:rPr dirty="0" sz="2200">
                <a:latin typeface="Calibri"/>
                <a:cs typeface="Calibri"/>
              </a:rPr>
              <a:t>them,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deadlock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detection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algorithm </a:t>
            </a:r>
            <a:r>
              <a:rPr dirty="0" sz="2200">
                <a:latin typeface="Calibri"/>
                <a:cs typeface="Calibri"/>
              </a:rPr>
              <a:t>specifies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points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up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which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transactions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146419" y="4561713"/>
            <a:ext cx="4626610" cy="1328420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241300" marR="5080">
              <a:lnSpc>
                <a:spcPts val="2380"/>
              </a:lnSpc>
              <a:spcBef>
                <a:spcPts val="390"/>
              </a:spcBef>
            </a:pP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roll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backed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recovery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method </a:t>
            </a:r>
            <a:r>
              <a:rPr dirty="0" sz="2200">
                <a:latin typeface="Calibri"/>
                <a:cs typeface="Calibri"/>
              </a:rPr>
              <a:t>has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rollback.</a:t>
            </a:r>
            <a:endParaRPr sz="2200">
              <a:latin typeface="Calibri"/>
              <a:cs typeface="Calibri"/>
            </a:endParaRPr>
          </a:p>
          <a:p>
            <a:pPr marL="240665" indent="-227965">
              <a:lnSpc>
                <a:spcPts val="2510"/>
              </a:lnSpc>
              <a:spcBef>
                <a:spcPts val="1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2200">
                <a:latin typeface="Calibri"/>
                <a:cs typeface="Calibri"/>
              </a:rPr>
              <a:t>After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some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time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transaction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resumes;</a:t>
            </a:r>
            <a:endParaRPr sz="2200">
              <a:latin typeface="Calibri"/>
              <a:cs typeface="Calibri"/>
            </a:endParaRPr>
          </a:p>
          <a:p>
            <a:pPr marL="241300">
              <a:lnSpc>
                <a:spcPts val="2510"/>
              </a:lnSpc>
            </a:pPr>
            <a:r>
              <a:rPr dirty="0" sz="2200">
                <a:latin typeface="Calibri"/>
                <a:cs typeface="Calibri"/>
              </a:rPr>
              <a:t>partial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transaction.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32408" y="3091433"/>
            <a:ext cx="3512185" cy="817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200" b="1">
                <a:latin typeface="Calibri"/>
                <a:cs typeface="Calibri"/>
              </a:rPr>
              <a:t>3.</a:t>
            </a:r>
            <a:r>
              <a:rPr dirty="0" sz="5200" spc="-5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Starvation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03238" y="1862709"/>
            <a:ext cx="4358640" cy="720725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240029" marR="5080" indent="-227329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25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may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happen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every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time</a:t>
            </a:r>
            <a:r>
              <a:rPr dirty="0" sz="2400" spc="270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same </a:t>
            </a:r>
            <a:r>
              <a:rPr dirty="0" sz="2400" spc="-20">
                <a:latin typeface="Calibri"/>
                <a:cs typeface="Calibri"/>
              </a:rPr>
              <a:t>	</a:t>
            </a:r>
            <a:r>
              <a:rPr dirty="0" sz="2400">
                <a:latin typeface="Calibri"/>
                <a:cs typeface="Calibri"/>
              </a:rPr>
              <a:t>transaction</a:t>
            </a:r>
            <a:r>
              <a:rPr dirty="0" sz="2400" spc="3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is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selected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32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victim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831838" y="2520772"/>
            <a:ext cx="4129404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7060" algn="l"/>
                <a:tab pos="1186180" algn="l"/>
                <a:tab pos="1835150" algn="l"/>
                <a:tab pos="2492375" algn="l"/>
              </a:tabLst>
            </a:pPr>
            <a:r>
              <a:rPr dirty="0" sz="2400" spc="-25" b="0">
                <a:latin typeface="Calibri"/>
                <a:cs typeface="Calibri"/>
              </a:rPr>
              <a:t>and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0" b="0">
                <a:latin typeface="Calibri"/>
                <a:cs typeface="Calibri"/>
              </a:rPr>
              <a:t>this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5" b="0">
                <a:latin typeface="Calibri"/>
                <a:cs typeface="Calibri"/>
              </a:rPr>
              <a:t>may</a:t>
            </a:r>
            <a:r>
              <a:rPr dirty="0" sz="2400" b="0">
                <a:latin typeface="Calibri"/>
                <a:cs typeface="Calibri"/>
              </a:rPr>
              <a:t>	</a:t>
            </a:r>
            <a:r>
              <a:rPr dirty="0" sz="2400" spc="-20" b="0">
                <a:latin typeface="Calibri"/>
                <a:cs typeface="Calibri"/>
              </a:rPr>
              <a:t>lead</a:t>
            </a:r>
            <a:r>
              <a:rPr dirty="0" sz="2400" b="0">
                <a:latin typeface="Calibri"/>
                <a:cs typeface="Calibri"/>
              </a:rPr>
              <a:t>	to</a:t>
            </a:r>
            <a:r>
              <a:rPr dirty="0" sz="2400" spc="400" b="0">
                <a:latin typeface="Calibri"/>
                <a:cs typeface="Calibri"/>
              </a:rPr>
              <a:t> </a:t>
            </a:r>
            <a:r>
              <a:rPr dirty="0" sz="2400" spc="-10" b="0">
                <a:latin typeface="Calibri"/>
                <a:cs typeface="Calibri"/>
              </a:rPr>
              <a:t>starvation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31838" y="2850641"/>
            <a:ext cx="23964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that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transaction.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603238" y="3243834"/>
            <a:ext cx="43592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029" algn="l"/>
                <a:tab pos="1330960" algn="l"/>
                <a:tab pos="2368550" algn="l"/>
                <a:tab pos="3103880" algn="l"/>
                <a:tab pos="3837940" algn="l"/>
              </a:tabLst>
            </a:pPr>
            <a:r>
              <a:rPr dirty="0" sz="2400" spc="-10">
                <a:latin typeface="Calibri"/>
                <a:cs typeface="Calibri"/>
              </a:rPr>
              <a:t>System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should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take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care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831838" y="3573017"/>
            <a:ext cx="412940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025" algn="l"/>
                <a:tab pos="1794510" algn="l"/>
                <a:tab pos="2720975" algn="l"/>
              </a:tabLst>
            </a:pPr>
            <a:r>
              <a:rPr dirty="0" sz="2400" spc="-10">
                <a:latin typeface="Calibri"/>
                <a:cs typeface="Calibri"/>
              </a:rPr>
              <a:t>every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time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20">
                <a:latin typeface="Calibri"/>
                <a:cs typeface="Calibri"/>
              </a:rPr>
              <a:t>same</a:t>
            </a:r>
            <a:r>
              <a:rPr dirty="0" sz="2400">
                <a:latin typeface="Calibri"/>
                <a:cs typeface="Calibri"/>
              </a:rPr>
              <a:t>	</a:t>
            </a:r>
            <a:r>
              <a:rPr dirty="0" sz="2400" spc="-10">
                <a:latin typeface="Calibri"/>
                <a:cs typeface="Calibri"/>
              </a:rPr>
              <a:t>transaction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31838" y="3901897"/>
            <a:ext cx="4131310" cy="721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735"/>
              </a:lnSpc>
              <a:spcBef>
                <a:spcPts val="100"/>
              </a:spcBef>
            </a:pPr>
            <a:r>
              <a:rPr dirty="0" sz="2400">
                <a:latin typeface="Calibri"/>
                <a:cs typeface="Calibri"/>
              </a:rPr>
              <a:t>should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selected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as</a:t>
            </a:r>
            <a:r>
              <a:rPr dirty="0" sz="2400" spc="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victim.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735"/>
              </a:lnSpc>
            </a:pPr>
            <a:r>
              <a:rPr dirty="0" sz="2400">
                <a:latin typeface="Calibri"/>
                <a:cs typeface="Calibri"/>
              </a:rPr>
              <a:t>So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it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will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not</a:t>
            </a:r>
            <a:r>
              <a:rPr dirty="0" sz="2400" spc="-1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be</a:t>
            </a:r>
            <a:r>
              <a:rPr dirty="0" sz="2400" spc="-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starved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632841" y="614552"/>
            <a:ext cx="11236325" cy="5922010"/>
            <a:chOff x="632841" y="614552"/>
            <a:chExt cx="11236325" cy="5922010"/>
          </a:xfrm>
        </p:grpSpPr>
        <p:sp>
          <p:nvSpPr>
            <p:cNvPr id="3" name="object 3" descr=""/>
            <p:cNvSpPr/>
            <p:nvPr/>
          </p:nvSpPr>
          <p:spPr>
            <a:xfrm>
              <a:off x="8577072" y="3336035"/>
              <a:ext cx="3291840" cy="3200400"/>
            </a:xfrm>
            <a:custGeom>
              <a:avLst/>
              <a:gdLst/>
              <a:ahLst/>
              <a:cxnLst/>
              <a:rect l="l" t="t" r="r" b="b"/>
              <a:pathLst>
                <a:path w="3291840" h="3200400">
                  <a:moveTo>
                    <a:pt x="3291839" y="0"/>
                  </a:moveTo>
                  <a:lnTo>
                    <a:pt x="0" y="3200400"/>
                  </a:lnTo>
                  <a:lnTo>
                    <a:pt x="3291839" y="3200400"/>
                  </a:lnTo>
                  <a:lnTo>
                    <a:pt x="3291839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642366" y="624077"/>
              <a:ext cx="10906125" cy="5608320"/>
            </a:xfrm>
            <a:custGeom>
              <a:avLst/>
              <a:gdLst/>
              <a:ahLst/>
              <a:cxnLst/>
              <a:rect l="l" t="t" r="r" b="b"/>
              <a:pathLst>
                <a:path w="10906125" h="5608320">
                  <a:moveTo>
                    <a:pt x="0" y="5608320"/>
                  </a:moveTo>
                  <a:lnTo>
                    <a:pt x="10905744" y="5608320"/>
                  </a:lnTo>
                  <a:lnTo>
                    <a:pt x="10905744" y="0"/>
                  </a:lnTo>
                  <a:lnTo>
                    <a:pt x="0" y="0"/>
                  </a:lnTo>
                  <a:lnTo>
                    <a:pt x="0" y="5608320"/>
                  </a:lnTo>
                  <a:close/>
                </a:path>
              </a:pathLst>
            </a:custGeom>
            <a:ln w="19050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3068" y="2316607"/>
            <a:ext cx="3375660" cy="2073910"/>
          </a:xfrm>
          <a:prstGeom prst="rect"/>
        </p:spPr>
        <p:txBody>
          <a:bodyPr wrap="square" lIns="0" tIns="85725" rIns="0" bIns="0" rtlCol="0" vert="horz">
            <a:spAutoFit/>
          </a:bodyPr>
          <a:lstStyle/>
          <a:p>
            <a:pPr algn="ctr" marL="12700" marR="5080" indent="-3810">
              <a:lnSpc>
                <a:spcPct val="90000"/>
              </a:lnSpc>
              <a:spcBef>
                <a:spcPts val="675"/>
              </a:spcBef>
            </a:pPr>
            <a:r>
              <a:rPr dirty="0" spc="-10"/>
              <a:t>Database recovery </a:t>
            </a:r>
            <a:r>
              <a:rPr dirty="0" spc="-20"/>
              <a:t>management</a:t>
            </a:r>
          </a:p>
        </p:txBody>
      </p:sp>
      <p:sp>
        <p:nvSpPr>
          <p:cNvPr id="6" name="object 6" descr=""/>
          <p:cNvSpPr/>
          <p:nvPr/>
        </p:nvSpPr>
        <p:spPr>
          <a:xfrm>
            <a:off x="4655058" y="1853945"/>
            <a:ext cx="0" cy="3236595"/>
          </a:xfrm>
          <a:custGeom>
            <a:avLst/>
            <a:gdLst/>
            <a:ahLst/>
            <a:cxnLst/>
            <a:rect l="l" t="t" r="r" b="b"/>
            <a:pathLst>
              <a:path w="0" h="3236595">
                <a:moveTo>
                  <a:pt x="0" y="0"/>
                </a:moveTo>
                <a:lnTo>
                  <a:pt x="0" y="3236467"/>
                </a:lnTo>
              </a:path>
            </a:pathLst>
          </a:custGeom>
          <a:ln w="19050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5334761" y="2704337"/>
            <a:ext cx="4187190" cy="126619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469265" algn="l"/>
              </a:tabLst>
            </a:pPr>
            <a:r>
              <a:rPr dirty="0" sz="3600" spc="-25">
                <a:latin typeface="Calibri"/>
                <a:cs typeface="Calibri"/>
              </a:rPr>
              <a:t>Log-</a:t>
            </a:r>
            <a:r>
              <a:rPr dirty="0" sz="3600">
                <a:latin typeface="Calibri"/>
                <a:cs typeface="Calibri"/>
              </a:rPr>
              <a:t>Based</a:t>
            </a:r>
            <a:r>
              <a:rPr dirty="0" sz="3600" spc="-55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Recovery</a:t>
            </a:r>
            <a:endParaRPr sz="36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69265" algn="l"/>
              </a:tabLst>
            </a:pPr>
            <a:r>
              <a:rPr dirty="0" sz="3600">
                <a:latin typeface="Calibri"/>
                <a:cs typeface="Calibri"/>
              </a:rPr>
              <a:t>Shadow</a:t>
            </a:r>
            <a:r>
              <a:rPr dirty="0" sz="3600" spc="-40">
                <a:latin typeface="Calibri"/>
                <a:cs typeface="Calibri"/>
              </a:rPr>
              <a:t> </a:t>
            </a:r>
            <a:r>
              <a:rPr dirty="0" sz="3600" spc="-10">
                <a:latin typeface="Calibri"/>
                <a:cs typeface="Calibri"/>
              </a:rPr>
              <a:t>Paging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11376" y="2661869"/>
            <a:ext cx="3413125" cy="15316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518159" marR="5080" indent="-506095">
              <a:lnSpc>
                <a:spcPts val="5620"/>
              </a:lnSpc>
              <a:spcBef>
                <a:spcPts val="800"/>
              </a:spcBef>
            </a:pPr>
            <a:r>
              <a:rPr dirty="0" sz="5200" b="1">
                <a:latin typeface="Calibri"/>
                <a:cs typeface="Calibri"/>
              </a:rPr>
              <a:t>1.</a:t>
            </a:r>
            <a:r>
              <a:rPr dirty="0" sz="5200" spc="-70" b="1">
                <a:latin typeface="Calibri"/>
                <a:cs typeface="Calibri"/>
              </a:rPr>
              <a:t> </a:t>
            </a:r>
            <a:r>
              <a:rPr dirty="0" sz="5200" b="1">
                <a:latin typeface="Calibri"/>
                <a:cs typeface="Calibri"/>
              </a:rPr>
              <a:t>Log</a:t>
            </a:r>
            <a:r>
              <a:rPr dirty="0" sz="5200" spc="-70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based recovery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101844" y="84201"/>
            <a:ext cx="6165850" cy="739140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just" marL="241300" marR="5080" indent="-229235">
              <a:lnSpc>
                <a:spcPct val="80000"/>
              </a:lnSpc>
              <a:spcBef>
                <a:spcPts val="53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Log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sequence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records,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2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maintains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records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actions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performed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transaction.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important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logs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written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prior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actual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modification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101844" y="671322"/>
            <a:ext cx="6164580" cy="1410970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660"/>
              </a:spcBef>
            </a:pPr>
            <a:r>
              <a:rPr dirty="0" sz="1800">
                <a:latin typeface="Calibri"/>
                <a:cs typeface="Calibri"/>
              </a:rPr>
              <a:t>stable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media,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failsafe.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spc="-10">
                <a:latin typeface="Calibri"/>
                <a:cs typeface="Calibri"/>
              </a:rPr>
              <a:t>Log-</a:t>
            </a:r>
            <a:r>
              <a:rPr dirty="0" sz="1800">
                <a:latin typeface="Calibri"/>
                <a:cs typeface="Calibri"/>
              </a:rPr>
              <a:t>based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recovery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works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follows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−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kept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stable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storage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media.</a:t>
            </a:r>
            <a:endParaRPr sz="1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enters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starts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execution,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089144" y="1929891"/>
            <a:ext cx="6191885" cy="71818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254000">
              <a:lnSpc>
                <a:spcPct val="100000"/>
              </a:lnSpc>
              <a:spcBef>
                <a:spcPts val="665"/>
              </a:spcBef>
            </a:pPr>
            <a:r>
              <a:rPr dirty="0" sz="1800">
                <a:latin typeface="Calibri"/>
                <a:cs typeface="Calibri"/>
              </a:rPr>
              <a:t>writes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about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&lt;T</a:t>
            </a:r>
            <a:r>
              <a:rPr dirty="0" baseline="-20833" sz="1800" spc="-30">
                <a:latin typeface="Calibri"/>
                <a:cs typeface="Calibri"/>
              </a:rPr>
              <a:t>n</a:t>
            </a:r>
            <a:r>
              <a:rPr dirty="0" sz="1800" spc="-20">
                <a:latin typeface="Calibri"/>
                <a:cs typeface="Calibri"/>
              </a:rPr>
              <a:t>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Start&gt;</a:t>
            </a:r>
            <a:endParaRPr sz="1800">
              <a:latin typeface="Calibri"/>
              <a:cs typeface="Calibri"/>
            </a:endParaRPr>
          </a:p>
          <a:p>
            <a:pPr marL="254000" indent="-2286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54000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48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modifies</a:t>
            </a:r>
            <a:r>
              <a:rPr dirty="0" sz="1800" spc="4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48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item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X,</a:t>
            </a:r>
            <a:r>
              <a:rPr dirty="0" sz="1800" spc="4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4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write</a:t>
            </a:r>
            <a:r>
              <a:rPr dirty="0" sz="1800" spc="4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logs</a:t>
            </a:r>
            <a:r>
              <a:rPr dirty="0" sz="1800" spc="49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as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30697" y="2567432"/>
            <a:ext cx="8528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follows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−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076444" y="2914903"/>
            <a:ext cx="62153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&lt;T</a:t>
            </a:r>
            <a:r>
              <a:rPr dirty="0" baseline="-20833" sz="1800">
                <a:latin typeface="Calibri"/>
                <a:cs typeface="Calibri"/>
              </a:rPr>
              <a:t>n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X,</a:t>
            </a:r>
            <a:r>
              <a:rPr dirty="0" sz="1800" spc="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</a:t>
            </a:r>
            <a:r>
              <a:rPr dirty="0" baseline="-20833" sz="1800">
                <a:latin typeface="Calibri"/>
                <a:cs typeface="Calibri"/>
              </a:rPr>
              <a:t>1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</a:t>
            </a:r>
            <a:r>
              <a:rPr dirty="0" baseline="-20833" sz="1800">
                <a:latin typeface="Calibri"/>
                <a:cs typeface="Calibri"/>
              </a:rPr>
              <a:t>2</a:t>
            </a:r>
            <a:r>
              <a:rPr dirty="0" sz="1800">
                <a:latin typeface="Calibri"/>
                <a:cs typeface="Calibri"/>
              </a:rPr>
              <a:t>&gt;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reads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</a:t>
            </a:r>
            <a:r>
              <a:rPr dirty="0" baseline="-20833" sz="1800">
                <a:latin typeface="Calibri"/>
                <a:cs typeface="Calibri"/>
              </a:rPr>
              <a:t>n</a:t>
            </a:r>
            <a:r>
              <a:rPr dirty="0" baseline="-20833" sz="1800" spc="382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1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changed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value</a:t>
            </a:r>
            <a:r>
              <a:rPr dirty="0" sz="1800" spc="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X,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1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</a:t>
            </a:r>
            <a:r>
              <a:rPr dirty="0" baseline="-20833" sz="1800">
                <a:latin typeface="Calibri"/>
                <a:cs typeface="Calibri"/>
              </a:rPr>
              <a:t>1</a:t>
            </a:r>
            <a:r>
              <a:rPr dirty="0" baseline="-20833" sz="1800" spc="382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076444" y="3062731"/>
            <a:ext cx="5120005" cy="141097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dirty="0" sz="1800" spc="-25">
                <a:latin typeface="Calibri"/>
                <a:cs typeface="Calibri"/>
              </a:rPr>
              <a:t>V</a:t>
            </a:r>
            <a:r>
              <a:rPr dirty="0" baseline="-20833" sz="1800" spc="-37">
                <a:latin typeface="Calibri"/>
                <a:cs typeface="Calibri"/>
              </a:rPr>
              <a:t>2</a:t>
            </a:r>
            <a:r>
              <a:rPr dirty="0" sz="1800" spc="-25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66700" indent="-228600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66700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0">
                <a:latin typeface="Calibri"/>
                <a:cs typeface="Calibri"/>
              </a:rPr>
              <a:t> transaction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finishes,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−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70"/>
              </a:spcBef>
            </a:pPr>
            <a:r>
              <a:rPr dirty="0" sz="1800" spc="-10">
                <a:latin typeface="Calibri"/>
                <a:cs typeface="Calibri"/>
              </a:rPr>
              <a:t>&lt;T</a:t>
            </a:r>
            <a:r>
              <a:rPr dirty="0" baseline="-20833" sz="1800" spc="-15">
                <a:latin typeface="Calibri"/>
                <a:cs typeface="Calibri"/>
              </a:rPr>
              <a:t>n</a:t>
            </a:r>
            <a:r>
              <a:rPr dirty="0" sz="1800" spc="-10">
                <a:latin typeface="Calibri"/>
                <a:cs typeface="Calibri"/>
              </a:rPr>
              <a:t>,</a:t>
            </a:r>
            <a:r>
              <a:rPr dirty="0" sz="1800" spc="-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commit&gt;</a:t>
            </a:r>
            <a:endParaRPr sz="180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575"/>
              </a:spcBef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modified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two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approaches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−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01844" y="4519929"/>
            <a:ext cx="6166485" cy="15240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algn="just" marL="241300" marR="5080" indent="-229235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Deferred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database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modification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−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 written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 to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stable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storage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updated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 commits.</a:t>
            </a:r>
            <a:endParaRPr sz="1800">
              <a:latin typeface="Calibri"/>
              <a:cs typeface="Calibri"/>
            </a:endParaRPr>
          </a:p>
          <a:p>
            <a:pPr algn="just" marL="241300" marR="5080" indent="-229235">
              <a:lnSpc>
                <a:spcPct val="801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Immediate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database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modification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−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log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follows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actual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modification.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is,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18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80">
                <a:latin typeface="Calibri"/>
                <a:cs typeface="Calibri"/>
              </a:rPr>
              <a:t>  </a:t>
            </a:r>
            <a:r>
              <a:rPr dirty="0" sz="1800" spc="-10">
                <a:latin typeface="Calibri"/>
                <a:cs typeface="Calibri"/>
              </a:rPr>
              <a:t>modified immediately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after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every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255572" y="2734132"/>
            <a:ext cx="2877820" cy="1531620"/>
          </a:xfrm>
          <a:prstGeom prst="rect">
            <a:avLst/>
          </a:prstGeom>
        </p:spPr>
        <p:txBody>
          <a:bodyPr wrap="square" lIns="0" tIns="101600" rIns="0" bIns="0" rtlCol="0" vert="horz">
            <a:spAutoFit/>
          </a:bodyPr>
          <a:lstStyle/>
          <a:p>
            <a:pPr marL="535305" marR="5080" indent="-523240">
              <a:lnSpc>
                <a:spcPts val="5620"/>
              </a:lnSpc>
              <a:spcBef>
                <a:spcPts val="800"/>
              </a:spcBef>
            </a:pPr>
            <a:r>
              <a:rPr dirty="0" sz="5200" b="1">
                <a:latin typeface="Calibri"/>
                <a:cs typeface="Calibri"/>
              </a:rPr>
              <a:t>2.</a:t>
            </a:r>
            <a:r>
              <a:rPr dirty="0" sz="5200" spc="-5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Shadow Paging</a:t>
            </a:r>
            <a:endParaRPr sz="52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4887595" y="190322"/>
            <a:ext cx="9893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spc="-10" i="1">
                <a:latin typeface="Calibri"/>
                <a:cs typeface="Calibri"/>
              </a:rPr>
              <a:t>Shadow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048883" y="190322"/>
            <a:ext cx="5137150" cy="300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2169" algn="l"/>
                <a:tab pos="1191895" algn="l"/>
                <a:tab pos="1620520" algn="l"/>
                <a:tab pos="2822575" algn="l"/>
                <a:tab pos="3216275" algn="l"/>
                <a:tab pos="4319905" algn="l"/>
              </a:tabLst>
            </a:pPr>
            <a:r>
              <a:rPr dirty="0" sz="1800" spc="-10" b="0" i="1">
                <a:latin typeface="Calibri"/>
                <a:cs typeface="Calibri"/>
              </a:rPr>
              <a:t>paging</a:t>
            </a:r>
            <a:r>
              <a:rPr dirty="0" sz="1800" b="0" i="1">
                <a:latin typeface="Calibri"/>
                <a:cs typeface="Calibri"/>
              </a:rPr>
              <a:t>	</a:t>
            </a:r>
            <a:r>
              <a:rPr dirty="0" sz="1800" spc="-25" b="0">
                <a:latin typeface="Calibri"/>
                <a:cs typeface="Calibri"/>
              </a:rPr>
              <a:t>is</a:t>
            </a:r>
            <a:r>
              <a:rPr dirty="0" sz="1800" b="0">
                <a:latin typeface="Calibri"/>
                <a:cs typeface="Calibri"/>
              </a:rPr>
              <a:t>	</a:t>
            </a:r>
            <a:r>
              <a:rPr dirty="0" sz="1800" spc="-25" b="0">
                <a:latin typeface="Calibri"/>
                <a:cs typeface="Calibri"/>
              </a:rPr>
              <a:t>an</a:t>
            </a:r>
            <a:r>
              <a:rPr dirty="0" sz="1800" b="0">
                <a:latin typeface="Calibri"/>
                <a:cs typeface="Calibri"/>
              </a:rPr>
              <a:t>	</a:t>
            </a:r>
            <a:r>
              <a:rPr dirty="0" sz="1800" spc="-10" b="0">
                <a:latin typeface="Calibri"/>
                <a:cs typeface="Calibri"/>
              </a:rPr>
              <a:t>alternative</a:t>
            </a:r>
            <a:r>
              <a:rPr dirty="0" sz="1800" b="0">
                <a:latin typeface="Calibri"/>
                <a:cs typeface="Calibri"/>
              </a:rPr>
              <a:t>	</a:t>
            </a:r>
            <a:r>
              <a:rPr dirty="0" sz="1800" spc="-25" b="0">
                <a:latin typeface="Calibri"/>
                <a:cs typeface="Calibri"/>
              </a:rPr>
              <a:t>to</a:t>
            </a:r>
            <a:r>
              <a:rPr dirty="0" sz="1800" b="0">
                <a:latin typeface="Calibri"/>
                <a:cs typeface="Calibri"/>
              </a:rPr>
              <a:t>	</a:t>
            </a:r>
            <a:r>
              <a:rPr dirty="0" sz="1800" spc="-10" b="0">
                <a:latin typeface="Calibri"/>
                <a:cs typeface="Calibri"/>
              </a:rPr>
              <a:t>log-based</a:t>
            </a:r>
            <a:r>
              <a:rPr dirty="0" sz="1800" b="0">
                <a:latin typeface="Calibri"/>
                <a:cs typeface="Calibri"/>
              </a:rPr>
              <a:t>	</a:t>
            </a:r>
            <a:r>
              <a:rPr dirty="0" sz="1800" spc="-10" b="0">
                <a:latin typeface="Calibri"/>
                <a:cs typeface="Calibri"/>
              </a:rPr>
              <a:t>recovery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887595" y="410336"/>
            <a:ext cx="6301105" cy="187134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algn="just" marL="241300" marR="5080">
              <a:lnSpc>
                <a:spcPct val="80000"/>
              </a:lnSpc>
              <a:spcBef>
                <a:spcPts val="530"/>
              </a:spcBef>
            </a:pPr>
            <a:r>
              <a:rPr dirty="0" sz="1800">
                <a:latin typeface="Calibri"/>
                <a:cs typeface="Calibri"/>
              </a:rPr>
              <a:t>techniques,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3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both</a:t>
            </a:r>
            <a:r>
              <a:rPr dirty="0" sz="1800" spc="3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advantages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disadvantages.</a:t>
            </a:r>
            <a:r>
              <a:rPr dirty="0" sz="1800" spc="34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It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require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fewer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disk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accesses,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but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hard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extend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paging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allow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multiple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concurrent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transactions.</a:t>
            </a:r>
            <a:endParaRPr sz="1800">
              <a:latin typeface="Calibri"/>
              <a:cs typeface="Calibri"/>
            </a:endParaRPr>
          </a:p>
          <a:p>
            <a:pPr marL="241300" marR="8255" indent="-228600">
              <a:lnSpc>
                <a:spcPts val="173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  <a:tab pos="718185" algn="l"/>
                <a:tab pos="1469390" algn="l"/>
                <a:tab pos="1743710" algn="l"/>
                <a:tab pos="2275205" algn="l"/>
                <a:tab pos="3023870" algn="l"/>
                <a:tab pos="3350260" algn="l"/>
                <a:tab pos="4101465" algn="l"/>
                <a:tab pos="5041900" algn="l"/>
                <a:tab pos="5618480" algn="l"/>
                <a:tab pos="5971540" algn="l"/>
              </a:tabLst>
            </a:pPr>
            <a:r>
              <a:rPr dirty="0" sz="1800" spc="-25">
                <a:latin typeface="Calibri"/>
                <a:cs typeface="Calibri"/>
              </a:rPr>
              <a:t>The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paging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is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very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similar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to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paging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schemes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used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by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 spc="-10">
                <a:latin typeface="Calibri"/>
                <a:cs typeface="Calibri"/>
              </a:rPr>
              <a:t>operating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management.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945"/>
              </a:lnSpc>
              <a:spcBef>
                <a:spcPts val="5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idea</a:t>
            </a:r>
            <a:r>
              <a:rPr dirty="0" sz="1800" spc="4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43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maintain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two-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4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during</a:t>
            </a:r>
            <a:r>
              <a:rPr dirty="0" sz="1800" spc="43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life</a:t>
            </a:r>
            <a:r>
              <a:rPr dirty="0" sz="1800" spc="4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434">
                <a:latin typeface="Calibri"/>
                <a:cs typeface="Calibri"/>
              </a:rPr>
              <a:t> </a:t>
            </a:r>
            <a:r>
              <a:rPr dirty="0" sz="1800" spc="-50">
                <a:latin typeface="Calibri"/>
                <a:cs typeface="Calibri"/>
              </a:rPr>
              <a:t>a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ts val="1945"/>
              </a:lnSpc>
            </a:pPr>
            <a:r>
              <a:rPr dirty="0" sz="1800" spc="-10">
                <a:latin typeface="Calibri"/>
                <a:cs typeface="Calibri"/>
              </a:rPr>
              <a:t>transaction: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current</a:t>
            </a:r>
            <a:r>
              <a:rPr dirty="0" sz="1800" spc="-30" i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i="1">
                <a:latin typeface="Calibri"/>
                <a:cs typeface="Calibri"/>
              </a:rPr>
              <a:t>shadow</a:t>
            </a:r>
            <a:r>
              <a:rPr dirty="0" sz="1800" spc="-35" i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table.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887595" y="2256281"/>
            <a:ext cx="6296660" cy="71755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transaction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starts,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both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identical.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60"/>
              </a:spcBef>
              <a:buFont typeface="Arial MT"/>
              <a:buChar char="•"/>
              <a:tabLst>
                <a:tab pos="240665" algn="l"/>
                <a:tab pos="722630" algn="l"/>
                <a:tab pos="1581785" algn="l"/>
                <a:tab pos="2170430" algn="l"/>
                <a:tab pos="2447925" algn="l"/>
                <a:tab pos="3114040" algn="l"/>
                <a:tab pos="4039235" algn="l"/>
                <a:tab pos="4777105" algn="l"/>
                <a:tab pos="5224780" algn="l"/>
                <a:tab pos="5643880" algn="l"/>
                <a:tab pos="5971540" algn="l"/>
              </a:tabLst>
            </a:pPr>
            <a:r>
              <a:rPr dirty="0" sz="1800" spc="-25">
                <a:latin typeface="Calibri"/>
                <a:cs typeface="Calibri"/>
              </a:rPr>
              <a:t>The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shadow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page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is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never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changed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during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the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0">
                <a:latin typeface="Calibri"/>
                <a:cs typeface="Calibri"/>
              </a:rPr>
              <a:t>life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of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887595" y="2820162"/>
            <a:ext cx="6298565" cy="163195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675"/>
              </a:spcBef>
            </a:pPr>
            <a:r>
              <a:rPr dirty="0" sz="1800" spc="-10">
                <a:latin typeface="Calibri"/>
                <a:cs typeface="Calibri"/>
              </a:rPr>
              <a:t>transaction.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current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updated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write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>
                <a:latin typeface="Calibri"/>
                <a:cs typeface="Calibri"/>
              </a:rPr>
              <a:t>Each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entry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points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disk.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ts val="1730"/>
              </a:lnSpc>
              <a:spcBef>
                <a:spcPts val="98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45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4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4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committed,</a:t>
            </a:r>
            <a:r>
              <a:rPr dirty="0" sz="1800" spc="45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4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shadow</a:t>
            </a:r>
            <a:r>
              <a:rPr dirty="0" sz="1800" spc="4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45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entry </a:t>
            </a:r>
            <a:r>
              <a:rPr dirty="0" sz="1800">
                <a:latin typeface="Calibri"/>
                <a:cs typeface="Calibri"/>
              </a:rPr>
              <a:t>becomes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copy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current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entry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disk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887595" y="4298696"/>
            <a:ext cx="6298565" cy="1598930"/>
          </a:xfrm>
          <a:prstGeom prst="rect">
            <a:avLst/>
          </a:prstGeom>
        </p:spPr>
        <p:txBody>
          <a:bodyPr wrap="square" lIns="0" tIns="85725" rIns="0" bIns="0" rtlCol="0" vert="horz">
            <a:spAutoFit/>
          </a:bodyPr>
          <a:lstStyle/>
          <a:p>
            <a:pPr algn="just" marL="241300">
              <a:lnSpc>
                <a:spcPct val="100000"/>
              </a:lnSpc>
              <a:spcBef>
                <a:spcPts val="675"/>
              </a:spcBef>
            </a:pPr>
            <a:r>
              <a:rPr dirty="0" sz="1800">
                <a:latin typeface="Calibri"/>
                <a:cs typeface="Calibri"/>
              </a:rPr>
              <a:t>block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old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released.</a:t>
            </a:r>
            <a:endParaRPr sz="1800">
              <a:latin typeface="Calibri"/>
              <a:cs typeface="Calibri"/>
            </a:endParaRPr>
          </a:p>
          <a:p>
            <a:pPr algn="just" marL="241300" marR="5080" indent="-228600">
              <a:lnSpc>
                <a:spcPct val="8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>
                <a:latin typeface="Calibri"/>
                <a:cs typeface="Calibri"/>
              </a:rPr>
              <a:t>If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shadow</a:t>
            </a:r>
            <a:r>
              <a:rPr dirty="0" sz="1800" spc="3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stored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non-</a:t>
            </a:r>
            <a:r>
              <a:rPr dirty="0" sz="1800">
                <a:latin typeface="Calibri"/>
                <a:cs typeface="Calibri"/>
              </a:rPr>
              <a:t>volatile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 </a:t>
            </a:r>
            <a:r>
              <a:rPr dirty="0" sz="1800">
                <a:latin typeface="Calibri"/>
                <a:cs typeface="Calibri"/>
              </a:rPr>
              <a:t>crash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occurs,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then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shadow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table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copied</a:t>
            </a:r>
            <a:r>
              <a:rPr dirty="0" sz="1800" spc="60">
                <a:latin typeface="Calibri"/>
                <a:cs typeface="Calibri"/>
              </a:rPr>
              <a:t> 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55">
                <a:latin typeface="Calibri"/>
                <a:cs typeface="Calibri"/>
              </a:rPr>
              <a:t>  </a:t>
            </a:r>
            <a:r>
              <a:rPr dirty="0" sz="1800" spc="-25">
                <a:latin typeface="Calibri"/>
                <a:cs typeface="Calibri"/>
              </a:rPr>
              <a:t>the </a:t>
            </a:r>
            <a:r>
              <a:rPr dirty="0" sz="1800">
                <a:latin typeface="Calibri"/>
                <a:cs typeface="Calibri"/>
              </a:rPr>
              <a:t>current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table.</a:t>
            </a:r>
            <a:r>
              <a:rPr dirty="0" sz="1800" spc="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guarantees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shadow</a:t>
            </a:r>
            <a:r>
              <a:rPr dirty="0" sz="1800" spc="1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</a:t>
            </a:r>
            <a:r>
              <a:rPr dirty="0" sz="1800" spc="9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table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point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pages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corresponding</a:t>
            </a:r>
            <a:r>
              <a:rPr dirty="0" sz="1800" spc="2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state</a:t>
            </a:r>
            <a:r>
              <a:rPr dirty="0" sz="1800" spc="21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of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database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prior to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transaction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was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active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time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116195" y="5816904"/>
            <a:ext cx="3607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crash,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making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aborts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automatic.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39852" y="2385060"/>
            <a:ext cx="307975" cy="2087880"/>
          </a:xfrm>
          <a:custGeom>
            <a:avLst/>
            <a:gdLst/>
            <a:ahLst/>
            <a:cxnLst/>
            <a:rect l="l" t="t" r="r" b="b"/>
            <a:pathLst>
              <a:path w="307975" h="2087879">
                <a:moveTo>
                  <a:pt x="307848" y="0"/>
                </a:moveTo>
                <a:lnTo>
                  <a:pt x="0" y="0"/>
                </a:lnTo>
                <a:lnTo>
                  <a:pt x="0" y="2087880"/>
                </a:lnTo>
                <a:lnTo>
                  <a:pt x="307848" y="2087880"/>
                </a:lnTo>
                <a:lnTo>
                  <a:pt x="307848" y="0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-13461" y="2385822"/>
            <a:ext cx="177800" cy="2087880"/>
          </a:xfrm>
          <a:custGeom>
            <a:avLst/>
            <a:gdLst/>
            <a:ahLst/>
            <a:cxnLst/>
            <a:rect l="l" t="t" r="r" b="b"/>
            <a:pathLst>
              <a:path w="177800" h="2087879">
                <a:moveTo>
                  <a:pt x="0" y="2087752"/>
                </a:moveTo>
                <a:lnTo>
                  <a:pt x="177801" y="2087752"/>
                </a:lnTo>
                <a:lnTo>
                  <a:pt x="177801" y="0"/>
                </a:lnTo>
                <a:lnTo>
                  <a:pt x="0" y="0"/>
                </a:lnTo>
                <a:lnTo>
                  <a:pt x="0" y="2087752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437387" y="0"/>
            <a:ext cx="11755120" cy="6858000"/>
            <a:chOff x="437387" y="0"/>
            <a:chExt cx="11755120" cy="6858000"/>
          </a:xfrm>
        </p:grpSpPr>
        <p:sp>
          <p:nvSpPr>
            <p:cNvPr id="5" name="object 5" descr=""/>
            <p:cNvSpPr/>
            <p:nvPr/>
          </p:nvSpPr>
          <p:spPr>
            <a:xfrm>
              <a:off x="10696956" y="0"/>
              <a:ext cx="1495425" cy="6858000"/>
            </a:xfrm>
            <a:custGeom>
              <a:avLst/>
              <a:gdLst/>
              <a:ahLst/>
              <a:cxnLst/>
              <a:rect l="l" t="t" r="r" b="b"/>
              <a:pathLst>
                <a:path w="1495425" h="6858000">
                  <a:moveTo>
                    <a:pt x="14950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495044" y="6858000"/>
                  </a:lnTo>
                  <a:lnTo>
                    <a:pt x="149504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37387" y="617219"/>
              <a:ext cx="11385804" cy="602589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9119" y="632459"/>
              <a:ext cx="11111865" cy="5751830"/>
            </a:xfrm>
            <a:custGeom>
              <a:avLst/>
              <a:gdLst/>
              <a:ahLst/>
              <a:cxnLst/>
              <a:rect l="l" t="t" r="r" b="b"/>
              <a:pathLst>
                <a:path w="11111865" h="5751830">
                  <a:moveTo>
                    <a:pt x="11111484" y="0"/>
                  </a:moveTo>
                  <a:lnTo>
                    <a:pt x="0" y="0"/>
                  </a:lnTo>
                  <a:lnTo>
                    <a:pt x="0" y="5751576"/>
                  </a:lnTo>
                  <a:lnTo>
                    <a:pt x="11111484" y="5751576"/>
                  </a:lnTo>
                  <a:lnTo>
                    <a:pt x="111114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5537453" y="362457"/>
            <a:ext cx="5426075" cy="192087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just" marL="239395" marR="5080" indent="-226695">
              <a:lnSpc>
                <a:spcPts val="1920"/>
              </a:lnSpc>
              <a:spcBef>
                <a:spcPts val="5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4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4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drawbacks</a:t>
            </a:r>
            <a:r>
              <a:rPr dirty="0" sz="2000" spc="46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7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70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shadow-</a:t>
            </a:r>
            <a:r>
              <a:rPr dirty="0" sz="2000" spc="-20">
                <a:latin typeface="Calibri"/>
                <a:cs typeface="Calibri"/>
              </a:rPr>
              <a:t>page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technique:</a:t>
            </a:r>
            <a:endParaRPr sz="2000">
              <a:latin typeface="Calibri"/>
              <a:cs typeface="Calibri"/>
            </a:endParaRPr>
          </a:p>
          <a:p>
            <a:pPr algn="just" marL="239395" marR="6350" indent="-226695">
              <a:lnSpc>
                <a:spcPct val="8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Commit</a:t>
            </a:r>
            <a:r>
              <a:rPr dirty="0" sz="2000" spc="2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overhead.</a:t>
            </a:r>
            <a:r>
              <a:rPr dirty="0" sz="2000" spc="295" b="1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commit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95">
                <a:latin typeface="Calibri"/>
                <a:cs typeface="Calibri"/>
              </a:rPr>
              <a:t>  </a:t>
            </a:r>
            <a:r>
              <a:rPr dirty="0" sz="2000" spc="-10">
                <a:latin typeface="Calibri"/>
                <a:cs typeface="Calibri"/>
              </a:rPr>
              <a:t>single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transaction</a:t>
            </a:r>
            <a:r>
              <a:rPr dirty="0" sz="2000" spc="260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265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shadow</a:t>
            </a:r>
            <a:r>
              <a:rPr dirty="0" sz="2000" spc="260">
                <a:latin typeface="Calibri"/>
                <a:cs typeface="Calibri"/>
              </a:rPr>
              <a:t>   </a:t>
            </a:r>
            <a:r>
              <a:rPr dirty="0" sz="2000">
                <a:latin typeface="Calibri"/>
                <a:cs typeface="Calibri"/>
              </a:rPr>
              <a:t>paging</a:t>
            </a:r>
            <a:r>
              <a:rPr dirty="0" sz="2000" spc="260">
                <a:latin typeface="Calibri"/>
                <a:cs typeface="Calibri"/>
              </a:rPr>
              <a:t>   </a:t>
            </a:r>
            <a:r>
              <a:rPr dirty="0" sz="2000" spc="-10">
                <a:latin typeface="Calibri"/>
                <a:cs typeface="Calibri"/>
              </a:rPr>
              <a:t>requires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blocks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-</a:t>
            </a:r>
            <a:r>
              <a:rPr dirty="0" sz="2000">
                <a:latin typeface="Calibri"/>
                <a:cs typeface="Calibri"/>
              </a:rPr>
              <a:t>-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page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table,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disk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address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table.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Log-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schemes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66053" y="2196211"/>
            <a:ext cx="28911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output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records.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537453" y="2568320"/>
            <a:ext cx="54229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  <a:tab pos="958850" algn="l"/>
                <a:tab pos="2766695" algn="l"/>
                <a:tab pos="3810635" algn="l"/>
                <a:tab pos="4721860" algn="l"/>
              </a:tabLst>
            </a:pPr>
            <a:r>
              <a:rPr dirty="0" sz="2000" spc="-20" b="1">
                <a:latin typeface="Calibri"/>
                <a:cs typeface="Calibri"/>
              </a:rPr>
              <a:t>Data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fragmentation.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Shadow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paging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causes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66053" y="2812161"/>
            <a:ext cx="519493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locations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(therefore,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no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766053" y="3056001"/>
            <a:ext cx="194183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Calibri"/>
                <a:cs typeface="Calibri"/>
              </a:rPr>
              <a:t>longer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contiguous.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537453" y="3426333"/>
            <a:ext cx="5424170" cy="81915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just" marL="239395" marR="5080" indent="-226695">
              <a:lnSpc>
                <a:spcPct val="80000"/>
              </a:lnSpc>
              <a:spcBef>
                <a:spcPts val="58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Garbage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collection.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transaction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commits,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database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containing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old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version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changed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transactions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must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66053" y="4158234"/>
            <a:ext cx="51962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94155" algn="l"/>
                <a:tab pos="3441700" algn="l"/>
                <a:tab pos="4583430" algn="l"/>
              </a:tabLst>
            </a:pPr>
            <a:r>
              <a:rPr dirty="0" sz="2000" spc="-10">
                <a:latin typeface="Calibri"/>
                <a:cs typeface="Calibri"/>
              </a:rPr>
              <a:t>become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inaccessible.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Such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pages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766053" y="4402073"/>
            <a:ext cx="519493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garbage</a:t>
            </a:r>
            <a:r>
              <a:rPr dirty="0" sz="2000" spc="295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part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free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66053" y="4645914"/>
            <a:ext cx="5197475" cy="155067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algn="just" marL="12700" marR="5080">
              <a:lnSpc>
                <a:spcPct val="80000"/>
              </a:lnSpc>
              <a:spcBef>
                <a:spcPts val="585"/>
              </a:spcBef>
            </a:pPr>
            <a:r>
              <a:rPr dirty="0" sz="2000">
                <a:latin typeface="Calibri"/>
                <a:cs typeface="Calibri"/>
              </a:rPr>
              <a:t>space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usable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information. </a:t>
            </a:r>
            <a:r>
              <a:rPr dirty="0" sz="2000">
                <a:latin typeface="Calibri"/>
                <a:cs typeface="Calibri"/>
              </a:rPr>
              <a:t>Periodically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necessary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garbage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list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free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pages.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This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garbage</a:t>
            </a:r>
            <a:r>
              <a:rPr dirty="0" sz="2000" spc="190" i="1">
                <a:latin typeface="Calibri"/>
                <a:cs typeface="Calibri"/>
              </a:rPr>
              <a:t> </a:t>
            </a:r>
            <a:r>
              <a:rPr dirty="0" sz="2000" i="1">
                <a:latin typeface="Calibri"/>
                <a:cs typeface="Calibri"/>
              </a:rPr>
              <a:t>collection</a:t>
            </a:r>
            <a:r>
              <a:rPr dirty="0" sz="2000" spc="204" i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imposes </a:t>
            </a:r>
            <a:r>
              <a:rPr dirty="0" sz="2000">
                <a:latin typeface="Calibri"/>
                <a:cs typeface="Calibri"/>
              </a:rPr>
              <a:t>additional</a:t>
            </a:r>
            <a:r>
              <a:rPr dirty="0" sz="2000" spc="3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overhead</a:t>
            </a:r>
            <a:r>
              <a:rPr dirty="0" sz="2000" spc="3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complexity</a:t>
            </a:r>
            <a:r>
              <a:rPr dirty="0" sz="2000" spc="3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30">
                <a:latin typeface="Calibri"/>
                <a:cs typeface="Calibri"/>
              </a:rPr>
              <a:t> 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10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255572" y="2377820"/>
            <a:ext cx="2876550" cy="2244725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486409" marR="5080" indent="-474345">
              <a:lnSpc>
                <a:spcPct val="90000"/>
              </a:lnSpc>
              <a:spcBef>
                <a:spcPts val="720"/>
              </a:spcBef>
            </a:pPr>
            <a:r>
              <a:rPr dirty="0" sz="5200" b="1">
                <a:latin typeface="Calibri"/>
                <a:cs typeface="Calibri"/>
              </a:rPr>
              <a:t>2.</a:t>
            </a:r>
            <a:r>
              <a:rPr dirty="0" sz="5200" spc="-55" b="1">
                <a:latin typeface="Calibri"/>
                <a:cs typeface="Calibri"/>
              </a:rPr>
              <a:t> </a:t>
            </a:r>
            <a:r>
              <a:rPr dirty="0" sz="5200" spc="-10" b="1">
                <a:latin typeface="Calibri"/>
                <a:cs typeface="Calibri"/>
              </a:rPr>
              <a:t>Shadow Paging contd..</a:t>
            </a:r>
            <a:endParaRPr sz="5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E3E3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5439156" cy="583996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133338" y="2219705"/>
            <a:ext cx="2694305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FFFFF"/>
                </a:solidFill>
              </a:rPr>
              <a:t>Thank</a:t>
            </a:r>
            <a:r>
              <a:rPr dirty="0" sz="4000" spc="-110">
                <a:solidFill>
                  <a:srgbClr val="FFFFFF"/>
                </a:solidFill>
              </a:rPr>
              <a:t> </a:t>
            </a:r>
            <a:r>
              <a:rPr dirty="0" sz="4000" spc="-35">
                <a:solidFill>
                  <a:srgbClr val="FFFFFF"/>
                </a:solidFill>
              </a:rPr>
              <a:t>You!!!</a:t>
            </a:r>
            <a:endParaRPr sz="4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Rohini Desai</dc:creator>
  <dc:title>Database Management Systems</dc:title>
  <dcterms:created xsi:type="dcterms:W3CDTF">2026-05-27T07:03:06Z</dcterms:created>
  <dcterms:modified xsi:type="dcterms:W3CDTF">2026-05-27T07:03:06Z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2026-05-27T00:00:00Z</vt:filetime>
  </property>
  <property fmtid="{D5CDD505-2E9C-101B-9397-08002B2CF9AE}" pid="5" name="Producer">
    <vt:lpwstr>Microsoft® PowerPoint® for Microsoft 365</vt:lpwstr>
  </property>
</Properties>
</file>