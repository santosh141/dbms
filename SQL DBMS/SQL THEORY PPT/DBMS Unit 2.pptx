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678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190880"/>
            <a:ext cx="10362565" cy="1562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6657" y="2475737"/>
            <a:ext cx="9552940" cy="3477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811" y="6464909"/>
            <a:ext cx="27177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hyperlink" Target="https://www.guru99.com/images/1/100518_0535_RelationalA7.png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s://www.guru99.com/images/1/100518_0535_RelationalA9.p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3488" y="0"/>
              <a:ext cx="8668512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756648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2376" y="2776221"/>
            <a:ext cx="3646804" cy="545662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555"/>
              </a:spcBef>
            </a:pPr>
            <a:r>
              <a:rPr sz="3400" spc="-10" dirty="0"/>
              <a:t>Database</a:t>
            </a:r>
            <a:endParaRPr sz="3400" dirty="0"/>
          </a:p>
        </p:txBody>
      </p:sp>
      <p:sp>
        <p:nvSpPr>
          <p:cNvPr id="6" name="object 6"/>
          <p:cNvSpPr txBox="1"/>
          <p:nvPr/>
        </p:nvSpPr>
        <p:spPr>
          <a:xfrm>
            <a:off x="556666" y="3256915"/>
            <a:ext cx="378714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35" dirty="0">
                <a:latin typeface="Calibri Light"/>
                <a:cs typeface="Calibri Light"/>
              </a:rPr>
              <a:t>Management</a:t>
            </a:r>
            <a:r>
              <a:rPr sz="3400" spc="-140" dirty="0">
                <a:latin typeface="Calibri Light"/>
                <a:cs typeface="Calibri Light"/>
              </a:rPr>
              <a:t> </a:t>
            </a:r>
            <a:r>
              <a:rPr sz="3400" spc="-20" dirty="0">
                <a:latin typeface="Calibri Light"/>
                <a:cs typeface="Calibri Light"/>
              </a:rPr>
              <a:t>Systems</a:t>
            </a:r>
            <a:endParaRPr sz="34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417" y="3753484"/>
            <a:ext cx="1172845" cy="5276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940"/>
              </a:lnSpc>
            </a:pPr>
            <a:r>
              <a:rPr sz="3400" spc="-10" dirty="0">
                <a:latin typeface="Calibri Light"/>
                <a:cs typeface="Calibri Light"/>
              </a:rPr>
              <a:t>UNIT</a:t>
            </a:r>
            <a:r>
              <a:rPr sz="3400" spc="-155" dirty="0">
                <a:latin typeface="Calibri Light"/>
                <a:cs typeface="Calibri Light"/>
              </a:rPr>
              <a:t> </a:t>
            </a:r>
            <a:r>
              <a:rPr sz="3400" spc="-50" dirty="0">
                <a:latin typeface="Calibri Light"/>
                <a:cs typeface="Calibri Light"/>
              </a:rPr>
              <a:t>2</a:t>
            </a:r>
            <a:endParaRPr sz="3400">
              <a:latin typeface="Calibri Light"/>
              <a:cs typeface="Calibr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1583" y="626363"/>
            <a:ext cx="3977640" cy="3939540"/>
            <a:chOff x="481583" y="626363"/>
            <a:chExt cx="3977640" cy="3939540"/>
          </a:xfrm>
        </p:grpSpPr>
        <p:sp>
          <p:nvSpPr>
            <p:cNvPr id="9" name="object 9"/>
            <p:cNvSpPr/>
            <p:nvPr/>
          </p:nvSpPr>
          <p:spPr>
            <a:xfrm>
              <a:off x="481583" y="626363"/>
              <a:ext cx="704215" cy="146685"/>
            </a:xfrm>
            <a:custGeom>
              <a:avLst/>
              <a:gdLst/>
              <a:ahLst/>
              <a:cxnLst/>
              <a:rect l="l" t="t" r="r" b="b"/>
              <a:pathLst>
                <a:path w="704215" h="146684">
                  <a:moveTo>
                    <a:pt x="704088" y="0"/>
                  </a:moveTo>
                  <a:lnTo>
                    <a:pt x="0" y="0"/>
                  </a:lnTo>
                  <a:lnTo>
                    <a:pt x="0" y="146303"/>
                  </a:lnTo>
                  <a:lnTo>
                    <a:pt x="704088" y="146303"/>
                  </a:lnTo>
                  <a:lnTo>
                    <a:pt x="70408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1583" y="4547616"/>
              <a:ext cx="3977640" cy="18415"/>
            </a:xfrm>
            <a:custGeom>
              <a:avLst/>
              <a:gdLst/>
              <a:ahLst/>
              <a:cxnLst/>
              <a:rect l="l" t="t" r="r" b="b"/>
              <a:pathLst>
                <a:path w="3977640" h="18414">
                  <a:moveTo>
                    <a:pt x="3977640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3977640" y="18287"/>
                  </a:lnTo>
                  <a:lnTo>
                    <a:pt x="397764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532234" y="642680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71C49D-E1D4-4613-AAEC-C0939DAAF89A}"/>
              </a:ext>
            </a:extLst>
          </p:cNvPr>
          <p:cNvSpPr txBox="1"/>
          <p:nvPr/>
        </p:nvSpPr>
        <p:spPr>
          <a:xfrm>
            <a:off x="381000" y="4566031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By </a:t>
            </a:r>
            <a:r>
              <a:rPr lang="en-IN" dirty="0" err="1"/>
              <a:t>Santoshh</a:t>
            </a:r>
            <a:r>
              <a:rPr lang="en-IN" dirty="0"/>
              <a:t> s </a:t>
            </a:r>
            <a:r>
              <a:rPr lang="en-IN" dirty="0" err="1"/>
              <a:t>potti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6444" y="0"/>
            <a:ext cx="11261090" cy="2091055"/>
            <a:chOff x="536444" y="0"/>
            <a:chExt cx="11261090" cy="20910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444" y="0"/>
              <a:ext cx="11260843" cy="20910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7783" y="0"/>
              <a:ext cx="11168380" cy="2019300"/>
            </a:xfrm>
            <a:custGeom>
              <a:avLst/>
              <a:gdLst/>
              <a:ahLst/>
              <a:cxnLst/>
              <a:rect l="l" t="t" r="r" b="b"/>
              <a:pathLst>
                <a:path w="11168380" h="2019300">
                  <a:moveTo>
                    <a:pt x="11167872" y="0"/>
                  </a:moveTo>
                  <a:lnTo>
                    <a:pt x="0" y="0"/>
                  </a:lnTo>
                  <a:lnTo>
                    <a:pt x="0" y="2019300"/>
                  </a:lnTo>
                  <a:lnTo>
                    <a:pt x="11167872" y="2019300"/>
                  </a:lnTo>
                  <a:lnTo>
                    <a:pt x="11167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783" y="0"/>
            <a:ext cx="11168380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696595" rIns="0" bIns="0" rtlCol="0">
            <a:spAutoFit/>
          </a:bodyPr>
          <a:lstStyle/>
          <a:p>
            <a:pPr marL="648970">
              <a:lnSpc>
                <a:spcPct val="100000"/>
              </a:lnSpc>
              <a:spcBef>
                <a:spcPts val="5485"/>
              </a:spcBef>
            </a:pPr>
            <a:r>
              <a:rPr sz="4800" spc="-10" dirty="0"/>
              <a:t>Contents</a:t>
            </a:r>
            <a:endParaRPr sz="4800"/>
          </a:p>
        </p:txBody>
      </p:sp>
      <p:sp>
        <p:nvSpPr>
          <p:cNvPr id="6" name="object 6"/>
          <p:cNvSpPr/>
          <p:nvPr/>
        </p:nvSpPr>
        <p:spPr>
          <a:xfrm>
            <a:off x="498348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94612" y="2450083"/>
            <a:ext cx="10011410" cy="36525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39395" marR="5080" indent="-227329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Calibri"/>
                <a:cs typeface="Calibri"/>
              </a:rPr>
              <a:t>Chapter</a:t>
            </a:r>
            <a:r>
              <a:rPr sz="2800" b="1" spc="1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1-</a:t>
            </a:r>
            <a:r>
              <a:rPr sz="2800" b="1" spc="1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Relational</a:t>
            </a:r>
            <a:r>
              <a:rPr sz="2800" b="1" spc="1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Database</a:t>
            </a:r>
            <a:r>
              <a:rPr sz="2800" b="1" spc="1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Model:</a:t>
            </a:r>
            <a:r>
              <a:rPr sz="2800" b="1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Logical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view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data,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keys, 	</a:t>
            </a:r>
            <a:r>
              <a:rPr sz="2800" dirty="0">
                <a:latin typeface="Calibri"/>
                <a:cs typeface="Calibri"/>
              </a:rPr>
              <a:t>integrity</a:t>
            </a:r>
            <a:r>
              <a:rPr sz="2800" spc="2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rules,</a:t>
            </a:r>
            <a:r>
              <a:rPr sz="2800" spc="2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Relational</a:t>
            </a:r>
            <a:r>
              <a:rPr sz="2800" spc="2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2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design:</a:t>
            </a:r>
            <a:r>
              <a:rPr sz="2800" spc="2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features</a:t>
            </a:r>
            <a:r>
              <a:rPr sz="2800" spc="2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90" dirty="0">
                <a:latin typeface="Calibri"/>
                <a:cs typeface="Calibri"/>
              </a:rPr>
              <a:t>  </a:t>
            </a:r>
            <a:r>
              <a:rPr sz="2800" spc="-20" dirty="0">
                <a:latin typeface="Calibri"/>
                <a:cs typeface="Calibri"/>
              </a:rPr>
              <a:t>good 	</a:t>
            </a:r>
            <a:r>
              <a:rPr sz="2800" dirty="0">
                <a:latin typeface="Calibri"/>
                <a:cs typeface="Calibri"/>
              </a:rPr>
              <a:t>relational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atomic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Normalization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(1NF, 	</a:t>
            </a:r>
            <a:r>
              <a:rPr sz="2800" spc="-60" dirty="0">
                <a:latin typeface="Calibri"/>
                <a:cs typeface="Calibri"/>
              </a:rPr>
              <a:t>2NF,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55" dirty="0">
                <a:latin typeface="Calibri"/>
                <a:cs typeface="Calibri"/>
              </a:rPr>
              <a:t>3NF,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BCNF).</a:t>
            </a:r>
            <a:endParaRPr sz="2800">
              <a:latin typeface="Calibri"/>
              <a:cs typeface="Calibri"/>
            </a:endParaRPr>
          </a:p>
          <a:p>
            <a:pPr marL="239395" marR="6350" indent="-227329" algn="just">
              <a:lnSpc>
                <a:spcPct val="90000"/>
              </a:lnSpc>
              <a:spcBef>
                <a:spcPts val="97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Calibri"/>
                <a:cs typeface="Calibri"/>
              </a:rPr>
              <a:t>Chapter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2-</a:t>
            </a:r>
            <a:r>
              <a:rPr sz="2800" b="1" dirty="0">
                <a:latin typeface="Calibri"/>
                <a:cs typeface="Calibri"/>
              </a:rPr>
              <a:t>Relational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Algebra</a:t>
            </a:r>
            <a:r>
              <a:rPr sz="2800" b="1" spc="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and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Calculus: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Introduction,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Selection 	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projection,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4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operations,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renaming,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Joins,</a:t>
            </a:r>
            <a:r>
              <a:rPr sz="2800" spc="4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Division,</a:t>
            </a:r>
            <a:r>
              <a:rPr sz="2800" spc="48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syntax, 	</a:t>
            </a:r>
            <a:r>
              <a:rPr sz="2800" dirty="0">
                <a:latin typeface="Calibri"/>
                <a:cs typeface="Calibri"/>
              </a:rPr>
              <a:t>semantics.</a:t>
            </a:r>
            <a:r>
              <a:rPr sz="2800" spc="6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Operators,</a:t>
            </a:r>
            <a:r>
              <a:rPr sz="2800" spc="6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grouping</a:t>
            </a:r>
            <a:r>
              <a:rPr sz="2800" spc="6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6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ungrouping,</a:t>
            </a:r>
            <a:r>
              <a:rPr sz="2800" spc="67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relational 	</a:t>
            </a:r>
            <a:r>
              <a:rPr sz="2800" dirty="0">
                <a:latin typeface="Calibri"/>
                <a:cs typeface="Calibri"/>
              </a:rPr>
              <a:t>comparison.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Calculus: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Tuple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relational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calculus,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relational 	</a:t>
            </a:r>
            <a:r>
              <a:rPr sz="2800" dirty="0">
                <a:latin typeface="Calibri"/>
                <a:cs typeface="Calibri"/>
              </a:rPr>
              <a:t>Calculus,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calculus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algebra,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computational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capabilities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6444" y="0"/>
            <a:ext cx="11261090" cy="2091055"/>
            <a:chOff x="536444" y="0"/>
            <a:chExt cx="11261090" cy="20910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444" y="0"/>
              <a:ext cx="11260843" cy="20910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7783" y="0"/>
              <a:ext cx="11168380" cy="2019300"/>
            </a:xfrm>
            <a:custGeom>
              <a:avLst/>
              <a:gdLst/>
              <a:ahLst/>
              <a:cxnLst/>
              <a:rect l="l" t="t" r="r" b="b"/>
              <a:pathLst>
                <a:path w="11168380" h="2019300">
                  <a:moveTo>
                    <a:pt x="11167872" y="0"/>
                  </a:moveTo>
                  <a:lnTo>
                    <a:pt x="0" y="0"/>
                  </a:lnTo>
                  <a:lnTo>
                    <a:pt x="0" y="2019300"/>
                  </a:lnTo>
                  <a:lnTo>
                    <a:pt x="11167872" y="2019300"/>
                  </a:lnTo>
                  <a:lnTo>
                    <a:pt x="11167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783" y="0"/>
            <a:ext cx="11168380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696595" rIns="0" bIns="0" rtlCol="0">
            <a:spAutoFit/>
          </a:bodyPr>
          <a:lstStyle/>
          <a:p>
            <a:pPr marL="648970">
              <a:lnSpc>
                <a:spcPct val="100000"/>
              </a:lnSpc>
              <a:spcBef>
                <a:spcPts val="5485"/>
              </a:spcBef>
            </a:pPr>
            <a:r>
              <a:rPr sz="4800" spc="-10" dirty="0"/>
              <a:t>Introduction</a:t>
            </a:r>
            <a:endParaRPr sz="4800"/>
          </a:p>
        </p:txBody>
      </p:sp>
      <p:sp>
        <p:nvSpPr>
          <p:cNvPr id="6" name="object 6"/>
          <p:cNvSpPr/>
          <p:nvPr/>
        </p:nvSpPr>
        <p:spPr>
          <a:xfrm>
            <a:off x="498348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94612" y="2962148"/>
            <a:ext cx="10010775" cy="300990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227329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Tables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Relations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logical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structure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collection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2- </a:t>
            </a:r>
            <a:r>
              <a:rPr sz="2800" dirty="0">
                <a:latin typeface="Calibri"/>
                <a:cs typeface="Calibri"/>
              </a:rPr>
              <a:t>dimensional</a:t>
            </a:r>
            <a:r>
              <a:rPr sz="2800" spc="3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tables</a:t>
            </a:r>
            <a:r>
              <a:rPr sz="2800" spc="3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consisting</a:t>
            </a:r>
            <a:r>
              <a:rPr sz="2800" spc="3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horizontal</a:t>
            </a:r>
            <a:r>
              <a:rPr sz="2800" spc="3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rows</a:t>
            </a:r>
            <a:r>
              <a:rPr sz="2800" spc="3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7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vertical columns.</a:t>
            </a:r>
            <a:endParaRPr sz="2800">
              <a:latin typeface="Calibri"/>
              <a:cs typeface="Calibri"/>
            </a:endParaRPr>
          </a:p>
          <a:p>
            <a:pPr marL="12700" marR="7620" indent="227329" algn="just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abstract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represent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stored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physical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memory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system.</a:t>
            </a:r>
            <a:endParaRPr sz="2800">
              <a:latin typeface="Calibri"/>
              <a:cs typeface="Calibri"/>
            </a:endParaRPr>
          </a:p>
          <a:p>
            <a:pPr marL="12700" marR="6985" indent="227329" algn="just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own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unique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name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its </a:t>
            </a:r>
            <a:r>
              <a:rPr sz="2800" spc="-10" dirty="0">
                <a:latin typeface="Calibri"/>
                <a:cs typeface="Calibri"/>
              </a:rPr>
              <a:t>contents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referred.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4800" spc="-50" dirty="0"/>
              <a:t>Characteristics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841247" y="1537716"/>
            <a:ext cx="10476230" cy="116205"/>
            <a:chOff x="841247" y="1537716"/>
            <a:chExt cx="10476230" cy="116205"/>
          </a:xfrm>
        </p:grpSpPr>
        <p:sp>
          <p:nvSpPr>
            <p:cNvPr id="4" name="object 4"/>
            <p:cNvSpPr/>
            <p:nvPr/>
          </p:nvSpPr>
          <p:spPr>
            <a:xfrm>
              <a:off x="865631" y="1635252"/>
              <a:ext cx="10452100" cy="18415"/>
            </a:xfrm>
            <a:custGeom>
              <a:avLst/>
              <a:gdLst/>
              <a:ahLst/>
              <a:cxnLst/>
              <a:rect l="l" t="t" r="r" b="b"/>
              <a:pathLst>
                <a:path w="10452100" h="18414">
                  <a:moveTo>
                    <a:pt x="10451592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10451592" y="18287"/>
                  </a:lnTo>
                  <a:lnTo>
                    <a:pt x="10451592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1247" y="1537716"/>
              <a:ext cx="1873250" cy="109855"/>
            </a:xfrm>
            <a:custGeom>
              <a:avLst/>
              <a:gdLst/>
              <a:ahLst/>
              <a:cxnLst/>
              <a:rect l="l" t="t" r="r" b="b"/>
              <a:pathLst>
                <a:path w="1873250" h="109855">
                  <a:moveTo>
                    <a:pt x="1872995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872995" y="109727"/>
                  </a:lnTo>
                  <a:lnTo>
                    <a:pt x="187299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50036" y="2398776"/>
            <a:ext cx="1336675" cy="1336675"/>
            <a:chOff x="1050036" y="2398776"/>
            <a:chExt cx="1336675" cy="1336675"/>
          </a:xfrm>
        </p:grpSpPr>
        <p:sp>
          <p:nvSpPr>
            <p:cNvPr id="7" name="object 7"/>
            <p:cNvSpPr/>
            <p:nvPr/>
          </p:nvSpPr>
          <p:spPr>
            <a:xfrm>
              <a:off x="1050036" y="2398776"/>
              <a:ext cx="1336675" cy="1336675"/>
            </a:xfrm>
            <a:custGeom>
              <a:avLst/>
              <a:gdLst/>
              <a:ahLst/>
              <a:cxnLst/>
              <a:rect l="l" t="t" r="r" b="b"/>
              <a:pathLst>
                <a:path w="1336675" h="1336675">
                  <a:moveTo>
                    <a:pt x="668274" y="0"/>
                  </a:moveTo>
                  <a:lnTo>
                    <a:pt x="620550" y="1678"/>
                  </a:lnTo>
                  <a:lnTo>
                    <a:pt x="573732" y="6636"/>
                  </a:lnTo>
                  <a:lnTo>
                    <a:pt x="527932" y="14762"/>
                  </a:lnTo>
                  <a:lnTo>
                    <a:pt x="483264" y="25943"/>
                  </a:lnTo>
                  <a:lnTo>
                    <a:pt x="439840" y="40064"/>
                  </a:lnTo>
                  <a:lnTo>
                    <a:pt x="397775" y="57014"/>
                  </a:lnTo>
                  <a:lnTo>
                    <a:pt x="357180" y="76679"/>
                  </a:lnTo>
                  <a:lnTo>
                    <a:pt x="318169" y="98946"/>
                  </a:lnTo>
                  <a:lnTo>
                    <a:pt x="280855" y="123702"/>
                  </a:lnTo>
                  <a:lnTo>
                    <a:pt x="245352" y="150834"/>
                  </a:lnTo>
                  <a:lnTo>
                    <a:pt x="211772" y="180228"/>
                  </a:lnTo>
                  <a:lnTo>
                    <a:pt x="180228" y="211772"/>
                  </a:lnTo>
                  <a:lnTo>
                    <a:pt x="150834" y="245352"/>
                  </a:lnTo>
                  <a:lnTo>
                    <a:pt x="123702" y="280855"/>
                  </a:lnTo>
                  <a:lnTo>
                    <a:pt x="98946" y="318169"/>
                  </a:lnTo>
                  <a:lnTo>
                    <a:pt x="76679" y="357180"/>
                  </a:lnTo>
                  <a:lnTo>
                    <a:pt x="57014" y="397775"/>
                  </a:lnTo>
                  <a:lnTo>
                    <a:pt x="40064" y="439840"/>
                  </a:lnTo>
                  <a:lnTo>
                    <a:pt x="25943" y="483264"/>
                  </a:lnTo>
                  <a:lnTo>
                    <a:pt x="14762" y="527932"/>
                  </a:lnTo>
                  <a:lnTo>
                    <a:pt x="6636" y="573732"/>
                  </a:lnTo>
                  <a:lnTo>
                    <a:pt x="1678" y="620550"/>
                  </a:lnTo>
                  <a:lnTo>
                    <a:pt x="0" y="668274"/>
                  </a:lnTo>
                  <a:lnTo>
                    <a:pt x="1678" y="715997"/>
                  </a:lnTo>
                  <a:lnTo>
                    <a:pt x="6636" y="762815"/>
                  </a:lnTo>
                  <a:lnTo>
                    <a:pt x="14762" y="808615"/>
                  </a:lnTo>
                  <a:lnTo>
                    <a:pt x="25943" y="853283"/>
                  </a:lnTo>
                  <a:lnTo>
                    <a:pt x="40064" y="896707"/>
                  </a:lnTo>
                  <a:lnTo>
                    <a:pt x="57014" y="938772"/>
                  </a:lnTo>
                  <a:lnTo>
                    <a:pt x="76679" y="979367"/>
                  </a:lnTo>
                  <a:lnTo>
                    <a:pt x="98946" y="1018378"/>
                  </a:lnTo>
                  <a:lnTo>
                    <a:pt x="123702" y="1055692"/>
                  </a:lnTo>
                  <a:lnTo>
                    <a:pt x="150834" y="1091195"/>
                  </a:lnTo>
                  <a:lnTo>
                    <a:pt x="180228" y="1124775"/>
                  </a:lnTo>
                  <a:lnTo>
                    <a:pt x="211772" y="1156319"/>
                  </a:lnTo>
                  <a:lnTo>
                    <a:pt x="245352" y="1185713"/>
                  </a:lnTo>
                  <a:lnTo>
                    <a:pt x="280855" y="1212845"/>
                  </a:lnTo>
                  <a:lnTo>
                    <a:pt x="318169" y="1237601"/>
                  </a:lnTo>
                  <a:lnTo>
                    <a:pt x="357180" y="1259868"/>
                  </a:lnTo>
                  <a:lnTo>
                    <a:pt x="397775" y="1279533"/>
                  </a:lnTo>
                  <a:lnTo>
                    <a:pt x="439840" y="1296483"/>
                  </a:lnTo>
                  <a:lnTo>
                    <a:pt x="483264" y="1310604"/>
                  </a:lnTo>
                  <a:lnTo>
                    <a:pt x="527932" y="1321785"/>
                  </a:lnTo>
                  <a:lnTo>
                    <a:pt x="573732" y="1329911"/>
                  </a:lnTo>
                  <a:lnTo>
                    <a:pt x="620550" y="1334869"/>
                  </a:lnTo>
                  <a:lnTo>
                    <a:pt x="668274" y="1336548"/>
                  </a:lnTo>
                  <a:lnTo>
                    <a:pt x="715997" y="1334869"/>
                  </a:lnTo>
                  <a:lnTo>
                    <a:pt x="762815" y="1329911"/>
                  </a:lnTo>
                  <a:lnTo>
                    <a:pt x="808615" y="1321785"/>
                  </a:lnTo>
                  <a:lnTo>
                    <a:pt x="853283" y="1310604"/>
                  </a:lnTo>
                  <a:lnTo>
                    <a:pt x="896707" y="1296483"/>
                  </a:lnTo>
                  <a:lnTo>
                    <a:pt x="938772" y="1279533"/>
                  </a:lnTo>
                  <a:lnTo>
                    <a:pt x="979367" y="1259868"/>
                  </a:lnTo>
                  <a:lnTo>
                    <a:pt x="1018378" y="1237601"/>
                  </a:lnTo>
                  <a:lnTo>
                    <a:pt x="1055692" y="1212845"/>
                  </a:lnTo>
                  <a:lnTo>
                    <a:pt x="1091195" y="1185713"/>
                  </a:lnTo>
                  <a:lnTo>
                    <a:pt x="1124775" y="1156319"/>
                  </a:lnTo>
                  <a:lnTo>
                    <a:pt x="1156319" y="1124775"/>
                  </a:lnTo>
                  <a:lnTo>
                    <a:pt x="1185713" y="1091195"/>
                  </a:lnTo>
                  <a:lnTo>
                    <a:pt x="1212845" y="1055692"/>
                  </a:lnTo>
                  <a:lnTo>
                    <a:pt x="1237601" y="1018378"/>
                  </a:lnTo>
                  <a:lnTo>
                    <a:pt x="1259868" y="979367"/>
                  </a:lnTo>
                  <a:lnTo>
                    <a:pt x="1279533" y="938772"/>
                  </a:lnTo>
                  <a:lnTo>
                    <a:pt x="1296483" y="896707"/>
                  </a:lnTo>
                  <a:lnTo>
                    <a:pt x="1310604" y="853283"/>
                  </a:lnTo>
                  <a:lnTo>
                    <a:pt x="1321785" y="808615"/>
                  </a:lnTo>
                  <a:lnTo>
                    <a:pt x="1329911" y="762815"/>
                  </a:lnTo>
                  <a:lnTo>
                    <a:pt x="1334869" y="715997"/>
                  </a:lnTo>
                  <a:lnTo>
                    <a:pt x="1336547" y="668274"/>
                  </a:lnTo>
                  <a:lnTo>
                    <a:pt x="1334869" y="620550"/>
                  </a:lnTo>
                  <a:lnTo>
                    <a:pt x="1329911" y="573732"/>
                  </a:lnTo>
                  <a:lnTo>
                    <a:pt x="1321785" y="527932"/>
                  </a:lnTo>
                  <a:lnTo>
                    <a:pt x="1310604" y="483264"/>
                  </a:lnTo>
                  <a:lnTo>
                    <a:pt x="1296483" y="439840"/>
                  </a:lnTo>
                  <a:lnTo>
                    <a:pt x="1279533" y="397775"/>
                  </a:lnTo>
                  <a:lnTo>
                    <a:pt x="1259868" y="357180"/>
                  </a:lnTo>
                  <a:lnTo>
                    <a:pt x="1237601" y="318169"/>
                  </a:lnTo>
                  <a:lnTo>
                    <a:pt x="1212845" y="280855"/>
                  </a:lnTo>
                  <a:lnTo>
                    <a:pt x="1185713" y="245352"/>
                  </a:lnTo>
                  <a:lnTo>
                    <a:pt x="1156319" y="211772"/>
                  </a:lnTo>
                  <a:lnTo>
                    <a:pt x="1124775" y="180228"/>
                  </a:lnTo>
                  <a:lnTo>
                    <a:pt x="1091195" y="150834"/>
                  </a:lnTo>
                  <a:lnTo>
                    <a:pt x="1055692" y="123702"/>
                  </a:lnTo>
                  <a:lnTo>
                    <a:pt x="1018378" y="98946"/>
                  </a:lnTo>
                  <a:lnTo>
                    <a:pt x="979367" y="76679"/>
                  </a:lnTo>
                  <a:lnTo>
                    <a:pt x="938772" y="57014"/>
                  </a:lnTo>
                  <a:lnTo>
                    <a:pt x="896707" y="40064"/>
                  </a:lnTo>
                  <a:lnTo>
                    <a:pt x="853283" y="25943"/>
                  </a:lnTo>
                  <a:lnTo>
                    <a:pt x="808615" y="14762"/>
                  </a:lnTo>
                  <a:lnTo>
                    <a:pt x="762815" y="6636"/>
                  </a:lnTo>
                  <a:lnTo>
                    <a:pt x="715997" y="1678"/>
                  </a:lnTo>
                  <a:lnTo>
                    <a:pt x="66827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00022" y="2844215"/>
              <a:ext cx="639445" cy="447040"/>
            </a:xfrm>
            <a:custGeom>
              <a:avLst/>
              <a:gdLst/>
              <a:ahLst/>
              <a:cxnLst/>
              <a:rect l="l" t="t" r="r" b="b"/>
              <a:pathLst>
                <a:path w="639444" h="447039">
                  <a:moveTo>
                    <a:pt x="239661" y="175717"/>
                  </a:moveTo>
                  <a:lnTo>
                    <a:pt x="207708" y="175717"/>
                  </a:lnTo>
                  <a:lnTo>
                    <a:pt x="207708" y="271449"/>
                  </a:lnTo>
                  <a:lnTo>
                    <a:pt x="239661" y="271449"/>
                  </a:lnTo>
                  <a:lnTo>
                    <a:pt x="239661" y="175717"/>
                  </a:lnTo>
                  <a:close/>
                </a:path>
                <a:path w="639444" h="447039">
                  <a:moveTo>
                    <a:pt x="431406" y="175717"/>
                  </a:moveTo>
                  <a:lnTo>
                    <a:pt x="399453" y="175717"/>
                  </a:lnTo>
                  <a:lnTo>
                    <a:pt x="399453" y="271449"/>
                  </a:lnTo>
                  <a:lnTo>
                    <a:pt x="431406" y="271449"/>
                  </a:lnTo>
                  <a:lnTo>
                    <a:pt x="431406" y="175717"/>
                  </a:lnTo>
                  <a:close/>
                </a:path>
                <a:path w="639444" h="447039">
                  <a:moveTo>
                    <a:pt x="639114" y="175717"/>
                  </a:moveTo>
                  <a:lnTo>
                    <a:pt x="591185" y="175717"/>
                  </a:lnTo>
                  <a:lnTo>
                    <a:pt x="591185" y="271449"/>
                  </a:lnTo>
                  <a:lnTo>
                    <a:pt x="639114" y="271449"/>
                  </a:lnTo>
                  <a:lnTo>
                    <a:pt x="639114" y="175717"/>
                  </a:lnTo>
                  <a:close/>
                </a:path>
                <a:path w="639444" h="447039">
                  <a:moveTo>
                    <a:pt x="639114" y="0"/>
                  </a:moveTo>
                  <a:lnTo>
                    <a:pt x="591185" y="0"/>
                  </a:lnTo>
                  <a:lnTo>
                    <a:pt x="591185" y="48234"/>
                  </a:lnTo>
                  <a:lnTo>
                    <a:pt x="591185" y="143408"/>
                  </a:lnTo>
                  <a:lnTo>
                    <a:pt x="431406" y="143408"/>
                  </a:lnTo>
                  <a:lnTo>
                    <a:pt x="431406" y="48234"/>
                  </a:lnTo>
                  <a:lnTo>
                    <a:pt x="591185" y="48234"/>
                  </a:lnTo>
                  <a:lnTo>
                    <a:pt x="591185" y="0"/>
                  </a:lnTo>
                  <a:lnTo>
                    <a:pt x="399453" y="0"/>
                  </a:lnTo>
                  <a:lnTo>
                    <a:pt x="399453" y="48234"/>
                  </a:lnTo>
                  <a:lnTo>
                    <a:pt x="399453" y="143408"/>
                  </a:lnTo>
                  <a:lnTo>
                    <a:pt x="239661" y="143408"/>
                  </a:lnTo>
                  <a:lnTo>
                    <a:pt x="239661" y="48234"/>
                  </a:lnTo>
                  <a:lnTo>
                    <a:pt x="399453" y="48234"/>
                  </a:lnTo>
                  <a:lnTo>
                    <a:pt x="399453" y="0"/>
                  </a:lnTo>
                  <a:lnTo>
                    <a:pt x="207708" y="0"/>
                  </a:lnTo>
                  <a:lnTo>
                    <a:pt x="207708" y="48234"/>
                  </a:lnTo>
                  <a:lnTo>
                    <a:pt x="207708" y="143408"/>
                  </a:lnTo>
                  <a:lnTo>
                    <a:pt x="47929" y="143408"/>
                  </a:lnTo>
                  <a:lnTo>
                    <a:pt x="47929" y="48234"/>
                  </a:lnTo>
                  <a:lnTo>
                    <a:pt x="207708" y="48234"/>
                  </a:lnTo>
                  <a:lnTo>
                    <a:pt x="207708" y="0"/>
                  </a:lnTo>
                  <a:lnTo>
                    <a:pt x="0" y="0"/>
                  </a:lnTo>
                  <a:lnTo>
                    <a:pt x="0" y="48234"/>
                  </a:lnTo>
                  <a:lnTo>
                    <a:pt x="0" y="143408"/>
                  </a:lnTo>
                  <a:lnTo>
                    <a:pt x="0" y="446735"/>
                  </a:lnTo>
                  <a:lnTo>
                    <a:pt x="639114" y="446735"/>
                  </a:lnTo>
                  <a:lnTo>
                    <a:pt x="639114" y="399097"/>
                  </a:lnTo>
                  <a:lnTo>
                    <a:pt x="639114" y="398500"/>
                  </a:lnTo>
                  <a:lnTo>
                    <a:pt x="639114" y="303352"/>
                  </a:lnTo>
                  <a:lnTo>
                    <a:pt x="591185" y="303352"/>
                  </a:lnTo>
                  <a:lnTo>
                    <a:pt x="591185" y="398500"/>
                  </a:lnTo>
                  <a:lnTo>
                    <a:pt x="431406" y="398500"/>
                  </a:lnTo>
                  <a:lnTo>
                    <a:pt x="431406" y="303352"/>
                  </a:lnTo>
                  <a:lnTo>
                    <a:pt x="399453" y="303352"/>
                  </a:lnTo>
                  <a:lnTo>
                    <a:pt x="399453" y="398500"/>
                  </a:lnTo>
                  <a:lnTo>
                    <a:pt x="239661" y="398500"/>
                  </a:lnTo>
                  <a:lnTo>
                    <a:pt x="239661" y="303352"/>
                  </a:lnTo>
                  <a:lnTo>
                    <a:pt x="207708" y="303352"/>
                  </a:lnTo>
                  <a:lnTo>
                    <a:pt x="207708" y="398500"/>
                  </a:lnTo>
                  <a:lnTo>
                    <a:pt x="47929" y="398500"/>
                  </a:lnTo>
                  <a:lnTo>
                    <a:pt x="47929" y="303314"/>
                  </a:lnTo>
                  <a:lnTo>
                    <a:pt x="639114" y="303314"/>
                  </a:lnTo>
                  <a:lnTo>
                    <a:pt x="639114" y="271589"/>
                  </a:lnTo>
                  <a:lnTo>
                    <a:pt x="47929" y="271589"/>
                  </a:lnTo>
                  <a:lnTo>
                    <a:pt x="47929" y="175145"/>
                  </a:lnTo>
                  <a:lnTo>
                    <a:pt x="639114" y="175145"/>
                  </a:lnTo>
                  <a:lnTo>
                    <a:pt x="639114" y="143802"/>
                  </a:lnTo>
                  <a:lnTo>
                    <a:pt x="639114" y="143408"/>
                  </a:lnTo>
                  <a:lnTo>
                    <a:pt x="639114" y="48234"/>
                  </a:lnTo>
                  <a:lnTo>
                    <a:pt x="639114" y="48069"/>
                  </a:lnTo>
                  <a:lnTo>
                    <a:pt x="63911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60395" y="2391283"/>
            <a:ext cx="2988310" cy="339979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88925">
              <a:lnSpc>
                <a:spcPct val="101699"/>
              </a:lnSpc>
              <a:spcBef>
                <a:spcPts val="55"/>
              </a:spcBef>
            </a:pPr>
            <a:r>
              <a:rPr sz="2100" dirty="0">
                <a:latin typeface="Calibri"/>
                <a:cs typeface="Calibri"/>
              </a:rPr>
              <a:t>A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table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perceived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as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2- </a:t>
            </a:r>
            <a:r>
              <a:rPr sz="2100" dirty="0">
                <a:latin typeface="Calibri"/>
                <a:cs typeface="Calibri"/>
              </a:rPr>
              <a:t>dimensional</a:t>
            </a:r>
            <a:r>
              <a:rPr sz="2100" spc="-114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structure composed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rows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and </a:t>
            </a:r>
            <a:r>
              <a:rPr sz="2100" spc="-10" dirty="0">
                <a:latin typeface="Calibri"/>
                <a:cs typeface="Calibri"/>
              </a:rPr>
              <a:t>columns</a:t>
            </a:r>
            <a:r>
              <a:rPr sz="2100" spc="-10" dirty="0">
                <a:latin typeface="Calibri Light"/>
                <a:cs typeface="Calibri Light"/>
              </a:rPr>
              <a:t>.</a:t>
            </a:r>
            <a:endParaRPr sz="21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21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2100">
              <a:latin typeface="Calibri Light"/>
              <a:cs typeface="Calibri Light"/>
            </a:endParaRPr>
          </a:p>
          <a:p>
            <a:pPr marL="12700" marR="5080">
              <a:lnSpc>
                <a:spcPct val="101800"/>
              </a:lnSpc>
            </a:pPr>
            <a:r>
              <a:rPr sz="2100" dirty="0">
                <a:latin typeface="Calibri"/>
                <a:cs typeface="Calibri"/>
              </a:rPr>
              <a:t>Each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table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column represents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attribute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and </a:t>
            </a:r>
            <a:r>
              <a:rPr sz="2100" dirty="0">
                <a:latin typeface="Calibri"/>
                <a:cs typeface="Calibri"/>
              </a:rPr>
              <a:t>each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column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has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distinct name</a:t>
            </a:r>
            <a:r>
              <a:rPr sz="2100" spc="-10" dirty="0">
                <a:latin typeface="Calibri Light"/>
                <a:cs typeface="Calibri Light"/>
              </a:rPr>
              <a:t>.</a:t>
            </a:r>
            <a:endParaRPr sz="2100">
              <a:latin typeface="Calibri Light"/>
              <a:cs typeface="Calibri Ligh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70320" y="2398776"/>
            <a:ext cx="1336675" cy="1336675"/>
            <a:chOff x="6370320" y="2398776"/>
            <a:chExt cx="1336675" cy="1336675"/>
          </a:xfrm>
        </p:grpSpPr>
        <p:sp>
          <p:nvSpPr>
            <p:cNvPr id="11" name="object 11"/>
            <p:cNvSpPr/>
            <p:nvPr/>
          </p:nvSpPr>
          <p:spPr>
            <a:xfrm>
              <a:off x="6370320" y="2398776"/>
              <a:ext cx="1336675" cy="1336675"/>
            </a:xfrm>
            <a:custGeom>
              <a:avLst/>
              <a:gdLst/>
              <a:ahLst/>
              <a:cxnLst/>
              <a:rect l="l" t="t" r="r" b="b"/>
              <a:pathLst>
                <a:path w="1336675" h="1336675">
                  <a:moveTo>
                    <a:pt x="668274" y="0"/>
                  </a:moveTo>
                  <a:lnTo>
                    <a:pt x="620550" y="1678"/>
                  </a:lnTo>
                  <a:lnTo>
                    <a:pt x="573732" y="6636"/>
                  </a:lnTo>
                  <a:lnTo>
                    <a:pt x="527932" y="14762"/>
                  </a:lnTo>
                  <a:lnTo>
                    <a:pt x="483264" y="25943"/>
                  </a:lnTo>
                  <a:lnTo>
                    <a:pt x="439840" y="40064"/>
                  </a:lnTo>
                  <a:lnTo>
                    <a:pt x="397775" y="57014"/>
                  </a:lnTo>
                  <a:lnTo>
                    <a:pt x="357180" y="76679"/>
                  </a:lnTo>
                  <a:lnTo>
                    <a:pt x="318169" y="98946"/>
                  </a:lnTo>
                  <a:lnTo>
                    <a:pt x="280855" y="123702"/>
                  </a:lnTo>
                  <a:lnTo>
                    <a:pt x="245352" y="150834"/>
                  </a:lnTo>
                  <a:lnTo>
                    <a:pt x="211772" y="180228"/>
                  </a:lnTo>
                  <a:lnTo>
                    <a:pt x="180228" y="211772"/>
                  </a:lnTo>
                  <a:lnTo>
                    <a:pt x="150834" y="245352"/>
                  </a:lnTo>
                  <a:lnTo>
                    <a:pt x="123702" y="280855"/>
                  </a:lnTo>
                  <a:lnTo>
                    <a:pt x="98946" y="318169"/>
                  </a:lnTo>
                  <a:lnTo>
                    <a:pt x="76679" y="357180"/>
                  </a:lnTo>
                  <a:lnTo>
                    <a:pt x="57014" y="397775"/>
                  </a:lnTo>
                  <a:lnTo>
                    <a:pt x="40064" y="439840"/>
                  </a:lnTo>
                  <a:lnTo>
                    <a:pt x="25943" y="483264"/>
                  </a:lnTo>
                  <a:lnTo>
                    <a:pt x="14762" y="527932"/>
                  </a:lnTo>
                  <a:lnTo>
                    <a:pt x="6636" y="573732"/>
                  </a:lnTo>
                  <a:lnTo>
                    <a:pt x="1678" y="620550"/>
                  </a:lnTo>
                  <a:lnTo>
                    <a:pt x="0" y="668274"/>
                  </a:lnTo>
                  <a:lnTo>
                    <a:pt x="1678" y="715997"/>
                  </a:lnTo>
                  <a:lnTo>
                    <a:pt x="6636" y="762815"/>
                  </a:lnTo>
                  <a:lnTo>
                    <a:pt x="14762" y="808615"/>
                  </a:lnTo>
                  <a:lnTo>
                    <a:pt x="25943" y="853283"/>
                  </a:lnTo>
                  <a:lnTo>
                    <a:pt x="40064" y="896707"/>
                  </a:lnTo>
                  <a:lnTo>
                    <a:pt x="57014" y="938772"/>
                  </a:lnTo>
                  <a:lnTo>
                    <a:pt x="76679" y="979367"/>
                  </a:lnTo>
                  <a:lnTo>
                    <a:pt x="98946" y="1018378"/>
                  </a:lnTo>
                  <a:lnTo>
                    <a:pt x="123702" y="1055692"/>
                  </a:lnTo>
                  <a:lnTo>
                    <a:pt x="150834" y="1091195"/>
                  </a:lnTo>
                  <a:lnTo>
                    <a:pt x="180228" y="1124775"/>
                  </a:lnTo>
                  <a:lnTo>
                    <a:pt x="211772" y="1156319"/>
                  </a:lnTo>
                  <a:lnTo>
                    <a:pt x="245352" y="1185713"/>
                  </a:lnTo>
                  <a:lnTo>
                    <a:pt x="280855" y="1212845"/>
                  </a:lnTo>
                  <a:lnTo>
                    <a:pt x="318169" y="1237601"/>
                  </a:lnTo>
                  <a:lnTo>
                    <a:pt x="357180" y="1259868"/>
                  </a:lnTo>
                  <a:lnTo>
                    <a:pt x="397775" y="1279533"/>
                  </a:lnTo>
                  <a:lnTo>
                    <a:pt x="439840" y="1296483"/>
                  </a:lnTo>
                  <a:lnTo>
                    <a:pt x="483264" y="1310604"/>
                  </a:lnTo>
                  <a:lnTo>
                    <a:pt x="527932" y="1321785"/>
                  </a:lnTo>
                  <a:lnTo>
                    <a:pt x="573732" y="1329911"/>
                  </a:lnTo>
                  <a:lnTo>
                    <a:pt x="620550" y="1334869"/>
                  </a:lnTo>
                  <a:lnTo>
                    <a:pt x="668274" y="1336548"/>
                  </a:lnTo>
                  <a:lnTo>
                    <a:pt x="715997" y="1334869"/>
                  </a:lnTo>
                  <a:lnTo>
                    <a:pt x="762815" y="1329911"/>
                  </a:lnTo>
                  <a:lnTo>
                    <a:pt x="808615" y="1321785"/>
                  </a:lnTo>
                  <a:lnTo>
                    <a:pt x="853283" y="1310604"/>
                  </a:lnTo>
                  <a:lnTo>
                    <a:pt x="896707" y="1296483"/>
                  </a:lnTo>
                  <a:lnTo>
                    <a:pt x="938772" y="1279533"/>
                  </a:lnTo>
                  <a:lnTo>
                    <a:pt x="979367" y="1259868"/>
                  </a:lnTo>
                  <a:lnTo>
                    <a:pt x="1018378" y="1237601"/>
                  </a:lnTo>
                  <a:lnTo>
                    <a:pt x="1055692" y="1212845"/>
                  </a:lnTo>
                  <a:lnTo>
                    <a:pt x="1091195" y="1185713"/>
                  </a:lnTo>
                  <a:lnTo>
                    <a:pt x="1124775" y="1156319"/>
                  </a:lnTo>
                  <a:lnTo>
                    <a:pt x="1156319" y="1124775"/>
                  </a:lnTo>
                  <a:lnTo>
                    <a:pt x="1185713" y="1091195"/>
                  </a:lnTo>
                  <a:lnTo>
                    <a:pt x="1212845" y="1055692"/>
                  </a:lnTo>
                  <a:lnTo>
                    <a:pt x="1237601" y="1018378"/>
                  </a:lnTo>
                  <a:lnTo>
                    <a:pt x="1259868" y="979367"/>
                  </a:lnTo>
                  <a:lnTo>
                    <a:pt x="1279533" y="938772"/>
                  </a:lnTo>
                  <a:lnTo>
                    <a:pt x="1296483" y="896707"/>
                  </a:lnTo>
                  <a:lnTo>
                    <a:pt x="1310604" y="853283"/>
                  </a:lnTo>
                  <a:lnTo>
                    <a:pt x="1321785" y="808615"/>
                  </a:lnTo>
                  <a:lnTo>
                    <a:pt x="1329911" y="762815"/>
                  </a:lnTo>
                  <a:lnTo>
                    <a:pt x="1334869" y="715997"/>
                  </a:lnTo>
                  <a:lnTo>
                    <a:pt x="1336548" y="668274"/>
                  </a:lnTo>
                  <a:lnTo>
                    <a:pt x="1334869" y="620550"/>
                  </a:lnTo>
                  <a:lnTo>
                    <a:pt x="1329911" y="573732"/>
                  </a:lnTo>
                  <a:lnTo>
                    <a:pt x="1321785" y="527932"/>
                  </a:lnTo>
                  <a:lnTo>
                    <a:pt x="1310604" y="483264"/>
                  </a:lnTo>
                  <a:lnTo>
                    <a:pt x="1296483" y="439840"/>
                  </a:lnTo>
                  <a:lnTo>
                    <a:pt x="1279533" y="397775"/>
                  </a:lnTo>
                  <a:lnTo>
                    <a:pt x="1259868" y="357180"/>
                  </a:lnTo>
                  <a:lnTo>
                    <a:pt x="1237601" y="318169"/>
                  </a:lnTo>
                  <a:lnTo>
                    <a:pt x="1212845" y="280855"/>
                  </a:lnTo>
                  <a:lnTo>
                    <a:pt x="1185713" y="245352"/>
                  </a:lnTo>
                  <a:lnTo>
                    <a:pt x="1156319" y="211772"/>
                  </a:lnTo>
                  <a:lnTo>
                    <a:pt x="1124775" y="180228"/>
                  </a:lnTo>
                  <a:lnTo>
                    <a:pt x="1091195" y="150834"/>
                  </a:lnTo>
                  <a:lnTo>
                    <a:pt x="1055692" y="123702"/>
                  </a:lnTo>
                  <a:lnTo>
                    <a:pt x="1018378" y="98946"/>
                  </a:lnTo>
                  <a:lnTo>
                    <a:pt x="979367" y="76679"/>
                  </a:lnTo>
                  <a:lnTo>
                    <a:pt x="938772" y="57014"/>
                  </a:lnTo>
                  <a:lnTo>
                    <a:pt x="896707" y="40064"/>
                  </a:lnTo>
                  <a:lnTo>
                    <a:pt x="853283" y="25943"/>
                  </a:lnTo>
                  <a:lnTo>
                    <a:pt x="808615" y="14762"/>
                  </a:lnTo>
                  <a:lnTo>
                    <a:pt x="762815" y="6636"/>
                  </a:lnTo>
                  <a:lnTo>
                    <a:pt x="715997" y="1678"/>
                  </a:lnTo>
                  <a:lnTo>
                    <a:pt x="66827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04056" y="2812499"/>
              <a:ext cx="271780" cy="111760"/>
            </a:xfrm>
            <a:custGeom>
              <a:avLst/>
              <a:gdLst/>
              <a:ahLst/>
              <a:cxnLst/>
              <a:rect l="l" t="t" r="r" b="b"/>
              <a:pathLst>
                <a:path w="271779" h="111760">
                  <a:moveTo>
                    <a:pt x="271628" y="0"/>
                  </a:moveTo>
                  <a:lnTo>
                    <a:pt x="0" y="0"/>
                  </a:lnTo>
                  <a:lnTo>
                    <a:pt x="0" y="111689"/>
                  </a:lnTo>
                  <a:lnTo>
                    <a:pt x="271628" y="111689"/>
                  </a:lnTo>
                  <a:lnTo>
                    <a:pt x="27162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2263" y="3235323"/>
              <a:ext cx="95868" cy="9573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1935" y="3235323"/>
              <a:ext cx="95868" cy="9573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1607" y="3235323"/>
              <a:ext cx="95868" cy="9573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784220" y="2956099"/>
              <a:ext cx="511809" cy="255904"/>
            </a:xfrm>
            <a:custGeom>
              <a:avLst/>
              <a:gdLst/>
              <a:ahLst/>
              <a:cxnLst/>
              <a:rect l="l" t="t" r="r" b="b"/>
              <a:pathLst>
                <a:path w="511809" h="255905">
                  <a:moveTo>
                    <a:pt x="271628" y="0"/>
                  </a:moveTo>
                  <a:lnTo>
                    <a:pt x="239672" y="0"/>
                  </a:lnTo>
                  <a:lnTo>
                    <a:pt x="239672" y="75789"/>
                  </a:lnTo>
                  <a:lnTo>
                    <a:pt x="203721" y="111689"/>
                  </a:lnTo>
                  <a:lnTo>
                    <a:pt x="0" y="111689"/>
                  </a:lnTo>
                  <a:lnTo>
                    <a:pt x="0" y="255290"/>
                  </a:lnTo>
                  <a:lnTo>
                    <a:pt x="31956" y="255290"/>
                  </a:lnTo>
                  <a:lnTo>
                    <a:pt x="31956" y="143600"/>
                  </a:lnTo>
                  <a:lnTo>
                    <a:pt x="231682" y="143600"/>
                  </a:lnTo>
                  <a:lnTo>
                    <a:pt x="215704" y="127645"/>
                  </a:lnTo>
                  <a:lnTo>
                    <a:pt x="255650" y="87756"/>
                  </a:lnTo>
                  <a:lnTo>
                    <a:pt x="283611" y="87756"/>
                  </a:lnTo>
                  <a:lnTo>
                    <a:pt x="271628" y="75789"/>
                  </a:lnTo>
                  <a:lnTo>
                    <a:pt x="271628" y="0"/>
                  </a:lnTo>
                  <a:close/>
                </a:path>
                <a:path w="511809" h="255905">
                  <a:moveTo>
                    <a:pt x="231682" y="143600"/>
                  </a:moveTo>
                  <a:lnTo>
                    <a:pt x="203721" y="143600"/>
                  </a:lnTo>
                  <a:lnTo>
                    <a:pt x="239672" y="179500"/>
                  </a:lnTo>
                  <a:lnTo>
                    <a:pt x="239672" y="255290"/>
                  </a:lnTo>
                  <a:lnTo>
                    <a:pt x="271628" y="255290"/>
                  </a:lnTo>
                  <a:lnTo>
                    <a:pt x="271628" y="179500"/>
                  </a:lnTo>
                  <a:lnTo>
                    <a:pt x="283611" y="167534"/>
                  </a:lnTo>
                  <a:lnTo>
                    <a:pt x="255650" y="167534"/>
                  </a:lnTo>
                  <a:lnTo>
                    <a:pt x="231682" y="143600"/>
                  </a:lnTo>
                  <a:close/>
                </a:path>
                <a:path w="511809" h="255905">
                  <a:moveTo>
                    <a:pt x="511300" y="143600"/>
                  </a:moveTo>
                  <a:lnTo>
                    <a:pt x="479344" y="143600"/>
                  </a:lnTo>
                  <a:lnTo>
                    <a:pt x="479344" y="255290"/>
                  </a:lnTo>
                  <a:lnTo>
                    <a:pt x="511300" y="255290"/>
                  </a:lnTo>
                  <a:lnTo>
                    <a:pt x="511300" y="143600"/>
                  </a:lnTo>
                  <a:close/>
                </a:path>
                <a:path w="511809" h="255905">
                  <a:moveTo>
                    <a:pt x="283611" y="87756"/>
                  </a:moveTo>
                  <a:lnTo>
                    <a:pt x="255650" y="87756"/>
                  </a:lnTo>
                  <a:lnTo>
                    <a:pt x="295595" y="127645"/>
                  </a:lnTo>
                  <a:lnTo>
                    <a:pt x="255650" y="167534"/>
                  </a:lnTo>
                  <a:lnTo>
                    <a:pt x="283611" y="167534"/>
                  </a:lnTo>
                  <a:lnTo>
                    <a:pt x="307579" y="143600"/>
                  </a:lnTo>
                  <a:lnTo>
                    <a:pt x="511300" y="143600"/>
                  </a:lnTo>
                  <a:lnTo>
                    <a:pt x="511300" y="111689"/>
                  </a:lnTo>
                  <a:lnTo>
                    <a:pt x="307579" y="111689"/>
                  </a:lnTo>
                  <a:lnTo>
                    <a:pt x="283611" y="87756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980933" y="2391283"/>
            <a:ext cx="3089275" cy="13227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55"/>
              </a:spcBef>
            </a:pPr>
            <a:r>
              <a:rPr sz="2100" dirty="0">
                <a:latin typeface="Calibri"/>
                <a:cs typeface="Calibri"/>
              </a:rPr>
              <a:t>Each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table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row(tuple) represents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single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entity occurrence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within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entity </a:t>
            </a:r>
            <a:r>
              <a:rPr sz="2100" spc="-20" dirty="0">
                <a:latin typeface="Calibri"/>
                <a:cs typeface="Calibri"/>
              </a:rPr>
              <a:t>set</a:t>
            </a:r>
            <a:r>
              <a:rPr sz="2100" spc="-20" dirty="0">
                <a:latin typeface="Calibri Light"/>
                <a:cs typeface="Calibri Light"/>
              </a:rPr>
              <a:t>.</a:t>
            </a:r>
            <a:endParaRPr sz="2100">
              <a:latin typeface="Calibri Light"/>
              <a:cs typeface="Calibri Ligh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50036" y="4475988"/>
            <a:ext cx="1336675" cy="1335405"/>
            <a:chOff x="1050036" y="4475988"/>
            <a:chExt cx="1336675" cy="1335405"/>
          </a:xfrm>
        </p:grpSpPr>
        <p:sp>
          <p:nvSpPr>
            <p:cNvPr id="19" name="object 19"/>
            <p:cNvSpPr/>
            <p:nvPr/>
          </p:nvSpPr>
          <p:spPr>
            <a:xfrm>
              <a:off x="1050036" y="4475988"/>
              <a:ext cx="1336675" cy="1335405"/>
            </a:xfrm>
            <a:custGeom>
              <a:avLst/>
              <a:gdLst/>
              <a:ahLst/>
              <a:cxnLst/>
              <a:rect l="l" t="t" r="r" b="b"/>
              <a:pathLst>
                <a:path w="1336675" h="1335404">
                  <a:moveTo>
                    <a:pt x="668274" y="0"/>
                  </a:moveTo>
                  <a:lnTo>
                    <a:pt x="620550" y="1675"/>
                  </a:lnTo>
                  <a:lnTo>
                    <a:pt x="573732" y="6628"/>
                  </a:lnTo>
                  <a:lnTo>
                    <a:pt x="527932" y="14744"/>
                  </a:lnTo>
                  <a:lnTo>
                    <a:pt x="483264" y="25910"/>
                  </a:lnTo>
                  <a:lnTo>
                    <a:pt x="439840" y="40014"/>
                  </a:lnTo>
                  <a:lnTo>
                    <a:pt x="397775" y="56943"/>
                  </a:lnTo>
                  <a:lnTo>
                    <a:pt x="357180" y="76584"/>
                  </a:lnTo>
                  <a:lnTo>
                    <a:pt x="318169" y="98824"/>
                  </a:lnTo>
                  <a:lnTo>
                    <a:pt x="280855" y="123550"/>
                  </a:lnTo>
                  <a:lnTo>
                    <a:pt x="245352" y="150649"/>
                  </a:lnTo>
                  <a:lnTo>
                    <a:pt x="211772" y="180008"/>
                  </a:lnTo>
                  <a:lnTo>
                    <a:pt x="180228" y="211515"/>
                  </a:lnTo>
                  <a:lnTo>
                    <a:pt x="150834" y="245056"/>
                  </a:lnTo>
                  <a:lnTo>
                    <a:pt x="123702" y="280518"/>
                  </a:lnTo>
                  <a:lnTo>
                    <a:pt x="98946" y="317789"/>
                  </a:lnTo>
                  <a:lnTo>
                    <a:pt x="76679" y="356755"/>
                  </a:lnTo>
                  <a:lnTo>
                    <a:pt x="57014" y="397304"/>
                  </a:lnTo>
                  <a:lnTo>
                    <a:pt x="40064" y="439323"/>
                  </a:lnTo>
                  <a:lnTo>
                    <a:pt x="25943" y="482699"/>
                  </a:lnTo>
                  <a:lnTo>
                    <a:pt x="14762" y="527318"/>
                  </a:lnTo>
                  <a:lnTo>
                    <a:pt x="6636" y="573069"/>
                  </a:lnTo>
                  <a:lnTo>
                    <a:pt x="1678" y="619838"/>
                  </a:lnTo>
                  <a:lnTo>
                    <a:pt x="0" y="667512"/>
                  </a:lnTo>
                  <a:lnTo>
                    <a:pt x="1678" y="715185"/>
                  </a:lnTo>
                  <a:lnTo>
                    <a:pt x="6636" y="761954"/>
                  </a:lnTo>
                  <a:lnTo>
                    <a:pt x="14762" y="807705"/>
                  </a:lnTo>
                  <a:lnTo>
                    <a:pt x="25943" y="852324"/>
                  </a:lnTo>
                  <a:lnTo>
                    <a:pt x="40064" y="895700"/>
                  </a:lnTo>
                  <a:lnTo>
                    <a:pt x="57014" y="937719"/>
                  </a:lnTo>
                  <a:lnTo>
                    <a:pt x="76679" y="978268"/>
                  </a:lnTo>
                  <a:lnTo>
                    <a:pt x="98946" y="1017234"/>
                  </a:lnTo>
                  <a:lnTo>
                    <a:pt x="123702" y="1054505"/>
                  </a:lnTo>
                  <a:lnTo>
                    <a:pt x="150834" y="1089967"/>
                  </a:lnTo>
                  <a:lnTo>
                    <a:pt x="180228" y="1123508"/>
                  </a:lnTo>
                  <a:lnTo>
                    <a:pt x="211772" y="1155015"/>
                  </a:lnTo>
                  <a:lnTo>
                    <a:pt x="245352" y="1184374"/>
                  </a:lnTo>
                  <a:lnTo>
                    <a:pt x="280855" y="1211473"/>
                  </a:lnTo>
                  <a:lnTo>
                    <a:pt x="318169" y="1236199"/>
                  </a:lnTo>
                  <a:lnTo>
                    <a:pt x="357180" y="1258439"/>
                  </a:lnTo>
                  <a:lnTo>
                    <a:pt x="397775" y="1278080"/>
                  </a:lnTo>
                  <a:lnTo>
                    <a:pt x="439840" y="1295009"/>
                  </a:lnTo>
                  <a:lnTo>
                    <a:pt x="483264" y="1309113"/>
                  </a:lnTo>
                  <a:lnTo>
                    <a:pt x="527932" y="1320279"/>
                  </a:lnTo>
                  <a:lnTo>
                    <a:pt x="573732" y="1328395"/>
                  </a:lnTo>
                  <a:lnTo>
                    <a:pt x="620550" y="1333348"/>
                  </a:lnTo>
                  <a:lnTo>
                    <a:pt x="668274" y="1335024"/>
                  </a:lnTo>
                  <a:lnTo>
                    <a:pt x="715997" y="1333348"/>
                  </a:lnTo>
                  <a:lnTo>
                    <a:pt x="762815" y="1328395"/>
                  </a:lnTo>
                  <a:lnTo>
                    <a:pt x="808615" y="1320279"/>
                  </a:lnTo>
                  <a:lnTo>
                    <a:pt x="853283" y="1309113"/>
                  </a:lnTo>
                  <a:lnTo>
                    <a:pt x="896707" y="1295009"/>
                  </a:lnTo>
                  <a:lnTo>
                    <a:pt x="938772" y="1278080"/>
                  </a:lnTo>
                  <a:lnTo>
                    <a:pt x="979367" y="1258439"/>
                  </a:lnTo>
                  <a:lnTo>
                    <a:pt x="1018378" y="1236199"/>
                  </a:lnTo>
                  <a:lnTo>
                    <a:pt x="1055692" y="1211473"/>
                  </a:lnTo>
                  <a:lnTo>
                    <a:pt x="1091195" y="1184374"/>
                  </a:lnTo>
                  <a:lnTo>
                    <a:pt x="1124775" y="1155015"/>
                  </a:lnTo>
                  <a:lnTo>
                    <a:pt x="1156319" y="1123508"/>
                  </a:lnTo>
                  <a:lnTo>
                    <a:pt x="1185713" y="1089967"/>
                  </a:lnTo>
                  <a:lnTo>
                    <a:pt x="1212845" y="1054505"/>
                  </a:lnTo>
                  <a:lnTo>
                    <a:pt x="1237601" y="1017234"/>
                  </a:lnTo>
                  <a:lnTo>
                    <a:pt x="1259868" y="978268"/>
                  </a:lnTo>
                  <a:lnTo>
                    <a:pt x="1279533" y="937719"/>
                  </a:lnTo>
                  <a:lnTo>
                    <a:pt x="1296483" y="895700"/>
                  </a:lnTo>
                  <a:lnTo>
                    <a:pt x="1310604" y="852324"/>
                  </a:lnTo>
                  <a:lnTo>
                    <a:pt x="1321785" y="807705"/>
                  </a:lnTo>
                  <a:lnTo>
                    <a:pt x="1329911" y="761954"/>
                  </a:lnTo>
                  <a:lnTo>
                    <a:pt x="1334869" y="715185"/>
                  </a:lnTo>
                  <a:lnTo>
                    <a:pt x="1336547" y="667512"/>
                  </a:lnTo>
                  <a:lnTo>
                    <a:pt x="1334869" y="619838"/>
                  </a:lnTo>
                  <a:lnTo>
                    <a:pt x="1329911" y="573069"/>
                  </a:lnTo>
                  <a:lnTo>
                    <a:pt x="1321785" y="527318"/>
                  </a:lnTo>
                  <a:lnTo>
                    <a:pt x="1310604" y="482699"/>
                  </a:lnTo>
                  <a:lnTo>
                    <a:pt x="1296483" y="439323"/>
                  </a:lnTo>
                  <a:lnTo>
                    <a:pt x="1279533" y="397304"/>
                  </a:lnTo>
                  <a:lnTo>
                    <a:pt x="1259868" y="356755"/>
                  </a:lnTo>
                  <a:lnTo>
                    <a:pt x="1237601" y="317789"/>
                  </a:lnTo>
                  <a:lnTo>
                    <a:pt x="1212845" y="280518"/>
                  </a:lnTo>
                  <a:lnTo>
                    <a:pt x="1185713" y="245056"/>
                  </a:lnTo>
                  <a:lnTo>
                    <a:pt x="1156319" y="211515"/>
                  </a:lnTo>
                  <a:lnTo>
                    <a:pt x="1124775" y="180008"/>
                  </a:lnTo>
                  <a:lnTo>
                    <a:pt x="1091195" y="150649"/>
                  </a:lnTo>
                  <a:lnTo>
                    <a:pt x="1055692" y="123550"/>
                  </a:lnTo>
                  <a:lnTo>
                    <a:pt x="1018378" y="98824"/>
                  </a:lnTo>
                  <a:lnTo>
                    <a:pt x="979367" y="76584"/>
                  </a:lnTo>
                  <a:lnTo>
                    <a:pt x="938772" y="56943"/>
                  </a:lnTo>
                  <a:lnTo>
                    <a:pt x="896707" y="40014"/>
                  </a:lnTo>
                  <a:lnTo>
                    <a:pt x="853283" y="25910"/>
                  </a:lnTo>
                  <a:lnTo>
                    <a:pt x="808615" y="14744"/>
                  </a:lnTo>
                  <a:lnTo>
                    <a:pt x="762815" y="6628"/>
                  </a:lnTo>
                  <a:lnTo>
                    <a:pt x="715997" y="1675"/>
                  </a:lnTo>
                  <a:lnTo>
                    <a:pt x="66827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47957" y="4873755"/>
              <a:ext cx="543560" cy="542925"/>
            </a:xfrm>
            <a:custGeom>
              <a:avLst/>
              <a:gdLst/>
              <a:ahLst/>
              <a:cxnLst/>
              <a:rect l="l" t="t" r="r" b="b"/>
              <a:pathLst>
                <a:path w="543560" h="542925">
                  <a:moveTo>
                    <a:pt x="543256" y="0"/>
                  </a:moveTo>
                  <a:lnTo>
                    <a:pt x="0" y="0"/>
                  </a:lnTo>
                  <a:lnTo>
                    <a:pt x="239672" y="239334"/>
                  </a:lnTo>
                  <a:lnTo>
                    <a:pt x="239672" y="542491"/>
                  </a:lnTo>
                  <a:lnTo>
                    <a:pt x="303584" y="478669"/>
                  </a:lnTo>
                  <a:lnTo>
                    <a:pt x="303584" y="239334"/>
                  </a:lnTo>
                  <a:lnTo>
                    <a:pt x="54325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6370320" y="4475988"/>
            <a:ext cx="1336675" cy="1335405"/>
            <a:chOff x="6370320" y="4475988"/>
            <a:chExt cx="1336675" cy="1335405"/>
          </a:xfrm>
        </p:grpSpPr>
        <p:sp>
          <p:nvSpPr>
            <p:cNvPr id="22" name="object 22"/>
            <p:cNvSpPr/>
            <p:nvPr/>
          </p:nvSpPr>
          <p:spPr>
            <a:xfrm>
              <a:off x="6370320" y="4475988"/>
              <a:ext cx="1336675" cy="1335405"/>
            </a:xfrm>
            <a:custGeom>
              <a:avLst/>
              <a:gdLst/>
              <a:ahLst/>
              <a:cxnLst/>
              <a:rect l="l" t="t" r="r" b="b"/>
              <a:pathLst>
                <a:path w="1336675" h="1335404">
                  <a:moveTo>
                    <a:pt x="668274" y="0"/>
                  </a:moveTo>
                  <a:lnTo>
                    <a:pt x="620550" y="1675"/>
                  </a:lnTo>
                  <a:lnTo>
                    <a:pt x="573732" y="6628"/>
                  </a:lnTo>
                  <a:lnTo>
                    <a:pt x="527932" y="14744"/>
                  </a:lnTo>
                  <a:lnTo>
                    <a:pt x="483264" y="25910"/>
                  </a:lnTo>
                  <a:lnTo>
                    <a:pt x="439840" y="40014"/>
                  </a:lnTo>
                  <a:lnTo>
                    <a:pt x="397775" y="56943"/>
                  </a:lnTo>
                  <a:lnTo>
                    <a:pt x="357180" y="76584"/>
                  </a:lnTo>
                  <a:lnTo>
                    <a:pt x="318169" y="98824"/>
                  </a:lnTo>
                  <a:lnTo>
                    <a:pt x="280855" y="123550"/>
                  </a:lnTo>
                  <a:lnTo>
                    <a:pt x="245352" y="150649"/>
                  </a:lnTo>
                  <a:lnTo>
                    <a:pt x="211772" y="180008"/>
                  </a:lnTo>
                  <a:lnTo>
                    <a:pt x="180228" y="211515"/>
                  </a:lnTo>
                  <a:lnTo>
                    <a:pt x="150834" y="245056"/>
                  </a:lnTo>
                  <a:lnTo>
                    <a:pt x="123702" y="280518"/>
                  </a:lnTo>
                  <a:lnTo>
                    <a:pt x="98946" y="317789"/>
                  </a:lnTo>
                  <a:lnTo>
                    <a:pt x="76679" y="356755"/>
                  </a:lnTo>
                  <a:lnTo>
                    <a:pt x="57014" y="397304"/>
                  </a:lnTo>
                  <a:lnTo>
                    <a:pt x="40064" y="439323"/>
                  </a:lnTo>
                  <a:lnTo>
                    <a:pt x="25943" y="482699"/>
                  </a:lnTo>
                  <a:lnTo>
                    <a:pt x="14762" y="527318"/>
                  </a:lnTo>
                  <a:lnTo>
                    <a:pt x="6636" y="573069"/>
                  </a:lnTo>
                  <a:lnTo>
                    <a:pt x="1678" y="619838"/>
                  </a:lnTo>
                  <a:lnTo>
                    <a:pt x="0" y="667512"/>
                  </a:lnTo>
                  <a:lnTo>
                    <a:pt x="1678" y="715185"/>
                  </a:lnTo>
                  <a:lnTo>
                    <a:pt x="6636" y="761954"/>
                  </a:lnTo>
                  <a:lnTo>
                    <a:pt x="14762" y="807705"/>
                  </a:lnTo>
                  <a:lnTo>
                    <a:pt x="25943" y="852324"/>
                  </a:lnTo>
                  <a:lnTo>
                    <a:pt x="40064" y="895700"/>
                  </a:lnTo>
                  <a:lnTo>
                    <a:pt x="57014" y="937719"/>
                  </a:lnTo>
                  <a:lnTo>
                    <a:pt x="76679" y="978268"/>
                  </a:lnTo>
                  <a:lnTo>
                    <a:pt x="98946" y="1017234"/>
                  </a:lnTo>
                  <a:lnTo>
                    <a:pt x="123702" y="1054505"/>
                  </a:lnTo>
                  <a:lnTo>
                    <a:pt x="150834" y="1089967"/>
                  </a:lnTo>
                  <a:lnTo>
                    <a:pt x="180228" y="1123508"/>
                  </a:lnTo>
                  <a:lnTo>
                    <a:pt x="211772" y="1155015"/>
                  </a:lnTo>
                  <a:lnTo>
                    <a:pt x="245352" y="1184374"/>
                  </a:lnTo>
                  <a:lnTo>
                    <a:pt x="280855" y="1211473"/>
                  </a:lnTo>
                  <a:lnTo>
                    <a:pt x="318169" y="1236199"/>
                  </a:lnTo>
                  <a:lnTo>
                    <a:pt x="357180" y="1258439"/>
                  </a:lnTo>
                  <a:lnTo>
                    <a:pt x="397775" y="1278080"/>
                  </a:lnTo>
                  <a:lnTo>
                    <a:pt x="439840" y="1295009"/>
                  </a:lnTo>
                  <a:lnTo>
                    <a:pt x="483264" y="1309113"/>
                  </a:lnTo>
                  <a:lnTo>
                    <a:pt x="527932" y="1320279"/>
                  </a:lnTo>
                  <a:lnTo>
                    <a:pt x="573732" y="1328395"/>
                  </a:lnTo>
                  <a:lnTo>
                    <a:pt x="620550" y="1333348"/>
                  </a:lnTo>
                  <a:lnTo>
                    <a:pt x="668274" y="1335024"/>
                  </a:lnTo>
                  <a:lnTo>
                    <a:pt x="715997" y="1333348"/>
                  </a:lnTo>
                  <a:lnTo>
                    <a:pt x="762815" y="1328395"/>
                  </a:lnTo>
                  <a:lnTo>
                    <a:pt x="808615" y="1320279"/>
                  </a:lnTo>
                  <a:lnTo>
                    <a:pt x="853283" y="1309113"/>
                  </a:lnTo>
                  <a:lnTo>
                    <a:pt x="896707" y="1295009"/>
                  </a:lnTo>
                  <a:lnTo>
                    <a:pt x="938772" y="1278080"/>
                  </a:lnTo>
                  <a:lnTo>
                    <a:pt x="979367" y="1258439"/>
                  </a:lnTo>
                  <a:lnTo>
                    <a:pt x="1018378" y="1236199"/>
                  </a:lnTo>
                  <a:lnTo>
                    <a:pt x="1055692" y="1211473"/>
                  </a:lnTo>
                  <a:lnTo>
                    <a:pt x="1091195" y="1184374"/>
                  </a:lnTo>
                  <a:lnTo>
                    <a:pt x="1124775" y="1155015"/>
                  </a:lnTo>
                  <a:lnTo>
                    <a:pt x="1156319" y="1123508"/>
                  </a:lnTo>
                  <a:lnTo>
                    <a:pt x="1185713" y="1089967"/>
                  </a:lnTo>
                  <a:lnTo>
                    <a:pt x="1212845" y="1054505"/>
                  </a:lnTo>
                  <a:lnTo>
                    <a:pt x="1237601" y="1017234"/>
                  </a:lnTo>
                  <a:lnTo>
                    <a:pt x="1259868" y="978268"/>
                  </a:lnTo>
                  <a:lnTo>
                    <a:pt x="1279533" y="937719"/>
                  </a:lnTo>
                  <a:lnTo>
                    <a:pt x="1296483" y="895700"/>
                  </a:lnTo>
                  <a:lnTo>
                    <a:pt x="1310604" y="852324"/>
                  </a:lnTo>
                  <a:lnTo>
                    <a:pt x="1321785" y="807705"/>
                  </a:lnTo>
                  <a:lnTo>
                    <a:pt x="1329911" y="761954"/>
                  </a:lnTo>
                  <a:lnTo>
                    <a:pt x="1334869" y="715185"/>
                  </a:lnTo>
                  <a:lnTo>
                    <a:pt x="1336548" y="667512"/>
                  </a:lnTo>
                  <a:lnTo>
                    <a:pt x="1334869" y="619838"/>
                  </a:lnTo>
                  <a:lnTo>
                    <a:pt x="1329911" y="573069"/>
                  </a:lnTo>
                  <a:lnTo>
                    <a:pt x="1321785" y="527318"/>
                  </a:lnTo>
                  <a:lnTo>
                    <a:pt x="1310604" y="482699"/>
                  </a:lnTo>
                  <a:lnTo>
                    <a:pt x="1296483" y="439323"/>
                  </a:lnTo>
                  <a:lnTo>
                    <a:pt x="1279533" y="397304"/>
                  </a:lnTo>
                  <a:lnTo>
                    <a:pt x="1259868" y="356755"/>
                  </a:lnTo>
                  <a:lnTo>
                    <a:pt x="1237601" y="317789"/>
                  </a:lnTo>
                  <a:lnTo>
                    <a:pt x="1212845" y="280518"/>
                  </a:lnTo>
                  <a:lnTo>
                    <a:pt x="1185713" y="245056"/>
                  </a:lnTo>
                  <a:lnTo>
                    <a:pt x="1156319" y="211515"/>
                  </a:lnTo>
                  <a:lnTo>
                    <a:pt x="1124775" y="180008"/>
                  </a:lnTo>
                  <a:lnTo>
                    <a:pt x="1091195" y="150649"/>
                  </a:lnTo>
                  <a:lnTo>
                    <a:pt x="1055692" y="123550"/>
                  </a:lnTo>
                  <a:lnTo>
                    <a:pt x="1018378" y="98824"/>
                  </a:lnTo>
                  <a:lnTo>
                    <a:pt x="979367" y="76584"/>
                  </a:lnTo>
                  <a:lnTo>
                    <a:pt x="938772" y="56943"/>
                  </a:lnTo>
                  <a:lnTo>
                    <a:pt x="896707" y="40014"/>
                  </a:lnTo>
                  <a:lnTo>
                    <a:pt x="853283" y="25910"/>
                  </a:lnTo>
                  <a:lnTo>
                    <a:pt x="808615" y="14744"/>
                  </a:lnTo>
                  <a:lnTo>
                    <a:pt x="762815" y="6628"/>
                  </a:lnTo>
                  <a:lnTo>
                    <a:pt x="715997" y="1675"/>
                  </a:lnTo>
                  <a:lnTo>
                    <a:pt x="66827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44271" y="4841849"/>
              <a:ext cx="589915" cy="605155"/>
            </a:xfrm>
            <a:custGeom>
              <a:avLst/>
              <a:gdLst/>
              <a:ahLst/>
              <a:cxnLst/>
              <a:rect l="l" t="t" r="r" b="b"/>
              <a:pathLst>
                <a:path w="589915" h="605154">
                  <a:moveTo>
                    <a:pt x="287604" y="31915"/>
                  </a:moveTo>
                  <a:lnTo>
                    <a:pt x="285089" y="19494"/>
                  </a:lnTo>
                  <a:lnTo>
                    <a:pt x="278244" y="9347"/>
                  </a:lnTo>
                  <a:lnTo>
                    <a:pt x="268084" y="2514"/>
                  </a:lnTo>
                  <a:lnTo>
                    <a:pt x="255651" y="0"/>
                  </a:lnTo>
                  <a:lnTo>
                    <a:pt x="223685" y="0"/>
                  </a:lnTo>
                  <a:lnTo>
                    <a:pt x="223685" y="63817"/>
                  </a:lnTo>
                  <a:lnTo>
                    <a:pt x="223685" y="143598"/>
                  </a:lnTo>
                  <a:lnTo>
                    <a:pt x="223685" y="223380"/>
                  </a:lnTo>
                  <a:lnTo>
                    <a:pt x="221805" y="232689"/>
                  </a:lnTo>
                  <a:lnTo>
                    <a:pt x="216674" y="240296"/>
                  </a:lnTo>
                  <a:lnTo>
                    <a:pt x="209054" y="245427"/>
                  </a:lnTo>
                  <a:lnTo>
                    <a:pt x="199720" y="247307"/>
                  </a:lnTo>
                  <a:lnTo>
                    <a:pt x="190398" y="245427"/>
                  </a:lnTo>
                  <a:lnTo>
                    <a:pt x="182778" y="240296"/>
                  </a:lnTo>
                  <a:lnTo>
                    <a:pt x="177634" y="232689"/>
                  </a:lnTo>
                  <a:lnTo>
                    <a:pt x="175755" y="223380"/>
                  </a:lnTo>
                  <a:lnTo>
                    <a:pt x="177634" y="214058"/>
                  </a:lnTo>
                  <a:lnTo>
                    <a:pt x="216674" y="206451"/>
                  </a:lnTo>
                  <a:lnTo>
                    <a:pt x="223685" y="223380"/>
                  </a:lnTo>
                  <a:lnTo>
                    <a:pt x="223685" y="143598"/>
                  </a:lnTo>
                  <a:lnTo>
                    <a:pt x="221805" y="152920"/>
                  </a:lnTo>
                  <a:lnTo>
                    <a:pt x="216674" y="160528"/>
                  </a:lnTo>
                  <a:lnTo>
                    <a:pt x="209054" y="165658"/>
                  </a:lnTo>
                  <a:lnTo>
                    <a:pt x="199720" y="167538"/>
                  </a:lnTo>
                  <a:lnTo>
                    <a:pt x="190398" y="165658"/>
                  </a:lnTo>
                  <a:lnTo>
                    <a:pt x="182778" y="160528"/>
                  </a:lnTo>
                  <a:lnTo>
                    <a:pt x="177634" y="152920"/>
                  </a:lnTo>
                  <a:lnTo>
                    <a:pt x="175755" y="143598"/>
                  </a:lnTo>
                  <a:lnTo>
                    <a:pt x="177634" y="134289"/>
                  </a:lnTo>
                  <a:lnTo>
                    <a:pt x="182778" y="126682"/>
                  </a:lnTo>
                  <a:lnTo>
                    <a:pt x="190398" y="121551"/>
                  </a:lnTo>
                  <a:lnTo>
                    <a:pt x="199720" y="119672"/>
                  </a:lnTo>
                  <a:lnTo>
                    <a:pt x="209054" y="121551"/>
                  </a:lnTo>
                  <a:lnTo>
                    <a:pt x="216674" y="126682"/>
                  </a:lnTo>
                  <a:lnTo>
                    <a:pt x="221805" y="134289"/>
                  </a:lnTo>
                  <a:lnTo>
                    <a:pt x="223685" y="143598"/>
                  </a:lnTo>
                  <a:lnTo>
                    <a:pt x="223685" y="63817"/>
                  </a:lnTo>
                  <a:lnTo>
                    <a:pt x="221805" y="73139"/>
                  </a:lnTo>
                  <a:lnTo>
                    <a:pt x="216674" y="80746"/>
                  </a:lnTo>
                  <a:lnTo>
                    <a:pt x="209054" y="85877"/>
                  </a:lnTo>
                  <a:lnTo>
                    <a:pt x="199720" y="87757"/>
                  </a:lnTo>
                  <a:lnTo>
                    <a:pt x="190398" y="85877"/>
                  </a:lnTo>
                  <a:lnTo>
                    <a:pt x="182778" y="80746"/>
                  </a:lnTo>
                  <a:lnTo>
                    <a:pt x="177634" y="73139"/>
                  </a:lnTo>
                  <a:lnTo>
                    <a:pt x="175755" y="63817"/>
                  </a:lnTo>
                  <a:lnTo>
                    <a:pt x="177634" y="54508"/>
                  </a:lnTo>
                  <a:lnTo>
                    <a:pt x="182778" y="46901"/>
                  </a:lnTo>
                  <a:lnTo>
                    <a:pt x="190398" y="41770"/>
                  </a:lnTo>
                  <a:lnTo>
                    <a:pt x="199720" y="39890"/>
                  </a:lnTo>
                  <a:lnTo>
                    <a:pt x="209054" y="41770"/>
                  </a:lnTo>
                  <a:lnTo>
                    <a:pt x="216674" y="46901"/>
                  </a:lnTo>
                  <a:lnTo>
                    <a:pt x="221805" y="54508"/>
                  </a:lnTo>
                  <a:lnTo>
                    <a:pt x="223685" y="63817"/>
                  </a:lnTo>
                  <a:lnTo>
                    <a:pt x="223685" y="0"/>
                  </a:lnTo>
                  <a:lnTo>
                    <a:pt x="111848" y="0"/>
                  </a:lnTo>
                  <a:lnTo>
                    <a:pt x="111848" y="63817"/>
                  </a:lnTo>
                  <a:lnTo>
                    <a:pt x="111848" y="143598"/>
                  </a:lnTo>
                  <a:lnTo>
                    <a:pt x="111848" y="223380"/>
                  </a:lnTo>
                  <a:lnTo>
                    <a:pt x="109956" y="232689"/>
                  </a:lnTo>
                  <a:lnTo>
                    <a:pt x="104825" y="240296"/>
                  </a:lnTo>
                  <a:lnTo>
                    <a:pt x="97205" y="245427"/>
                  </a:lnTo>
                  <a:lnTo>
                    <a:pt x="87871" y="247307"/>
                  </a:lnTo>
                  <a:lnTo>
                    <a:pt x="78549" y="245427"/>
                  </a:lnTo>
                  <a:lnTo>
                    <a:pt x="70929" y="240296"/>
                  </a:lnTo>
                  <a:lnTo>
                    <a:pt x="65798" y="232689"/>
                  </a:lnTo>
                  <a:lnTo>
                    <a:pt x="63906" y="223380"/>
                  </a:lnTo>
                  <a:lnTo>
                    <a:pt x="65798" y="214058"/>
                  </a:lnTo>
                  <a:lnTo>
                    <a:pt x="104825" y="206451"/>
                  </a:lnTo>
                  <a:lnTo>
                    <a:pt x="111848" y="223380"/>
                  </a:lnTo>
                  <a:lnTo>
                    <a:pt x="111848" y="143598"/>
                  </a:lnTo>
                  <a:lnTo>
                    <a:pt x="109956" y="152920"/>
                  </a:lnTo>
                  <a:lnTo>
                    <a:pt x="104825" y="160528"/>
                  </a:lnTo>
                  <a:lnTo>
                    <a:pt x="97205" y="165658"/>
                  </a:lnTo>
                  <a:lnTo>
                    <a:pt x="87871" y="167538"/>
                  </a:lnTo>
                  <a:lnTo>
                    <a:pt x="78549" y="165658"/>
                  </a:lnTo>
                  <a:lnTo>
                    <a:pt x="70929" y="160528"/>
                  </a:lnTo>
                  <a:lnTo>
                    <a:pt x="65798" y="152920"/>
                  </a:lnTo>
                  <a:lnTo>
                    <a:pt x="63906" y="143598"/>
                  </a:lnTo>
                  <a:lnTo>
                    <a:pt x="65798" y="134289"/>
                  </a:lnTo>
                  <a:lnTo>
                    <a:pt x="70929" y="126682"/>
                  </a:lnTo>
                  <a:lnTo>
                    <a:pt x="78549" y="121551"/>
                  </a:lnTo>
                  <a:lnTo>
                    <a:pt x="87871" y="119672"/>
                  </a:lnTo>
                  <a:lnTo>
                    <a:pt x="97205" y="121551"/>
                  </a:lnTo>
                  <a:lnTo>
                    <a:pt x="104825" y="126682"/>
                  </a:lnTo>
                  <a:lnTo>
                    <a:pt x="109956" y="134289"/>
                  </a:lnTo>
                  <a:lnTo>
                    <a:pt x="111848" y="143598"/>
                  </a:lnTo>
                  <a:lnTo>
                    <a:pt x="111848" y="63817"/>
                  </a:lnTo>
                  <a:lnTo>
                    <a:pt x="109956" y="73139"/>
                  </a:lnTo>
                  <a:lnTo>
                    <a:pt x="104825" y="80746"/>
                  </a:lnTo>
                  <a:lnTo>
                    <a:pt x="97205" y="85877"/>
                  </a:lnTo>
                  <a:lnTo>
                    <a:pt x="87871" y="87757"/>
                  </a:lnTo>
                  <a:lnTo>
                    <a:pt x="78549" y="85877"/>
                  </a:lnTo>
                  <a:lnTo>
                    <a:pt x="70929" y="80746"/>
                  </a:lnTo>
                  <a:lnTo>
                    <a:pt x="65798" y="73139"/>
                  </a:lnTo>
                  <a:lnTo>
                    <a:pt x="63906" y="63817"/>
                  </a:lnTo>
                  <a:lnTo>
                    <a:pt x="65798" y="54508"/>
                  </a:lnTo>
                  <a:lnTo>
                    <a:pt x="70929" y="46901"/>
                  </a:lnTo>
                  <a:lnTo>
                    <a:pt x="78549" y="41770"/>
                  </a:lnTo>
                  <a:lnTo>
                    <a:pt x="87871" y="39890"/>
                  </a:lnTo>
                  <a:lnTo>
                    <a:pt x="97205" y="41770"/>
                  </a:lnTo>
                  <a:lnTo>
                    <a:pt x="104825" y="46901"/>
                  </a:lnTo>
                  <a:lnTo>
                    <a:pt x="109956" y="54508"/>
                  </a:lnTo>
                  <a:lnTo>
                    <a:pt x="111848" y="63817"/>
                  </a:lnTo>
                  <a:lnTo>
                    <a:pt x="111848" y="0"/>
                  </a:lnTo>
                  <a:lnTo>
                    <a:pt x="31953" y="0"/>
                  </a:lnTo>
                  <a:lnTo>
                    <a:pt x="19519" y="2514"/>
                  </a:lnTo>
                  <a:lnTo>
                    <a:pt x="9359" y="9347"/>
                  </a:lnTo>
                  <a:lnTo>
                    <a:pt x="2501" y="19494"/>
                  </a:lnTo>
                  <a:lnTo>
                    <a:pt x="0" y="31915"/>
                  </a:lnTo>
                  <a:lnTo>
                    <a:pt x="0" y="255295"/>
                  </a:lnTo>
                  <a:lnTo>
                    <a:pt x="2501" y="267716"/>
                  </a:lnTo>
                  <a:lnTo>
                    <a:pt x="9359" y="277850"/>
                  </a:lnTo>
                  <a:lnTo>
                    <a:pt x="19519" y="284695"/>
                  </a:lnTo>
                  <a:lnTo>
                    <a:pt x="31953" y="287197"/>
                  </a:lnTo>
                  <a:lnTo>
                    <a:pt x="255651" y="287197"/>
                  </a:lnTo>
                  <a:lnTo>
                    <a:pt x="268084" y="284695"/>
                  </a:lnTo>
                  <a:lnTo>
                    <a:pt x="278244" y="277850"/>
                  </a:lnTo>
                  <a:lnTo>
                    <a:pt x="285089" y="267716"/>
                  </a:lnTo>
                  <a:lnTo>
                    <a:pt x="287604" y="255295"/>
                  </a:lnTo>
                  <a:lnTo>
                    <a:pt x="287604" y="247307"/>
                  </a:lnTo>
                  <a:lnTo>
                    <a:pt x="287604" y="199440"/>
                  </a:lnTo>
                  <a:lnTo>
                    <a:pt x="287604" y="167538"/>
                  </a:lnTo>
                  <a:lnTo>
                    <a:pt x="287604" y="119672"/>
                  </a:lnTo>
                  <a:lnTo>
                    <a:pt x="287604" y="87757"/>
                  </a:lnTo>
                  <a:lnTo>
                    <a:pt x="287604" y="39890"/>
                  </a:lnTo>
                  <a:lnTo>
                    <a:pt x="287604" y="31915"/>
                  </a:lnTo>
                  <a:close/>
                </a:path>
                <a:path w="589915" h="605154">
                  <a:moveTo>
                    <a:pt x="589610" y="414870"/>
                  </a:moveTo>
                  <a:lnTo>
                    <a:pt x="587273" y="402856"/>
                  </a:lnTo>
                  <a:lnTo>
                    <a:pt x="580275" y="392303"/>
                  </a:lnTo>
                  <a:lnTo>
                    <a:pt x="561975" y="374002"/>
                  </a:lnTo>
                  <a:lnTo>
                    <a:pt x="539356" y="351421"/>
                  </a:lnTo>
                  <a:lnTo>
                    <a:pt x="530809" y="342887"/>
                  </a:lnTo>
                  <a:lnTo>
                    <a:pt x="519417" y="331520"/>
                  </a:lnTo>
                  <a:lnTo>
                    <a:pt x="519417" y="397954"/>
                  </a:lnTo>
                  <a:lnTo>
                    <a:pt x="517664" y="406958"/>
                  </a:lnTo>
                  <a:lnTo>
                    <a:pt x="512381" y="414870"/>
                  </a:lnTo>
                  <a:lnTo>
                    <a:pt x="504444" y="420116"/>
                  </a:lnTo>
                  <a:lnTo>
                    <a:pt x="495477" y="421868"/>
                  </a:lnTo>
                  <a:lnTo>
                    <a:pt x="486448" y="420116"/>
                  </a:lnTo>
                  <a:lnTo>
                    <a:pt x="478523" y="414870"/>
                  </a:lnTo>
                  <a:lnTo>
                    <a:pt x="473837" y="407822"/>
                  </a:lnTo>
                  <a:lnTo>
                    <a:pt x="473252" y="406958"/>
                  </a:lnTo>
                  <a:lnTo>
                    <a:pt x="471754" y="399288"/>
                  </a:lnTo>
                  <a:lnTo>
                    <a:pt x="471487" y="397954"/>
                  </a:lnTo>
                  <a:lnTo>
                    <a:pt x="473240" y="388937"/>
                  </a:lnTo>
                  <a:lnTo>
                    <a:pt x="478497" y="381025"/>
                  </a:lnTo>
                  <a:lnTo>
                    <a:pt x="486422" y="375754"/>
                  </a:lnTo>
                  <a:lnTo>
                    <a:pt x="495439" y="374002"/>
                  </a:lnTo>
                  <a:lnTo>
                    <a:pt x="504482" y="375754"/>
                  </a:lnTo>
                  <a:lnTo>
                    <a:pt x="512406" y="381025"/>
                  </a:lnTo>
                  <a:lnTo>
                    <a:pt x="517677" y="388937"/>
                  </a:lnTo>
                  <a:lnTo>
                    <a:pt x="519353" y="397548"/>
                  </a:lnTo>
                  <a:lnTo>
                    <a:pt x="519417" y="397954"/>
                  </a:lnTo>
                  <a:lnTo>
                    <a:pt x="519417" y="331520"/>
                  </a:lnTo>
                  <a:lnTo>
                    <a:pt x="482866" y="295021"/>
                  </a:lnTo>
                  <a:lnTo>
                    <a:pt x="462940" y="275132"/>
                  </a:lnTo>
                  <a:lnTo>
                    <a:pt x="462940" y="454355"/>
                  </a:lnTo>
                  <a:lnTo>
                    <a:pt x="461175" y="463359"/>
                  </a:lnTo>
                  <a:lnTo>
                    <a:pt x="455904" y="471271"/>
                  </a:lnTo>
                  <a:lnTo>
                    <a:pt x="447954" y="476529"/>
                  </a:lnTo>
                  <a:lnTo>
                    <a:pt x="438988" y="478269"/>
                  </a:lnTo>
                  <a:lnTo>
                    <a:pt x="429971" y="476529"/>
                  </a:lnTo>
                  <a:lnTo>
                    <a:pt x="422033" y="471271"/>
                  </a:lnTo>
                  <a:lnTo>
                    <a:pt x="416763" y="463359"/>
                  </a:lnTo>
                  <a:lnTo>
                    <a:pt x="415277" y="455688"/>
                  </a:lnTo>
                  <a:lnTo>
                    <a:pt x="415010" y="454355"/>
                  </a:lnTo>
                  <a:lnTo>
                    <a:pt x="416763" y="445350"/>
                  </a:lnTo>
                  <a:lnTo>
                    <a:pt x="422021" y="437426"/>
                  </a:lnTo>
                  <a:lnTo>
                    <a:pt x="429945" y="432155"/>
                  </a:lnTo>
                  <a:lnTo>
                    <a:pt x="438962" y="430403"/>
                  </a:lnTo>
                  <a:lnTo>
                    <a:pt x="447992" y="432155"/>
                  </a:lnTo>
                  <a:lnTo>
                    <a:pt x="455930" y="437426"/>
                  </a:lnTo>
                  <a:lnTo>
                    <a:pt x="461187" y="445350"/>
                  </a:lnTo>
                  <a:lnTo>
                    <a:pt x="462864" y="453948"/>
                  </a:lnTo>
                  <a:lnTo>
                    <a:pt x="462940" y="454355"/>
                  </a:lnTo>
                  <a:lnTo>
                    <a:pt x="462940" y="275132"/>
                  </a:lnTo>
                  <a:lnTo>
                    <a:pt x="440372" y="252603"/>
                  </a:lnTo>
                  <a:lnTo>
                    <a:pt x="440372" y="318947"/>
                  </a:lnTo>
                  <a:lnTo>
                    <a:pt x="438619" y="327952"/>
                  </a:lnTo>
                  <a:lnTo>
                    <a:pt x="433336" y="335889"/>
                  </a:lnTo>
                  <a:lnTo>
                    <a:pt x="425386" y="341134"/>
                  </a:lnTo>
                  <a:lnTo>
                    <a:pt x="416420" y="342887"/>
                  </a:lnTo>
                  <a:lnTo>
                    <a:pt x="407403" y="341134"/>
                  </a:lnTo>
                  <a:lnTo>
                    <a:pt x="406463" y="340525"/>
                  </a:lnTo>
                  <a:lnTo>
                    <a:pt x="406463" y="510755"/>
                  </a:lnTo>
                  <a:lnTo>
                    <a:pt x="404698" y="519760"/>
                  </a:lnTo>
                  <a:lnTo>
                    <a:pt x="399415" y="527672"/>
                  </a:lnTo>
                  <a:lnTo>
                    <a:pt x="391477" y="532930"/>
                  </a:lnTo>
                  <a:lnTo>
                    <a:pt x="382511" y="534670"/>
                  </a:lnTo>
                  <a:lnTo>
                    <a:pt x="373494" y="532930"/>
                  </a:lnTo>
                  <a:lnTo>
                    <a:pt x="365556" y="527672"/>
                  </a:lnTo>
                  <a:lnTo>
                    <a:pt x="360286" y="519760"/>
                  </a:lnTo>
                  <a:lnTo>
                    <a:pt x="358521" y="510755"/>
                  </a:lnTo>
                  <a:lnTo>
                    <a:pt x="360273" y="501751"/>
                  </a:lnTo>
                  <a:lnTo>
                    <a:pt x="365531" y="493826"/>
                  </a:lnTo>
                  <a:lnTo>
                    <a:pt x="373456" y="488569"/>
                  </a:lnTo>
                  <a:lnTo>
                    <a:pt x="382473" y="486803"/>
                  </a:lnTo>
                  <a:lnTo>
                    <a:pt x="391515" y="488569"/>
                  </a:lnTo>
                  <a:lnTo>
                    <a:pt x="399440" y="493826"/>
                  </a:lnTo>
                  <a:lnTo>
                    <a:pt x="404710" y="501751"/>
                  </a:lnTo>
                  <a:lnTo>
                    <a:pt x="406463" y="510755"/>
                  </a:lnTo>
                  <a:lnTo>
                    <a:pt x="406463" y="340525"/>
                  </a:lnTo>
                  <a:lnTo>
                    <a:pt x="399465" y="335889"/>
                  </a:lnTo>
                  <a:lnTo>
                    <a:pt x="394195" y="327952"/>
                  </a:lnTo>
                  <a:lnTo>
                    <a:pt x="392442" y="318947"/>
                  </a:lnTo>
                  <a:lnTo>
                    <a:pt x="394195" y="309956"/>
                  </a:lnTo>
                  <a:lnTo>
                    <a:pt x="399453" y="302044"/>
                  </a:lnTo>
                  <a:lnTo>
                    <a:pt x="407377" y="296773"/>
                  </a:lnTo>
                  <a:lnTo>
                    <a:pt x="416394" y="295021"/>
                  </a:lnTo>
                  <a:lnTo>
                    <a:pt x="425424" y="296773"/>
                  </a:lnTo>
                  <a:lnTo>
                    <a:pt x="433362" y="302044"/>
                  </a:lnTo>
                  <a:lnTo>
                    <a:pt x="438619" y="309956"/>
                  </a:lnTo>
                  <a:lnTo>
                    <a:pt x="440372" y="318947"/>
                  </a:lnTo>
                  <a:lnTo>
                    <a:pt x="440372" y="252603"/>
                  </a:lnTo>
                  <a:lnTo>
                    <a:pt x="422059" y="234315"/>
                  </a:lnTo>
                  <a:lnTo>
                    <a:pt x="411492" y="227291"/>
                  </a:lnTo>
                  <a:lnTo>
                    <a:pt x="399465" y="224955"/>
                  </a:lnTo>
                  <a:lnTo>
                    <a:pt x="387426" y="227291"/>
                  </a:lnTo>
                  <a:lnTo>
                    <a:pt x="383882" y="229654"/>
                  </a:lnTo>
                  <a:lnTo>
                    <a:pt x="383882" y="375361"/>
                  </a:lnTo>
                  <a:lnTo>
                    <a:pt x="382143" y="384352"/>
                  </a:lnTo>
                  <a:lnTo>
                    <a:pt x="376847" y="392303"/>
                  </a:lnTo>
                  <a:lnTo>
                    <a:pt x="368909" y="397548"/>
                  </a:lnTo>
                  <a:lnTo>
                    <a:pt x="359943" y="399288"/>
                  </a:lnTo>
                  <a:lnTo>
                    <a:pt x="350913" y="397548"/>
                  </a:lnTo>
                  <a:lnTo>
                    <a:pt x="343001" y="392303"/>
                  </a:lnTo>
                  <a:lnTo>
                    <a:pt x="337705" y="384352"/>
                  </a:lnTo>
                  <a:lnTo>
                    <a:pt x="336029" y="375754"/>
                  </a:lnTo>
                  <a:lnTo>
                    <a:pt x="335953" y="375361"/>
                  </a:lnTo>
                  <a:lnTo>
                    <a:pt x="337705" y="366356"/>
                  </a:lnTo>
                  <a:lnTo>
                    <a:pt x="342963" y="358444"/>
                  </a:lnTo>
                  <a:lnTo>
                    <a:pt x="350888" y="353187"/>
                  </a:lnTo>
                  <a:lnTo>
                    <a:pt x="359905" y="351421"/>
                  </a:lnTo>
                  <a:lnTo>
                    <a:pt x="368947" y="353187"/>
                  </a:lnTo>
                  <a:lnTo>
                    <a:pt x="376872" y="358444"/>
                  </a:lnTo>
                  <a:lnTo>
                    <a:pt x="382130" y="366356"/>
                  </a:lnTo>
                  <a:lnTo>
                    <a:pt x="383882" y="375361"/>
                  </a:lnTo>
                  <a:lnTo>
                    <a:pt x="383882" y="229654"/>
                  </a:lnTo>
                  <a:lnTo>
                    <a:pt x="376847" y="234315"/>
                  </a:lnTo>
                  <a:lnTo>
                    <a:pt x="327367" y="283730"/>
                  </a:lnTo>
                  <a:lnTo>
                    <a:pt x="327367" y="431774"/>
                  </a:lnTo>
                  <a:lnTo>
                    <a:pt x="325602" y="440778"/>
                  </a:lnTo>
                  <a:lnTo>
                    <a:pt x="320332" y="448691"/>
                  </a:lnTo>
                  <a:lnTo>
                    <a:pt x="312381" y="453948"/>
                  </a:lnTo>
                  <a:lnTo>
                    <a:pt x="303415" y="455688"/>
                  </a:lnTo>
                  <a:lnTo>
                    <a:pt x="294398" y="453948"/>
                  </a:lnTo>
                  <a:lnTo>
                    <a:pt x="286461" y="448691"/>
                  </a:lnTo>
                  <a:lnTo>
                    <a:pt x="281190" y="440778"/>
                  </a:lnTo>
                  <a:lnTo>
                    <a:pt x="279514" y="432155"/>
                  </a:lnTo>
                  <a:lnTo>
                    <a:pt x="279438" y="431774"/>
                  </a:lnTo>
                  <a:lnTo>
                    <a:pt x="281190" y="422770"/>
                  </a:lnTo>
                  <a:lnTo>
                    <a:pt x="286435" y="414870"/>
                  </a:lnTo>
                  <a:lnTo>
                    <a:pt x="294373" y="409587"/>
                  </a:lnTo>
                  <a:lnTo>
                    <a:pt x="303390" y="407822"/>
                  </a:lnTo>
                  <a:lnTo>
                    <a:pt x="312420" y="409587"/>
                  </a:lnTo>
                  <a:lnTo>
                    <a:pt x="320370" y="414870"/>
                  </a:lnTo>
                  <a:lnTo>
                    <a:pt x="325615" y="422770"/>
                  </a:lnTo>
                  <a:lnTo>
                    <a:pt x="327367" y="431774"/>
                  </a:lnTo>
                  <a:lnTo>
                    <a:pt x="327367" y="283730"/>
                  </a:lnTo>
                  <a:lnTo>
                    <a:pt x="218643" y="392303"/>
                  </a:lnTo>
                  <a:lnTo>
                    <a:pt x="211620" y="402856"/>
                  </a:lnTo>
                  <a:lnTo>
                    <a:pt x="209296" y="414870"/>
                  </a:lnTo>
                  <a:lnTo>
                    <a:pt x="211645" y="426872"/>
                  </a:lnTo>
                  <a:lnTo>
                    <a:pt x="218655" y="437426"/>
                  </a:lnTo>
                  <a:lnTo>
                    <a:pt x="376885" y="595414"/>
                  </a:lnTo>
                  <a:lnTo>
                    <a:pt x="387477" y="602411"/>
                  </a:lnTo>
                  <a:lnTo>
                    <a:pt x="399427" y="604748"/>
                  </a:lnTo>
                  <a:lnTo>
                    <a:pt x="411454" y="602411"/>
                  </a:lnTo>
                  <a:lnTo>
                    <a:pt x="422033" y="595414"/>
                  </a:lnTo>
                  <a:lnTo>
                    <a:pt x="482866" y="534670"/>
                  </a:lnTo>
                  <a:lnTo>
                    <a:pt x="530809" y="486803"/>
                  </a:lnTo>
                  <a:lnTo>
                    <a:pt x="539356" y="478269"/>
                  </a:lnTo>
                  <a:lnTo>
                    <a:pt x="580275" y="437426"/>
                  </a:lnTo>
                  <a:lnTo>
                    <a:pt x="584923" y="430403"/>
                  </a:lnTo>
                  <a:lnTo>
                    <a:pt x="587273" y="426872"/>
                  </a:lnTo>
                  <a:lnTo>
                    <a:pt x="588251" y="421868"/>
                  </a:lnTo>
                  <a:lnTo>
                    <a:pt x="589610" y="41487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980933" y="4631182"/>
            <a:ext cx="2714625" cy="9963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55"/>
              </a:spcBef>
            </a:pPr>
            <a:r>
              <a:rPr sz="2100" dirty="0">
                <a:latin typeface="Calibri"/>
                <a:cs typeface="Calibri"/>
              </a:rPr>
              <a:t>Each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row/column intersection</a:t>
            </a:r>
            <a:r>
              <a:rPr sz="2100" spc="-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represents</a:t>
            </a:r>
            <a:r>
              <a:rPr sz="2100" spc="-90" dirty="0">
                <a:latin typeface="Calibri"/>
                <a:cs typeface="Calibri"/>
              </a:rPr>
              <a:t> </a:t>
            </a:r>
            <a:r>
              <a:rPr sz="2100" spc="-50" dirty="0">
                <a:latin typeface="Calibri"/>
                <a:cs typeface="Calibri"/>
              </a:rPr>
              <a:t>a </a:t>
            </a:r>
            <a:r>
              <a:rPr sz="2100" dirty="0">
                <a:latin typeface="Calibri"/>
                <a:cs typeface="Calibri"/>
              </a:rPr>
              <a:t>single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data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value</a:t>
            </a:r>
            <a:r>
              <a:rPr sz="2100" spc="-10" dirty="0">
                <a:latin typeface="Calibri Light"/>
                <a:cs typeface="Calibri Light"/>
              </a:rPr>
              <a:t>.</a:t>
            </a:r>
            <a:endParaRPr sz="21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899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latin typeface="Calibri"/>
                <a:cs typeface="Calibri"/>
              </a:rPr>
              <a:t>Characteristics</a:t>
            </a:r>
            <a:r>
              <a:rPr sz="4800" spc="-195" dirty="0">
                <a:latin typeface="Calibri"/>
                <a:cs typeface="Calibri"/>
              </a:rPr>
              <a:t> </a:t>
            </a:r>
            <a:r>
              <a:rPr sz="4800" spc="-10" dirty="0">
                <a:latin typeface="Calibri"/>
                <a:cs typeface="Calibri"/>
              </a:rPr>
              <a:t>contd..</a:t>
            </a:r>
            <a:endParaRPr sz="4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41247" y="1537716"/>
            <a:ext cx="10476230" cy="116205"/>
            <a:chOff x="841247" y="1537716"/>
            <a:chExt cx="10476230" cy="116205"/>
          </a:xfrm>
        </p:grpSpPr>
        <p:sp>
          <p:nvSpPr>
            <p:cNvPr id="4" name="object 4"/>
            <p:cNvSpPr/>
            <p:nvPr/>
          </p:nvSpPr>
          <p:spPr>
            <a:xfrm>
              <a:off x="865631" y="1635252"/>
              <a:ext cx="10452100" cy="18415"/>
            </a:xfrm>
            <a:custGeom>
              <a:avLst/>
              <a:gdLst/>
              <a:ahLst/>
              <a:cxnLst/>
              <a:rect l="l" t="t" r="r" b="b"/>
              <a:pathLst>
                <a:path w="10452100" h="18414">
                  <a:moveTo>
                    <a:pt x="10451592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10451592" y="18287"/>
                  </a:lnTo>
                  <a:lnTo>
                    <a:pt x="10451592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1247" y="1537716"/>
              <a:ext cx="1873250" cy="109855"/>
            </a:xfrm>
            <a:custGeom>
              <a:avLst/>
              <a:gdLst/>
              <a:ahLst/>
              <a:cxnLst/>
              <a:rect l="l" t="t" r="r" b="b"/>
              <a:pathLst>
                <a:path w="1873250" h="109855">
                  <a:moveTo>
                    <a:pt x="1872995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872995" y="109727"/>
                  </a:lnTo>
                  <a:lnTo>
                    <a:pt x="187299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50036" y="2398776"/>
            <a:ext cx="1336675" cy="1336675"/>
            <a:chOff x="1050036" y="2398776"/>
            <a:chExt cx="1336675" cy="1336675"/>
          </a:xfrm>
        </p:grpSpPr>
        <p:sp>
          <p:nvSpPr>
            <p:cNvPr id="7" name="object 7"/>
            <p:cNvSpPr/>
            <p:nvPr/>
          </p:nvSpPr>
          <p:spPr>
            <a:xfrm>
              <a:off x="1050036" y="2398776"/>
              <a:ext cx="1336675" cy="1336675"/>
            </a:xfrm>
            <a:custGeom>
              <a:avLst/>
              <a:gdLst/>
              <a:ahLst/>
              <a:cxnLst/>
              <a:rect l="l" t="t" r="r" b="b"/>
              <a:pathLst>
                <a:path w="1336675" h="1336675">
                  <a:moveTo>
                    <a:pt x="668274" y="0"/>
                  </a:moveTo>
                  <a:lnTo>
                    <a:pt x="620550" y="1678"/>
                  </a:lnTo>
                  <a:lnTo>
                    <a:pt x="573732" y="6636"/>
                  </a:lnTo>
                  <a:lnTo>
                    <a:pt x="527932" y="14762"/>
                  </a:lnTo>
                  <a:lnTo>
                    <a:pt x="483264" y="25943"/>
                  </a:lnTo>
                  <a:lnTo>
                    <a:pt x="439840" y="40064"/>
                  </a:lnTo>
                  <a:lnTo>
                    <a:pt x="397775" y="57014"/>
                  </a:lnTo>
                  <a:lnTo>
                    <a:pt x="357180" y="76679"/>
                  </a:lnTo>
                  <a:lnTo>
                    <a:pt x="318169" y="98946"/>
                  </a:lnTo>
                  <a:lnTo>
                    <a:pt x="280855" y="123702"/>
                  </a:lnTo>
                  <a:lnTo>
                    <a:pt x="245352" y="150834"/>
                  </a:lnTo>
                  <a:lnTo>
                    <a:pt x="211772" y="180228"/>
                  </a:lnTo>
                  <a:lnTo>
                    <a:pt x="180228" y="211772"/>
                  </a:lnTo>
                  <a:lnTo>
                    <a:pt x="150834" y="245352"/>
                  </a:lnTo>
                  <a:lnTo>
                    <a:pt x="123702" y="280855"/>
                  </a:lnTo>
                  <a:lnTo>
                    <a:pt x="98946" y="318169"/>
                  </a:lnTo>
                  <a:lnTo>
                    <a:pt x="76679" y="357180"/>
                  </a:lnTo>
                  <a:lnTo>
                    <a:pt x="57014" y="397775"/>
                  </a:lnTo>
                  <a:lnTo>
                    <a:pt x="40064" y="439840"/>
                  </a:lnTo>
                  <a:lnTo>
                    <a:pt x="25943" y="483264"/>
                  </a:lnTo>
                  <a:lnTo>
                    <a:pt x="14762" y="527932"/>
                  </a:lnTo>
                  <a:lnTo>
                    <a:pt x="6636" y="573732"/>
                  </a:lnTo>
                  <a:lnTo>
                    <a:pt x="1678" y="620550"/>
                  </a:lnTo>
                  <a:lnTo>
                    <a:pt x="0" y="668274"/>
                  </a:lnTo>
                  <a:lnTo>
                    <a:pt x="1678" y="715997"/>
                  </a:lnTo>
                  <a:lnTo>
                    <a:pt x="6636" y="762815"/>
                  </a:lnTo>
                  <a:lnTo>
                    <a:pt x="14762" y="808615"/>
                  </a:lnTo>
                  <a:lnTo>
                    <a:pt x="25943" y="853283"/>
                  </a:lnTo>
                  <a:lnTo>
                    <a:pt x="40064" y="896707"/>
                  </a:lnTo>
                  <a:lnTo>
                    <a:pt x="57014" y="938772"/>
                  </a:lnTo>
                  <a:lnTo>
                    <a:pt x="76679" y="979367"/>
                  </a:lnTo>
                  <a:lnTo>
                    <a:pt x="98946" y="1018378"/>
                  </a:lnTo>
                  <a:lnTo>
                    <a:pt x="123702" y="1055692"/>
                  </a:lnTo>
                  <a:lnTo>
                    <a:pt x="150834" y="1091195"/>
                  </a:lnTo>
                  <a:lnTo>
                    <a:pt x="180228" y="1124775"/>
                  </a:lnTo>
                  <a:lnTo>
                    <a:pt x="211772" y="1156319"/>
                  </a:lnTo>
                  <a:lnTo>
                    <a:pt x="245352" y="1185713"/>
                  </a:lnTo>
                  <a:lnTo>
                    <a:pt x="280855" y="1212845"/>
                  </a:lnTo>
                  <a:lnTo>
                    <a:pt x="318169" y="1237601"/>
                  </a:lnTo>
                  <a:lnTo>
                    <a:pt x="357180" y="1259868"/>
                  </a:lnTo>
                  <a:lnTo>
                    <a:pt x="397775" y="1279533"/>
                  </a:lnTo>
                  <a:lnTo>
                    <a:pt x="439840" y="1296483"/>
                  </a:lnTo>
                  <a:lnTo>
                    <a:pt x="483264" y="1310604"/>
                  </a:lnTo>
                  <a:lnTo>
                    <a:pt x="527932" y="1321785"/>
                  </a:lnTo>
                  <a:lnTo>
                    <a:pt x="573732" y="1329911"/>
                  </a:lnTo>
                  <a:lnTo>
                    <a:pt x="620550" y="1334869"/>
                  </a:lnTo>
                  <a:lnTo>
                    <a:pt x="668274" y="1336548"/>
                  </a:lnTo>
                  <a:lnTo>
                    <a:pt x="715997" y="1334869"/>
                  </a:lnTo>
                  <a:lnTo>
                    <a:pt x="762815" y="1329911"/>
                  </a:lnTo>
                  <a:lnTo>
                    <a:pt x="808615" y="1321785"/>
                  </a:lnTo>
                  <a:lnTo>
                    <a:pt x="853283" y="1310604"/>
                  </a:lnTo>
                  <a:lnTo>
                    <a:pt x="896707" y="1296483"/>
                  </a:lnTo>
                  <a:lnTo>
                    <a:pt x="938772" y="1279533"/>
                  </a:lnTo>
                  <a:lnTo>
                    <a:pt x="979367" y="1259868"/>
                  </a:lnTo>
                  <a:lnTo>
                    <a:pt x="1018378" y="1237601"/>
                  </a:lnTo>
                  <a:lnTo>
                    <a:pt x="1055692" y="1212845"/>
                  </a:lnTo>
                  <a:lnTo>
                    <a:pt x="1091195" y="1185713"/>
                  </a:lnTo>
                  <a:lnTo>
                    <a:pt x="1124775" y="1156319"/>
                  </a:lnTo>
                  <a:lnTo>
                    <a:pt x="1156319" y="1124775"/>
                  </a:lnTo>
                  <a:lnTo>
                    <a:pt x="1185713" y="1091195"/>
                  </a:lnTo>
                  <a:lnTo>
                    <a:pt x="1212845" y="1055692"/>
                  </a:lnTo>
                  <a:lnTo>
                    <a:pt x="1237601" y="1018378"/>
                  </a:lnTo>
                  <a:lnTo>
                    <a:pt x="1259868" y="979367"/>
                  </a:lnTo>
                  <a:lnTo>
                    <a:pt x="1279533" y="938772"/>
                  </a:lnTo>
                  <a:lnTo>
                    <a:pt x="1296483" y="896707"/>
                  </a:lnTo>
                  <a:lnTo>
                    <a:pt x="1310604" y="853283"/>
                  </a:lnTo>
                  <a:lnTo>
                    <a:pt x="1321785" y="808615"/>
                  </a:lnTo>
                  <a:lnTo>
                    <a:pt x="1329911" y="762815"/>
                  </a:lnTo>
                  <a:lnTo>
                    <a:pt x="1334869" y="715997"/>
                  </a:lnTo>
                  <a:lnTo>
                    <a:pt x="1336547" y="668274"/>
                  </a:lnTo>
                  <a:lnTo>
                    <a:pt x="1334869" y="620550"/>
                  </a:lnTo>
                  <a:lnTo>
                    <a:pt x="1329911" y="573732"/>
                  </a:lnTo>
                  <a:lnTo>
                    <a:pt x="1321785" y="527932"/>
                  </a:lnTo>
                  <a:lnTo>
                    <a:pt x="1310604" y="483264"/>
                  </a:lnTo>
                  <a:lnTo>
                    <a:pt x="1296483" y="439840"/>
                  </a:lnTo>
                  <a:lnTo>
                    <a:pt x="1279533" y="397775"/>
                  </a:lnTo>
                  <a:lnTo>
                    <a:pt x="1259868" y="357180"/>
                  </a:lnTo>
                  <a:lnTo>
                    <a:pt x="1237601" y="318169"/>
                  </a:lnTo>
                  <a:lnTo>
                    <a:pt x="1212845" y="280855"/>
                  </a:lnTo>
                  <a:lnTo>
                    <a:pt x="1185713" y="245352"/>
                  </a:lnTo>
                  <a:lnTo>
                    <a:pt x="1156319" y="211772"/>
                  </a:lnTo>
                  <a:lnTo>
                    <a:pt x="1124775" y="180228"/>
                  </a:lnTo>
                  <a:lnTo>
                    <a:pt x="1091195" y="150834"/>
                  </a:lnTo>
                  <a:lnTo>
                    <a:pt x="1055692" y="123702"/>
                  </a:lnTo>
                  <a:lnTo>
                    <a:pt x="1018378" y="98946"/>
                  </a:lnTo>
                  <a:lnTo>
                    <a:pt x="979367" y="76679"/>
                  </a:lnTo>
                  <a:lnTo>
                    <a:pt x="938772" y="57014"/>
                  </a:lnTo>
                  <a:lnTo>
                    <a:pt x="896707" y="40064"/>
                  </a:lnTo>
                  <a:lnTo>
                    <a:pt x="853283" y="25943"/>
                  </a:lnTo>
                  <a:lnTo>
                    <a:pt x="808615" y="14762"/>
                  </a:lnTo>
                  <a:lnTo>
                    <a:pt x="762815" y="6636"/>
                  </a:lnTo>
                  <a:lnTo>
                    <a:pt x="715997" y="1678"/>
                  </a:lnTo>
                  <a:lnTo>
                    <a:pt x="66827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00022" y="2844215"/>
              <a:ext cx="639445" cy="447040"/>
            </a:xfrm>
            <a:custGeom>
              <a:avLst/>
              <a:gdLst/>
              <a:ahLst/>
              <a:cxnLst/>
              <a:rect l="l" t="t" r="r" b="b"/>
              <a:pathLst>
                <a:path w="639444" h="447039">
                  <a:moveTo>
                    <a:pt x="239661" y="175717"/>
                  </a:moveTo>
                  <a:lnTo>
                    <a:pt x="207708" y="175717"/>
                  </a:lnTo>
                  <a:lnTo>
                    <a:pt x="207708" y="271449"/>
                  </a:lnTo>
                  <a:lnTo>
                    <a:pt x="239661" y="271449"/>
                  </a:lnTo>
                  <a:lnTo>
                    <a:pt x="239661" y="175717"/>
                  </a:lnTo>
                  <a:close/>
                </a:path>
                <a:path w="639444" h="447039">
                  <a:moveTo>
                    <a:pt x="431406" y="175717"/>
                  </a:moveTo>
                  <a:lnTo>
                    <a:pt x="399453" y="175717"/>
                  </a:lnTo>
                  <a:lnTo>
                    <a:pt x="399453" y="271449"/>
                  </a:lnTo>
                  <a:lnTo>
                    <a:pt x="431406" y="271449"/>
                  </a:lnTo>
                  <a:lnTo>
                    <a:pt x="431406" y="175717"/>
                  </a:lnTo>
                  <a:close/>
                </a:path>
                <a:path w="639444" h="447039">
                  <a:moveTo>
                    <a:pt x="639114" y="175717"/>
                  </a:moveTo>
                  <a:lnTo>
                    <a:pt x="591185" y="175717"/>
                  </a:lnTo>
                  <a:lnTo>
                    <a:pt x="591185" y="271449"/>
                  </a:lnTo>
                  <a:lnTo>
                    <a:pt x="639114" y="271449"/>
                  </a:lnTo>
                  <a:lnTo>
                    <a:pt x="639114" y="175717"/>
                  </a:lnTo>
                  <a:close/>
                </a:path>
                <a:path w="639444" h="447039">
                  <a:moveTo>
                    <a:pt x="639114" y="0"/>
                  </a:moveTo>
                  <a:lnTo>
                    <a:pt x="591185" y="0"/>
                  </a:lnTo>
                  <a:lnTo>
                    <a:pt x="591185" y="48234"/>
                  </a:lnTo>
                  <a:lnTo>
                    <a:pt x="591185" y="143408"/>
                  </a:lnTo>
                  <a:lnTo>
                    <a:pt x="431406" y="143408"/>
                  </a:lnTo>
                  <a:lnTo>
                    <a:pt x="431406" y="48234"/>
                  </a:lnTo>
                  <a:lnTo>
                    <a:pt x="591185" y="48234"/>
                  </a:lnTo>
                  <a:lnTo>
                    <a:pt x="591185" y="0"/>
                  </a:lnTo>
                  <a:lnTo>
                    <a:pt x="399453" y="0"/>
                  </a:lnTo>
                  <a:lnTo>
                    <a:pt x="399453" y="48234"/>
                  </a:lnTo>
                  <a:lnTo>
                    <a:pt x="399453" y="143408"/>
                  </a:lnTo>
                  <a:lnTo>
                    <a:pt x="239661" y="143408"/>
                  </a:lnTo>
                  <a:lnTo>
                    <a:pt x="239661" y="48234"/>
                  </a:lnTo>
                  <a:lnTo>
                    <a:pt x="399453" y="48234"/>
                  </a:lnTo>
                  <a:lnTo>
                    <a:pt x="399453" y="0"/>
                  </a:lnTo>
                  <a:lnTo>
                    <a:pt x="207708" y="0"/>
                  </a:lnTo>
                  <a:lnTo>
                    <a:pt x="207708" y="48234"/>
                  </a:lnTo>
                  <a:lnTo>
                    <a:pt x="207708" y="143408"/>
                  </a:lnTo>
                  <a:lnTo>
                    <a:pt x="47929" y="143408"/>
                  </a:lnTo>
                  <a:lnTo>
                    <a:pt x="47929" y="48234"/>
                  </a:lnTo>
                  <a:lnTo>
                    <a:pt x="207708" y="48234"/>
                  </a:lnTo>
                  <a:lnTo>
                    <a:pt x="207708" y="0"/>
                  </a:lnTo>
                  <a:lnTo>
                    <a:pt x="0" y="0"/>
                  </a:lnTo>
                  <a:lnTo>
                    <a:pt x="0" y="48234"/>
                  </a:lnTo>
                  <a:lnTo>
                    <a:pt x="0" y="143408"/>
                  </a:lnTo>
                  <a:lnTo>
                    <a:pt x="0" y="446735"/>
                  </a:lnTo>
                  <a:lnTo>
                    <a:pt x="639114" y="446735"/>
                  </a:lnTo>
                  <a:lnTo>
                    <a:pt x="639114" y="399097"/>
                  </a:lnTo>
                  <a:lnTo>
                    <a:pt x="639114" y="398500"/>
                  </a:lnTo>
                  <a:lnTo>
                    <a:pt x="639114" y="303352"/>
                  </a:lnTo>
                  <a:lnTo>
                    <a:pt x="591185" y="303352"/>
                  </a:lnTo>
                  <a:lnTo>
                    <a:pt x="591185" y="398500"/>
                  </a:lnTo>
                  <a:lnTo>
                    <a:pt x="431406" y="398500"/>
                  </a:lnTo>
                  <a:lnTo>
                    <a:pt x="431406" y="303352"/>
                  </a:lnTo>
                  <a:lnTo>
                    <a:pt x="399453" y="303352"/>
                  </a:lnTo>
                  <a:lnTo>
                    <a:pt x="399453" y="398500"/>
                  </a:lnTo>
                  <a:lnTo>
                    <a:pt x="239661" y="398500"/>
                  </a:lnTo>
                  <a:lnTo>
                    <a:pt x="239661" y="303352"/>
                  </a:lnTo>
                  <a:lnTo>
                    <a:pt x="207708" y="303352"/>
                  </a:lnTo>
                  <a:lnTo>
                    <a:pt x="207708" y="398500"/>
                  </a:lnTo>
                  <a:lnTo>
                    <a:pt x="47929" y="398500"/>
                  </a:lnTo>
                  <a:lnTo>
                    <a:pt x="47929" y="303314"/>
                  </a:lnTo>
                  <a:lnTo>
                    <a:pt x="639114" y="303314"/>
                  </a:lnTo>
                  <a:lnTo>
                    <a:pt x="639114" y="271589"/>
                  </a:lnTo>
                  <a:lnTo>
                    <a:pt x="47929" y="271589"/>
                  </a:lnTo>
                  <a:lnTo>
                    <a:pt x="47929" y="175145"/>
                  </a:lnTo>
                  <a:lnTo>
                    <a:pt x="639114" y="175145"/>
                  </a:lnTo>
                  <a:lnTo>
                    <a:pt x="639114" y="143802"/>
                  </a:lnTo>
                  <a:lnTo>
                    <a:pt x="639114" y="143408"/>
                  </a:lnTo>
                  <a:lnTo>
                    <a:pt x="639114" y="48234"/>
                  </a:lnTo>
                  <a:lnTo>
                    <a:pt x="639114" y="48069"/>
                  </a:lnTo>
                  <a:lnTo>
                    <a:pt x="63911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60395" y="2553970"/>
            <a:ext cx="2963545" cy="9963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55"/>
              </a:spcBef>
            </a:pPr>
            <a:r>
              <a:rPr sz="2100" dirty="0">
                <a:latin typeface="Calibri"/>
                <a:cs typeface="Calibri"/>
              </a:rPr>
              <a:t>All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values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column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must </a:t>
            </a:r>
            <a:r>
              <a:rPr sz="2100" dirty="0">
                <a:latin typeface="Calibri"/>
                <a:cs typeface="Calibri"/>
              </a:rPr>
              <a:t>confirm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same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data </a:t>
            </a:r>
            <a:r>
              <a:rPr sz="2100" spc="-10" dirty="0">
                <a:latin typeface="Calibri"/>
                <a:cs typeface="Calibri"/>
              </a:rPr>
              <a:t>format</a:t>
            </a:r>
            <a:r>
              <a:rPr sz="2100" spc="-10" dirty="0">
                <a:latin typeface="Calibri Light"/>
                <a:cs typeface="Calibri Light"/>
              </a:rPr>
              <a:t>.</a:t>
            </a:r>
            <a:endParaRPr sz="2100">
              <a:latin typeface="Calibri Light"/>
              <a:cs typeface="Calibri Ligh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70320" y="2398776"/>
            <a:ext cx="1336675" cy="1336675"/>
            <a:chOff x="6370320" y="2398776"/>
            <a:chExt cx="1336675" cy="1336675"/>
          </a:xfrm>
        </p:grpSpPr>
        <p:sp>
          <p:nvSpPr>
            <p:cNvPr id="11" name="object 11"/>
            <p:cNvSpPr/>
            <p:nvPr/>
          </p:nvSpPr>
          <p:spPr>
            <a:xfrm>
              <a:off x="6370320" y="2398776"/>
              <a:ext cx="1336675" cy="1336675"/>
            </a:xfrm>
            <a:custGeom>
              <a:avLst/>
              <a:gdLst/>
              <a:ahLst/>
              <a:cxnLst/>
              <a:rect l="l" t="t" r="r" b="b"/>
              <a:pathLst>
                <a:path w="1336675" h="1336675">
                  <a:moveTo>
                    <a:pt x="668274" y="0"/>
                  </a:moveTo>
                  <a:lnTo>
                    <a:pt x="620550" y="1678"/>
                  </a:lnTo>
                  <a:lnTo>
                    <a:pt x="573732" y="6636"/>
                  </a:lnTo>
                  <a:lnTo>
                    <a:pt x="527932" y="14762"/>
                  </a:lnTo>
                  <a:lnTo>
                    <a:pt x="483264" y="25943"/>
                  </a:lnTo>
                  <a:lnTo>
                    <a:pt x="439840" y="40064"/>
                  </a:lnTo>
                  <a:lnTo>
                    <a:pt x="397775" y="57014"/>
                  </a:lnTo>
                  <a:lnTo>
                    <a:pt x="357180" y="76679"/>
                  </a:lnTo>
                  <a:lnTo>
                    <a:pt x="318169" y="98946"/>
                  </a:lnTo>
                  <a:lnTo>
                    <a:pt x="280855" y="123702"/>
                  </a:lnTo>
                  <a:lnTo>
                    <a:pt x="245352" y="150834"/>
                  </a:lnTo>
                  <a:lnTo>
                    <a:pt x="211772" y="180228"/>
                  </a:lnTo>
                  <a:lnTo>
                    <a:pt x="180228" y="211772"/>
                  </a:lnTo>
                  <a:lnTo>
                    <a:pt x="150834" y="245352"/>
                  </a:lnTo>
                  <a:lnTo>
                    <a:pt x="123702" y="280855"/>
                  </a:lnTo>
                  <a:lnTo>
                    <a:pt x="98946" y="318169"/>
                  </a:lnTo>
                  <a:lnTo>
                    <a:pt x="76679" y="357180"/>
                  </a:lnTo>
                  <a:lnTo>
                    <a:pt x="57014" y="397775"/>
                  </a:lnTo>
                  <a:lnTo>
                    <a:pt x="40064" y="439840"/>
                  </a:lnTo>
                  <a:lnTo>
                    <a:pt x="25943" y="483264"/>
                  </a:lnTo>
                  <a:lnTo>
                    <a:pt x="14762" y="527932"/>
                  </a:lnTo>
                  <a:lnTo>
                    <a:pt x="6636" y="573732"/>
                  </a:lnTo>
                  <a:lnTo>
                    <a:pt x="1678" y="620550"/>
                  </a:lnTo>
                  <a:lnTo>
                    <a:pt x="0" y="668274"/>
                  </a:lnTo>
                  <a:lnTo>
                    <a:pt x="1678" y="715997"/>
                  </a:lnTo>
                  <a:lnTo>
                    <a:pt x="6636" y="762815"/>
                  </a:lnTo>
                  <a:lnTo>
                    <a:pt x="14762" y="808615"/>
                  </a:lnTo>
                  <a:lnTo>
                    <a:pt x="25943" y="853283"/>
                  </a:lnTo>
                  <a:lnTo>
                    <a:pt x="40064" y="896707"/>
                  </a:lnTo>
                  <a:lnTo>
                    <a:pt x="57014" y="938772"/>
                  </a:lnTo>
                  <a:lnTo>
                    <a:pt x="76679" y="979367"/>
                  </a:lnTo>
                  <a:lnTo>
                    <a:pt x="98946" y="1018378"/>
                  </a:lnTo>
                  <a:lnTo>
                    <a:pt x="123702" y="1055692"/>
                  </a:lnTo>
                  <a:lnTo>
                    <a:pt x="150834" y="1091195"/>
                  </a:lnTo>
                  <a:lnTo>
                    <a:pt x="180228" y="1124775"/>
                  </a:lnTo>
                  <a:lnTo>
                    <a:pt x="211772" y="1156319"/>
                  </a:lnTo>
                  <a:lnTo>
                    <a:pt x="245352" y="1185713"/>
                  </a:lnTo>
                  <a:lnTo>
                    <a:pt x="280855" y="1212845"/>
                  </a:lnTo>
                  <a:lnTo>
                    <a:pt x="318169" y="1237601"/>
                  </a:lnTo>
                  <a:lnTo>
                    <a:pt x="357180" y="1259868"/>
                  </a:lnTo>
                  <a:lnTo>
                    <a:pt x="397775" y="1279533"/>
                  </a:lnTo>
                  <a:lnTo>
                    <a:pt x="439840" y="1296483"/>
                  </a:lnTo>
                  <a:lnTo>
                    <a:pt x="483264" y="1310604"/>
                  </a:lnTo>
                  <a:lnTo>
                    <a:pt x="527932" y="1321785"/>
                  </a:lnTo>
                  <a:lnTo>
                    <a:pt x="573732" y="1329911"/>
                  </a:lnTo>
                  <a:lnTo>
                    <a:pt x="620550" y="1334869"/>
                  </a:lnTo>
                  <a:lnTo>
                    <a:pt x="668274" y="1336548"/>
                  </a:lnTo>
                  <a:lnTo>
                    <a:pt x="715997" y="1334869"/>
                  </a:lnTo>
                  <a:lnTo>
                    <a:pt x="762815" y="1329911"/>
                  </a:lnTo>
                  <a:lnTo>
                    <a:pt x="808615" y="1321785"/>
                  </a:lnTo>
                  <a:lnTo>
                    <a:pt x="853283" y="1310604"/>
                  </a:lnTo>
                  <a:lnTo>
                    <a:pt x="896707" y="1296483"/>
                  </a:lnTo>
                  <a:lnTo>
                    <a:pt x="938772" y="1279533"/>
                  </a:lnTo>
                  <a:lnTo>
                    <a:pt x="979367" y="1259868"/>
                  </a:lnTo>
                  <a:lnTo>
                    <a:pt x="1018378" y="1237601"/>
                  </a:lnTo>
                  <a:lnTo>
                    <a:pt x="1055692" y="1212845"/>
                  </a:lnTo>
                  <a:lnTo>
                    <a:pt x="1091195" y="1185713"/>
                  </a:lnTo>
                  <a:lnTo>
                    <a:pt x="1124775" y="1156319"/>
                  </a:lnTo>
                  <a:lnTo>
                    <a:pt x="1156319" y="1124775"/>
                  </a:lnTo>
                  <a:lnTo>
                    <a:pt x="1185713" y="1091195"/>
                  </a:lnTo>
                  <a:lnTo>
                    <a:pt x="1212845" y="1055692"/>
                  </a:lnTo>
                  <a:lnTo>
                    <a:pt x="1237601" y="1018378"/>
                  </a:lnTo>
                  <a:lnTo>
                    <a:pt x="1259868" y="979367"/>
                  </a:lnTo>
                  <a:lnTo>
                    <a:pt x="1279533" y="938772"/>
                  </a:lnTo>
                  <a:lnTo>
                    <a:pt x="1296483" y="896707"/>
                  </a:lnTo>
                  <a:lnTo>
                    <a:pt x="1310604" y="853283"/>
                  </a:lnTo>
                  <a:lnTo>
                    <a:pt x="1321785" y="808615"/>
                  </a:lnTo>
                  <a:lnTo>
                    <a:pt x="1329911" y="762815"/>
                  </a:lnTo>
                  <a:lnTo>
                    <a:pt x="1334869" y="715997"/>
                  </a:lnTo>
                  <a:lnTo>
                    <a:pt x="1336548" y="668274"/>
                  </a:lnTo>
                  <a:lnTo>
                    <a:pt x="1334869" y="620550"/>
                  </a:lnTo>
                  <a:lnTo>
                    <a:pt x="1329911" y="573732"/>
                  </a:lnTo>
                  <a:lnTo>
                    <a:pt x="1321785" y="527932"/>
                  </a:lnTo>
                  <a:lnTo>
                    <a:pt x="1310604" y="483264"/>
                  </a:lnTo>
                  <a:lnTo>
                    <a:pt x="1296483" y="439840"/>
                  </a:lnTo>
                  <a:lnTo>
                    <a:pt x="1279533" y="397775"/>
                  </a:lnTo>
                  <a:lnTo>
                    <a:pt x="1259868" y="357180"/>
                  </a:lnTo>
                  <a:lnTo>
                    <a:pt x="1237601" y="318169"/>
                  </a:lnTo>
                  <a:lnTo>
                    <a:pt x="1212845" y="280855"/>
                  </a:lnTo>
                  <a:lnTo>
                    <a:pt x="1185713" y="245352"/>
                  </a:lnTo>
                  <a:lnTo>
                    <a:pt x="1156319" y="211772"/>
                  </a:lnTo>
                  <a:lnTo>
                    <a:pt x="1124775" y="180228"/>
                  </a:lnTo>
                  <a:lnTo>
                    <a:pt x="1091195" y="150834"/>
                  </a:lnTo>
                  <a:lnTo>
                    <a:pt x="1055692" y="123702"/>
                  </a:lnTo>
                  <a:lnTo>
                    <a:pt x="1018378" y="98946"/>
                  </a:lnTo>
                  <a:lnTo>
                    <a:pt x="979367" y="76679"/>
                  </a:lnTo>
                  <a:lnTo>
                    <a:pt x="938772" y="57014"/>
                  </a:lnTo>
                  <a:lnTo>
                    <a:pt x="896707" y="40064"/>
                  </a:lnTo>
                  <a:lnTo>
                    <a:pt x="853283" y="25943"/>
                  </a:lnTo>
                  <a:lnTo>
                    <a:pt x="808615" y="14762"/>
                  </a:lnTo>
                  <a:lnTo>
                    <a:pt x="762815" y="6636"/>
                  </a:lnTo>
                  <a:lnTo>
                    <a:pt x="715997" y="1678"/>
                  </a:lnTo>
                  <a:lnTo>
                    <a:pt x="66827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20306" y="2789846"/>
              <a:ext cx="626110" cy="541655"/>
            </a:xfrm>
            <a:custGeom>
              <a:avLst/>
              <a:gdLst/>
              <a:ahLst/>
              <a:cxnLst/>
              <a:rect l="l" t="t" r="r" b="b"/>
              <a:pathLst>
                <a:path w="626109" h="541654">
                  <a:moveTo>
                    <a:pt x="404406" y="158280"/>
                  </a:moveTo>
                  <a:lnTo>
                    <a:pt x="312851" y="0"/>
                  </a:lnTo>
                  <a:lnTo>
                    <a:pt x="221373" y="158280"/>
                  </a:lnTo>
                  <a:lnTo>
                    <a:pt x="404406" y="158280"/>
                  </a:lnTo>
                  <a:close/>
                </a:path>
                <a:path w="626109" h="541654">
                  <a:moveTo>
                    <a:pt x="478142" y="285927"/>
                  </a:moveTo>
                  <a:lnTo>
                    <a:pt x="422859" y="190195"/>
                  </a:lnTo>
                  <a:lnTo>
                    <a:pt x="202920" y="190195"/>
                  </a:lnTo>
                  <a:lnTo>
                    <a:pt x="147637" y="285927"/>
                  </a:lnTo>
                  <a:lnTo>
                    <a:pt x="478142" y="285927"/>
                  </a:lnTo>
                  <a:close/>
                </a:path>
                <a:path w="626109" h="541654">
                  <a:moveTo>
                    <a:pt x="551954" y="413575"/>
                  </a:moveTo>
                  <a:lnTo>
                    <a:pt x="496595" y="317842"/>
                  </a:lnTo>
                  <a:lnTo>
                    <a:pt x="129171" y="317842"/>
                  </a:lnTo>
                  <a:lnTo>
                    <a:pt x="73812" y="413575"/>
                  </a:lnTo>
                  <a:lnTo>
                    <a:pt x="551954" y="413575"/>
                  </a:lnTo>
                  <a:close/>
                </a:path>
                <a:path w="626109" h="541654">
                  <a:moveTo>
                    <a:pt x="625805" y="541210"/>
                  </a:moveTo>
                  <a:lnTo>
                    <a:pt x="570407" y="445477"/>
                  </a:lnTo>
                  <a:lnTo>
                    <a:pt x="55359" y="445477"/>
                  </a:lnTo>
                  <a:lnTo>
                    <a:pt x="0" y="541210"/>
                  </a:lnTo>
                  <a:lnTo>
                    <a:pt x="625805" y="54121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980933" y="2553970"/>
            <a:ext cx="2745740" cy="9963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55"/>
              </a:spcBef>
            </a:pPr>
            <a:r>
              <a:rPr sz="2100" dirty="0">
                <a:latin typeface="Calibri"/>
                <a:cs typeface="Calibri"/>
              </a:rPr>
              <a:t>Each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column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has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specific </a:t>
            </a:r>
            <a:r>
              <a:rPr sz="2100" dirty="0">
                <a:latin typeface="Calibri"/>
                <a:cs typeface="Calibri"/>
              </a:rPr>
              <a:t>range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values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known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as </a:t>
            </a:r>
            <a:r>
              <a:rPr sz="2100" dirty="0">
                <a:latin typeface="Calibri"/>
                <a:cs typeface="Calibri"/>
              </a:rPr>
              <a:t>attribute</a:t>
            </a:r>
            <a:r>
              <a:rPr sz="2100" spc="-10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domain</a:t>
            </a:r>
            <a:r>
              <a:rPr sz="2100" spc="-10" dirty="0">
                <a:latin typeface="Calibri Light"/>
                <a:cs typeface="Calibri Light"/>
              </a:rPr>
              <a:t>.</a:t>
            </a:r>
            <a:endParaRPr sz="2100">
              <a:latin typeface="Calibri Light"/>
              <a:cs typeface="Calibri Ligh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50036" y="4475988"/>
            <a:ext cx="1336675" cy="1335405"/>
            <a:chOff x="1050036" y="4475988"/>
            <a:chExt cx="1336675" cy="1335405"/>
          </a:xfrm>
        </p:grpSpPr>
        <p:sp>
          <p:nvSpPr>
            <p:cNvPr id="15" name="object 15"/>
            <p:cNvSpPr/>
            <p:nvPr/>
          </p:nvSpPr>
          <p:spPr>
            <a:xfrm>
              <a:off x="1050036" y="4475988"/>
              <a:ext cx="1336675" cy="1335405"/>
            </a:xfrm>
            <a:custGeom>
              <a:avLst/>
              <a:gdLst/>
              <a:ahLst/>
              <a:cxnLst/>
              <a:rect l="l" t="t" r="r" b="b"/>
              <a:pathLst>
                <a:path w="1336675" h="1335404">
                  <a:moveTo>
                    <a:pt x="668274" y="0"/>
                  </a:moveTo>
                  <a:lnTo>
                    <a:pt x="620550" y="1675"/>
                  </a:lnTo>
                  <a:lnTo>
                    <a:pt x="573732" y="6628"/>
                  </a:lnTo>
                  <a:lnTo>
                    <a:pt x="527932" y="14744"/>
                  </a:lnTo>
                  <a:lnTo>
                    <a:pt x="483264" y="25910"/>
                  </a:lnTo>
                  <a:lnTo>
                    <a:pt x="439840" y="40014"/>
                  </a:lnTo>
                  <a:lnTo>
                    <a:pt x="397775" y="56943"/>
                  </a:lnTo>
                  <a:lnTo>
                    <a:pt x="357180" y="76584"/>
                  </a:lnTo>
                  <a:lnTo>
                    <a:pt x="318169" y="98824"/>
                  </a:lnTo>
                  <a:lnTo>
                    <a:pt x="280855" y="123550"/>
                  </a:lnTo>
                  <a:lnTo>
                    <a:pt x="245352" y="150649"/>
                  </a:lnTo>
                  <a:lnTo>
                    <a:pt x="211772" y="180008"/>
                  </a:lnTo>
                  <a:lnTo>
                    <a:pt x="180228" y="211515"/>
                  </a:lnTo>
                  <a:lnTo>
                    <a:pt x="150834" y="245056"/>
                  </a:lnTo>
                  <a:lnTo>
                    <a:pt x="123702" y="280518"/>
                  </a:lnTo>
                  <a:lnTo>
                    <a:pt x="98946" y="317789"/>
                  </a:lnTo>
                  <a:lnTo>
                    <a:pt x="76679" y="356755"/>
                  </a:lnTo>
                  <a:lnTo>
                    <a:pt x="57014" y="397304"/>
                  </a:lnTo>
                  <a:lnTo>
                    <a:pt x="40064" y="439323"/>
                  </a:lnTo>
                  <a:lnTo>
                    <a:pt x="25943" y="482699"/>
                  </a:lnTo>
                  <a:lnTo>
                    <a:pt x="14762" y="527318"/>
                  </a:lnTo>
                  <a:lnTo>
                    <a:pt x="6636" y="573069"/>
                  </a:lnTo>
                  <a:lnTo>
                    <a:pt x="1678" y="619838"/>
                  </a:lnTo>
                  <a:lnTo>
                    <a:pt x="0" y="667512"/>
                  </a:lnTo>
                  <a:lnTo>
                    <a:pt x="1678" y="715185"/>
                  </a:lnTo>
                  <a:lnTo>
                    <a:pt x="6636" y="761954"/>
                  </a:lnTo>
                  <a:lnTo>
                    <a:pt x="14762" y="807705"/>
                  </a:lnTo>
                  <a:lnTo>
                    <a:pt x="25943" y="852324"/>
                  </a:lnTo>
                  <a:lnTo>
                    <a:pt x="40064" y="895700"/>
                  </a:lnTo>
                  <a:lnTo>
                    <a:pt x="57014" y="937719"/>
                  </a:lnTo>
                  <a:lnTo>
                    <a:pt x="76679" y="978268"/>
                  </a:lnTo>
                  <a:lnTo>
                    <a:pt x="98946" y="1017234"/>
                  </a:lnTo>
                  <a:lnTo>
                    <a:pt x="123702" y="1054505"/>
                  </a:lnTo>
                  <a:lnTo>
                    <a:pt x="150834" y="1089967"/>
                  </a:lnTo>
                  <a:lnTo>
                    <a:pt x="180228" y="1123508"/>
                  </a:lnTo>
                  <a:lnTo>
                    <a:pt x="211772" y="1155015"/>
                  </a:lnTo>
                  <a:lnTo>
                    <a:pt x="245352" y="1184374"/>
                  </a:lnTo>
                  <a:lnTo>
                    <a:pt x="280855" y="1211473"/>
                  </a:lnTo>
                  <a:lnTo>
                    <a:pt x="318169" y="1236199"/>
                  </a:lnTo>
                  <a:lnTo>
                    <a:pt x="357180" y="1258439"/>
                  </a:lnTo>
                  <a:lnTo>
                    <a:pt x="397775" y="1278080"/>
                  </a:lnTo>
                  <a:lnTo>
                    <a:pt x="439840" y="1295009"/>
                  </a:lnTo>
                  <a:lnTo>
                    <a:pt x="483264" y="1309113"/>
                  </a:lnTo>
                  <a:lnTo>
                    <a:pt x="527932" y="1320279"/>
                  </a:lnTo>
                  <a:lnTo>
                    <a:pt x="573732" y="1328395"/>
                  </a:lnTo>
                  <a:lnTo>
                    <a:pt x="620550" y="1333348"/>
                  </a:lnTo>
                  <a:lnTo>
                    <a:pt x="668274" y="1335024"/>
                  </a:lnTo>
                  <a:lnTo>
                    <a:pt x="715997" y="1333348"/>
                  </a:lnTo>
                  <a:lnTo>
                    <a:pt x="762815" y="1328395"/>
                  </a:lnTo>
                  <a:lnTo>
                    <a:pt x="808615" y="1320279"/>
                  </a:lnTo>
                  <a:lnTo>
                    <a:pt x="853283" y="1309113"/>
                  </a:lnTo>
                  <a:lnTo>
                    <a:pt x="896707" y="1295009"/>
                  </a:lnTo>
                  <a:lnTo>
                    <a:pt x="938772" y="1278080"/>
                  </a:lnTo>
                  <a:lnTo>
                    <a:pt x="979367" y="1258439"/>
                  </a:lnTo>
                  <a:lnTo>
                    <a:pt x="1018378" y="1236199"/>
                  </a:lnTo>
                  <a:lnTo>
                    <a:pt x="1055692" y="1211473"/>
                  </a:lnTo>
                  <a:lnTo>
                    <a:pt x="1091195" y="1184374"/>
                  </a:lnTo>
                  <a:lnTo>
                    <a:pt x="1124775" y="1155015"/>
                  </a:lnTo>
                  <a:lnTo>
                    <a:pt x="1156319" y="1123508"/>
                  </a:lnTo>
                  <a:lnTo>
                    <a:pt x="1185713" y="1089967"/>
                  </a:lnTo>
                  <a:lnTo>
                    <a:pt x="1212845" y="1054505"/>
                  </a:lnTo>
                  <a:lnTo>
                    <a:pt x="1237601" y="1017234"/>
                  </a:lnTo>
                  <a:lnTo>
                    <a:pt x="1259868" y="978268"/>
                  </a:lnTo>
                  <a:lnTo>
                    <a:pt x="1279533" y="937719"/>
                  </a:lnTo>
                  <a:lnTo>
                    <a:pt x="1296483" y="895700"/>
                  </a:lnTo>
                  <a:lnTo>
                    <a:pt x="1310604" y="852324"/>
                  </a:lnTo>
                  <a:lnTo>
                    <a:pt x="1321785" y="807705"/>
                  </a:lnTo>
                  <a:lnTo>
                    <a:pt x="1329911" y="761954"/>
                  </a:lnTo>
                  <a:lnTo>
                    <a:pt x="1334869" y="715185"/>
                  </a:lnTo>
                  <a:lnTo>
                    <a:pt x="1336547" y="667512"/>
                  </a:lnTo>
                  <a:lnTo>
                    <a:pt x="1334869" y="619838"/>
                  </a:lnTo>
                  <a:lnTo>
                    <a:pt x="1329911" y="573069"/>
                  </a:lnTo>
                  <a:lnTo>
                    <a:pt x="1321785" y="527318"/>
                  </a:lnTo>
                  <a:lnTo>
                    <a:pt x="1310604" y="482699"/>
                  </a:lnTo>
                  <a:lnTo>
                    <a:pt x="1296483" y="439323"/>
                  </a:lnTo>
                  <a:lnTo>
                    <a:pt x="1279533" y="397304"/>
                  </a:lnTo>
                  <a:lnTo>
                    <a:pt x="1259868" y="356755"/>
                  </a:lnTo>
                  <a:lnTo>
                    <a:pt x="1237601" y="317789"/>
                  </a:lnTo>
                  <a:lnTo>
                    <a:pt x="1212845" y="280518"/>
                  </a:lnTo>
                  <a:lnTo>
                    <a:pt x="1185713" y="245056"/>
                  </a:lnTo>
                  <a:lnTo>
                    <a:pt x="1156319" y="211515"/>
                  </a:lnTo>
                  <a:lnTo>
                    <a:pt x="1124775" y="180008"/>
                  </a:lnTo>
                  <a:lnTo>
                    <a:pt x="1091195" y="150649"/>
                  </a:lnTo>
                  <a:lnTo>
                    <a:pt x="1055692" y="123550"/>
                  </a:lnTo>
                  <a:lnTo>
                    <a:pt x="1018378" y="98824"/>
                  </a:lnTo>
                  <a:lnTo>
                    <a:pt x="979367" y="76584"/>
                  </a:lnTo>
                  <a:lnTo>
                    <a:pt x="938772" y="56943"/>
                  </a:lnTo>
                  <a:lnTo>
                    <a:pt x="896707" y="40014"/>
                  </a:lnTo>
                  <a:lnTo>
                    <a:pt x="853283" y="25910"/>
                  </a:lnTo>
                  <a:lnTo>
                    <a:pt x="808615" y="14744"/>
                  </a:lnTo>
                  <a:lnTo>
                    <a:pt x="762815" y="6628"/>
                  </a:lnTo>
                  <a:lnTo>
                    <a:pt x="715997" y="1675"/>
                  </a:lnTo>
                  <a:lnTo>
                    <a:pt x="66827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95882" y="4841849"/>
              <a:ext cx="447675" cy="606425"/>
            </a:xfrm>
            <a:custGeom>
              <a:avLst/>
              <a:gdLst/>
              <a:ahLst/>
              <a:cxnLst/>
              <a:rect l="l" t="t" r="r" b="b"/>
              <a:pathLst>
                <a:path w="447675" h="606425">
                  <a:moveTo>
                    <a:pt x="447395" y="414845"/>
                  </a:moveTo>
                  <a:lnTo>
                    <a:pt x="435940" y="434962"/>
                  </a:lnTo>
                  <a:lnTo>
                    <a:pt x="404088" y="452475"/>
                  </a:lnTo>
                  <a:lnTo>
                    <a:pt x="399453" y="453809"/>
                  </a:lnTo>
                  <a:lnTo>
                    <a:pt x="399453" y="516966"/>
                  </a:lnTo>
                  <a:lnTo>
                    <a:pt x="399453" y="536105"/>
                  </a:lnTo>
                  <a:lnTo>
                    <a:pt x="393065" y="542493"/>
                  </a:lnTo>
                  <a:lnTo>
                    <a:pt x="373888" y="542493"/>
                  </a:lnTo>
                  <a:lnTo>
                    <a:pt x="367499" y="536105"/>
                  </a:lnTo>
                  <a:lnTo>
                    <a:pt x="367499" y="516966"/>
                  </a:lnTo>
                  <a:lnTo>
                    <a:pt x="373888" y="510578"/>
                  </a:lnTo>
                  <a:lnTo>
                    <a:pt x="393065" y="510578"/>
                  </a:lnTo>
                  <a:lnTo>
                    <a:pt x="399453" y="516966"/>
                  </a:lnTo>
                  <a:lnTo>
                    <a:pt x="399453" y="453809"/>
                  </a:lnTo>
                  <a:lnTo>
                    <a:pt x="355587" y="466318"/>
                  </a:lnTo>
                  <a:lnTo>
                    <a:pt x="294208" y="475399"/>
                  </a:lnTo>
                  <a:lnTo>
                    <a:pt x="223697" y="478675"/>
                  </a:lnTo>
                  <a:lnTo>
                    <a:pt x="153187" y="475399"/>
                  </a:lnTo>
                  <a:lnTo>
                    <a:pt x="91808" y="466318"/>
                  </a:lnTo>
                  <a:lnTo>
                    <a:pt x="43307" y="452475"/>
                  </a:lnTo>
                  <a:lnTo>
                    <a:pt x="11455" y="434962"/>
                  </a:lnTo>
                  <a:lnTo>
                    <a:pt x="0" y="414845"/>
                  </a:lnTo>
                  <a:lnTo>
                    <a:pt x="0" y="542493"/>
                  </a:lnTo>
                  <a:lnTo>
                    <a:pt x="43307" y="580123"/>
                  </a:lnTo>
                  <a:lnTo>
                    <a:pt x="91808" y="593953"/>
                  </a:lnTo>
                  <a:lnTo>
                    <a:pt x="153187" y="603046"/>
                  </a:lnTo>
                  <a:lnTo>
                    <a:pt x="223697" y="606310"/>
                  </a:lnTo>
                  <a:lnTo>
                    <a:pt x="294208" y="603046"/>
                  </a:lnTo>
                  <a:lnTo>
                    <a:pt x="355587" y="593953"/>
                  </a:lnTo>
                  <a:lnTo>
                    <a:pt x="404088" y="580123"/>
                  </a:lnTo>
                  <a:lnTo>
                    <a:pt x="435940" y="562610"/>
                  </a:lnTo>
                  <a:lnTo>
                    <a:pt x="447395" y="542493"/>
                  </a:lnTo>
                  <a:lnTo>
                    <a:pt x="447395" y="510578"/>
                  </a:lnTo>
                  <a:lnTo>
                    <a:pt x="447395" y="478675"/>
                  </a:lnTo>
                  <a:lnTo>
                    <a:pt x="447395" y="414845"/>
                  </a:lnTo>
                  <a:close/>
                </a:path>
                <a:path w="447675" h="606425">
                  <a:moveTo>
                    <a:pt x="447395" y="255295"/>
                  </a:moveTo>
                  <a:lnTo>
                    <a:pt x="435940" y="275412"/>
                  </a:lnTo>
                  <a:lnTo>
                    <a:pt x="404088" y="292925"/>
                  </a:lnTo>
                  <a:lnTo>
                    <a:pt x="399453" y="294259"/>
                  </a:lnTo>
                  <a:lnTo>
                    <a:pt x="399453" y="357403"/>
                  </a:lnTo>
                  <a:lnTo>
                    <a:pt x="399453" y="376555"/>
                  </a:lnTo>
                  <a:lnTo>
                    <a:pt x="393065" y="382930"/>
                  </a:lnTo>
                  <a:lnTo>
                    <a:pt x="373888" y="382930"/>
                  </a:lnTo>
                  <a:lnTo>
                    <a:pt x="367499" y="376555"/>
                  </a:lnTo>
                  <a:lnTo>
                    <a:pt x="367499" y="357403"/>
                  </a:lnTo>
                  <a:lnTo>
                    <a:pt x="373888" y="351028"/>
                  </a:lnTo>
                  <a:lnTo>
                    <a:pt x="393065" y="351028"/>
                  </a:lnTo>
                  <a:lnTo>
                    <a:pt x="399453" y="357403"/>
                  </a:lnTo>
                  <a:lnTo>
                    <a:pt x="399453" y="294259"/>
                  </a:lnTo>
                  <a:lnTo>
                    <a:pt x="355587" y="306755"/>
                  </a:lnTo>
                  <a:lnTo>
                    <a:pt x="294208" y="315849"/>
                  </a:lnTo>
                  <a:lnTo>
                    <a:pt x="223697" y="319112"/>
                  </a:lnTo>
                  <a:lnTo>
                    <a:pt x="153187" y="315849"/>
                  </a:lnTo>
                  <a:lnTo>
                    <a:pt x="91808" y="306755"/>
                  </a:lnTo>
                  <a:lnTo>
                    <a:pt x="43307" y="292925"/>
                  </a:lnTo>
                  <a:lnTo>
                    <a:pt x="11455" y="275412"/>
                  </a:lnTo>
                  <a:lnTo>
                    <a:pt x="0" y="255295"/>
                  </a:lnTo>
                  <a:lnTo>
                    <a:pt x="0" y="382930"/>
                  </a:lnTo>
                  <a:lnTo>
                    <a:pt x="43307" y="420560"/>
                  </a:lnTo>
                  <a:lnTo>
                    <a:pt x="91808" y="434403"/>
                  </a:lnTo>
                  <a:lnTo>
                    <a:pt x="153187" y="443496"/>
                  </a:lnTo>
                  <a:lnTo>
                    <a:pt x="223697" y="446760"/>
                  </a:lnTo>
                  <a:lnTo>
                    <a:pt x="294208" y="443496"/>
                  </a:lnTo>
                  <a:lnTo>
                    <a:pt x="355587" y="434403"/>
                  </a:lnTo>
                  <a:lnTo>
                    <a:pt x="404088" y="420560"/>
                  </a:lnTo>
                  <a:lnTo>
                    <a:pt x="435940" y="403047"/>
                  </a:lnTo>
                  <a:lnTo>
                    <a:pt x="447395" y="382930"/>
                  </a:lnTo>
                  <a:lnTo>
                    <a:pt x="447395" y="351028"/>
                  </a:lnTo>
                  <a:lnTo>
                    <a:pt x="447395" y="319112"/>
                  </a:lnTo>
                  <a:lnTo>
                    <a:pt x="447395" y="255295"/>
                  </a:lnTo>
                  <a:close/>
                </a:path>
                <a:path w="447675" h="606425">
                  <a:moveTo>
                    <a:pt x="447395" y="95732"/>
                  </a:moveTo>
                  <a:lnTo>
                    <a:pt x="435940" y="115849"/>
                  </a:lnTo>
                  <a:lnTo>
                    <a:pt x="404088" y="133362"/>
                  </a:lnTo>
                  <a:lnTo>
                    <a:pt x="399453" y="134696"/>
                  </a:lnTo>
                  <a:lnTo>
                    <a:pt x="399453" y="197853"/>
                  </a:lnTo>
                  <a:lnTo>
                    <a:pt x="399453" y="216992"/>
                  </a:lnTo>
                  <a:lnTo>
                    <a:pt x="393065" y="223380"/>
                  </a:lnTo>
                  <a:lnTo>
                    <a:pt x="373888" y="223380"/>
                  </a:lnTo>
                  <a:lnTo>
                    <a:pt x="367499" y="216992"/>
                  </a:lnTo>
                  <a:lnTo>
                    <a:pt x="367499" y="197853"/>
                  </a:lnTo>
                  <a:lnTo>
                    <a:pt x="373888" y="191465"/>
                  </a:lnTo>
                  <a:lnTo>
                    <a:pt x="393065" y="191465"/>
                  </a:lnTo>
                  <a:lnTo>
                    <a:pt x="399453" y="197853"/>
                  </a:lnTo>
                  <a:lnTo>
                    <a:pt x="399453" y="134696"/>
                  </a:lnTo>
                  <a:lnTo>
                    <a:pt x="355587" y="147205"/>
                  </a:lnTo>
                  <a:lnTo>
                    <a:pt x="294208" y="156286"/>
                  </a:lnTo>
                  <a:lnTo>
                    <a:pt x="223697" y="159562"/>
                  </a:lnTo>
                  <a:lnTo>
                    <a:pt x="153187" y="156286"/>
                  </a:lnTo>
                  <a:lnTo>
                    <a:pt x="91808" y="147205"/>
                  </a:lnTo>
                  <a:lnTo>
                    <a:pt x="43307" y="133362"/>
                  </a:lnTo>
                  <a:lnTo>
                    <a:pt x="11455" y="115849"/>
                  </a:lnTo>
                  <a:lnTo>
                    <a:pt x="0" y="95732"/>
                  </a:lnTo>
                  <a:lnTo>
                    <a:pt x="0" y="223380"/>
                  </a:lnTo>
                  <a:lnTo>
                    <a:pt x="43307" y="261010"/>
                  </a:lnTo>
                  <a:lnTo>
                    <a:pt x="91808" y="274840"/>
                  </a:lnTo>
                  <a:lnTo>
                    <a:pt x="153187" y="283933"/>
                  </a:lnTo>
                  <a:lnTo>
                    <a:pt x="223697" y="287197"/>
                  </a:lnTo>
                  <a:lnTo>
                    <a:pt x="294208" y="283933"/>
                  </a:lnTo>
                  <a:lnTo>
                    <a:pt x="355587" y="274840"/>
                  </a:lnTo>
                  <a:lnTo>
                    <a:pt x="404088" y="261010"/>
                  </a:lnTo>
                  <a:lnTo>
                    <a:pt x="435940" y="243497"/>
                  </a:lnTo>
                  <a:lnTo>
                    <a:pt x="447395" y="223380"/>
                  </a:lnTo>
                  <a:lnTo>
                    <a:pt x="447395" y="191465"/>
                  </a:lnTo>
                  <a:lnTo>
                    <a:pt x="447395" y="159562"/>
                  </a:lnTo>
                  <a:lnTo>
                    <a:pt x="447395" y="95732"/>
                  </a:lnTo>
                  <a:close/>
                </a:path>
                <a:path w="447675" h="606425">
                  <a:moveTo>
                    <a:pt x="447395" y="63817"/>
                  </a:moveTo>
                  <a:lnTo>
                    <a:pt x="404228" y="26136"/>
                  </a:lnTo>
                  <a:lnTo>
                    <a:pt x="355803" y="12319"/>
                  </a:lnTo>
                  <a:lnTo>
                    <a:pt x="294398" y="3251"/>
                  </a:lnTo>
                  <a:lnTo>
                    <a:pt x="223697" y="0"/>
                  </a:lnTo>
                  <a:lnTo>
                    <a:pt x="152996" y="3251"/>
                  </a:lnTo>
                  <a:lnTo>
                    <a:pt x="91592" y="12319"/>
                  </a:lnTo>
                  <a:lnTo>
                    <a:pt x="43167" y="26136"/>
                  </a:lnTo>
                  <a:lnTo>
                    <a:pt x="11404" y="43649"/>
                  </a:lnTo>
                  <a:lnTo>
                    <a:pt x="0" y="63817"/>
                  </a:lnTo>
                  <a:lnTo>
                    <a:pt x="11404" y="83997"/>
                  </a:lnTo>
                  <a:lnTo>
                    <a:pt x="43167" y="101511"/>
                  </a:lnTo>
                  <a:lnTo>
                    <a:pt x="91592" y="115328"/>
                  </a:lnTo>
                  <a:lnTo>
                    <a:pt x="152996" y="124396"/>
                  </a:lnTo>
                  <a:lnTo>
                    <a:pt x="223697" y="127647"/>
                  </a:lnTo>
                  <a:lnTo>
                    <a:pt x="294398" y="124396"/>
                  </a:lnTo>
                  <a:lnTo>
                    <a:pt x="355803" y="115328"/>
                  </a:lnTo>
                  <a:lnTo>
                    <a:pt x="404228" y="101511"/>
                  </a:lnTo>
                  <a:lnTo>
                    <a:pt x="435991" y="83997"/>
                  </a:lnTo>
                  <a:lnTo>
                    <a:pt x="447395" y="63817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60395" y="4631182"/>
            <a:ext cx="2839085" cy="9963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55"/>
              </a:spcBef>
            </a:pPr>
            <a:r>
              <a:rPr sz="2100" dirty="0">
                <a:latin typeface="Calibri"/>
                <a:cs typeface="Calibri"/>
              </a:rPr>
              <a:t>The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order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rows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and </a:t>
            </a:r>
            <a:r>
              <a:rPr sz="2100" dirty="0">
                <a:latin typeface="Calibri"/>
                <a:cs typeface="Calibri"/>
              </a:rPr>
              <a:t>columns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immaterial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to </a:t>
            </a:r>
            <a:r>
              <a:rPr sz="2100" spc="-10" dirty="0">
                <a:latin typeface="Calibri"/>
                <a:cs typeface="Calibri"/>
              </a:rPr>
              <a:t>DBMS</a:t>
            </a:r>
            <a:r>
              <a:rPr sz="2100" spc="-10" dirty="0">
                <a:latin typeface="Calibri Light"/>
                <a:cs typeface="Calibri Light"/>
              </a:rPr>
              <a:t>.</a:t>
            </a:r>
            <a:endParaRPr sz="2100">
              <a:latin typeface="Calibri Light"/>
              <a:cs typeface="Calibri Ligh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370320" y="4475988"/>
            <a:ext cx="1336675" cy="1335405"/>
            <a:chOff x="6370320" y="4475988"/>
            <a:chExt cx="1336675" cy="1335405"/>
          </a:xfrm>
        </p:grpSpPr>
        <p:sp>
          <p:nvSpPr>
            <p:cNvPr id="19" name="object 19"/>
            <p:cNvSpPr/>
            <p:nvPr/>
          </p:nvSpPr>
          <p:spPr>
            <a:xfrm>
              <a:off x="6370320" y="4475988"/>
              <a:ext cx="1336675" cy="1335405"/>
            </a:xfrm>
            <a:custGeom>
              <a:avLst/>
              <a:gdLst/>
              <a:ahLst/>
              <a:cxnLst/>
              <a:rect l="l" t="t" r="r" b="b"/>
              <a:pathLst>
                <a:path w="1336675" h="1335404">
                  <a:moveTo>
                    <a:pt x="668274" y="0"/>
                  </a:moveTo>
                  <a:lnTo>
                    <a:pt x="620550" y="1675"/>
                  </a:lnTo>
                  <a:lnTo>
                    <a:pt x="573732" y="6628"/>
                  </a:lnTo>
                  <a:lnTo>
                    <a:pt x="527932" y="14744"/>
                  </a:lnTo>
                  <a:lnTo>
                    <a:pt x="483264" y="25910"/>
                  </a:lnTo>
                  <a:lnTo>
                    <a:pt x="439840" y="40014"/>
                  </a:lnTo>
                  <a:lnTo>
                    <a:pt x="397775" y="56943"/>
                  </a:lnTo>
                  <a:lnTo>
                    <a:pt x="357180" y="76584"/>
                  </a:lnTo>
                  <a:lnTo>
                    <a:pt x="318169" y="98824"/>
                  </a:lnTo>
                  <a:lnTo>
                    <a:pt x="280855" y="123550"/>
                  </a:lnTo>
                  <a:lnTo>
                    <a:pt x="245352" y="150649"/>
                  </a:lnTo>
                  <a:lnTo>
                    <a:pt x="211772" y="180008"/>
                  </a:lnTo>
                  <a:lnTo>
                    <a:pt x="180228" y="211515"/>
                  </a:lnTo>
                  <a:lnTo>
                    <a:pt x="150834" y="245056"/>
                  </a:lnTo>
                  <a:lnTo>
                    <a:pt x="123702" y="280518"/>
                  </a:lnTo>
                  <a:lnTo>
                    <a:pt x="98946" y="317789"/>
                  </a:lnTo>
                  <a:lnTo>
                    <a:pt x="76679" y="356755"/>
                  </a:lnTo>
                  <a:lnTo>
                    <a:pt x="57014" y="397304"/>
                  </a:lnTo>
                  <a:lnTo>
                    <a:pt x="40064" y="439323"/>
                  </a:lnTo>
                  <a:lnTo>
                    <a:pt x="25943" y="482699"/>
                  </a:lnTo>
                  <a:lnTo>
                    <a:pt x="14762" y="527318"/>
                  </a:lnTo>
                  <a:lnTo>
                    <a:pt x="6636" y="573069"/>
                  </a:lnTo>
                  <a:lnTo>
                    <a:pt x="1678" y="619838"/>
                  </a:lnTo>
                  <a:lnTo>
                    <a:pt x="0" y="667512"/>
                  </a:lnTo>
                  <a:lnTo>
                    <a:pt x="1678" y="715185"/>
                  </a:lnTo>
                  <a:lnTo>
                    <a:pt x="6636" y="761954"/>
                  </a:lnTo>
                  <a:lnTo>
                    <a:pt x="14762" y="807705"/>
                  </a:lnTo>
                  <a:lnTo>
                    <a:pt x="25943" y="852324"/>
                  </a:lnTo>
                  <a:lnTo>
                    <a:pt x="40064" y="895700"/>
                  </a:lnTo>
                  <a:lnTo>
                    <a:pt x="57014" y="937719"/>
                  </a:lnTo>
                  <a:lnTo>
                    <a:pt x="76679" y="978268"/>
                  </a:lnTo>
                  <a:lnTo>
                    <a:pt x="98946" y="1017234"/>
                  </a:lnTo>
                  <a:lnTo>
                    <a:pt x="123702" y="1054505"/>
                  </a:lnTo>
                  <a:lnTo>
                    <a:pt x="150834" y="1089967"/>
                  </a:lnTo>
                  <a:lnTo>
                    <a:pt x="180228" y="1123508"/>
                  </a:lnTo>
                  <a:lnTo>
                    <a:pt x="211772" y="1155015"/>
                  </a:lnTo>
                  <a:lnTo>
                    <a:pt x="245352" y="1184374"/>
                  </a:lnTo>
                  <a:lnTo>
                    <a:pt x="280855" y="1211473"/>
                  </a:lnTo>
                  <a:lnTo>
                    <a:pt x="318169" y="1236199"/>
                  </a:lnTo>
                  <a:lnTo>
                    <a:pt x="357180" y="1258439"/>
                  </a:lnTo>
                  <a:lnTo>
                    <a:pt x="397775" y="1278080"/>
                  </a:lnTo>
                  <a:lnTo>
                    <a:pt x="439840" y="1295009"/>
                  </a:lnTo>
                  <a:lnTo>
                    <a:pt x="483264" y="1309113"/>
                  </a:lnTo>
                  <a:lnTo>
                    <a:pt x="527932" y="1320279"/>
                  </a:lnTo>
                  <a:lnTo>
                    <a:pt x="573732" y="1328395"/>
                  </a:lnTo>
                  <a:lnTo>
                    <a:pt x="620550" y="1333348"/>
                  </a:lnTo>
                  <a:lnTo>
                    <a:pt x="668274" y="1335024"/>
                  </a:lnTo>
                  <a:lnTo>
                    <a:pt x="715997" y="1333348"/>
                  </a:lnTo>
                  <a:lnTo>
                    <a:pt x="762815" y="1328395"/>
                  </a:lnTo>
                  <a:lnTo>
                    <a:pt x="808615" y="1320279"/>
                  </a:lnTo>
                  <a:lnTo>
                    <a:pt x="853283" y="1309113"/>
                  </a:lnTo>
                  <a:lnTo>
                    <a:pt x="896707" y="1295009"/>
                  </a:lnTo>
                  <a:lnTo>
                    <a:pt x="938772" y="1278080"/>
                  </a:lnTo>
                  <a:lnTo>
                    <a:pt x="979367" y="1258439"/>
                  </a:lnTo>
                  <a:lnTo>
                    <a:pt x="1018378" y="1236199"/>
                  </a:lnTo>
                  <a:lnTo>
                    <a:pt x="1055692" y="1211473"/>
                  </a:lnTo>
                  <a:lnTo>
                    <a:pt x="1091195" y="1184374"/>
                  </a:lnTo>
                  <a:lnTo>
                    <a:pt x="1124775" y="1155015"/>
                  </a:lnTo>
                  <a:lnTo>
                    <a:pt x="1156319" y="1123508"/>
                  </a:lnTo>
                  <a:lnTo>
                    <a:pt x="1185713" y="1089967"/>
                  </a:lnTo>
                  <a:lnTo>
                    <a:pt x="1212845" y="1054505"/>
                  </a:lnTo>
                  <a:lnTo>
                    <a:pt x="1237601" y="1017234"/>
                  </a:lnTo>
                  <a:lnTo>
                    <a:pt x="1259868" y="978268"/>
                  </a:lnTo>
                  <a:lnTo>
                    <a:pt x="1279533" y="937719"/>
                  </a:lnTo>
                  <a:lnTo>
                    <a:pt x="1296483" y="895700"/>
                  </a:lnTo>
                  <a:lnTo>
                    <a:pt x="1310604" y="852324"/>
                  </a:lnTo>
                  <a:lnTo>
                    <a:pt x="1321785" y="807705"/>
                  </a:lnTo>
                  <a:lnTo>
                    <a:pt x="1329911" y="761954"/>
                  </a:lnTo>
                  <a:lnTo>
                    <a:pt x="1334869" y="715185"/>
                  </a:lnTo>
                  <a:lnTo>
                    <a:pt x="1336548" y="667512"/>
                  </a:lnTo>
                  <a:lnTo>
                    <a:pt x="1334869" y="619838"/>
                  </a:lnTo>
                  <a:lnTo>
                    <a:pt x="1329911" y="573069"/>
                  </a:lnTo>
                  <a:lnTo>
                    <a:pt x="1321785" y="527318"/>
                  </a:lnTo>
                  <a:lnTo>
                    <a:pt x="1310604" y="482699"/>
                  </a:lnTo>
                  <a:lnTo>
                    <a:pt x="1296483" y="439323"/>
                  </a:lnTo>
                  <a:lnTo>
                    <a:pt x="1279533" y="397304"/>
                  </a:lnTo>
                  <a:lnTo>
                    <a:pt x="1259868" y="356755"/>
                  </a:lnTo>
                  <a:lnTo>
                    <a:pt x="1237601" y="317789"/>
                  </a:lnTo>
                  <a:lnTo>
                    <a:pt x="1212845" y="280518"/>
                  </a:lnTo>
                  <a:lnTo>
                    <a:pt x="1185713" y="245056"/>
                  </a:lnTo>
                  <a:lnTo>
                    <a:pt x="1156319" y="211515"/>
                  </a:lnTo>
                  <a:lnTo>
                    <a:pt x="1124775" y="180008"/>
                  </a:lnTo>
                  <a:lnTo>
                    <a:pt x="1091195" y="150649"/>
                  </a:lnTo>
                  <a:lnTo>
                    <a:pt x="1055692" y="123550"/>
                  </a:lnTo>
                  <a:lnTo>
                    <a:pt x="1018378" y="98824"/>
                  </a:lnTo>
                  <a:lnTo>
                    <a:pt x="979367" y="76584"/>
                  </a:lnTo>
                  <a:lnTo>
                    <a:pt x="938772" y="56943"/>
                  </a:lnTo>
                  <a:lnTo>
                    <a:pt x="896707" y="40014"/>
                  </a:lnTo>
                  <a:lnTo>
                    <a:pt x="853283" y="25910"/>
                  </a:lnTo>
                  <a:lnTo>
                    <a:pt x="808615" y="14744"/>
                  </a:lnTo>
                  <a:lnTo>
                    <a:pt x="762815" y="6628"/>
                  </a:lnTo>
                  <a:lnTo>
                    <a:pt x="715997" y="1675"/>
                  </a:lnTo>
                  <a:lnTo>
                    <a:pt x="66827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04056" y="4889710"/>
              <a:ext cx="271780" cy="111760"/>
            </a:xfrm>
            <a:custGeom>
              <a:avLst/>
              <a:gdLst/>
              <a:ahLst/>
              <a:cxnLst/>
              <a:rect l="l" t="t" r="r" b="b"/>
              <a:pathLst>
                <a:path w="271779" h="111760">
                  <a:moveTo>
                    <a:pt x="271628" y="0"/>
                  </a:moveTo>
                  <a:lnTo>
                    <a:pt x="0" y="0"/>
                  </a:lnTo>
                  <a:lnTo>
                    <a:pt x="0" y="111689"/>
                  </a:lnTo>
                  <a:lnTo>
                    <a:pt x="271628" y="111689"/>
                  </a:lnTo>
                  <a:lnTo>
                    <a:pt x="27162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2263" y="5312535"/>
              <a:ext cx="95868" cy="9573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1935" y="5312535"/>
              <a:ext cx="95868" cy="957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1607" y="5312535"/>
              <a:ext cx="95868" cy="9573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784220" y="5033311"/>
              <a:ext cx="511809" cy="255904"/>
            </a:xfrm>
            <a:custGeom>
              <a:avLst/>
              <a:gdLst/>
              <a:ahLst/>
              <a:cxnLst/>
              <a:rect l="l" t="t" r="r" b="b"/>
              <a:pathLst>
                <a:path w="511809" h="255904">
                  <a:moveTo>
                    <a:pt x="271628" y="0"/>
                  </a:moveTo>
                  <a:lnTo>
                    <a:pt x="239672" y="0"/>
                  </a:lnTo>
                  <a:lnTo>
                    <a:pt x="239672" y="75789"/>
                  </a:lnTo>
                  <a:lnTo>
                    <a:pt x="203721" y="111689"/>
                  </a:lnTo>
                  <a:lnTo>
                    <a:pt x="0" y="111689"/>
                  </a:lnTo>
                  <a:lnTo>
                    <a:pt x="0" y="255290"/>
                  </a:lnTo>
                  <a:lnTo>
                    <a:pt x="31956" y="255290"/>
                  </a:lnTo>
                  <a:lnTo>
                    <a:pt x="31956" y="143600"/>
                  </a:lnTo>
                  <a:lnTo>
                    <a:pt x="231682" y="143600"/>
                  </a:lnTo>
                  <a:lnTo>
                    <a:pt x="215704" y="127645"/>
                  </a:lnTo>
                  <a:lnTo>
                    <a:pt x="255650" y="87756"/>
                  </a:lnTo>
                  <a:lnTo>
                    <a:pt x="283611" y="87756"/>
                  </a:lnTo>
                  <a:lnTo>
                    <a:pt x="271628" y="75789"/>
                  </a:lnTo>
                  <a:lnTo>
                    <a:pt x="271628" y="0"/>
                  </a:lnTo>
                  <a:close/>
                </a:path>
                <a:path w="511809" h="255904">
                  <a:moveTo>
                    <a:pt x="231682" y="143600"/>
                  </a:moveTo>
                  <a:lnTo>
                    <a:pt x="203721" y="143600"/>
                  </a:lnTo>
                  <a:lnTo>
                    <a:pt x="239672" y="179500"/>
                  </a:lnTo>
                  <a:lnTo>
                    <a:pt x="239672" y="255290"/>
                  </a:lnTo>
                  <a:lnTo>
                    <a:pt x="271628" y="255290"/>
                  </a:lnTo>
                  <a:lnTo>
                    <a:pt x="271628" y="179500"/>
                  </a:lnTo>
                  <a:lnTo>
                    <a:pt x="283611" y="167534"/>
                  </a:lnTo>
                  <a:lnTo>
                    <a:pt x="255650" y="167534"/>
                  </a:lnTo>
                  <a:lnTo>
                    <a:pt x="231682" y="143600"/>
                  </a:lnTo>
                  <a:close/>
                </a:path>
                <a:path w="511809" h="255904">
                  <a:moveTo>
                    <a:pt x="511300" y="143600"/>
                  </a:moveTo>
                  <a:lnTo>
                    <a:pt x="479344" y="143600"/>
                  </a:lnTo>
                  <a:lnTo>
                    <a:pt x="479344" y="255290"/>
                  </a:lnTo>
                  <a:lnTo>
                    <a:pt x="511300" y="255290"/>
                  </a:lnTo>
                  <a:lnTo>
                    <a:pt x="511300" y="143600"/>
                  </a:lnTo>
                  <a:close/>
                </a:path>
                <a:path w="511809" h="255904">
                  <a:moveTo>
                    <a:pt x="283611" y="87756"/>
                  </a:moveTo>
                  <a:lnTo>
                    <a:pt x="255650" y="87756"/>
                  </a:lnTo>
                  <a:lnTo>
                    <a:pt x="295595" y="127645"/>
                  </a:lnTo>
                  <a:lnTo>
                    <a:pt x="255650" y="167534"/>
                  </a:lnTo>
                  <a:lnTo>
                    <a:pt x="283611" y="167534"/>
                  </a:lnTo>
                  <a:lnTo>
                    <a:pt x="307579" y="143600"/>
                  </a:lnTo>
                  <a:lnTo>
                    <a:pt x="511300" y="143600"/>
                  </a:lnTo>
                  <a:lnTo>
                    <a:pt x="511300" y="111689"/>
                  </a:lnTo>
                  <a:lnTo>
                    <a:pt x="307579" y="111689"/>
                  </a:lnTo>
                  <a:lnTo>
                    <a:pt x="283611" y="8775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980933" y="4467809"/>
            <a:ext cx="3165475" cy="13233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55"/>
              </a:spcBef>
            </a:pPr>
            <a:r>
              <a:rPr sz="2100" dirty="0">
                <a:latin typeface="Calibri"/>
                <a:cs typeface="Calibri"/>
              </a:rPr>
              <a:t>Each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table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must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have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an </a:t>
            </a:r>
            <a:r>
              <a:rPr sz="2100" dirty="0">
                <a:latin typeface="Calibri"/>
                <a:cs typeface="Calibri"/>
              </a:rPr>
              <a:t>attribute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or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combination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of </a:t>
            </a:r>
            <a:r>
              <a:rPr sz="2100" dirty="0">
                <a:latin typeface="Calibri"/>
                <a:cs typeface="Calibri"/>
              </a:rPr>
              <a:t>attributes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that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uniquely identifies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each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row</a:t>
            </a:r>
            <a:r>
              <a:rPr sz="2100" spc="-20" dirty="0">
                <a:latin typeface="Calibri Light"/>
                <a:cs typeface="Calibri Light"/>
              </a:rPr>
              <a:t>.</a:t>
            </a:r>
            <a:endParaRPr sz="21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0691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4800" spc="80" dirty="0">
                <a:latin typeface="Cambria"/>
                <a:cs typeface="Cambria"/>
              </a:rPr>
              <a:t>Attributes</a:t>
            </a:r>
            <a:endParaRPr sz="4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8481" y="2065782"/>
            <a:ext cx="10576560" cy="955675"/>
          </a:xfrm>
          <a:custGeom>
            <a:avLst/>
            <a:gdLst/>
            <a:ahLst/>
            <a:cxnLst/>
            <a:rect l="l" t="t" r="r" b="b"/>
            <a:pathLst>
              <a:path w="10576560" h="955675">
                <a:moveTo>
                  <a:pt x="10417302" y="0"/>
                </a:moveTo>
                <a:lnTo>
                  <a:pt x="159258" y="0"/>
                </a:lnTo>
                <a:lnTo>
                  <a:pt x="108918" y="8113"/>
                </a:lnTo>
                <a:lnTo>
                  <a:pt x="65200" y="30711"/>
                </a:lnTo>
                <a:lnTo>
                  <a:pt x="30726" y="65178"/>
                </a:lnTo>
                <a:lnTo>
                  <a:pt x="8118" y="108898"/>
                </a:lnTo>
                <a:lnTo>
                  <a:pt x="0" y="159257"/>
                </a:lnTo>
                <a:lnTo>
                  <a:pt x="0" y="796289"/>
                </a:lnTo>
                <a:lnTo>
                  <a:pt x="8118" y="846649"/>
                </a:lnTo>
                <a:lnTo>
                  <a:pt x="30726" y="890369"/>
                </a:lnTo>
                <a:lnTo>
                  <a:pt x="65200" y="924836"/>
                </a:lnTo>
                <a:lnTo>
                  <a:pt x="108918" y="947434"/>
                </a:lnTo>
                <a:lnTo>
                  <a:pt x="159258" y="955547"/>
                </a:lnTo>
                <a:lnTo>
                  <a:pt x="10417302" y="955547"/>
                </a:lnTo>
                <a:lnTo>
                  <a:pt x="10467661" y="947434"/>
                </a:lnTo>
                <a:lnTo>
                  <a:pt x="10511381" y="924836"/>
                </a:lnTo>
                <a:lnTo>
                  <a:pt x="10545848" y="890369"/>
                </a:lnTo>
                <a:lnTo>
                  <a:pt x="10568446" y="846649"/>
                </a:lnTo>
                <a:lnTo>
                  <a:pt x="10576560" y="796289"/>
                </a:lnTo>
                <a:lnTo>
                  <a:pt x="10576560" y="159257"/>
                </a:lnTo>
                <a:lnTo>
                  <a:pt x="10568446" y="108898"/>
                </a:lnTo>
                <a:lnTo>
                  <a:pt x="10545848" y="65178"/>
                </a:lnTo>
                <a:lnTo>
                  <a:pt x="10511381" y="30711"/>
                </a:lnTo>
                <a:lnTo>
                  <a:pt x="10467661" y="8113"/>
                </a:lnTo>
                <a:lnTo>
                  <a:pt x="10417302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08481" y="3089910"/>
            <a:ext cx="10576560" cy="955675"/>
          </a:xfrm>
          <a:custGeom>
            <a:avLst/>
            <a:gdLst/>
            <a:ahLst/>
            <a:cxnLst/>
            <a:rect l="l" t="t" r="r" b="b"/>
            <a:pathLst>
              <a:path w="10576560" h="955675">
                <a:moveTo>
                  <a:pt x="10417302" y="0"/>
                </a:moveTo>
                <a:lnTo>
                  <a:pt x="159258" y="0"/>
                </a:lnTo>
                <a:lnTo>
                  <a:pt x="108918" y="8113"/>
                </a:lnTo>
                <a:lnTo>
                  <a:pt x="65200" y="30711"/>
                </a:lnTo>
                <a:lnTo>
                  <a:pt x="30726" y="65178"/>
                </a:lnTo>
                <a:lnTo>
                  <a:pt x="8118" y="108898"/>
                </a:lnTo>
                <a:lnTo>
                  <a:pt x="0" y="159257"/>
                </a:lnTo>
                <a:lnTo>
                  <a:pt x="0" y="796289"/>
                </a:lnTo>
                <a:lnTo>
                  <a:pt x="8118" y="846649"/>
                </a:lnTo>
                <a:lnTo>
                  <a:pt x="30726" y="890369"/>
                </a:lnTo>
                <a:lnTo>
                  <a:pt x="65200" y="924836"/>
                </a:lnTo>
                <a:lnTo>
                  <a:pt x="108918" y="947434"/>
                </a:lnTo>
                <a:lnTo>
                  <a:pt x="159258" y="955547"/>
                </a:lnTo>
                <a:lnTo>
                  <a:pt x="10417302" y="955547"/>
                </a:lnTo>
                <a:lnTo>
                  <a:pt x="10467661" y="947434"/>
                </a:lnTo>
                <a:lnTo>
                  <a:pt x="10511381" y="924836"/>
                </a:lnTo>
                <a:lnTo>
                  <a:pt x="10545848" y="890369"/>
                </a:lnTo>
                <a:lnTo>
                  <a:pt x="10568446" y="846649"/>
                </a:lnTo>
                <a:lnTo>
                  <a:pt x="10576560" y="796289"/>
                </a:lnTo>
                <a:lnTo>
                  <a:pt x="10576560" y="159257"/>
                </a:lnTo>
                <a:lnTo>
                  <a:pt x="10568446" y="108898"/>
                </a:lnTo>
                <a:lnTo>
                  <a:pt x="10545848" y="65178"/>
                </a:lnTo>
                <a:lnTo>
                  <a:pt x="10511381" y="30711"/>
                </a:lnTo>
                <a:lnTo>
                  <a:pt x="10467661" y="8113"/>
                </a:lnTo>
                <a:lnTo>
                  <a:pt x="10417302" y="0"/>
                </a:lnTo>
                <a:close/>
              </a:path>
            </a:pathLst>
          </a:custGeom>
          <a:solidFill>
            <a:srgbClr val="D17A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8481" y="4114038"/>
            <a:ext cx="10576560" cy="954405"/>
          </a:xfrm>
          <a:custGeom>
            <a:avLst/>
            <a:gdLst/>
            <a:ahLst/>
            <a:cxnLst/>
            <a:rect l="l" t="t" r="r" b="b"/>
            <a:pathLst>
              <a:path w="10576560" h="954404">
                <a:moveTo>
                  <a:pt x="10417556" y="0"/>
                </a:moveTo>
                <a:lnTo>
                  <a:pt x="159004" y="0"/>
                </a:lnTo>
                <a:lnTo>
                  <a:pt x="108744" y="8111"/>
                </a:lnTo>
                <a:lnTo>
                  <a:pt x="65096" y="30695"/>
                </a:lnTo>
                <a:lnTo>
                  <a:pt x="30677" y="65123"/>
                </a:lnTo>
                <a:lnTo>
                  <a:pt x="8105" y="108768"/>
                </a:lnTo>
                <a:lnTo>
                  <a:pt x="0" y="159004"/>
                </a:lnTo>
                <a:lnTo>
                  <a:pt x="0" y="795019"/>
                </a:lnTo>
                <a:lnTo>
                  <a:pt x="8105" y="845255"/>
                </a:lnTo>
                <a:lnTo>
                  <a:pt x="30677" y="888900"/>
                </a:lnTo>
                <a:lnTo>
                  <a:pt x="65096" y="923328"/>
                </a:lnTo>
                <a:lnTo>
                  <a:pt x="108744" y="945912"/>
                </a:lnTo>
                <a:lnTo>
                  <a:pt x="159004" y="954024"/>
                </a:lnTo>
                <a:lnTo>
                  <a:pt x="10417556" y="954024"/>
                </a:lnTo>
                <a:lnTo>
                  <a:pt x="10467791" y="945912"/>
                </a:lnTo>
                <a:lnTo>
                  <a:pt x="10511436" y="923328"/>
                </a:lnTo>
                <a:lnTo>
                  <a:pt x="10545864" y="888900"/>
                </a:lnTo>
                <a:lnTo>
                  <a:pt x="10568448" y="845255"/>
                </a:lnTo>
                <a:lnTo>
                  <a:pt x="10576560" y="795019"/>
                </a:lnTo>
                <a:lnTo>
                  <a:pt x="10576560" y="159004"/>
                </a:lnTo>
                <a:lnTo>
                  <a:pt x="10568448" y="108768"/>
                </a:lnTo>
                <a:lnTo>
                  <a:pt x="10545864" y="65123"/>
                </a:lnTo>
                <a:lnTo>
                  <a:pt x="10511436" y="30695"/>
                </a:lnTo>
                <a:lnTo>
                  <a:pt x="10467791" y="8111"/>
                </a:lnTo>
                <a:lnTo>
                  <a:pt x="10417556" y="0"/>
                </a:lnTo>
                <a:close/>
              </a:path>
            </a:pathLst>
          </a:custGeom>
          <a:solidFill>
            <a:srgbClr val="B889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8481" y="5138165"/>
            <a:ext cx="10576560" cy="954405"/>
          </a:xfrm>
          <a:custGeom>
            <a:avLst/>
            <a:gdLst/>
            <a:ahLst/>
            <a:cxnLst/>
            <a:rect l="l" t="t" r="r" b="b"/>
            <a:pathLst>
              <a:path w="10576560" h="954404">
                <a:moveTo>
                  <a:pt x="10417556" y="0"/>
                </a:moveTo>
                <a:lnTo>
                  <a:pt x="159004" y="0"/>
                </a:lnTo>
                <a:lnTo>
                  <a:pt x="108744" y="8111"/>
                </a:lnTo>
                <a:lnTo>
                  <a:pt x="65096" y="30695"/>
                </a:lnTo>
                <a:lnTo>
                  <a:pt x="30677" y="65123"/>
                </a:lnTo>
                <a:lnTo>
                  <a:pt x="8105" y="108768"/>
                </a:lnTo>
                <a:lnTo>
                  <a:pt x="0" y="159003"/>
                </a:lnTo>
                <a:lnTo>
                  <a:pt x="0" y="795019"/>
                </a:lnTo>
                <a:lnTo>
                  <a:pt x="8105" y="845274"/>
                </a:lnTo>
                <a:lnTo>
                  <a:pt x="30677" y="888922"/>
                </a:lnTo>
                <a:lnTo>
                  <a:pt x="65096" y="923343"/>
                </a:lnTo>
                <a:lnTo>
                  <a:pt x="108744" y="945917"/>
                </a:lnTo>
                <a:lnTo>
                  <a:pt x="159004" y="954023"/>
                </a:lnTo>
                <a:lnTo>
                  <a:pt x="10417556" y="954023"/>
                </a:lnTo>
                <a:lnTo>
                  <a:pt x="10467791" y="945917"/>
                </a:lnTo>
                <a:lnTo>
                  <a:pt x="10511436" y="923343"/>
                </a:lnTo>
                <a:lnTo>
                  <a:pt x="10545864" y="888922"/>
                </a:lnTo>
                <a:lnTo>
                  <a:pt x="10568448" y="845274"/>
                </a:lnTo>
                <a:lnTo>
                  <a:pt x="10576560" y="795019"/>
                </a:lnTo>
                <a:lnTo>
                  <a:pt x="10576560" y="159003"/>
                </a:lnTo>
                <a:lnTo>
                  <a:pt x="10568448" y="108768"/>
                </a:lnTo>
                <a:lnTo>
                  <a:pt x="10545864" y="65123"/>
                </a:lnTo>
                <a:lnTo>
                  <a:pt x="10511436" y="30695"/>
                </a:lnTo>
                <a:lnTo>
                  <a:pt x="10467791" y="8111"/>
                </a:lnTo>
                <a:lnTo>
                  <a:pt x="10417556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3094" y="2144014"/>
            <a:ext cx="9980295" cy="379920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387350">
              <a:lnSpc>
                <a:spcPts val="2640"/>
              </a:lnSpc>
              <a:spcBef>
                <a:spcPts val="385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represents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item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400" spc="-10" dirty="0">
                <a:latin typeface="Calibri Light"/>
                <a:cs typeface="Calibri Light"/>
              </a:rPr>
              <a:t>.</a:t>
            </a:r>
            <a:endParaRPr sz="2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24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attribute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400" spc="-10" dirty="0">
                <a:solidFill>
                  <a:srgbClr val="FFFFFF"/>
                </a:solidFill>
                <a:latin typeface="Calibri Light"/>
                <a:cs typeface="Calibri Light"/>
              </a:rPr>
              <a:t>.</a:t>
            </a:r>
            <a:endParaRPr sz="2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2400">
              <a:latin typeface="Calibri Light"/>
              <a:cs typeface="Calibri Light"/>
            </a:endParaRPr>
          </a:p>
          <a:p>
            <a:pPr marL="12700" marR="334645">
              <a:lnSpc>
                <a:spcPts val="2640"/>
              </a:lnSpc>
            </a:pP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least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same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2400" spc="-10" dirty="0">
                <a:solidFill>
                  <a:srgbClr val="FFFFFF"/>
                </a:solidFill>
                <a:latin typeface="Calibri Light"/>
                <a:cs typeface="Calibri Light"/>
              </a:rPr>
              <a:t>.</a:t>
            </a:r>
            <a:endParaRPr sz="2400">
              <a:latin typeface="Calibri Light"/>
              <a:cs typeface="Calibri Light"/>
            </a:endParaRPr>
          </a:p>
          <a:p>
            <a:pPr marL="12700" marR="5080">
              <a:lnSpc>
                <a:spcPts val="2640"/>
              </a:lnSpc>
              <a:spcBef>
                <a:spcPts val="278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ANSI/ISO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standard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does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specify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400" spc="-10" dirty="0">
                <a:solidFill>
                  <a:srgbClr val="FFFFFF"/>
                </a:solidFill>
                <a:latin typeface="Calibri Light"/>
                <a:cs typeface="Calibri Light"/>
              </a:rPr>
              <a:t>.</a:t>
            </a:r>
            <a:endParaRPr sz="2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0691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800" spc="120" dirty="0">
                <a:latin typeface="Cambria"/>
                <a:cs typeface="Cambria"/>
              </a:rPr>
              <a:t>Tuple/Records</a:t>
            </a:r>
            <a:endParaRPr sz="4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8481" y="2615945"/>
            <a:ext cx="10576560" cy="670560"/>
          </a:xfrm>
          <a:custGeom>
            <a:avLst/>
            <a:gdLst/>
            <a:ahLst/>
            <a:cxnLst/>
            <a:rect l="l" t="t" r="r" b="b"/>
            <a:pathLst>
              <a:path w="10576560" h="670560">
                <a:moveTo>
                  <a:pt x="10464800" y="0"/>
                </a:moveTo>
                <a:lnTo>
                  <a:pt x="111759" y="0"/>
                </a:lnTo>
                <a:lnTo>
                  <a:pt x="68258" y="8782"/>
                </a:lnTo>
                <a:lnTo>
                  <a:pt x="32734" y="32734"/>
                </a:lnTo>
                <a:lnTo>
                  <a:pt x="8782" y="68258"/>
                </a:lnTo>
                <a:lnTo>
                  <a:pt x="0" y="111759"/>
                </a:lnTo>
                <a:lnTo>
                  <a:pt x="0" y="558800"/>
                </a:lnTo>
                <a:lnTo>
                  <a:pt x="8782" y="602301"/>
                </a:lnTo>
                <a:lnTo>
                  <a:pt x="32734" y="637825"/>
                </a:lnTo>
                <a:lnTo>
                  <a:pt x="68258" y="661777"/>
                </a:lnTo>
                <a:lnTo>
                  <a:pt x="111759" y="670559"/>
                </a:lnTo>
                <a:lnTo>
                  <a:pt x="10464800" y="670559"/>
                </a:lnTo>
                <a:lnTo>
                  <a:pt x="10508301" y="661777"/>
                </a:lnTo>
                <a:lnTo>
                  <a:pt x="10543825" y="637825"/>
                </a:lnTo>
                <a:lnTo>
                  <a:pt x="10567777" y="602301"/>
                </a:lnTo>
                <a:lnTo>
                  <a:pt x="10576560" y="558800"/>
                </a:lnTo>
                <a:lnTo>
                  <a:pt x="10576560" y="111759"/>
                </a:lnTo>
                <a:lnTo>
                  <a:pt x="10567777" y="68258"/>
                </a:lnTo>
                <a:lnTo>
                  <a:pt x="10543825" y="32734"/>
                </a:lnTo>
                <a:lnTo>
                  <a:pt x="10508301" y="8782"/>
                </a:lnTo>
                <a:lnTo>
                  <a:pt x="104648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08481" y="3367278"/>
            <a:ext cx="10576560" cy="672465"/>
          </a:xfrm>
          <a:custGeom>
            <a:avLst/>
            <a:gdLst/>
            <a:ahLst/>
            <a:cxnLst/>
            <a:rect l="l" t="t" r="r" b="b"/>
            <a:pathLst>
              <a:path w="10576560" h="672464">
                <a:moveTo>
                  <a:pt x="10464546" y="0"/>
                </a:moveTo>
                <a:lnTo>
                  <a:pt x="112014" y="0"/>
                </a:lnTo>
                <a:lnTo>
                  <a:pt x="68413" y="8804"/>
                </a:lnTo>
                <a:lnTo>
                  <a:pt x="32808" y="32813"/>
                </a:lnTo>
                <a:lnTo>
                  <a:pt x="8802" y="68419"/>
                </a:lnTo>
                <a:lnTo>
                  <a:pt x="0" y="112013"/>
                </a:lnTo>
                <a:lnTo>
                  <a:pt x="0" y="560070"/>
                </a:lnTo>
                <a:lnTo>
                  <a:pt x="8802" y="603664"/>
                </a:lnTo>
                <a:lnTo>
                  <a:pt x="32808" y="639270"/>
                </a:lnTo>
                <a:lnTo>
                  <a:pt x="68413" y="663279"/>
                </a:lnTo>
                <a:lnTo>
                  <a:pt x="112014" y="672084"/>
                </a:lnTo>
                <a:lnTo>
                  <a:pt x="10464546" y="672084"/>
                </a:lnTo>
                <a:lnTo>
                  <a:pt x="10508140" y="663279"/>
                </a:lnTo>
                <a:lnTo>
                  <a:pt x="10543746" y="639270"/>
                </a:lnTo>
                <a:lnTo>
                  <a:pt x="10567755" y="603664"/>
                </a:lnTo>
                <a:lnTo>
                  <a:pt x="10576560" y="560070"/>
                </a:lnTo>
                <a:lnTo>
                  <a:pt x="10576560" y="112013"/>
                </a:lnTo>
                <a:lnTo>
                  <a:pt x="10567755" y="68419"/>
                </a:lnTo>
                <a:lnTo>
                  <a:pt x="10543746" y="32813"/>
                </a:lnTo>
                <a:lnTo>
                  <a:pt x="10508140" y="8804"/>
                </a:lnTo>
                <a:lnTo>
                  <a:pt x="10464546" y="0"/>
                </a:lnTo>
                <a:close/>
              </a:path>
            </a:pathLst>
          </a:custGeom>
          <a:solidFill>
            <a:srgbClr val="D17A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8481" y="4120134"/>
            <a:ext cx="10576560" cy="670560"/>
          </a:xfrm>
          <a:custGeom>
            <a:avLst/>
            <a:gdLst/>
            <a:ahLst/>
            <a:cxnLst/>
            <a:rect l="l" t="t" r="r" b="b"/>
            <a:pathLst>
              <a:path w="10576560" h="670560">
                <a:moveTo>
                  <a:pt x="10464800" y="0"/>
                </a:moveTo>
                <a:lnTo>
                  <a:pt x="111759" y="0"/>
                </a:lnTo>
                <a:lnTo>
                  <a:pt x="68258" y="8782"/>
                </a:lnTo>
                <a:lnTo>
                  <a:pt x="32734" y="32734"/>
                </a:lnTo>
                <a:lnTo>
                  <a:pt x="8782" y="68258"/>
                </a:lnTo>
                <a:lnTo>
                  <a:pt x="0" y="111760"/>
                </a:lnTo>
                <a:lnTo>
                  <a:pt x="0" y="558800"/>
                </a:lnTo>
                <a:lnTo>
                  <a:pt x="8782" y="602301"/>
                </a:lnTo>
                <a:lnTo>
                  <a:pt x="32734" y="637825"/>
                </a:lnTo>
                <a:lnTo>
                  <a:pt x="68258" y="661777"/>
                </a:lnTo>
                <a:lnTo>
                  <a:pt x="111759" y="670560"/>
                </a:lnTo>
                <a:lnTo>
                  <a:pt x="10464800" y="670560"/>
                </a:lnTo>
                <a:lnTo>
                  <a:pt x="10508301" y="661777"/>
                </a:lnTo>
                <a:lnTo>
                  <a:pt x="10543825" y="637825"/>
                </a:lnTo>
                <a:lnTo>
                  <a:pt x="10567777" y="602301"/>
                </a:lnTo>
                <a:lnTo>
                  <a:pt x="10576560" y="558800"/>
                </a:lnTo>
                <a:lnTo>
                  <a:pt x="10576560" y="111760"/>
                </a:lnTo>
                <a:lnTo>
                  <a:pt x="10567777" y="68258"/>
                </a:lnTo>
                <a:lnTo>
                  <a:pt x="10543825" y="32734"/>
                </a:lnTo>
                <a:lnTo>
                  <a:pt x="10508301" y="8782"/>
                </a:lnTo>
                <a:lnTo>
                  <a:pt x="10464800" y="0"/>
                </a:lnTo>
                <a:close/>
              </a:path>
            </a:pathLst>
          </a:custGeom>
          <a:solidFill>
            <a:srgbClr val="B889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8481" y="4871465"/>
            <a:ext cx="10576560" cy="672465"/>
          </a:xfrm>
          <a:custGeom>
            <a:avLst/>
            <a:gdLst/>
            <a:ahLst/>
            <a:cxnLst/>
            <a:rect l="l" t="t" r="r" b="b"/>
            <a:pathLst>
              <a:path w="10576560" h="672464">
                <a:moveTo>
                  <a:pt x="10464546" y="0"/>
                </a:moveTo>
                <a:lnTo>
                  <a:pt x="112014" y="0"/>
                </a:lnTo>
                <a:lnTo>
                  <a:pt x="68413" y="8804"/>
                </a:lnTo>
                <a:lnTo>
                  <a:pt x="32808" y="32813"/>
                </a:lnTo>
                <a:lnTo>
                  <a:pt x="8802" y="68419"/>
                </a:lnTo>
                <a:lnTo>
                  <a:pt x="0" y="112013"/>
                </a:lnTo>
                <a:lnTo>
                  <a:pt x="0" y="560069"/>
                </a:lnTo>
                <a:lnTo>
                  <a:pt x="8802" y="603664"/>
                </a:lnTo>
                <a:lnTo>
                  <a:pt x="32808" y="639270"/>
                </a:lnTo>
                <a:lnTo>
                  <a:pt x="68413" y="663279"/>
                </a:lnTo>
                <a:lnTo>
                  <a:pt x="112014" y="672083"/>
                </a:lnTo>
                <a:lnTo>
                  <a:pt x="10464546" y="672083"/>
                </a:lnTo>
                <a:lnTo>
                  <a:pt x="10508140" y="663279"/>
                </a:lnTo>
                <a:lnTo>
                  <a:pt x="10543746" y="639270"/>
                </a:lnTo>
                <a:lnTo>
                  <a:pt x="10567755" y="603664"/>
                </a:lnTo>
                <a:lnTo>
                  <a:pt x="10576560" y="560069"/>
                </a:lnTo>
                <a:lnTo>
                  <a:pt x="10576560" y="112013"/>
                </a:lnTo>
                <a:lnTo>
                  <a:pt x="10567755" y="68419"/>
                </a:lnTo>
                <a:lnTo>
                  <a:pt x="10543746" y="32813"/>
                </a:lnTo>
                <a:lnTo>
                  <a:pt x="10508140" y="8804"/>
                </a:lnTo>
                <a:lnTo>
                  <a:pt x="10464546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4618" y="2683510"/>
            <a:ext cx="10163175" cy="2708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row</a:t>
            </a:r>
            <a:r>
              <a:rPr sz="2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tuple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contains</a:t>
            </a:r>
            <a:r>
              <a:rPr sz="2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information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2800" spc="-10" dirty="0">
                <a:latin typeface="Calibri Light"/>
                <a:cs typeface="Calibri Light"/>
              </a:rPr>
              <a:t>.</a:t>
            </a:r>
            <a:endParaRPr sz="2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565"/>
              </a:spcBef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horizontal</a:t>
            </a:r>
            <a:r>
              <a:rPr sz="2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row</a:t>
            </a:r>
            <a:r>
              <a:rPr sz="2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represents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2800" spc="-10" dirty="0">
                <a:solidFill>
                  <a:srgbClr val="FFFFFF"/>
                </a:solidFill>
                <a:latin typeface="Calibri Light"/>
                <a:cs typeface="Calibri Light"/>
              </a:rPr>
              <a:t>.</a:t>
            </a:r>
            <a:endParaRPr sz="2800">
              <a:latin typeface="Calibri Light"/>
              <a:cs typeface="Calibri Light"/>
            </a:endParaRPr>
          </a:p>
          <a:p>
            <a:pPr marL="12700" marR="1420495">
              <a:lnSpc>
                <a:spcPct val="176300"/>
              </a:lnSpc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rows</a:t>
            </a:r>
            <a:r>
              <a:rPr sz="2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zero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thousand</a:t>
            </a:r>
            <a:r>
              <a:rPr sz="2800" spc="-10" dirty="0">
                <a:solidFill>
                  <a:srgbClr val="FFFFFF"/>
                </a:solidFill>
                <a:latin typeface="Calibri Light"/>
                <a:cs typeface="Calibri Light"/>
              </a:rPr>
              <a:t>.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rows</a:t>
            </a:r>
            <a:r>
              <a:rPr sz="2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zero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sz="2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empty</a:t>
            </a:r>
            <a:r>
              <a:rPr sz="2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800" spc="-10" dirty="0">
                <a:solidFill>
                  <a:srgbClr val="FFFFFF"/>
                </a:solidFill>
                <a:latin typeface="Calibri Light"/>
                <a:cs typeface="Calibri Light"/>
              </a:rPr>
              <a:t>.</a:t>
            </a:r>
            <a:endParaRPr sz="2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0691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100"/>
              </a:spcBef>
            </a:pPr>
            <a:r>
              <a:rPr sz="4800" b="1" spc="65" dirty="0">
                <a:latin typeface="Cambria"/>
                <a:cs typeface="Cambria"/>
              </a:rPr>
              <a:t>1.2</a:t>
            </a:r>
            <a:r>
              <a:rPr sz="4800" b="1" spc="145" dirty="0">
                <a:latin typeface="Cambria"/>
                <a:cs typeface="Cambria"/>
              </a:rPr>
              <a:t> </a:t>
            </a:r>
            <a:r>
              <a:rPr sz="4800" b="1" spc="225" dirty="0">
                <a:latin typeface="Cambria"/>
                <a:cs typeface="Cambria"/>
              </a:rPr>
              <a:t>Key</a:t>
            </a:r>
            <a:endParaRPr sz="4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8481" y="2265426"/>
            <a:ext cx="10576560" cy="1153795"/>
          </a:xfrm>
          <a:custGeom>
            <a:avLst/>
            <a:gdLst/>
            <a:ahLst/>
            <a:cxnLst/>
            <a:rect l="l" t="t" r="r" b="b"/>
            <a:pathLst>
              <a:path w="10576560" h="1153795">
                <a:moveTo>
                  <a:pt x="10384282" y="0"/>
                </a:moveTo>
                <a:lnTo>
                  <a:pt x="192278" y="0"/>
                </a:lnTo>
                <a:lnTo>
                  <a:pt x="148192" y="5079"/>
                </a:lnTo>
                <a:lnTo>
                  <a:pt x="107722" y="19546"/>
                </a:lnTo>
                <a:lnTo>
                  <a:pt x="72021" y="42247"/>
                </a:lnTo>
                <a:lnTo>
                  <a:pt x="42243" y="72026"/>
                </a:lnTo>
                <a:lnTo>
                  <a:pt x="19544" y="107727"/>
                </a:lnTo>
                <a:lnTo>
                  <a:pt x="5078" y="148196"/>
                </a:lnTo>
                <a:lnTo>
                  <a:pt x="0" y="192277"/>
                </a:lnTo>
                <a:lnTo>
                  <a:pt x="0" y="961389"/>
                </a:lnTo>
                <a:lnTo>
                  <a:pt x="5078" y="1005471"/>
                </a:lnTo>
                <a:lnTo>
                  <a:pt x="19544" y="1045940"/>
                </a:lnTo>
                <a:lnTo>
                  <a:pt x="42243" y="1081641"/>
                </a:lnTo>
                <a:lnTo>
                  <a:pt x="72021" y="1111420"/>
                </a:lnTo>
                <a:lnTo>
                  <a:pt x="107722" y="1134121"/>
                </a:lnTo>
                <a:lnTo>
                  <a:pt x="148192" y="1148588"/>
                </a:lnTo>
                <a:lnTo>
                  <a:pt x="192278" y="1153668"/>
                </a:lnTo>
                <a:lnTo>
                  <a:pt x="10384282" y="1153668"/>
                </a:lnTo>
                <a:lnTo>
                  <a:pt x="10428363" y="1148588"/>
                </a:lnTo>
                <a:lnTo>
                  <a:pt x="10468832" y="1134121"/>
                </a:lnTo>
                <a:lnTo>
                  <a:pt x="10504533" y="1111420"/>
                </a:lnTo>
                <a:lnTo>
                  <a:pt x="10534312" y="1081641"/>
                </a:lnTo>
                <a:lnTo>
                  <a:pt x="10557013" y="1045940"/>
                </a:lnTo>
                <a:lnTo>
                  <a:pt x="10571480" y="1005471"/>
                </a:lnTo>
                <a:lnTo>
                  <a:pt x="10576560" y="961389"/>
                </a:lnTo>
                <a:lnTo>
                  <a:pt x="10576560" y="192277"/>
                </a:lnTo>
                <a:lnTo>
                  <a:pt x="10571480" y="148196"/>
                </a:lnTo>
                <a:lnTo>
                  <a:pt x="10557013" y="107727"/>
                </a:lnTo>
                <a:lnTo>
                  <a:pt x="10534312" y="72026"/>
                </a:lnTo>
                <a:lnTo>
                  <a:pt x="10504533" y="42247"/>
                </a:lnTo>
                <a:lnTo>
                  <a:pt x="10468832" y="19546"/>
                </a:lnTo>
                <a:lnTo>
                  <a:pt x="10428363" y="5079"/>
                </a:lnTo>
                <a:lnTo>
                  <a:pt x="10384282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08481" y="3502914"/>
            <a:ext cx="10576560" cy="1153795"/>
          </a:xfrm>
          <a:custGeom>
            <a:avLst/>
            <a:gdLst/>
            <a:ahLst/>
            <a:cxnLst/>
            <a:rect l="l" t="t" r="r" b="b"/>
            <a:pathLst>
              <a:path w="10576560" h="1153795">
                <a:moveTo>
                  <a:pt x="10384282" y="0"/>
                </a:moveTo>
                <a:lnTo>
                  <a:pt x="192278" y="0"/>
                </a:lnTo>
                <a:lnTo>
                  <a:pt x="148192" y="5079"/>
                </a:lnTo>
                <a:lnTo>
                  <a:pt x="107722" y="19546"/>
                </a:lnTo>
                <a:lnTo>
                  <a:pt x="72021" y="42247"/>
                </a:lnTo>
                <a:lnTo>
                  <a:pt x="42243" y="72026"/>
                </a:lnTo>
                <a:lnTo>
                  <a:pt x="19544" y="107727"/>
                </a:lnTo>
                <a:lnTo>
                  <a:pt x="5078" y="148196"/>
                </a:lnTo>
                <a:lnTo>
                  <a:pt x="0" y="192278"/>
                </a:lnTo>
                <a:lnTo>
                  <a:pt x="0" y="961390"/>
                </a:lnTo>
                <a:lnTo>
                  <a:pt x="5078" y="1005471"/>
                </a:lnTo>
                <a:lnTo>
                  <a:pt x="19544" y="1045940"/>
                </a:lnTo>
                <a:lnTo>
                  <a:pt x="42243" y="1081641"/>
                </a:lnTo>
                <a:lnTo>
                  <a:pt x="72021" y="1111420"/>
                </a:lnTo>
                <a:lnTo>
                  <a:pt x="107722" y="1134121"/>
                </a:lnTo>
                <a:lnTo>
                  <a:pt x="148192" y="1148588"/>
                </a:lnTo>
                <a:lnTo>
                  <a:pt x="192278" y="1153668"/>
                </a:lnTo>
                <a:lnTo>
                  <a:pt x="10384282" y="1153668"/>
                </a:lnTo>
                <a:lnTo>
                  <a:pt x="10428363" y="1148588"/>
                </a:lnTo>
                <a:lnTo>
                  <a:pt x="10468832" y="1134121"/>
                </a:lnTo>
                <a:lnTo>
                  <a:pt x="10504533" y="1111420"/>
                </a:lnTo>
                <a:lnTo>
                  <a:pt x="10534312" y="1081641"/>
                </a:lnTo>
                <a:lnTo>
                  <a:pt x="10557013" y="1045940"/>
                </a:lnTo>
                <a:lnTo>
                  <a:pt x="10571480" y="1005471"/>
                </a:lnTo>
                <a:lnTo>
                  <a:pt x="10576560" y="961390"/>
                </a:lnTo>
                <a:lnTo>
                  <a:pt x="10576560" y="192278"/>
                </a:lnTo>
                <a:lnTo>
                  <a:pt x="10571480" y="148196"/>
                </a:lnTo>
                <a:lnTo>
                  <a:pt x="10557013" y="107727"/>
                </a:lnTo>
                <a:lnTo>
                  <a:pt x="10534312" y="72026"/>
                </a:lnTo>
                <a:lnTo>
                  <a:pt x="10504533" y="42247"/>
                </a:lnTo>
                <a:lnTo>
                  <a:pt x="10468832" y="19546"/>
                </a:lnTo>
                <a:lnTo>
                  <a:pt x="10428363" y="5079"/>
                </a:lnTo>
                <a:lnTo>
                  <a:pt x="10384282" y="0"/>
                </a:lnTo>
                <a:close/>
              </a:path>
            </a:pathLst>
          </a:custGeom>
          <a:solidFill>
            <a:srgbClr val="C481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8481" y="4740402"/>
            <a:ext cx="10576560" cy="1153795"/>
          </a:xfrm>
          <a:custGeom>
            <a:avLst/>
            <a:gdLst/>
            <a:ahLst/>
            <a:cxnLst/>
            <a:rect l="l" t="t" r="r" b="b"/>
            <a:pathLst>
              <a:path w="10576560" h="1153795">
                <a:moveTo>
                  <a:pt x="10384282" y="0"/>
                </a:moveTo>
                <a:lnTo>
                  <a:pt x="192278" y="0"/>
                </a:lnTo>
                <a:lnTo>
                  <a:pt x="148192" y="5079"/>
                </a:lnTo>
                <a:lnTo>
                  <a:pt x="107722" y="19546"/>
                </a:lnTo>
                <a:lnTo>
                  <a:pt x="72021" y="42247"/>
                </a:lnTo>
                <a:lnTo>
                  <a:pt x="42243" y="72026"/>
                </a:lnTo>
                <a:lnTo>
                  <a:pt x="19544" y="107727"/>
                </a:lnTo>
                <a:lnTo>
                  <a:pt x="5078" y="148196"/>
                </a:lnTo>
                <a:lnTo>
                  <a:pt x="0" y="192278"/>
                </a:lnTo>
                <a:lnTo>
                  <a:pt x="0" y="961377"/>
                </a:lnTo>
                <a:lnTo>
                  <a:pt x="5078" y="1005467"/>
                </a:lnTo>
                <a:lnTo>
                  <a:pt x="19544" y="1045941"/>
                </a:lnTo>
                <a:lnTo>
                  <a:pt x="42243" y="1081644"/>
                </a:lnTo>
                <a:lnTo>
                  <a:pt x="72021" y="1111423"/>
                </a:lnTo>
                <a:lnTo>
                  <a:pt x="107722" y="1134123"/>
                </a:lnTo>
                <a:lnTo>
                  <a:pt x="148192" y="1148589"/>
                </a:lnTo>
                <a:lnTo>
                  <a:pt x="192278" y="1153668"/>
                </a:lnTo>
                <a:lnTo>
                  <a:pt x="10384282" y="1153668"/>
                </a:lnTo>
                <a:lnTo>
                  <a:pt x="10428363" y="1148589"/>
                </a:lnTo>
                <a:lnTo>
                  <a:pt x="10468832" y="1134123"/>
                </a:lnTo>
                <a:lnTo>
                  <a:pt x="10504533" y="1111423"/>
                </a:lnTo>
                <a:lnTo>
                  <a:pt x="10534312" y="1081644"/>
                </a:lnTo>
                <a:lnTo>
                  <a:pt x="10557013" y="1045941"/>
                </a:lnTo>
                <a:lnTo>
                  <a:pt x="10571480" y="1005467"/>
                </a:lnTo>
                <a:lnTo>
                  <a:pt x="10576560" y="961377"/>
                </a:lnTo>
                <a:lnTo>
                  <a:pt x="10576560" y="192278"/>
                </a:lnTo>
                <a:lnTo>
                  <a:pt x="10571480" y="148196"/>
                </a:lnTo>
                <a:lnTo>
                  <a:pt x="10557013" y="107727"/>
                </a:lnTo>
                <a:lnTo>
                  <a:pt x="10534312" y="72026"/>
                </a:lnTo>
                <a:lnTo>
                  <a:pt x="10504533" y="42247"/>
                </a:lnTo>
                <a:lnTo>
                  <a:pt x="10468832" y="19546"/>
                </a:lnTo>
                <a:lnTo>
                  <a:pt x="10428363" y="5079"/>
                </a:lnTo>
                <a:lnTo>
                  <a:pt x="10384282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62050" y="2362326"/>
            <a:ext cx="10253980" cy="334708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12700">
              <a:lnSpc>
                <a:spcPts val="3180"/>
              </a:lnSpc>
              <a:spcBef>
                <a:spcPts val="459"/>
              </a:spcBef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2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uniquely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identifies</a:t>
            </a:r>
            <a:r>
              <a:rPr sz="2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r>
              <a:rPr sz="2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table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sz="2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 Light"/>
                <a:cs typeface="Calibri Light"/>
              </a:rPr>
              <a:t>table.</a:t>
            </a:r>
            <a:endParaRPr sz="2900">
              <a:latin typeface="Calibri Light"/>
              <a:cs typeface="Calibri Light"/>
            </a:endParaRPr>
          </a:p>
          <a:p>
            <a:pPr marL="12700" marR="83820">
              <a:lnSpc>
                <a:spcPts val="3180"/>
              </a:lnSpc>
              <a:spcBef>
                <a:spcPts val="3384"/>
              </a:spcBef>
            </a:pPr>
            <a:r>
              <a:rPr sz="29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29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attribute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attributes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whose</a:t>
            </a:r>
            <a:r>
              <a:rPr sz="2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uniquely</a:t>
            </a:r>
            <a:r>
              <a:rPr sz="2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2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each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sz="2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set.</a:t>
            </a:r>
            <a:endParaRPr sz="2900">
              <a:latin typeface="Calibri"/>
              <a:cs typeface="Calibri"/>
            </a:endParaRPr>
          </a:p>
          <a:p>
            <a:pPr marL="12700" marR="5080">
              <a:lnSpc>
                <a:spcPts val="3180"/>
              </a:lnSpc>
              <a:spcBef>
                <a:spcPts val="3379"/>
              </a:spcBef>
            </a:pP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consisting</a:t>
            </a:r>
            <a:r>
              <a:rPr sz="2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attribute</a:t>
            </a:r>
            <a:r>
              <a:rPr sz="2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sz="2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2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sz="2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consisting</a:t>
            </a:r>
            <a:r>
              <a:rPr sz="2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combination</a:t>
            </a:r>
            <a:r>
              <a:rPr sz="2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attributes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sz="2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FFFFFF"/>
                </a:solidFill>
                <a:latin typeface="Calibri"/>
                <a:cs typeface="Calibri"/>
              </a:rPr>
              <a:t>composite</a:t>
            </a:r>
            <a:r>
              <a:rPr sz="2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key.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945" rIns="0" bIns="0" rtlCol="0">
            <a:spAutoFit/>
          </a:bodyPr>
          <a:lstStyle/>
          <a:p>
            <a:pPr marL="3094990">
              <a:lnSpc>
                <a:spcPct val="100000"/>
              </a:lnSpc>
              <a:spcBef>
                <a:spcPts val="100"/>
              </a:spcBef>
            </a:pPr>
            <a:r>
              <a:rPr sz="4800" b="1" spc="210" dirty="0">
                <a:solidFill>
                  <a:srgbClr val="FFFFFF"/>
                </a:solidFill>
                <a:latin typeface="Cambria"/>
                <a:cs typeface="Cambria"/>
              </a:rPr>
              <a:t>Types</a:t>
            </a:r>
            <a:r>
              <a:rPr sz="4800" b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800" b="1" spc="6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4800" b="1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800" b="1" spc="225" dirty="0">
                <a:solidFill>
                  <a:srgbClr val="FFFFFF"/>
                </a:solidFill>
                <a:latin typeface="Cambria"/>
                <a:cs typeface="Cambria"/>
              </a:rPr>
              <a:t>Keys</a:t>
            </a:r>
            <a:endParaRPr sz="48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79119" y="1588008"/>
            <a:ext cx="11033760" cy="4768850"/>
            <a:chOff x="579119" y="1588008"/>
            <a:chExt cx="11033760" cy="4768850"/>
          </a:xfrm>
        </p:grpSpPr>
        <p:sp>
          <p:nvSpPr>
            <p:cNvPr id="5" name="object 5"/>
            <p:cNvSpPr/>
            <p:nvPr/>
          </p:nvSpPr>
          <p:spPr>
            <a:xfrm>
              <a:off x="579119" y="1588008"/>
              <a:ext cx="11033760" cy="4768850"/>
            </a:xfrm>
            <a:custGeom>
              <a:avLst/>
              <a:gdLst/>
              <a:ahLst/>
              <a:cxnLst/>
              <a:rect l="l" t="t" r="r" b="b"/>
              <a:pathLst>
                <a:path w="11033760" h="4768850">
                  <a:moveTo>
                    <a:pt x="10882376" y="0"/>
                  </a:moveTo>
                  <a:lnTo>
                    <a:pt x="151345" y="0"/>
                  </a:lnTo>
                  <a:lnTo>
                    <a:pt x="103511" y="7721"/>
                  </a:lnTo>
                  <a:lnTo>
                    <a:pt x="61966" y="29220"/>
                  </a:lnTo>
                  <a:lnTo>
                    <a:pt x="29203" y="61996"/>
                  </a:lnTo>
                  <a:lnTo>
                    <a:pt x="7716" y="103550"/>
                  </a:lnTo>
                  <a:lnTo>
                    <a:pt x="0" y="151383"/>
                  </a:lnTo>
                  <a:lnTo>
                    <a:pt x="0" y="4617237"/>
                  </a:lnTo>
                  <a:lnTo>
                    <a:pt x="7716" y="4665077"/>
                  </a:lnTo>
                  <a:lnTo>
                    <a:pt x="29203" y="4706627"/>
                  </a:lnTo>
                  <a:lnTo>
                    <a:pt x="61966" y="4739392"/>
                  </a:lnTo>
                  <a:lnTo>
                    <a:pt x="103511" y="4760879"/>
                  </a:lnTo>
                  <a:lnTo>
                    <a:pt x="151345" y="4768595"/>
                  </a:lnTo>
                  <a:lnTo>
                    <a:pt x="10882376" y="4768595"/>
                  </a:lnTo>
                  <a:lnTo>
                    <a:pt x="10930209" y="4760879"/>
                  </a:lnTo>
                  <a:lnTo>
                    <a:pt x="10971763" y="4739392"/>
                  </a:lnTo>
                  <a:lnTo>
                    <a:pt x="11004539" y="4706627"/>
                  </a:lnTo>
                  <a:lnTo>
                    <a:pt x="11026038" y="4665077"/>
                  </a:lnTo>
                  <a:lnTo>
                    <a:pt x="11033760" y="4617237"/>
                  </a:lnTo>
                  <a:lnTo>
                    <a:pt x="11033760" y="151383"/>
                  </a:lnTo>
                  <a:lnTo>
                    <a:pt x="11026038" y="103550"/>
                  </a:lnTo>
                  <a:lnTo>
                    <a:pt x="11004539" y="61996"/>
                  </a:lnTo>
                  <a:lnTo>
                    <a:pt x="10971763" y="29220"/>
                  </a:lnTo>
                  <a:lnTo>
                    <a:pt x="10930209" y="7721"/>
                  </a:lnTo>
                  <a:lnTo>
                    <a:pt x="10882376" y="0"/>
                  </a:lnTo>
                  <a:close/>
                </a:path>
              </a:pathLst>
            </a:custGeom>
            <a:solidFill>
              <a:srgbClr val="FFFFFF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16736" y="2897124"/>
              <a:ext cx="1099185" cy="1097280"/>
            </a:xfrm>
            <a:custGeom>
              <a:avLst/>
              <a:gdLst/>
              <a:ahLst/>
              <a:cxnLst/>
              <a:rect l="l" t="t" r="r" b="b"/>
              <a:pathLst>
                <a:path w="1099185" h="1097279">
                  <a:moveTo>
                    <a:pt x="549401" y="0"/>
                  </a:moveTo>
                  <a:lnTo>
                    <a:pt x="502000" y="2013"/>
                  </a:lnTo>
                  <a:lnTo>
                    <a:pt x="455718" y="7945"/>
                  </a:lnTo>
                  <a:lnTo>
                    <a:pt x="410720" y="17629"/>
                  </a:lnTo>
                  <a:lnTo>
                    <a:pt x="367171" y="30902"/>
                  </a:lnTo>
                  <a:lnTo>
                    <a:pt x="325236" y="47598"/>
                  </a:lnTo>
                  <a:lnTo>
                    <a:pt x="285080" y="67554"/>
                  </a:lnTo>
                  <a:lnTo>
                    <a:pt x="246868" y="90604"/>
                  </a:lnTo>
                  <a:lnTo>
                    <a:pt x="210764" y="116583"/>
                  </a:lnTo>
                  <a:lnTo>
                    <a:pt x="176935" y="145328"/>
                  </a:lnTo>
                  <a:lnTo>
                    <a:pt x="145544" y="176674"/>
                  </a:lnTo>
                  <a:lnTo>
                    <a:pt x="116758" y="210455"/>
                  </a:lnTo>
                  <a:lnTo>
                    <a:pt x="90740" y="246508"/>
                  </a:lnTo>
                  <a:lnTo>
                    <a:pt x="67656" y="284667"/>
                  </a:lnTo>
                  <a:lnTo>
                    <a:pt x="47670" y="324768"/>
                  </a:lnTo>
                  <a:lnTo>
                    <a:pt x="30949" y="366646"/>
                  </a:lnTo>
                  <a:lnTo>
                    <a:pt x="17656" y="410137"/>
                  </a:lnTo>
                  <a:lnTo>
                    <a:pt x="7957" y="455076"/>
                  </a:lnTo>
                  <a:lnTo>
                    <a:pt x="2016" y="501298"/>
                  </a:lnTo>
                  <a:lnTo>
                    <a:pt x="0" y="548639"/>
                  </a:lnTo>
                  <a:lnTo>
                    <a:pt x="2016" y="595981"/>
                  </a:lnTo>
                  <a:lnTo>
                    <a:pt x="7957" y="642203"/>
                  </a:lnTo>
                  <a:lnTo>
                    <a:pt x="17656" y="687142"/>
                  </a:lnTo>
                  <a:lnTo>
                    <a:pt x="30949" y="730633"/>
                  </a:lnTo>
                  <a:lnTo>
                    <a:pt x="47670" y="772511"/>
                  </a:lnTo>
                  <a:lnTo>
                    <a:pt x="67656" y="812612"/>
                  </a:lnTo>
                  <a:lnTo>
                    <a:pt x="90740" y="850771"/>
                  </a:lnTo>
                  <a:lnTo>
                    <a:pt x="116758" y="886824"/>
                  </a:lnTo>
                  <a:lnTo>
                    <a:pt x="145544" y="920605"/>
                  </a:lnTo>
                  <a:lnTo>
                    <a:pt x="176935" y="951951"/>
                  </a:lnTo>
                  <a:lnTo>
                    <a:pt x="210764" y="980696"/>
                  </a:lnTo>
                  <a:lnTo>
                    <a:pt x="246868" y="1006675"/>
                  </a:lnTo>
                  <a:lnTo>
                    <a:pt x="285080" y="1029725"/>
                  </a:lnTo>
                  <a:lnTo>
                    <a:pt x="325236" y="1049681"/>
                  </a:lnTo>
                  <a:lnTo>
                    <a:pt x="367171" y="1066377"/>
                  </a:lnTo>
                  <a:lnTo>
                    <a:pt x="410720" y="1079650"/>
                  </a:lnTo>
                  <a:lnTo>
                    <a:pt x="455718" y="1089334"/>
                  </a:lnTo>
                  <a:lnTo>
                    <a:pt x="502000" y="1095266"/>
                  </a:lnTo>
                  <a:lnTo>
                    <a:pt x="549401" y="1097280"/>
                  </a:lnTo>
                  <a:lnTo>
                    <a:pt x="596803" y="1095266"/>
                  </a:lnTo>
                  <a:lnTo>
                    <a:pt x="643085" y="1089334"/>
                  </a:lnTo>
                  <a:lnTo>
                    <a:pt x="688083" y="1079650"/>
                  </a:lnTo>
                  <a:lnTo>
                    <a:pt x="731632" y="1066377"/>
                  </a:lnTo>
                  <a:lnTo>
                    <a:pt x="773567" y="1049681"/>
                  </a:lnTo>
                  <a:lnTo>
                    <a:pt x="813723" y="1029725"/>
                  </a:lnTo>
                  <a:lnTo>
                    <a:pt x="851935" y="1006675"/>
                  </a:lnTo>
                  <a:lnTo>
                    <a:pt x="888039" y="980696"/>
                  </a:lnTo>
                  <a:lnTo>
                    <a:pt x="921868" y="951951"/>
                  </a:lnTo>
                  <a:lnTo>
                    <a:pt x="953259" y="920605"/>
                  </a:lnTo>
                  <a:lnTo>
                    <a:pt x="982045" y="886824"/>
                  </a:lnTo>
                  <a:lnTo>
                    <a:pt x="1008063" y="850771"/>
                  </a:lnTo>
                  <a:lnTo>
                    <a:pt x="1031147" y="812612"/>
                  </a:lnTo>
                  <a:lnTo>
                    <a:pt x="1051133" y="772511"/>
                  </a:lnTo>
                  <a:lnTo>
                    <a:pt x="1067854" y="730633"/>
                  </a:lnTo>
                  <a:lnTo>
                    <a:pt x="1081147" y="687142"/>
                  </a:lnTo>
                  <a:lnTo>
                    <a:pt x="1090846" y="642203"/>
                  </a:lnTo>
                  <a:lnTo>
                    <a:pt x="1096787" y="595981"/>
                  </a:lnTo>
                  <a:lnTo>
                    <a:pt x="1098803" y="548639"/>
                  </a:lnTo>
                  <a:lnTo>
                    <a:pt x="1096787" y="501298"/>
                  </a:lnTo>
                  <a:lnTo>
                    <a:pt x="1090846" y="455076"/>
                  </a:lnTo>
                  <a:lnTo>
                    <a:pt x="1081147" y="410137"/>
                  </a:lnTo>
                  <a:lnTo>
                    <a:pt x="1067854" y="366646"/>
                  </a:lnTo>
                  <a:lnTo>
                    <a:pt x="1051133" y="324768"/>
                  </a:lnTo>
                  <a:lnTo>
                    <a:pt x="1031147" y="284667"/>
                  </a:lnTo>
                  <a:lnTo>
                    <a:pt x="1008063" y="246508"/>
                  </a:lnTo>
                  <a:lnTo>
                    <a:pt x="982045" y="210455"/>
                  </a:lnTo>
                  <a:lnTo>
                    <a:pt x="953259" y="176674"/>
                  </a:lnTo>
                  <a:lnTo>
                    <a:pt x="921868" y="145328"/>
                  </a:lnTo>
                  <a:lnTo>
                    <a:pt x="888039" y="116583"/>
                  </a:lnTo>
                  <a:lnTo>
                    <a:pt x="851935" y="90604"/>
                  </a:lnTo>
                  <a:lnTo>
                    <a:pt x="813723" y="67554"/>
                  </a:lnTo>
                  <a:lnTo>
                    <a:pt x="773567" y="47598"/>
                  </a:lnTo>
                  <a:lnTo>
                    <a:pt x="731632" y="30902"/>
                  </a:lnTo>
                  <a:lnTo>
                    <a:pt x="688083" y="17629"/>
                  </a:lnTo>
                  <a:lnTo>
                    <a:pt x="643085" y="7945"/>
                  </a:lnTo>
                  <a:lnTo>
                    <a:pt x="596803" y="2013"/>
                  </a:lnTo>
                  <a:lnTo>
                    <a:pt x="549401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07881" y="3186925"/>
              <a:ext cx="518795" cy="520700"/>
            </a:xfrm>
            <a:custGeom>
              <a:avLst/>
              <a:gdLst/>
              <a:ahLst/>
              <a:cxnLst/>
              <a:rect l="l" t="t" r="r" b="b"/>
              <a:pathLst>
                <a:path w="518794" h="520700">
                  <a:moveTo>
                    <a:pt x="456708" y="337524"/>
                  </a:moveTo>
                  <a:lnTo>
                    <a:pt x="259291" y="337524"/>
                  </a:lnTo>
                  <a:lnTo>
                    <a:pt x="259291" y="390095"/>
                  </a:lnTo>
                  <a:lnTo>
                    <a:pt x="324114" y="390095"/>
                  </a:lnTo>
                  <a:lnTo>
                    <a:pt x="324114" y="455110"/>
                  </a:lnTo>
                  <a:lnTo>
                    <a:pt x="388936" y="455110"/>
                  </a:lnTo>
                  <a:lnTo>
                    <a:pt x="388936" y="520126"/>
                  </a:lnTo>
                  <a:lnTo>
                    <a:pt x="518582" y="520126"/>
                  </a:lnTo>
                  <a:lnTo>
                    <a:pt x="518582" y="399489"/>
                  </a:lnTo>
                  <a:lnTo>
                    <a:pt x="456708" y="337524"/>
                  </a:lnTo>
                  <a:close/>
                </a:path>
                <a:path w="518794" h="520700">
                  <a:moveTo>
                    <a:pt x="178262" y="0"/>
                  </a:moveTo>
                  <a:lnTo>
                    <a:pt x="130909" y="6339"/>
                  </a:lnTo>
                  <a:lnTo>
                    <a:pt x="88369" y="24380"/>
                  </a:lnTo>
                  <a:lnTo>
                    <a:pt x="52160" y="52570"/>
                  </a:lnTo>
                  <a:lnTo>
                    <a:pt x="24308" y="88632"/>
                  </a:lnTo>
                  <a:lnTo>
                    <a:pt x="6331" y="131299"/>
                  </a:lnTo>
                  <a:lnTo>
                    <a:pt x="41" y="177525"/>
                  </a:lnTo>
                  <a:lnTo>
                    <a:pt x="0" y="178793"/>
                  </a:lnTo>
                  <a:lnTo>
                    <a:pt x="6331" y="226287"/>
                  </a:lnTo>
                  <a:lnTo>
                    <a:pt x="24308" y="268954"/>
                  </a:lnTo>
                  <a:lnTo>
                    <a:pt x="52414" y="305271"/>
                  </a:lnTo>
                  <a:lnTo>
                    <a:pt x="88369" y="333206"/>
                  </a:lnTo>
                  <a:lnTo>
                    <a:pt x="130909" y="351237"/>
                  </a:lnTo>
                  <a:lnTo>
                    <a:pt x="166882" y="357269"/>
                  </a:lnTo>
                  <a:lnTo>
                    <a:pt x="168505" y="357269"/>
                  </a:lnTo>
                  <a:lnTo>
                    <a:pt x="178262" y="357587"/>
                  </a:lnTo>
                  <a:lnTo>
                    <a:pt x="220041" y="352510"/>
                  </a:lnTo>
                  <a:lnTo>
                    <a:pt x="259291" y="337524"/>
                  </a:lnTo>
                  <a:lnTo>
                    <a:pt x="456708" y="337524"/>
                  </a:lnTo>
                  <a:lnTo>
                    <a:pt x="348676" y="229332"/>
                  </a:lnTo>
                  <a:lnTo>
                    <a:pt x="350465" y="223205"/>
                  </a:lnTo>
                  <a:lnTo>
                    <a:pt x="352031" y="217015"/>
                  </a:lnTo>
                  <a:lnTo>
                    <a:pt x="356525" y="178793"/>
                  </a:lnTo>
                  <a:lnTo>
                    <a:pt x="122893" y="178793"/>
                  </a:lnTo>
                  <a:lnTo>
                    <a:pt x="116562" y="177525"/>
                  </a:lnTo>
                  <a:lnTo>
                    <a:pt x="82292" y="143154"/>
                  </a:lnTo>
                  <a:lnTo>
                    <a:pt x="81028" y="136804"/>
                  </a:lnTo>
                  <a:lnTo>
                    <a:pt x="81028" y="123259"/>
                  </a:lnTo>
                  <a:lnTo>
                    <a:pt x="104748" y="87619"/>
                  </a:lnTo>
                  <a:lnTo>
                    <a:pt x="122893" y="81269"/>
                  </a:lnTo>
                  <a:lnTo>
                    <a:pt x="327539" y="81269"/>
                  </a:lnTo>
                  <a:lnTo>
                    <a:pt x="326067" y="78951"/>
                  </a:lnTo>
                  <a:lnTo>
                    <a:pt x="295786" y="44476"/>
                  </a:lnTo>
                  <a:lnTo>
                    <a:pt x="258089" y="18864"/>
                  </a:lnTo>
                  <a:lnTo>
                    <a:pt x="214488" y="3657"/>
                  </a:lnTo>
                  <a:lnTo>
                    <a:pt x="214650" y="3657"/>
                  </a:lnTo>
                  <a:lnTo>
                    <a:pt x="203102" y="1706"/>
                  </a:lnTo>
                  <a:lnTo>
                    <a:pt x="203606" y="1706"/>
                  </a:lnTo>
                  <a:lnTo>
                    <a:pt x="191351" y="487"/>
                  </a:lnTo>
                  <a:lnTo>
                    <a:pt x="193240" y="487"/>
                  </a:lnTo>
                  <a:lnTo>
                    <a:pt x="178262" y="0"/>
                  </a:lnTo>
                  <a:close/>
                </a:path>
                <a:path w="518794" h="520700">
                  <a:moveTo>
                    <a:pt x="327539" y="81269"/>
                  </a:moveTo>
                  <a:lnTo>
                    <a:pt x="136398" y="81269"/>
                  </a:lnTo>
                  <a:lnTo>
                    <a:pt x="142729" y="82537"/>
                  </a:lnTo>
                  <a:lnTo>
                    <a:pt x="154543" y="87619"/>
                  </a:lnTo>
                  <a:lnTo>
                    <a:pt x="178262" y="123259"/>
                  </a:lnTo>
                  <a:lnTo>
                    <a:pt x="178262" y="136804"/>
                  </a:lnTo>
                  <a:lnTo>
                    <a:pt x="177061" y="142840"/>
                  </a:lnTo>
                  <a:lnTo>
                    <a:pt x="176998" y="143154"/>
                  </a:lnTo>
                  <a:lnTo>
                    <a:pt x="142729" y="177525"/>
                  </a:lnTo>
                  <a:lnTo>
                    <a:pt x="136398" y="178793"/>
                  </a:lnTo>
                  <a:lnTo>
                    <a:pt x="356525" y="178793"/>
                  </a:lnTo>
                  <a:lnTo>
                    <a:pt x="356134" y="168976"/>
                  </a:lnTo>
                  <a:lnTo>
                    <a:pt x="356039" y="166587"/>
                  </a:lnTo>
                  <a:lnTo>
                    <a:pt x="354869" y="155003"/>
                  </a:lnTo>
                  <a:lnTo>
                    <a:pt x="342662" y="109332"/>
                  </a:lnTo>
                  <a:lnTo>
                    <a:pt x="332217" y="88632"/>
                  </a:lnTo>
                  <a:lnTo>
                    <a:pt x="327539" y="812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86688" y="4273042"/>
            <a:ext cx="1357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SUPER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KEY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32047" y="2897123"/>
            <a:ext cx="7443470" cy="1097280"/>
            <a:chOff x="3432047" y="2897123"/>
            <a:chExt cx="7443470" cy="1097280"/>
          </a:xfrm>
        </p:grpSpPr>
        <p:sp>
          <p:nvSpPr>
            <p:cNvPr id="10" name="object 10"/>
            <p:cNvSpPr/>
            <p:nvPr/>
          </p:nvSpPr>
          <p:spPr>
            <a:xfrm>
              <a:off x="3432047" y="2897123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79" h="1097279">
                  <a:moveTo>
                    <a:pt x="548639" y="0"/>
                  </a:moveTo>
                  <a:lnTo>
                    <a:pt x="501298" y="2013"/>
                  </a:lnTo>
                  <a:lnTo>
                    <a:pt x="455076" y="7945"/>
                  </a:lnTo>
                  <a:lnTo>
                    <a:pt x="410137" y="17629"/>
                  </a:lnTo>
                  <a:lnTo>
                    <a:pt x="366646" y="30902"/>
                  </a:lnTo>
                  <a:lnTo>
                    <a:pt x="324768" y="47598"/>
                  </a:lnTo>
                  <a:lnTo>
                    <a:pt x="284667" y="67554"/>
                  </a:lnTo>
                  <a:lnTo>
                    <a:pt x="246508" y="90604"/>
                  </a:lnTo>
                  <a:lnTo>
                    <a:pt x="210455" y="116583"/>
                  </a:lnTo>
                  <a:lnTo>
                    <a:pt x="176674" y="145328"/>
                  </a:lnTo>
                  <a:lnTo>
                    <a:pt x="145328" y="176674"/>
                  </a:lnTo>
                  <a:lnTo>
                    <a:pt x="116583" y="210455"/>
                  </a:lnTo>
                  <a:lnTo>
                    <a:pt x="90604" y="246508"/>
                  </a:lnTo>
                  <a:lnTo>
                    <a:pt x="67554" y="284667"/>
                  </a:lnTo>
                  <a:lnTo>
                    <a:pt x="47598" y="324768"/>
                  </a:lnTo>
                  <a:lnTo>
                    <a:pt x="30902" y="366646"/>
                  </a:lnTo>
                  <a:lnTo>
                    <a:pt x="17629" y="410137"/>
                  </a:lnTo>
                  <a:lnTo>
                    <a:pt x="7945" y="455076"/>
                  </a:lnTo>
                  <a:lnTo>
                    <a:pt x="2013" y="501298"/>
                  </a:lnTo>
                  <a:lnTo>
                    <a:pt x="0" y="548639"/>
                  </a:lnTo>
                  <a:lnTo>
                    <a:pt x="2013" y="595981"/>
                  </a:lnTo>
                  <a:lnTo>
                    <a:pt x="7945" y="642203"/>
                  </a:lnTo>
                  <a:lnTo>
                    <a:pt x="17629" y="687142"/>
                  </a:lnTo>
                  <a:lnTo>
                    <a:pt x="30902" y="730633"/>
                  </a:lnTo>
                  <a:lnTo>
                    <a:pt x="47598" y="772511"/>
                  </a:lnTo>
                  <a:lnTo>
                    <a:pt x="67554" y="812612"/>
                  </a:lnTo>
                  <a:lnTo>
                    <a:pt x="90604" y="850771"/>
                  </a:lnTo>
                  <a:lnTo>
                    <a:pt x="116583" y="886824"/>
                  </a:lnTo>
                  <a:lnTo>
                    <a:pt x="145328" y="920605"/>
                  </a:lnTo>
                  <a:lnTo>
                    <a:pt x="176674" y="951951"/>
                  </a:lnTo>
                  <a:lnTo>
                    <a:pt x="210455" y="980696"/>
                  </a:lnTo>
                  <a:lnTo>
                    <a:pt x="246508" y="1006675"/>
                  </a:lnTo>
                  <a:lnTo>
                    <a:pt x="284667" y="1029725"/>
                  </a:lnTo>
                  <a:lnTo>
                    <a:pt x="324768" y="1049681"/>
                  </a:lnTo>
                  <a:lnTo>
                    <a:pt x="366646" y="1066377"/>
                  </a:lnTo>
                  <a:lnTo>
                    <a:pt x="410137" y="1079650"/>
                  </a:lnTo>
                  <a:lnTo>
                    <a:pt x="455076" y="1089334"/>
                  </a:lnTo>
                  <a:lnTo>
                    <a:pt x="501298" y="1095266"/>
                  </a:lnTo>
                  <a:lnTo>
                    <a:pt x="548639" y="1097280"/>
                  </a:lnTo>
                  <a:lnTo>
                    <a:pt x="595981" y="1095266"/>
                  </a:lnTo>
                  <a:lnTo>
                    <a:pt x="642203" y="1089334"/>
                  </a:lnTo>
                  <a:lnTo>
                    <a:pt x="687142" y="1079650"/>
                  </a:lnTo>
                  <a:lnTo>
                    <a:pt x="730633" y="1066377"/>
                  </a:lnTo>
                  <a:lnTo>
                    <a:pt x="772511" y="1049681"/>
                  </a:lnTo>
                  <a:lnTo>
                    <a:pt x="812612" y="1029725"/>
                  </a:lnTo>
                  <a:lnTo>
                    <a:pt x="850771" y="1006675"/>
                  </a:lnTo>
                  <a:lnTo>
                    <a:pt x="886824" y="980696"/>
                  </a:lnTo>
                  <a:lnTo>
                    <a:pt x="920605" y="951951"/>
                  </a:lnTo>
                  <a:lnTo>
                    <a:pt x="951951" y="920605"/>
                  </a:lnTo>
                  <a:lnTo>
                    <a:pt x="980696" y="886824"/>
                  </a:lnTo>
                  <a:lnTo>
                    <a:pt x="1006675" y="850771"/>
                  </a:lnTo>
                  <a:lnTo>
                    <a:pt x="1029725" y="812612"/>
                  </a:lnTo>
                  <a:lnTo>
                    <a:pt x="1049681" y="772511"/>
                  </a:lnTo>
                  <a:lnTo>
                    <a:pt x="1066377" y="730633"/>
                  </a:lnTo>
                  <a:lnTo>
                    <a:pt x="1079650" y="687142"/>
                  </a:lnTo>
                  <a:lnTo>
                    <a:pt x="1089334" y="642203"/>
                  </a:lnTo>
                  <a:lnTo>
                    <a:pt x="1095266" y="595981"/>
                  </a:lnTo>
                  <a:lnTo>
                    <a:pt x="1097279" y="548639"/>
                  </a:lnTo>
                  <a:lnTo>
                    <a:pt x="1095266" y="501298"/>
                  </a:lnTo>
                  <a:lnTo>
                    <a:pt x="1089334" y="455076"/>
                  </a:lnTo>
                  <a:lnTo>
                    <a:pt x="1079650" y="410137"/>
                  </a:lnTo>
                  <a:lnTo>
                    <a:pt x="1066377" y="366646"/>
                  </a:lnTo>
                  <a:lnTo>
                    <a:pt x="1049681" y="324768"/>
                  </a:lnTo>
                  <a:lnTo>
                    <a:pt x="1029725" y="284667"/>
                  </a:lnTo>
                  <a:lnTo>
                    <a:pt x="1006675" y="246508"/>
                  </a:lnTo>
                  <a:lnTo>
                    <a:pt x="980696" y="210455"/>
                  </a:lnTo>
                  <a:lnTo>
                    <a:pt x="951951" y="176674"/>
                  </a:lnTo>
                  <a:lnTo>
                    <a:pt x="920605" y="145328"/>
                  </a:lnTo>
                  <a:lnTo>
                    <a:pt x="886824" y="116583"/>
                  </a:lnTo>
                  <a:lnTo>
                    <a:pt x="850771" y="90604"/>
                  </a:lnTo>
                  <a:lnTo>
                    <a:pt x="812612" y="67554"/>
                  </a:lnTo>
                  <a:lnTo>
                    <a:pt x="772511" y="47598"/>
                  </a:lnTo>
                  <a:lnTo>
                    <a:pt x="730633" y="30902"/>
                  </a:lnTo>
                  <a:lnTo>
                    <a:pt x="687142" y="17629"/>
                  </a:lnTo>
                  <a:lnTo>
                    <a:pt x="642203" y="7945"/>
                  </a:lnTo>
                  <a:lnTo>
                    <a:pt x="595981" y="2013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23193" y="3186925"/>
              <a:ext cx="518795" cy="487680"/>
            </a:xfrm>
            <a:custGeom>
              <a:avLst/>
              <a:gdLst/>
              <a:ahLst/>
              <a:cxnLst/>
              <a:rect l="l" t="t" r="r" b="b"/>
              <a:pathLst>
                <a:path w="518795" h="487679">
                  <a:moveTo>
                    <a:pt x="220551" y="274285"/>
                  </a:moveTo>
                  <a:lnTo>
                    <a:pt x="162057" y="274285"/>
                  </a:lnTo>
                  <a:lnTo>
                    <a:pt x="356525" y="404317"/>
                  </a:lnTo>
                  <a:lnTo>
                    <a:pt x="356525" y="487618"/>
                  </a:lnTo>
                  <a:lnTo>
                    <a:pt x="518582" y="487618"/>
                  </a:lnTo>
                  <a:lnTo>
                    <a:pt x="518582" y="455110"/>
                  </a:lnTo>
                  <a:lnTo>
                    <a:pt x="388936" y="455110"/>
                  </a:lnTo>
                  <a:lnTo>
                    <a:pt x="388936" y="365204"/>
                  </a:lnTo>
                  <a:lnTo>
                    <a:pt x="356525" y="365204"/>
                  </a:lnTo>
                  <a:lnTo>
                    <a:pt x="220551" y="274285"/>
                  </a:lnTo>
                  <a:close/>
                </a:path>
                <a:path w="518795" h="487679">
                  <a:moveTo>
                    <a:pt x="518582" y="357587"/>
                  </a:moveTo>
                  <a:lnTo>
                    <a:pt x="486171" y="357587"/>
                  </a:lnTo>
                  <a:lnTo>
                    <a:pt x="486171" y="455110"/>
                  </a:lnTo>
                  <a:lnTo>
                    <a:pt x="518582" y="455110"/>
                  </a:lnTo>
                  <a:lnTo>
                    <a:pt x="518582" y="357587"/>
                  </a:lnTo>
                  <a:close/>
                </a:path>
                <a:path w="518795" h="487679">
                  <a:moveTo>
                    <a:pt x="518582" y="325079"/>
                  </a:moveTo>
                  <a:lnTo>
                    <a:pt x="356525" y="325079"/>
                  </a:lnTo>
                  <a:lnTo>
                    <a:pt x="356525" y="365204"/>
                  </a:lnTo>
                  <a:lnTo>
                    <a:pt x="388936" y="365204"/>
                  </a:lnTo>
                  <a:lnTo>
                    <a:pt x="388936" y="357587"/>
                  </a:lnTo>
                  <a:lnTo>
                    <a:pt x="518582" y="357587"/>
                  </a:lnTo>
                  <a:lnTo>
                    <a:pt x="518582" y="325079"/>
                  </a:lnTo>
                  <a:close/>
                </a:path>
                <a:path w="518795" h="487679">
                  <a:moveTo>
                    <a:pt x="162057" y="162539"/>
                  </a:moveTo>
                  <a:lnTo>
                    <a:pt x="0" y="162539"/>
                  </a:lnTo>
                  <a:lnTo>
                    <a:pt x="0" y="325079"/>
                  </a:lnTo>
                  <a:lnTo>
                    <a:pt x="162057" y="325079"/>
                  </a:lnTo>
                  <a:lnTo>
                    <a:pt x="162057" y="292571"/>
                  </a:lnTo>
                  <a:lnTo>
                    <a:pt x="32411" y="292571"/>
                  </a:lnTo>
                  <a:lnTo>
                    <a:pt x="32411" y="195047"/>
                  </a:lnTo>
                  <a:lnTo>
                    <a:pt x="162057" y="195047"/>
                  </a:lnTo>
                  <a:lnTo>
                    <a:pt x="162057" y="162539"/>
                  </a:lnTo>
                  <a:close/>
                </a:path>
                <a:path w="518795" h="487679">
                  <a:moveTo>
                    <a:pt x="162057" y="195047"/>
                  </a:moveTo>
                  <a:lnTo>
                    <a:pt x="129645" y="195047"/>
                  </a:lnTo>
                  <a:lnTo>
                    <a:pt x="129645" y="292571"/>
                  </a:lnTo>
                  <a:lnTo>
                    <a:pt x="162057" y="292571"/>
                  </a:lnTo>
                  <a:lnTo>
                    <a:pt x="162057" y="274285"/>
                  </a:lnTo>
                  <a:lnTo>
                    <a:pt x="220551" y="274285"/>
                  </a:lnTo>
                  <a:lnTo>
                    <a:pt x="174973" y="243809"/>
                  </a:lnTo>
                  <a:lnTo>
                    <a:pt x="220551" y="213333"/>
                  </a:lnTo>
                  <a:lnTo>
                    <a:pt x="162057" y="213333"/>
                  </a:lnTo>
                  <a:lnTo>
                    <a:pt x="162057" y="195047"/>
                  </a:lnTo>
                  <a:close/>
                </a:path>
                <a:path w="518795" h="487679">
                  <a:moveTo>
                    <a:pt x="518582" y="0"/>
                  </a:moveTo>
                  <a:lnTo>
                    <a:pt x="356525" y="0"/>
                  </a:lnTo>
                  <a:lnTo>
                    <a:pt x="356525" y="83301"/>
                  </a:lnTo>
                  <a:lnTo>
                    <a:pt x="162057" y="213333"/>
                  </a:lnTo>
                  <a:lnTo>
                    <a:pt x="220551" y="213333"/>
                  </a:lnTo>
                  <a:lnTo>
                    <a:pt x="356525" y="122414"/>
                  </a:lnTo>
                  <a:lnTo>
                    <a:pt x="388936" y="122414"/>
                  </a:lnTo>
                  <a:lnTo>
                    <a:pt x="388936" y="32507"/>
                  </a:lnTo>
                  <a:lnTo>
                    <a:pt x="518582" y="32507"/>
                  </a:lnTo>
                  <a:lnTo>
                    <a:pt x="518582" y="0"/>
                  </a:lnTo>
                  <a:close/>
                </a:path>
                <a:path w="518795" h="487679">
                  <a:moveTo>
                    <a:pt x="388936" y="122414"/>
                  </a:moveTo>
                  <a:lnTo>
                    <a:pt x="356525" y="122414"/>
                  </a:lnTo>
                  <a:lnTo>
                    <a:pt x="356525" y="162539"/>
                  </a:lnTo>
                  <a:lnTo>
                    <a:pt x="518582" y="162539"/>
                  </a:lnTo>
                  <a:lnTo>
                    <a:pt x="518582" y="130031"/>
                  </a:lnTo>
                  <a:lnTo>
                    <a:pt x="388936" y="130031"/>
                  </a:lnTo>
                  <a:lnTo>
                    <a:pt x="388936" y="122414"/>
                  </a:lnTo>
                  <a:close/>
                </a:path>
                <a:path w="518795" h="487679">
                  <a:moveTo>
                    <a:pt x="518582" y="32507"/>
                  </a:moveTo>
                  <a:lnTo>
                    <a:pt x="486171" y="32507"/>
                  </a:lnTo>
                  <a:lnTo>
                    <a:pt x="486171" y="130031"/>
                  </a:lnTo>
                  <a:lnTo>
                    <a:pt x="518582" y="130031"/>
                  </a:lnTo>
                  <a:lnTo>
                    <a:pt x="518582" y="325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47359" y="2897123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79" h="1097279">
                  <a:moveTo>
                    <a:pt x="548639" y="0"/>
                  </a:moveTo>
                  <a:lnTo>
                    <a:pt x="501298" y="2013"/>
                  </a:lnTo>
                  <a:lnTo>
                    <a:pt x="455076" y="7945"/>
                  </a:lnTo>
                  <a:lnTo>
                    <a:pt x="410137" y="17629"/>
                  </a:lnTo>
                  <a:lnTo>
                    <a:pt x="366646" y="30902"/>
                  </a:lnTo>
                  <a:lnTo>
                    <a:pt x="324768" y="47598"/>
                  </a:lnTo>
                  <a:lnTo>
                    <a:pt x="284667" y="67554"/>
                  </a:lnTo>
                  <a:lnTo>
                    <a:pt x="246508" y="90604"/>
                  </a:lnTo>
                  <a:lnTo>
                    <a:pt x="210455" y="116583"/>
                  </a:lnTo>
                  <a:lnTo>
                    <a:pt x="176674" y="145328"/>
                  </a:lnTo>
                  <a:lnTo>
                    <a:pt x="145328" y="176674"/>
                  </a:lnTo>
                  <a:lnTo>
                    <a:pt x="116583" y="210455"/>
                  </a:lnTo>
                  <a:lnTo>
                    <a:pt x="90604" y="246508"/>
                  </a:lnTo>
                  <a:lnTo>
                    <a:pt x="67554" y="284667"/>
                  </a:lnTo>
                  <a:lnTo>
                    <a:pt x="47598" y="324768"/>
                  </a:lnTo>
                  <a:lnTo>
                    <a:pt x="30902" y="366646"/>
                  </a:lnTo>
                  <a:lnTo>
                    <a:pt x="17629" y="410137"/>
                  </a:lnTo>
                  <a:lnTo>
                    <a:pt x="7945" y="455076"/>
                  </a:lnTo>
                  <a:lnTo>
                    <a:pt x="2013" y="501298"/>
                  </a:lnTo>
                  <a:lnTo>
                    <a:pt x="0" y="548639"/>
                  </a:lnTo>
                  <a:lnTo>
                    <a:pt x="2013" y="595981"/>
                  </a:lnTo>
                  <a:lnTo>
                    <a:pt x="7945" y="642203"/>
                  </a:lnTo>
                  <a:lnTo>
                    <a:pt x="17629" y="687142"/>
                  </a:lnTo>
                  <a:lnTo>
                    <a:pt x="30902" y="730633"/>
                  </a:lnTo>
                  <a:lnTo>
                    <a:pt x="47598" y="772511"/>
                  </a:lnTo>
                  <a:lnTo>
                    <a:pt x="67554" y="812612"/>
                  </a:lnTo>
                  <a:lnTo>
                    <a:pt x="90604" y="850771"/>
                  </a:lnTo>
                  <a:lnTo>
                    <a:pt x="116583" y="886824"/>
                  </a:lnTo>
                  <a:lnTo>
                    <a:pt x="145328" y="920605"/>
                  </a:lnTo>
                  <a:lnTo>
                    <a:pt x="176674" y="951951"/>
                  </a:lnTo>
                  <a:lnTo>
                    <a:pt x="210455" y="980696"/>
                  </a:lnTo>
                  <a:lnTo>
                    <a:pt x="246508" y="1006675"/>
                  </a:lnTo>
                  <a:lnTo>
                    <a:pt x="284667" y="1029725"/>
                  </a:lnTo>
                  <a:lnTo>
                    <a:pt x="324768" y="1049681"/>
                  </a:lnTo>
                  <a:lnTo>
                    <a:pt x="366646" y="1066377"/>
                  </a:lnTo>
                  <a:lnTo>
                    <a:pt x="410137" y="1079650"/>
                  </a:lnTo>
                  <a:lnTo>
                    <a:pt x="455076" y="1089334"/>
                  </a:lnTo>
                  <a:lnTo>
                    <a:pt x="501298" y="1095266"/>
                  </a:lnTo>
                  <a:lnTo>
                    <a:pt x="548639" y="1097280"/>
                  </a:lnTo>
                  <a:lnTo>
                    <a:pt x="595981" y="1095266"/>
                  </a:lnTo>
                  <a:lnTo>
                    <a:pt x="642203" y="1089334"/>
                  </a:lnTo>
                  <a:lnTo>
                    <a:pt x="687142" y="1079650"/>
                  </a:lnTo>
                  <a:lnTo>
                    <a:pt x="730633" y="1066377"/>
                  </a:lnTo>
                  <a:lnTo>
                    <a:pt x="772511" y="1049681"/>
                  </a:lnTo>
                  <a:lnTo>
                    <a:pt x="812612" y="1029725"/>
                  </a:lnTo>
                  <a:lnTo>
                    <a:pt x="850771" y="1006675"/>
                  </a:lnTo>
                  <a:lnTo>
                    <a:pt x="886824" y="980696"/>
                  </a:lnTo>
                  <a:lnTo>
                    <a:pt x="920605" y="951951"/>
                  </a:lnTo>
                  <a:lnTo>
                    <a:pt x="951951" y="920605"/>
                  </a:lnTo>
                  <a:lnTo>
                    <a:pt x="980696" y="886824"/>
                  </a:lnTo>
                  <a:lnTo>
                    <a:pt x="1006675" y="850771"/>
                  </a:lnTo>
                  <a:lnTo>
                    <a:pt x="1029725" y="812612"/>
                  </a:lnTo>
                  <a:lnTo>
                    <a:pt x="1049681" y="772511"/>
                  </a:lnTo>
                  <a:lnTo>
                    <a:pt x="1066377" y="730633"/>
                  </a:lnTo>
                  <a:lnTo>
                    <a:pt x="1079650" y="687142"/>
                  </a:lnTo>
                  <a:lnTo>
                    <a:pt x="1089334" y="642203"/>
                  </a:lnTo>
                  <a:lnTo>
                    <a:pt x="1095266" y="595981"/>
                  </a:lnTo>
                  <a:lnTo>
                    <a:pt x="1097280" y="548639"/>
                  </a:lnTo>
                  <a:lnTo>
                    <a:pt x="1095266" y="501298"/>
                  </a:lnTo>
                  <a:lnTo>
                    <a:pt x="1089334" y="455076"/>
                  </a:lnTo>
                  <a:lnTo>
                    <a:pt x="1079650" y="410137"/>
                  </a:lnTo>
                  <a:lnTo>
                    <a:pt x="1066377" y="366646"/>
                  </a:lnTo>
                  <a:lnTo>
                    <a:pt x="1049681" y="324768"/>
                  </a:lnTo>
                  <a:lnTo>
                    <a:pt x="1029725" y="284667"/>
                  </a:lnTo>
                  <a:lnTo>
                    <a:pt x="1006675" y="246508"/>
                  </a:lnTo>
                  <a:lnTo>
                    <a:pt x="980696" y="210455"/>
                  </a:lnTo>
                  <a:lnTo>
                    <a:pt x="951951" y="176674"/>
                  </a:lnTo>
                  <a:lnTo>
                    <a:pt x="920605" y="145328"/>
                  </a:lnTo>
                  <a:lnTo>
                    <a:pt x="886824" y="116583"/>
                  </a:lnTo>
                  <a:lnTo>
                    <a:pt x="850771" y="90604"/>
                  </a:lnTo>
                  <a:lnTo>
                    <a:pt x="812612" y="67554"/>
                  </a:lnTo>
                  <a:lnTo>
                    <a:pt x="772511" y="47598"/>
                  </a:lnTo>
                  <a:lnTo>
                    <a:pt x="730633" y="30902"/>
                  </a:lnTo>
                  <a:lnTo>
                    <a:pt x="687142" y="17629"/>
                  </a:lnTo>
                  <a:lnTo>
                    <a:pt x="642203" y="7945"/>
                  </a:lnTo>
                  <a:lnTo>
                    <a:pt x="595981" y="2013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69608" y="3186925"/>
              <a:ext cx="455295" cy="520700"/>
            </a:xfrm>
            <a:custGeom>
              <a:avLst/>
              <a:gdLst/>
              <a:ahLst/>
              <a:cxnLst/>
              <a:rect l="l" t="t" r="r" b="b"/>
              <a:pathLst>
                <a:path w="455295" h="520700">
                  <a:moveTo>
                    <a:pt x="218040" y="0"/>
                  </a:moveTo>
                  <a:lnTo>
                    <a:pt x="0" y="0"/>
                  </a:lnTo>
                  <a:lnTo>
                    <a:pt x="0" y="422603"/>
                  </a:lnTo>
                  <a:lnTo>
                    <a:pt x="129960" y="422603"/>
                  </a:lnTo>
                  <a:lnTo>
                    <a:pt x="129960" y="520126"/>
                  </a:lnTo>
                  <a:lnTo>
                    <a:pt x="454860" y="520126"/>
                  </a:lnTo>
                  <a:lnTo>
                    <a:pt x="454860" y="487618"/>
                  </a:lnTo>
                  <a:lnTo>
                    <a:pt x="162450" y="487618"/>
                  </a:lnTo>
                  <a:lnTo>
                    <a:pt x="162450" y="390095"/>
                  </a:lnTo>
                  <a:lnTo>
                    <a:pt x="32490" y="390095"/>
                  </a:lnTo>
                  <a:lnTo>
                    <a:pt x="32490" y="32507"/>
                  </a:lnTo>
                  <a:lnTo>
                    <a:pt x="250530" y="32507"/>
                  </a:lnTo>
                  <a:lnTo>
                    <a:pt x="218040" y="0"/>
                  </a:lnTo>
                  <a:close/>
                </a:path>
                <a:path w="455295" h="520700">
                  <a:moveTo>
                    <a:pt x="380490" y="130031"/>
                  </a:moveTo>
                  <a:lnTo>
                    <a:pt x="324900" y="130031"/>
                  </a:lnTo>
                  <a:lnTo>
                    <a:pt x="324900" y="227555"/>
                  </a:lnTo>
                  <a:lnTo>
                    <a:pt x="422370" y="227555"/>
                  </a:lnTo>
                  <a:lnTo>
                    <a:pt x="422370" y="487618"/>
                  </a:lnTo>
                  <a:lnTo>
                    <a:pt x="454860" y="487618"/>
                  </a:lnTo>
                  <a:lnTo>
                    <a:pt x="454860" y="204442"/>
                  </a:lnTo>
                  <a:lnTo>
                    <a:pt x="445471" y="195047"/>
                  </a:lnTo>
                  <a:lnTo>
                    <a:pt x="357390" y="195047"/>
                  </a:lnTo>
                  <a:lnTo>
                    <a:pt x="357390" y="153144"/>
                  </a:lnTo>
                  <a:lnTo>
                    <a:pt x="403591" y="153144"/>
                  </a:lnTo>
                  <a:lnTo>
                    <a:pt x="380490" y="130031"/>
                  </a:lnTo>
                  <a:close/>
                </a:path>
                <a:path w="455295" h="520700">
                  <a:moveTo>
                    <a:pt x="348000" y="97523"/>
                  </a:moveTo>
                  <a:lnTo>
                    <a:pt x="129960" y="97523"/>
                  </a:lnTo>
                  <a:lnTo>
                    <a:pt x="129960" y="390095"/>
                  </a:lnTo>
                  <a:lnTo>
                    <a:pt x="162450" y="390095"/>
                  </a:lnTo>
                  <a:lnTo>
                    <a:pt x="162450" y="130031"/>
                  </a:lnTo>
                  <a:lnTo>
                    <a:pt x="380490" y="130031"/>
                  </a:lnTo>
                  <a:lnTo>
                    <a:pt x="348000" y="97523"/>
                  </a:lnTo>
                  <a:close/>
                </a:path>
                <a:path w="455295" h="520700">
                  <a:moveTo>
                    <a:pt x="403591" y="153144"/>
                  </a:moveTo>
                  <a:lnTo>
                    <a:pt x="357390" y="153144"/>
                  </a:lnTo>
                  <a:lnTo>
                    <a:pt x="399270" y="195047"/>
                  </a:lnTo>
                  <a:lnTo>
                    <a:pt x="445471" y="195047"/>
                  </a:lnTo>
                  <a:lnTo>
                    <a:pt x="403591" y="153144"/>
                  </a:lnTo>
                  <a:close/>
                </a:path>
                <a:path w="455295" h="520700">
                  <a:moveTo>
                    <a:pt x="250530" y="32507"/>
                  </a:moveTo>
                  <a:lnTo>
                    <a:pt x="204329" y="32507"/>
                  </a:lnTo>
                  <a:lnTo>
                    <a:pt x="269310" y="97523"/>
                  </a:lnTo>
                  <a:lnTo>
                    <a:pt x="315510" y="97523"/>
                  </a:lnTo>
                  <a:lnTo>
                    <a:pt x="250530" y="325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62671" y="2897123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79" h="1097279">
                  <a:moveTo>
                    <a:pt x="548639" y="0"/>
                  </a:moveTo>
                  <a:lnTo>
                    <a:pt x="501298" y="2013"/>
                  </a:lnTo>
                  <a:lnTo>
                    <a:pt x="455076" y="7945"/>
                  </a:lnTo>
                  <a:lnTo>
                    <a:pt x="410137" y="17629"/>
                  </a:lnTo>
                  <a:lnTo>
                    <a:pt x="366646" y="30902"/>
                  </a:lnTo>
                  <a:lnTo>
                    <a:pt x="324768" y="47598"/>
                  </a:lnTo>
                  <a:lnTo>
                    <a:pt x="284667" y="67554"/>
                  </a:lnTo>
                  <a:lnTo>
                    <a:pt x="246508" y="90604"/>
                  </a:lnTo>
                  <a:lnTo>
                    <a:pt x="210455" y="116583"/>
                  </a:lnTo>
                  <a:lnTo>
                    <a:pt x="176674" y="145328"/>
                  </a:lnTo>
                  <a:lnTo>
                    <a:pt x="145328" y="176674"/>
                  </a:lnTo>
                  <a:lnTo>
                    <a:pt x="116583" y="210455"/>
                  </a:lnTo>
                  <a:lnTo>
                    <a:pt x="90604" y="246508"/>
                  </a:lnTo>
                  <a:lnTo>
                    <a:pt x="67554" y="284667"/>
                  </a:lnTo>
                  <a:lnTo>
                    <a:pt x="47598" y="324768"/>
                  </a:lnTo>
                  <a:lnTo>
                    <a:pt x="30902" y="366646"/>
                  </a:lnTo>
                  <a:lnTo>
                    <a:pt x="17629" y="410137"/>
                  </a:lnTo>
                  <a:lnTo>
                    <a:pt x="7945" y="455076"/>
                  </a:lnTo>
                  <a:lnTo>
                    <a:pt x="2013" y="501298"/>
                  </a:lnTo>
                  <a:lnTo>
                    <a:pt x="0" y="548639"/>
                  </a:lnTo>
                  <a:lnTo>
                    <a:pt x="2013" y="595981"/>
                  </a:lnTo>
                  <a:lnTo>
                    <a:pt x="7945" y="642203"/>
                  </a:lnTo>
                  <a:lnTo>
                    <a:pt x="17629" y="687142"/>
                  </a:lnTo>
                  <a:lnTo>
                    <a:pt x="30902" y="730633"/>
                  </a:lnTo>
                  <a:lnTo>
                    <a:pt x="47598" y="772511"/>
                  </a:lnTo>
                  <a:lnTo>
                    <a:pt x="67554" y="812612"/>
                  </a:lnTo>
                  <a:lnTo>
                    <a:pt x="90604" y="850771"/>
                  </a:lnTo>
                  <a:lnTo>
                    <a:pt x="116583" y="886824"/>
                  </a:lnTo>
                  <a:lnTo>
                    <a:pt x="145328" y="920605"/>
                  </a:lnTo>
                  <a:lnTo>
                    <a:pt x="176674" y="951951"/>
                  </a:lnTo>
                  <a:lnTo>
                    <a:pt x="210455" y="980696"/>
                  </a:lnTo>
                  <a:lnTo>
                    <a:pt x="246508" y="1006675"/>
                  </a:lnTo>
                  <a:lnTo>
                    <a:pt x="284667" y="1029725"/>
                  </a:lnTo>
                  <a:lnTo>
                    <a:pt x="324768" y="1049681"/>
                  </a:lnTo>
                  <a:lnTo>
                    <a:pt x="366646" y="1066377"/>
                  </a:lnTo>
                  <a:lnTo>
                    <a:pt x="410137" y="1079650"/>
                  </a:lnTo>
                  <a:lnTo>
                    <a:pt x="455076" y="1089334"/>
                  </a:lnTo>
                  <a:lnTo>
                    <a:pt x="501298" y="1095266"/>
                  </a:lnTo>
                  <a:lnTo>
                    <a:pt x="548639" y="1097280"/>
                  </a:lnTo>
                  <a:lnTo>
                    <a:pt x="595981" y="1095266"/>
                  </a:lnTo>
                  <a:lnTo>
                    <a:pt x="642203" y="1089334"/>
                  </a:lnTo>
                  <a:lnTo>
                    <a:pt x="687142" y="1079650"/>
                  </a:lnTo>
                  <a:lnTo>
                    <a:pt x="730633" y="1066377"/>
                  </a:lnTo>
                  <a:lnTo>
                    <a:pt x="772511" y="1049681"/>
                  </a:lnTo>
                  <a:lnTo>
                    <a:pt x="812612" y="1029725"/>
                  </a:lnTo>
                  <a:lnTo>
                    <a:pt x="850771" y="1006675"/>
                  </a:lnTo>
                  <a:lnTo>
                    <a:pt x="886824" y="980696"/>
                  </a:lnTo>
                  <a:lnTo>
                    <a:pt x="920605" y="951951"/>
                  </a:lnTo>
                  <a:lnTo>
                    <a:pt x="951951" y="920605"/>
                  </a:lnTo>
                  <a:lnTo>
                    <a:pt x="980696" y="886824"/>
                  </a:lnTo>
                  <a:lnTo>
                    <a:pt x="1006675" y="850771"/>
                  </a:lnTo>
                  <a:lnTo>
                    <a:pt x="1029725" y="812612"/>
                  </a:lnTo>
                  <a:lnTo>
                    <a:pt x="1049681" y="772511"/>
                  </a:lnTo>
                  <a:lnTo>
                    <a:pt x="1066377" y="730633"/>
                  </a:lnTo>
                  <a:lnTo>
                    <a:pt x="1079650" y="687142"/>
                  </a:lnTo>
                  <a:lnTo>
                    <a:pt x="1089334" y="642203"/>
                  </a:lnTo>
                  <a:lnTo>
                    <a:pt x="1095266" y="595981"/>
                  </a:lnTo>
                  <a:lnTo>
                    <a:pt x="1097279" y="548639"/>
                  </a:lnTo>
                  <a:lnTo>
                    <a:pt x="1095266" y="501298"/>
                  </a:lnTo>
                  <a:lnTo>
                    <a:pt x="1089334" y="455076"/>
                  </a:lnTo>
                  <a:lnTo>
                    <a:pt x="1079650" y="410137"/>
                  </a:lnTo>
                  <a:lnTo>
                    <a:pt x="1066377" y="366646"/>
                  </a:lnTo>
                  <a:lnTo>
                    <a:pt x="1049681" y="324768"/>
                  </a:lnTo>
                  <a:lnTo>
                    <a:pt x="1029725" y="284667"/>
                  </a:lnTo>
                  <a:lnTo>
                    <a:pt x="1006675" y="246508"/>
                  </a:lnTo>
                  <a:lnTo>
                    <a:pt x="980696" y="210455"/>
                  </a:lnTo>
                  <a:lnTo>
                    <a:pt x="951951" y="176674"/>
                  </a:lnTo>
                  <a:lnTo>
                    <a:pt x="920605" y="145328"/>
                  </a:lnTo>
                  <a:lnTo>
                    <a:pt x="886824" y="116583"/>
                  </a:lnTo>
                  <a:lnTo>
                    <a:pt x="850771" y="90604"/>
                  </a:lnTo>
                  <a:lnTo>
                    <a:pt x="812612" y="67554"/>
                  </a:lnTo>
                  <a:lnTo>
                    <a:pt x="772511" y="47598"/>
                  </a:lnTo>
                  <a:lnTo>
                    <a:pt x="730633" y="30902"/>
                  </a:lnTo>
                  <a:lnTo>
                    <a:pt x="687142" y="17629"/>
                  </a:lnTo>
                  <a:lnTo>
                    <a:pt x="642203" y="7945"/>
                  </a:lnTo>
                  <a:lnTo>
                    <a:pt x="595981" y="2013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17116" y="3186925"/>
              <a:ext cx="389255" cy="520700"/>
            </a:xfrm>
            <a:custGeom>
              <a:avLst/>
              <a:gdLst/>
              <a:ahLst/>
              <a:cxnLst/>
              <a:rect l="l" t="t" r="r" b="b"/>
              <a:pathLst>
                <a:path w="389254" h="520700">
                  <a:moveTo>
                    <a:pt x="388936" y="227555"/>
                  </a:moveTo>
                  <a:lnTo>
                    <a:pt x="0" y="227555"/>
                  </a:lnTo>
                  <a:lnTo>
                    <a:pt x="0" y="520126"/>
                  </a:lnTo>
                  <a:lnTo>
                    <a:pt x="388936" y="520126"/>
                  </a:lnTo>
                  <a:lnTo>
                    <a:pt x="388936" y="487618"/>
                  </a:lnTo>
                  <a:lnTo>
                    <a:pt x="32411" y="487618"/>
                  </a:lnTo>
                  <a:lnTo>
                    <a:pt x="32411" y="260063"/>
                  </a:lnTo>
                  <a:lnTo>
                    <a:pt x="388936" y="260063"/>
                  </a:lnTo>
                  <a:lnTo>
                    <a:pt x="388936" y="227555"/>
                  </a:lnTo>
                  <a:close/>
                </a:path>
                <a:path w="389254" h="520700">
                  <a:moveTo>
                    <a:pt x="388936" y="260063"/>
                  </a:moveTo>
                  <a:lnTo>
                    <a:pt x="356525" y="260063"/>
                  </a:lnTo>
                  <a:lnTo>
                    <a:pt x="356525" y="487618"/>
                  </a:lnTo>
                  <a:lnTo>
                    <a:pt x="388936" y="487618"/>
                  </a:lnTo>
                  <a:lnTo>
                    <a:pt x="388936" y="260063"/>
                  </a:lnTo>
                  <a:close/>
                </a:path>
                <a:path w="389254" h="520700">
                  <a:moveTo>
                    <a:pt x="281520" y="32507"/>
                  </a:moveTo>
                  <a:lnTo>
                    <a:pt x="194468" y="32507"/>
                  </a:lnTo>
                  <a:lnTo>
                    <a:pt x="204661" y="32984"/>
                  </a:lnTo>
                  <a:lnTo>
                    <a:pt x="214472" y="34413"/>
                  </a:lnTo>
                  <a:lnTo>
                    <a:pt x="256982" y="54554"/>
                  </a:lnTo>
                  <a:lnTo>
                    <a:pt x="284361" y="91428"/>
                  </a:lnTo>
                  <a:lnTo>
                    <a:pt x="291702" y="130031"/>
                  </a:lnTo>
                  <a:lnTo>
                    <a:pt x="291702" y="227555"/>
                  </a:lnTo>
                  <a:lnTo>
                    <a:pt x="324114" y="227555"/>
                  </a:lnTo>
                  <a:lnTo>
                    <a:pt x="324114" y="130031"/>
                  </a:lnTo>
                  <a:lnTo>
                    <a:pt x="323408" y="116445"/>
                  </a:lnTo>
                  <a:lnTo>
                    <a:pt x="321545" y="103366"/>
                  </a:lnTo>
                  <a:lnTo>
                    <a:pt x="321518" y="103176"/>
                  </a:lnTo>
                  <a:lnTo>
                    <a:pt x="318521" y="90794"/>
                  </a:lnTo>
                  <a:lnTo>
                    <a:pt x="318463" y="90555"/>
                  </a:lnTo>
                  <a:lnTo>
                    <a:pt x="314328" y="78728"/>
                  </a:lnTo>
                  <a:lnTo>
                    <a:pt x="314239" y="78474"/>
                  </a:lnTo>
                  <a:lnTo>
                    <a:pt x="308923" y="67046"/>
                  </a:lnTo>
                  <a:lnTo>
                    <a:pt x="302705" y="56571"/>
                  </a:lnTo>
                  <a:lnTo>
                    <a:pt x="302592" y="56380"/>
                  </a:lnTo>
                  <a:lnTo>
                    <a:pt x="295329" y="46587"/>
                  </a:lnTo>
                  <a:lnTo>
                    <a:pt x="286889" y="37335"/>
                  </a:lnTo>
                  <a:lnTo>
                    <a:pt x="281520" y="32507"/>
                  </a:lnTo>
                  <a:close/>
                </a:path>
                <a:path w="389254" h="520700">
                  <a:moveTo>
                    <a:pt x="194468" y="0"/>
                  </a:moveTo>
                  <a:lnTo>
                    <a:pt x="155109" y="5668"/>
                  </a:lnTo>
                  <a:lnTo>
                    <a:pt x="111062" y="29041"/>
                  </a:lnTo>
                  <a:lnTo>
                    <a:pt x="80087" y="67332"/>
                  </a:lnTo>
                  <a:lnTo>
                    <a:pt x="74817" y="78474"/>
                  </a:lnTo>
                  <a:lnTo>
                    <a:pt x="74697" y="78728"/>
                  </a:lnTo>
                  <a:lnTo>
                    <a:pt x="70461" y="90555"/>
                  </a:lnTo>
                  <a:lnTo>
                    <a:pt x="70376" y="90794"/>
                  </a:lnTo>
                  <a:lnTo>
                    <a:pt x="67337" y="103176"/>
                  </a:lnTo>
                  <a:lnTo>
                    <a:pt x="67290" y="103366"/>
                  </a:lnTo>
                  <a:lnTo>
                    <a:pt x="65439" y="116445"/>
                  </a:lnTo>
                  <a:lnTo>
                    <a:pt x="64822" y="130031"/>
                  </a:lnTo>
                  <a:lnTo>
                    <a:pt x="97234" y="130031"/>
                  </a:lnTo>
                  <a:lnTo>
                    <a:pt x="97709" y="119811"/>
                  </a:lnTo>
                  <a:lnTo>
                    <a:pt x="99133" y="109970"/>
                  </a:lnTo>
                  <a:lnTo>
                    <a:pt x="119110" y="67476"/>
                  </a:lnTo>
                  <a:lnTo>
                    <a:pt x="155979" y="39870"/>
                  </a:lnTo>
                  <a:lnTo>
                    <a:pt x="174200" y="34413"/>
                  </a:lnTo>
                  <a:lnTo>
                    <a:pt x="174007" y="34413"/>
                  </a:lnTo>
                  <a:lnTo>
                    <a:pt x="184160" y="32984"/>
                  </a:lnTo>
                  <a:lnTo>
                    <a:pt x="183917" y="32984"/>
                  </a:lnTo>
                  <a:lnTo>
                    <a:pt x="194468" y="32507"/>
                  </a:lnTo>
                  <a:lnTo>
                    <a:pt x="281520" y="32507"/>
                  </a:lnTo>
                  <a:lnTo>
                    <a:pt x="277664" y="29041"/>
                  </a:lnTo>
                  <a:lnTo>
                    <a:pt x="233842" y="5668"/>
                  </a:lnTo>
                  <a:lnTo>
                    <a:pt x="221547" y="2600"/>
                  </a:lnTo>
                  <a:lnTo>
                    <a:pt x="221909" y="2600"/>
                  </a:lnTo>
                  <a:lnTo>
                    <a:pt x="208655" y="711"/>
                  </a:lnTo>
                  <a:lnTo>
                    <a:pt x="210013" y="711"/>
                  </a:lnTo>
                  <a:lnTo>
                    <a:pt x="1944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776459" y="2897123"/>
              <a:ext cx="1099185" cy="1097280"/>
            </a:xfrm>
            <a:custGeom>
              <a:avLst/>
              <a:gdLst/>
              <a:ahLst/>
              <a:cxnLst/>
              <a:rect l="l" t="t" r="r" b="b"/>
              <a:pathLst>
                <a:path w="1099184" h="1097279">
                  <a:moveTo>
                    <a:pt x="549401" y="0"/>
                  </a:moveTo>
                  <a:lnTo>
                    <a:pt x="502000" y="2013"/>
                  </a:lnTo>
                  <a:lnTo>
                    <a:pt x="455718" y="7945"/>
                  </a:lnTo>
                  <a:lnTo>
                    <a:pt x="410720" y="17629"/>
                  </a:lnTo>
                  <a:lnTo>
                    <a:pt x="367171" y="30902"/>
                  </a:lnTo>
                  <a:lnTo>
                    <a:pt x="325236" y="47598"/>
                  </a:lnTo>
                  <a:lnTo>
                    <a:pt x="285080" y="67554"/>
                  </a:lnTo>
                  <a:lnTo>
                    <a:pt x="246868" y="90604"/>
                  </a:lnTo>
                  <a:lnTo>
                    <a:pt x="210764" y="116583"/>
                  </a:lnTo>
                  <a:lnTo>
                    <a:pt x="176935" y="145328"/>
                  </a:lnTo>
                  <a:lnTo>
                    <a:pt x="145544" y="176674"/>
                  </a:lnTo>
                  <a:lnTo>
                    <a:pt x="116758" y="210455"/>
                  </a:lnTo>
                  <a:lnTo>
                    <a:pt x="90740" y="246508"/>
                  </a:lnTo>
                  <a:lnTo>
                    <a:pt x="67656" y="284667"/>
                  </a:lnTo>
                  <a:lnTo>
                    <a:pt x="47670" y="324768"/>
                  </a:lnTo>
                  <a:lnTo>
                    <a:pt x="30949" y="366646"/>
                  </a:lnTo>
                  <a:lnTo>
                    <a:pt x="17656" y="410137"/>
                  </a:lnTo>
                  <a:lnTo>
                    <a:pt x="7957" y="455076"/>
                  </a:lnTo>
                  <a:lnTo>
                    <a:pt x="2016" y="501298"/>
                  </a:lnTo>
                  <a:lnTo>
                    <a:pt x="0" y="548639"/>
                  </a:lnTo>
                  <a:lnTo>
                    <a:pt x="2016" y="595981"/>
                  </a:lnTo>
                  <a:lnTo>
                    <a:pt x="7957" y="642203"/>
                  </a:lnTo>
                  <a:lnTo>
                    <a:pt x="17656" y="687142"/>
                  </a:lnTo>
                  <a:lnTo>
                    <a:pt x="30949" y="730633"/>
                  </a:lnTo>
                  <a:lnTo>
                    <a:pt x="47670" y="772511"/>
                  </a:lnTo>
                  <a:lnTo>
                    <a:pt x="67656" y="812612"/>
                  </a:lnTo>
                  <a:lnTo>
                    <a:pt x="90740" y="850771"/>
                  </a:lnTo>
                  <a:lnTo>
                    <a:pt x="116758" y="886824"/>
                  </a:lnTo>
                  <a:lnTo>
                    <a:pt x="145544" y="920605"/>
                  </a:lnTo>
                  <a:lnTo>
                    <a:pt x="176935" y="951951"/>
                  </a:lnTo>
                  <a:lnTo>
                    <a:pt x="210764" y="980696"/>
                  </a:lnTo>
                  <a:lnTo>
                    <a:pt x="246868" y="1006675"/>
                  </a:lnTo>
                  <a:lnTo>
                    <a:pt x="285080" y="1029725"/>
                  </a:lnTo>
                  <a:lnTo>
                    <a:pt x="325236" y="1049681"/>
                  </a:lnTo>
                  <a:lnTo>
                    <a:pt x="367171" y="1066377"/>
                  </a:lnTo>
                  <a:lnTo>
                    <a:pt x="410720" y="1079650"/>
                  </a:lnTo>
                  <a:lnTo>
                    <a:pt x="455718" y="1089334"/>
                  </a:lnTo>
                  <a:lnTo>
                    <a:pt x="502000" y="1095266"/>
                  </a:lnTo>
                  <a:lnTo>
                    <a:pt x="549401" y="1097280"/>
                  </a:lnTo>
                  <a:lnTo>
                    <a:pt x="596803" y="1095266"/>
                  </a:lnTo>
                  <a:lnTo>
                    <a:pt x="643085" y="1089334"/>
                  </a:lnTo>
                  <a:lnTo>
                    <a:pt x="688083" y="1079650"/>
                  </a:lnTo>
                  <a:lnTo>
                    <a:pt x="731632" y="1066377"/>
                  </a:lnTo>
                  <a:lnTo>
                    <a:pt x="773567" y="1049681"/>
                  </a:lnTo>
                  <a:lnTo>
                    <a:pt x="813723" y="1029725"/>
                  </a:lnTo>
                  <a:lnTo>
                    <a:pt x="851935" y="1006675"/>
                  </a:lnTo>
                  <a:lnTo>
                    <a:pt x="888039" y="980696"/>
                  </a:lnTo>
                  <a:lnTo>
                    <a:pt x="921868" y="951951"/>
                  </a:lnTo>
                  <a:lnTo>
                    <a:pt x="953259" y="920605"/>
                  </a:lnTo>
                  <a:lnTo>
                    <a:pt x="982045" y="886824"/>
                  </a:lnTo>
                  <a:lnTo>
                    <a:pt x="1008063" y="850771"/>
                  </a:lnTo>
                  <a:lnTo>
                    <a:pt x="1031147" y="812612"/>
                  </a:lnTo>
                  <a:lnTo>
                    <a:pt x="1051133" y="772511"/>
                  </a:lnTo>
                  <a:lnTo>
                    <a:pt x="1067854" y="730633"/>
                  </a:lnTo>
                  <a:lnTo>
                    <a:pt x="1081147" y="687142"/>
                  </a:lnTo>
                  <a:lnTo>
                    <a:pt x="1090846" y="642203"/>
                  </a:lnTo>
                  <a:lnTo>
                    <a:pt x="1096787" y="595981"/>
                  </a:lnTo>
                  <a:lnTo>
                    <a:pt x="1098804" y="548639"/>
                  </a:lnTo>
                  <a:lnTo>
                    <a:pt x="1096787" y="501298"/>
                  </a:lnTo>
                  <a:lnTo>
                    <a:pt x="1090846" y="455076"/>
                  </a:lnTo>
                  <a:lnTo>
                    <a:pt x="1081147" y="410137"/>
                  </a:lnTo>
                  <a:lnTo>
                    <a:pt x="1067854" y="366646"/>
                  </a:lnTo>
                  <a:lnTo>
                    <a:pt x="1051133" y="324768"/>
                  </a:lnTo>
                  <a:lnTo>
                    <a:pt x="1031147" y="284667"/>
                  </a:lnTo>
                  <a:lnTo>
                    <a:pt x="1008063" y="246508"/>
                  </a:lnTo>
                  <a:lnTo>
                    <a:pt x="982045" y="210455"/>
                  </a:lnTo>
                  <a:lnTo>
                    <a:pt x="953259" y="176674"/>
                  </a:lnTo>
                  <a:lnTo>
                    <a:pt x="921868" y="145328"/>
                  </a:lnTo>
                  <a:lnTo>
                    <a:pt x="888039" y="116583"/>
                  </a:lnTo>
                  <a:lnTo>
                    <a:pt x="851935" y="90604"/>
                  </a:lnTo>
                  <a:lnTo>
                    <a:pt x="813723" y="67554"/>
                  </a:lnTo>
                  <a:lnTo>
                    <a:pt x="773567" y="47598"/>
                  </a:lnTo>
                  <a:lnTo>
                    <a:pt x="731632" y="30902"/>
                  </a:lnTo>
                  <a:lnTo>
                    <a:pt x="688083" y="17629"/>
                  </a:lnTo>
                  <a:lnTo>
                    <a:pt x="643085" y="7945"/>
                  </a:lnTo>
                  <a:lnTo>
                    <a:pt x="596803" y="2013"/>
                  </a:lnTo>
                  <a:lnTo>
                    <a:pt x="549401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132428" y="3186925"/>
              <a:ext cx="389255" cy="520700"/>
            </a:xfrm>
            <a:custGeom>
              <a:avLst/>
              <a:gdLst/>
              <a:ahLst/>
              <a:cxnLst/>
              <a:rect l="l" t="t" r="r" b="b"/>
              <a:pathLst>
                <a:path w="389254" h="520700">
                  <a:moveTo>
                    <a:pt x="388936" y="227555"/>
                  </a:moveTo>
                  <a:lnTo>
                    <a:pt x="0" y="227555"/>
                  </a:lnTo>
                  <a:lnTo>
                    <a:pt x="0" y="520126"/>
                  </a:lnTo>
                  <a:lnTo>
                    <a:pt x="388936" y="520126"/>
                  </a:lnTo>
                  <a:lnTo>
                    <a:pt x="388936" y="487618"/>
                  </a:lnTo>
                  <a:lnTo>
                    <a:pt x="32411" y="487618"/>
                  </a:lnTo>
                  <a:lnTo>
                    <a:pt x="32411" y="260063"/>
                  </a:lnTo>
                  <a:lnTo>
                    <a:pt x="388936" y="260063"/>
                  </a:lnTo>
                  <a:lnTo>
                    <a:pt x="388936" y="227555"/>
                  </a:lnTo>
                  <a:close/>
                </a:path>
                <a:path w="389254" h="520700">
                  <a:moveTo>
                    <a:pt x="388936" y="260063"/>
                  </a:moveTo>
                  <a:lnTo>
                    <a:pt x="356525" y="260063"/>
                  </a:lnTo>
                  <a:lnTo>
                    <a:pt x="356525" y="487618"/>
                  </a:lnTo>
                  <a:lnTo>
                    <a:pt x="388936" y="487618"/>
                  </a:lnTo>
                  <a:lnTo>
                    <a:pt x="388936" y="260063"/>
                  </a:lnTo>
                  <a:close/>
                </a:path>
                <a:path w="389254" h="520700">
                  <a:moveTo>
                    <a:pt x="194468" y="0"/>
                  </a:moveTo>
                  <a:lnTo>
                    <a:pt x="155109" y="5851"/>
                  </a:lnTo>
                  <a:lnTo>
                    <a:pt x="111162" y="30308"/>
                  </a:lnTo>
                  <a:lnTo>
                    <a:pt x="80110" y="69332"/>
                  </a:lnTo>
                  <a:lnTo>
                    <a:pt x="67290" y="105969"/>
                  </a:lnTo>
                  <a:lnTo>
                    <a:pt x="64822" y="132572"/>
                  </a:lnTo>
                  <a:lnTo>
                    <a:pt x="64822" y="227555"/>
                  </a:lnTo>
                  <a:lnTo>
                    <a:pt x="97234" y="227555"/>
                  </a:lnTo>
                  <a:lnTo>
                    <a:pt x="97234" y="132572"/>
                  </a:lnTo>
                  <a:lnTo>
                    <a:pt x="97688" y="122446"/>
                  </a:lnTo>
                  <a:lnTo>
                    <a:pt x="99042" y="112637"/>
                  </a:lnTo>
                  <a:lnTo>
                    <a:pt x="99069" y="112444"/>
                  </a:lnTo>
                  <a:lnTo>
                    <a:pt x="101306" y="103144"/>
                  </a:lnTo>
                  <a:lnTo>
                    <a:pt x="101363" y="102905"/>
                  </a:lnTo>
                  <a:lnTo>
                    <a:pt x="104486" y="93969"/>
                  </a:lnTo>
                  <a:lnTo>
                    <a:pt x="104575" y="93714"/>
                  </a:lnTo>
                  <a:lnTo>
                    <a:pt x="108502" y="85206"/>
                  </a:lnTo>
                  <a:lnTo>
                    <a:pt x="139392" y="49714"/>
                  </a:lnTo>
                  <a:lnTo>
                    <a:pt x="174464" y="34475"/>
                  </a:lnTo>
                  <a:lnTo>
                    <a:pt x="183642" y="33094"/>
                  </a:lnTo>
                  <a:lnTo>
                    <a:pt x="182301" y="33094"/>
                  </a:lnTo>
                  <a:lnTo>
                    <a:pt x="194468" y="32507"/>
                  </a:lnTo>
                  <a:lnTo>
                    <a:pt x="280038" y="32507"/>
                  </a:lnTo>
                  <a:lnTo>
                    <a:pt x="277664" y="30308"/>
                  </a:lnTo>
                  <a:lnTo>
                    <a:pt x="233589" y="5851"/>
                  </a:lnTo>
                  <a:lnTo>
                    <a:pt x="208014" y="650"/>
                  </a:lnTo>
                  <a:lnTo>
                    <a:pt x="194468" y="0"/>
                  </a:lnTo>
                  <a:close/>
                </a:path>
                <a:path w="389254" h="520700">
                  <a:moveTo>
                    <a:pt x="280038" y="32507"/>
                  </a:moveTo>
                  <a:lnTo>
                    <a:pt x="194468" y="32507"/>
                  </a:lnTo>
                  <a:lnTo>
                    <a:pt x="204677" y="33094"/>
                  </a:lnTo>
                  <a:lnTo>
                    <a:pt x="214536" y="34603"/>
                  </a:lnTo>
                  <a:lnTo>
                    <a:pt x="250082" y="49714"/>
                  </a:lnTo>
                  <a:lnTo>
                    <a:pt x="280341" y="85206"/>
                  </a:lnTo>
                  <a:lnTo>
                    <a:pt x="284244" y="93714"/>
                  </a:lnTo>
                  <a:lnTo>
                    <a:pt x="284361" y="93969"/>
                  </a:lnTo>
                  <a:lnTo>
                    <a:pt x="291702" y="132572"/>
                  </a:lnTo>
                  <a:lnTo>
                    <a:pt x="291702" y="227555"/>
                  </a:lnTo>
                  <a:lnTo>
                    <a:pt x="324114" y="227555"/>
                  </a:lnTo>
                  <a:lnTo>
                    <a:pt x="324114" y="132572"/>
                  </a:lnTo>
                  <a:lnTo>
                    <a:pt x="323402" y="119064"/>
                  </a:lnTo>
                  <a:lnTo>
                    <a:pt x="321518" y="105969"/>
                  </a:lnTo>
                  <a:lnTo>
                    <a:pt x="318628" y="93969"/>
                  </a:lnTo>
                  <a:lnTo>
                    <a:pt x="318567" y="93714"/>
                  </a:lnTo>
                  <a:lnTo>
                    <a:pt x="302592" y="58412"/>
                  </a:lnTo>
                  <a:lnTo>
                    <a:pt x="286889" y="38857"/>
                  </a:lnTo>
                  <a:lnTo>
                    <a:pt x="280038" y="325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251708" y="4273042"/>
            <a:ext cx="1457960" cy="7264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501650" marR="5080" indent="-489584">
              <a:lnSpc>
                <a:spcPts val="2640"/>
              </a:lnSpc>
              <a:spcBef>
                <a:spcPts val="385"/>
              </a:spcBef>
            </a:pPr>
            <a:r>
              <a:rPr sz="2400" spc="-35" dirty="0">
                <a:latin typeface="Calibri"/>
                <a:cs typeface="Calibri"/>
              </a:rPr>
              <a:t>CANDIDATE </a:t>
            </a:r>
            <a:r>
              <a:rPr sz="2400" spc="-25" dirty="0">
                <a:latin typeface="Calibri"/>
                <a:cs typeface="Calibri"/>
              </a:rPr>
              <a:t>KEY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48147" y="4273042"/>
            <a:ext cx="1695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PRIMARY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KEY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76921" y="4273042"/>
            <a:ext cx="1671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FOREIGN</a:t>
            </a:r>
            <a:r>
              <a:rPr sz="2400" spc="-25" dirty="0">
                <a:latin typeface="Calibri"/>
                <a:cs typeface="Calibri"/>
              </a:rPr>
              <a:t> KEY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57766" y="4273042"/>
            <a:ext cx="1539875" cy="7264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541655" marR="5080" indent="-529590">
              <a:lnSpc>
                <a:spcPts val="2640"/>
              </a:lnSpc>
              <a:spcBef>
                <a:spcPts val="385"/>
              </a:spcBef>
            </a:pPr>
            <a:r>
              <a:rPr sz="2400" spc="-15" dirty="0">
                <a:latin typeface="Calibri"/>
                <a:cs typeface="Calibri"/>
              </a:rPr>
              <a:t>SECONDARY </a:t>
            </a:r>
            <a:r>
              <a:rPr sz="2400" spc="-25" dirty="0">
                <a:latin typeface="Calibri"/>
                <a:cs typeface="Calibri"/>
              </a:rPr>
              <a:t>KEY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48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4400" b="1" spc="235" dirty="0">
                <a:latin typeface="Cambria"/>
                <a:cs typeface="Cambria"/>
              </a:rPr>
              <a:t>Example:</a:t>
            </a:r>
            <a:endParaRPr sz="44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07719" y="1991867"/>
            <a:ext cx="10576560" cy="1191895"/>
            <a:chOff x="807719" y="1991867"/>
            <a:chExt cx="10576560" cy="1191895"/>
          </a:xfrm>
        </p:grpSpPr>
        <p:sp>
          <p:nvSpPr>
            <p:cNvPr id="4" name="object 4"/>
            <p:cNvSpPr/>
            <p:nvPr/>
          </p:nvSpPr>
          <p:spPr>
            <a:xfrm>
              <a:off x="807719" y="1991867"/>
              <a:ext cx="10576560" cy="1191895"/>
            </a:xfrm>
            <a:custGeom>
              <a:avLst/>
              <a:gdLst/>
              <a:ahLst/>
              <a:cxnLst/>
              <a:rect l="l" t="t" r="r" b="b"/>
              <a:pathLst>
                <a:path w="10576560" h="1191895">
                  <a:moveTo>
                    <a:pt x="10457434" y="0"/>
                  </a:moveTo>
                  <a:lnTo>
                    <a:pt x="119176" y="0"/>
                  </a:lnTo>
                  <a:lnTo>
                    <a:pt x="72785" y="9362"/>
                  </a:lnTo>
                  <a:lnTo>
                    <a:pt x="34904" y="34893"/>
                  </a:lnTo>
                  <a:lnTo>
                    <a:pt x="9364" y="72759"/>
                  </a:lnTo>
                  <a:lnTo>
                    <a:pt x="0" y="119126"/>
                  </a:lnTo>
                  <a:lnTo>
                    <a:pt x="0" y="1072642"/>
                  </a:lnTo>
                  <a:lnTo>
                    <a:pt x="9364" y="1119008"/>
                  </a:lnTo>
                  <a:lnTo>
                    <a:pt x="34904" y="1156874"/>
                  </a:lnTo>
                  <a:lnTo>
                    <a:pt x="72785" y="1182405"/>
                  </a:lnTo>
                  <a:lnTo>
                    <a:pt x="119176" y="1191768"/>
                  </a:lnTo>
                  <a:lnTo>
                    <a:pt x="10457434" y="1191768"/>
                  </a:lnTo>
                  <a:lnTo>
                    <a:pt x="10503800" y="1182405"/>
                  </a:lnTo>
                  <a:lnTo>
                    <a:pt x="10541666" y="1156874"/>
                  </a:lnTo>
                  <a:lnTo>
                    <a:pt x="10567197" y="1119008"/>
                  </a:lnTo>
                  <a:lnTo>
                    <a:pt x="10576560" y="1072642"/>
                  </a:lnTo>
                  <a:lnTo>
                    <a:pt x="10576560" y="119126"/>
                  </a:lnTo>
                  <a:lnTo>
                    <a:pt x="10567197" y="72759"/>
                  </a:lnTo>
                  <a:lnTo>
                    <a:pt x="10541666" y="34893"/>
                  </a:lnTo>
                  <a:lnTo>
                    <a:pt x="10503800" y="9362"/>
                  </a:lnTo>
                  <a:lnTo>
                    <a:pt x="1045743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68171" y="2302700"/>
              <a:ext cx="459105" cy="545465"/>
            </a:xfrm>
            <a:custGeom>
              <a:avLst/>
              <a:gdLst/>
              <a:ahLst/>
              <a:cxnLst/>
              <a:rect l="l" t="t" r="r" b="b"/>
              <a:pathLst>
                <a:path w="459105" h="545464">
                  <a:moveTo>
                    <a:pt x="166700" y="260667"/>
                  </a:moveTo>
                  <a:lnTo>
                    <a:pt x="164477" y="249631"/>
                  </a:lnTo>
                  <a:lnTo>
                    <a:pt x="158407" y="240614"/>
                  </a:lnTo>
                  <a:lnTo>
                    <a:pt x="149390" y="234530"/>
                  </a:lnTo>
                  <a:lnTo>
                    <a:pt x="138353" y="232308"/>
                  </a:lnTo>
                  <a:lnTo>
                    <a:pt x="127317" y="234530"/>
                  </a:lnTo>
                  <a:lnTo>
                    <a:pt x="118313" y="240614"/>
                  </a:lnTo>
                  <a:lnTo>
                    <a:pt x="112242" y="249631"/>
                  </a:lnTo>
                  <a:lnTo>
                    <a:pt x="110007" y="260667"/>
                  </a:lnTo>
                  <a:lnTo>
                    <a:pt x="112242" y="271703"/>
                  </a:lnTo>
                  <a:lnTo>
                    <a:pt x="118313" y="280720"/>
                  </a:lnTo>
                  <a:lnTo>
                    <a:pt x="127317" y="286804"/>
                  </a:lnTo>
                  <a:lnTo>
                    <a:pt x="138353" y="289026"/>
                  </a:lnTo>
                  <a:lnTo>
                    <a:pt x="149390" y="286804"/>
                  </a:lnTo>
                  <a:lnTo>
                    <a:pt x="158407" y="280720"/>
                  </a:lnTo>
                  <a:lnTo>
                    <a:pt x="164477" y="271703"/>
                  </a:lnTo>
                  <a:lnTo>
                    <a:pt x="166700" y="260667"/>
                  </a:lnTo>
                  <a:close/>
                </a:path>
                <a:path w="459105" h="545464">
                  <a:moveTo>
                    <a:pt x="251739" y="123583"/>
                  </a:moveTo>
                  <a:lnTo>
                    <a:pt x="249491" y="112598"/>
                  </a:lnTo>
                  <a:lnTo>
                    <a:pt x="243395" y="103581"/>
                  </a:lnTo>
                  <a:lnTo>
                    <a:pt x="234378" y="97472"/>
                  </a:lnTo>
                  <a:lnTo>
                    <a:pt x="223393" y="95224"/>
                  </a:lnTo>
                  <a:lnTo>
                    <a:pt x="212420" y="97472"/>
                  </a:lnTo>
                  <a:lnTo>
                    <a:pt x="203403" y="103581"/>
                  </a:lnTo>
                  <a:lnTo>
                    <a:pt x="197294" y="112598"/>
                  </a:lnTo>
                  <a:lnTo>
                    <a:pt x="195046" y="123583"/>
                  </a:lnTo>
                  <a:lnTo>
                    <a:pt x="197294" y="134569"/>
                  </a:lnTo>
                  <a:lnTo>
                    <a:pt x="203403" y="143586"/>
                  </a:lnTo>
                  <a:lnTo>
                    <a:pt x="212420" y="149694"/>
                  </a:lnTo>
                  <a:lnTo>
                    <a:pt x="223393" y="151942"/>
                  </a:lnTo>
                  <a:lnTo>
                    <a:pt x="234378" y="149694"/>
                  </a:lnTo>
                  <a:lnTo>
                    <a:pt x="243395" y="143586"/>
                  </a:lnTo>
                  <a:lnTo>
                    <a:pt x="249491" y="134569"/>
                  </a:lnTo>
                  <a:lnTo>
                    <a:pt x="251739" y="123583"/>
                  </a:lnTo>
                  <a:close/>
                </a:path>
                <a:path w="459105" h="545464">
                  <a:moveTo>
                    <a:pt x="458863" y="312750"/>
                  </a:moveTo>
                  <a:lnTo>
                    <a:pt x="452196" y="295109"/>
                  </a:lnTo>
                  <a:lnTo>
                    <a:pt x="405625" y="214071"/>
                  </a:lnTo>
                  <a:lnTo>
                    <a:pt x="405625" y="210693"/>
                  </a:lnTo>
                  <a:lnTo>
                    <a:pt x="404888" y="203263"/>
                  </a:lnTo>
                  <a:lnTo>
                    <a:pt x="403301" y="187058"/>
                  </a:lnTo>
                  <a:lnTo>
                    <a:pt x="400278" y="156286"/>
                  </a:lnTo>
                  <a:lnTo>
                    <a:pt x="381076" y="106108"/>
                  </a:lnTo>
                  <a:lnTo>
                    <a:pt x="349453" y="62814"/>
                  </a:lnTo>
                  <a:lnTo>
                    <a:pt x="349338" y="62649"/>
                  </a:lnTo>
                  <a:lnTo>
                    <a:pt x="344462" y="58750"/>
                  </a:lnTo>
                  <a:lnTo>
                    <a:pt x="324167" y="42545"/>
                  </a:lnTo>
                  <a:lnTo>
                    <a:pt x="306412" y="28371"/>
                  </a:lnTo>
                  <a:lnTo>
                    <a:pt x="303707" y="27241"/>
                  </a:lnTo>
                  <a:lnTo>
                    <a:pt x="303707" y="112776"/>
                  </a:lnTo>
                  <a:lnTo>
                    <a:pt x="303707" y="133032"/>
                  </a:lnTo>
                  <a:lnTo>
                    <a:pt x="286842" y="141135"/>
                  </a:lnTo>
                  <a:lnTo>
                    <a:pt x="285483" y="146545"/>
                  </a:lnTo>
                  <a:lnTo>
                    <a:pt x="280085" y="155994"/>
                  </a:lnTo>
                  <a:lnTo>
                    <a:pt x="286169" y="173558"/>
                  </a:lnTo>
                  <a:lnTo>
                    <a:pt x="272669" y="187058"/>
                  </a:lnTo>
                  <a:lnTo>
                    <a:pt x="255117" y="180987"/>
                  </a:lnTo>
                  <a:lnTo>
                    <a:pt x="250393" y="183680"/>
                  </a:lnTo>
                  <a:lnTo>
                    <a:pt x="245668" y="185712"/>
                  </a:lnTo>
                  <a:lnTo>
                    <a:pt x="240271" y="187058"/>
                  </a:lnTo>
                  <a:lnTo>
                    <a:pt x="232168" y="203263"/>
                  </a:lnTo>
                  <a:lnTo>
                    <a:pt x="219341" y="203263"/>
                  </a:lnTo>
                  <a:lnTo>
                    <a:pt x="219341" y="249859"/>
                  </a:lnTo>
                  <a:lnTo>
                    <a:pt x="218719" y="268770"/>
                  </a:lnTo>
                  <a:lnTo>
                    <a:pt x="218668" y="270116"/>
                  </a:lnTo>
                  <a:lnTo>
                    <a:pt x="201803" y="278218"/>
                  </a:lnTo>
                  <a:lnTo>
                    <a:pt x="200444" y="283629"/>
                  </a:lnTo>
                  <a:lnTo>
                    <a:pt x="198424" y="288353"/>
                  </a:lnTo>
                  <a:lnTo>
                    <a:pt x="195719" y="293077"/>
                  </a:lnTo>
                  <a:lnTo>
                    <a:pt x="201129" y="310642"/>
                  </a:lnTo>
                  <a:lnTo>
                    <a:pt x="187629" y="324142"/>
                  </a:lnTo>
                  <a:lnTo>
                    <a:pt x="170078" y="318071"/>
                  </a:lnTo>
                  <a:lnTo>
                    <a:pt x="165354" y="320763"/>
                  </a:lnTo>
                  <a:lnTo>
                    <a:pt x="160629" y="322795"/>
                  </a:lnTo>
                  <a:lnTo>
                    <a:pt x="155232" y="324142"/>
                  </a:lnTo>
                  <a:lnTo>
                    <a:pt x="147802" y="340347"/>
                  </a:lnTo>
                  <a:lnTo>
                    <a:pt x="128905" y="340347"/>
                  </a:lnTo>
                  <a:lnTo>
                    <a:pt x="120815" y="323469"/>
                  </a:lnTo>
                  <a:lnTo>
                    <a:pt x="118110" y="322795"/>
                  </a:lnTo>
                  <a:lnTo>
                    <a:pt x="115404" y="322122"/>
                  </a:lnTo>
                  <a:lnTo>
                    <a:pt x="110680" y="320090"/>
                  </a:lnTo>
                  <a:lnTo>
                    <a:pt x="105956" y="317385"/>
                  </a:lnTo>
                  <a:lnTo>
                    <a:pt x="88417" y="322795"/>
                  </a:lnTo>
                  <a:lnTo>
                    <a:pt x="74917" y="309283"/>
                  </a:lnTo>
                  <a:lnTo>
                    <a:pt x="80987" y="291731"/>
                  </a:lnTo>
                  <a:lnTo>
                    <a:pt x="78295" y="287007"/>
                  </a:lnTo>
                  <a:lnTo>
                    <a:pt x="76263" y="282282"/>
                  </a:lnTo>
                  <a:lnTo>
                    <a:pt x="74917" y="276872"/>
                  </a:lnTo>
                  <a:lnTo>
                    <a:pt x="58039" y="268770"/>
                  </a:lnTo>
                  <a:lnTo>
                    <a:pt x="58039" y="249859"/>
                  </a:lnTo>
                  <a:lnTo>
                    <a:pt x="74917" y="241757"/>
                  </a:lnTo>
                  <a:lnTo>
                    <a:pt x="76263" y="236359"/>
                  </a:lnTo>
                  <a:lnTo>
                    <a:pt x="78295" y="231635"/>
                  </a:lnTo>
                  <a:lnTo>
                    <a:pt x="80987" y="226898"/>
                  </a:lnTo>
                  <a:lnTo>
                    <a:pt x="74917" y="209346"/>
                  </a:lnTo>
                  <a:lnTo>
                    <a:pt x="88417" y="195834"/>
                  </a:lnTo>
                  <a:lnTo>
                    <a:pt x="105956" y="201917"/>
                  </a:lnTo>
                  <a:lnTo>
                    <a:pt x="110680" y="199212"/>
                  </a:lnTo>
                  <a:lnTo>
                    <a:pt x="115404" y="197192"/>
                  </a:lnTo>
                  <a:lnTo>
                    <a:pt x="120815" y="195834"/>
                  </a:lnTo>
                  <a:lnTo>
                    <a:pt x="128905" y="178955"/>
                  </a:lnTo>
                  <a:lnTo>
                    <a:pt x="148475" y="178955"/>
                  </a:lnTo>
                  <a:lnTo>
                    <a:pt x="156578" y="195834"/>
                  </a:lnTo>
                  <a:lnTo>
                    <a:pt x="161975" y="197192"/>
                  </a:lnTo>
                  <a:lnTo>
                    <a:pt x="166700" y="199212"/>
                  </a:lnTo>
                  <a:lnTo>
                    <a:pt x="171424" y="201917"/>
                  </a:lnTo>
                  <a:lnTo>
                    <a:pt x="188976" y="195834"/>
                  </a:lnTo>
                  <a:lnTo>
                    <a:pt x="202476" y="209346"/>
                  </a:lnTo>
                  <a:lnTo>
                    <a:pt x="196405" y="226898"/>
                  </a:lnTo>
                  <a:lnTo>
                    <a:pt x="199097" y="231635"/>
                  </a:lnTo>
                  <a:lnTo>
                    <a:pt x="201129" y="236359"/>
                  </a:lnTo>
                  <a:lnTo>
                    <a:pt x="202476" y="241757"/>
                  </a:lnTo>
                  <a:lnTo>
                    <a:pt x="219341" y="249859"/>
                  </a:lnTo>
                  <a:lnTo>
                    <a:pt x="219341" y="203263"/>
                  </a:lnTo>
                  <a:lnTo>
                    <a:pt x="213271" y="203263"/>
                  </a:lnTo>
                  <a:lnTo>
                    <a:pt x="209715" y="195834"/>
                  </a:lnTo>
                  <a:lnTo>
                    <a:pt x="205168" y="186385"/>
                  </a:lnTo>
                  <a:lnTo>
                    <a:pt x="199771" y="185039"/>
                  </a:lnTo>
                  <a:lnTo>
                    <a:pt x="195046" y="183007"/>
                  </a:lnTo>
                  <a:lnTo>
                    <a:pt x="190322" y="180301"/>
                  </a:lnTo>
                  <a:lnTo>
                    <a:pt x="172783" y="186385"/>
                  </a:lnTo>
                  <a:lnTo>
                    <a:pt x="165354" y="178955"/>
                  </a:lnTo>
                  <a:lnTo>
                    <a:pt x="159283" y="172885"/>
                  </a:lnTo>
                  <a:lnTo>
                    <a:pt x="165354" y="155321"/>
                  </a:lnTo>
                  <a:lnTo>
                    <a:pt x="162648" y="150596"/>
                  </a:lnTo>
                  <a:lnTo>
                    <a:pt x="160629" y="145872"/>
                  </a:lnTo>
                  <a:lnTo>
                    <a:pt x="159283" y="140462"/>
                  </a:lnTo>
                  <a:lnTo>
                    <a:pt x="142405" y="132359"/>
                  </a:lnTo>
                  <a:lnTo>
                    <a:pt x="142405" y="113449"/>
                  </a:lnTo>
                  <a:lnTo>
                    <a:pt x="159283" y="105346"/>
                  </a:lnTo>
                  <a:lnTo>
                    <a:pt x="160629" y="99949"/>
                  </a:lnTo>
                  <a:lnTo>
                    <a:pt x="162648" y="95224"/>
                  </a:lnTo>
                  <a:lnTo>
                    <a:pt x="165354" y="90500"/>
                  </a:lnTo>
                  <a:lnTo>
                    <a:pt x="159956" y="72936"/>
                  </a:lnTo>
                  <a:lnTo>
                    <a:pt x="173456" y="59436"/>
                  </a:lnTo>
                  <a:lnTo>
                    <a:pt x="190995" y="65506"/>
                  </a:lnTo>
                  <a:lnTo>
                    <a:pt x="195719" y="62814"/>
                  </a:lnTo>
                  <a:lnTo>
                    <a:pt x="200444" y="60782"/>
                  </a:lnTo>
                  <a:lnTo>
                    <a:pt x="205854" y="59436"/>
                  </a:lnTo>
                  <a:lnTo>
                    <a:pt x="213944" y="42545"/>
                  </a:lnTo>
                  <a:lnTo>
                    <a:pt x="232841" y="42545"/>
                  </a:lnTo>
                  <a:lnTo>
                    <a:pt x="240944" y="58750"/>
                  </a:lnTo>
                  <a:lnTo>
                    <a:pt x="246341" y="60109"/>
                  </a:lnTo>
                  <a:lnTo>
                    <a:pt x="251066" y="62128"/>
                  </a:lnTo>
                  <a:lnTo>
                    <a:pt x="255790" y="64833"/>
                  </a:lnTo>
                  <a:lnTo>
                    <a:pt x="273342" y="58750"/>
                  </a:lnTo>
                  <a:lnTo>
                    <a:pt x="286842" y="72263"/>
                  </a:lnTo>
                  <a:lnTo>
                    <a:pt x="280758" y="89814"/>
                  </a:lnTo>
                  <a:lnTo>
                    <a:pt x="283464" y="94551"/>
                  </a:lnTo>
                  <a:lnTo>
                    <a:pt x="285483" y="99275"/>
                  </a:lnTo>
                  <a:lnTo>
                    <a:pt x="286842" y="104673"/>
                  </a:lnTo>
                  <a:lnTo>
                    <a:pt x="303707" y="112776"/>
                  </a:lnTo>
                  <a:lnTo>
                    <a:pt x="303707" y="27241"/>
                  </a:lnTo>
                  <a:lnTo>
                    <a:pt x="256006" y="7099"/>
                  </a:lnTo>
                  <a:lnTo>
                    <a:pt x="202806" y="0"/>
                  </a:lnTo>
                  <a:lnTo>
                    <a:pt x="149618" y="7099"/>
                  </a:lnTo>
                  <a:lnTo>
                    <a:pt x="99212" y="28371"/>
                  </a:lnTo>
                  <a:lnTo>
                    <a:pt x="56286" y="62369"/>
                  </a:lnTo>
                  <a:lnTo>
                    <a:pt x="24549" y="105854"/>
                  </a:lnTo>
                  <a:lnTo>
                    <a:pt x="5422" y="155994"/>
                  </a:lnTo>
                  <a:lnTo>
                    <a:pt x="0" y="210693"/>
                  </a:lnTo>
                  <a:lnTo>
                    <a:pt x="5321" y="257784"/>
                  </a:lnTo>
                  <a:lnTo>
                    <a:pt x="20840" y="301777"/>
                  </a:lnTo>
                  <a:lnTo>
                    <a:pt x="45847" y="341083"/>
                  </a:lnTo>
                  <a:lnTo>
                    <a:pt x="79641" y="374116"/>
                  </a:lnTo>
                  <a:lnTo>
                    <a:pt x="79641" y="544969"/>
                  </a:lnTo>
                  <a:lnTo>
                    <a:pt x="292912" y="544969"/>
                  </a:lnTo>
                  <a:lnTo>
                    <a:pt x="292912" y="463931"/>
                  </a:lnTo>
                  <a:lnTo>
                    <a:pt x="325983" y="463931"/>
                  </a:lnTo>
                  <a:lnTo>
                    <a:pt x="370586" y="450253"/>
                  </a:lnTo>
                  <a:lnTo>
                    <a:pt x="399719" y="413867"/>
                  </a:lnTo>
                  <a:lnTo>
                    <a:pt x="405625" y="382892"/>
                  </a:lnTo>
                  <a:lnTo>
                    <a:pt x="405625" y="342379"/>
                  </a:lnTo>
                  <a:lnTo>
                    <a:pt x="435317" y="342379"/>
                  </a:lnTo>
                  <a:lnTo>
                    <a:pt x="440601" y="340347"/>
                  </a:lnTo>
                  <a:lnTo>
                    <a:pt x="447636" y="337654"/>
                  </a:lnTo>
                  <a:lnTo>
                    <a:pt x="456412" y="327355"/>
                  </a:lnTo>
                  <a:lnTo>
                    <a:pt x="456946" y="324142"/>
                  </a:lnTo>
                  <a:lnTo>
                    <a:pt x="458863" y="3127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299207" y="2366517"/>
            <a:ext cx="245808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Consider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relation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07719" y="3482340"/>
            <a:ext cx="10576560" cy="1193800"/>
            <a:chOff x="807719" y="3482340"/>
            <a:chExt cx="10576560" cy="1193800"/>
          </a:xfrm>
        </p:grpSpPr>
        <p:sp>
          <p:nvSpPr>
            <p:cNvPr id="8" name="object 8"/>
            <p:cNvSpPr/>
            <p:nvPr/>
          </p:nvSpPr>
          <p:spPr>
            <a:xfrm>
              <a:off x="807719" y="3482340"/>
              <a:ext cx="10576560" cy="1193800"/>
            </a:xfrm>
            <a:custGeom>
              <a:avLst/>
              <a:gdLst/>
              <a:ahLst/>
              <a:cxnLst/>
              <a:rect l="l" t="t" r="r" b="b"/>
              <a:pathLst>
                <a:path w="10576560" h="1193800">
                  <a:moveTo>
                    <a:pt x="10457180" y="0"/>
                  </a:moveTo>
                  <a:lnTo>
                    <a:pt x="119329" y="0"/>
                  </a:lnTo>
                  <a:lnTo>
                    <a:pt x="72882" y="9384"/>
                  </a:lnTo>
                  <a:lnTo>
                    <a:pt x="34951" y="34972"/>
                  </a:lnTo>
                  <a:lnTo>
                    <a:pt x="9377" y="72919"/>
                  </a:lnTo>
                  <a:lnTo>
                    <a:pt x="0" y="119380"/>
                  </a:lnTo>
                  <a:lnTo>
                    <a:pt x="0" y="1073912"/>
                  </a:lnTo>
                  <a:lnTo>
                    <a:pt x="9377" y="1120372"/>
                  </a:lnTo>
                  <a:lnTo>
                    <a:pt x="34951" y="1158319"/>
                  </a:lnTo>
                  <a:lnTo>
                    <a:pt x="72882" y="1183907"/>
                  </a:lnTo>
                  <a:lnTo>
                    <a:pt x="119329" y="1193292"/>
                  </a:lnTo>
                  <a:lnTo>
                    <a:pt x="10457180" y="1193292"/>
                  </a:lnTo>
                  <a:lnTo>
                    <a:pt x="10503640" y="1183907"/>
                  </a:lnTo>
                  <a:lnTo>
                    <a:pt x="10541587" y="1158319"/>
                  </a:lnTo>
                  <a:lnTo>
                    <a:pt x="10567175" y="1120372"/>
                  </a:lnTo>
                  <a:lnTo>
                    <a:pt x="10576560" y="1073912"/>
                  </a:lnTo>
                  <a:lnTo>
                    <a:pt x="10576560" y="119380"/>
                  </a:lnTo>
                  <a:lnTo>
                    <a:pt x="10567175" y="72919"/>
                  </a:lnTo>
                  <a:lnTo>
                    <a:pt x="10541587" y="34972"/>
                  </a:lnTo>
                  <a:lnTo>
                    <a:pt x="10503640" y="9384"/>
                  </a:lnTo>
                  <a:lnTo>
                    <a:pt x="1045718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9662" y="3850132"/>
              <a:ext cx="215973" cy="21659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81671" y="4066794"/>
              <a:ext cx="433070" cy="300990"/>
            </a:xfrm>
            <a:custGeom>
              <a:avLst/>
              <a:gdLst/>
              <a:ahLst/>
              <a:cxnLst/>
              <a:rect l="l" t="t" r="r" b="b"/>
              <a:pathLst>
                <a:path w="433069" h="300989">
                  <a:moveTo>
                    <a:pt x="412978" y="275209"/>
                  </a:moveTo>
                  <a:lnTo>
                    <a:pt x="361556" y="275209"/>
                  </a:lnTo>
                  <a:lnTo>
                    <a:pt x="361556" y="232981"/>
                  </a:lnTo>
                  <a:lnTo>
                    <a:pt x="361556" y="228244"/>
                  </a:lnTo>
                  <a:lnTo>
                    <a:pt x="361556" y="152298"/>
                  </a:lnTo>
                  <a:lnTo>
                    <a:pt x="361556" y="151142"/>
                  </a:lnTo>
                  <a:lnTo>
                    <a:pt x="361556" y="97053"/>
                  </a:lnTo>
                  <a:lnTo>
                    <a:pt x="353885" y="89344"/>
                  </a:lnTo>
                  <a:lnTo>
                    <a:pt x="298043" y="89344"/>
                  </a:lnTo>
                  <a:lnTo>
                    <a:pt x="298043" y="190271"/>
                  </a:lnTo>
                  <a:lnTo>
                    <a:pt x="260172" y="228244"/>
                  </a:lnTo>
                  <a:lnTo>
                    <a:pt x="250659" y="218694"/>
                  </a:lnTo>
                  <a:lnTo>
                    <a:pt x="278942" y="190271"/>
                  </a:lnTo>
                  <a:lnTo>
                    <a:pt x="250659" y="161836"/>
                  </a:lnTo>
                  <a:lnTo>
                    <a:pt x="260172" y="152298"/>
                  </a:lnTo>
                  <a:lnTo>
                    <a:pt x="298043" y="190271"/>
                  </a:lnTo>
                  <a:lnTo>
                    <a:pt x="298043" y="89344"/>
                  </a:lnTo>
                  <a:lnTo>
                    <a:pt x="237769" y="89344"/>
                  </a:lnTo>
                  <a:lnTo>
                    <a:pt x="237769" y="156362"/>
                  </a:lnTo>
                  <a:lnTo>
                    <a:pt x="206184" y="232981"/>
                  </a:lnTo>
                  <a:lnTo>
                    <a:pt x="194830" y="228244"/>
                  </a:lnTo>
                  <a:lnTo>
                    <a:pt x="193700" y="227761"/>
                  </a:lnTo>
                  <a:lnTo>
                    <a:pt x="224878" y="152298"/>
                  </a:lnTo>
                  <a:lnTo>
                    <a:pt x="225348" y="151142"/>
                  </a:lnTo>
                  <a:lnTo>
                    <a:pt x="237769" y="156362"/>
                  </a:lnTo>
                  <a:lnTo>
                    <a:pt x="237769" y="89344"/>
                  </a:lnTo>
                  <a:lnTo>
                    <a:pt x="181013" y="89344"/>
                  </a:lnTo>
                  <a:lnTo>
                    <a:pt x="181013" y="161836"/>
                  </a:lnTo>
                  <a:lnTo>
                    <a:pt x="152730" y="190271"/>
                  </a:lnTo>
                  <a:lnTo>
                    <a:pt x="181013" y="218694"/>
                  </a:lnTo>
                  <a:lnTo>
                    <a:pt x="171488" y="228244"/>
                  </a:lnTo>
                  <a:lnTo>
                    <a:pt x="133629" y="190271"/>
                  </a:lnTo>
                  <a:lnTo>
                    <a:pt x="171488" y="152298"/>
                  </a:lnTo>
                  <a:lnTo>
                    <a:pt x="181013" y="161836"/>
                  </a:lnTo>
                  <a:lnTo>
                    <a:pt x="181013" y="89344"/>
                  </a:lnTo>
                  <a:lnTo>
                    <a:pt x="78270" y="89344"/>
                  </a:lnTo>
                  <a:lnTo>
                    <a:pt x="70599" y="97053"/>
                  </a:lnTo>
                  <a:lnTo>
                    <a:pt x="70599" y="275209"/>
                  </a:lnTo>
                  <a:lnTo>
                    <a:pt x="18961" y="275209"/>
                  </a:lnTo>
                  <a:lnTo>
                    <a:pt x="18999" y="293293"/>
                  </a:lnTo>
                  <a:lnTo>
                    <a:pt x="26657" y="300964"/>
                  </a:lnTo>
                  <a:lnTo>
                    <a:pt x="405295" y="300964"/>
                  </a:lnTo>
                  <a:lnTo>
                    <a:pt x="412940" y="293293"/>
                  </a:lnTo>
                  <a:lnTo>
                    <a:pt x="412978" y="275209"/>
                  </a:lnTo>
                  <a:close/>
                </a:path>
                <a:path w="433069" h="300989">
                  <a:moveTo>
                    <a:pt x="432549" y="208051"/>
                  </a:moveTo>
                  <a:lnTo>
                    <a:pt x="411695" y="80556"/>
                  </a:lnTo>
                  <a:lnTo>
                    <a:pt x="392125" y="44272"/>
                  </a:lnTo>
                  <a:lnTo>
                    <a:pt x="346494" y="18859"/>
                  </a:lnTo>
                  <a:lnTo>
                    <a:pt x="285013" y="0"/>
                  </a:lnTo>
                  <a:lnTo>
                    <a:pt x="251777" y="15138"/>
                  </a:lnTo>
                  <a:lnTo>
                    <a:pt x="216344" y="20180"/>
                  </a:lnTo>
                  <a:lnTo>
                    <a:pt x="180898" y="15138"/>
                  </a:lnTo>
                  <a:lnTo>
                    <a:pt x="147675" y="0"/>
                  </a:lnTo>
                  <a:lnTo>
                    <a:pt x="135521" y="2235"/>
                  </a:lnTo>
                  <a:lnTo>
                    <a:pt x="85852" y="19100"/>
                  </a:lnTo>
                  <a:lnTo>
                    <a:pt x="39814" y="44272"/>
                  </a:lnTo>
                  <a:lnTo>
                    <a:pt x="20243" y="80556"/>
                  </a:lnTo>
                  <a:lnTo>
                    <a:pt x="0" y="196900"/>
                  </a:lnTo>
                  <a:lnTo>
                    <a:pt x="50" y="204190"/>
                  </a:lnTo>
                  <a:lnTo>
                    <a:pt x="1943" y="211112"/>
                  </a:lnTo>
                  <a:lnTo>
                    <a:pt x="5524" y="217322"/>
                  </a:lnTo>
                  <a:lnTo>
                    <a:pt x="10655" y="222491"/>
                  </a:lnTo>
                  <a:lnTo>
                    <a:pt x="56896" y="253085"/>
                  </a:lnTo>
                  <a:lnTo>
                    <a:pt x="56896" y="106540"/>
                  </a:lnTo>
                  <a:lnTo>
                    <a:pt x="59296" y="94576"/>
                  </a:lnTo>
                  <a:lnTo>
                    <a:pt x="65862" y="84810"/>
                  </a:lnTo>
                  <a:lnTo>
                    <a:pt x="75603" y="78232"/>
                  </a:lnTo>
                  <a:lnTo>
                    <a:pt x="87731" y="75819"/>
                  </a:lnTo>
                  <a:lnTo>
                    <a:pt x="344208" y="75819"/>
                  </a:lnTo>
                  <a:lnTo>
                    <a:pt x="356133" y="78232"/>
                  </a:lnTo>
                  <a:lnTo>
                    <a:pt x="365874" y="84810"/>
                  </a:lnTo>
                  <a:lnTo>
                    <a:pt x="372440" y="94576"/>
                  </a:lnTo>
                  <a:lnTo>
                    <a:pt x="374840" y="106540"/>
                  </a:lnTo>
                  <a:lnTo>
                    <a:pt x="374840" y="249351"/>
                  </a:lnTo>
                  <a:lnTo>
                    <a:pt x="429348" y="214782"/>
                  </a:lnTo>
                  <a:lnTo>
                    <a:pt x="432549" y="208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299207" y="3857320"/>
            <a:ext cx="870585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Student(Gr_no,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Roll_no,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Fname,</a:t>
            </a:r>
            <a:r>
              <a:rPr sz="25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Lname,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DOB,</a:t>
            </a:r>
            <a:r>
              <a:rPr sz="25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Phone,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Address),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07719" y="4972811"/>
            <a:ext cx="10576560" cy="1193800"/>
            <a:chOff x="807719" y="4972811"/>
            <a:chExt cx="10576560" cy="1193800"/>
          </a:xfrm>
        </p:grpSpPr>
        <p:sp>
          <p:nvSpPr>
            <p:cNvPr id="13" name="object 13"/>
            <p:cNvSpPr/>
            <p:nvPr/>
          </p:nvSpPr>
          <p:spPr>
            <a:xfrm>
              <a:off x="807719" y="4972811"/>
              <a:ext cx="10576560" cy="1193800"/>
            </a:xfrm>
            <a:custGeom>
              <a:avLst/>
              <a:gdLst/>
              <a:ahLst/>
              <a:cxnLst/>
              <a:rect l="l" t="t" r="r" b="b"/>
              <a:pathLst>
                <a:path w="10576560" h="1193800">
                  <a:moveTo>
                    <a:pt x="10457180" y="0"/>
                  </a:moveTo>
                  <a:lnTo>
                    <a:pt x="119329" y="0"/>
                  </a:lnTo>
                  <a:lnTo>
                    <a:pt x="72882" y="9384"/>
                  </a:lnTo>
                  <a:lnTo>
                    <a:pt x="34951" y="34972"/>
                  </a:lnTo>
                  <a:lnTo>
                    <a:pt x="9377" y="72919"/>
                  </a:lnTo>
                  <a:lnTo>
                    <a:pt x="0" y="119380"/>
                  </a:lnTo>
                  <a:lnTo>
                    <a:pt x="0" y="1073962"/>
                  </a:lnTo>
                  <a:lnTo>
                    <a:pt x="9377" y="1120409"/>
                  </a:lnTo>
                  <a:lnTo>
                    <a:pt x="34951" y="1158340"/>
                  </a:lnTo>
                  <a:lnTo>
                    <a:pt x="72882" y="1183914"/>
                  </a:lnTo>
                  <a:lnTo>
                    <a:pt x="119329" y="1193292"/>
                  </a:lnTo>
                  <a:lnTo>
                    <a:pt x="10457180" y="1193292"/>
                  </a:lnTo>
                  <a:lnTo>
                    <a:pt x="10503640" y="1183914"/>
                  </a:lnTo>
                  <a:lnTo>
                    <a:pt x="10541587" y="1158340"/>
                  </a:lnTo>
                  <a:lnTo>
                    <a:pt x="10567175" y="1120409"/>
                  </a:lnTo>
                  <a:lnTo>
                    <a:pt x="10576560" y="1073962"/>
                  </a:lnTo>
                  <a:lnTo>
                    <a:pt x="10576560" y="119380"/>
                  </a:lnTo>
                  <a:lnTo>
                    <a:pt x="10567175" y="72919"/>
                  </a:lnTo>
                  <a:lnTo>
                    <a:pt x="10541587" y="34972"/>
                  </a:lnTo>
                  <a:lnTo>
                    <a:pt x="10503640" y="9384"/>
                  </a:lnTo>
                  <a:lnTo>
                    <a:pt x="1045718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41171" y="5313540"/>
              <a:ext cx="513080" cy="514984"/>
            </a:xfrm>
            <a:custGeom>
              <a:avLst/>
              <a:gdLst/>
              <a:ahLst/>
              <a:cxnLst/>
              <a:rect l="l" t="t" r="r" b="b"/>
              <a:pathLst>
                <a:path w="513080" h="514985">
                  <a:moveTo>
                    <a:pt x="47244" y="379031"/>
                  </a:moveTo>
                  <a:lnTo>
                    <a:pt x="0" y="379031"/>
                  </a:lnTo>
                  <a:lnTo>
                    <a:pt x="0" y="406107"/>
                  </a:lnTo>
                  <a:lnTo>
                    <a:pt x="47244" y="406107"/>
                  </a:lnTo>
                  <a:lnTo>
                    <a:pt x="47244" y="379031"/>
                  </a:lnTo>
                  <a:close/>
                </a:path>
                <a:path w="513080" h="514985">
                  <a:moveTo>
                    <a:pt x="47244" y="324891"/>
                  </a:moveTo>
                  <a:lnTo>
                    <a:pt x="0" y="324891"/>
                  </a:lnTo>
                  <a:lnTo>
                    <a:pt x="0" y="351955"/>
                  </a:lnTo>
                  <a:lnTo>
                    <a:pt x="47244" y="351955"/>
                  </a:lnTo>
                  <a:lnTo>
                    <a:pt x="47244" y="324891"/>
                  </a:lnTo>
                  <a:close/>
                </a:path>
                <a:path w="513080" h="514985">
                  <a:moveTo>
                    <a:pt x="47244" y="270738"/>
                  </a:moveTo>
                  <a:lnTo>
                    <a:pt x="0" y="270738"/>
                  </a:lnTo>
                  <a:lnTo>
                    <a:pt x="0" y="297815"/>
                  </a:lnTo>
                  <a:lnTo>
                    <a:pt x="47244" y="297815"/>
                  </a:lnTo>
                  <a:lnTo>
                    <a:pt x="47244" y="270738"/>
                  </a:lnTo>
                  <a:close/>
                </a:path>
                <a:path w="513080" h="514985">
                  <a:moveTo>
                    <a:pt x="47244" y="216585"/>
                  </a:moveTo>
                  <a:lnTo>
                    <a:pt x="0" y="216585"/>
                  </a:lnTo>
                  <a:lnTo>
                    <a:pt x="0" y="243662"/>
                  </a:lnTo>
                  <a:lnTo>
                    <a:pt x="47244" y="243662"/>
                  </a:lnTo>
                  <a:lnTo>
                    <a:pt x="47244" y="216585"/>
                  </a:lnTo>
                  <a:close/>
                </a:path>
                <a:path w="513080" h="514985">
                  <a:moveTo>
                    <a:pt x="47244" y="162445"/>
                  </a:moveTo>
                  <a:lnTo>
                    <a:pt x="0" y="162445"/>
                  </a:lnTo>
                  <a:lnTo>
                    <a:pt x="0" y="189509"/>
                  </a:lnTo>
                  <a:lnTo>
                    <a:pt x="47244" y="189509"/>
                  </a:lnTo>
                  <a:lnTo>
                    <a:pt x="47244" y="162445"/>
                  </a:lnTo>
                  <a:close/>
                </a:path>
                <a:path w="513080" h="514985">
                  <a:moveTo>
                    <a:pt x="47244" y="108292"/>
                  </a:moveTo>
                  <a:lnTo>
                    <a:pt x="0" y="108292"/>
                  </a:lnTo>
                  <a:lnTo>
                    <a:pt x="0" y="135369"/>
                  </a:lnTo>
                  <a:lnTo>
                    <a:pt x="47244" y="135369"/>
                  </a:lnTo>
                  <a:lnTo>
                    <a:pt x="47244" y="108292"/>
                  </a:lnTo>
                  <a:close/>
                </a:path>
                <a:path w="513080" h="514985">
                  <a:moveTo>
                    <a:pt x="134988" y="467029"/>
                  </a:moveTo>
                  <a:lnTo>
                    <a:pt x="107988" y="467029"/>
                  </a:lnTo>
                  <a:lnTo>
                    <a:pt x="107988" y="514400"/>
                  </a:lnTo>
                  <a:lnTo>
                    <a:pt x="134988" y="514400"/>
                  </a:lnTo>
                  <a:lnTo>
                    <a:pt x="134988" y="467029"/>
                  </a:lnTo>
                  <a:close/>
                </a:path>
                <a:path w="513080" h="514985">
                  <a:moveTo>
                    <a:pt x="134988" y="0"/>
                  </a:moveTo>
                  <a:lnTo>
                    <a:pt x="107988" y="0"/>
                  </a:lnTo>
                  <a:lnTo>
                    <a:pt x="107988" y="47371"/>
                  </a:lnTo>
                  <a:lnTo>
                    <a:pt x="134988" y="47371"/>
                  </a:lnTo>
                  <a:lnTo>
                    <a:pt x="134988" y="0"/>
                  </a:lnTo>
                  <a:close/>
                </a:path>
                <a:path w="513080" h="514985">
                  <a:moveTo>
                    <a:pt x="188976" y="467029"/>
                  </a:moveTo>
                  <a:lnTo>
                    <a:pt x="161988" y="467029"/>
                  </a:lnTo>
                  <a:lnTo>
                    <a:pt x="161988" y="514400"/>
                  </a:lnTo>
                  <a:lnTo>
                    <a:pt x="188976" y="514400"/>
                  </a:lnTo>
                  <a:lnTo>
                    <a:pt x="188976" y="467029"/>
                  </a:lnTo>
                  <a:close/>
                </a:path>
                <a:path w="513080" h="514985">
                  <a:moveTo>
                    <a:pt x="188976" y="0"/>
                  </a:moveTo>
                  <a:lnTo>
                    <a:pt x="161988" y="0"/>
                  </a:lnTo>
                  <a:lnTo>
                    <a:pt x="161988" y="47371"/>
                  </a:lnTo>
                  <a:lnTo>
                    <a:pt x="188976" y="47371"/>
                  </a:lnTo>
                  <a:lnTo>
                    <a:pt x="188976" y="0"/>
                  </a:lnTo>
                  <a:close/>
                </a:path>
                <a:path w="513080" h="514985">
                  <a:moveTo>
                    <a:pt x="242976" y="467029"/>
                  </a:moveTo>
                  <a:lnTo>
                    <a:pt x="215976" y="467029"/>
                  </a:lnTo>
                  <a:lnTo>
                    <a:pt x="215976" y="514400"/>
                  </a:lnTo>
                  <a:lnTo>
                    <a:pt x="242976" y="514400"/>
                  </a:lnTo>
                  <a:lnTo>
                    <a:pt x="242976" y="467029"/>
                  </a:lnTo>
                  <a:close/>
                </a:path>
                <a:path w="513080" h="514985">
                  <a:moveTo>
                    <a:pt x="242976" y="0"/>
                  </a:moveTo>
                  <a:lnTo>
                    <a:pt x="215976" y="0"/>
                  </a:lnTo>
                  <a:lnTo>
                    <a:pt x="215976" y="47371"/>
                  </a:lnTo>
                  <a:lnTo>
                    <a:pt x="242976" y="47371"/>
                  </a:lnTo>
                  <a:lnTo>
                    <a:pt x="242976" y="0"/>
                  </a:lnTo>
                  <a:close/>
                </a:path>
                <a:path w="513080" h="514985">
                  <a:moveTo>
                    <a:pt x="296964" y="467029"/>
                  </a:moveTo>
                  <a:lnTo>
                    <a:pt x="269963" y="467029"/>
                  </a:lnTo>
                  <a:lnTo>
                    <a:pt x="269963" y="514400"/>
                  </a:lnTo>
                  <a:lnTo>
                    <a:pt x="296964" y="514400"/>
                  </a:lnTo>
                  <a:lnTo>
                    <a:pt x="296964" y="467029"/>
                  </a:lnTo>
                  <a:close/>
                </a:path>
                <a:path w="513080" h="514985">
                  <a:moveTo>
                    <a:pt x="296964" y="0"/>
                  </a:moveTo>
                  <a:lnTo>
                    <a:pt x="269963" y="0"/>
                  </a:lnTo>
                  <a:lnTo>
                    <a:pt x="269963" y="47371"/>
                  </a:lnTo>
                  <a:lnTo>
                    <a:pt x="296964" y="47371"/>
                  </a:lnTo>
                  <a:lnTo>
                    <a:pt x="296964" y="0"/>
                  </a:lnTo>
                  <a:close/>
                </a:path>
                <a:path w="513080" h="514985">
                  <a:moveTo>
                    <a:pt x="350964" y="467029"/>
                  </a:moveTo>
                  <a:lnTo>
                    <a:pt x="323964" y="467029"/>
                  </a:lnTo>
                  <a:lnTo>
                    <a:pt x="323964" y="514400"/>
                  </a:lnTo>
                  <a:lnTo>
                    <a:pt x="350964" y="514400"/>
                  </a:lnTo>
                  <a:lnTo>
                    <a:pt x="350964" y="467029"/>
                  </a:lnTo>
                  <a:close/>
                </a:path>
                <a:path w="513080" h="514985">
                  <a:moveTo>
                    <a:pt x="350964" y="0"/>
                  </a:moveTo>
                  <a:lnTo>
                    <a:pt x="323964" y="0"/>
                  </a:lnTo>
                  <a:lnTo>
                    <a:pt x="323964" y="47371"/>
                  </a:lnTo>
                  <a:lnTo>
                    <a:pt x="350964" y="47371"/>
                  </a:lnTo>
                  <a:lnTo>
                    <a:pt x="350964" y="0"/>
                  </a:lnTo>
                  <a:close/>
                </a:path>
                <a:path w="513080" h="514985">
                  <a:moveTo>
                    <a:pt x="404952" y="467029"/>
                  </a:moveTo>
                  <a:lnTo>
                    <a:pt x="377952" y="467029"/>
                  </a:lnTo>
                  <a:lnTo>
                    <a:pt x="377952" y="514400"/>
                  </a:lnTo>
                  <a:lnTo>
                    <a:pt x="404952" y="514400"/>
                  </a:lnTo>
                  <a:lnTo>
                    <a:pt x="404952" y="467029"/>
                  </a:lnTo>
                  <a:close/>
                </a:path>
                <a:path w="513080" h="514985">
                  <a:moveTo>
                    <a:pt x="404952" y="0"/>
                  </a:moveTo>
                  <a:lnTo>
                    <a:pt x="377952" y="0"/>
                  </a:lnTo>
                  <a:lnTo>
                    <a:pt x="377952" y="47371"/>
                  </a:lnTo>
                  <a:lnTo>
                    <a:pt x="404952" y="47371"/>
                  </a:lnTo>
                  <a:lnTo>
                    <a:pt x="404952" y="0"/>
                  </a:lnTo>
                  <a:close/>
                </a:path>
                <a:path w="513080" h="514985">
                  <a:moveTo>
                    <a:pt x="438696" y="101523"/>
                  </a:moveTo>
                  <a:lnTo>
                    <a:pt x="436575" y="90982"/>
                  </a:lnTo>
                  <a:lnTo>
                    <a:pt x="430796" y="82384"/>
                  </a:lnTo>
                  <a:lnTo>
                    <a:pt x="422211" y="76581"/>
                  </a:lnTo>
                  <a:lnTo>
                    <a:pt x="411708" y="74447"/>
                  </a:lnTo>
                  <a:lnTo>
                    <a:pt x="371208" y="74447"/>
                  </a:lnTo>
                  <a:lnTo>
                    <a:pt x="371208" y="142138"/>
                  </a:lnTo>
                  <a:lnTo>
                    <a:pt x="371208" y="372262"/>
                  </a:lnTo>
                  <a:lnTo>
                    <a:pt x="141732" y="372262"/>
                  </a:lnTo>
                  <a:lnTo>
                    <a:pt x="141732" y="142138"/>
                  </a:lnTo>
                  <a:lnTo>
                    <a:pt x="371208" y="142138"/>
                  </a:lnTo>
                  <a:lnTo>
                    <a:pt x="371208" y="74447"/>
                  </a:lnTo>
                  <a:lnTo>
                    <a:pt x="101244" y="74447"/>
                  </a:lnTo>
                  <a:lnTo>
                    <a:pt x="90728" y="76581"/>
                  </a:lnTo>
                  <a:lnTo>
                    <a:pt x="82156" y="82384"/>
                  </a:lnTo>
                  <a:lnTo>
                    <a:pt x="76365" y="90982"/>
                  </a:lnTo>
                  <a:lnTo>
                    <a:pt x="74244" y="101523"/>
                  </a:lnTo>
                  <a:lnTo>
                    <a:pt x="74244" y="412877"/>
                  </a:lnTo>
                  <a:lnTo>
                    <a:pt x="76365" y="423418"/>
                  </a:lnTo>
                  <a:lnTo>
                    <a:pt x="82156" y="432015"/>
                  </a:lnTo>
                  <a:lnTo>
                    <a:pt x="90728" y="437819"/>
                  </a:lnTo>
                  <a:lnTo>
                    <a:pt x="101244" y="439953"/>
                  </a:lnTo>
                  <a:lnTo>
                    <a:pt x="411708" y="439953"/>
                  </a:lnTo>
                  <a:lnTo>
                    <a:pt x="422211" y="437819"/>
                  </a:lnTo>
                  <a:lnTo>
                    <a:pt x="430796" y="432015"/>
                  </a:lnTo>
                  <a:lnTo>
                    <a:pt x="436575" y="423418"/>
                  </a:lnTo>
                  <a:lnTo>
                    <a:pt x="438696" y="412877"/>
                  </a:lnTo>
                  <a:lnTo>
                    <a:pt x="438696" y="372262"/>
                  </a:lnTo>
                  <a:lnTo>
                    <a:pt x="438696" y="142138"/>
                  </a:lnTo>
                  <a:lnTo>
                    <a:pt x="438696" y="101523"/>
                  </a:lnTo>
                  <a:close/>
                </a:path>
                <a:path w="513080" h="514985">
                  <a:moveTo>
                    <a:pt x="512940" y="379031"/>
                  </a:moveTo>
                  <a:lnTo>
                    <a:pt x="465696" y="379031"/>
                  </a:lnTo>
                  <a:lnTo>
                    <a:pt x="465696" y="406107"/>
                  </a:lnTo>
                  <a:lnTo>
                    <a:pt x="512940" y="406107"/>
                  </a:lnTo>
                  <a:lnTo>
                    <a:pt x="512940" y="379031"/>
                  </a:lnTo>
                  <a:close/>
                </a:path>
                <a:path w="513080" h="514985">
                  <a:moveTo>
                    <a:pt x="512940" y="324891"/>
                  </a:moveTo>
                  <a:lnTo>
                    <a:pt x="465696" y="324891"/>
                  </a:lnTo>
                  <a:lnTo>
                    <a:pt x="465696" y="351955"/>
                  </a:lnTo>
                  <a:lnTo>
                    <a:pt x="512940" y="351955"/>
                  </a:lnTo>
                  <a:lnTo>
                    <a:pt x="512940" y="324891"/>
                  </a:lnTo>
                  <a:close/>
                </a:path>
                <a:path w="513080" h="514985">
                  <a:moveTo>
                    <a:pt x="512940" y="270738"/>
                  </a:moveTo>
                  <a:lnTo>
                    <a:pt x="465696" y="270738"/>
                  </a:lnTo>
                  <a:lnTo>
                    <a:pt x="465696" y="297815"/>
                  </a:lnTo>
                  <a:lnTo>
                    <a:pt x="512940" y="297815"/>
                  </a:lnTo>
                  <a:lnTo>
                    <a:pt x="512940" y="270738"/>
                  </a:lnTo>
                  <a:close/>
                </a:path>
                <a:path w="513080" h="514985">
                  <a:moveTo>
                    <a:pt x="512940" y="216585"/>
                  </a:moveTo>
                  <a:lnTo>
                    <a:pt x="465696" y="216585"/>
                  </a:lnTo>
                  <a:lnTo>
                    <a:pt x="465696" y="243662"/>
                  </a:lnTo>
                  <a:lnTo>
                    <a:pt x="512940" y="243662"/>
                  </a:lnTo>
                  <a:lnTo>
                    <a:pt x="512940" y="216585"/>
                  </a:lnTo>
                  <a:close/>
                </a:path>
                <a:path w="513080" h="514985">
                  <a:moveTo>
                    <a:pt x="512940" y="162445"/>
                  </a:moveTo>
                  <a:lnTo>
                    <a:pt x="465696" y="162445"/>
                  </a:lnTo>
                  <a:lnTo>
                    <a:pt x="465696" y="189509"/>
                  </a:lnTo>
                  <a:lnTo>
                    <a:pt x="512940" y="189509"/>
                  </a:lnTo>
                  <a:lnTo>
                    <a:pt x="512940" y="162445"/>
                  </a:lnTo>
                  <a:close/>
                </a:path>
                <a:path w="513080" h="514985">
                  <a:moveTo>
                    <a:pt x="512940" y="108292"/>
                  </a:moveTo>
                  <a:lnTo>
                    <a:pt x="465696" y="108292"/>
                  </a:lnTo>
                  <a:lnTo>
                    <a:pt x="465696" y="135369"/>
                  </a:lnTo>
                  <a:lnTo>
                    <a:pt x="512940" y="135369"/>
                  </a:lnTo>
                  <a:lnTo>
                    <a:pt x="512940" y="1082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1409909" y="5482743"/>
            <a:ext cx="175895" cy="176530"/>
          </a:xfrm>
          <a:custGeom>
            <a:avLst/>
            <a:gdLst/>
            <a:ahLst/>
            <a:cxnLst/>
            <a:rect l="l" t="t" r="r" b="b"/>
            <a:pathLst>
              <a:path w="175894" h="176529">
                <a:moveTo>
                  <a:pt x="175478" y="0"/>
                </a:moveTo>
                <a:lnTo>
                  <a:pt x="0" y="0"/>
                </a:lnTo>
                <a:lnTo>
                  <a:pt x="0" y="175981"/>
                </a:lnTo>
                <a:lnTo>
                  <a:pt x="175478" y="175981"/>
                </a:lnTo>
                <a:lnTo>
                  <a:pt x="1754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299207" y="5349036"/>
            <a:ext cx="415353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Result(Gr_no,</a:t>
            </a:r>
            <a:r>
              <a:rPr sz="25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sub_code,</a:t>
            </a:r>
            <a:r>
              <a:rPr sz="25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Marks)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545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800" spc="180" dirty="0">
                <a:latin typeface="Cambria"/>
                <a:cs typeface="Cambria"/>
              </a:rPr>
              <a:t>1.Super</a:t>
            </a:r>
            <a:r>
              <a:rPr sz="4800" spc="170" dirty="0">
                <a:latin typeface="Cambria"/>
                <a:cs typeface="Cambria"/>
              </a:rPr>
              <a:t> </a:t>
            </a:r>
            <a:r>
              <a:rPr sz="4800" spc="80" dirty="0">
                <a:latin typeface="Cambria"/>
                <a:cs typeface="Cambria"/>
              </a:rPr>
              <a:t>Key</a:t>
            </a:r>
            <a:endParaRPr sz="48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07719" y="1991867"/>
            <a:ext cx="10576560" cy="1191895"/>
            <a:chOff x="807719" y="1991867"/>
            <a:chExt cx="10576560" cy="1191895"/>
          </a:xfrm>
        </p:grpSpPr>
        <p:sp>
          <p:nvSpPr>
            <p:cNvPr id="4" name="object 4"/>
            <p:cNvSpPr/>
            <p:nvPr/>
          </p:nvSpPr>
          <p:spPr>
            <a:xfrm>
              <a:off x="807719" y="1991867"/>
              <a:ext cx="10576560" cy="1191895"/>
            </a:xfrm>
            <a:custGeom>
              <a:avLst/>
              <a:gdLst/>
              <a:ahLst/>
              <a:cxnLst/>
              <a:rect l="l" t="t" r="r" b="b"/>
              <a:pathLst>
                <a:path w="10576560" h="1191895">
                  <a:moveTo>
                    <a:pt x="10457434" y="0"/>
                  </a:moveTo>
                  <a:lnTo>
                    <a:pt x="119176" y="0"/>
                  </a:lnTo>
                  <a:lnTo>
                    <a:pt x="72785" y="9362"/>
                  </a:lnTo>
                  <a:lnTo>
                    <a:pt x="34904" y="34893"/>
                  </a:lnTo>
                  <a:lnTo>
                    <a:pt x="9364" y="72759"/>
                  </a:lnTo>
                  <a:lnTo>
                    <a:pt x="0" y="119126"/>
                  </a:lnTo>
                  <a:lnTo>
                    <a:pt x="0" y="1072642"/>
                  </a:lnTo>
                  <a:lnTo>
                    <a:pt x="9364" y="1119008"/>
                  </a:lnTo>
                  <a:lnTo>
                    <a:pt x="34904" y="1156874"/>
                  </a:lnTo>
                  <a:lnTo>
                    <a:pt x="72785" y="1182405"/>
                  </a:lnTo>
                  <a:lnTo>
                    <a:pt x="119176" y="1191768"/>
                  </a:lnTo>
                  <a:lnTo>
                    <a:pt x="10457434" y="1191768"/>
                  </a:lnTo>
                  <a:lnTo>
                    <a:pt x="10503800" y="1182405"/>
                  </a:lnTo>
                  <a:lnTo>
                    <a:pt x="10541666" y="1156874"/>
                  </a:lnTo>
                  <a:lnTo>
                    <a:pt x="10567197" y="1119008"/>
                  </a:lnTo>
                  <a:lnTo>
                    <a:pt x="10576560" y="1072642"/>
                  </a:lnTo>
                  <a:lnTo>
                    <a:pt x="10576560" y="119126"/>
                  </a:lnTo>
                  <a:lnTo>
                    <a:pt x="10567197" y="72759"/>
                  </a:lnTo>
                  <a:lnTo>
                    <a:pt x="10541666" y="34893"/>
                  </a:lnTo>
                  <a:lnTo>
                    <a:pt x="10503800" y="9362"/>
                  </a:lnTo>
                  <a:lnTo>
                    <a:pt x="1045743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7670" y="2399652"/>
              <a:ext cx="540385" cy="379095"/>
            </a:xfrm>
            <a:custGeom>
              <a:avLst/>
              <a:gdLst/>
              <a:ahLst/>
              <a:cxnLst/>
              <a:rect l="l" t="t" r="r" b="b"/>
              <a:pathLst>
                <a:path w="540385" h="379094">
                  <a:moveTo>
                    <a:pt x="202476" y="148856"/>
                  </a:moveTo>
                  <a:lnTo>
                    <a:pt x="175488" y="148856"/>
                  </a:lnTo>
                  <a:lnTo>
                    <a:pt x="175488" y="229895"/>
                  </a:lnTo>
                  <a:lnTo>
                    <a:pt x="202476" y="229895"/>
                  </a:lnTo>
                  <a:lnTo>
                    <a:pt x="202476" y="148856"/>
                  </a:lnTo>
                  <a:close/>
                </a:path>
                <a:path w="540385" h="379094">
                  <a:moveTo>
                    <a:pt x="202476" y="40817"/>
                  </a:moveTo>
                  <a:lnTo>
                    <a:pt x="175488" y="40817"/>
                  </a:lnTo>
                  <a:lnTo>
                    <a:pt x="175488" y="121843"/>
                  </a:lnTo>
                  <a:lnTo>
                    <a:pt x="202476" y="121843"/>
                  </a:lnTo>
                  <a:lnTo>
                    <a:pt x="202476" y="40817"/>
                  </a:lnTo>
                  <a:close/>
                </a:path>
                <a:path w="540385" h="379094">
                  <a:moveTo>
                    <a:pt x="364464" y="148856"/>
                  </a:moveTo>
                  <a:lnTo>
                    <a:pt x="337464" y="148856"/>
                  </a:lnTo>
                  <a:lnTo>
                    <a:pt x="337464" y="229895"/>
                  </a:lnTo>
                  <a:lnTo>
                    <a:pt x="364464" y="229895"/>
                  </a:lnTo>
                  <a:lnTo>
                    <a:pt x="364464" y="148856"/>
                  </a:lnTo>
                  <a:close/>
                </a:path>
                <a:path w="540385" h="379094">
                  <a:moveTo>
                    <a:pt x="364464" y="40817"/>
                  </a:moveTo>
                  <a:lnTo>
                    <a:pt x="337464" y="40817"/>
                  </a:lnTo>
                  <a:lnTo>
                    <a:pt x="337464" y="121843"/>
                  </a:lnTo>
                  <a:lnTo>
                    <a:pt x="364464" y="121843"/>
                  </a:lnTo>
                  <a:lnTo>
                    <a:pt x="364464" y="40817"/>
                  </a:lnTo>
                  <a:close/>
                </a:path>
                <a:path w="540385" h="379094">
                  <a:moveTo>
                    <a:pt x="539940" y="148856"/>
                  </a:moveTo>
                  <a:lnTo>
                    <a:pt x="499440" y="148856"/>
                  </a:lnTo>
                  <a:lnTo>
                    <a:pt x="499440" y="229895"/>
                  </a:lnTo>
                  <a:lnTo>
                    <a:pt x="539940" y="229895"/>
                  </a:lnTo>
                  <a:lnTo>
                    <a:pt x="539940" y="148856"/>
                  </a:lnTo>
                  <a:close/>
                </a:path>
                <a:path w="540385" h="379094">
                  <a:moveTo>
                    <a:pt x="539940" y="40817"/>
                  </a:moveTo>
                  <a:lnTo>
                    <a:pt x="499440" y="40817"/>
                  </a:lnTo>
                  <a:lnTo>
                    <a:pt x="499440" y="121843"/>
                  </a:lnTo>
                  <a:lnTo>
                    <a:pt x="539940" y="121843"/>
                  </a:lnTo>
                  <a:lnTo>
                    <a:pt x="539940" y="40817"/>
                  </a:lnTo>
                  <a:close/>
                </a:path>
                <a:path w="540385" h="379094">
                  <a:moveTo>
                    <a:pt x="539940" y="0"/>
                  </a:moveTo>
                  <a:lnTo>
                    <a:pt x="0" y="0"/>
                  </a:lnTo>
                  <a:lnTo>
                    <a:pt x="0" y="40652"/>
                  </a:lnTo>
                  <a:lnTo>
                    <a:pt x="0" y="121958"/>
                  </a:lnTo>
                  <a:lnTo>
                    <a:pt x="0" y="378574"/>
                  </a:lnTo>
                  <a:lnTo>
                    <a:pt x="539940" y="378574"/>
                  </a:lnTo>
                  <a:lnTo>
                    <a:pt x="539940" y="337934"/>
                  </a:lnTo>
                  <a:lnTo>
                    <a:pt x="539940" y="256908"/>
                  </a:lnTo>
                  <a:lnTo>
                    <a:pt x="499440" y="256908"/>
                  </a:lnTo>
                  <a:lnTo>
                    <a:pt x="499440" y="337921"/>
                  </a:lnTo>
                  <a:lnTo>
                    <a:pt x="364464" y="337921"/>
                  </a:lnTo>
                  <a:lnTo>
                    <a:pt x="364464" y="256908"/>
                  </a:lnTo>
                  <a:lnTo>
                    <a:pt x="337464" y="256908"/>
                  </a:lnTo>
                  <a:lnTo>
                    <a:pt x="337464" y="337921"/>
                  </a:lnTo>
                  <a:lnTo>
                    <a:pt x="202476" y="337921"/>
                  </a:lnTo>
                  <a:lnTo>
                    <a:pt x="202476" y="256908"/>
                  </a:lnTo>
                  <a:lnTo>
                    <a:pt x="175488" y="256908"/>
                  </a:lnTo>
                  <a:lnTo>
                    <a:pt x="175488" y="337921"/>
                  </a:lnTo>
                  <a:lnTo>
                    <a:pt x="40500" y="337921"/>
                  </a:lnTo>
                  <a:lnTo>
                    <a:pt x="40500" y="256616"/>
                  </a:lnTo>
                  <a:lnTo>
                    <a:pt x="539940" y="256616"/>
                  </a:lnTo>
                  <a:lnTo>
                    <a:pt x="539940" y="229933"/>
                  </a:lnTo>
                  <a:lnTo>
                    <a:pt x="40500" y="229933"/>
                  </a:lnTo>
                  <a:lnTo>
                    <a:pt x="40500" y="148640"/>
                  </a:lnTo>
                  <a:lnTo>
                    <a:pt x="539940" y="148640"/>
                  </a:lnTo>
                  <a:lnTo>
                    <a:pt x="539940" y="121958"/>
                  </a:lnTo>
                  <a:lnTo>
                    <a:pt x="40500" y="121958"/>
                  </a:lnTo>
                  <a:lnTo>
                    <a:pt x="40500" y="40652"/>
                  </a:lnTo>
                  <a:lnTo>
                    <a:pt x="539940" y="40652"/>
                  </a:lnTo>
                  <a:lnTo>
                    <a:pt x="5399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07719" y="3482340"/>
            <a:ext cx="10576560" cy="1193800"/>
            <a:chOff x="807719" y="3482340"/>
            <a:chExt cx="10576560" cy="1193800"/>
          </a:xfrm>
        </p:grpSpPr>
        <p:sp>
          <p:nvSpPr>
            <p:cNvPr id="7" name="object 7"/>
            <p:cNvSpPr/>
            <p:nvPr/>
          </p:nvSpPr>
          <p:spPr>
            <a:xfrm>
              <a:off x="807719" y="3482340"/>
              <a:ext cx="10576560" cy="1193800"/>
            </a:xfrm>
            <a:custGeom>
              <a:avLst/>
              <a:gdLst/>
              <a:ahLst/>
              <a:cxnLst/>
              <a:rect l="l" t="t" r="r" b="b"/>
              <a:pathLst>
                <a:path w="10576560" h="1193800">
                  <a:moveTo>
                    <a:pt x="10457180" y="0"/>
                  </a:moveTo>
                  <a:lnTo>
                    <a:pt x="119329" y="0"/>
                  </a:lnTo>
                  <a:lnTo>
                    <a:pt x="72882" y="9384"/>
                  </a:lnTo>
                  <a:lnTo>
                    <a:pt x="34951" y="34972"/>
                  </a:lnTo>
                  <a:lnTo>
                    <a:pt x="9377" y="72919"/>
                  </a:lnTo>
                  <a:lnTo>
                    <a:pt x="0" y="119380"/>
                  </a:lnTo>
                  <a:lnTo>
                    <a:pt x="0" y="1073912"/>
                  </a:lnTo>
                  <a:lnTo>
                    <a:pt x="9377" y="1120372"/>
                  </a:lnTo>
                  <a:lnTo>
                    <a:pt x="34951" y="1158319"/>
                  </a:lnTo>
                  <a:lnTo>
                    <a:pt x="72882" y="1183907"/>
                  </a:lnTo>
                  <a:lnTo>
                    <a:pt x="119329" y="1193292"/>
                  </a:lnTo>
                  <a:lnTo>
                    <a:pt x="10457180" y="1193292"/>
                  </a:lnTo>
                  <a:lnTo>
                    <a:pt x="10503640" y="1183907"/>
                  </a:lnTo>
                  <a:lnTo>
                    <a:pt x="10541587" y="1158319"/>
                  </a:lnTo>
                  <a:lnTo>
                    <a:pt x="10567175" y="1120372"/>
                  </a:lnTo>
                  <a:lnTo>
                    <a:pt x="10576560" y="1073912"/>
                  </a:lnTo>
                  <a:lnTo>
                    <a:pt x="10576560" y="119380"/>
                  </a:lnTo>
                  <a:lnTo>
                    <a:pt x="10567175" y="72919"/>
                  </a:lnTo>
                  <a:lnTo>
                    <a:pt x="10541587" y="34972"/>
                  </a:lnTo>
                  <a:lnTo>
                    <a:pt x="10503640" y="9384"/>
                  </a:lnTo>
                  <a:lnTo>
                    <a:pt x="1045718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00685" y="3938123"/>
              <a:ext cx="594360" cy="284480"/>
            </a:xfrm>
            <a:custGeom>
              <a:avLst/>
              <a:gdLst/>
              <a:ahLst/>
              <a:cxnLst/>
              <a:rect l="l" t="t" r="r" b="b"/>
              <a:pathLst>
                <a:path w="594360" h="284479">
                  <a:moveTo>
                    <a:pt x="141732" y="0"/>
                  </a:moveTo>
                  <a:lnTo>
                    <a:pt x="96928" y="7245"/>
                  </a:lnTo>
                  <a:lnTo>
                    <a:pt x="58021" y="27420"/>
                  </a:lnTo>
                  <a:lnTo>
                    <a:pt x="27342" y="58187"/>
                  </a:lnTo>
                  <a:lnTo>
                    <a:pt x="7224" y="97206"/>
                  </a:lnTo>
                  <a:lnTo>
                    <a:pt x="0" y="142139"/>
                  </a:lnTo>
                  <a:lnTo>
                    <a:pt x="7224" y="187071"/>
                  </a:lnTo>
                  <a:lnTo>
                    <a:pt x="27342" y="226090"/>
                  </a:lnTo>
                  <a:lnTo>
                    <a:pt x="58021" y="256857"/>
                  </a:lnTo>
                  <a:lnTo>
                    <a:pt x="96928" y="277033"/>
                  </a:lnTo>
                  <a:lnTo>
                    <a:pt x="141732" y="284278"/>
                  </a:lnTo>
                  <a:lnTo>
                    <a:pt x="180603" y="278926"/>
                  </a:lnTo>
                  <a:lnTo>
                    <a:pt x="215298" y="263803"/>
                  </a:lnTo>
                  <a:lnTo>
                    <a:pt x="244425" y="240303"/>
                  </a:lnTo>
                  <a:lnTo>
                    <a:pt x="266592" y="209824"/>
                  </a:lnTo>
                  <a:lnTo>
                    <a:pt x="310461" y="209824"/>
                  </a:lnTo>
                  <a:lnTo>
                    <a:pt x="337458" y="182750"/>
                  </a:lnTo>
                  <a:lnTo>
                    <a:pt x="80990" y="182750"/>
                  </a:lnTo>
                  <a:lnTo>
                    <a:pt x="65266" y="179545"/>
                  </a:lnTo>
                  <a:lnTo>
                    <a:pt x="52390" y="170820"/>
                  </a:lnTo>
                  <a:lnTo>
                    <a:pt x="43690" y="157907"/>
                  </a:lnTo>
                  <a:lnTo>
                    <a:pt x="40495" y="142139"/>
                  </a:lnTo>
                  <a:lnTo>
                    <a:pt x="43690" y="126370"/>
                  </a:lnTo>
                  <a:lnTo>
                    <a:pt x="52390" y="113457"/>
                  </a:lnTo>
                  <a:lnTo>
                    <a:pt x="65266" y="104732"/>
                  </a:lnTo>
                  <a:lnTo>
                    <a:pt x="80990" y="101527"/>
                  </a:lnTo>
                  <a:lnTo>
                    <a:pt x="561531" y="101527"/>
                  </a:lnTo>
                  <a:lnTo>
                    <a:pt x="539933" y="74453"/>
                  </a:lnTo>
                  <a:lnTo>
                    <a:pt x="266592" y="74453"/>
                  </a:lnTo>
                  <a:lnTo>
                    <a:pt x="244425" y="43974"/>
                  </a:lnTo>
                  <a:lnTo>
                    <a:pt x="215298" y="20474"/>
                  </a:lnTo>
                  <a:lnTo>
                    <a:pt x="180603" y="5351"/>
                  </a:lnTo>
                  <a:lnTo>
                    <a:pt x="141732" y="0"/>
                  </a:lnTo>
                  <a:close/>
                </a:path>
                <a:path w="594360" h="284479">
                  <a:moveTo>
                    <a:pt x="561531" y="101527"/>
                  </a:moveTo>
                  <a:lnTo>
                    <a:pt x="80990" y="101527"/>
                  </a:lnTo>
                  <a:lnTo>
                    <a:pt x="96713" y="104732"/>
                  </a:lnTo>
                  <a:lnTo>
                    <a:pt x="109589" y="113457"/>
                  </a:lnTo>
                  <a:lnTo>
                    <a:pt x="118289" y="126370"/>
                  </a:lnTo>
                  <a:lnTo>
                    <a:pt x="121485" y="142139"/>
                  </a:lnTo>
                  <a:lnTo>
                    <a:pt x="118289" y="157907"/>
                  </a:lnTo>
                  <a:lnTo>
                    <a:pt x="109589" y="170820"/>
                  </a:lnTo>
                  <a:lnTo>
                    <a:pt x="96713" y="179545"/>
                  </a:lnTo>
                  <a:lnTo>
                    <a:pt x="80990" y="182750"/>
                  </a:lnTo>
                  <a:lnTo>
                    <a:pt x="337458" y="182750"/>
                  </a:lnTo>
                  <a:lnTo>
                    <a:pt x="364455" y="209824"/>
                  </a:lnTo>
                  <a:lnTo>
                    <a:pt x="408324" y="165828"/>
                  </a:lnTo>
                  <a:lnTo>
                    <a:pt x="575029" y="165828"/>
                  </a:lnTo>
                  <a:lnTo>
                    <a:pt x="593927" y="142139"/>
                  </a:lnTo>
                  <a:lnTo>
                    <a:pt x="561531" y="101527"/>
                  </a:lnTo>
                  <a:close/>
                </a:path>
                <a:path w="594360" h="284479">
                  <a:moveTo>
                    <a:pt x="496064" y="165828"/>
                  </a:moveTo>
                  <a:lnTo>
                    <a:pt x="408324" y="165828"/>
                  </a:lnTo>
                  <a:lnTo>
                    <a:pt x="452194" y="209824"/>
                  </a:lnTo>
                  <a:lnTo>
                    <a:pt x="496064" y="165828"/>
                  </a:lnTo>
                  <a:close/>
                </a:path>
                <a:path w="594360" h="284479">
                  <a:moveTo>
                    <a:pt x="575029" y="165828"/>
                  </a:moveTo>
                  <a:lnTo>
                    <a:pt x="496064" y="165828"/>
                  </a:lnTo>
                  <a:lnTo>
                    <a:pt x="539933" y="209824"/>
                  </a:lnTo>
                  <a:lnTo>
                    <a:pt x="575029" y="1658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07719" y="4972811"/>
            <a:ext cx="10576560" cy="1193800"/>
            <a:chOff x="807719" y="4972811"/>
            <a:chExt cx="10576560" cy="1193800"/>
          </a:xfrm>
        </p:grpSpPr>
        <p:sp>
          <p:nvSpPr>
            <p:cNvPr id="10" name="object 10"/>
            <p:cNvSpPr/>
            <p:nvPr/>
          </p:nvSpPr>
          <p:spPr>
            <a:xfrm>
              <a:off x="807719" y="4972811"/>
              <a:ext cx="10576560" cy="1193800"/>
            </a:xfrm>
            <a:custGeom>
              <a:avLst/>
              <a:gdLst/>
              <a:ahLst/>
              <a:cxnLst/>
              <a:rect l="l" t="t" r="r" b="b"/>
              <a:pathLst>
                <a:path w="10576560" h="1193800">
                  <a:moveTo>
                    <a:pt x="10457180" y="0"/>
                  </a:moveTo>
                  <a:lnTo>
                    <a:pt x="119329" y="0"/>
                  </a:lnTo>
                  <a:lnTo>
                    <a:pt x="72882" y="9384"/>
                  </a:lnTo>
                  <a:lnTo>
                    <a:pt x="34951" y="34972"/>
                  </a:lnTo>
                  <a:lnTo>
                    <a:pt x="9377" y="72919"/>
                  </a:lnTo>
                  <a:lnTo>
                    <a:pt x="0" y="119380"/>
                  </a:lnTo>
                  <a:lnTo>
                    <a:pt x="0" y="1073962"/>
                  </a:lnTo>
                  <a:lnTo>
                    <a:pt x="9377" y="1120409"/>
                  </a:lnTo>
                  <a:lnTo>
                    <a:pt x="34951" y="1158340"/>
                  </a:lnTo>
                  <a:lnTo>
                    <a:pt x="72882" y="1183914"/>
                  </a:lnTo>
                  <a:lnTo>
                    <a:pt x="119329" y="1193292"/>
                  </a:lnTo>
                  <a:lnTo>
                    <a:pt x="10457180" y="1193292"/>
                  </a:lnTo>
                  <a:lnTo>
                    <a:pt x="10503640" y="1183914"/>
                  </a:lnTo>
                  <a:lnTo>
                    <a:pt x="10541587" y="1158340"/>
                  </a:lnTo>
                  <a:lnTo>
                    <a:pt x="10567175" y="1120409"/>
                  </a:lnTo>
                  <a:lnTo>
                    <a:pt x="10576560" y="1073962"/>
                  </a:lnTo>
                  <a:lnTo>
                    <a:pt x="10576560" y="119380"/>
                  </a:lnTo>
                  <a:lnTo>
                    <a:pt x="10567175" y="72919"/>
                  </a:lnTo>
                  <a:lnTo>
                    <a:pt x="10541587" y="34972"/>
                  </a:lnTo>
                  <a:lnTo>
                    <a:pt x="10503640" y="9384"/>
                  </a:lnTo>
                  <a:lnTo>
                    <a:pt x="1045718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9662" y="5676323"/>
              <a:ext cx="391451" cy="1313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570" y="5382704"/>
              <a:ext cx="80180" cy="8041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08443" y="5313540"/>
              <a:ext cx="512445" cy="521334"/>
            </a:xfrm>
            <a:custGeom>
              <a:avLst/>
              <a:gdLst/>
              <a:ahLst/>
              <a:cxnLst/>
              <a:rect l="l" t="t" r="r" b="b"/>
              <a:pathLst>
                <a:path w="512444" h="521335">
                  <a:moveTo>
                    <a:pt x="350570" y="97878"/>
                  </a:moveTo>
                  <a:lnTo>
                    <a:pt x="346633" y="93878"/>
                  </a:lnTo>
                  <a:lnTo>
                    <a:pt x="342671" y="89954"/>
                  </a:lnTo>
                  <a:lnTo>
                    <a:pt x="336296" y="89954"/>
                  </a:lnTo>
                  <a:lnTo>
                    <a:pt x="245122" y="181330"/>
                  </a:lnTo>
                  <a:lnTo>
                    <a:pt x="238163" y="179349"/>
                  </a:lnTo>
                  <a:lnTo>
                    <a:pt x="230670" y="181267"/>
                  </a:lnTo>
                  <a:lnTo>
                    <a:pt x="225488" y="186334"/>
                  </a:lnTo>
                  <a:lnTo>
                    <a:pt x="198894" y="229044"/>
                  </a:lnTo>
                  <a:lnTo>
                    <a:pt x="190334" y="192595"/>
                  </a:lnTo>
                  <a:lnTo>
                    <a:pt x="154520" y="167513"/>
                  </a:lnTo>
                  <a:lnTo>
                    <a:pt x="101828" y="160007"/>
                  </a:lnTo>
                  <a:lnTo>
                    <a:pt x="85267" y="162521"/>
                  </a:lnTo>
                  <a:lnTo>
                    <a:pt x="44615" y="179387"/>
                  </a:lnTo>
                  <a:lnTo>
                    <a:pt x="0" y="322313"/>
                  </a:lnTo>
                  <a:lnTo>
                    <a:pt x="1587" y="330212"/>
                  </a:lnTo>
                  <a:lnTo>
                    <a:pt x="5930" y="336677"/>
                  </a:lnTo>
                  <a:lnTo>
                    <a:pt x="12369" y="341020"/>
                  </a:lnTo>
                  <a:lnTo>
                    <a:pt x="20243" y="342620"/>
                  </a:lnTo>
                  <a:lnTo>
                    <a:pt x="29210" y="342392"/>
                  </a:lnTo>
                  <a:lnTo>
                    <a:pt x="36944" y="336270"/>
                  </a:lnTo>
                  <a:lnTo>
                    <a:pt x="60337" y="240207"/>
                  </a:lnTo>
                  <a:lnTo>
                    <a:pt x="60337" y="521169"/>
                  </a:lnTo>
                  <a:lnTo>
                    <a:pt x="100228" y="521169"/>
                  </a:lnTo>
                  <a:lnTo>
                    <a:pt x="100228" y="340385"/>
                  </a:lnTo>
                  <a:lnTo>
                    <a:pt x="120472" y="340385"/>
                  </a:lnTo>
                  <a:lnTo>
                    <a:pt x="120472" y="521169"/>
                  </a:lnTo>
                  <a:lnTo>
                    <a:pt x="160286" y="521169"/>
                  </a:lnTo>
                  <a:lnTo>
                    <a:pt x="160286" y="238925"/>
                  </a:lnTo>
                  <a:lnTo>
                    <a:pt x="168236" y="272935"/>
                  </a:lnTo>
                  <a:lnTo>
                    <a:pt x="205054" y="286258"/>
                  </a:lnTo>
                  <a:lnTo>
                    <a:pt x="211366" y="283375"/>
                  </a:lnTo>
                  <a:lnTo>
                    <a:pt x="258699" y="206133"/>
                  </a:lnTo>
                  <a:lnTo>
                    <a:pt x="259676" y="201129"/>
                  </a:lnTo>
                  <a:lnTo>
                    <a:pt x="258826" y="196278"/>
                  </a:lnTo>
                  <a:lnTo>
                    <a:pt x="350545" y="104317"/>
                  </a:lnTo>
                  <a:lnTo>
                    <a:pt x="350570" y="97878"/>
                  </a:lnTo>
                  <a:close/>
                </a:path>
                <a:path w="512444" h="521335">
                  <a:moveTo>
                    <a:pt x="511924" y="27076"/>
                  </a:moveTo>
                  <a:lnTo>
                    <a:pt x="509803" y="16535"/>
                  </a:lnTo>
                  <a:lnTo>
                    <a:pt x="504012" y="7924"/>
                  </a:lnTo>
                  <a:lnTo>
                    <a:pt x="495439" y="2120"/>
                  </a:lnTo>
                  <a:lnTo>
                    <a:pt x="484924" y="0"/>
                  </a:lnTo>
                  <a:lnTo>
                    <a:pt x="154216" y="0"/>
                  </a:lnTo>
                  <a:lnTo>
                    <a:pt x="143713" y="2120"/>
                  </a:lnTo>
                  <a:lnTo>
                    <a:pt x="135128" y="7924"/>
                  </a:lnTo>
                  <a:lnTo>
                    <a:pt x="129336" y="16535"/>
                  </a:lnTo>
                  <a:lnTo>
                    <a:pt x="127215" y="27076"/>
                  </a:lnTo>
                  <a:lnTo>
                    <a:pt x="127215" y="51435"/>
                  </a:lnTo>
                  <a:lnTo>
                    <a:pt x="134759" y="54063"/>
                  </a:lnTo>
                  <a:lnTo>
                    <a:pt x="141833" y="57683"/>
                  </a:lnTo>
                  <a:lnTo>
                    <a:pt x="148348" y="62242"/>
                  </a:lnTo>
                  <a:lnTo>
                    <a:pt x="154216" y="67678"/>
                  </a:lnTo>
                  <a:lnTo>
                    <a:pt x="154216" y="27076"/>
                  </a:lnTo>
                  <a:lnTo>
                    <a:pt x="484924" y="27076"/>
                  </a:lnTo>
                  <a:lnTo>
                    <a:pt x="484924" y="250431"/>
                  </a:lnTo>
                  <a:lnTo>
                    <a:pt x="254571" y="250431"/>
                  </a:lnTo>
                  <a:lnTo>
                    <a:pt x="238112" y="277507"/>
                  </a:lnTo>
                  <a:lnTo>
                    <a:pt x="484924" y="277507"/>
                  </a:lnTo>
                  <a:lnTo>
                    <a:pt x="495439" y="275374"/>
                  </a:lnTo>
                  <a:lnTo>
                    <a:pt x="504012" y="269570"/>
                  </a:lnTo>
                  <a:lnTo>
                    <a:pt x="509803" y="260972"/>
                  </a:lnTo>
                  <a:lnTo>
                    <a:pt x="511924" y="250431"/>
                  </a:lnTo>
                  <a:lnTo>
                    <a:pt x="511924" y="270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299207" y="2172716"/>
            <a:ext cx="8876030" cy="37769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•A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super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combination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fields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uniquely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identifies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table.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30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•In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words,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attribute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additional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attributes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uniquely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identifies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table.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30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•In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above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relation</a:t>
            </a:r>
            <a:r>
              <a:rPr sz="25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Student,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Gr_no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Roll_no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forms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super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unique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Gr_no.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70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800" b="1" spc="210" dirty="0">
                <a:latin typeface="Cambria"/>
                <a:cs typeface="Cambria"/>
              </a:rPr>
              <a:t>2.Candidate</a:t>
            </a:r>
            <a:r>
              <a:rPr sz="4800" b="1" spc="185" dirty="0">
                <a:latin typeface="Cambria"/>
                <a:cs typeface="Cambria"/>
              </a:rPr>
              <a:t> </a:t>
            </a:r>
            <a:r>
              <a:rPr sz="4800" b="1" spc="229" dirty="0">
                <a:latin typeface="Cambria"/>
                <a:cs typeface="Cambria"/>
              </a:rPr>
              <a:t>Key</a:t>
            </a:r>
            <a:endParaRPr sz="48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07719" y="1993392"/>
            <a:ext cx="10576560" cy="878205"/>
            <a:chOff x="807719" y="1993392"/>
            <a:chExt cx="10576560" cy="878205"/>
          </a:xfrm>
        </p:grpSpPr>
        <p:sp>
          <p:nvSpPr>
            <p:cNvPr id="4" name="object 4"/>
            <p:cNvSpPr/>
            <p:nvPr/>
          </p:nvSpPr>
          <p:spPr>
            <a:xfrm>
              <a:off x="807719" y="1993392"/>
              <a:ext cx="10576560" cy="878205"/>
            </a:xfrm>
            <a:custGeom>
              <a:avLst/>
              <a:gdLst/>
              <a:ahLst/>
              <a:cxnLst/>
              <a:rect l="l" t="t" r="r" b="b"/>
              <a:pathLst>
                <a:path w="10576560" h="878205">
                  <a:moveTo>
                    <a:pt x="10488803" y="0"/>
                  </a:moveTo>
                  <a:lnTo>
                    <a:pt x="87782" y="0"/>
                  </a:lnTo>
                  <a:lnTo>
                    <a:pt x="53615" y="6889"/>
                  </a:lnTo>
                  <a:lnTo>
                    <a:pt x="25712" y="25685"/>
                  </a:lnTo>
                  <a:lnTo>
                    <a:pt x="6899" y="53578"/>
                  </a:lnTo>
                  <a:lnTo>
                    <a:pt x="0" y="87757"/>
                  </a:lnTo>
                  <a:lnTo>
                    <a:pt x="0" y="790067"/>
                  </a:lnTo>
                  <a:lnTo>
                    <a:pt x="6899" y="824245"/>
                  </a:lnTo>
                  <a:lnTo>
                    <a:pt x="25712" y="852138"/>
                  </a:lnTo>
                  <a:lnTo>
                    <a:pt x="53615" y="870934"/>
                  </a:lnTo>
                  <a:lnTo>
                    <a:pt x="87782" y="877824"/>
                  </a:lnTo>
                  <a:lnTo>
                    <a:pt x="10488803" y="877824"/>
                  </a:lnTo>
                  <a:lnTo>
                    <a:pt x="10522981" y="870934"/>
                  </a:lnTo>
                  <a:lnTo>
                    <a:pt x="10550874" y="852138"/>
                  </a:lnTo>
                  <a:lnTo>
                    <a:pt x="10569670" y="824245"/>
                  </a:lnTo>
                  <a:lnTo>
                    <a:pt x="10576560" y="790067"/>
                  </a:lnTo>
                  <a:lnTo>
                    <a:pt x="10576560" y="87757"/>
                  </a:lnTo>
                  <a:lnTo>
                    <a:pt x="10569670" y="53578"/>
                  </a:lnTo>
                  <a:lnTo>
                    <a:pt x="10550874" y="25685"/>
                  </a:lnTo>
                  <a:lnTo>
                    <a:pt x="10522981" y="6889"/>
                  </a:lnTo>
                  <a:lnTo>
                    <a:pt x="10488803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5376" y="2272182"/>
              <a:ext cx="459740" cy="323215"/>
            </a:xfrm>
            <a:custGeom>
              <a:avLst/>
              <a:gdLst/>
              <a:ahLst/>
              <a:cxnLst/>
              <a:rect l="l" t="t" r="r" b="b"/>
              <a:pathLst>
                <a:path w="459740" h="323214">
                  <a:moveTo>
                    <a:pt x="419434" y="0"/>
                  </a:moveTo>
                  <a:lnTo>
                    <a:pt x="164688" y="240946"/>
                  </a:lnTo>
                  <a:lnTo>
                    <a:pt x="42291" y="115495"/>
                  </a:lnTo>
                  <a:lnTo>
                    <a:pt x="0" y="155818"/>
                  </a:lnTo>
                  <a:lnTo>
                    <a:pt x="162698" y="323087"/>
                  </a:lnTo>
                  <a:lnTo>
                    <a:pt x="205488" y="283261"/>
                  </a:lnTo>
                  <a:lnTo>
                    <a:pt x="459736" y="41817"/>
                  </a:lnTo>
                  <a:lnTo>
                    <a:pt x="4194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07719" y="3090672"/>
            <a:ext cx="10576560" cy="878205"/>
            <a:chOff x="807719" y="3090672"/>
            <a:chExt cx="10576560" cy="878205"/>
          </a:xfrm>
        </p:grpSpPr>
        <p:sp>
          <p:nvSpPr>
            <p:cNvPr id="7" name="object 7"/>
            <p:cNvSpPr/>
            <p:nvPr/>
          </p:nvSpPr>
          <p:spPr>
            <a:xfrm>
              <a:off x="807719" y="3090672"/>
              <a:ext cx="10576560" cy="878205"/>
            </a:xfrm>
            <a:custGeom>
              <a:avLst/>
              <a:gdLst/>
              <a:ahLst/>
              <a:cxnLst/>
              <a:rect l="l" t="t" r="r" b="b"/>
              <a:pathLst>
                <a:path w="10576560" h="878204">
                  <a:moveTo>
                    <a:pt x="10488803" y="0"/>
                  </a:moveTo>
                  <a:lnTo>
                    <a:pt x="87782" y="0"/>
                  </a:lnTo>
                  <a:lnTo>
                    <a:pt x="53615" y="6889"/>
                  </a:lnTo>
                  <a:lnTo>
                    <a:pt x="25712" y="25685"/>
                  </a:lnTo>
                  <a:lnTo>
                    <a:pt x="6899" y="53578"/>
                  </a:lnTo>
                  <a:lnTo>
                    <a:pt x="0" y="87756"/>
                  </a:lnTo>
                  <a:lnTo>
                    <a:pt x="0" y="790066"/>
                  </a:lnTo>
                  <a:lnTo>
                    <a:pt x="6899" y="824245"/>
                  </a:lnTo>
                  <a:lnTo>
                    <a:pt x="25712" y="852138"/>
                  </a:lnTo>
                  <a:lnTo>
                    <a:pt x="53615" y="870934"/>
                  </a:lnTo>
                  <a:lnTo>
                    <a:pt x="87782" y="877823"/>
                  </a:lnTo>
                  <a:lnTo>
                    <a:pt x="10488803" y="877823"/>
                  </a:lnTo>
                  <a:lnTo>
                    <a:pt x="10522981" y="870934"/>
                  </a:lnTo>
                  <a:lnTo>
                    <a:pt x="10550874" y="852138"/>
                  </a:lnTo>
                  <a:lnTo>
                    <a:pt x="10569670" y="824245"/>
                  </a:lnTo>
                  <a:lnTo>
                    <a:pt x="10576560" y="790066"/>
                  </a:lnTo>
                  <a:lnTo>
                    <a:pt x="10576560" y="87756"/>
                  </a:lnTo>
                  <a:lnTo>
                    <a:pt x="10569670" y="53578"/>
                  </a:lnTo>
                  <a:lnTo>
                    <a:pt x="10550874" y="25685"/>
                  </a:lnTo>
                  <a:lnTo>
                    <a:pt x="10522981" y="6889"/>
                  </a:lnTo>
                  <a:lnTo>
                    <a:pt x="1048880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26172" y="3347097"/>
              <a:ext cx="378460" cy="373380"/>
            </a:xfrm>
            <a:custGeom>
              <a:avLst/>
              <a:gdLst/>
              <a:ahLst/>
              <a:cxnLst/>
              <a:rect l="l" t="t" r="r" b="b"/>
              <a:pathLst>
                <a:path w="378459" h="373379">
                  <a:moveTo>
                    <a:pt x="163195" y="157314"/>
                  </a:moveTo>
                  <a:lnTo>
                    <a:pt x="149263" y="143370"/>
                  </a:lnTo>
                  <a:lnTo>
                    <a:pt x="116420" y="176225"/>
                  </a:lnTo>
                  <a:lnTo>
                    <a:pt x="103492" y="163283"/>
                  </a:lnTo>
                  <a:lnTo>
                    <a:pt x="89560" y="177228"/>
                  </a:lnTo>
                  <a:lnTo>
                    <a:pt x="116420" y="204101"/>
                  </a:lnTo>
                  <a:lnTo>
                    <a:pt x="163195" y="157314"/>
                  </a:lnTo>
                  <a:close/>
                </a:path>
                <a:path w="378459" h="373379">
                  <a:moveTo>
                    <a:pt x="163195" y="92595"/>
                  </a:moveTo>
                  <a:lnTo>
                    <a:pt x="149263" y="78651"/>
                  </a:lnTo>
                  <a:lnTo>
                    <a:pt x="116420" y="111506"/>
                  </a:lnTo>
                  <a:lnTo>
                    <a:pt x="103492" y="98564"/>
                  </a:lnTo>
                  <a:lnTo>
                    <a:pt x="89560" y="112509"/>
                  </a:lnTo>
                  <a:lnTo>
                    <a:pt x="116420" y="139395"/>
                  </a:lnTo>
                  <a:lnTo>
                    <a:pt x="163195" y="92595"/>
                  </a:lnTo>
                  <a:close/>
                </a:path>
                <a:path w="378459" h="373379">
                  <a:moveTo>
                    <a:pt x="278625" y="164287"/>
                  </a:moveTo>
                  <a:lnTo>
                    <a:pt x="194043" y="164287"/>
                  </a:lnTo>
                  <a:lnTo>
                    <a:pt x="194043" y="184188"/>
                  </a:lnTo>
                  <a:lnTo>
                    <a:pt x="278625" y="184188"/>
                  </a:lnTo>
                  <a:lnTo>
                    <a:pt x="278625" y="164287"/>
                  </a:lnTo>
                  <a:close/>
                </a:path>
                <a:path w="378459" h="373379">
                  <a:moveTo>
                    <a:pt x="278625" y="99568"/>
                  </a:moveTo>
                  <a:lnTo>
                    <a:pt x="194043" y="99568"/>
                  </a:lnTo>
                  <a:lnTo>
                    <a:pt x="194043" y="119481"/>
                  </a:lnTo>
                  <a:lnTo>
                    <a:pt x="278625" y="119481"/>
                  </a:lnTo>
                  <a:lnTo>
                    <a:pt x="278625" y="99568"/>
                  </a:lnTo>
                  <a:close/>
                </a:path>
                <a:path w="378459" h="373379">
                  <a:moveTo>
                    <a:pt x="378129" y="24371"/>
                  </a:moveTo>
                  <a:lnTo>
                    <a:pt x="373697" y="19913"/>
                  </a:lnTo>
                  <a:lnTo>
                    <a:pt x="328383" y="19913"/>
                  </a:lnTo>
                  <a:lnTo>
                    <a:pt x="328383" y="54762"/>
                  </a:lnTo>
                  <a:lnTo>
                    <a:pt x="328383" y="233972"/>
                  </a:lnTo>
                  <a:lnTo>
                    <a:pt x="49745" y="233972"/>
                  </a:lnTo>
                  <a:lnTo>
                    <a:pt x="49745" y="54762"/>
                  </a:lnTo>
                  <a:lnTo>
                    <a:pt x="328383" y="54762"/>
                  </a:lnTo>
                  <a:lnTo>
                    <a:pt x="328383" y="19913"/>
                  </a:lnTo>
                  <a:lnTo>
                    <a:pt x="199021" y="19913"/>
                  </a:lnTo>
                  <a:lnTo>
                    <a:pt x="199021" y="4432"/>
                  </a:lnTo>
                  <a:lnTo>
                    <a:pt x="194564" y="0"/>
                  </a:lnTo>
                  <a:lnTo>
                    <a:pt x="183565" y="0"/>
                  </a:lnTo>
                  <a:lnTo>
                    <a:pt x="179108" y="4432"/>
                  </a:lnTo>
                  <a:lnTo>
                    <a:pt x="179108" y="19913"/>
                  </a:lnTo>
                  <a:lnTo>
                    <a:pt x="4445" y="19913"/>
                  </a:lnTo>
                  <a:lnTo>
                    <a:pt x="0" y="24371"/>
                  </a:lnTo>
                  <a:lnTo>
                    <a:pt x="0" y="35369"/>
                  </a:lnTo>
                  <a:lnTo>
                    <a:pt x="4445" y="39827"/>
                  </a:lnTo>
                  <a:lnTo>
                    <a:pt x="19900" y="39827"/>
                  </a:lnTo>
                  <a:lnTo>
                    <a:pt x="19900" y="243928"/>
                  </a:lnTo>
                  <a:lnTo>
                    <a:pt x="4445" y="243928"/>
                  </a:lnTo>
                  <a:lnTo>
                    <a:pt x="0" y="248386"/>
                  </a:lnTo>
                  <a:lnTo>
                    <a:pt x="0" y="259384"/>
                  </a:lnTo>
                  <a:lnTo>
                    <a:pt x="4445" y="263842"/>
                  </a:lnTo>
                  <a:lnTo>
                    <a:pt x="161899" y="263842"/>
                  </a:lnTo>
                  <a:lnTo>
                    <a:pt x="85280" y="340512"/>
                  </a:lnTo>
                  <a:lnTo>
                    <a:pt x="81381" y="344449"/>
                  </a:lnTo>
                  <a:lnTo>
                    <a:pt x="81419" y="350786"/>
                  </a:lnTo>
                  <a:lnTo>
                    <a:pt x="89281" y="358559"/>
                  </a:lnTo>
                  <a:lnTo>
                    <a:pt x="95580" y="358559"/>
                  </a:lnTo>
                  <a:lnTo>
                    <a:pt x="99504" y="354596"/>
                  </a:lnTo>
                  <a:lnTo>
                    <a:pt x="179108" y="274942"/>
                  </a:lnTo>
                  <a:lnTo>
                    <a:pt x="179108" y="368909"/>
                  </a:lnTo>
                  <a:lnTo>
                    <a:pt x="183565" y="373367"/>
                  </a:lnTo>
                  <a:lnTo>
                    <a:pt x="194564" y="373367"/>
                  </a:lnTo>
                  <a:lnTo>
                    <a:pt x="199021" y="368909"/>
                  </a:lnTo>
                  <a:lnTo>
                    <a:pt x="199021" y="274942"/>
                  </a:lnTo>
                  <a:lnTo>
                    <a:pt x="199021" y="274802"/>
                  </a:lnTo>
                  <a:lnTo>
                    <a:pt x="282511" y="358343"/>
                  </a:lnTo>
                  <a:lnTo>
                    <a:pt x="288810" y="358343"/>
                  </a:lnTo>
                  <a:lnTo>
                    <a:pt x="296595" y="350558"/>
                  </a:lnTo>
                  <a:lnTo>
                    <a:pt x="296595" y="344246"/>
                  </a:lnTo>
                  <a:lnTo>
                    <a:pt x="227177" y="274802"/>
                  </a:lnTo>
                  <a:lnTo>
                    <a:pt x="216230" y="263842"/>
                  </a:lnTo>
                  <a:lnTo>
                    <a:pt x="373697" y="263842"/>
                  </a:lnTo>
                  <a:lnTo>
                    <a:pt x="378129" y="259384"/>
                  </a:lnTo>
                  <a:lnTo>
                    <a:pt x="378129" y="248386"/>
                  </a:lnTo>
                  <a:lnTo>
                    <a:pt x="373697" y="243928"/>
                  </a:lnTo>
                  <a:lnTo>
                    <a:pt x="358228" y="243928"/>
                  </a:lnTo>
                  <a:lnTo>
                    <a:pt x="358228" y="233972"/>
                  </a:lnTo>
                  <a:lnTo>
                    <a:pt x="358228" y="54762"/>
                  </a:lnTo>
                  <a:lnTo>
                    <a:pt x="358228" y="39827"/>
                  </a:lnTo>
                  <a:lnTo>
                    <a:pt x="373697" y="39827"/>
                  </a:lnTo>
                  <a:lnTo>
                    <a:pt x="378129" y="35369"/>
                  </a:lnTo>
                  <a:lnTo>
                    <a:pt x="378129" y="243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07719" y="4187952"/>
            <a:ext cx="10576560" cy="879475"/>
            <a:chOff x="807719" y="4187952"/>
            <a:chExt cx="10576560" cy="879475"/>
          </a:xfrm>
        </p:grpSpPr>
        <p:sp>
          <p:nvSpPr>
            <p:cNvPr id="10" name="object 10"/>
            <p:cNvSpPr/>
            <p:nvPr/>
          </p:nvSpPr>
          <p:spPr>
            <a:xfrm>
              <a:off x="807719" y="4187952"/>
              <a:ext cx="10576560" cy="879475"/>
            </a:xfrm>
            <a:custGeom>
              <a:avLst/>
              <a:gdLst/>
              <a:ahLst/>
              <a:cxnLst/>
              <a:rect l="l" t="t" r="r" b="b"/>
              <a:pathLst>
                <a:path w="10576560" h="879475">
                  <a:moveTo>
                    <a:pt x="10488676" y="0"/>
                  </a:moveTo>
                  <a:lnTo>
                    <a:pt x="87934" y="0"/>
                  </a:lnTo>
                  <a:lnTo>
                    <a:pt x="53706" y="6909"/>
                  </a:lnTo>
                  <a:lnTo>
                    <a:pt x="25755" y="25749"/>
                  </a:lnTo>
                  <a:lnTo>
                    <a:pt x="6910" y="53685"/>
                  </a:lnTo>
                  <a:lnTo>
                    <a:pt x="0" y="87884"/>
                  </a:lnTo>
                  <a:lnTo>
                    <a:pt x="0" y="791464"/>
                  </a:lnTo>
                  <a:lnTo>
                    <a:pt x="6910" y="825662"/>
                  </a:lnTo>
                  <a:lnTo>
                    <a:pt x="25755" y="853598"/>
                  </a:lnTo>
                  <a:lnTo>
                    <a:pt x="53706" y="872438"/>
                  </a:lnTo>
                  <a:lnTo>
                    <a:pt x="87934" y="879348"/>
                  </a:lnTo>
                  <a:lnTo>
                    <a:pt x="10488676" y="879348"/>
                  </a:lnTo>
                  <a:lnTo>
                    <a:pt x="10522874" y="872438"/>
                  </a:lnTo>
                  <a:lnTo>
                    <a:pt x="10550810" y="853598"/>
                  </a:lnTo>
                  <a:lnTo>
                    <a:pt x="10569650" y="825662"/>
                  </a:lnTo>
                  <a:lnTo>
                    <a:pt x="10576560" y="791464"/>
                  </a:lnTo>
                  <a:lnTo>
                    <a:pt x="10576560" y="87884"/>
                  </a:lnTo>
                  <a:lnTo>
                    <a:pt x="10569650" y="53685"/>
                  </a:lnTo>
                  <a:lnTo>
                    <a:pt x="10550810" y="25749"/>
                  </a:lnTo>
                  <a:lnTo>
                    <a:pt x="10522874" y="6909"/>
                  </a:lnTo>
                  <a:lnTo>
                    <a:pt x="1048867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9111" y="4452335"/>
              <a:ext cx="352425" cy="353060"/>
            </a:xfrm>
            <a:custGeom>
              <a:avLst/>
              <a:gdLst/>
              <a:ahLst/>
              <a:cxnLst/>
              <a:rect l="l" t="t" r="r" b="b"/>
              <a:pathLst>
                <a:path w="352425" h="353060">
                  <a:moveTo>
                    <a:pt x="42291" y="0"/>
                  </a:moveTo>
                  <a:lnTo>
                    <a:pt x="0" y="42315"/>
                  </a:lnTo>
                  <a:lnTo>
                    <a:pt x="133840" y="176229"/>
                  </a:lnTo>
                  <a:lnTo>
                    <a:pt x="0" y="310144"/>
                  </a:lnTo>
                  <a:lnTo>
                    <a:pt x="42291" y="352459"/>
                  </a:lnTo>
                  <a:lnTo>
                    <a:pt x="176132" y="218544"/>
                  </a:lnTo>
                  <a:lnTo>
                    <a:pt x="260716" y="218544"/>
                  </a:lnTo>
                  <a:lnTo>
                    <a:pt x="218424" y="176229"/>
                  </a:lnTo>
                  <a:lnTo>
                    <a:pt x="260716" y="133914"/>
                  </a:lnTo>
                  <a:lnTo>
                    <a:pt x="176132" y="133914"/>
                  </a:lnTo>
                  <a:lnTo>
                    <a:pt x="42291" y="0"/>
                  </a:lnTo>
                  <a:close/>
                </a:path>
                <a:path w="352425" h="353060">
                  <a:moveTo>
                    <a:pt x="260716" y="218544"/>
                  </a:moveTo>
                  <a:lnTo>
                    <a:pt x="176132" y="218544"/>
                  </a:lnTo>
                  <a:lnTo>
                    <a:pt x="309973" y="352459"/>
                  </a:lnTo>
                  <a:lnTo>
                    <a:pt x="352265" y="310144"/>
                  </a:lnTo>
                  <a:lnTo>
                    <a:pt x="260716" y="218544"/>
                  </a:lnTo>
                  <a:close/>
                </a:path>
                <a:path w="352425" h="353060">
                  <a:moveTo>
                    <a:pt x="309973" y="0"/>
                  </a:moveTo>
                  <a:lnTo>
                    <a:pt x="176132" y="133914"/>
                  </a:lnTo>
                  <a:lnTo>
                    <a:pt x="260716" y="133914"/>
                  </a:lnTo>
                  <a:lnTo>
                    <a:pt x="352265" y="42315"/>
                  </a:lnTo>
                  <a:lnTo>
                    <a:pt x="309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07719" y="5286755"/>
            <a:ext cx="10576560" cy="878205"/>
            <a:chOff x="807719" y="5286755"/>
            <a:chExt cx="10576560" cy="878205"/>
          </a:xfrm>
        </p:grpSpPr>
        <p:sp>
          <p:nvSpPr>
            <p:cNvPr id="13" name="object 13"/>
            <p:cNvSpPr/>
            <p:nvPr/>
          </p:nvSpPr>
          <p:spPr>
            <a:xfrm>
              <a:off x="807719" y="5286755"/>
              <a:ext cx="10576560" cy="878205"/>
            </a:xfrm>
            <a:custGeom>
              <a:avLst/>
              <a:gdLst/>
              <a:ahLst/>
              <a:cxnLst/>
              <a:rect l="l" t="t" r="r" b="b"/>
              <a:pathLst>
                <a:path w="10576560" h="878204">
                  <a:moveTo>
                    <a:pt x="10488803" y="0"/>
                  </a:moveTo>
                  <a:lnTo>
                    <a:pt x="87782" y="0"/>
                  </a:lnTo>
                  <a:lnTo>
                    <a:pt x="53615" y="6889"/>
                  </a:lnTo>
                  <a:lnTo>
                    <a:pt x="25712" y="25685"/>
                  </a:lnTo>
                  <a:lnTo>
                    <a:pt x="6899" y="53578"/>
                  </a:lnTo>
                  <a:lnTo>
                    <a:pt x="0" y="87757"/>
                  </a:lnTo>
                  <a:lnTo>
                    <a:pt x="0" y="790041"/>
                  </a:lnTo>
                  <a:lnTo>
                    <a:pt x="6899" y="824208"/>
                  </a:lnTo>
                  <a:lnTo>
                    <a:pt x="25712" y="852111"/>
                  </a:lnTo>
                  <a:lnTo>
                    <a:pt x="53615" y="870924"/>
                  </a:lnTo>
                  <a:lnTo>
                    <a:pt x="87782" y="877824"/>
                  </a:lnTo>
                  <a:lnTo>
                    <a:pt x="10488803" y="877824"/>
                  </a:lnTo>
                  <a:lnTo>
                    <a:pt x="10522981" y="870924"/>
                  </a:lnTo>
                  <a:lnTo>
                    <a:pt x="10550874" y="852111"/>
                  </a:lnTo>
                  <a:lnTo>
                    <a:pt x="10569670" y="824208"/>
                  </a:lnTo>
                  <a:lnTo>
                    <a:pt x="10576560" y="790041"/>
                  </a:lnTo>
                  <a:lnTo>
                    <a:pt x="10576560" y="87757"/>
                  </a:lnTo>
                  <a:lnTo>
                    <a:pt x="10569670" y="53578"/>
                  </a:lnTo>
                  <a:lnTo>
                    <a:pt x="10550874" y="25685"/>
                  </a:lnTo>
                  <a:lnTo>
                    <a:pt x="10522981" y="6889"/>
                  </a:lnTo>
                  <a:lnTo>
                    <a:pt x="1048880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2895" y="5483351"/>
              <a:ext cx="483234" cy="483234"/>
            </a:xfrm>
            <a:custGeom>
              <a:avLst/>
              <a:gdLst/>
              <a:ahLst/>
              <a:cxnLst/>
              <a:rect l="l" t="t" r="r" b="b"/>
              <a:pathLst>
                <a:path w="483234" h="483235">
                  <a:moveTo>
                    <a:pt x="483108" y="0"/>
                  </a:moveTo>
                  <a:lnTo>
                    <a:pt x="0" y="0"/>
                  </a:lnTo>
                  <a:lnTo>
                    <a:pt x="0" y="483108"/>
                  </a:lnTo>
                  <a:lnTo>
                    <a:pt x="483108" y="483108"/>
                  </a:lnTo>
                  <a:lnTo>
                    <a:pt x="4831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02714" y="2236977"/>
            <a:ext cx="8900160" cy="38182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candidate</a:t>
            </a:r>
            <a:r>
              <a:rPr sz="2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subset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super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9"/>
              </a:spcBef>
            </a:pPr>
            <a:endParaRPr sz="2200">
              <a:latin typeface="Calibri"/>
              <a:cs typeface="Calibri"/>
            </a:endParaRPr>
          </a:p>
          <a:p>
            <a:pPr marL="12700" marR="5080">
              <a:lnSpc>
                <a:spcPct val="101400"/>
              </a:lnSpc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candidate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field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least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combination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fields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uniquely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identifies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r>
              <a:rPr sz="2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85"/>
              </a:spcBef>
            </a:pP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least</a:t>
            </a:r>
            <a:r>
              <a:rPr sz="2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combination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fields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distinguishes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candidate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super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30"/>
              </a:spcBef>
            </a:pPr>
            <a:endParaRPr sz="2200">
              <a:latin typeface="Calibri"/>
              <a:cs typeface="Calibri"/>
            </a:endParaRPr>
          </a:p>
          <a:p>
            <a:pPr marL="12700" marR="196215">
              <a:lnSpc>
                <a:spcPts val="2600"/>
              </a:lnSpc>
            </a:pPr>
            <a:r>
              <a:rPr sz="2200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2200" spc="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FFFFFF"/>
                </a:solidFill>
                <a:latin typeface="Cambria"/>
                <a:cs typeface="Cambria"/>
              </a:rPr>
              <a:t>relation</a:t>
            </a:r>
            <a:r>
              <a:rPr sz="22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FFFFFF"/>
                </a:solidFill>
                <a:latin typeface="Cambria"/>
                <a:cs typeface="Cambria"/>
              </a:rPr>
              <a:t>student</a:t>
            </a:r>
            <a:r>
              <a:rPr sz="22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160" dirty="0">
                <a:solidFill>
                  <a:srgbClr val="FFFFFF"/>
                </a:solidFill>
                <a:latin typeface="Cambria"/>
                <a:cs typeface="Cambria"/>
              </a:rPr>
              <a:t>Gr_no</a:t>
            </a:r>
            <a:r>
              <a:rPr sz="22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22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FFFFFF"/>
                </a:solidFill>
                <a:latin typeface="Cambria"/>
                <a:cs typeface="Cambria"/>
              </a:rPr>
              <a:t>Roll_no</a:t>
            </a:r>
            <a:r>
              <a:rPr sz="22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sz="22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22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FFFFFF"/>
                </a:solidFill>
                <a:latin typeface="Cambria"/>
                <a:cs typeface="Cambria"/>
              </a:rPr>
              <a:t>candidate</a:t>
            </a:r>
            <a:r>
              <a:rPr sz="22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Cambria"/>
                <a:cs typeface="Cambria"/>
              </a:rPr>
              <a:t>keys</a:t>
            </a:r>
            <a:r>
              <a:rPr sz="22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sz="220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mbria"/>
                <a:cs typeface="Cambria"/>
              </a:rPr>
              <a:t>they </a:t>
            </a:r>
            <a:r>
              <a:rPr sz="2200" spc="60" dirty="0">
                <a:solidFill>
                  <a:srgbClr val="FFFFFF"/>
                </a:solidFill>
                <a:latin typeface="Cambria"/>
                <a:cs typeface="Cambria"/>
              </a:rPr>
              <a:t>uniquely</a:t>
            </a:r>
            <a:r>
              <a:rPr sz="22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FFFFFF"/>
                </a:solidFill>
                <a:latin typeface="Cambria"/>
                <a:cs typeface="Cambria"/>
              </a:rPr>
              <a:t>identifies</a:t>
            </a:r>
            <a:r>
              <a:rPr sz="2200" spc="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2200" spc="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65" dirty="0">
                <a:solidFill>
                  <a:srgbClr val="FFFFFF"/>
                </a:solidFill>
                <a:latin typeface="Cambria"/>
                <a:cs typeface="Cambria"/>
              </a:rPr>
              <a:t>records.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473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195" dirty="0">
                <a:latin typeface="Cambria"/>
                <a:cs typeface="Cambria"/>
              </a:rPr>
              <a:t>3.</a:t>
            </a:r>
            <a:r>
              <a:rPr sz="4800" b="1" spc="-200" dirty="0">
                <a:latin typeface="Cambria"/>
                <a:cs typeface="Cambria"/>
              </a:rPr>
              <a:t> </a:t>
            </a:r>
            <a:r>
              <a:rPr sz="4800" b="1" spc="215" dirty="0">
                <a:latin typeface="Cambria"/>
                <a:cs typeface="Cambria"/>
              </a:rPr>
              <a:t>Primary</a:t>
            </a:r>
            <a:r>
              <a:rPr sz="4800" b="1" spc="160" dirty="0">
                <a:latin typeface="Cambria"/>
                <a:cs typeface="Cambria"/>
              </a:rPr>
              <a:t> </a:t>
            </a:r>
            <a:r>
              <a:rPr sz="4800" b="1" spc="229" dirty="0">
                <a:latin typeface="Cambria"/>
                <a:cs typeface="Cambria"/>
              </a:rPr>
              <a:t>Key</a:t>
            </a:r>
            <a:endParaRPr sz="48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8200" y="1827276"/>
            <a:ext cx="10515600" cy="4348480"/>
            <a:chOff x="838200" y="1827276"/>
            <a:chExt cx="10515600" cy="4348480"/>
          </a:xfrm>
        </p:grpSpPr>
        <p:sp>
          <p:nvSpPr>
            <p:cNvPr id="5" name="object 5"/>
            <p:cNvSpPr/>
            <p:nvPr/>
          </p:nvSpPr>
          <p:spPr>
            <a:xfrm>
              <a:off x="838200" y="1827276"/>
              <a:ext cx="10515600" cy="599440"/>
            </a:xfrm>
            <a:custGeom>
              <a:avLst/>
              <a:gdLst/>
              <a:ahLst/>
              <a:cxnLst/>
              <a:rect l="l" t="t" r="r" b="b"/>
              <a:pathLst>
                <a:path w="10515600" h="599439">
                  <a:moveTo>
                    <a:pt x="10455656" y="0"/>
                  </a:moveTo>
                  <a:lnTo>
                    <a:pt x="59893" y="0"/>
                  </a:lnTo>
                  <a:lnTo>
                    <a:pt x="36577" y="4704"/>
                  </a:lnTo>
                  <a:lnTo>
                    <a:pt x="17540" y="17541"/>
                  </a:lnTo>
                  <a:lnTo>
                    <a:pt x="4705" y="36593"/>
                  </a:lnTo>
                  <a:lnTo>
                    <a:pt x="0" y="59944"/>
                  </a:lnTo>
                  <a:lnTo>
                    <a:pt x="0" y="538988"/>
                  </a:lnTo>
                  <a:lnTo>
                    <a:pt x="4705" y="562338"/>
                  </a:lnTo>
                  <a:lnTo>
                    <a:pt x="17540" y="581390"/>
                  </a:lnTo>
                  <a:lnTo>
                    <a:pt x="36577" y="594227"/>
                  </a:lnTo>
                  <a:lnTo>
                    <a:pt x="59893" y="598932"/>
                  </a:lnTo>
                  <a:lnTo>
                    <a:pt x="10455656" y="598932"/>
                  </a:lnTo>
                  <a:lnTo>
                    <a:pt x="10479006" y="594227"/>
                  </a:lnTo>
                  <a:lnTo>
                    <a:pt x="10498058" y="581390"/>
                  </a:lnTo>
                  <a:lnTo>
                    <a:pt x="10510895" y="562338"/>
                  </a:lnTo>
                  <a:lnTo>
                    <a:pt x="10515600" y="538988"/>
                  </a:lnTo>
                  <a:lnTo>
                    <a:pt x="10515600" y="59944"/>
                  </a:lnTo>
                  <a:lnTo>
                    <a:pt x="10510895" y="36593"/>
                  </a:lnTo>
                  <a:lnTo>
                    <a:pt x="10498058" y="17541"/>
                  </a:lnTo>
                  <a:lnTo>
                    <a:pt x="10479006" y="4704"/>
                  </a:lnTo>
                  <a:lnTo>
                    <a:pt x="1045565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5592" y="2055817"/>
              <a:ext cx="300355" cy="143510"/>
            </a:xfrm>
            <a:custGeom>
              <a:avLst/>
              <a:gdLst/>
              <a:ahLst/>
              <a:cxnLst/>
              <a:rect l="l" t="t" r="r" b="b"/>
              <a:pathLst>
                <a:path w="300355" h="143510">
                  <a:moveTo>
                    <a:pt x="71525" y="0"/>
                  </a:moveTo>
                  <a:lnTo>
                    <a:pt x="43681" y="5622"/>
                  </a:lnTo>
                  <a:lnTo>
                    <a:pt x="20946" y="20958"/>
                  </a:lnTo>
                  <a:lnTo>
                    <a:pt x="5619" y="43705"/>
                  </a:lnTo>
                  <a:lnTo>
                    <a:pt x="0" y="71565"/>
                  </a:lnTo>
                  <a:lnTo>
                    <a:pt x="5619" y="99424"/>
                  </a:lnTo>
                  <a:lnTo>
                    <a:pt x="20946" y="122172"/>
                  </a:lnTo>
                  <a:lnTo>
                    <a:pt x="43681" y="137507"/>
                  </a:lnTo>
                  <a:lnTo>
                    <a:pt x="71525" y="143130"/>
                  </a:lnTo>
                  <a:lnTo>
                    <a:pt x="91142" y="140436"/>
                  </a:lnTo>
                  <a:lnTo>
                    <a:pt x="108651" y="132821"/>
                  </a:lnTo>
                  <a:lnTo>
                    <a:pt x="123350" y="120989"/>
                  </a:lnTo>
                  <a:lnTo>
                    <a:pt x="134536" y="105643"/>
                  </a:lnTo>
                  <a:lnTo>
                    <a:pt x="156675" y="105643"/>
                  </a:lnTo>
                  <a:lnTo>
                    <a:pt x="170299" y="92012"/>
                  </a:lnTo>
                  <a:lnTo>
                    <a:pt x="40871" y="92012"/>
                  </a:lnTo>
                  <a:lnTo>
                    <a:pt x="32937" y="90398"/>
                  </a:lnTo>
                  <a:lnTo>
                    <a:pt x="26439" y="86006"/>
                  </a:lnTo>
                  <a:lnTo>
                    <a:pt x="22048" y="79504"/>
                  </a:lnTo>
                  <a:lnTo>
                    <a:pt x="20435" y="71565"/>
                  </a:lnTo>
                  <a:lnTo>
                    <a:pt x="22048" y="63625"/>
                  </a:lnTo>
                  <a:lnTo>
                    <a:pt x="26439" y="57124"/>
                  </a:lnTo>
                  <a:lnTo>
                    <a:pt x="32937" y="52731"/>
                  </a:lnTo>
                  <a:lnTo>
                    <a:pt x="40871" y="51118"/>
                  </a:lnTo>
                  <a:lnTo>
                    <a:pt x="283378" y="51118"/>
                  </a:lnTo>
                  <a:lnTo>
                    <a:pt x="272479" y="37486"/>
                  </a:lnTo>
                  <a:lnTo>
                    <a:pt x="134536" y="37486"/>
                  </a:lnTo>
                  <a:lnTo>
                    <a:pt x="123350" y="22140"/>
                  </a:lnTo>
                  <a:lnTo>
                    <a:pt x="108651" y="10308"/>
                  </a:lnTo>
                  <a:lnTo>
                    <a:pt x="91142" y="2694"/>
                  </a:lnTo>
                  <a:lnTo>
                    <a:pt x="71525" y="0"/>
                  </a:lnTo>
                  <a:close/>
                </a:path>
                <a:path w="300355" h="143510">
                  <a:moveTo>
                    <a:pt x="283378" y="51118"/>
                  </a:moveTo>
                  <a:lnTo>
                    <a:pt x="40871" y="51118"/>
                  </a:lnTo>
                  <a:lnTo>
                    <a:pt x="48806" y="52731"/>
                  </a:lnTo>
                  <a:lnTo>
                    <a:pt x="55304" y="57124"/>
                  </a:lnTo>
                  <a:lnTo>
                    <a:pt x="59695" y="63625"/>
                  </a:lnTo>
                  <a:lnTo>
                    <a:pt x="61307" y="71565"/>
                  </a:lnTo>
                  <a:lnTo>
                    <a:pt x="59695" y="79504"/>
                  </a:lnTo>
                  <a:lnTo>
                    <a:pt x="55304" y="86006"/>
                  </a:lnTo>
                  <a:lnTo>
                    <a:pt x="48806" y="90398"/>
                  </a:lnTo>
                  <a:lnTo>
                    <a:pt x="40871" y="92012"/>
                  </a:lnTo>
                  <a:lnTo>
                    <a:pt x="170299" y="92012"/>
                  </a:lnTo>
                  <a:lnTo>
                    <a:pt x="183923" y="105643"/>
                  </a:lnTo>
                  <a:lnTo>
                    <a:pt x="206062" y="83492"/>
                  </a:lnTo>
                  <a:lnTo>
                    <a:pt x="290190" y="83492"/>
                  </a:lnTo>
                  <a:lnTo>
                    <a:pt x="299727" y="71565"/>
                  </a:lnTo>
                  <a:lnTo>
                    <a:pt x="283378" y="51118"/>
                  </a:lnTo>
                  <a:close/>
                </a:path>
                <a:path w="300355" h="143510">
                  <a:moveTo>
                    <a:pt x="250340" y="83492"/>
                  </a:moveTo>
                  <a:lnTo>
                    <a:pt x="206062" y="83492"/>
                  </a:lnTo>
                  <a:lnTo>
                    <a:pt x="228201" y="105643"/>
                  </a:lnTo>
                  <a:lnTo>
                    <a:pt x="250340" y="83492"/>
                  </a:lnTo>
                  <a:close/>
                </a:path>
                <a:path w="300355" h="143510">
                  <a:moveTo>
                    <a:pt x="290190" y="83492"/>
                  </a:moveTo>
                  <a:lnTo>
                    <a:pt x="250340" y="83492"/>
                  </a:lnTo>
                  <a:lnTo>
                    <a:pt x="272479" y="105643"/>
                  </a:lnTo>
                  <a:lnTo>
                    <a:pt x="290190" y="83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8200" y="2577084"/>
              <a:ext cx="10515600" cy="599440"/>
            </a:xfrm>
            <a:custGeom>
              <a:avLst/>
              <a:gdLst/>
              <a:ahLst/>
              <a:cxnLst/>
              <a:rect l="l" t="t" r="r" b="b"/>
              <a:pathLst>
                <a:path w="10515600" h="599439">
                  <a:moveTo>
                    <a:pt x="10455656" y="0"/>
                  </a:moveTo>
                  <a:lnTo>
                    <a:pt x="59893" y="0"/>
                  </a:lnTo>
                  <a:lnTo>
                    <a:pt x="36577" y="4704"/>
                  </a:lnTo>
                  <a:lnTo>
                    <a:pt x="17540" y="17541"/>
                  </a:lnTo>
                  <a:lnTo>
                    <a:pt x="4705" y="36593"/>
                  </a:lnTo>
                  <a:lnTo>
                    <a:pt x="0" y="59943"/>
                  </a:lnTo>
                  <a:lnTo>
                    <a:pt x="0" y="538988"/>
                  </a:lnTo>
                  <a:lnTo>
                    <a:pt x="4705" y="562338"/>
                  </a:lnTo>
                  <a:lnTo>
                    <a:pt x="17540" y="581390"/>
                  </a:lnTo>
                  <a:lnTo>
                    <a:pt x="36577" y="594227"/>
                  </a:lnTo>
                  <a:lnTo>
                    <a:pt x="59893" y="598931"/>
                  </a:lnTo>
                  <a:lnTo>
                    <a:pt x="10455656" y="598931"/>
                  </a:lnTo>
                  <a:lnTo>
                    <a:pt x="10479006" y="594227"/>
                  </a:lnTo>
                  <a:lnTo>
                    <a:pt x="10498058" y="581390"/>
                  </a:lnTo>
                  <a:lnTo>
                    <a:pt x="10510895" y="562338"/>
                  </a:lnTo>
                  <a:lnTo>
                    <a:pt x="10515600" y="538988"/>
                  </a:lnTo>
                  <a:lnTo>
                    <a:pt x="10515600" y="59943"/>
                  </a:lnTo>
                  <a:lnTo>
                    <a:pt x="10510895" y="36593"/>
                  </a:lnTo>
                  <a:lnTo>
                    <a:pt x="10498058" y="17541"/>
                  </a:lnTo>
                  <a:lnTo>
                    <a:pt x="10479006" y="4704"/>
                  </a:lnTo>
                  <a:lnTo>
                    <a:pt x="1045565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0088" y="2747691"/>
              <a:ext cx="190735" cy="25899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38200" y="3326892"/>
              <a:ext cx="10515600" cy="599440"/>
            </a:xfrm>
            <a:custGeom>
              <a:avLst/>
              <a:gdLst/>
              <a:ahLst/>
              <a:cxnLst/>
              <a:rect l="l" t="t" r="r" b="b"/>
              <a:pathLst>
                <a:path w="10515600" h="599439">
                  <a:moveTo>
                    <a:pt x="10455656" y="0"/>
                  </a:moveTo>
                  <a:lnTo>
                    <a:pt x="59893" y="0"/>
                  </a:lnTo>
                  <a:lnTo>
                    <a:pt x="36577" y="4704"/>
                  </a:lnTo>
                  <a:lnTo>
                    <a:pt x="17540" y="17541"/>
                  </a:lnTo>
                  <a:lnTo>
                    <a:pt x="4705" y="36593"/>
                  </a:lnTo>
                  <a:lnTo>
                    <a:pt x="0" y="59944"/>
                  </a:lnTo>
                  <a:lnTo>
                    <a:pt x="0" y="538988"/>
                  </a:lnTo>
                  <a:lnTo>
                    <a:pt x="4705" y="562338"/>
                  </a:lnTo>
                  <a:lnTo>
                    <a:pt x="17540" y="581390"/>
                  </a:lnTo>
                  <a:lnTo>
                    <a:pt x="36577" y="594227"/>
                  </a:lnTo>
                  <a:lnTo>
                    <a:pt x="59893" y="598932"/>
                  </a:lnTo>
                  <a:lnTo>
                    <a:pt x="10455656" y="598932"/>
                  </a:lnTo>
                  <a:lnTo>
                    <a:pt x="10479006" y="594227"/>
                  </a:lnTo>
                  <a:lnTo>
                    <a:pt x="10498058" y="581390"/>
                  </a:lnTo>
                  <a:lnTo>
                    <a:pt x="10510895" y="562338"/>
                  </a:lnTo>
                  <a:lnTo>
                    <a:pt x="10515600" y="538988"/>
                  </a:lnTo>
                  <a:lnTo>
                    <a:pt x="10515600" y="59944"/>
                  </a:lnTo>
                  <a:lnTo>
                    <a:pt x="10510895" y="36593"/>
                  </a:lnTo>
                  <a:lnTo>
                    <a:pt x="10498058" y="17541"/>
                  </a:lnTo>
                  <a:lnTo>
                    <a:pt x="10479006" y="4704"/>
                  </a:lnTo>
                  <a:lnTo>
                    <a:pt x="1045565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6769" y="3495540"/>
              <a:ext cx="295910" cy="260985"/>
            </a:xfrm>
            <a:custGeom>
              <a:avLst/>
              <a:gdLst/>
              <a:ahLst/>
              <a:cxnLst/>
              <a:rect l="l" t="t" r="r" b="b"/>
              <a:pathLst>
                <a:path w="295909" h="260985">
                  <a:moveTo>
                    <a:pt x="148437" y="0"/>
                  </a:moveTo>
                  <a:lnTo>
                    <a:pt x="141909" y="3720"/>
                  </a:lnTo>
                  <a:lnTo>
                    <a:pt x="139811" y="4941"/>
                  </a:lnTo>
                  <a:lnTo>
                    <a:pt x="138071" y="6673"/>
                  </a:lnTo>
                  <a:lnTo>
                    <a:pt x="0" y="247030"/>
                  </a:lnTo>
                  <a:lnTo>
                    <a:pt x="2232" y="255365"/>
                  </a:lnTo>
                  <a:lnTo>
                    <a:pt x="10816" y="260324"/>
                  </a:lnTo>
                  <a:lnTo>
                    <a:pt x="13159" y="260954"/>
                  </a:lnTo>
                  <a:lnTo>
                    <a:pt x="289349" y="260954"/>
                  </a:lnTo>
                  <a:lnTo>
                    <a:pt x="295457" y="254840"/>
                  </a:lnTo>
                  <a:lnTo>
                    <a:pt x="295428" y="244923"/>
                  </a:lnTo>
                  <a:lnTo>
                    <a:pt x="294804" y="242577"/>
                  </a:lnTo>
                  <a:lnTo>
                    <a:pt x="276270" y="210316"/>
                  </a:lnTo>
                  <a:lnTo>
                    <a:pt x="114967" y="210316"/>
                  </a:lnTo>
                  <a:lnTo>
                    <a:pt x="100526" y="195867"/>
                  </a:lnTo>
                  <a:lnTo>
                    <a:pt x="134245" y="162129"/>
                  </a:lnTo>
                  <a:lnTo>
                    <a:pt x="100526" y="128391"/>
                  </a:lnTo>
                  <a:lnTo>
                    <a:pt x="114967" y="113942"/>
                  </a:lnTo>
                  <a:lnTo>
                    <a:pt x="220916" y="113942"/>
                  </a:lnTo>
                  <a:lnTo>
                    <a:pt x="156762" y="2243"/>
                  </a:lnTo>
                  <a:lnTo>
                    <a:pt x="148437" y="0"/>
                  </a:lnTo>
                  <a:close/>
                </a:path>
                <a:path w="295909" h="260985">
                  <a:moveTo>
                    <a:pt x="148687" y="176578"/>
                  </a:moveTo>
                  <a:lnTo>
                    <a:pt x="114967" y="210316"/>
                  </a:lnTo>
                  <a:lnTo>
                    <a:pt x="182406" y="210316"/>
                  </a:lnTo>
                  <a:lnTo>
                    <a:pt x="148687" y="176578"/>
                  </a:lnTo>
                  <a:close/>
                </a:path>
                <a:path w="295909" h="260985">
                  <a:moveTo>
                    <a:pt x="220916" y="113942"/>
                  </a:moveTo>
                  <a:lnTo>
                    <a:pt x="182406" y="113942"/>
                  </a:lnTo>
                  <a:lnTo>
                    <a:pt x="196847" y="128391"/>
                  </a:lnTo>
                  <a:lnTo>
                    <a:pt x="163128" y="162129"/>
                  </a:lnTo>
                  <a:lnTo>
                    <a:pt x="196847" y="195867"/>
                  </a:lnTo>
                  <a:lnTo>
                    <a:pt x="182406" y="210316"/>
                  </a:lnTo>
                  <a:lnTo>
                    <a:pt x="276270" y="210316"/>
                  </a:lnTo>
                  <a:lnTo>
                    <a:pt x="220916" y="113942"/>
                  </a:lnTo>
                  <a:close/>
                </a:path>
                <a:path w="295909" h="260985">
                  <a:moveTo>
                    <a:pt x="182406" y="113942"/>
                  </a:moveTo>
                  <a:lnTo>
                    <a:pt x="114967" y="113942"/>
                  </a:lnTo>
                  <a:lnTo>
                    <a:pt x="148687" y="147679"/>
                  </a:lnTo>
                  <a:lnTo>
                    <a:pt x="182406" y="1139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8200" y="4076700"/>
              <a:ext cx="10515600" cy="599440"/>
            </a:xfrm>
            <a:custGeom>
              <a:avLst/>
              <a:gdLst/>
              <a:ahLst/>
              <a:cxnLst/>
              <a:rect l="l" t="t" r="r" b="b"/>
              <a:pathLst>
                <a:path w="10515600" h="599439">
                  <a:moveTo>
                    <a:pt x="10455656" y="0"/>
                  </a:moveTo>
                  <a:lnTo>
                    <a:pt x="59893" y="0"/>
                  </a:lnTo>
                  <a:lnTo>
                    <a:pt x="36577" y="4704"/>
                  </a:lnTo>
                  <a:lnTo>
                    <a:pt x="17540" y="17541"/>
                  </a:lnTo>
                  <a:lnTo>
                    <a:pt x="4705" y="36593"/>
                  </a:lnTo>
                  <a:lnTo>
                    <a:pt x="0" y="59943"/>
                  </a:lnTo>
                  <a:lnTo>
                    <a:pt x="0" y="538988"/>
                  </a:lnTo>
                  <a:lnTo>
                    <a:pt x="4705" y="562338"/>
                  </a:lnTo>
                  <a:lnTo>
                    <a:pt x="17540" y="581390"/>
                  </a:lnTo>
                  <a:lnTo>
                    <a:pt x="36577" y="594227"/>
                  </a:lnTo>
                  <a:lnTo>
                    <a:pt x="59893" y="598932"/>
                  </a:lnTo>
                  <a:lnTo>
                    <a:pt x="10455656" y="598932"/>
                  </a:lnTo>
                  <a:lnTo>
                    <a:pt x="10479006" y="594227"/>
                  </a:lnTo>
                  <a:lnTo>
                    <a:pt x="10498058" y="581390"/>
                  </a:lnTo>
                  <a:lnTo>
                    <a:pt x="10510895" y="562338"/>
                  </a:lnTo>
                  <a:lnTo>
                    <a:pt x="10515600" y="538988"/>
                  </a:lnTo>
                  <a:lnTo>
                    <a:pt x="10515600" y="59943"/>
                  </a:lnTo>
                  <a:lnTo>
                    <a:pt x="10510895" y="36593"/>
                  </a:lnTo>
                  <a:lnTo>
                    <a:pt x="10498058" y="17541"/>
                  </a:lnTo>
                  <a:lnTo>
                    <a:pt x="10479006" y="4704"/>
                  </a:lnTo>
                  <a:lnTo>
                    <a:pt x="1045565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19555" y="4210811"/>
              <a:ext cx="330835" cy="330835"/>
            </a:xfrm>
            <a:custGeom>
              <a:avLst/>
              <a:gdLst/>
              <a:ahLst/>
              <a:cxnLst/>
              <a:rect l="l" t="t" r="r" b="b"/>
              <a:pathLst>
                <a:path w="330834" h="330835">
                  <a:moveTo>
                    <a:pt x="330707" y="0"/>
                  </a:moveTo>
                  <a:lnTo>
                    <a:pt x="0" y="0"/>
                  </a:lnTo>
                  <a:lnTo>
                    <a:pt x="0" y="330707"/>
                  </a:lnTo>
                  <a:lnTo>
                    <a:pt x="330707" y="330707"/>
                  </a:lnTo>
                  <a:lnTo>
                    <a:pt x="3307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8200" y="4826508"/>
              <a:ext cx="10515600" cy="599440"/>
            </a:xfrm>
            <a:custGeom>
              <a:avLst/>
              <a:gdLst/>
              <a:ahLst/>
              <a:cxnLst/>
              <a:rect l="l" t="t" r="r" b="b"/>
              <a:pathLst>
                <a:path w="10515600" h="599439">
                  <a:moveTo>
                    <a:pt x="10455656" y="0"/>
                  </a:moveTo>
                  <a:lnTo>
                    <a:pt x="59893" y="0"/>
                  </a:lnTo>
                  <a:lnTo>
                    <a:pt x="36577" y="4704"/>
                  </a:lnTo>
                  <a:lnTo>
                    <a:pt x="17540" y="17541"/>
                  </a:lnTo>
                  <a:lnTo>
                    <a:pt x="4705" y="36593"/>
                  </a:lnTo>
                  <a:lnTo>
                    <a:pt x="0" y="59944"/>
                  </a:lnTo>
                  <a:lnTo>
                    <a:pt x="0" y="538988"/>
                  </a:lnTo>
                  <a:lnTo>
                    <a:pt x="4705" y="562338"/>
                  </a:lnTo>
                  <a:lnTo>
                    <a:pt x="17540" y="581390"/>
                  </a:lnTo>
                  <a:lnTo>
                    <a:pt x="36577" y="594227"/>
                  </a:lnTo>
                  <a:lnTo>
                    <a:pt x="59893" y="598932"/>
                  </a:lnTo>
                  <a:lnTo>
                    <a:pt x="10455656" y="598932"/>
                  </a:lnTo>
                  <a:lnTo>
                    <a:pt x="10479006" y="594227"/>
                  </a:lnTo>
                  <a:lnTo>
                    <a:pt x="10498058" y="581390"/>
                  </a:lnTo>
                  <a:lnTo>
                    <a:pt x="10510895" y="562338"/>
                  </a:lnTo>
                  <a:lnTo>
                    <a:pt x="10515600" y="538988"/>
                  </a:lnTo>
                  <a:lnTo>
                    <a:pt x="10515600" y="59944"/>
                  </a:lnTo>
                  <a:lnTo>
                    <a:pt x="10510895" y="36593"/>
                  </a:lnTo>
                  <a:lnTo>
                    <a:pt x="10498058" y="17541"/>
                  </a:lnTo>
                  <a:lnTo>
                    <a:pt x="10479006" y="4704"/>
                  </a:lnTo>
                  <a:lnTo>
                    <a:pt x="1045565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9555" y="4960620"/>
              <a:ext cx="330835" cy="330835"/>
            </a:xfrm>
            <a:custGeom>
              <a:avLst/>
              <a:gdLst/>
              <a:ahLst/>
              <a:cxnLst/>
              <a:rect l="l" t="t" r="r" b="b"/>
              <a:pathLst>
                <a:path w="330834" h="330835">
                  <a:moveTo>
                    <a:pt x="330707" y="0"/>
                  </a:moveTo>
                  <a:lnTo>
                    <a:pt x="0" y="0"/>
                  </a:lnTo>
                  <a:lnTo>
                    <a:pt x="0" y="330707"/>
                  </a:lnTo>
                  <a:lnTo>
                    <a:pt x="330707" y="330707"/>
                  </a:lnTo>
                  <a:lnTo>
                    <a:pt x="3307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8200" y="5576316"/>
              <a:ext cx="10515600" cy="599440"/>
            </a:xfrm>
            <a:custGeom>
              <a:avLst/>
              <a:gdLst/>
              <a:ahLst/>
              <a:cxnLst/>
              <a:rect l="l" t="t" r="r" b="b"/>
              <a:pathLst>
                <a:path w="10515600" h="599439">
                  <a:moveTo>
                    <a:pt x="10455656" y="0"/>
                  </a:moveTo>
                  <a:lnTo>
                    <a:pt x="59893" y="0"/>
                  </a:lnTo>
                  <a:lnTo>
                    <a:pt x="36577" y="4705"/>
                  </a:lnTo>
                  <a:lnTo>
                    <a:pt x="17540" y="17540"/>
                  </a:lnTo>
                  <a:lnTo>
                    <a:pt x="4705" y="36577"/>
                  </a:lnTo>
                  <a:lnTo>
                    <a:pt x="0" y="59893"/>
                  </a:lnTo>
                  <a:lnTo>
                    <a:pt x="0" y="539038"/>
                  </a:lnTo>
                  <a:lnTo>
                    <a:pt x="4705" y="562354"/>
                  </a:lnTo>
                  <a:lnTo>
                    <a:pt x="17540" y="581391"/>
                  </a:lnTo>
                  <a:lnTo>
                    <a:pt x="36577" y="594226"/>
                  </a:lnTo>
                  <a:lnTo>
                    <a:pt x="59893" y="598932"/>
                  </a:lnTo>
                  <a:lnTo>
                    <a:pt x="10455656" y="598932"/>
                  </a:lnTo>
                  <a:lnTo>
                    <a:pt x="10479006" y="594226"/>
                  </a:lnTo>
                  <a:lnTo>
                    <a:pt x="10498058" y="581391"/>
                  </a:lnTo>
                  <a:lnTo>
                    <a:pt x="10510895" y="562354"/>
                  </a:lnTo>
                  <a:lnTo>
                    <a:pt x="10515600" y="539038"/>
                  </a:lnTo>
                  <a:lnTo>
                    <a:pt x="10515600" y="59893"/>
                  </a:lnTo>
                  <a:lnTo>
                    <a:pt x="10510895" y="36577"/>
                  </a:lnTo>
                  <a:lnTo>
                    <a:pt x="10498058" y="17540"/>
                  </a:lnTo>
                  <a:lnTo>
                    <a:pt x="10479006" y="4705"/>
                  </a:lnTo>
                  <a:lnTo>
                    <a:pt x="1045565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9555" y="5710428"/>
              <a:ext cx="330835" cy="330835"/>
            </a:xfrm>
            <a:custGeom>
              <a:avLst/>
              <a:gdLst/>
              <a:ahLst/>
              <a:cxnLst/>
              <a:rect l="l" t="t" r="r" b="b"/>
              <a:pathLst>
                <a:path w="330834" h="330835">
                  <a:moveTo>
                    <a:pt x="330707" y="0"/>
                  </a:moveTo>
                  <a:lnTo>
                    <a:pt x="0" y="0"/>
                  </a:lnTo>
                  <a:lnTo>
                    <a:pt x="0" y="330708"/>
                  </a:lnTo>
                  <a:lnTo>
                    <a:pt x="330707" y="330708"/>
                  </a:lnTo>
                  <a:lnTo>
                    <a:pt x="3307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582038" y="1969084"/>
            <a:ext cx="9653905" cy="4018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candidate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most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appropriate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main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reference key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table.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ts val="1835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suggests,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reference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throughout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help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835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establish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relationships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tables.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175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candidate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contain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unique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values,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never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null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uniquely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each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table.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key=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Unique+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Null</a:t>
            </a:r>
            <a:endParaRPr sz="1600">
              <a:latin typeface="Calibri"/>
              <a:cs typeface="Calibri"/>
            </a:endParaRPr>
          </a:p>
          <a:p>
            <a:pPr marL="12700" marR="1958339">
              <a:lnSpc>
                <a:spcPct val="3075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mandatory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every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key.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relation,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Gr_no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most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appropriate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choice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key.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95181" y="457924"/>
            <a:ext cx="2422525" cy="1127125"/>
          </a:xfrm>
          <a:custGeom>
            <a:avLst/>
            <a:gdLst/>
            <a:ahLst/>
            <a:cxnLst/>
            <a:rect l="l" t="t" r="r" b="b"/>
            <a:pathLst>
              <a:path w="2422525" h="1127125">
                <a:moveTo>
                  <a:pt x="0" y="361098"/>
                </a:moveTo>
                <a:lnTo>
                  <a:pt x="37168" y="330162"/>
                </a:lnTo>
                <a:lnTo>
                  <a:pt x="75036" y="300628"/>
                </a:lnTo>
                <a:lnTo>
                  <a:pt x="113571" y="272494"/>
                </a:lnTo>
                <a:lnTo>
                  <a:pt x="152740" y="245758"/>
                </a:lnTo>
                <a:lnTo>
                  <a:pt x="192511" y="220416"/>
                </a:lnTo>
                <a:lnTo>
                  <a:pt x="232851" y="196467"/>
                </a:lnTo>
                <a:lnTo>
                  <a:pt x="273727" y="173908"/>
                </a:lnTo>
                <a:lnTo>
                  <a:pt x="315107" y="152737"/>
                </a:lnTo>
                <a:lnTo>
                  <a:pt x="356958" y="132951"/>
                </a:lnTo>
                <a:lnTo>
                  <a:pt x="399246" y="114547"/>
                </a:lnTo>
                <a:lnTo>
                  <a:pt x="441941" y="97523"/>
                </a:lnTo>
                <a:lnTo>
                  <a:pt x="485007" y="81877"/>
                </a:lnTo>
                <a:lnTo>
                  <a:pt x="528414" y="67607"/>
                </a:lnTo>
                <a:lnTo>
                  <a:pt x="572128" y="54709"/>
                </a:lnTo>
                <a:lnTo>
                  <a:pt x="616117" y="43182"/>
                </a:lnTo>
                <a:lnTo>
                  <a:pt x="660348" y="33022"/>
                </a:lnTo>
                <a:lnTo>
                  <a:pt x="704788" y="24228"/>
                </a:lnTo>
                <a:lnTo>
                  <a:pt x="749405" y="16797"/>
                </a:lnTo>
                <a:lnTo>
                  <a:pt x="794166" y="10726"/>
                </a:lnTo>
                <a:lnTo>
                  <a:pt x="839037" y="6014"/>
                </a:lnTo>
                <a:lnTo>
                  <a:pt x="883987" y="2657"/>
                </a:lnTo>
                <a:lnTo>
                  <a:pt x="928983" y="653"/>
                </a:lnTo>
                <a:lnTo>
                  <a:pt x="973992" y="0"/>
                </a:lnTo>
                <a:lnTo>
                  <a:pt x="1018982" y="695"/>
                </a:lnTo>
                <a:lnTo>
                  <a:pt x="1063919" y="2735"/>
                </a:lnTo>
                <a:lnTo>
                  <a:pt x="1108771" y="6119"/>
                </a:lnTo>
                <a:lnTo>
                  <a:pt x="1153505" y="10844"/>
                </a:lnTo>
                <a:lnTo>
                  <a:pt x="1198089" y="16908"/>
                </a:lnTo>
                <a:lnTo>
                  <a:pt x="1242490" y="24307"/>
                </a:lnTo>
                <a:lnTo>
                  <a:pt x="1286675" y="33039"/>
                </a:lnTo>
                <a:lnTo>
                  <a:pt x="1330611" y="43103"/>
                </a:lnTo>
                <a:lnTo>
                  <a:pt x="1374267" y="54495"/>
                </a:lnTo>
                <a:lnTo>
                  <a:pt x="1417608" y="67214"/>
                </a:lnTo>
                <a:lnTo>
                  <a:pt x="1460603" y="81256"/>
                </a:lnTo>
                <a:lnTo>
                  <a:pt x="1503219" y="96619"/>
                </a:lnTo>
                <a:lnTo>
                  <a:pt x="1545422" y="113301"/>
                </a:lnTo>
                <a:lnTo>
                  <a:pt x="1587181" y="131299"/>
                </a:lnTo>
                <a:lnTo>
                  <a:pt x="1628462" y="150611"/>
                </a:lnTo>
                <a:lnTo>
                  <a:pt x="1669234" y="171234"/>
                </a:lnTo>
                <a:lnTo>
                  <a:pt x="1709462" y="193166"/>
                </a:lnTo>
                <a:lnTo>
                  <a:pt x="1749116" y="216404"/>
                </a:lnTo>
                <a:lnTo>
                  <a:pt x="1788160" y="240947"/>
                </a:lnTo>
                <a:lnTo>
                  <a:pt x="1826565" y="266791"/>
                </a:lnTo>
                <a:lnTo>
                  <a:pt x="1864295" y="293934"/>
                </a:lnTo>
                <a:lnTo>
                  <a:pt x="1901319" y="322374"/>
                </a:lnTo>
                <a:lnTo>
                  <a:pt x="1937605" y="352107"/>
                </a:lnTo>
                <a:lnTo>
                  <a:pt x="1973118" y="383133"/>
                </a:lnTo>
                <a:lnTo>
                  <a:pt x="2007828" y="415447"/>
                </a:lnTo>
                <a:lnTo>
                  <a:pt x="2041700" y="449049"/>
                </a:lnTo>
                <a:lnTo>
                  <a:pt x="2074702" y="483934"/>
                </a:lnTo>
                <a:lnTo>
                  <a:pt x="2106803" y="520102"/>
                </a:lnTo>
                <a:lnTo>
                  <a:pt x="2138395" y="558122"/>
                </a:lnTo>
                <a:lnTo>
                  <a:pt x="2168664" y="597102"/>
                </a:lnTo>
                <a:lnTo>
                  <a:pt x="2197590" y="637005"/>
                </a:lnTo>
                <a:lnTo>
                  <a:pt x="2225155" y="677796"/>
                </a:lnTo>
                <a:lnTo>
                  <a:pt x="2251343" y="719439"/>
                </a:lnTo>
                <a:lnTo>
                  <a:pt x="2276133" y="761898"/>
                </a:lnTo>
                <a:lnTo>
                  <a:pt x="2299509" y="805137"/>
                </a:lnTo>
                <a:lnTo>
                  <a:pt x="2321452" y="849121"/>
                </a:lnTo>
                <a:lnTo>
                  <a:pt x="2341945" y="893814"/>
                </a:lnTo>
                <a:lnTo>
                  <a:pt x="2360969" y="939180"/>
                </a:lnTo>
                <a:lnTo>
                  <a:pt x="2378506" y="985182"/>
                </a:lnTo>
                <a:lnTo>
                  <a:pt x="2394539" y="1031786"/>
                </a:lnTo>
                <a:lnTo>
                  <a:pt x="2409048" y="1078955"/>
                </a:lnTo>
                <a:lnTo>
                  <a:pt x="2422017" y="1126654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473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195" dirty="0">
                <a:latin typeface="Cambria"/>
                <a:cs typeface="Cambria"/>
              </a:rPr>
              <a:t>4.</a:t>
            </a:r>
            <a:r>
              <a:rPr sz="4800" b="1" spc="-210" dirty="0">
                <a:latin typeface="Cambria"/>
                <a:cs typeface="Cambria"/>
              </a:rPr>
              <a:t> </a:t>
            </a:r>
            <a:r>
              <a:rPr sz="4800" b="1" spc="110" dirty="0">
                <a:latin typeface="Cambria"/>
                <a:cs typeface="Cambria"/>
              </a:rPr>
              <a:t>Foreign</a:t>
            </a:r>
            <a:r>
              <a:rPr sz="4800" b="1" spc="145" dirty="0">
                <a:latin typeface="Cambria"/>
                <a:cs typeface="Cambria"/>
              </a:rPr>
              <a:t> </a:t>
            </a:r>
            <a:r>
              <a:rPr sz="4800" b="1" spc="229" dirty="0">
                <a:latin typeface="Cambria"/>
                <a:cs typeface="Cambria"/>
              </a:rPr>
              <a:t>Key</a:t>
            </a:r>
            <a:endParaRPr sz="48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8200" y="1825751"/>
            <a:ext cx="10515600" cy="1243965"/>
            <a:chOff x="838200" y="1825751"/>
            <a:chExt cx="10515600" cy="1243965"/>
          </a:xfrm>
        </p:grpSpPr>
        <p:sp>
          <p:nvSpPr>
            <p:cNvPr id="5" name="object 5"/>
            <p:cNvSpPr/>
            <p:nvPr/>
          </p:nvSpPr>
          <p:spPr>
            <a:xfrm>
              <a:off x="838200" y="1825751"/>
              <a:ext cx="10515600" cy="1243965"/>
            </a:xfrm>
            <a:custGeom>
              <a:avLst/>
              <a:gdLst/>
              <a:ahLst/>
              <a:cxnLst/>
              <a:rect l="l" t="t" r="r" b="b"/>
              <a:pathLst>
                <a:path w="10515600" h="1243964">
                  <a:moveTo>
                    <a:pt x="10391267" y="0"/>
                  </a:moveTo>
                  <a:lnTo>
                    <a:pt x="124358" y="0"/>
                  </a:lnTo>
                  <a:lnTo>
                    <a:pt x="75952" y="9765"/>
                  </a:lnTo>
                  <a:lnTo>
                    <a:pt x="36423" y="36401"/>
                  </a:lnTo>
                  <a:lnTo>
                    <a:pt x="9772" y="75920"/>
                  </a:lnTo>
                  <a:lnTo>
                    <a:pt x="0" y="124333"/>
                  </a:lnTo>
                  <a:lnTo>
                    <a:pt x="0" y="1119251"/>
                  </a:lnTo>
                  <a:lnTo>
                    <a:pt x="9772" y="1167663"/>
                  </a:lnTo>
                  <a:lnTo>
                    <a:pt x="36423" y="1207182"/>
                  </a:lnTo>
                  <a:lnTo>
                    <a:pt x="75952" y="1233818"/>
                  </a:lnTo>
                  <a:lnTo>
                    <a:pt x="124358" y="1243584"/>
                  </a:lnTo>
                  <a:lnTo>
                    <a:pt x="10391267" y="1243584"/>
                  </a:lnTo>
                  <a:lnTo>
                    <a:pt x="10439679" y="1233818"/>
                  </a:lnTo>
                  <a:lnTo>
                    <a:pt x="10479198" y="1207182"/>
                  </a:lnTo>
                  <a:lnTo>
                    <a:pt x="10505834" y="1167663"/>
                  </a:lnTo>
                  <a:lnTo>
                    <a:pt x="10515600" y="1119251"/>
                  </a:lnTo>
                  <a:lnTo>
                    <a:pt x="10515600" y="124333"/>
                  </a:lnTo>
                  <a:lnTo>
                    <a:pt x="10505834" y="75920"/>
                  </a:lnTo>
                  <a:lnTo>
                    <a:pt x="10479198" y="36401"/>
                  </a:lnTo>
                  <a:lnTo>
                    <a:pt x="10439679" y="9765"/>
                  </a:lnTo>
                  <a:lnTo>
                    <a:pt x="1039126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47735" y="2301120"/>
              <a:ext cx="619125" cy="295910"/>
            </a:xfrm>
            <a:custGeom>
              <a:avLst/>
              <a:gdLst/>
              <a:ahLst/>
              <a:cxnLst/>
              <a:rect l="l" t="t" r="r" b="b"/>
              <a:pathLst>
                <a:path w="619125" h="295910">
                  <a:moveTo>
                    <a:pt x="147665" y="0"/>
                  </a:moveTo>
                  <a:lnTo>
                    <a:pt x="100986" y="7530"/>
                  </a:lnTo>
                  <a:lnTo>
                    <a:pt x="60450" y="28502"/>
                  </a:lnTo>
                  <a:lnTo>
                    <a:pt x="28486" y="60483"/>
                  </a:lnTo>
                  <a:lnTo>
                    <a:pt x="7526" y="101041"/>
                  </a:lnTo>
                  <a:lnTo>
                    <a:pt x="0" y="147746"/>
                  </a:lnTo>
                  <a:lnTo>
                    <a:pt x="7526" y="194451"/>
                  </a:lnTo>
                  <a:lnTo>
                    <a:pt x="28486" y="235010"/>
                  </a:lnTo>
                  <a:lnTo>
                    <a:pt x="60450" y="266991"/>
                  </a:lnTo>
                  <a:lnTo>
                    <a:pt x="100986" y="287962"/>
                  </a:lnTo>
                  <a:lnTo>
                    <a:pt x="147665" y="295493"/>
                  </a:lnTo>
                  <a:lnTo>
                    <a:pt x="188163" y="289931"/>
                  </a:lnTo>
                  <a:lnTo>
                    <a:pt x="224311" y="274211"/>
                  </a:lnTo>
                  <a:lnTo>
                    <a:pt x="254657" y="249784"/>
                  </a:lnTo>
                  <a:lnTo>
                    <a:pt x="277751" y="218102"/>
                  </a:lnTo>
                  <a:lnTo>
                    <a:pt x="323457" y="218102"/>
                  </a:lnTo>
                  <a:lnTo>
                    <a:pt x="351584" y="189960"/>
                  </a:lnTo>
                  <a:lnTo>
                    <a:pt x="84380" y="189960"/>
                  </a:lnTo>
                  <a:lnTo>
                    <a:pt x="67998" y="186629"/>
                  </a:lnTo>
                  <a:lnTo>
                    <a:pt x="54583" y="177560"/>
                  </a:lnTo>
                  <a:lnTo>
                    <a:pt x="45519" y="164137"/>
                  </a:lnTo>
                  <a:lnTo>
                    <a:pt x="42190" y="147746"/>
                  </a:lnTo>
                  <a:lnTo>
                    <a:pt x="45519" y="131356"/>
                  </a:lnTo>
                  <a:lnTo>
                    <a:pt x="54583" y="117933"/>
                  </a:lnTo>
                  <a:lnTo>
                    <a:pt x="67998" y="108864"/>
                  </a:lnTo>
                  <a:lnTo>
                    <a:pt x="84380" y="105533"/>
                  </a:lnTo>
                  <a:lnTo>
                    <a:pt x="585036" y="105533"/>
                  </a:lnTo>
                  <a:lnTo>
                    <a:pt x="562535" y="77391"/>
                  </a:lnTo>
                  <a:lnTo>
                    <a:pt x="277751" y="77391"/>
                  </a:lnTo>
                  <a:lnTo>
                    <a:pt x="254657" y="45709"/>
                  </a:lnTo>
                  <a:lnTo>
                    <a:pt x="224311" y="21282"/>
                  </a:lnTo>
                  <a:lnTo>
                    <a:pt x="188163" y="5562"/>
                  </a:lnTo>
                  <a:lnTo>
                    <a:pt x="147665" y="0"/>
                  </a:lnTo>
                  <a:close/>
                </a:path>
                <a:path w="619125" h="295910">
                  <a:moveTo>
                    <a:pt x="585036" y="105533"/>
                  </a:moveTo>
                  <a:lnTo>
                    <a:pt x="84380" y="105533"/>
                  </a:lnTo>
                  <a:lnTo>
                    <a:pt x="100761" y="108864"/>
                  </a:lnTo>
                  <a:lnTo>
                    <a:pt x="114177" y="117933"/>
                  </a:lnTo>
                  <a:lnTo>
                    <a:pt x="123241" y="131356"/>
                  </a:lnTo>
                  <a:lnTo>
                    <a:pt x="126570" y="147746"/>
                  </a:lnTo>
                  <a:lnTo>
                    <a:pt x="123241" y="164137"/>
                  </a:lnTo>
                  <a:lnTo>
                    <a:pt x="114177" y="177560"/>
                  </a:lnTo>
                  <a:lnTo>
                    <a:pt x="100761" y="186629"/>
                  </a:lnTo>
                  <a:lnTo>
                    <a:pt x="84380" y="189960"/>
                  </a:lnTo>
                  <a:lnTo>
                    <a:pt x="351584" y="189960"/>
                  </a:lnTo>
                  <a:lnTo>
                    <a:pt x="379711" y="218102"/>
                  </a:lnTo>
                  <a:lnTo>
                    <a:pt x="425417" y="172371"/>
                  </a:lnTo>
                  <a:lnTo>
                    <a:pt x="599100" y="172371"/>
                  </a:lnTo>
                  <a:lnTo>
                    <a:pt x="618789" y="147746"/>
                  </a:lnTo>
                  <a:lnTo>
                    <a:pt x="585036" y="105533"/>
                  </a:lnTo>
                  <a:close/>
                </a:path>
                <a:path w="619125" h="295910">
                  <a:moveTo>
                    <a:pt x="516829" y="172371"/>
                  </a:moveTo>
                  <a:lnTo>
                    <a:pt x="425417" y="172371"/>
                  </a:lnTo>
                  <a:lnTo>
                    <a:pt x="471123" y="218102"/>
                  </a:lnTo>
                  <a:lnTo>
                    <a:pt x="516829" y="172371"/>
                  </a:lnTo>
                  <a:close/>
                </a:path>
                <a:path w="619125" h="295910">
                  <a:moveTo>
                    <a:pt x="599100" y="172371"/>
                  </a:moveTo>
                  <a:lnTo>
                    <a:pt x="516829" y="172371"/>
                  </a:lnTo>
                  <a:lnTo>
                    <a:pt x="562535" y="218102"/>
                  </a:lnTo>
                  <a:lnTo>
                    <a:pt x="599100" y="1723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38200" y="3380232"/>
            <a:ext cx="10515600" cy="1242060"/>
            <a:chOff x="838200" y="3380232"/>
            <a:chExt cx="10515600" cy="1242060"/>
          </a:xfrm>
        </p:grpSpPr>
        <p:sp>
          <p:nvSpPr>
            <p:cNvPr id="8" name="object 8"/>
            <p:cNvSpPr/>
            <p:nvPr/>
          </p:nvSpPr>
          <p:spPr>
            <a:xfrm>
              <a:off x="838200" y="3380232"/>
              <a:ext cx="10515600" cy="1242060"/>
            </a:xfrm>
            <a:custGeom>
              <a:avLst/>
              <a:gdLst/>
              <a:ahLst/>
              <a:cxnLst/>
              <a:rect l="l" t="t" r="r" b="b"/>
              <a:pathLst>
                <a:path w="10515600" h="1242060">
                  <a:moveTo>
                    <a:pt x="10391394" y="0"/>
                  </a:moveTo>
                  <a:lnTo>
                    <a:pt x="124206" y="0"/>
                  </a:lnTo>
                  <a:lnTo>
                    <a:pt x="75861" y="9763"/>
                  </a:lnTo>
                  <a:lnTo>
                    <a:pt x="36380" y="36385"/>
                  </a:lnTo>
                  <a:lnTo>
                    <a:pt x="9761" y="75866"/>
                  </a:lnTo>
                  <a:lnTo>
                    <a:pt x="0" y="124205"/>
                  </a:lnTo>
                  <a:lnTo>
                    <a:pt x="0" y="1117853"/>
                  </a:lnTo>
                  <a:lnTo>
                    <a:pt x="9761" y="1166193"/>
                  </a:lnTo>
                  <a:lnTo>
                    <a:pt x="36380" y="1205674"/>
                  </a:lnTo>
                  <a:lnTo>
                    <a:pt x="75861" y="1232296"/>
                  </a:lnTo>
                  <a:lnTo>
                    <a:pt x="124206" y="1242059"/>
                  </a:lnTo>
                  <a:lnTo>
                    <a:pt x="10391394" y="1242059"/>
                  </a:lnTo>
                  <a:lnTo>
                    <a:pt x="10439733" y="1232296"/>
                  </a:lnTo>
                  <a:lnTo>
                    <a:pt x="10479214" y="1205674"/>
                  </a:lnTo>
                  <a:lnTo>
                    <a:pt x="10505836" y="1166193"/>
                  </a:lnTo>
                  <a:lnTo>
                    <a:pt x="10515600" y="1117853"/>
                  </a:lnTo>
                  <a:lnTo>
                    <a:pt x="10515600" y="124205"/>
                  </a:lnTo>
                  <a:lnTo>
                    <a:pt x="10505836" y="75866"/>
                  </a:lnTo>
                  <a:lnTo>
                    <a:pt x="10479214" y="36385"/>
                  </a:lnTo>
                  <a:lnTo>
                    <a:pt x="10439733" y="9763"/>
                  </a:lnTo>
                  <a:lnTo>
                    <a:pt x="103913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32265" y="3775543"/>
              <a:ext cx="650240" cy="457834"/>
            </a:xfrm>
            <a:custGeom>
              <a:avLst/>
              <a:gdLst/>
              <a:ahLst/>
              <a:cxnLst/>
              <a:rect l="l" t="t" r="r" b="b"/>
              <a:pathLst>
                <a:path w="650239" h="457835">
                  <a:moveTo>
                    <a:pt x="592771" y="0"/>
                  </a:moveTo>
                  <a:lnTo>
                    <a:pt x="232749" y="341278"/>
                  </a:lnTo>
                  <a:lnTo>
                    <a:pt x="59769" y="163587"/>
                  </a:lnTo>
                  <a:lnTo>
                    <a:pt x="0" y="220702"/>
                  </a:lnTo>
                  <a:lnTo>
                    <a:pt x="229936" y="457623"/>
                  </a:lnTo>
                  <a:lnTo>
                    <a:pt x="290408" y="401213"/>
                  </a:lnTo>
                  <a:lnTo>
                    <a:pt x="649728" y="59230"/>
                  </a:lnTo>
                  <a:lnTo>
                    <a:pt x="5927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38200" y="4933188"/>
            <a:ext cx="10515600" cy="1243965"/>
            <a:chOff x="838200" y="4933188"/>
            <a:chExt cx="10515600" cy="1243965"/>
          </a:xfrm>
        </p:grpSpPr>
        <p:sp>
          <p:nvSpPr>
            <p:cNvPr id="11" name="object 11"/>
            <p:cNvSpPr/>
            <p:nvPr/>
          </p:nvSpPr>
          <p:spPr>
            <a:xfrm>
              <a:off x="838200" y="4933188"/>
              <a:ext cx="10515600" cy="1243965"/>
            </a:xfrm>
            <a:custGeom>
              <a:avLst/>
              <a:gdLst/>
              <a:ahLst/>
              <a:cxnLst/>
              <a:rect l="l" t="t" r="r" b="b"/>
              <a:pathLst>
                <a:path w="10515600" h="1243964">
                  <a:moveTo>
                    <a:pt x="10391267" y="0"/>
                  </a:moveTo>
                  <a:lnTo>
                    <a:pt x="124358" y="0"/>
                  </a:lnTo>
                  <a:lnTo>
                    <a:pt x="75952" y="9765"/>
                  </a:lnTo>
                  <a:lnTo>
                    <a:pt x="36423" y="36401"/>
                  </a:lnTo>
                  <a:lnTo>
                    <a:pt x="9772" y="75920"/>
                  </a:lnTo>
                  <a:lnTo>
                    <a:pt x="0" y="124332"/>
                  </a:lnTo>
                  <a:lnTo>
                    <a:pt x="0" y="1119225"/>
                  </a:lnTo>
                  <a:lnTo>
                    <a:pt x="9772" y="1167631"/>
                  </a:lnTo>
                  <a:lnTo>
                    <a:pt x="36423" y="1207160"/>
                  </a:lnTo>
                  <a:lnTo>
                    <a:pt x="75952" y="1233811"/>
                  </a:lnTo>
                  <a:lnTo>
                    <a:pt x="124358" y="1243584"/>
                  </a:lnTo>
                  <a:lnTo>
                    <a:pt x="10391267" y="1243584"/>
                  </a:lnTo>
                  <a:lnTo>
                    <a:pt x="10439679" y="1233811"/>
                  </a:lnTo>
                  <a:lnTo>
                    <a:pt x="10479198" y="1207160"/>
                  </a:lnTo>
                  <a:lnTo>
                    <a:pt x="10505834" y="1167631"/>
                  </a:lnTo>
                  <a:lnTo>
                    <a:pt x="10515600" y="1119225"/>
                  </a:lnTo>
                  <a:lnTo>
                    <a:pt x="10515600" y="124332"/>
                  </a:lnTo>
                  <a:lnTo>
                    <a:pt x="10505834" y="75920"/>
                  </a:lnTo>
                  <a:lnTo>
                    <a:pt x="10479198" y="36401"/>
                  </a:lnTo>
                  <a:lnTo>
                    <a:pt x="10439679" y="9765"/>
                  </a:lnTo>
                  <a:lnTo>
                    <a:pt x="1039126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4623" y="5666058"/>
              <a:ext cx="407838" cy="13648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8881" y="5360855"/>
              <a:ext cx="83536" cy="8358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55814" y="5288953"/>
              <a:ext cx="533400" cy="542290"/>
            </a:xfrm>
            <a:custGeom>
              <a:avLst/>
              <a:gdLst/>
              <a:ahLst/>
              <a:cxnLst/>
              <a:rect l="l" t="t" r="r" b="b"/>
              <a:pathLst>
                <a:path w="533400" h="542289">
                  <a:moveTo>
                    <a:pt x="365252" y="101752"/>
                  </a:moveTo>
                  <a:lnTo>
                    <a:pt x="361149" y="97586"/>
                  </a:lnTo>
                  <a:lnTo>
                    <a:pt x="357022" y="93510"/>
                  </a:lnTo>
                  <a:lnTo>
                    <a:pt x="350367" y="93510"/>
                  </a:lnTo>
                  <a:lnTo>
                    <a:pt x="255397" y="188493"/>
                  </a:lnTo>
                  <a:lnTo>
                    <a:pt x="248132" y="186436"/>
                  </a:lnTo>
                  <a:lnTo>
                    <a:pt x="240322" y="188429"/>
                  </a:lnTo>
                  <a:lnTo>
                    <a:pt x="234924" y="193700"/>
                  </a:lnTo>
                  <a:lnTo>
                    <a:pt x="207225" y="238086"/>
                  </a:lnTo>
                  <a:lnTo>
                    <a:pt x="198310" y="200202"/>
                  </a:lnTo>
                  <a:lnTo>
                    <a:pt x="160997" y="174129"/>
                  </a:lnTo>
                  <a:lnTo>
                    <a:pt x="123482" y="166357"/>
                  </a:lnTo>
                  <a:lnTo>
                    <a:pt x="106095" y="166331"/>
                  </a:lnTo>
                  <a:lnTo>
                    <a:pt x="88836" y="168935"/>
                  </a:lnTo>
                  <a:lnTo>
                    <a:pt x="46494" y="186474"/>
                  </a:lnTo>
                  <a:lnTo>
                    <a:pt x="0" y="335038"/>
                  </a:lnTo>
                  <a:lnTo>
                    <a:pt x="1663" y="343255"/>
                  </a:lnTo>
                  <a:lnTo>
                    <a:pt x="6184" y="349961"/>
                  </a:lnTo>
                  <a:lnTo>
                    <a:pt x="12890" y="354482"/>
                  </a:lnTo>
                  <a:lnTo>
                    <a:pt x="21094" y="356146"/>
                  </a:lnTo>
                  <a:lnTo>
                    <a:pt x="30429" y="355904"/>
                  </a:lnTo>
                  <a:lnTo>
                    <a:pt x="38506" y="349554"/>
                  </a:lnTo>
                  <a:lnTo>
                    <a:pt x="62865" y="249694"/>
                  </a:lnTo>
                  <a:lnTo>
                    <a:pt x="62865" y="541743"/>
                  </a:lnTo>
                  <a:lnTo>
                    <a:pt x="104419" y="541743"/>
                  </a:lnTo>
                  <a:lnTo>
                    <a:pt x="104419" y="353822"/>
                  </a:lnTo>
                  <a:lnTo>
                    <a:pt x="125514" y="353822"/>
                  </a:lnTo>
                  <a:lnTo>
                    <a:pt x="125514" y="541743"/>
                  </a:lnTo>
                  <a:lnTo>
                    <a:pt x="167005" y="541743"/>
                  </a:lnTo>
                  <a:lnTo>
                    <a:pt x="167005" y="248361"/>
                  </a:lnTo>
                  <a:lnTo>
                    <a:pt x="175272" y="283718"/>
                  </a:lnTo>
                  <a:lnTo>
                    <a:pt x="213652" y="297561"/>
                  </a:lnTo>
                  <a:lnTo>
                    <a:pt x="220218" y="294563"/>
                  </a:lnTo>
                  <a:lnTo>
                    <a:pt x="269532" y="214274"/>
                  </a:lnTo>
                  <a:lnTo>
                    <a:pt x="270548" y="209080"/>
                  </a:lnTo>
                  <a:lnTo>
                    <a:pt x="269671" y="204038"/>
                  </a:lnTo>
                  <a:lnTo>
                    <a:pt x="365226" y="108445"/>
                  </a:lnTo>
                  <a:lnTo>
                    <a:pt x="365252" y="101752"/>
                  </a:lnTo>
                  <a:close/>
                </a:path>
                <a:path w="533400" h="542289">
                  <a:moveTo>
                    <a:pt x="533361" y="28143"/>
                  </a:moveTo>
                  <a:lnTo>
                    <a:pt x="531139" y="17195"/>
                  </a:lnTo>
                  <a:lnTo>
                    <a:pt x="525119" y="8255"/>
                  </a:lnTo>
                  <a:lnTo>
                    <a:pt x="516178" y="2222"/>
                  </a:lnTo>
                  <a:lnTo>
                    <a:pt x="505231" y="0"/>
                  </a:lnTo>
                  <a:lnTo>
                    <a:pt x="160680" y="0"/>
                  </a:lnTo>
                  <a:lnTo>
                    <a:pt x="149733" y="2222"/>
                  </a:lnTo>
                  <a:lnTo>
                    <a:pt x="140792" y="8255"/>
                  </a:lnTo>
                  <a:lnTo>
                    <a:pt x="134759" y="17195"/>
                  </a:lnTo>
                  <a:lnTo>
                    <a:pt x="132549" y="28143"/>
                  </a:lnTo>
                  <a:lnTo>
                    <a:pt x="132549" y="53479"/>
                  </a:lnTo>
                  <a:lnTo>
                    <a:pt x="140411" y="56210"/>
                  </a:lnTo>
                  <a:lnTo>
                    <a:pt x="147777" y="59969"/>
                  </a:lnTo>
                  <a:lnTo>
                    <a:pt x="154571" y="64706"/>
                  </a:lnTo>
                  <a:lnTo>
                    <a:pt x="160680" y="70358"/>
                  </a:lnTo>
                  <a:lnTo>
                    <a:pt x="160680" y="28143"/>
                  </a:lnTo>
                  <a:lnTo>
                    <a:pt x="505231" y="28143"/>
                  </a:lnTo>
                  <a:lnTo>
                    <a:pt x="505231" y="260324"/>
                  </a:lnTo>
                  <a:lnTo>
                    <a:pt x="265239" y="260324"/>
                  </a:lnTo>
                  <a:lnTo>
                    <a:pt x="248081" y="288467"/>
                  </a:lnTo>
                  <a:lnTo>
                    <a:pt x="505231" y="288467"/>
                  </a:lnTo>
                  <a:lnTo>
                    <a:pt x="516178" y="286258"/>
                  </a:lnTo>
                  <a:lnTo>
                    <a:pt x="525119" y="280225"/>
                  </a:lnTo>
                  <a:lnTo>
                    <a:pt x="531139" y="271272"/>
                  </a:lnTo>
                  <a:lnTo>
                    <a:pt x="533361" y="260324"/>
                  </a:lnTo>
                  <a:lnTo>
                    <a:pt x="533361" y="281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393060" y="2065147"/>
            <a:ext cx="8629015" cy="383984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93345">
              <a:lnSpc>
                <a:spcPct val="101299"/>
              </a:lnSpc>
              <a:spcBef>
                <a:spcPts val="6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foreign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generally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appears</a:t>
            </a:r>
            <a:r>
              <a:rPr sz="2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field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another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relationship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second.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words,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had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linked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was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field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would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foreign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Calibri"/>
                <a:cs typeface="Calibri"/>
              </a:rPr>
              <a:t>B.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2300">
              <a:latin typeface="Calibri"/>
              <a:cs typeface="Calibri"/>
            </a:endParaRPr>
          </a:p>
          <a:p>
            <a:pPr marL="12700" marR="5080">
              <a:lnSpc>
                <a:spcPct val="101299"/>
              </a:lnSpc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relations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Gr_no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relation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foreign</a:t>
            </a:r>
            <a:r>
              <a:rPr sz="23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3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relation.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7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195" dirty="0">
                <a:latin typeface="Cambria"/>
                <a:cs typeface="Cambria"/>
              </a:rPr>
              <a:t>5.</a:t>
            </a:r>
            <a:r>
              <a:rPr sz="4800" b="1" spc="-210" dirty="0">
                <a:latin typeface="Cambria"/>
                <a:cs typeface="Cambria"/>
              </a:rPr>
              <a:t> </a:t>
            </a:r>
            <a:r>
              <a:rPr sz="4800" b="1" spc="165" dirty="0">
                <a:latin typeface="Cambria"/>
                <a:cs typeface="Cambria"/>
              </a:rPr>
              <a:t>Secondary</a:t>
            </a:r>
            <a:r>
              <a:rPr sz="4800" b="1" spc="160" dirty="0">
                <a:latin typeface="Cambria"/>
                <a:cs typeface="Cambria"/>
              </a:rPr>
              <a:t> </a:t>
            </a:r>
            <a:r>
              <a:rPr sz="4800" b="1" spc="125" dirty="0">
                <a:latin typeface="Cambria"/>
                <a:cs typeface="Cambria"/>
              </a:rPr>
              <a:t>key</a:t>
            </a:r>
            <a:endParaRPr sz="4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8200" y="1911095"/>
            <a:ext cx="10515600" cy="992505"/>
          </a:xfrm>
          <a:custGeom>
            <a:avLst/>
            <a:gdLst/>
            <a:ahLst/>
            <a:cxnLst/>
            <a:rect l="l" t="t" r="r" b="b"/>
            <a:pathLst>
              <a:path w="10515600" h="992505">
                <a:moveTo>
                  <a:pt x="10350246" y="0"/>
                </a:moveTo>
                <a:lnTo>
                  <a:pt x="165353" y="0"/>
                </a:lnTo>
                <a:lnTo>
                  <a:pt x="121395" y="5907"/>
                </a:lnTo>
                <a:lnTo>
                  <a:pt x="81895" y="22577"/>
                </a:lnTo>
                <a:lnTo>
                  <a:pt x="48429" y="48434"/>
                </a:lnTo>
                <a:lnTo>
                  <a:pt x="22574" y="81900"/>
                </a:lnTo>
                <a:lnTo>
                  <a:pt x="5906" y="121399"/>
                </a:lnTo>
                <a:lnTo>
                  <a:pt x="0" y="165353"/>
                </a:lnTo>
                <a:lnTo>
                  <a:pt x="0" y="826769"/>
                </a:lnTo>
                <a:lnTo>
                  <a:pt x="5906" y="870724"/>
                </a:lnTo>
                <a:lnTo>
                  <a:pt x="22574" y="910223"/>
                </a:lnTo>
                <a:lnTo>
                  <a:pt x="48429" y="943689"/>
                </a:lnTo>
                <a:lnTo>
                  <a:pt x="81895" y="969546"/>
                </a:lnTo>
                <a:lnTo>
                  <a:pt x="121395" y="986216"/>
                </a:lnTo>
                <a:lnTo>
                  <a:pt x="165353" y="992124"/>
                </a:lnTo>
                <a:lnTo>
                  <a:pt x="10350246" y="992124"/>
                </a:lnTo>
                <a:lnTo>
                  <a:pt x="10394200" y="986216"/>
                </a:lnTo>
                <a:lnTo>
                  <a:pt x="10433699" y="969546"/>
                </a:lnTo>
                <a:lnTo>
                  <a:pt x="10467165" y="943689"/>
                </a:lnTo>
                <a:lnTo>
                  <a:pt x="10493022" y="910223"/>
                </a:lnTo>
                <a:lnTo>
                  <a:pt x="10509692" y="870724"/>
                </a:lnTo>
                <a:lnTo>
                  <a:pt x="10515600" y="826769"/>
                </a:lnTo>
                <a:lnTo>
                  <a:pt x="10515600" y="165353"/>
                </a:lnTo>
                <a:lnTo>
                  <a:pt x="10509692" y="121399"/>
                </a:lnTo>
                <a:lnTo>
                  <a:pt x="10493022" y="81900"/>
                </a:lnTo>
                <a:lnTo>
                  <a:pt x="10467165" y="48434"/>
                </a:lnTo>
                <a:lnTo>
                  <a:pt x="10433699" y="22577"/>
                </a:lnTo>
                <a:lnTo>
                  <a:pt x="10394200" y="5907"/>
                </a:lnTo>
                <a:lnTo>
                  <a:pt x="1035024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8200" y="2976372"/>
            <a:ext cx="10515600" cy="992505"/>
          </a:xfrm>
          <a:custGeom>
            <a:avLst/>
            <a:gdLst/>
            <a:ahLst/>
            <a:cxnLst/>
            <a:rect l="l" t="t" r="r" b="b"/>
            <a:pathLst>
              <a:path w="10515600" h="992504">
                <a:moveTo>
                  <a:pt x="10350246" y="0"/>
                </a:moveTo>
                <a:lnTo>
                  <a:pt x="165353" y="0"/>
                </a:lnTo>
                <a:lnTo>
                  <a:pt x="121395" y="5907"/>
                </a:lnTo>
                <a:lnTo>
                  <a:pt x="81895" y="22577"/>
                </a:lnTo>
                <a:lnTo>
                  <a:pt x="48429" y="48434"/>
                </a:lnTo>
                <a:lnTo>
                  <a:pt x="22574" y="81900"/>
                </a:lnTo>
                <a:lnTo>
                  <a:pt x="5906" y="121399"/>
                </a:lnTo>
                <a:lnTo>
                  <a:pt x="0" y="165353"/>
                </a:lnTo>
                <a:lnTo>
                  <a:pt x="0" y="826769"/>
                </a:lnTo>
                <a:lnTo>
                  <a:pt x="5906" y="870724"/>
                </a:lnTo>
                <a:lnTo>
                  <a:pt x="22574" y="910223"/>
                </a:lnTo>
                <a:lnTo>
                  <a:pt x="48429" y="943689"/>
                </a:lnTo>
                <a:lnTo>
                  <a:pt x="81895" y="969546"/>
                </a:lnTo>
                <a:lnTo>
                  <a:pt x="121395" y="986216"/>
                </a:lnTo>
                <a:lnTo>
                  <a:pt x="165353" y="992123"/>
                </a:lnTo>
                <a:lnTo>
                  <a:pt x="10350246" y="992123"/>
                </a:lnTo>
                <a:lnTo>
                  <a:pt x="10394200" y="986216"/>
                </a:lnTo>
                <a:lnTo>
                  <a:pt x="10433699" y="969546"/>
                </a:lnTo>
                <a:lnTo>
                  <a:pt x="10467165" y="943689"/>
                </a:lnTo>
                <a:lnTo>
                  <a:pt x="10493022" y="910223"/>
                </a:lnTo>
                <a:lnTo>
                  <a:pt x="10509692" y="870724"/>
                </a:lnTo>
                <a:lnTo>
                  <a:pt x="10515600" y="826769"/>
                </a:lnTo>
                <a:lnTo>
                  <a:pt x="10515600" y="165353"/>
                </a:lnTo>
                <a:lnTo>
                  <a:pt x="10509692" y="121399"/>
                </a:lnTo>
                <a:lnTo>
                  <a:pt x="10493022" y="81900"/>
                </a:lnTo>
                <a:lnTo>
                  <a:pt x="10467165" y="48434"/>
                </a:lnTo>
                <a:lnTo>
                  <a:pt x="10433699" y="22577"/>
                </a:lnTo>
                <a:lnTo>
                  <a:pt x="10394200" y="5907"/>
                </a:lnTo>
                <a:lnTo>
                  <a:pt x="10350246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8200" y="4041647"/>
            <a:ext cx="10515600" cy="992505"/>
          </a:xfrm>
          <a:custGeom>
            <a:avLst/>
            <a:gdLst/>
            <a:ahLst/>
            <a:cxnLst/>
            <a:rect l="l" t="t" r="r" b="b"/>
            <a:pathLst>
              <a:path w="10515600" h="992504">
                <a:moveTo>
                  <a:pt x="10350246" y="0"/>
                </a:moveTo>
                <a:lnTo>
                  <a:pt x="165353" y="0"/>
                </a:lnTo>
                <a:lnTo>
                  <a:pt x="121395" y="5907"/>
                </a:lnTo>
                <a:lnTo>
                  <a:pt x="81895" y="22577"/>
                </a:lnTo>
                <a:lnTo>
                  <a:pt x="48429" y="48434"/>
                </a:lnTo>
                <a:lnTo>
                  <a:pt x="22574" y="81900"/>
                </a:lnTo>
                <a:lnTo>
                  <a:pt x="5906" y="121399"/>
                </a:lnTo>
                <a:lnTo>
                  <a:pt x="0" y="165353"/>
                </a:lnTo>
                <a:lnTo>
                  <a:pt x="0" y="826769"/>
                </a:lnTo>
                <a:lnTo>
                  <a:pt x="5906" y="870724"/>
                </a:lnTo>
                <a:lnTo>
                  <a:pt x="22574" y="910223"/>
                </a:lnTo>
                <a:lnTo>
                  <a:pt x="48429" y="943689"/>
                </a:lnTo>
                <a:lnTo>
                  <a:pt x="81895" y="969546"/>
                </a:lnTo>
                <a:lnTo>
                  <a:pt x="121395" y="986216"/>
                </a:lnTo>
                <a:lnTo>
                  <a:pt x="165353" y="992124"/>
                </a:lnTo>
                <a:lnTo>
                  <a:pt x="10350246" y="992124"/>
                </a:lnTo>
                <a:lnTo>
                  <a:pt x="10394200" y="986216"/>
                </a:lnTo>
                <a:lnTo>
                  <a:pt x="10433699" y="969546"/>
                </a:lnTo>
                <a:lnTo>
                  <a:pt x="10467165" y="943689"/>
                </a:lnTo>
                <a:lnTo>
                  <a:pt x="10493022" y="910223"/>
                </a:lnTo>
                <a:lnTo>
                  <a:pt x="10509692" y="870724"/>
                </a:lnTo>
                <a:lnTo>
                  <a:pt x="10515600" y="826769"/>
                </a:lnTo>
                <a:lnTo>
                  <a:pt x="10515600" y="165353"/>
                </a:lnTo>
                <a:lnTo>
                  <a:pt x="10509692" y="121399"/>
                </a:lnTo>
                <a:lnTo>
                  <a:pt x="10493022" y="81900"/>
                </a:lnTo>
                <a:lnTo>
                  <a:pt x="10467165" y="48434"/>
                </a:lnTo>
                <a:lnTo>
                  <a:pt x="10433699" y="22577"/>
                </a:lnTo>
                <a:lnTo>
                  <a:pt x="10394200" y="5907"/>
                </a:lnTo>
                <a:lnTo>
                  <a:pt x="1035024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8200" y="5106923"/>
            <a:ext cx="10515600" cy="992505"/>
          </a:xfrm>
          <a:custGeom>
            <a:avLst/>
            <a:gdLst/>
            <a:ahLst/>
            <a:cxnLst/>
            <a:rect l="l" t="t" r="r" b="b"/>
            <a:pathLst>
              <a:path w="10515600" h="992504">
                <a:moveTo>
                  <a:pt x="10350246" y="0"/>
                </a:moveTo>
                <a:lnTo>
                  <a:pt x="165353" y="0"/>
                </a:lnTo>
                <a:lnTo>
                  <a:pt x="121395" y="5907"/>
                </a:lnTo>
                <a:lnTo>
                  <a:pt x="81895" y="22577"/>
                </a:lnTo>
                <a:lnTo>
                  <a:pt x="48429" y="48434"/>
                </a:lnTo>
                <a:lnTo>
                  <a:pt x="22574" y="81900"/>
                </a:lnTo>
                <a:lnTo>
                  <a:pt x="5906" y="121399"/>
                </a:lnTo>
                <a:lnTo>
                  <a:pt x="0" y="165353"/>
                </a:lnTo>
                <a:lnTo>
                  <a:pt x="0" y="826769"/>
                </a:lnTo>
                <a:lnTo>
                  <a:pt x="5906" y="870724"/>
                </a:lnTo>
                <a:lnTo>
                  <a:pt x="22574" y="910223"/>
                </a:lnTo>
                <a:lnTo>
                  <a:pt x="48429" y="943689"/>
                </a:lnTo>
                <a:lnTo>
                  <a:pt x="81895" y="969546"/>
                </a:lnTo>
                <a:lnTo>
                  <a:pt x="121395" y="986216"/>
                </a:lnTo>
                <a:lnTo>
                  <a:pt x="165353" y="992124"/>
                </a:lnTo>
                <a:lnTo>
                  <a:pt x="10350246" y="992124"/>
                </a:lnTo>
                <a:lnTo>
                  <a:pt x="10394200" y="986216"/>
                </a:lnTo>
                <a:lnTo>
                  <a:pt x="10433699" y="969546"/>
                </a:lnTo>
                <a:lnTo>
                  <a:pt x="10467165" y="943689"/>
                </a:lnTo>
                <a:lnTo>
                  <a:pt x="10493022" y="910223"/>
                </a:lnTo>
                <a:lnTo>
                  <a:pt x="10509692" y="870724"/>
                </a:lnTo>
                <a:lnTo>
                  <a:pt x="10515600" y="826769"/>
                </a:lnTo>
                <a:lnTo>
                  <a:pt x="10515600" y="165353"/>
                </a:lnTo>
                <a:lnTo>
                  <a:pt x="10509692" y="121399"/>
                </a:lnTo>
                <a:lnTo>
                  <a:pt x="10493022" y="81900"/>
                </a:lnTo>
                <a:lnTo>
                  <a:pt x="10467165" y="48434"/>
                </a:lnTo>
                <a:lnTo>
                  <a:pt x="10433699" y="22577"/>
                </a:lnTo>
                <a:lnTo>
                  <a:pt x="10394200" y="5907"/>
                </a:lnTo>
                <a:lnTo>
                  <a:pt x="1035024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69365" y="2167508"/>
            <a:ext cx="9692005" cy="360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choices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key.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35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Collectively</a:t>
            </a:r>
            <a:r>
              <a:rPr sz="25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known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Candidate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500">
              <a:latin typeface="Calibri"/>
              <a:cs typeface="Calibri"/>
            </a:endParaRPr>
          </a:p>
          <a:p>
            <a:pPr marL="12700" marR="27940">
              <a:lnSpc>
                <a:spcPts val="2750"/>
              </a:lnSpc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selected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key.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Those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selected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known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Secondary keys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alternative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keys.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relation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student,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Gr_no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Roll_no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alternate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key.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16152"/>
            <a:ext cx="196850" cy="673735"/>
          </a:xfrm>
          <a:custGeom>
            <a:avLst/>
            <a:gdLst/>
            <a:ahLst/>
            <a:cxnLst/>
            <a:rect l="l" t="t" r="r" b="b"/>
            <a:pathLst>
              <a:path w="196850" h="673735">
                <a:moveTo>
                  <a:pt x="196596" y="0"/>
                </a:moveTo>
                <a:lnTo>
                  <a:pt x="0" y="0"/>
                </a:lnTo>
                <a:lnTo>
                  <a:pt x="0" y="673608"/>
                </a:lnTo>
                <a:lnTo>
                  <a:pt x="196596" y="673608"/>
                </a:lnTo>
                <a:lnTo>
                  <a:pt x="19659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8224" y="1216152"/>
            <a:ext cx="195580" cy="673735"/>
          </a:xfrm>
          <a:custGeom>
            <a:avLst/>
            <a:gdLst/>
            <a:ahLst/>
            <a:cxnLst/>
            <a:rect l="l" t="t" r="r" b="b"/>
            <a:pathLst>
              <a:path w="195579" h="673735">
                <a:moveTo>
                  <a:pt x="195072" y="0"/>
                </a:moveTo>
                <a:lnTo>
                  <a:pt x="0" y="0"/>
                </a:lnTo>
                <a:lnTo>
                  <a:pt x="0" y="673608"/>
                </a:lnTo>
                <a:lnTo>
                  <a:pt x="195072" y="673608"/>
                </a:lnTo>
                <a:lnTo>
                  <a:pt x="19507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8348" y="598931"/>
            <a:ext cx="11181715" cy="2169160"/>
            <a:chOff x="498348" y="598931"/>
            <a:chExt cx="11181715" cy="2169160"/>
          </a:xfrm>
        </p:grpSpPr>
        <p:sp>
          <p:nvSpPr>
            <p:cNvPr id="5" name="object 5"/>
            <p:cNvSpPr/>
            <p:nvPr/>
          </p:nvSpPr>
          <p:spPr>
            <a:xfrm>
              <a:off x="534924" y="1216151"/>
              <a:ext cx="105410" cy="673735"/>
            </a:xfrm>
            <a:custGeom>
              <a:avLst/>
              <a:gdLst/>
              <a:ahLst/>
              <a:cxnLst/>
              <a:rect l="l" t="t" r="r" b="b"/>
              <a:pathLst>
                <a:path w="105409" h="673735">
                  <a:moveTo>
                    <a:pt x="0" y="673608"/>
                  </a:moveTo>
                  <a:lnTo>
                    <a:pt x="105156" y="673608"/>
                  </a:lnTo>
                  <a:lnTo>
                    <a:pt x="105156" y="0"/>
                  </a:lnTo>
                  <a:lnTo>
                    <a:pt x="0" y="0"/>
                  </a:lnTo>
                  <a:lnTo>
                    <a:pt x="0" y="673608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348" y="598931"/>
              <a:ext cx="11181588" cy="216865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0080" y="614172"/>
            <a:ext cx="10907395" cy="189483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30860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4180"/>
              </a:spcBef>
            </a:pPr>
            <a:r>
              <a:rPr sz="4800" spc="-45" dirty="0"/>
              <a:t>Relational</a:t>
            </a:r>
            <a:r>
              <a:rPr sz="4800" spc="-195" dirty="0"/>
              <a:t> </a:t>
            </a:r>
            <a:r>
              <a:rPr sz="4800" spc="-35" dirty="0"/>
              <a:t>Integrity</a:t>
            </a:r>
            <a:r>
              <a:rPr sz="4800" spc="-204" dirty="0"/>
              <a:t> </a:t>
            </a:r>
            <a:r>
              <a:rPr sz="4800" spc="-10" dirty="0"/>
              <a:t>Rules</a:t>
            </a:r>
            <a:endParaRPr sz="4800"/>
          </a:p>
        </p:txBody>
      </p:sp>
      <p:sp>
        <p:nvSpPr>
          <p:cNvPr id="8" name="object 8"/>
          <p:cNvSpPr/>
          <p:nvPr/>
        </p:nvSpPr>
        <p:spPr>
          <a:xfrm>
            <a:off x="838200" y="648462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10515600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05255" y="3139439"/>
            <a:ext cx="4940935" cy="2966085"/>
          </a:xfrm>
          <a:prstGeom prst="rect">
            <a:avLst/>
          </a:prstGeom>
          <a:solidFill>
            <a:srgbClr val="EC7C30"/>
          </a:solidFill>
        </p:spPr>
        <p:txBody>
          <a:bodyPr vert="horz" wrap="square" lIns="0" tIns="338455" rIns="0" bIns="0" rtlCol="0">
            <a:spAutoFit/>
          </a:bodyPr>
          <a:lstStyle/>
          <a:p>
            <a:pPr marL="127000" marR="119380" indent="2540" algn="ctr">
              <a:lnSpc>
                <a:spcPct val="91600"/>
              </a:lnSpc>
              <a:spcBef>
                <a:spcPts val="2665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ensure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32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provides meaningful</a:t>
            </a:r>
            <a:r>
              <a:rPr sz="32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information,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Integrity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rules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constraints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necessary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implement.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41364" y="3139439"/>
            <a:ext cx="4940935" cy="2966085"/>
          </a:xfrm>
          <a:prstGeom prst="rect">
            <a:avLst/>
          </a:prstGeom>
          <a:solidFill>
            <a:srgbClr val="A4A4A4"/>
          </a:solidFill>
        </p:spPr>
        <p:txBody>
          <a:bodyPr vert="horz" wrap="square" lIns="0" tIns="338455" rIns="0" bIns="0" rtlCol="0">
            <a:spAutoFit/>
          </a:bodyPr>
          <a:lstStyle/>
          <a:p>
            <a:pPr marL="203835" marR="196850" algn="ctr">
              <a:lnSpc>
                <a:spcPct val="91600"/>
              </a:lnSpc>
              <a:spcBef>
                <a:spcPts val="2665"/>
              </a:spcBef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32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important</a:t>
            </a:r>
            <a:r>
              <a:rPr sz="32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integrity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rules</a:t>
            </a:r>
            <a:r>
              <a:rPr sz="32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sz="32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integrity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2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referential</a:t>
            </a:r>
            <a:r>
              <a:rPr sz="32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integrity</a:t>
            </a:r>
            <a:r>
              <a:rPr sz="32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critical</a:t>
            </a:r>
            <a:r>
              <a:rPr sz="3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maintain</a:t>
            </a:r>
            <a:r>
              <a:rPr sz="32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any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database.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5244" rIns="0" bIns="0" rtlCol="0">
            <a:spAutoFit/>
          </a:bodyPr>
          <a:lstStyle/>
          <a:p>
            <a:pPr marL="3261360">
              <a:lnSpc>
                <a:spcPct val="100000"/>
              </a:lnSpc>
              <a:spcBef>
                <a:spcPts val="95"/>
              </a:spcBef>
            </a:pPr>
            <a:r>
              <a:rPr sz="5200" spc="-20" dirty="0"/>
              <a:t>Entity</a:t>
            </a:r>
            <a:r>
              <a:rPr sz="5200" spc="-254" dirty="0"/>
              <a:t> </a:t>
            </a:r>
            <a:r>
              <a:rPr sz="5200" spc="-35" dirty="0"/>
              <a:t>Integrity</a:t>
            </a:r>
            <a:endParaRPr sz="5200"/>
          </a:p>
        </p:txBody>
      </p:sp>
      <p:grpSp>
        <p:nvGrpSpPr>
          <p:cNvPr id="3" name="object 3"/>
          <p:cNvGrpSpPr/>
          <p:nvPr/>
        </p:nvGrpSpPr>
        <p:grpSpPr>
          <a:xfrm>
            <a:off x="838200" y="1831848"/>
            <a:ext cx="10515600" cy="1242060"/>
            <a:chOff x="838200" y="1831848"/>
            <a:chExt cx="10515600" cy="1242060"/>
          </a:xfrm>
        </p:grpSpPr>
        <p:sp>
          <p:nvSpPr>
            <p:cNvPr id="4" name="object 4"/>
            <p:cNvSpPr/>
            <p:nvPr/>
          </p:nvSpPr>
          <p:spPr>
            <a:xfrm>
              <a:off x="838200" y="1831848"/>
              <a:ext cx="10515600" cy="1242060"/>
            </a:xfrm>
            <a:custGeom>
              <a:avLst/>
              <a:gdLst/>
              <a:ahLst/>
              <a:cxnLst/>
              <a:rect l="l" t="t" r="r" b="b"/>
              <a:pathLst>
                <a:path w="10515600" h="1242060">
                  <a:moveTo>
                    <a:pt x="10391394" y="0"/>
                  </a:moveTo>
                  <a:lnTo>
                    <a:pt x="124206" y="0"/>
                  </a:lnTo>
                  <a:lnTo>
                    <a:pt x="75861" y="9763"/>
                  </a:lnTo>
                  <a:lnTo>
                    <a:pt x="36380" y="36385"/>
                  </a:lnTo>
                  <a:lnTo>
                    <a:pt x="9761" y="75866"/>
                  </a:lnTo>
                  <a:lnTo>
                    <a:pt x="0" y="124205"/>
                  </a:lnTo>
                  <a:lnTo>
                    <a:pt x="0" y="1117853"/>
                  </a:lnTo>
                  <a:lnTo>
                    <a:pt x="9761" y="1166193"/>
                  </a:lnTo>
                  <a:lnTo>
                    <a:pt x="36380" y="1205674"/>
                  </a:lnTo>
                  <a:lnTo>
                    <a:pt x="75861" y="1232296"/>
                  </a:lnTo>
                  <a:lnTo>
                    <a:pt x="124206" y="1242060"/>
                  </a:lnTo>
                  <a:lnTo>
                    <a:pt x="10391394" y="1242060"/>
                  </a:lnTo>
                  <a:lnTo>
                    <a:pt x="10439733" y="1232296"/>
                  </a:lnTo>
                  <a:lnTo>
                    <a:pt x="10479214" y="1205674"/>
                  </a:lnTo>
                  <a:lnTo>
                    <a:pt x="10505836" y="1166193"/>
                  </a:lnTo>
                  <a:lnTo>
                    <a:pt x="10515600" y="1117853"/>
                  </a:lnTo>
                  <a:lnTo>
                    <a:pt x="10515600" y="124205"/>
                  </a:lnTo>
                  <a:lnTo>
                    <a:pt x="10505836" y="75866"/>
                  </a:lnTo>
                  <a:lnTo>
                    <a:pt x="10479214" y="36385"/>
                  </a:lnTo>
                  <a:lnTo>
                    <a:pt x="10439733" y="9763"/>
                  </a:lnTo>
                  <a:lnTo>
                    <a:pt x="1039139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47735" y="2305693"/>
              <a:ext cx="619125" cy="295910"/>
            </a:xfrm>
            <a:custGeom>
              <a:avLst/>
              <a:gdLst/>
              <a:ahLst/>
              <a:cxnLst/>
              <a:rect l="l" t="t" r="r" b="b"/>
              <a:pathLst>
                <a:path w="619125" h="295910">
                  <a:moveTo>
                    <a:pt x="147665" y="0"/>
                  </a:moveTo>
                  <a:lnTo>
                    <a:pt x="100986" y="7530"/>
                  </a:lnTo>
                  <a:lnTo>
                    <a:pt x="60450" y="28502"/>
                  </a:lnTo>
                  <a:lnTo>
                    <a:pt x="28486" y="60483"/>
                  </a:lnTo>
                  <a:lnTo>
                    <a:pt x="7526" y="101041"/>
                  </a:lnTo>
                  <a:lnTo>
                    <a:pt x="0" y="147746"/>
                  </a:lnTo>
                  <a:lnTo>
                    <a:pt x="7526" y="194451"/>
                  </a:lnTo>
                  <a:lnTo>
                    <a:pt x="28486" y="235010"/>
                  </a:lnTo>
                  <a:lnTo>
                    <a:pt x="60450" y="266991"/>
                  </a:lnTo>
                  <a:lnTo>
                    <a:pt x="100986" y="287962"/>
                  </a:lnTo>
                  <a:lnTo>
                    <a:pt x="147665" y="295493"/>
                  </a:lnTo>
                  <a:lnTo>
                    <a:pt x="188163" y="289931"/>
                  </a:lnTo>
                  <a:lnTo>
                    <a:pt x="224311" y="274211"/>
                  </a:lnTo>
                  <a:lnTo>
                    <a:pt x="254657" y="249784"/>
                  </a:lnTo>
                  <a:lnTo>
                    <a:pt x="277751" y="218102"/>
                  </a:lnTo>
                  <a:lnTo>
                    <a:pt x="323457" y="218102"/>
                  </a:lnTo>
                  <a:lnTo>
                    <a:pt x="351584" y="189960"/>
                  </a:lnTo>
                  <a:lnTo>
                    <a:pt x="84380" y="189960"/>
                  </a:lnTo>
                  <a:lnTo>
                    <a:pt x="67998" y="186629"/>
                  </a:lnTo>
                  <a:lnTo>
                    <a:pt x="54583" y="177560"/>
                  </a:lnTo>
                  <a:lnTo>
                    <a:pt x="45519" y="164137"/>
                  </a:lnTo>
                  <a:lnTo>
                    <a:pt x="42190" y="147746"/>
                  </a:lnTo>
                  <a:lnTo>
                    <a:pt x="45519" y="131356"/>
                  </a:lnTo>
                  <a:lnTo>
                    <a:pt x="54583" y="117933"/>
                  </a:lnTo>
                  <a:lnTo>
                    <a:pt x="67998" y="108864"/>
                  </a:lnTo>
                  <a:lnTo>
                    <a:pt x="84380" y="105533"/>
                  </a:lnTo>
                  <a:lnTo>
                    <a:pt x="585036" y="105533"/>
                  </a:lnTo>
                  <a:lnTo>
                    <a:pt x="562535" y="77391"/>
                  </a:lnTo>
                  <a:lnTo>
                    <a:pt x="277751" y="77391"/>
                  </a:lnTo>
                  <a:lnTo>
                    <a:pt x="254657" y="45709"/>
                  </a:lnTo>
                  <a:lnTo>
                    <a:pt x="224311" y="21282"/>
                  </a:lnTo>
                  <a:lnTo>
                    <a:pt x="188163" y="5562"/>
                  </a:lnTo>
                  <a:lnTo>
                    <a:pt x="147665" y="0"/>
                  </a:lnTo>
                  <a:close/>
                </a:path>
                <a:path w="619125" h="295910">
                  <a:moveTo>
                    <a:pt x="585036" y="105533"/>
                  </a:moveTo>
                  <a:lnTo>
                    <a:pt x="84380" y="105533"/>
                  </a:lnTo>
                  <a:lnTo>
                    <a:pt x="100761" y="108864"/>
                  </a:lnTo>
                  <a:lnTo>
                    <a:pt x="114177" y="117933"/>
                  </a:lnTo>
                  <a:lnTo>
                    <a:pt x="123241" y="131356"/>
                  </a:lnTo>
                  <a:lnTo>
                    <a:pt x="126570" y="147746"/>
                  </a:lnTo>
                  <a:lnTo>
                    <a:pt x="123241" y="164137"/>
                  </a:lnTo>
                  <a:lnTo>
                    <a:pt x="114177" y="177560"/>
                  </a:lnTo>
                  <a:lnTo>
                    <a:pt x="100761" y="186629"/>
                  </a:lnTo>
                  <a:lnTo>
                    <a:pt x="84380" y="189960"/>
                  </a:lnTo>
                  <a:lnTo>
                    <a:pt x="351584" y="189960"/>
                  </a:lnTo>
                  <a:lnTo>
                    <a:pt x="379711" y="218102"/>
                  </a:lnTo>
                  <a:lnTo>
                    <a:pt x="425417" y="172371"/>
                  </a:lnTo>
                  <a:lnTo>
                    <a:pt x="599100" y="172371"/>
                  </a:lnTo>
                  <a:lnTo>
                    <a:pt x="618789" y="147746"/>
                  </a:lnTo>
                  <a:lnTo>
                    <a:pt x="585036" y="105533"/>
                  </a:lnTo>
                  <a:close/>
                </a:path>
                <a:path w="619125" h="295910">
                  <a:moveTo>
                    <a:pt x="516829" y="172371"/>
                  </a:moveTo>
                  <a:lnTo>
                    <a:pt x="425417" y="172371"/>
                  </a:lnTo>
                  <a:lnTo>
                    <a:pt x="471123" y="218102"/>
                  </a:lnTo>
                  <a:lnTo>
                    <a:pt x="516829" y="172371"/>
                  </a:lnTo>
                  <a:close/>
                </a:path>
                <a:path w="619125" h="295910">
                  <a:moveTo>
                    <a:pt x="599100" y="172371"/>
                  </a:moveTo>
                  <a:lnTo>
                    <a:pt x="516829" y="172371"/>
                  </a:lnTo>
                  <a:lnTo>
                    <a:pt x="562535" y="218102"/>
                  </a:lnTo>
                  <a:lnTo>
                    <a:pt x="599100" y="172371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391917" y="2069083"/>
            <a:ext cx="8336915" cy="6985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530"/>
              </a:lnSpc>
              <a:spcBef>
                <a:spcPts val="380"/>
              </a:spcBef>
            </a:pPr>
            <a:r>
              <a:rPr sz="2300" spc="-10" dirty="0">
                <a:latin typeface="Calibri"/>
                <a:cs typeface="Calibri"/>
              </a:rPr>
              <a:t>Requirement: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All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entities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unique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null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entries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primary </a:t>
            </a:r>
            <a:r>
              <a:rPr sz="2300" spc="-20" dirty="0">
                <a:latin typeface="Calibri"/>
                <a:cs typeface="Calibri"/>
              </a:rPr>
              <a:t>key.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38200" y="3383279"/>
            <a:ext cx="10515600" cy="1243965"/>
            <a:chOff x="838200" y="3383279"/>
            <a:chExt cx="10515600" cy="1243965"/>
          </a:xfrm>
        </p:grpSpPr>
        <p:sp>
          <p:nvSpPr>
            <p:cNvPr id="8" name="object 8"/>
            <p:cNvSpPr/>
            <p:nvPr/>
          </p:nvSpPr>
          <p:spPr>
            <a:xfrm>
              <a:off x="838200" y="3383279"/>
              <a:ext cx="10515600" cy="1243965"/>
            </a:xfrm>
            <a:custGeom>
              <a:avLst/>
              <a:gdLst/>
              <a:ahLst/>
              <a:cxnLst/>
              <a:rect l="l" t="t" r="r" b="b"/>
              <a:pathLst>
                <a:path w="10515600" h="1243964">
                  <a:moveTo>
                    <a:pt x="10391267" y="0"/>
                  </a:moveTo>
                  <a:lnTo>
                    <a:pt x="124358" y="0"/>
                  </a:lnTo>
                  <a:lnTo>
                    <a:pt x="75952" y="9765"/>
                  </a:lnTo>
                  <a:lnTo>
                    <a:pt x="36423" y="36401"/>
                  </a:lnTo>
                  <a:lnTo>
                    <a:pt x="9772" y="75920"/>
                  </a:lnTo>
                  <a:lnTo>
                    <a:pt x="0" y="124333"/>
                  </a:lnTo>
                  <a:lnTo>
                    <a:pt x="0" y="1119251"/>
                  </a:lnTo>
                  <a:lnTo>
                    <a:pt x="9772" y="1167663"/>
                  </a:lnTo>
                  <a:lnTo>
                    <a:pt x="36423" y="1207182"/>
                  </a:lnTo>
                  <a:lnTo>
                    <a:pt x="75952" y="1233818"/>
                  </a:lnTo>
                  <a:lnTo>
                    <a:pt x="124358" y="1243584"/>
                  </a:lnTo>
                  <a:lnTo>
                    <a:pt x="10391267" y="1243584"/>
                  </a:lnTo>
                  <a:lnTo>
                    <a:pt x="10439679" y="1233818"/>
                  </a:lnTo>
                  <a:lnTo>
                    <a:pt x="10479198" y="1207182"/>
                  </a:lnTo>
                  <a:lnTo>
                    <a:pt x="10505834" y="1167663"/>
                  </a:lnTo>
                  <a:lnTo>
                    <a:pt x="10515600" y="1119251"/>
                  </a:lnTo>
                  <a:lnTo>
                    <a:pt x="10515600" y="124333"/>
                  </a:lnTo>
                  <a:lnTo>
                    <a:pt x="10505834" y="75920"/>
                  </a:lnTo>
                  <a:lnTo>
                    <a:pt x="10479198" y="36401"/>
                  </a:lnTo>
                  <a:lnTo>
                    <a:pt x="10439679" y="9765"/>
                  </a:lnTo>
                  <a:lnTo>
                    <a:pt x="1039126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39138" y="3725252"/>
              <a:ext cx="436245" cy="563245"/>
            </a:xfrm>
            <a:custGeom>
              <a:avLst/>
              <a:gdLst/>
              <a:ahLst/>
              <a:cxnLst/>
              <a:rect l="l" t="t" r="r" b="b"/>
              <a:pathLst>
                <a:path w="436244" h="563245">
                  <a:moveTo>
                    <a:pt x="217982" y="267081"/>
                  </a:moveTo>
                  <a:lnTo>
                    <a:pt x="84378" y="267081"/>
                  </a:lnTo>
                  <a:lnTo>
                    <a:pt x="84378" y="295224"/>
                  </a:lnTo>
                  <a:lnTo>
                    <a:pt x="217982" y="295224"/>
                  </a:lnTo>
                  <a:lnTo>
                    <a:pt x="217982" y="267081"/>
                  </a:lnTo>
                  <a:close/>
                </a:path>
                <a:path w="436244" h="563245">
                  <a:moveTo>
                    <a:pt x="351586" y="407784"/>
                  </a:moveTo>
                  <a:lnTo>
                    <a:pt x="225018" y="407784"/>
                  </a:lnTo>
                  <a:lnTo>
                    <a:pt x="225018" y="435927"/>
                  </a:lnTo>
                  <a:lnTo>
                    <a:pt x="351586" y="435927"/>
                  </a:lnTo>
                  <a:lnTo>
                    <a:pt x="351586" y="407784"/>
                  </a:lnTo>
                  <a:close/>
                </a:path>
                <a:path w="436244" h="563245">
                  <a:moveTo>
                    <a:pt x="351586" y="210794"/>
                  </a:moveTo>
                  <a:lnTo>
                    <a:pt x="84378" y="210794"/>
                  </a:lnTo>
                  <a:lnTo>
                    <a:pt x="84378" y="238937"/>
                  </a:lnTo>
                  <a:lnTo>
                    <a:pt x="351586" y="238937"/>
                  </a:lnTo>
                  <a:lnTo>
                    <a:pt x="351586" y="210794"/>
                  </a:lnTo>
                  <a:close/>
                </a:path>
                <a:path w="436244" h="563245">
                  <a:moveTo>
                    <a:pt x="351586" y="154508"/>
                  </a:moveTo>
                  <a:lnTo>
                    <a:pt x="84378" y="154508"/>
                  </a:lnTo>
                  <a:lnTo>
                    <a:pt x="84378" y="182651"/>
                  </a:lnTo>
                  <a:lnTo>
                    <a:pt x="351586" y="182651"/>
                  </a:lnTo>
                  <a:lnTo>
                    <a:pt x="351586" y="154508"/>
                  </a:lnTo>
                  <a:close/>
                </a:path>
                <a:path w="436244" h="563245">
                  <a:moveTo>
                    <a:pt x="351586" y="98221"/>
                  </a:moveTo>
                  <a:lnTo>
                    <a:pt x="84378" y="98221"/>
                  </a:lnTo>
                  <a:lnTo>
                    <a:pt x="84378" y="126365"/>
                  </a:lnTo>
                  <a:lnTo>
                    <a:pt x="351586" y="126365"/>
                  </a:lnTo>
                  <a:lnTo>
                    <a:pt x="351586" y="98221"/>
                  </a:lnTo>
                  <a:close/>
                </a:path>
                <a:path w="436244" h="563245">
                  <a:moveTo>
                    <a:pt x="435965" y="41935"/>
                  </a:moveTo>
                  <a:lnTo>
                    <a:pt x="393776" y="41935"/>
                  </a:lnTo>
                  <a:lnTo>
                    <a:pt x="393776" y="520357"/>
                  </a:lnTo>
                  <a:lnTo>
                    <a:pt x="435965" y="520357"/>
                  </a:lnTo>
                  <a:lnTo>
                    <a:pt x="435965" y="41935"/>
                  </a:lnTo>
                  <a:close/>
                </a:path>
                <a:path w="436244" h="563245">
                  <a:moveTo>
                    <a:pt x="435965" y="0"/>
                  </a:moveTo>
                  <a:lnTo>
                    <a:pt x="0" y="0"/>
                  </a:lnTo>
                  <a:lnTo>
                    <a:pt x="0" y="41922"/>
                  </a:lnTo>
                  <a:lnTo>
                    <a:pt x="0" y="520839"/>
                  </a:lnTo>
                  <a:lnTo>
                    <a:pt x="0" y="562762"/>
                  </a:lnTo>
                  <a:lnTo>
                    <a:pt x="435965" y="562762"/>
                  </a:lnTo>
                  <a:lnTo>
                    <a:pt x="435965" y="520839"/>
                  </a:lnTo>
                  <a:lnTo>
                    <a:pt x="42189" y="520839"/>
                  </a:lnTo>
                  <a:lnTo>
                    <a:pt x="42189" y="41922"/>
                  </a:lnTo>
                  <a:lnTo>
                    <a:pt x="435965" y="41922"/>
                  </a:lnTo>
                  <a:lnTo>
                    <a:pt x="435965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3527" y="4097858"/>
              <a:ext cx="98443" cy="98497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391917" y="3782314"/>
            <a:ext cx="768223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Calibri"/>
                <a:cs typeface="Calibri"/>
              </a:rPr>
              <a:t>Purpose: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Guarantees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each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entity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will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have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unique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identity.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38200" y="4936235"/>
            <a:ext cx="10515600" cy="1242695"/>
            <a:chOff x="838200" y="4936235"/>
            <a:chExt cx="10515600" cy="1242695"/>
          </a:xfrm>
        </p:grpSpPr>
        <p:sp>
          <p:nvSpPr>
            <p:cNvPr id="13" name="object 13"/>
            <p:cNvSpPr/>
            <p:nvPr/>
          </p:nvSpPr>
          <p:spPr>
            <a:xfrm>
              <a:off x="838200" y="4936235"/>
              <a:ext cx="10515600" cy="1242695"/>
            </a:xfrm>
            <a:custGeom>
              <a:avLst/>
              <a:gdLst/>
              <a:ahLst/>
              <a:cxnLst/>
              <a:rect l="l" t="t" r="r" b="b"/>
              <a:pathLst>
                <a:path w="10515600" h="1242695">
                  <a:moveTo>
                    <a:pt x="10391394" y="0"/>
                  </a:moveTo>
                  <a:lnTo>
                    <a:pt x="124206" y="0"/>
                  </a:lnTo>
                  <a:lnTo>
                    <a:pt x="75861" y="9763"/>
                  </a:lnTo>
                  <a:lnTo>
                    <a:pt x="36380" y="36385"/>
                  </a:lnTo>
                  <a:lnTo>
                    <a:pt x="9761" y="75866"/>
                  </a:lnTo>
                  <a:lnTo>
                    <a:pt x="0" y="124206"/>
                  </a:lnTo>
                  <a:lnTo>
                    <a:pt x="0" y="1117841"/>
                  </a:lnTo>
                  <a:lnTo>
                    <a:pt x="9761" y="1166193"/>
                  </a:lnTo>
                  <a:lnTo>
                    <a:pt x="36380" y="1205677"/>
                  </a:lnTo>
                  <a:lnTo>
                    <a:pt x="75861" y="1232298"/>
                  </a:lnTo>
                  <a:lnTo>
                    <a:pt x="124206" y="1242059"/>
                  </a:lnTo>
                  <a:lnTo>
                    <a:pt x="10391394" y="1242072"/>
                  </a:lnTo>
                  <a:lnTo>
                    <a:pt x="10439733" y="1232311"/>
                  </a:lnTo>
                  <a:lnTo>
                    <a:pt x="10479214" y="1205690"/>
                  </a:lnTo>
                  <a:lnTo>
                    <a:pt x="10505836" y="1166206"/>
                  </a:lnTo>
                  <a:lnTo>
                    <a:pt x="10515600" y="1117854"/>
                  </a:lnTo>
                  <a:lnTo>
                    <a:pt x="10515600" y="124206"/>
                  </a:lnTo>
                  <a:lnTo>
                    <a:pt x="10505836" y="75866"/>
                  </a:lnTo>
                  <a:lnTo>
                    <a:pt x="10479214" y="36385"/>
                  </a:lnTo>
                  <a:lnTo>
                    <a:pt x="10439733" y="9763"/>
                  </a:lnTo>
                  <a:lnTo>
                    <a:pt x="1039139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32265" y="5332806"/>
              <a:ext cx="650240" cy="457200"/>
            </a:xfrm>
            <a:custGeom>
              <a:avLst/>
              <a:gdLst/>
              <a:ahLst/>
              <a:cxnLst/>
              <a:rect l="l" t="t" r="r" b="b"/>
              <a:pathLst>
                <a:path w="650239" h="457200">
                  <a:moveTo>
                    <a:pt x="592771" y="0"/>
                  </a:moveTo>
                  <a:lnTo>
                    <a:pt x="232749" y="340521"/>
                  </a:lnTo>
                  <a:lnTo>
                    <a:pt x="59769" y="163225"/>
                  </a:lnTo>
                  <a:lnTo>
                    <a:pt x="0" y="220213"/>
                  </a:lnTo>
                  <a:lnTo>
                    <a:pt x="229936" y="456608"/>
                  </a:lnTo>
                  <a:lnTo>
                    <a:pt x="290408" y="400323"/>
                  </a:lnTo>
                  <a:lnTo>
                    <a:pt x="649728" y="59098"/>
                  </a:lnTo>
                  <a:lnTo>
                    <a:pt x="592771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391917" y="5014341"/>
            <a:ext cx="4474210" cy="101854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ct val="91500"/>
              </a:lnSpc>
              <a:spcBef>
                <a:spcPts val="335"/>
              </a:spcBef>
            </a:pPr>
            <a:r>
              <a:rPr sz="2300" dirty="0">
                <a:latin typeface="Calibri"/>
                <a:cs typeface="Calibri"/>
              </a:rPr>
              <a:t>Entity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integrity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means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each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table </a:t>
            </a:r>
            <a:r>
              <a:rPr sz="2300" dirty="0">
                <a:latin typeface="Calibri"/>
                <a:cs typeface="Calibri"/>
              </a:rPr>
              <a:t>must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have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primary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key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attribute </a:t>
            </a:r>
            <a:r>
              <a:rPr sz="2300" dirty="0">
                <a:latin typeface="Calibri"/>
                <a:cs typeface="Calibri"/>
              </a:rPr>
              <a:t>with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following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characteristics: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24445" y="4889372"/>
            <a:ext cx="3999229" cy="127762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5"/>
              </a:spcBef>
            </a:pPr>
            <a:r>
              <a:rPr sz="2000" dirty="0">
                <a:latin typeface="Calibri"/>
                <a:cs typeface="Calibri"/>
              </a:rPr>
              <a:t>No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rows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primary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column.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300"/>
              </a:lnSpc>
              <a:spcBef>
                <a:spcPts val="605"/>
              </a:spcBef>
            </a:pP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(i.e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at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300"/>
              </a:lnSpc>
            </a:pPr>
            <a:r>
              <a:rPr sz="2000" dirty="0">
                <a:latin typeface="Calibri"/>
                <a:cs typeface="Calibri"/>
              </a:rPr>
              <a:t>all)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permitted.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5549" rIns="0" bIns="0" rtlCol="0">
            <a:spAutoFit/>
          </a:bodyPr>
          <a:lstStyle/>
          <a:p>
            <a:pPr marL="2607310">
              <a:lnSpc>
                <a:spcPct val="100000"/>
              </a:lnSpc>
              <a:spcBef>
                <a:spcPts val="95"/>
              </a:spcBef>
            </a:pPr>
            <a:r>
              <a:rPr sz="5200" spc="-85" dirty="0"/>
              <a:t>Referential</a:t>
            </a:r>
            <a:r>
              <a:rPr sz="5200" spc="-125" dirty="0"/>
              <a:t> </a:t>
            </a:r>
            <a:r>
              <a:rPr sz="5200" spc="-25" dirty="0"/>
              <a:t>Integrity</a:t>
            </a:r>
            <a:endParaRPr sz="5200"/>
          </a:p>
        </p:txBody>
      </p:sp>
      <p:sp>
        <p:nvSpPr>
          <p:cNvPr id="3" name="object 3"/>
          <p:cNvSpPr/>
          <p:nvPr/>
        </p:nvSpPr>
        <p:spPr>
          <a:xfrm>
            <a:off x="838200" y="1831848"/>
            <a:ext cx="10515600" cy="1397635"/>
          </a:xfrm>
          <a:custGeom>
            <a:avLst/>
            <a:gdLst/>
            <a:ahLst/>
            <a:cxnLst/>
            <a:rect l="l" t="t" r="r" b="b"/>
            <a:pathLst>
              <a:path w="10515600" h="1397635">
                <a:moveTo>
                  <a:pt x="10282682" y="0"/>
                </a:moveTo>
                <a:lnTo>
                  <a:pt x="232918" y="0"/>
                </a:lnTo>
                <a:lnTo>
                  <a:pt x="185976" y="4731"/>
                </a:lnTo>
                <a:lnTo>
                  <a:pt x="142255" y="18301"/>
                </a:lnTo>
                <a:lnTo>
                  <a:pt x="102690" y="39775"/>
                </a:lnTo>
                <a:lnTo>
                  <a:pt x="68219" y="68214"/>
                </a:lnTo>
                <a:lnTo>
                  <a:pt x="39778" y="102685"/>
                </a:lnTo>
                <a:lnTo>
                  <a:pt x="18303" y="142249"/>
                </a:lnTo>
                <a:lnTo>
                  <a:pt x="4732" y="185972"/>
                </a:lnTo>
                <a:lnTo>
                  <a:pt x="0" y="232917"/>
                </a:lnTo>
                <a:lnTo>
                  <a:pt x="0" y="1164589"/>
                </a:lnTo>
                <a:lnTo>
                  <a:pt x="4732" y="1211535"/>
                </a:lnTo>
                <a:lnTo>
                  <a:pt x="18303" y="1255258"/>
                </a:lnTo>
                <a:lnTo>
                  <a:pt x="39778" y="1294822"/>
                </a:lnTo>
                <a:lnTo>
                  <a:pt x="68219" y="1329293"/>
                </a:lnTo>
                <a:lnTo>
                  <a:pt x="102690" y="1357732"/>
                </a:lnTo>
                <a:lnTo>
                  <a:pt x="142255" y="1379206"/>
                </a:lnTo>
                <a:lnTo>
                  <a:pt x="185976" y="1392776"/>
                </a:lnTo>
                <a:lnTo>
                  <a:pt x="232918" y="1397507"/>
                </a:lnTo>
                <a:lnTo>
                  <a:pt x="10282682" y="1397507"/>
                </a:lnTo>
                <a:lnTo>
                  <a:pt x="10329627" y="1392776"/>
                </a:lnTo>
                <a:lnTo>
                  <a:pt x="10373350" y="1379206"/>
                </a:lnTo>
                <a:lnTo>
                  <a:pt x="10412914" y="1357732"/>
                </a:lnTo>
                <a:lnTo>
                  <a:pt x="10447385" y="1329293"/>
                </a:lnTo>
                <a:lnTo>
                  <a:pt x="10475824" y="1294822"/>
                </a:lnTo>
                <a:lnTo>
                  <a:pt x="10497298" y="1255258"/>
                </a:lnTo>
                <a:lnTo>
                  <a:pt x="10510868" y="1211535"/>
                </a:lnTo>
                <a:lnTo>
                  <a:pt x="10515600" y="1164589"/>
                </a:lnTo>
                <a:lnTo>
                  <a:pt x="10515600" y="232917"/>
                </a:lnTo>
                <a:lnTo>
                  <a:pt x="10510868" y="185972"/>
                </a:lnTo>
                <a:lnTo>
                  <a:pt x="10497298" y="142249"/>
                </a:lnTo>
                <a:lnTo>
                  <a:pt x="10475824" y="102685"/>
                </a:lnTo>
                <a:lnTo>
                  <a:pt x="10447385" y="68214"/>
                </a:lnTo>
                <a:lnTo>
                  <a:pt x="10412914" y="39775"/>
                </a:lnTo>
                <a:lnTo>
                  <a:pt x="10373350" y="18301"/>
                </a:lnTo>
                <a:lnTo>
                  <a:pt x="10329627" y="4731"/>
                </a:lnTo>
                <a:lnTo>
                  <a:pt x="10282682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8200" y="3302508"/>
            <a:ext cx="10515600" cy="1397635"/>
          </a:xfrm>
          <a:custGeom>
            <a:avLst/>
            <a:gdLst/>
            <a:ahLst/>
            <a:cxnLst/>
            <a:rect l="l" t="t" r="r" b="b"/>
            <a:pathLst>
              <a:path w="10515600" h="1397635">
                <a:moveTo>
                  <a:pt x="10282682" y="0"/>
                </a:moveTo>
                <a:lnTo>
                  <a:pt x="232918" y="0"/>
                </a:lnTo>
                <a:lnTo>
                  <a:pt x="185976" y="4731"/>
                </a:lnTo>
                <a:lnTo>
                  <a:pt x="142255" y="18301"/>
                </a:lnTo>
                <a:lnTo>
                  <a:pt x="102690" y="39775"/>
                </a:lnTo>
                <a:lnTo>
                  <a:pt x="68219" y="68214"/>
                </a:lnTo>
                <a:lnTo>
                  <a:pt x="39778" y="102685"/>
                </a:lnTo>
                <a:lnTo>
                  <a:pt x="18303" y="142249"/>
                </a:lnTo>
                <a:lnTo>
                  <a:pt x="4732" y="185972"/>
                </a:lnTo>
                <a:lnTo>
                  <a:pt x="0" y="232917"/>
                </a:lnTo>
                <a:lnTo>
                  <a:pt x="0" y="1164589"/>
                </a:lnTo>
                <a:lnTo>
                  <a:pt x="4732" y="1211535"/>
                </a:lnTo>
                <a:lnTo>
                  <a:pt x="18303" y="1255258"/>
                </a:lnTo>
                <a:lnTo>
                  <a:pt x="39778" y="1294822"/>
                </a:lnTo>
                <a:lnTo>
                  <a:pt x="68219" y="1329293"/>
                </a:lnTo>
                <a:lnTo>
                  <a:pt x="102690" y="1357732"/>
                </a:lnTo>
                <a:lnTo>
                  <a:pt x="142255" y="1379206"/>
                </a:lnTo>
                <a:lnTo>
                  <a:pt x="185976" y="1392776"/>
                </a:lnTo>
                <a:lnTo>
                  <a:pt x="232918" y="1397508"/>
                </a:lnTo>
                <a:lnTo>
                  <a:pt x="10282682" y="1397508"/>
                </a:lnTo>
                <a:lnTo>
                  <a:pt x="10329627" y="1392776"/>
                </a:lnTo>
                <a:lnTo>
                  <a:pt x="10373350" y="1379206"/>
                </a:lnTo>
                <a:lnTo>
                  <a:pt x="10412914" y="1357732"/>
                </a:lnTo>
                <a:lnTo>
                  <a:pt x="10447385" y="1329293"/>
                </a:lnTo>
                <a:lnTo>
                  <a:pt x="10475824" y="1294822"/>
                </a:lnTo>
                <a:lnTo>
                  <a:pt x="10497298" y="1255258"/>
                </a:lnTo>
                <a:lnTo>
                  <a:pt x="10510868" y="1211535"/>
                </a:lnTo>
                <a:lnTo>
                  <a:pt x="10515600" y="1164589"/>
                </a:lnTo>
                <a:lnTo>
                  <a:pt x="10515600" y="232917"/>
                </a:lnTo>
                <a:lnTo>
                  <a:pt x="10510868" y="185972"/>
                </a:lnTo>
                <a:lnTo>
                  <a:pt x="10497298" y="142249"/>
                </a:lnTo>
                <a:lnTo>
                  <a:pt x="10475824" y="102685"/>
                </a:lnTo>
                <a:lnTo>
                  <a:pt x="10447385" y="68214"/>
                </a:lnTo>
                <a:lnTo>
                  <a:pt x="10412914" y="39775"/>
                </a:lnTo>
                <a:lnTo>
                  <a:pt x="10373350" y="18301"/>
                </a:lnTo>
                <a:lnTo>
                  <a:pt x="10329627" y="4731"/>
                </a:lnTo>
                <a:lnTo>
                  <a:pt x="10282682" y="0"/>
                </a:lnTo>
                <a:close/>
              </a:path>
            </a:pathLst>
          </a:custGeom>
          <a:solidFill>
            <a:srgbClr val="C481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8200" y="4773167"/>
            <a:ext cx="10515600" cy="1397635"/>
          </a:xfrm>
          <a:custGeom>
            <a:avLst/>
            <a:gdLst/>
            <a:ahLst/>
            <a:cxnLst/>
            <a:rect l="l" t="t" r="r" b="b"/>
            <a:pathLst>
              <a:path w="10515600" h="1397635">
                <a:moveTo>
                  <a:pt x="10282682" y="0"/>
                </a:moveTo>
                <a:lnTo>
                  <a:pt x="232918" y="0"/>
                </a:lnTo>
                <a:lnTo>
                  <a:pt x="185976" y="4731"/>
                </a:lnTo>
                <a:lnTo>
                  <a:pt x="142255" y="18301"/>
                </a:lnTo>
                <a:lnTo>
                  <a:pt x="102690" y="39775"/>
                </a:lnTo>
                <a:lnTo>
                  <a:pt x="68219" y="68214"/>
                </a:lnTo>
                <a:lnTo>
                  <a:pt x="39778" y="102685"/>
                </a:lnTo>
                <a:lnTo>
                  <a:pt x="18303" y="142249"/>
                </a:lnTo>
                <a:lnTo>
                  <a:pt x="4732" y="185972"/>
                </a:lnTo>
                <a:lnTo>
                  <a:pt x="0" y="232917"/>
                </a:lnTo>
                <a:lnTo>
                  <a:pt x="0" y="1164589"/>
                </a:lnTo>
                <a:lnTo>
                  <a:pt x="4732" y="1211531"/>
                </a:lnTo>
                <a:lnTo>
                  <a:pt x="18303" y="1255252"/>
                </a:lnTo>
                <a:lnTo>
                  <a:pt x="39778" y="1294817"/>
                </a:lnTo>
                <a:lnTo>
                  <a:pt x="68219" y="1329288"/>
                </a:lnTo>
                <a:lnTo>
                  <a:pt x="102690" y="1357729"/>
                </a:lnTo>
                <a:lnTo>
                  <a:pt x="142255" y="1379204"/>
                </a:lnTo>
                <a:lnTo>
                  <a:pt x="185976" y="1392775"/>
                </a:lnTo>
                <a:lnTo>
                  <a:pt x="232918" y="1397507"/>
                </a:lnTo>
                <a:lnTo>
                  <a:pt x="10282682" y="1397507"/>
                </a:lnTo>
                <a:lnTo>
                  <a:pt x="10329627" y="1392775"/>
                </a:lnTo>
                <a:lnTo>
                  <a:pt x="10373350" y="1379204"/>
                </a:lnTo>
                <a:lnTo>
                  <a:pt x="10412914" y="1357729"/>
                </a:lnTo>
                <a:lnTo>
                  <a:pt x="10447385" y="1329288"/>
                </a:lnTo>
                <a:lnTo>
                  <a:pt x="10475824" y="1294817"/>
                </a:lnTo>
                <a:lnTo>
                  <a:pt x="10497298" y="1255252"/>
                </a:lnTo>
                <a:lnTo>
                  <a:pt x="10510868" y="1211531"/>
                </a:lnTo>
                <a:lnTo>
                  <a:pt x="10515600" y="1164589"/>
                </a:lnTo>
                <a:lnTo>
                  <a:pt x="10515600" y="232917"/>
                </a:lnTo>
                <a:lnTo>
                  <a:pt x="10510868" y="185972"/>
                </a:lnTo>
                <a:lnTo>
                  <a:pt x="10497298" y="142249"/>
                </a:lnTo>
                <a:lnTo>
                  <a:pt x="10475824" y="102685"/>
                </a:lnTo>
                <a:lnTo>
                  <a:pt x="10447385" y="68214"/>
                </a:lnTo>
                <a:lnTo>
                  <a:pt x="10412914" y="39775"/>
                </a:lnTo>
                <a:lnTo>
                  <a:pt x="10373350" y="18301"/>
                </a:lnTo>
                <a:lnTo>
                  <a:pt x="10329627" y="4731"/>
                </a:lnTo>
                <a:lnTo>
                  <a:pt x="10282682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9177" y="2116327"/>
            <a:ext cx="10024110" cy="38715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>
              <a:lnSpc>
                <a:spcPts val="2750"/>
              </a:lnSpc>
              <a:spcBef>
                <a:spcPts val="395"/>
              </a:spcBef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null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entry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long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part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an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entry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matches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related.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30"/>
              </a:spcBef>
            </a:pPr>
            <a:endParaRPr sz="2500">
              <a:latin typeface="Calibri"/>
              <a:cs typeface="Calibri"/>
            </a:endParaRPr>
          </a:p>
          <a:p>
            <a:pPr marL="12700" marR="139065">
              <a:lnSpc>
                <a:spcPts val="2750"/>
              </a:lnSpc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possible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attribute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corresponding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impossible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invalid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entry.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2500">
              <a:latin typeface="Calibri"/>
              <a:cs typeface="Calibri"/>
            </a:endParaRPr>
          </a:p>
          <a:p>
            <a:pPr marL="12700" marR="262890">
              <a:lnSpc>
                <a:spcPts val="2750"/>
              </a:lnSpc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enforcement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referential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integrity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rule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makes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impossible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delete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row</a:t>
            </a:r>
            <a:r>
              <a:rPr sz="25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whose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mandatory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matching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foreign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key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another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81632"/>
            <a:ext cx="2607310" cy="295846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720"/>
              </a:spcBef>
            </a:pPr>
            <a:r>
              <a:rPr sz="5200" spc="-60" dirty="0">
                <a:latin typeface="Calibri Light"/>
                <a:cs typeface="Calibri Light"/>
              </a:rPr>
              <a:t>Relational </a:t>
            </a:r>
            <a:r>
              <a:rPr sz="5200" spc="-10" dirty="0">
                <a:latin typeface="Calibri Light"/>
                <a:cs typeface="Calibri Light"/>
              </a:rPr>
              <a:t>Database Design Process</a:t>
            </a:r>
            <a:endParaRPr sz="52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93208" y="5135879"/>
            <a:ext cx="1567180" cy="988060"/>
          </a:xfrm>
          <a:custGeom>
            <a:avLst/>
            <a:gdLst/>
            <a:ahLst/>
            <a:cxnLst/>
            <a:rect l="l" t="t" r="r" b="b"/>
            <a:pathLst>
              <a:path w="1567179" h="988060">
                <a:moveTo>
                  <a:pt x="0" y="987552"/>
                </a:moveTo>
                <a:lnTo>
                  <a:pt x="1566671" y="987552"/>
                </a:lnTo>
                <a:lnTo>
                  <a:pt x="1566671" y="0"/>
                </a:lnTo>
                <a:lnTo>
                  <a:pt x="0" y="0"/>
                </a:lnTo>
                <a:lnTo>
                  <a:pt x="0" y="987552"/>
                </a:lnTo>
                <a:close/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93208" y="5135879"/>
            <a:ext cx="1567180" cy="988060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174625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375"/>
              </a:spcBef>
            </a:pPr>
            <a:r>
              <a:rPr sz="350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3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9118" y="5135879"/>
            <a:ext cx="4697730" cy="988060"/>
          </a:xfrm>
          <a:prstGeom prst="rect">
            <a:avLst/>
          </a:prstGeom>
          <a:solidFill>
            <a:srgbClr val="D2DEEE">
              <a:alpha val="90194"/>
            </a:srgbClr>
          </a:solidFill>
          <a:ln w="12700">
            <a:solidFill>
              <a:srgbClr val="D2DEEE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5"/>
              </a:spcBef>
            </a:pPr>
            <a:endParaRPr sz="1800">
              <a:latin typeface="Times New Roman"/>
              <a:cs typeface="Times New Roman"/>
            </a:endParaRPr>
          </a:p>
          <a:p>
            <a:pPr marL="9588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Refine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Normalize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Design.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86858" y="3625341"/>
            <a:ext cx="1579880" cy="1530985"/>
            <a:chOff x="5086858" y="3625341"/>
            <a:chExt cx="1579880" cy="1530985"/>
          </a:xfrm>
        </p:grpSpPr>
        <p:sp>
          <p:nvSpPr>
            <p:cNvPr id="7" name="object 7"/>
            <p:cNvSpPr/>
            <p:nvPr/>
          </p:nvSpPr>
          <p:spPr>
            <a:xfrm>
              <a:off x="5093208" y="3631691"/>
              <a:ext cx="1567180" cy="1518285"/>
            </a:xfrm>
            <a:custGeom>
              <a:avLst/>
              <a:gdLst/>
              <a:ahLst/>
              <a:cxnLst/>
              <a:rect l="l" t="t" r="r" b="b"/>
              <a:pathLst>
                <a:path w="1567179" h="1518285">
                  <a:moveTo>
                    <a:pt x="1566671" y="0"/>
                  </a:moveTo>
                  <a:lnTo>
                    <a:pt x="0" y="0"/>
                  </a:lnTo>
                  <a:lnTo>
                    <a:pt x="0" y="986281"/>
                  </a:lnTo>
                  <a:lnTo>
                    <a:pt x="745363" y="986281"/>
                  </a:lnTo>
                  <a:lnTo>
                    <a:pt x="745363" y="1290192"/>
                  </a:lnTo>
                  <a:lnTo>
                    <a:pt x="631570" y="1290192"/>
                  </a:lnTo>
                  <a:lnTo>
                    <a:pt x="783336" y="1517903"/>
                  </a:lnTo>
                  <a:lnTo>
                    <a:pt x="935101" y="1290192"/>
                  </a:lnTo>
                  <a:lnTo>
                    <a:pt x="821308" y="1290192"/>
                  </a:lnTo>
                  <a:lnTo>
                    <a:pt x="821308" y="986281"/>
                  </a:lnTo>
                  <a:lnTo>
                    <a:pt x="1566671" y="986281"/>
                  </a:lnTo>
                  <a:lnTo>
                    <a:pt x="1566671" y="0"/>
                  </a:lnTo>
                  <a:close/>
                </a:path>
              </a:pathLst>
            </a:custGeom>
            <a:solidFill>
              <a:srgbClr val="52C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93208" y="3631691"/>
              <a:ext cx="1567180" cy="1518285"/>
            </a:xfrm>
            <a:custGeom>
              <a:avLst/>
              <a:gdLst/>
              <a:ahLst/>
              <a:cxnLst/>
              <a:rect l="l" t="t" r="r" b="b"/>
              <a:pathLst>
                <a:path w="1567179" h="1518285">
                  <a:moveTo>
                    <a:pt x="1566671" y="986281"/>
                  </a:moveTo>
                  <a:lnTo>
                    <a:pt x="821308" y="986281"/>
                  </a:lnTo>
                  <a:lnTo>
                    <a:pt x="821308" y="1290192"/>
                  </a:lnTo>
                  <a:lnTo>
                    <a:pt x="935101" y="1290192"/>
                  </a:lnTo>
                  <a:lnTo>
                    <a:pt x="783336" y="1517903"/>
                  </a:lnTo>
                  <a:lnTo>
                    <a:pt x="631570" y="1290192"/>
                  </a:lnTo>
                  <a:lnTo>
                    <a:pt x="745363" y="1290192"/>
                  </a:lnTo>
                  <a:lnTo>
                    <a:pt x="745363" y="986281"/>
                  </a:lnTo>
                  <a:lnTo>
                    <a:pt x="0" y="986281"/>
                  </a:lnTo>
                  <a:lnTo>
                    <a:pt x="0" y="0"/>
                  </a:lnTo>
                  <a:lnTo>
                    <a:pt x="1566671" y="0"/>
                  </a:lnTo>
                  <a:lnTo>
                    <a:pt x="1566671" y="986281"/>
                  </a:lnTo>
                  <a:close/>
                </a:path>
              </a:pathLst>
            </a:custGeom>
            <a:ln w="12700">
              <a:solidFill>
                <a:srgbClr val="52C9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99328" y="3792169"/>
            <a:ext cx="115506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3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8356" y="3631691"/>
            <a:ext cx="4699000" cy="988060"/>
          </a:xfrm>
          <a:prstGeom prst="rect">
            <a:avLst/>
          </a:prstGeom>
          <a:solidFill>
            <a:srgbClr val="D0EBEA">
              <a:alpha val="90194"/>
            </a:srgbClr>
          </a:solidFill>
          <a:ln w="12700">
            <a:solidFill>
              <a:srgbClr val="D0EBEA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5"/>
              </a:spcBef>
            </a:pPr>
            <a:endParaRPr sz="1800">
              <a:latin typeface="Times New Roman"/>
              <a:cs typeface="Times New Roman"/>
            </a:endParaRPr>
          </a:p>
          <a:p>
            <a:pPr marL="9652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Relationships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among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Tables.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86858" y="2119629"/>
            <a:ext cx="1579880" cy="1532255"/>
            <a:chOff x="5086858" y="2119629"/>
            <a:chExt cx="1579880" cy="1532255"/>
          </a:xfrm>
        </p:grpSpPr>
        <p:sp>
          <p:nvSpPr>
            <p:cNvPr id="12" name="object 12"/>
            <p:cNvSpPr/>
            <p:nvPr/>
          </p:nvSpPr>
          <p:spPr>
            <a:xfrm>
              <a:off x="5093208" y="2125979"/>
              <a:ext cx="1567180" cy="1519555"/>
            </a:xfrm>
            <a:custGeom>
              <a:avLst/>
              <a:gdLst/>
              <a:ahLst/>
              <a:cxnLst/>
              <a:rect l="l" t="t" r="r" b="b"/>
              <a:pathLst>
                <a:path w="1567179" h="1519554">
                  <a:moveTo>
                    <a:pt x="1566671" y="0"/>
                  </a:moveTo>
                  <a:lnTo>
                    <a:pt x="0" y="0"/>
                  </a:lnTo>
                  <a:lnTo>
                    <a:pt x="0" y="987298"/>
                  </a:lnTo>
                  <a:lnTo>
                    <a:pt x="745363" y="987298"/>
                  </a:lnTo>
                  <a:lnTo>
                    <a:pt x="745363" y="1291463"/>
                  </a:lnTo>
                  <a:lnTo>
                    <a:pt x="631443" y="1291463"/>
                  </a:lnTo>
                  <a:lnTo>
                    <a:pt x="783336" y="1519428"/>
                  </a:lnTo>
                  <a:lnTo>
                    <a:pt x="935227" y="1291463"/>
                  </a:lnTo>
                  <a:lnTo>
                    <a:pt x="821308" y="1291463"/>
                  </a:lnTo>
                  <a:lnTo>
                    <a:pt x="821308" y="987298"/>
                  </a:lnTo>
                  <a:lnTo>
                    <a:pt x="1566671" y="987298"/>
                  </a:lnTo>
                  <a:lnTo>
                    <a:pt x="1566671" y="0"/>
                  </a:lnTo>
                  <a:close/>
                </a:path>
              </a:pathLst>
            </a:custGeom>
            <a:solidFill>
              <a:srgbClr val="48BE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93208" y="2125979"/>
              <a:ext cx="1567180" cy="1519555"/>
            </a:xfrm>
            <a:custGeom>
              <a:avLst/>
              <a:gdLst/>
              <a:ahLst/>
              <a:cxnLst/>
              <a:rect l="l" t="t" r="r" b="b"/>
              <a:pathLst>
                <a:path w="1567179" h="1519554">
                  <a:moveTo>
                    <a:pt x="1566671" y="987298"/>
                  </a:moveTo>
                  <a:lnTo>
                    <a:pt x="821308" y="987298"/>
                  </a:lnTo>
                  <a:lnTo>
                    <a:pt x="821308" y="1291463"/>
                  </a:lnTo>
                  <a:lnTo>
                    <a:pt x="935227" y="1291463"/>
                  </a:lnTo>
                  <a:lnTo>
                    <a:pt x="783336" y="1519428"/>
                  </a:lnTo>
                  <a:lnTo>
                    <a:pt x="631443" y="1291463"/>
                  </a:lnTo>
                  <a:lnTo>
                    <a:pt x="745363" y="1291463"/>
                  </a:lnTo>
                  <a:lnTo>
                    <a:pt x="745363" y="987298"/>
                  </a:lnTo>
                  <a:lnTo>
                    <a:pt x="0" y="987298"/>
                  </a:lnTo>
                  <a:lnTo>
                    <a:pt x="0" y="0"/>
                  </a:lnTo>
                  <a:lnTo>
                    <a:pt x="1566671" y="0"/>
                  </a:lnTo>
                  <a:lnTo>
                    <a:pt x="1566671" y="987298"/>
                  </a:lnTo>
                  <a:close/>
                </a:path>
              </a:pathLst>
            </a:custGeom>
            <a:ln w="12700">
              <a:solidFill>
                <a:srgbClr val="48BE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299328" y="2287905"/>
            <a:ext cx="1155700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3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58356" y="2125979"/>
            <a:ext cx="4699000" cy="988060"/>
          </a:xfrm>
          <a:prstGeom prst="rect">
            <a:avLst/>
          </a:prstGeom>
          <a:solidFill>
            <a:srgbClr val="D0E7D7">
              <a:alpha val="90194"/>
            </a:srgbClr>
          </a:solidFill>
          <a:ln w="12700">
            <a:solidFill>
              <a:srgbClr val="D0E7D7"/>
            </a:solidFill>
          </a:ln>
        </p:spPr>
        <p:txBody>
          <a:bodyPr vert="horz" wrap="square" lIns="0" tIns="234315" rIns="0" bIns="0" rtlCol="0">
            <a:spAutoFit/>
          </a:bodyPr>
          <a:lstStyle/>
          <a:p>
            <a:pPr marL="96520" marR="235585">
              <a:lnSpc>
                <a:spcPts val="1970"/>
              </a:lnSpc>
              <a:spcBef>
                <a:spcPts val="1845"/>
              </a:spcBef>
            </a:pPr>
            <a:r>
              <a:rPr sz="1800" dirty="0">
                <a:latin typeface="Calibri"/>
                <a:cs typeface="Calibri"/>
              </a:rPr>
              <a:t>Gather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Specify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Primary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Keys.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086858" y="615441"/>
            <a:ext cx="1579880" cy="1532255"/>
            <a:chOff x="5086858" y="615441"/>
            <a:chExt cx="1579880" cy="1532255"/>
          </a:xfrm>
        </p:grpSpPr>
        <p:sp>
          <p:nvSpPr>
            <p:cNvPr id="17" name="object 17"/>
            <p:cNvSpPr/>
            <p:nvPr/>
          </p:nvSpPr>
          <p:spPr>
            <a:xfrm>
              <a:off x="5093208" y="621791"/>
              <a:ext cx="1567180" cy="1519555"/>
            </a:xfrm>
            <a:custGeom>
              <a:avLst/>
              <a:gdLst/>
              <a:ahLst/>
              <a:cxnLst/>
              <a:rect l="l" t="t" r="r" b="b"/>
              <a:pathLst>
                <a:path w="1567179" h="1519555">
                  <a:moveTo>
                    <a:pt x="1566671" y="0"/>
                  </a:moveTo>
                  <a:lnTo>
                    <a:pt x="0" y="0"/>
                  </a:lnTo>
                  <a:lnTo>
                    <a:pt x="0" y="987298"/>
                  </a:lnTo>
                  <a:lnTo>
                    <a:pt x="745363" y="987298"/>
                  </a:lnTo>
                  <a:lnTo>
                    <a:pt x="745363" y="1291463"/>
                  </a:lnTo>
                  <a:lnTo>
                    <a:pt x="631443" y="1291463"/>
                  </a:lnTo>
                  <a:lnTo>
                    <a:pt x="783336" y="1519428"/>
                  </a:lnTo>
                  <a:lnTo>
                    <a:pt x="935227" y="1291463"/>
                  </a:lnTo>
                  <a:lnTo>
                    <a:pt x="821308" y="1291463"/>
                  </a:lnTo>
                  <a:lnTo>
                    <a:pt x="821308" y="987298"/>
                  </a:lnTo>
                  <a:lnTo>
                    <a:pt x="1566671" y="987298"/>
                  </a:lnTo>
                  <a:lnTo>
                    <a:pt x="1566671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93208" y="621791"/>
              <a:ext cx="1567180" cy="1519555"/>
            </a:xfrm>
            <a:custGeom>
              <a:avLst/>
              <a:gdLst/>
              <a:ahLst/>
              <a:cxnLst/>
              <a:rect l="l" t="t" r="r" b="b"/>
              <a:pathLst>
                <a:path w="1567179" h="1519555">
                  <a:moveTo>
                    <a:pt x="1566671" y="987298"/>
                  </a:moveTo>
                  <a:lnTo>
                    <a:pt x="821308" y="987298"/>
                  </a:lnTo>
                  <a:lnTo>
                    <a:pt x="821308" y="1291463"/>
                  </a:lnTo>
                  <a:lnTo>
                    <a:pt x="935227" y="1291463"/>
                  </a:lnTo>
                  <a:lnTo>
                    <a:pt x="783336" y="1519428"/>
                  </a:lnTo>
                  <a:lnTo>
                    <a:pt x="631443" y="1291463"/>
                  </a:lnTo>
                  <a:lnTo>
                    <a:pt x="745363" y="1291463"/>
                  </a:lnTo>
                  <a:lnTo>
                    <a:pt x="745363" y="987298"/>
                  </a:lnTo>
                  <a:lnTo>
                    <a:pt x="0" y="987298"/>
                  </a:lnTo>
                  <a:lnTo>
                    <a:pt x="0" y="0"/>
                  </a:lnTo>
                  <a:lnTo>
                    <a:pt x="1566671" y="0"/>
                  </a:lnTo>
                  <a:lnTo>
                    <a:pt x="1566671" y="987298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299328" y="783082"/>
            <a:ext cx="1155700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3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0" name="object 20"/>
          <p:cNvSpPr txBox="1"/>
          <p:nvPr/>
        </p:nvSpPr>
        <p:spPr>
          <a:xfrm>
            <a:off x="6658356" y="621791"/>
            <a:ext cx="4699000" cy="988060"/>
          </a:xfrm>
          <a:prstGeom prst="rect">
            <a:avLst/>
          </a:prstGeom>
          <a:solidFill>
            <a:srgbClr val="D4E2CF">
              <a:alpha val="90194"/>
            </a:srgbClr>
          </a:solidFill>
          <a:ln w="12700">
            <a:solidFill>
              <a:srgbClr val="D4E2CF"/>
            </a:solidFill>
          </a:ln>
        </p:spPr>
        <p:txBody>
          <a:bodyPr vert="horz" wrap="square" lIns="0" tIns="205105" rIns="0" bIns="0" rtlCol="0">
            <a:spAutoFit/>
          </a:bodyPr>
          <a:lstStyle/>
          <a:p>
            <a:pPr marL="96520">
              <a:lnSpc>
                <a:spcPts val="2065"/>
              </a:lnSpc>
              <a:spcBef>
                <a:spcPts val="1615"/>
              </a:spcBef>
            </a:pPr>
            <a:r>
              <a:rPr sz="1800" dirty="0">
                <a:latin typeface="Calibri"/>
                <a:cs typeface="Calibri"/>
              </a:rPr>
              <a:t>Define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Purpose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  <a:p>
            <a:pPr marL="96520">
              <a:lnSpc>
                <a:spcPts val="2065"/>
              </a:lnSpc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Database(Requirement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Analysis)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590" y="240029"/>
            <a:ext cx="4462780" cy="602361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638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30"/>
              </a:spcBef>
            </a:pPr>
            <a:endParaRPr sz="4800">
              <a:latin typeface="Times New Roman"/>
              <a:cs typeface="Times New Roman"/>
            </a:endParaRPr>
          </a:p>
          <a:p>
            <a:pPr marL="410209" marR="1265555">
              <a:lnSpc>
                <a:spcPct val="90000"/>
              </a:lnSpc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Features</a:t>
            </a:r>
            <a:r>
              <a:rPr sz="4800" spc="-2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Of </a:t>
            </a:r>
            <a:r>
              <a:rPr sz="4800" spc="-20" dirty="0">
                <a:solidFill>
                  <a:srgbClr val="FFFFFF"/>
                </a:solidFill>
                <a:latin typeface="Calibri Light"/>
                <a:cs typeface="Calibri Light"/>
              </a:rPr>
              <a:t>Good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Relational Database Design</a:t>
            </a:r>
            <a:endParaRPr sz="48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166359" y="304800"/>
            <a:ext cx="6590030" cy="693420"/>
            <a:chOff x="5166359" y="304800"/>
            <a:chExt cx="6590030" cy="693420"/>
          </a:xfrm>
        </p:grpSpPr>
        <p:sp>
          <p:nvSpPr>
            <p:cNvPr id="4" name="object 4"/>
            <p:cNvSpPr/>
            <p:nvPr/>
          </p:nvSpPr>
          <p:spPr>
            <a:xfrm>
              <a:off x="5166359" y="304800"/>
              <a:ext cx="6590030" cy="693420"/>
            </a:xfrm>
            <a:custGeom>
              <a:avLst/>
              <a:gdLst/>
              <a:ahLst/>
              <a:cxnLst/>
              <a:rect l="l" t="t" r="r" b="b"/>
              <a:pathLst>
                <a:path w="6590030" h="693419">
                  <a:moveTo>
                    <a:pt x="6520434" y="0"/>
                  </a:moveTo>
                  <a:lnTo>
                    <a:pt x="69341" y="0"/>
                  </a:lnTo>
                  <a:lnTo>
                    <a:pt x="42326" y="5441"/>
                  </a:lnTo>
                  <a:lnTo>
                    <a:pt x="20288" y="20288"/>
                  </a:lnTo>
                  <a:lnTo>
                    <a:pt x="5441" y="42326"/>
                  </a:lnTo>
                  <a:lnTo>
                    <a:pt x="0" y="69341"/>
                  </a:lnTo>
                  <a:lnTo>
                    <a:pt x="0" y="624077"/>
                  </a:lnTo>
                  <a:lnTo>
                    <a:pt x="5441" y="651093"/>
                  </a:lnTo>
                  <a:lnTo>
                    <a:pt x="20288" y="673131"/>
                  </a:lnTo>
                  <a:lnTo>
                    <a:pt x="42326" y="687978"/>
                  </a:lnTo>
                  <a:lnTo>
                    <a:pt x="69341" y="693420"/>
                  </a:lnTo>
                  <a:lnTo>
                    <a:pt x="6520434" y="693420"/>
                  </a:lnTo>
                  <a:lnTo>
                    <a:pt x="6547449" y="687978"/>
                  </a:lnTo>
                  <a:lnTo>
                    <a:pt x="6569487" y="673131"/>
                  </a:lnTo>
                  <a:lnTo>
                    <a:pt x="6584334" y="651093"/>
                  </a:lnTo>
                  <a:lnTo>
                    <a:pt x="6589775" y="624077"/>
                  </a:lnTo>
                  <a:lnTo>
                    <a:pt x="6589775" y="69341"/>
                  </a:lnTo>
                  <a:lnTo>
                    <a:pt x="6584334" y="42326"/>
                  </a:lnTo>
                  <a:lnTo>
                    <a:pt x="6569487" y="20288"/>
                  </a:lnTo>
                  <a:lnTo>
                    <a:pt x="6547449" y="5441"/>
                  </a:lnTo>
                  <a:lnTo>
                    <a:pt x="652043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7930" y="502293"/>
              <a:ext cx="219741" cy="29838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29705" y="381127"/>
            <a:ext cx="5148580" cy="5175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6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10" dirty="0">
                <a:latin typeface="Calibri"/>
                <a:cs typeface="Calibri"/>
              </a:rPr>
              <a:t> centralised,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information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be </a:t>
            </a:r>
            <a:r>
              <a:rPr sz="1600" dirty="0">
                <a:latin typeface="Calibri"/>
                <a:cs typeface="Calibri"/>
              </a:rPr>
              <a:t>distributed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tables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reduce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redundancy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6359" y="1170432"/>
            <a:ext cx="6590030" cy="695325"/>
            <a:chOff x="5166359" y="1170432"/>
            <a:chExt cx="6590030" cy="695325"/>
          </a:xfrm>
        </p:grpSpPr>
        <p:sp>
          <p:nvSpPr>
            <p:cNvPr id="8" name="object 8"/>
            <p:cNvSpPr/>
            <p:nvPr/>
          </p:nvSpPr>
          <p:spPr>
            <a:xfrm>
              <a:off x="5166359" y="1170432"/>
              <a:ext cx="6590030" cy="695325"/>
            </a:xfrm>
            <a:custGeom>
              <a:avLst/>
              <a:gdLst/>
              <a:ahLst/>
              <a:cxnLst/>
              <a:rect l="l" t="t" r="r" b="b"/>
              <a:pathLst>
                <a:path w="6590030" h="695325">
                  <a:moveTo>
                    <a:pt x="6520307" y="0"/>
                  </a:moveTo>
                  <a:lnTo>
                    <a:pt x="69468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8"/>
                  </a:lnTo>
                  <a:lnTo>
                    <a:pt x="0" y="625475"/>
                  </a:lnTo>
                  <a:lnTo>
                    <a:pt x="5461" y="652510"/>
                  </a:lnTo>
                  <a:lnTo>
                    <a:pt x="20351" y="674592"/>
                  </a:lnTo>
                  <a:lnTo>
                    <a:pt x="42433" y="689482"/>
                  </a:lnTo>
                  <a:lnTo>
                    <a:pt x="69468" y="694943"/>
                  </a:lnTo>
                  <a:lnTo>
                    <a:pt x="6520307" y="694943"/>
                  </a:lnTo>
                  <a:lnTo>
                    <a:pt x="6547342" y="689482"/>
                  </a:lnTo>
                  <a:lnTo>
                    <a:pt x="6569424" y="674592"/>
                  </a:lnTo>
                  <a:lnTo>
                    <a:pt x="6584315" y="652510"/>
                  </a:lnTo>
                  <a:lnTo>
                    <a:pt x="6589775" y="625475"/>
                  </a:lnTo>
                  <a:lnTo>
                    <a:pt x="6589775" y="69468"/>
                  </a:lnTo>
                  <a:lnTo>
                    <a:pt x="6584315" y="42433"/>
                  </a:lnTo>
                  <a:lnTo>
                    <a:pt x="6569424" y="20351"/>
                  </a:lnTo>
                  <a:lnTo>
                    <a:pt x="6547342" y="5461"/>
                  </a:lnTo>
                  <a:lnTo>
                    <a:pt x="652030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6820" y="1389433"/>
              <a:ext cx="262187" cy="26041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029705" y="1372361"/>
            <a:ext cx="56483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easy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access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available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multiple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tables.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6359" y="2037588"/>
            <a:ext cx="6590030" cy="693420"/>
            <a:chOff x="5166359" y="2037588"/>
            <a:chExt cx="6590030" cy="693420"/>
          </a:xfrm>
        </p:grpSpPr>
        <p:sp>
          <p:nvSpPr>
            <p:cNvPr id="12" name="object 12"/>
            <p:cNvSpPr/>
            <p:nvPr/>
          </p:nvSpPr>
          <p:spPr>
            <a:xfrm>
              <a:off x="5166359" y="2037588"/>
              <a:ext cx="6590030" cy="693420"/>
            </a:xfrm>
            <a:custGeom>
              <a:avLst/>
              <a:gdLst/>
              <a:ahLst/>
              <a:cxnLst/>
              <a:rect l="l" t="t" r="r" b="b"/>
              <a:pathLst>
                <a:path w="6590030" h="693419">
                  <a:moveTo>
                    <a:pt x="6520434" y="0"/>
                  </a:moveTo>
                  <a:lnTo>
                    <a:pt x="69341" y="0"/>
                  </a:lnTo>
                  <a:lnTo>
                    <a:pt x="42326" y="5441"/>
                  </a:lnTo>
                  <a:lnTo>
                    <a:pt x="20288" y="20288"/>
                  </a:lnTo>
                  <a:lnTo>
                    <a:pt x="5441" y="42326"/>
                  </a:lnTo>
                  <a:lnTo>
                    <a:pt x="0" y="69341"/>
                  </a:lnTo>
                  <a:lnTo>
                    <a:pt x="0" y="624077"/>
                  </a:lnTo>
                  <a:lnTo>
                    <a:pt x="5441" y="651093"/>
                  </a:lnTo>
                  <a:lnTo>
                    <a:pt x="20288" y="673131"/>
                  </a:lnTo>
                  <a:lnTo>
                    <a:pt x="42326" y="687978"/>
                  </a:lnTo>
                  <a:lnTo>
                    <a:pt x="69341" y="693420"/>
                  </a:lnTo>
                  <a:lnTo>
                    <a:pt x="6520434" y="693420"/>
                  </a:lnTo>
                  <a:lnTo>
                    <a:pt x="6547449" y="687978"/>
                  </a:lnTo>
                  <a:lnTo>
                    <a:pt x="6569487" y="673131"/>
                  </a:lnTo>
                  <a:lnTo>
                    <a:pt x="6584334" y="651093"/>
                  </a:lnTo>
                  <a:lnTo>
                    <a:pt x="6589775" y="624077"/>
                  </a:lnTo>
                  <a:lnTo>
                    <a:pt x="6589775" y="69341"/>
                  </a:lnTo>
                  <a:lnTo>
                    <a:pt x="6584334" y="42326"/>
                  </a:lnTo>
                  <a:lnTo>
                    <a:pt x="6569487" y="20288"/>
                  </a:lnTo>
                  <a:lnTo>
                    <a:pt x="6547449" y="5441"/>
                  </a:lnTo>
                  <a:lnTo>
                    <a:pt x="652043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06910" y="2224836"/>
              <a:ext cx="321945" cy="321945"/>
            </a:xfrm>
            <a:custGeom>
              <a:avLst/>
              <a:gdLst/>
              <a:ahLst/>
              <a:cxnLst/>
              <a:rect l="l" t="t" r="r" b="b"/>
              <a:pathLst>
                <a:path w="321945" h="321944">
                  <a:moveTo>
                    <a:pt x="192278" y="160972"/>
                  </a:moveTo>
                  <a:lnTo>
                    <a:pt x="189814" y="148742"/>
                  </a:lnTo>
                  <a:lnTo>
                    <a:pt x="187464" y="145262"/>
                  </a:lnTo>
                  <a:lnTo>
                    <a:pt x="183083" y="138760"/>
                  </a:lnTo>
                  <a:lnTo>
                    <a:pt x="176580" y="134378"/>
                  </a:lnTo>
                  <a:lnTo>
                    <a:pt x="176580" y="152298"/>
                  </a:lnTo>
                  <a:lnTo>
                    <a:pt x="176580" y="169646"/>
                  </a:lnTo>
                  <a:lnTo>
                    <a:pt x="169557" y="176669"/>
                  </a:lnTo>
                  <a:lnTo>
                    <a:pt x="152209" y="176669"/>
                  </a:lnTo>
                  <a:lnTo>
                    <a:pt x="145186" y="169646"/>
                  </a:lnTo>
                  <a:lnTo>
                    <a:pt x="145186" y="152298"/>
                  </a:lnTo>
                  <a:lnTo>
                    <a:pt x="152209" y="145262"/>
                  </a:lnTo>
                  <a:lnTo>
                    <a:pt x="169557" y="145262"/>
                  </a:lnTo>
                  <a:lnTo>
                    <a:pt x="176580" y="152298"/>
                  </a:lnTo>
                  <a:lnTo>
                    <a:pt x="176580" y="134378"/>
                  </a:lnTo>
                  <a:lnTo>
                    <a:pt x="173101" y="132029"/>
                  </a:lnTo>
                  <a:lnTo>
                    <a:pt x="160883" y="129552"/>
                  </a:lnTo>
                  <a:lnTo>
                    <a:pt x="148666" y="132029"/>
                  </a:lnTo>
                  <a:lnTo>
                    <a:pt x="138684" y="138760"/>
                  </a:lnTo>
                  <a:lnTo>
                    <a:pt x="131953" y="148742"/>
                  </a:lnTo>
                  <a:lnTo>
                    <a:pt x="129489" y="160972"/>
                  </a:lnTo>
                  <a:lnTo>
                    <a:pt x="131953" y="173189"/>
                  </a:lnTo>
                  <a:lnTo>
                    <a:pt x="138684" y="183172"/>
                  </a:lnTo>
                  <a:lnTo>
                    <a:pt x="148666" y="189903"/>
                  </a:lnTo>
                  <a:lnTo>
                    <a:pt x="160883" y="192379"/>
                  </a:lnTo>
                  <a:lnTo>
                    <a:pt x="173101" y="189903"/>
                  </a:lnTo>
                  <a:lnTo>
                    <a:pt x="183083" y="183172"/>
                  </a:lnTo>
                  <a:lnTo>
                    <a:pt x="187464" y="176669"/>
                  </a:lnTo>
                  <a:lnTo>
                    <a:pt x="189814" y="173189"/>
                  </a:lnTo>
                  <a:lnTo>
                    <a:pt x="192278" y="160972"/>
                  </a:lnTo>
                  <a:close/>
                </a:path>
                <a:path w="321945" h="321944">
                  <a:moveTo>
                    <a:pt x="321767" y="153111"/>
                  </a:moveTo>
                  <a:lnTo>
                    <a:pt x="298221" y="153111"/>
                  </a:lnTo>
                  <a:lnTo>
                    <a:pt x="286067" y="104013"/>
                  </a:lnTo>
                  <a:lnTo>
                    <a:pt x="274675" y="87617"/>
                  </a:lnTo>
                  <a:lnTo>
                    <a:pt x="274675" y="153111"/>
                  </a:lnTo>
                  <a:lnTo>
                    <a:pt x="274675" y="168821"/>
                  </a:lnTo>
                  <a:lnTo>
                    <a:pt x="264401" y="208775"/>
                  </a:lnTo>
                  <a:lnTo>
                    <a:pt x="241477" y="241604"/>
                  </a:lnTo>
                  <a:lnTo>
                    <a:pt x="208661" y="264541"/>
                  </a:lnTo>
                  <a:lnTo>
                    <a:pt x="168732" y="274828"/>
                  </a:lnTo>
                  <a:lnTo>
                    <a:pt x="168732" y="255905"/>
                  </a:lnTo>
                  <a:lnTo>
                    <a:pt x="201345" y="247167"/>
                  </a:lnTo>
                  <a:lnTo>
                    <a:pt x="211366" y="240118"/>
                  </a:lnTo>
                  <a:lnTo>
                    <a:pt x="228168" y="228295"/>
                  </a:lnTo>
                  <a:lnTo>
                    <a:pt x="247040" y="201447"/>
                  </a:lnTo>
                  <a:lnTo>
                    <a:pt x="255765" y="168821"/>
                  </a:lnTo>
                  <a:lnTo>
                    <a:pt x="274675" y="168821"/>
                  </a:lnTo>
                  <a:lnTo>
                    <a:pt x="274675" y="153111"/>
                  </a:lnTo>
                  <a:lnTo>
                    <a:pt x="255765" y="153111"/>
                  </a:lnTo>
                  <a:lnTo>
                    <a:pt x="247040" y="120497"/>
                  </a:lnTo>
                  <a:lnTo>
                    <a:pt x="239991" y="110464"/>
                  </a:lnTo>
                  <a:lnTo>
                    <a:pt x="239991" y="153111"/>
                  </a:lnTo>
                  <a:lnTo>
                    <a:pt x="207975" y="153111"/>
                  </a:lnTo>
                  <a:lnTo>
                    <a:pt x="207975" y="168821"/>
                  </a:lnTo>
                  <a:lnTo>
                    <a:pt x="239991" y="168821"/>
                  </a:lnTo>
                  <a:lnTo>
                    <a:pt x="232562" y="195338"/>
                  </a:lnTo>
                  <a:lnTo>
                    <a:pt x="217081" y="217195"/>
                  </a:lnTo>
                  <a:lnTo>
                    <a:pt x="195237" y="232689"/>
                  </a:lnTo>
                  <a:lnTo>
                    <a:pt x="168732" y="240118"/>
                  </a:lnTo>
                  <a:lnTo>
                    <a:pt x="168732" y="208076"/>
                  </a:lnTo>
                  <a:lnTo>
                    <a:pt x="153035" y="208076"/>
                  </a:lnTo>
                  <a:lnTo>
                    <a:pt x="153035" y="240118"/>
                  </a:lnTo>
                  <a:lnTo>
                    <a:pt x="153035" y="255905"/>
                  </a:lnTo>
                  <a:lnTo>
                    <a:pt x="153035" y="274828"/>
                  </a:lnTo>
                  <a:lnTo>
                    <a:pt x="113106" y="264541"/>
                  </a:lnTo>
                  <a:lnTo>
                    <a:pt x="80289" y="241604"/>
                  </a:lnTo>
                  <a:lnTo>
                    <a:pt x="57365" y="208775"/>
                  </a:lnTo>
                  <a:lnTo>
                    <a:pt x="47091" y="168821"/>
                  </a:lnTo>
                  <a:lnTo>
                    <a:pt x="66040" y="168821"/>
                  </a:lnTo>
                  <a:lnTo>
                    <a:pt x="74764" y="201447"/>
                  </a:lnTo>
                  <a:lnTo>
                    <a:pt x="93637" y="228295"/>
                  </a:lnTo>
                  <a:lnTo>
                    <a:pt x="120472" y="247167"/>
                  </a:lnTo>
                  <a:lnTo>
                    <a:pt x="153035" y="255905"/>
                  </a:lnTo>
                  <a:lnTo>
                    <a:pt x="153035" y="240118"/>
                  </a:lnTo>
                  <a:lnTo>
                    <a:pt x="126530" y="232689"/>
                  </a:lnTo>
                  <a:lnTo>
                    <a:pt x="104686" y="217195"/>
                  </a:lnTo>
                  <a:lnTo>
                    <a:pt x="89204" y="195338"/>
                  </a:lnTo>
                  <a:lnTo>
                    <a:pt x="81775" y="168821"/>
                  </a:lnTo>
                  <a:lnTo>
                    <a:pt x="113792" y="168821"/>
                  </a:lnTo>
                  <a:lnTo>
                    <a:pt x="113792" y="153111"/>
                  </a:lnTo>
                  <a:lnTo>
                    <a:pt x="81775" y="153111"/>
                  </a:lnTo>
                  <a:lnTo>
                    <a:pt x="89204" y="126593"/>
                  </a:lnTo>
                  <a:lnTo>
                    <a:pt x="104686" y="104736"/>
                  </a:lnTo>
                  <a:lnTo>
                    <a:pt x="126530" y="89242"/>
                  </a:lnTo>
                  <a:lnTo>
                    <a:pt x="153035" y="81813"/>
                  </a:lnTo>
                  <a:lnTo>
                    <a:pt x="153035" y="113855"/>
                  </a:lnTo>
                  <a:lnTo>
                    <a:pt x="168732" y="113855"/>
                  </a:lnTo>
                  <a:lnTo>
                    <a:pt x="168732" y="81813"/>
                  </a:lnTo>
                  <a:lnTo>
                    <a:pt x="195237" y="89242"/>
                  </a:lnTo>
                  <a:lnTo>
                    <a:pt x="217081" y="104736"/>
                  </a:lnTo>
                  <a:lnTo>
                    <a:pt x="232562" y="126593"/>
                  </a:lnTo>
                  <a:lnTo>
                    <a:pt x="239991" y="153111"/>
                  </a:lnTo>
                  <a:lnTo>
                    <a:pt x="239991" y="110464"/>
                  </a:lnTo>
                  <a:lnTo>
                    <a:pt x="228193" y="93662"/>
                  </a:lnTo>
                  <a:lnTo>
                    <a:pt x="211366" y="81813"/>
                  </a:lnTo>
                  <a:lnTo>
                    <a:pt x="201383" y="74790"/>
                  </a:lnTo>
                  <a:lnTo>
                    <a:pt x="168884" y="66078"/>
                  </a:lnTo>
                  <a:lnTo>
                    <a:pt x="168732" y="66078"/>
                  </a:lnTo>
                  <a:lnTo>
                    <a:pt x="168732" y="47104"/>
                  </a:lnTo>
                  <a:lnTo>
                    <a:pt x="208661" y="57391"/>
                  </a:lnTo>
                  <a:lnTo>
                    <a:pt x="241477" y="80327"/>
                  </a:lnTo>
                  <a:lnTo>
                    <a:pt x="264401" y="113157"/>
                  </a:lnTo>
                  <a:lnTo>
                    <a:pt x="274675" y="153111"/>
                  </a:lnTo>
                  <a:lnTo>
                    <a:pt x="274675" y="87617"/>
                  </a:lnTo>
                  <a:lnTo>
                    <a:pt x="258089" y="63715"/>
                  </a:lnTo>
                  <a:lnTo>
                    <a:pt x="234200" y="47104"/>
                  </a:lnTo>
                  <a:lnTo>
                    <a:pt x="217805" y="35725"/>
                  </a:lnTo>
                  <a:lnTo>
                    <a:pt x="168732" y="23558"/>
                  </a:lnTo>
                  <a:lnTo>
                    <a:pt x="168732" y="0"/>
                  </a:lnTo>
                  <a:lnTo>
                    <a:pt x="153035" y="0"/>
                  </a:lnTo>
                  <a:lnTo>
                    <a:pt x="153035" y="23558"/>
                  </a:lnTo>
                  <a:lnTo>
                    <a:pt x="153035" y="47104"/>
                  </a:lnTo>
                  <a:lnTo>
                    <a:pt x="153035" y="66078"/>
                  </a:lnTo>
                  <a:lnTo>
                    <a:pt x="120434" y="74790"/>
                  </a:lnTo>
                  <a:lnTo>
                    <a:pt x="93611" y="93662"/>
                  </a:lnTo>
                  <a:lnTo>
                    <a:pt x="74739" y="120497"/>
                  </a:lnTo>
                  <a:lnTo>
                    <a:pt x="66001" y="153111"/>
                  </a:lnTo>
                  <a:lnTo>
                    <a:pt x="47091" y="153111"/>
                  </a:lnTo>
                  <a:lnTo>
                    <a:pt x="57365" y="113157"/>
                  </a:lnTo>
                  <a:lnTo>
                    <a:pt x="80289" y="80327"/>
                  </a:lnTo>
                  <a:lnTo>
                    <a:pt x="113106" y="57391"/>
                  </a:lnTo>
                  <a:lnTo>
                    <a:pt x="153035" y="47104"/>
                  </a:lnTo>
                  <a:lnTo>
                    <a:pt x="153035" y="23558"/>
                  </a:lnTo>
                  <a:lnTo>
                    <a:pt x="103962" y="35725"/>
                  </a:lnTo>
                  <a:lnTo>
                    <a:pt x="63677" y="63715"/>
                  </a:lnTo>
                  <a:lnTo>
                    <a:pt x="35712" y="104013"/>
                  </a:lnTo>
                  <a:lnTo>
                    <a:pt x="23545" y="153111"/>
                  </a:lnTo>
                  <a:lnTo>
                    <a:pt x="0" y="153111"/>
                  </a:lnTo>
                  <a:lnTo>
                    <a:pt x="0" y="168821"/>
                  </a:lnTo>
                  <a:lnTo>
                    <a:pt x="23545" y="168821"/>
                  </a:lnTo>
                  <a:lnTo>
                    <a:pt x="35712" y="217919"/>
                  </a:lnTo>
                  <a:lnTo>
                    <a:pt x="63677" y="258229"/>
                  </a:lnTo>
                  <a:lnTo>
                    <a:pt x="103962" y="286219"/>
                  </a:lnTo>
                  <a:lnTo>
                    <a:pt x="153035" y="298386"/>
                  </a:lnTo>
                  <a:lnTo>
                    <a:pt x="153035" y="321932"/>
                  </a:lnTo>
                  <a:lnTo>
                    <a:pt x="168732" y="321932"/>
                  </a:lnTo>
                  <a:lnTo>
                    <a:pt x="168732" y="298386"/>
                  </a:lnTo>
                  <a:lnTo>
                    <a:pt x="217805" y="286219"/>
                  </a:lnTo>
                  <a:lnTo>
                    <a:pt x="234200" y="274828"/>
                  </a:lnTo>
                  <a:lnTo>
                    <a:pt x="258089" y="258229"/>
                  </a:lnTo>
                  <a:lnTo>
                    <a:pt x="286067" y="217919"/>
                  </a:lnTo>
                  <a:lnTo>
                    <a:pt x="298221" y="168821"/>
                  </a:lnTo>
                  <a:lnTo>
                    <a:pt x="321767" y="168821"/>
                  </a:lnTo>
                  <a:lnTo>
                    <a:pt x="321767" y="153111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29705" y="2239517"/>
            <a:ext cx="48933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take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accuracy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integrity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information.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166359" y="2904744"/>
            <a:ext cx="6590030" cy="693420"/>
            <a:chOff x="5166359" y="2904744"/>
            <a:chExt cx="6590030" cy="693420"/>
          </a:xfrm>
        </p:grpSpPr>
        <p:sp>
          <p:nvSpPr>
            <p:cNvPr id="16" name="object 16"/>
            <p:cNvSpPr/>
            <p:nvPr/>
          </p:nvSpPr>
          <p:spPr>
            <a:xfrm>
              <a:off x="5166359" y="2904744"/>
              <a:ext cx="6590030" cy="693420"/>
            </a:xfrm>
            <a:custGeom>
              <a:avLst/>
              <a:gdLst/>
              <a:ahLst/>
              <a:cxnLst/>
              <a:rect l="l" t="t" r="r" b="b"/>
              <a:pathLst>
                <a:path w="6590030" h="693420">
                  <a:moveTo>
                    <a:pt x="6520434" y="0"/>
                  </a:moveTo>
                  <a:lnTo>
                    <a:pt x="69341" y="0"/>
                  </a:lnTo>
                  <a:lnTo>
                    <a:pt x="42326" y="5441"/>
                  </a:lnTo>
                  <a:lnTo>
                    <a:pt x="20288" y="20288"/>
                  </a:lnTo>
                  <a:lnTo>
                    <a:pt x="5441" y="42326"/>
                  </a:lnTo>
                  <a:lnTo>
                    <a:pt x="0" y="69341"/>
                  </a:lnTo>
                  <a:lnTo>
                    <a:pt x="0" y="624077"/>
                  </a:lnTo>
                  <a:lnTo>
                    <a:pt x="5441" y="651093"/>
                  </a:lnTo>
                  <a:lnTo>
                    <a:pt x="20288" y="673131"/>
                  </a:lnTo>
                  <a:lnTo>
                    <a:pt x="42326" y="687978"/>
                  </a:lnTo>
                  <a:lnTo>
                    <a:pt x="69341" y="693419"/>
                  </a:lnTo>
                  <a:lnTo>
                    <a:pt x="6520434" y="693419"/>
                  </a:lnTo>
                  <a:lnTo>
                    <a:pt x="6547449" y="687978"/>
                  </a:lnTo>
                  <a:lnTo>
                    <a:pt x="6569487" y="673131"/>
                  </a:lnTo>
                  <a:lnTo>
                    <a:pt x="6584334" y="651093"/>
                  </a:lnTo>
                  <a:lnTo>
                    <a:pt x="6589775" y="624077"/>
                  </a:lnTo>
                  <a:lnTo>
                    <a:pt x="6589775" y="69341"/>
                  </a:lnTo>
                  <a:lnTo>
                    <a:pt x="6584334" y="42326"/>
                  </a:lnTo>
                  <a:lnTo>
                    <a:pt x="6569487" y="20288"/>
                  </a:lnTo>
                  <a:lnTo>
                    <a:pt x="6547449" y="5441"/>
                  </a:lnTo>
                  <a:lnTo>
                    <a:pt x="652043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7484" y="3115507"/>
              <a:ext cx="215882" cy="2355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434380" y="3114966"/>
              <a:ext cx="271145" cy="276225"/>
            </a:xfrm>
            <a:custGeom>
              <a:avLst/>
              <a:gdLst/>
              <a:ahLst/>
              <a:cxnLst/>
              <a:rect l="l" t="t" r="r" b="b"/>
              <a:pathLst>
                <a:path w="271145" h="276225">
                  <a:moveTo>
                    <a:pt x="270751" y="251536"/>
                  </a:moveTo>
                  <a:lnTo>
                    <a:pt x="23545" y="251536"/>
                  </a:lnTo>
                  <a:lnTo>
                    <a:pt x="23545" y="0"/>
                  </a:lnTo>
                  <a:lnTo>
                    <a:pt x="0" y="0"/>
                  </a:lnTo>
                  <a:lnTo>
                    <a:pt x="0" y="251536"/>
                  </a:lnTo>
                  <a:lnTo>
                    <a:pt x="0" y="275666"/>
                  </a:lnTo>
                  <a:lnTo>
                    <a:pt x="270751" y="275666"/>
                  </a:lnTo>
                  <a:lnTo>
                    <a:pt x="270751" y="251536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29705" y="2982848"/>
            <a:ext cx="5424170" cy="5175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60"/>
              </a:spcBef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functionalities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processing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reporting needs.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66359" y="3771900"/>
            <a:ext cx="6590030" cy="693420"/>
            <a:chOff x="5166359" y="3771900"/>
            <a:chExt cx="6590030" cy="693420"/>
          </a:xfrm>
        </p:grpSpPr>
        <p:sp>
          <p:nvSpPr>
            <p:cNvPr id="21" name="object 21"/>
            <p:cNvSpPr/>
            <p:nvPr/>
          </p:nvSpPr>
          <p:spPr>
            <a:xfrm>
              <a:off x="5166359" y="3771900"/>
              <a:ext cx="6590030" cy="693420"/>
            </a:xfrm>
            <a:custGeom>
              <a:avLst/>
              <a:gdLst/>
              <a:ahLst/>
              <a:cxnLst/>
              <a:rect l="l" t="t" r="r" b="b"/>
              <a:pathLst>
                <a:path w="6590030" h="693420">
                  <a:moveTo>
                    <a:pt x="6520434" y="0"/>
                  </a:moveTo>
                  <a:lnTo>
                    <a:pt x="69341" y="0"/>
                  </a:lnTo>
                  <a:lnTo>
                    <a:pt x="42326" y="5441"/>
                  </a:lnTo>
                  <a:lnTo>
                    <a:pt x="20288" y="20288"/>
                  </a:lnTo>
                  <a:lnTo>
                    <a:pt x="5441" y="42326"/>
                  </a:lnTo>
                  <a:lnTo>
                    <a:pt x="0" y="69342"/>
                  </a:lnTo>
                  <a:lnTo>
                    <a:pt x="0" y="624077"/>
                  </a:lnTo>
                  <a:lnTo>
                    <a:pt x="5441" y="651093"/>
                  </a:lnTo>
                  <a:lnTo>
                    <a:pt x="20288" y="673131"/>
                  </a:lnTo>
                  <a:lnTo>
                    <a:pt x="42326" y="687978"/>
                  </a:lnTo>
                  <a:lnTo>
                    <a:pt x="69341" y="693419"/>
                  </a:lnTo>
                  <a:lnTo>
                    <a:pt x="6520434" y="693419"/>
                  </a:lnTo>
                  <a:lnTo>
                    <a:pt x="6547449" y="687978"/>
                  </a:lnTo>
                  <a:lnTo>
                    <a:pt x="6569487" y="673131"/>
                  </a:lnTo>
                  <a:lnTo>
                    <a:pt x="6584334" y="651093"/>
                  </a:lnTo>
                  <a:lnTo>
                    <a:pt x="6589775" y="624077"/>
                  </a:lnTo>
                  <a:lnTo>
                    <a:pt x="6589775" y="69342"/>
                  </a:lnTo>
                  <a:lnTo>
                    <a:pt x="6584334" y="42326"/>
                  </a:lnTo>
                  <a:lnTo>
                    <a:pt x="6569487" y="20288"/>
                  </a:lnTo>
                  <a:lnTo>
                    <a:pt x="6547449" y="5441"/>
                  </a:lnTo>
                  <a:lnTo>
                    <a:pt x="652043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14759" y="4010189"/>
              <a:ext cx="306070" cy="220345"/>
            </a:xfrm>
            <a:custGeom>
              <a:avLst/>
              <a:gdLst/>
              <a:ahLst/>
              <a:cxnLst/>
              <a:rect l="l" t="t" r="r" b="b"/>
              <a:pathLst>
                <a:path w="306070" h="220345">
                  <a:moveTo>
                    <a:pt x="274675" y="38468"/>
                  </a:moveTo>
                  <a:lnTo>
                    <a:pt x="267614" y="31407"/>
                  </a:lnTo>
                  <a:lnTo>
                    <a:pt x="141262" y="31407"/>
                  </a:lnTo>
                  <a:lnTo>
                    <a:pt x="95351" y="1168"/>
                  </a:lnTo>
                  <a:lnTo>
                    <a:pt x="92608" y="0"/>
                  </a:lnTo>
                  <a:lnTo>
                    <a:pt x="7061" y="0"/>
                  </a:lnTo>
                  <a:lnTo>
                    <a:pt x="0" y="7061"/>
                  </a:lnTo>
                  <a:lnTo>
                    <a:pt x="0" y="208076"/>
                  </a:lnTo>
                  <a:lnTo>
                    <a:pt x="50622" y="85191"/>
                  </a:lnTo>
                  <a:lnTo>
                    <a:pt x="55194" y="77673"/>
                  </a:lnTo>
                  <a:lnTo>
                    <a:pt x="61556" y="71843"/>
                  </a:lnTo>
                  <a:lnTo>
                    <a:pt x="69329" y="68072"/>
                  </a:lnTo>
                  <a:lnTo>
                    <a:pt x="78092" y="66738"/>
                  </a:lnTo>
                  <a:lnTo>
                    <a:pt x="274675" y="66738"/>
                  </a:lnTo>
                  <a:lnTo>
                    <a:pt x="274675" y="38468"/>
                  </a:lnTo>
                  <a:close/>
                </a:path>
                <a:path w="306070" h="220345">
                  <a:moveTo>
                    <a:pt x="306070" y="89903"/>
                  </a:moveTo>
                  <a:lnTo>
                    <a:pt x="300189" y="83223"/>
                  </a:lnTo>
                  <a:lnTo>
                    <a:pt x="291947" y="82448"/>
                  </a:lnTo>
                  <a:lnTo>
                    <a:pt x="72199" y="82448"/>
                  </a:lnTo>
                  <a:lnTo>
                    <a:pt x="67106" y="85979"/>
                  </a:lnTo>
                  <a:lnTo>
                    <a:pt x="11772" y="219862"/>
                  </a:lnTo>
                  <a:lnTo>
                    <a:pt x="251129" y="219862"/>
                  </a:lnTo>
                  <a:lnTo>
                    <a:pt x="305676" y="102857"/>
                  </a:lnTo>
                  <a:lnTo>
                    <a:pt x="306070" y="98145"/>
                  </a:lnTo>
                  <a:lnTo>
                    <a:pt x="306070" y="89903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029705" y="3974084"/>
            <a:ext cx="44272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entry,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updates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deletions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efficient.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166359" y="4639055"/>
            <a:ext cx="6590030" cy="693420"/>
            <a:chOff x="5166359" y="4639055"/>
            <a:chExt cx="6590030" cy="693420"/>
          </a:xfrm>
        </p:grpSpPr>
        <p:sp>
          <p:nvSpPr>
            <p:cNvPr id="25" name="object 25"/>
            <p:cNvSpPr/>
            <p:nvPr/>
          </p:nvSpPr>
          <p:spPr>
            <a:xfrm>
              <a:off x="5166359" y="4639055"/>
              <a:ext cx="6590030" cy="693420"/>
            </a:xfrm>
            <a:custGeom>
              <a:avLst/>
              <a:gdLst/>
              <a:ahLst/>
              <a:cxnLst/>
              <a:rect l="l" t="t" r="r" b="b"/>
              <a:pathLst>
                <a:path w="6590030" h="693420">
                  <a:moveTo>
                    <a:pt x="6520434" y="0"/>
                  </a:moveTo>
                  <a:lnTo>
                    <a:pt x="69341" y="0"/>
                  </a:lnTo>
                  <a:lnTo>
                    <a:pt x="42326" y="5441"/>
                  </a:lnTo>
                  <a:lnTo>
                    <a:pt x="20288" y="20288"/>
                  </a:lnTo>
                  <a:lnTo>
                    <a:pt x="5441" y="42326"/>
                  </a:lnTo>
                  <a:lnTo>
                    <a:pt x="0" y="69342"/>
                  </a:lnTo>
                  <a:lnTo>
                    <a:pt x="0" y="624078"/>
                  </a:lnTo>
                  <a:lnTo>
                    <a:pt x="5441" y="651093"/>
                  </a:lnTo>
                  <a:lnTo>
                    <a:pt x="20288" y="673131"/>
                  </a:lnTo>
                  <a:lnTo>
                    <a:pt x="42326" y="687978"/>
                  </a:lnTo>
                  <a:lnTo>
                    <a:pt x="69341" y="693420"/>
                  </a:lnTo>
                  <a:lnTo>
                    <a:pt x="6520434" y="693420"/>
                  </a:lnTo>
                  <a:lnTo>
                    <a:pt x="6547449" y="687978"/>
                  </a:lnTo>
                  <a:lnTo>
                    <a:pt x="6569487" y="673131"/>
                  </a:lnTo>
                  <a:lnTo>
                    <a:pt x="6584334" y="651093"/>
                  </a:lnTo>
                  <a:lnTo>
                    <a:pt x="6589775" y="624078"/>
                  </a:lnTo>
                  <a:lnTo>
                    <a:pt x="6589775" y="69342"/>
                  </a:lnTo>
                  <a:lnTo>
                    <a:pt x="6584334" y="42326"/>
                  </a:lnTo>
                  <a:lnTo>
                    <a:pt x="6569487" y="20288"/>
                  </a:lnTo>
                  <a:lnTo>
                    <a:pt x="6547449" y="5441"/>
                  </a:lnTo>
                  <a:lnTo>
                    <a:pt x="652043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34380" y="4852453"/>
              <a:ext cx="267335" cy="268605"/>
            </a:xfrm>
            <a:custGeom>
              <a:avLst/>
              <a:gdLst/>
              <a:ahLst/>
              <a:cxnLst/>
              <a:rect l="l" t="t" r="r" b="b"/>
              <a:pathLst>
                <a:path w="267335" h="268604">
                  <a:moveTo>
                    <a:pt x="90246" y="82816"/>
                  </a:moveTo>
                  <a:lnTo>
                    <a:pt x="47091" y="82816"/>
                  </a:lnTo>
                  <a:lnTo>
                    <a:pt x="47091" y="220776"/>
                  </a:lnTo>
                  <a:lnTo>
                    <a:pt x="90246" y="220776"/>
                  </a:lnTo>
                  <a:lnTo>
                    <a:pt x="90246" y="82816"/>
                  </a:lnTo>
                  <a:close/>
                </a:path>
                <a:path w="267335" h="268604">
                  <a:moveTo>
                    <a:pt x="149110" y="38"/>
                  </a:moveTo>
                  <a:lnTo>
                    <a:pt x="105943" y="38"/>
                  </a:lnTo>
                  <a:lnTo>
                    <a:pt x="105943" y="220776"/>
                  </a:lnTo>
                  <a:lnTo>
                    <a:pt x="149110" y="220776"/>
                  </a:lnTo>
                  <a:lnTo>
                    <a:pt x="149110" y="38"/>
                  </a:lnTo>
                  <a:close/>
                </a:path>
                <a:path w="267335" h="268604">
                  <a:moveTo>
                    <a:pt x="207975" y="82816"/>
                  </a:moveTo>
                  <a:lnTo>
                    <a:pt x="164807" y="82816"/>
                  </a:lnTo>
                  <a:lnTo>
                    <a:pt x="164807" y="220776"/>
                  </a:lnTo>
                  <a:lnTo>
                    <a:pt x="207975" y="220776"/>
                  </a:lnTo>
                  <a:lnTo>
                    <a:pt x="207975" y="82816"/>
                  </a:lnTo>
                  <a:close/>
                </a:path>
                <a:path w="267335" h="268604">
                  <a:moveTo>
                    <a:pt x="266827" y="244386"/>
                  </a:moveTo>
                  <a:lnTo>
                    <a:pt x="23545" y="244386"/>
                  </a:lnTo>
                  <a:lnTo>
                    <a:pt x="23545" y="0"/>
                  </a:lnTo>
                  <a:lnTo>
                    <a:pt x="0" y="0"/>
                  </a:lnTo>
                  <a:lnTo>
                    <a:pt x="0" y="244386"/>
                  </a:lnTo>
                  <a:lnTo>
                    <a:pt x="0" y="268579"/>
                  </a:lnTo>
                  <a:lnTo>
                    <a:pt x="266827" y="268579"/>
                  </a:lnTo>
                  <a:lnTo>
                    <a:pt x="266827" y="244386"/>
                  </a:lnTo>
                  <a:close/>
                </a:path>
                <a:path w="267335" h="268604">
                  <a:moveTo>
                    <a:pt x="266827" y="149834"/>
                  </a:moveTo>
                  <a:lnTo>
                    <a:pt x="223659" y="149834"/>
                  </a:lnTo>
                  <a:lnTo>
                    <a:pt x="223659" y="220776"/>
                  </a:lnTo>
                  <a:lnTo>
                    <a:pt x="266827" y="220776"/>
                  </a:lnTo>
                  <a:lnTo>
                    <a:pt x="266827" y="149834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29705" y="4841240"/>
            <a:ext cx="5639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retrieval,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summarization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reporting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also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efficient.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166359" y="5506211"/>
            <a:ext cx="6590030" cy="693420"/>
            <a:chOff x="5166359" y="5506211"/>
            <a:chExt cx="6590030" cy="693420"/>
          </a:xfrm>
        </p:grpSpPr>
        <p:sp>
          <p:nvSpPr>
            <p:cNvPr id="29" name="object 29"/>
            <p:cNvSpPr/>
            <p:nvPr/>
          </p:nvSpPr>
          <p:spPr>
            <a:xfrm>
              <a:off x="5166359" y="5506211"/>
              <a:ext cx="6590030" cy="693420"/>
            </a:xfrm>
            <a:custGeom>
              <a:avLst/>
              <a:gdLst/>
              <a:ahLst/>
              <a:cxnLst/>
              <a:rect l="l" t="t" r="r" b="b"/>
              <a:pathLst>
                <a:path w="6590030" h="693420">
                  <a:moveTo>
                    <a:pt x="6520434" y="0"/>
                  </a:moveTo>
                  <a:lnTo>
                    <a:pt x="69341" y="0"/>
                  </a:lnTo>
                  <a:lnTo>
                    <a:pt x="42326" y="5441"/>
                  </a:lnTo>
                  <a:lnTo>
                    <a:pt x="20288" y="20288"/>
                  </a:lnTo>
                  <a:lnTo>
                    <a:pt x="5441" y="42326"/>
                  </a:lnTo>
                  <a:lnTo>
                    <a:pt x="0" y="69341"/>
                  </a:lnTo>
                  <a:lnTo>
                    <a:pt x="0" y="624078"/>
                  </a:lnTo>
                  <a:lnTo>
                    <a:pt x="5441" y="651066"/>
                  </a:lnTo>
                  <a:lnTo>
                    <a:pt x="20288" y="673107"/>
                  </a:lnTo>
                  <a:lnTo>
                    <a:pt x="42326" y="687969"/>
                  </a:lnTo>
                  <a:lnTo>
                    <a:pt x="69341" y="693419"/>
                  </a:lnTo>
                  <a:lnTo>
                    <a:pt x="6520434" y="693419"/>
                  </a:lnTo>
                  <a:lnTo>
                    <a:pt x="6547449" y="687969"/>
                  </a:lnTo>
                  <a:lnTo>
                    <a:pt x="6569487" y="673107"/>
                  </a:lnTo>
                  <a:lnTo>
                    <a:pt x="6584334" y="651066"/>
                  </a:lnTo>
                  <a:lnTo>
                    <a:pt x="6589775" y="624078"/>
                  </a:lnTo>
                  <a:lnTo>
                    <a:pt x="6589775" y="69341"/>
                  </a:lnTo>
                  <a:lnTo>
                    <a:pt x="6584334" y="42326"/>
                  </a:lnTo>
                  <a:lnTo>
                    <a:pt x="6569487" y="20288"/>
                  </a:lnTo>
                  <a:lnTo>
                    <a:pt x="6547449" y="5441"/>
                  </a:lnTo>
                  <a:lnTo>
                    <a:pt x="652043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26538" y="5727530"/>
              <a:ext cx="282524" cy="256213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6029705" y="5584342"/>
            <a:ext cx="5570220" cy="5175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6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database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design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must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self-</a:t>
            </a:r>
            <a:r>
              <a:rPr sz="1600" dirty="0">
                <a:latin typeface="Calibri"/>
                <a:cs typeface="Calibri"/>
              </a:rPr>
              <a:t>documenting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since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much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information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database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rather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application.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5244" rIns="0" bIns="0" rtlCol="0">
            <a:spAutoFit/>
          </a:bodyPr>
          <a:lstStyle/>
          <a:p>
            <a:pPr marL="3351529">
              <a:lnSpc>
                <a:spcPct val="100000"/>
              </a:lnSpc>
              <a:spcBef>
                <a:spcPts val="95"/>
              </a:spcBef>
            </a:pPr>
            <a:r>
              <a:rPr sz="5200" spc="-50" dirty="0"/>
              <a:t>Normalization</a:t>
            </a:r>
            <a:endParaRPr sz="5200"/>
          </a:p>
        </p:txBody>
      </p:sp>
      <p:sp>
        <p:nvSpPr>
          <p:cNvPr id="3" name="object 3"/>
          <p:cNvSpPr/>
          <p:nvPr/>
        </p:nvSpPr>
        <p:spPr>
          <a:xfrm>
            <a:off x="838200" y="1903476"/>
            <a:ext cx="10515600" cy="794385"/>
          </a:xfrm>
          <a:custGeom>
            <a:avLst/>
            <a:gdLst/>
            <a:ahLst/>
            <a:cxnLst/>
            <a:rect l="l" t="t" r="r" b="b"/>
            <a:pathLst>
              <a:path w="10515600" h="794385">
                <a:moveTo>
                  <a:pt x="10383266" y="0"/>
                </a:moveTo>
                <a:lnTo>
                  <a:pt x="132334" y="0"/>
                </a:lnTo>
                <a:lnTo>
                  <a:pt x="90505" y="6752"/>
                </a:lnTo>
                <a:lnTo>
                  <a:pt x="54178" y="25550"/>
                </a:lnTo>
                <a:lnTo>
                  <a:pt x="25532" y="54205"/>
                </a:lnTo>
                <a:lnTo>
                  <a:pt x="6746" y="90529"/>
                </a:lnTo>
                <a:lnTo>
                  <a:pt x="0" y="132334"/>
                </a:lnTo>
                <a:lnTo>
                  <a:pt x="0" y="661670"/>
                </a:lnTo>
                <a:lnTo>
                  <a:pt x="6746" y="703474"/>
                </a:lnTo>
                <a:lnTo>
                  <a:pt x="25532" y="739798"/>
                </a:lnTo>
                <a:lnTo>
                  <a:pt x="54178" y="768453"/>
                </a:lnTo>
                <a:lnTo>
                  <a:pt x="90505" y="787251"/>
                </a:lnTo>
                <a:lnTo>
                  <a:pt x="132334" y="794003"/>
                </a:lnTo>
                <a:lnTo>
                  <a:pt x="10383266" y="794003"/>
                </a:lnTo>
                <a:lnTo>
                  <a:pt x="10425070" y="787251"/>
                </a:lnTo>
                <a:lnTo>
                  <a:pt x="10461394" y="768453"/>
                </a:lnTo>
                <a:lnTo>
                  <a:pt x="10490049" y="739798"/>
                </a:lnTo>
                <a:lnTo>
                  <a:pt x="10508847" y="703474"/>
                </a:lnTo>
                <a:lnTo>
                  <a:pt x="10515600" y="661670"/>
                </a:lnTo>
                <a:lnTo>
                  <a:pt x="10515600" y="132334"/>
                </a:lnTo>
                <a:lnTo>
                  <a:pt x="10508847" y="90529"/>
                </a:lnTo>
                <a:lnTo>
                  <a:pt x="10490049" y="54205"/>
                </a:lnTo>
                <a:lnTo>
                  <a:pt x="10461394" y="25550"/>
                </a:lnTo>
                <a:lnTo>
                  <a:pt x="10425070" y="6752"/>
                </a:lnTo>
                <a:lnTo>
                  <a:pt x="1038326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8200" y="2755392"/>
            <a:ext cx="10515600" cy="795655"/>
          </a:xfrm>
          <a:custGeom>
            <a:avLst/>
            <a:gdLst/>
            <a:ahLst/>
            <a:cxnLst/>
            <a:rect l="l" t="t" r="r" b="b"/>
            <a:pathLst>
              <a:path w="10515600" h="795654">
                <a:moveTo>
                  <a:pt x="10383012" y="0"/>
                </a:moveTo>
                <a:lnTo>
                  <a:pt x="132600" y="0"/>
                </a:lnTo>
                <a:lnTo>
                  <a:pt x="90685" y="6754"/>
                </a:lnTo>
                <a:lnTo>
                  <a:pt x="54285" y="25566"/>
                </a:lnTo>
                <a:lnTo>
                  <a:pt x="25582" y="54260"/>
                </a:lnTo>
                <a:lnTo>
                  <a:pt x="6759" y="90659"/>
                </a:lnTo>
                <a:lnTo>
                  <a:pt x="0" y="132587"/>
                </a:lnTo>
                <a:lnTo>
                  <a:pt x="0" y="662940"/>
                </a:lnTo>
                <a:lnTo>
                  <a:pt x="6759" y="704868"/>
                </a:lnTo>
                <a:lnTo>
                  <a:pt x="25582" y="741267"/>
                </a:lnTo>
                <a:lnTo>
                  <a:pt x="54285" y="769961"/>
                </a:lnTo>
                <a:lnTo>
                  <a:pt x="90685" y="788773"/>
                </a:lnTo>
                <a:lnTo>
                  <a:pt x="132600" y="795528"/>
                </a:lnTo>
                <a:lnTo>
                  <a:pt x="10383012" y="795528"/>
                </a:lnTo>
                <a:lnTo>
                  <a:pt x="10424940" y="788773"/>
                </a:lnTo>
                <a:lnTo>
                  <a:pt x="10461339" y="769961"/>
                </a:lnTo>
                <a:lnTo>
                  <a:pt x="10490033" y="741267"/>
                </a:lnTo>
                <a:lnTo>
                  <a:pt x="10508845" y="704868"/>
                </a:lnTo>
                <a:lnTo>
                  <a:pt x="10515600" y="662940"/>
                </a:lnTo>
                <a:lnTo>
                  <a:pt x="10515600" y="132587"/>
                </a:lnTo>
                <a:lnTo>
                  <a:pt x="10508845" y="90659"/>
                </a:lnTo>
                <a:lnTo>
                  <a:pt x="10490033" y="54260"/>
                </a:lnTo>
                <a:lnTo>
                  <a:pt x="10461339" y="25566"/>
                </a:lnTo>
                <a:lnTo>
                  <a:pt x="10424940" y="6754"/>
                </a:lnTo>
                <a:lnTo>
                  <a:pt x="10383012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8200" y="3607308"/>
            <a:ext cx="10515600" cy="795655"/>
          </a:xfrm>
          <a:custGeom>
            <a:avLst/>
            <a:gdLst/>
            <a:ahLst/>
            <a:cxnLst/>
            <a:rect l="l" t="t" r="r" b="b"/>
            <a:pathLst>
              <a:path w="10515600" h="795654">
                <a:moveTo>
                  <a:pt x="10383012" y="0"/>
                </a:moveTo>
                <a:lnTo>
                  <a:pt x="132600" y="0"/>
                </a:lnTo>
                <a:lnTo>
                  <a:pt x="90685" y="6754"/>
                </a:lnTo>
                <a:lnTo>
                  <a:pt x="54285" y="25566"/>
                </a:lnTo>
                <a:lnTo>
                  <a:pt x="25582" y="54260"/>
                </a:lnTo>
                <a:lnTo>
                  <a:pt x="6759" y="90659"/>
                </a:lnTo>
                <a:lnTo>
                  <a:pt x="0" y="132588"/>
                </a:lnTo>
                <a:lnTo>
                  <a:pt x="0" y="662940"/>
                </a:lnTo>
                <a:lnTo>
                  <a:pt x="6759" y="704868"/>
                </a:lnTo>
                <a:lnTo>
                  <a:pt x="25582" y="741267"/>
                </a:lnTo>
                <a:lnTo>
                  <a:pt x="54285" y="769961"/>
                </a:lnTo>
                <a:lnTo>
                  <a:pt x="90685" y="788773"/>
                </a:lnTo>
                <a:lnTo>
                  <a:pt x="132600" y="795528"/>
                </a:lnTo>
                <a:lnTo>
                  <a:pt x="10383012" y="795528"/>
                </a:lnTo>
                <a:lnTo>
                  <a:pt x="10424940" y="788773"/>
                </a:lnTo>
                <a:lnTo>
                  <a:pt x="10461339" y="769961"/>
                </a:lnTo>
                <a:lnTo>
                  <a:pt x="10490033" y="741267"/>
                </a:lnTo>
                <a:lnTo>
                  <a:pt x="10508845" y="704868"/>
                </a:lnTo>
                <a:lnTo>
                  <a:pt x="10515600" y="662940"/>
                </a:lnTo>
                <a:lnTo>
                  <a:pt x="10515600" y="132588"/>
                </a:lnTo>
                <a:lnTo>
                  <a:pt x="10508845" y="90659"/>
                </a:lnTo>
                <a:lnTo>
                  <a:pt x="10490033" y="54260"/>
                </a:lnTo>
                <a:lnTo>
                  <a:pt x="10461339" y="25566"/>
                </a:lnTo>
                <a:lnTo>
                  <a:pt x="10424940" y="6754"/>
                </a:lnTo>
                <a:lnTo>
                  <a:pt x="1038301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8200" y="4459223"/>
            <a:ext cx="10515600" cy="795655"/>
          </a:xfrm>
          <a:custGeom>
            <a:avLst/>
            <a:gdLst/>
            <a:ahLst/>
            <a:cxnLst/>
            <a:rect l="l" t="t" r="r" b="b"/>
            <a:pathLst>
              <a:path w="10515600" h="795654">
                <a:moveTo>
                  <a:pt x="10383012" y="0"/>
                </a:moveTo>
                <a:lnTo>
                  <a:pt x="132600" y="0"/>
                </a:lnTo>
                <a:lnTo>
                  <a:pt x="90685" y="6754"/>
                </a:lnTo>
                <a:lnTo>
                  <a:pt x="54285" y="25566"/>
                </a:lnTo>
                <a:lnTo>
                  <a:pt x="25582" y="54260"/>
                </a:lnTo>
                <a:lnTo>
                  <a:pt x="6759" y="90659"/>
                </a:lnTo>
                <a:lnTo>
                  <a:pt x="0" y="132587"/>
                </a:lnTo>
                <a:lnTo>
                  <a:pt x="0" y="662939"/>
                </a:lnTo>
                <a:lnTo>
                  <a:pt x="6759" y="704868"/>
                </a:lnTo>
                <a:lnTo>
                  <a:pt x="25582" y="741267"/>
                </a:lnTo>
                <a:lnTo>
                  <a:pt x="54285" y="769961"/>
                </a:lnTo>
                <a:lnTo>
                  <a:pt x="90685" y="788773"/>
                </a:lnTo>
                <a:lnTo>
                  <a:pt x="132600" y="795528"/>
                </a:lnTo>
                <a:lnTo>
                  <a:pt x="10383012" y="795528"/>
                </a:lnTo>
                <a:lnTo>
                  <a:pt x="10424940" y="788773"/>
                </a:lnTo>
                <a:lnTo>
                  <a:pt x="10461339" y="769961"/>
                </a:lnTo>
                <a:lnTo>
                  <a:pt x="10490033" y="741267"/>
                </a:lnTo>
                <a:lnTo>
                  <a:pt x="10508845" y="704868"/>
                </a:lnTo>
                <a:lnTo>
                  <a:pt x="10515600" y="662939"/>
                </a:lnTo>
                <a:lnTo>
                  <a:pt x="10515600" y="132587"/>
                </a:lnTo>
                <a:lnTo>
                  <a:pt x="10508845" y="90659"/>
                </a:lnTo>
                <a:lnTo>
                  <a:pt x="10490033" y="54260"/>
                </a:lnTo>
                <a:lnTo>
                  <a:pt x="10461339" y="25566"/>
                </a:lnTo>
                <a:lnTo>
                  <a:pt x="10424940" y="6754"/>
                </a:lnTo>
                <a:lnTo>
                  <a:pt x="1038301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8200" y="5312664"/>
            <a:ext cx="10515600" cy="794385"/>
          </a:xfrm>
          <a:custGeom>
            <a:avLst/>
            <a:gdLst/>
            <a:ahLst/>
            <a:cxnLst/>
            <a:rect l="l" t="t" r="r" b="b"/>
            <a:pathLst>
              <a:path w="10515600" h="794385">
                <a:moveTo>
                  <a:pt x="10383266" y="0"/>
                </a:moveTo>
                <a:lnTo>
                  <a:pt x="132334" y="0"/>
                </a:lnTo>
                <a:lnTo>
                  <a:pt x="90505" y="6752"/>
                </a:lnTo>
                <a:lnTo>
                  <a:pt x="54178" y="25550"/>
                </a:lnTo>
                <a:lnTo>
                  <a:pt x="25532" y="54205"/>
                </a:lnTo>
                <a:lnTo>
                  <a:pt x="6746" y="90529"/>
                </a:lnTo>
                <a:lnTo>
                  <a:pt x="0" y="132334"/>
                </a:lnTo>
                <a:lnTo>
                  <a:pt x="0" y="661670"/>
                </a:lnTo>
                <a:lnTo>
                  <a:pt x="6746" y="703498"/>
                </a:lnTo>
                <a:lnTo>
                  <a:pt x="25532" y="739825"/>
                </a:lnTo>
                <a:lnTo>
                  <a:pt x="54178" y="768471"/>
                </a:lnTo>
                <a:lnTo>
                  <a:pt x="90505" y="787257"/>
                </a:lnTo>
                <a:lnTo>
                  <a:pt x="132334" y="794004"/>
                </a:lnTo>
                <a:lnTo>
                  <a:pt x="10383266" y="794004"/>
                </a:lnTo>
                <a:lnTo>
                  <a:pt x="10425070" y="787257"/>
                </a:lnTo>
                <a:lnTo>
                  <a:pt x="10461394" y="768471"/>
                </a:lnTo>
                <a:lnTo>
                  <a:pt x="10490049" y="739825"/>
                </a:lnTo>
                <a:lnTo>
                  <a:pt x="10508847" y="703498"/>
                </a:lnTo>
                <a:lnTo>
                  <a:pt x="10515600" y="661670"/>
                </a:lnTo>
                <a:lnTo>
                  <a:pt x="10515600" y="132334"/>
                </a:lnTo>
                <a:lnTo>
                  <a:pt x="10508847" y="90529"/>
                </a:lnTo>
                <a:lnTo>
                  <a:pt x="10490049" y="54205"/>
                </a:lnTo>
                <a:lnTo>
                  <a:pt x="10461394" y="25550"/>
                </a:lnTo>
                <a:lnTo>
                  <a:pt x="10425070" y="6752"/>
                </a:lnTo>
                <a:lnTo>
                  <a:pt x="10383266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40714" y="2105025"/>
            <a:ext cx="9999980" cy="3881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decomposition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table.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64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represented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manner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satisfy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constraints.</a:t>
            </a:r>
            <a:endParaRPr sz="2000">
              <a:latin typeface="Calibri"/>
              <a:cs typeface="Calibri"/>
            </a:endParaRPr>
          </a:p>
          <a:p>
            <a:pPr marL="12700" marR="180340">
              <a:lnSpc>
                <a:spcPct val="2796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Avoids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redundancy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applying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constraints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avoid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anomalies.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normalized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less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vulnerable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problems.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ts val="2305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designing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consistent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minimizing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redundancy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ensuring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integrity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305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principle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non-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loss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decomposition.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16152"/>
            <a:ext cx="196850" cy="673735"/>
          </a:xfrm>
          <a:custGeom>
            <a:avLst/>
            <a:gdLst/>
            <a:ahLst/>
            <a:cxnLst/>
            <a:rect l="l" t="t" r="r" b="b"/>
            <a:pathLst>
              <a:path w="196850" h="673735">
                <a:moveTo>
                  <a:pt x="196596" y="0"/>
                </a:moveTo>
                <a:lnTo>
                  <a:pt x="0" y="0"/>
                </a:lnTo>
                <a:lnTo>
                  <a:pt x="0" y="673608"/>
                </a:lnTo>
                <a:lnTo>
                  <a:pt x="196596" y="673608"/>
                </a:lnTo>
                <a:lnTo>
                  <a:pt x="19659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8224" y="1216152"/>
            <a:ext cx="195580" cy="673735"/>
          </a:xfrm>
          <a:custGeom>
            <a:avLst/>
            <a:gdLst/>
            <a:ahLst/>
            <a:cxnLst/>
            <a:rect l="l" t="t" r="r" b="b"/>
            <a:pathLst>
              <a:path w="195579" h="673735">
                <a:moveTo>
                  <a:pt x="195072" y="0"/>
                </a:moveTo>
                <a:lnTo>
                  <a:pt x="0" y="0"/>
                </a:lnTo>
                <a:lnTo>
                  <a:pt x="0" y="673608"/>
                </a:lnTo>
                <a:lnTo>
                  <a:pt x="195072" y="673608"/>
                </a:lnTo>
                <a:lnTo>
                  <a:pt x="19507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8348" y="598931"/>
            <a:ext cx="11181715" cy="2169160"/>
            <a:chOff x="498348" y="598931"/>
            <a:chExt cx="11181715" cy="2169160"/>
          </a:xfrm>
        </p:grpSpPr>
        <p:sp>
          <p:nvSpPr>
            <p:cNvPr id="5" name="object 5"/>
            <p:cNvSpPr/>
            <p:nvPr/>
          </p:nvSpPr>
          <p:spPr>
            <a:xfrm>
              <a:off x="534924" y="1216151"/>
              <a:ext cx="105410" cy="673735"/>
            </a:xfrm>
            <a:custGeom>
              <a:avLst/>
              <a:gdLst/>
              <a:ahLst/>
              <a:cxnLst/>
              <a:rect l="l" t="t" r="r" b="b"/>
              <a:pathLst>
                <a:path w="105409" h="673735">
                  <a:moveTo>
                    <a:pt x="0" y="673608"/>
                  </a:moveTo>
                  <a:lnTo>
                    <a:pt x="105156" y="673608"/>
                  </a:lnTo>
                  <a:lnTo>
                    <a:pt x="105156" y="0"/>
                  </a:lnTo>
                  <a:lnTo>
                    <a:pt x="0" y="0"/>
                  </a:lnTo>
                  <a:lnTo>
                    <a:pt x="0" y="673608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348" y="598931"/>
              <a:ext cx="11181588" cy="216865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0080" y="614172"/>
            <a:ext cx="10907395" cy="189483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30860" rIns="0" bIns="0" rtlCol="0">
            <a:spAutoFit/>
          </a:bodyPr>
          <a:lstStyle/>
          <a:p>
            <a:pPr marL="1951355">
              <a:lnSpc>
                <a:spcPct val="100000"/>
              </a:lnSpc>
              <a:spcBef>
                <a:spcPts val="4180"/>
              </a:spcBef>
            </a:pPr>
            <a:r>
              <a:rPr sz="4800" spc="-10" dirty="0"/>
              <a:t>Goals</a:t>
            </a:r>
            <a:r>
              <a:rPr sz="4800" spc="-210" dirty="0"/>
              <a:t> </a:t>
            </a:r>
            <a:r>
              <a:rPr sz="4800" dirty="0"/>
              <a:t>Of</a:t>
            </a:r>
            <a:r>
              <a:rPr sz="4800" spc="-160" dirty="0"/>
              <a:t> </a:t>
            </a:r>
            <a:r>
              <a:rPr sz="4800" spc="-10" dirty="0"/>
              <a:t>Normalization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1123899" y="2583840"/>
            <a:ext cx="10229850" cy="373443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2570" indent="-229870" algn="just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2570" algn="l"/>
              </a:tabLst>
            </a:pPr>
            <a:r>
              <a:rPr sz="1600" dirty="0">
                <a:latin typeface="Calibri"/>
                <a:cs typeface="Calibri"/>
              </a:rPr>
              <a:t>Ensures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Integrity</a:t>
            </a:r>
            <a:endParaRPr sz="1600">
              <a:latin typeface="Calibri"/>
              <a:cs typeface="Calibri"/>
            </a:endParaRPr>
          </a:p>
          <a:p>
            <a:pPr marL="698500" marR="5080" lvl="1" indent="-228600" algn="just">
              <a:lnSpc>
                <a:spcPts val="1730"/>
              </a:lnSpc>
              <a:spcBef>
                <a:spcPts val="530"/>
              </a:spcBef>
              <a:buFont typeface="Arial MT"/>
              <a:buChar char="•"/>
              <a:tabLst>
                <a:tab pos="698500" algn="l"/>
                <a:tab pos="699770" algn="l"/>
              </a:tabLst>
            </a:pPr>
            <a:r>
              <a:rPr sz="1600" dirty="0">
                <a:latin typeface="Calibri"/>
                <a:cs typeface="Calibri"/>
              </a:rPr>
              <a:t>	Data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integrity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ensures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correctness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stored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within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database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achieved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imposing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data </a:t>
            </a:r>
            <a:r>
              <a:rPr sz="1600" dirty="0">
                <a:latin typeface="Calibri"/>
                <a:cs typeface="Calibri"/>
              </a:rPr>
              <a:t>integrity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rules.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integrity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rules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restricts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present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database</a:t>
            </a:r>
            <a:endParaRPr sz="1600">
              <a:latin typeface="Calibri"/>
              <a:cs typeface="Calibri"/>
            </a:endParaRPr>
          </a:p>
          <a:p>
            <a:pPr marL="242570" indent="-229870" algn="just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2570" algn="l"/>
              </a:tabLst>
            </a:pPr>
            <a:r>
              <a:rPr sz="1600" spc="-10" dirty="0">
                <a:latin typeface="Calibri"/>
                <a:cs typeface="Calibri"/>
              </a:rPr>
              <a:t>Prevents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Redundancy</a:t>
            </a:r>
            <a:endParaRPr sz="1600">
              <a:latin typeface="Calibri"/>
              <a:cs typeface="Calibri"/>
            </a:endParaRPr>
          </a:p>
          <a:p>
            <a:pPr marL="698500" marR="5715" lvl="1" indent="-228600" algn="just">
              <a:lnSpc>
                <a:spcPct val="9010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  <a:tab pos="699770" algn="l"/>
              </a:tabLst>
            </a:pPr>
            <a:r>
              <a:rPr sz="1600" dirty="0">
                <a:latin typeface="Calibri"/>
                <a:cs typeface="Calibri"/>
              </a:rPr>
              <a:t>	A</a:t>
            </a:r>
            <a:r>
              <a:rPr sz="1600" spc="4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non-</a:t>
            </a:r>
            <a:r>
              <a:rPr sz="1600" dirty="0">
                <a:latin typeface="Calibri"/>
                <a:cs typeface="Calibri"/>
              </a:rPr>
              <a:t>normalized</a:t>
            </a:r>
            <a:r>
              <a:rPr sz="1600" spc="4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4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4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stored</a:t>
            </a:r>
            <a:r>
              <a:rPr sz="1600" spc="4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4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different</a:t>
            </a:r>
            <a:r>
              <a:rPr sz="1600" spc="4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locations</a:t>
            </a:r>
            <a:r>
              <a:rPr sz="1600" spc="4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4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hence</a:t>
            </a:r>
            <a:r>
              <a:rPr sz="1600" spc="4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modification</a:t>
            </a:r>
            <a:r>
              <a:rPr sz="1600" spc="4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makes</a:t>
            </a:r>
            <a:r>
              <a:rPr sz="1600" spc="4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4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inconsistent.</a:t>
            </a:r>
            <a:r>
              <a:rPr sz="1600" spc="45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 </a:t>
            </a:r>
            <a:r>
              <a:rPr sz="1600" dirty="0">
                <a:latin typeface="Calibri"/>
                <a:cs typeface="Calibri"/>
              </a:rPr>
              <a:t>normalized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stores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place.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Direct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redundancy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result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due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presence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same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two </a:t>
            </a:r>
            <a:r>
              <a:rPr sz="1600" dirty="0">
                <a:latin typeface="Calibri"/>
                <a:cs typeface="Calibri"/>
              </a:rPr>
              <a:t>different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locations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.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Indirect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redundancy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results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due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storing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information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computed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other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items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database</a:t>
            </a:r>
            <a:endParaRPr sz="1600">
              <a:latin typeface="Calibri"/>
              <a:cs typeface="Calibri"/>
            </a:endParaRPr>
          </a:p>
          <a:p>
            <a:pPr marL="242570" indent="-229870" algn="just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2570" algn="l"/>
              </a:tabLst>
            </a:pPr>
            <a:r>
              <a:rPr sz="1600" dirty="0">
                <a:latin typeface="Calibri"/>
                <a:cs typeface="Calibri"/>
              </a:rPr>
              <a:t>Data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Anomalies</a:t>
            </a:r>
            <a:endParaRPr sz="1600">
              <a:latin typeface="Calibri"/>
              <a:cs typeface="Calibri"/>
            </a:endParaRPr>
          </a:p>
          <a:p>
            <a:pPr marL="698500" marR="7620" lvl="1" indent="-228600" algn="just">
              <a:lnSpc>
                <a:spcPts val="1730"/>
              </a:lnSpc>
              <a:spcBef>
                <a:spcPts val="530"/>
              </a:spcBef>
              <a:buFont typeface="Arial MT"/>
              <a:buChar char="•"/>
              <a:tabLst>
                <a:tab pos="698500" algn="l"/>
                <a:tab pos="699770" algn="l"/>
              </a:tabLst>
            </a:pPr>
            <a:r>
              <a:rPr sz="1600" dirty="0">
                <a:latin typeface="Calibri"/>
                <a:cs typeface="Calibri"/>
              </a:rPr>
              <a:t>	Update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Anomaly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Same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information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present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multiple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records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various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tables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hence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update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one </a:t>
            </a:r>
            <a:r>
              <a:rPr sz="1600" dirty="0">
                <a:latin typeface="Calibri"/>
                <a:cs typeface="Calibri"/>
              </a:rPr>
              <a:t>table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result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inconsistency</a:t>
            </a:r>
            <a:endParaRPr sz="1600">
              <a:latin typeface="Calibri"/>
              <a:cs typeface="Calibri"/>
            </a:endParaRPr>
          </a:p>
          <a:p>
            <a:pPr marL="699770" lvl="1" indent="-229870" algn="just">
              <a:lnSpc>
                <a:spcPts val="1825"/>
              </a:lnSpc>
              <a:spcBef>
                <a:spcPts val="270"/>
              </a:spcBef>
              <a:buFont typeface="Arial MT"/>
              <a:buChar char="•"/>
              <a:tabLst>
                <a:tab pos="699770" algn="l"/>
              </a:tabLst>
            </a:pPr>
            <a:r>
              <a:rPr sz="1600" dirty="0">
                <a:latin typeface="Calibri"/>
                <a:cs typeface="Calibri"/>
              </a:rPr>
              <a:t>Insertion</a:t>
            </a:r>
            <a:r>
              <a:rPr sz="1600" spc="2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Anomaly</a:t>
            </a:r>
            <a:r>
              <a:rPr sz="1600" spc="2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2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There</a:t>
            </a:r>
            <a:r>
              <a:rPr sz="1600" spc="2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2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2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possibility</a:t>
            </a:r>
            <a:r>
              <a:rPr sz="1600" spc="2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2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2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certain</a:t>
            </a:r>
            <a:r>
              <a:rPr sz="1600" spc="2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facts</a:t>
            </a:r>
            <a:r>
              <a:rPr sz="1600" spc="2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cannot</a:t>
            </a:r>
            <a:r>
              <a:rPr sz="1600" spc="2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2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recorded</a:t>
            </a:r>
            <a:r>
              <a:rPr sz="1600" spc="2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2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2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2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2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2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2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yet</a:t>
            </a:r>
            <a:endParaRPr sz="1600">
              <a:latin typeface="Calibri"/>
              <a:cs typeface="Calibri"/>
            </a:endParaRPr>
          </a:p>
          <a:p>
            <a:pPr marL="698500">
              <a:lnSpc>
                <a:spcPts val="1825"/>
              </a:lnSpc>
            </a:pPr>
            <a:r>
              <a:rPr sz="1600" spc="-10" dirty="0">
                <a:latin typeface="Calibri"/>
                <a:cs typeface="Calibri"/>
              </a:rPr>
              <a:t>recorded</a:t>
            </a:r>
            <a:endParaRPr sz="16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Deletion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Anomaly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Deletion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some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relation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necessitates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deletion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unrelated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also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8200" y="648462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10515600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8167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z="4400" spc="-55" dirty="0"/>
              <a:t>Disadvantages</a:t>
            </a:r>
            <a:r>
              <a:rPr sz="4400" spc="-130" dirty="0"/>
              <a:t> </a:t>
            </a:r>
            <a:r>
              <a:rPr sz="4400" dirty="0"/>
              <a:t>Of</a:t>
            </a:r>
            <a:r>
              <a:rPr sz="4400" spc="-110" dirty="0"/>
              <a:t> </a:t>
            </a:r>
            <a:r>
              <a:rPr sz="4400" spc="-35" dirty="0"/>
              <a:t>Normalization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841247" y="1537716"/>
            <a:ext cx="10476230" cy="116205"/>
            <a:chOff x="841247" y="1537716"/>
            <a:chExt cx="10476230" cy="116205"/>
          </a:xfrm>
        </p:grpSpPr>
        <p:sp>
          <p:nvSpPr>
            <p:cNvPr id="4" name="object 4"/>
            <p:cNvSpPr/>
            <p:nvPr/>
          </p:nvSpPr>
          <p:spPr>
            <a:xfrm>
              <a:off x="865631" y="1635252"/>
              <a:ext cx="10452100" cy="18415"/>
            </a:xfrm>
            <a:custGeom>
              <a:avLst/>
              <a:gdLst/>
              <a:ahLst/>
              <a:cxnLst/>
              <a:rect l="l" t="t" r="r" b="b"/>
              <a:pathLst>
                <a:path w="10452100" h="18414">
                  <a:moveTo>
                    <a:pt x="10451592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10451592" y="18287"/>
                  </a:lnTo>
                  <a:lnTo>
                    <a:pt x="10451592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1247" y="1537716"/>
              <a:ext cx="1873250" cy="109855"/>
            </a:xfrm>
            <a:custGeom>
              <a:avLst/>
              <a:gdLst/>
              <a:ahLst/>
              <a:cxnLst/>
              <a:rect l="l" t="t" r="r" b="b"/>
              <a:pathLst>
                <a:path w="1873250" h="109855">
                  <a:moveTo>
                    <a:pt x="1872995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872995" y="109727"/>
                  </a:lnTo>
                  <a:lnTo>
                    <a:pt x="187299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38200" y="2482595"/>
            <a:ext cx="10515600" cy="1045844"/>
          </a:xfrm>
          <a:custGeom>
            <a:avLst/>
            <a:gdLst/>
            <a:ahLst/>
            <a:cxnLst/>
            <a:rect l="l" t="t" r="r" b="b"/>
            <a:pathLst>
              <a:path w="10515600" h="1045845">
                <a:moveTo>
                  <a:pt x="10341356" y="0"/>
                </a:moveTo>
                <a:lnTo>
                  <a:pt x="174244" y="0"/>
                </a:lnTo>
                <a:lnTo>
                  <a:pt x="127924" y="6221"/>
                </a:lnTo>
                <a:lnTo>
                  <a:pt x="86301" y="23781"/>
                </a:lnTo>
                <a:lnTo>
                  <a:pt x="51036" y="51022"/>
                </a:lnTo>
                <a:lnTo>
                  <a:pt x="23790" y="86284"/>
                </a:lnTo>
                <a:lnTo>
                  <a:pt x="6224" y="127911"/>
                </a:lnTo>
                <a:lnTo>
                  <a:pt x="0" y="174243"/>
                </a:lnTo>
                <a:lnTo>
                  <a:pt x="0" y="871219"/>
                </a:lnTo>
                <a:lnTo>
                  <a:pt x="6224" y="917552"/>
                </a:lnTo>
                <a:lnTo>
                  <a:pt x="23790" y="959179"/>
                </a:lnTo>
                <a:lnTo>
                  <a:pt x="51036" y="994441"/>
                </a:lnTo>
                <a:lnTo>
                  <a:pt x="86301" y="1021682"/>
                </a:lnTo>
                <a:lnTo>
                  <a:pt x="127924" y="1039242"/>
                </a:lnTo>
                <a:lnTo>
                  <a:pt x="174244" y="1045463"/>
                </a:lnTo>
                <a:lnTo>
                  <a:pt x="10341356" y="1045463"/>
                </a:lnTo>
                <a:lnTo>
                  <a:pt x="10387688" y="1039242"/>
                </a:lnTo>
                <a:lnTo>
                  <a:pt x="10429315" y="1021682"/>
                </a:lnTo>
                <a:lnTo>
                  <a:pt x="10464577" y="994441"/>
                </a:lnTo>
                <a:lnTo>
                  <a:pt x="10491818" y="959179"/>
                </a:lnTo>
                <a:lnTo>
                  <a:pt x="10509378" y="917552"/>
                </a:lnTo>
                <a:lnTo>
                  <a:pt x="10515600" y="871219"/>
                </a:lnTo>
                <a:lnTo>
                  <a:pt x="10515600" y="174243"/>
                </a:lnTo>
                <a:lnTo>
                  <a:pt x="10509378" y="127911"/>
                </a:lnTo>
                <a:lnTo>
                  <a:pt x="10491818" y="86284"/>
                </a:lnTo>
                <a:lnTo>
                  <a:pt x="10464577" y="51022"/>
                </a:lnTo>
                <a:lnTo>
                  <a:pt x="10429315" y="23781"/>
                </a:lnTo>
                <a:lnTo>
                  <a:pt x="10387688" y="6221"/>
                </a:lnTo>
                <a:lnTo>
                  <a:pt x="1034135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8200" y="3582923"/>
            <a:ext cx="10515600" cy="1043940"/>
          </a:xfrm>
          <a:custGeom>
            <a:avLst/>
            <a:gdLst/>
            <a:ahLst/>
            <a:cxnLst/>
            <a:rect l="l" t="t" r="r" b="b"/>
            <a:pathLst>
              <a:path w="10515600" h="1043939">
                <a:moveTo>
                  <a:pt x="10341610" y="0"/>
                </a:moveTo>
                <a:lnTo>
                  <a:pt x="173990" y="0"/>
                </a:lnTo>
                <a:lnTo>
                  <a:pt x="127737" y="6211"/>
                </a:lnTo>
                <a:lnTo>
                  <a:pt x="86175" y="23744"/>
                </a:lnTo>
                <a:lnTo>
                  <a:pt x="50961" y="50942"/>
                </a:lnTo>
                <a:lnTo>
                  <a:pt x="23755" y="86153"/>
                </a:lnTo>
                <a:lnTo>
                  <a:pt x="6215" y="127720"/>
                </a:lnTo>
                <a:lnTo>
                  <a:pt x="0" y="173989"/>
                </a:lnTo>
                <a:lnTo>
                  <a:pt x="0" y="869950"/>
                </a:lnTo>
                <a:lnTo>
                  <a:pt x="6215" y="916219"/>
                </a:lnTo>
                <a:lnTo>
                  <a:pt x="23755" y="957786"/>
                </a:lnTo>
                <a:lnTo>
                  <a:pt x="50961" y="992997"/>
                </a:lnTo>
                <a:lnTo>
                  <a:pt x="86175" y="1020195"/>
                </a:lnTo>
                <a:lnTo>
                  <a:pt x="127737" y="1037728"/>
                </a:lnTo>
                <a:lnTo>
                  <a:pt x="173990" y="1043939"/>
                </a:lnTo>
                <a:lnTo>
                  <a:pt x="10341610" y="1043939"/>
                </a:lnTo>
                <a:lnTo>
                  <a:pt x="10387879" y="1037728"/>
                </a:lnTo>
                <a:lnTo>
                  <a:pt x="10429446" y="1020195"/>
                </a:lnTo>
                <a:lnTo>
                  <a:pt x="10464657" y="992997"/>
                </a:lnTo>
                <a:lnTo>
                  <a:pt x="10491855" y="957786"/>
                </a:lnTo>
                <a:lnTo>
                  <a:pt x="10509388" y="916219"/>
                </a:lnTo>
                <a:lnTo>
                  <a:pt x="10515600" y="869950"/>
                </a:lnTo>
                <a:lnTo>
                  <a:pt x="10515600" y="173989"/>
                </a:lnTo>
                <a:lnTo>
                  <a:pt x="10509388" y="127720"/>
                </a:lnTo>
                <a:lnTo>
                  <a:pt x="10491855" y="86153"/>
                </a:lnTo>
                <a:lnTo>
                  <a:pt x="10464657" y="50942"/>
                </a:lnTo>
                <a:lnTo>
                  <a:pt x="10429446" y="23744"/>
                </a:lnTo>
                <a:lnTo>
                  <a:pt x="10387879" y="6211"/>
                </a:lnTo>
                <a:lnTo>
                  <a:pt x="10341610" y="0"/>
                </a:lnTo>
                <a:close/>
              </a:path>
            </a:pathLst>
          </a:custGeom>
          <a:solidFill>
            <a:srgbClr val="C481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8200" y="4681728"/>
            <a:ext cx="10515600" cy="1045844"/>
          </a:xfrm>
          <a:custGeom>
            <a:avLst/>
            <a:gdLst/>
            <a:ahLst/>
            <a:cxnLst/>
            <a:rect l="l" t="t" r="r" b="b"/>
            <a:pathLst>
              <a:path w="10515600" h="1045845">
                <a:moveTo>
                  <a:pt x="10341356" y="0"/>
                </a:moveTo>
                <a:lnTo>
                  <a:pt x="174244" y="0"/>
                </a:lnTo>
                <a:lnTo>
                  <a:pt x="127924" y="6221"/>
                </a:lnTo>
                <a:lnTo>
                  <a:pt x="86301" y="23781"/>
                </a:lnTo>
                <a:lnTo>
                  <a:pt x="51036" y="51022"/>
                </a:lnTo>
                <a:lnTo>
                  <a:pt x="23790" y="86284"/>
                </a:lnTo>
                <a:lnTo>
                  <a:pt x="6224" y="127911"/>
                </a:lnTo>
                <a:lnTo>
                  <a:pt x="0" y="174244"/>
                </a:lnTo>
                <a:lnTo>
                  <a:pt x="0" y="871220"/>
                </a:lnTo>
                <a:lnTo>
                  <a:pt x="6224" y="917539"/>
                </a:lnTo>
                <a:lnTo>
                  <a:pt x="23790" y="959162"/>
                </a:lnTo>
                <a:lnTo>
                  <a:pt x="51036" y="994427"/>
                </a:lnTo>
                <a:lnTo>
                  <a:pt x="86301" y="1021673"/>
                </a:lnTo>
                <a:lnTo>
                  <a:pt x="127924" y="1039239"/>
                </a:lnTo>
                <a:lnTo>
                  <a:pt x="174244" y="1045464"/>
                </a:lnTo>
                <a:lnTo>
                  <a:pt x="10341356" y="1045464"/>
                </a:lnTo>
                <a:lnTo>
                  <a:pt x="10387688" y="1039239"/>
                </a:lnTo>
                <a:lnTo>
                  <a:pt x="10429315" y="1021673"/>
                </a:lnTo>
                <a:lnTo>
                  <a:pt x="10464577" y="994427"/>
                </a:lnTo>
                <a:lnTo>
                  <a:pt x="10491818" y="959162"/>
                </a:lnTo>
                <a:lnTo>
                  <a:pt x="10509378" y="917539"/>
                </a:lnTo>
                <a:lnTo>
                  <a:pt x="10515600" y="871220"/>
                </a:lnTo>
                <a:lnTo>
                  <a:pt x="10515600" y="174244"/>
                </a:lnTo>
                <a:lnTo>
                  <a:pt x="10509378" y="127911"/>
                </a:lnTo>
                <a:lnTo>
                  <a:pt x="10491818" y="86284"/>
                </a:lnTo>
                <a:lnTo>
                  <a:pt x="10464577" y="51022"/>
                </a:lnTo>
                <a:lnTo>
                  <a:pt x="10429315" y="23781"/>
                </a:lnTo>
                <a:lnTo>
                  <a:pt x="10387688" y="6221"/>
                </a:lnTo>
                <a:lnTo>
                  <a:pt x="10341356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48944" y="2554604"/>
            <a:ext cx="10013950" cy="291211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114300">
              <a:lnSpc>
                <a:spcPts val="2090"/>
              </a:lnSpc>
              <a:spcBef>
                <a:spcPts val="320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Increases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relations: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normalization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involves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decomposition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relations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multiple relations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hence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higher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degrees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normalization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typically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involve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tables.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Therefore,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if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highly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normalized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applications,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becomes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complex.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1900">
              <a:latin typeface="Calibri"/>
              <a:cs typeface="Calibri"/>
            </a:endParaRPr>
          </a:p>
          <a:p>
            <a:pPr marL="12700" marR="5080">
              <a:lnSpc>
                <a:spcPts val="2090"/>
              </a:lnSpc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Reduces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performances: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Higher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degrees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normalization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involve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larger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joins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reduce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performance.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60"/>
              </a:spcBef>
            </a:pPr>
            <a:endParaRPr sz="1900">
              <a:latin typeface="Calibri"/>
              <a:cs typeface="Calibri"/>
            </a:endParaRPr>
          </a:p>
          <a:p>
            <a:pPr marL="12700" marR="758825">
              <a:lnSpc>
                <a:spcPts val="2090"/>
              </a:lnSpc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redundancies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unavoidable.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normalizing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integrity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compromised.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32909" y="104393"/>
            <a:ext cx="372999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spc="-30" dirty="0"/>
              <a:t>Normal</a:t>
            </a:r>
            <a:r>
              <a:rPr sz="5200" spc="-240" dirty="0"/>
              <a:t> </a:t>
            </a:r>
            <a:r>
              <a:rPr sz="5200" spc="-20" dirty="0"/>
              <a:t>Forms</a:t>
            </a:r>
            <a:endParaRPr sz="5200"/>
          </a:p>
        </p:txBody>
      </p:sp>
      <p:grpSp>
        <p:nvGrpSpPr>
          <p:cNvPr id="5" name="object 5"/>
          <p:cNvGrpSpPr/>
          <p:nvPr/>
        </p:nvGrpSpPr>
        <p:grpSpPr>
          <a:xfrm>
            <a:off x="702563" y="917447"/>
            <a:ext cx="10945495" cy="1617345"/>
            <a:chOff x="702563" y="917447"/>
            <a:chExt cx="10945495" cy="1617345"/>
          </a:xfrm>
        </p:grpSpPr>
        <p:sp>
          <p:nvSpPr>
            <p:cNvPr id="6" name="object 6"/>
            <p:cNvSpPr/>
            <p:nvPr/>
          </p:nvSpPr>
          <p:spPr>
            <a:xfrm>
              <a:off x="702563" y="917447"/>
              <a:ext cx="10945495" cy="1617345"/>
            </a:xfrm>
            <a:custGeom>
              <a:avLst/>
              <a:gdLst/>
              <a:ahLst/>
              <a:cxnLst/>
              <a:rect l="l" t="t" r="r" b="b"/>
              <a:pathLst>
                <a:path w="10945495" h="1617345">
                  <a:moveTo>
                    <a:pt x="10783696" y="0"/>
                  </a:moveTo>
                  <a:lnTo>
                    <a:pt x="161696" y="0"/>
                  </a:lnTo>
                  <a:lnTo>
                    <a:pt x="118709" y="5775"/>
                  </a:lnTo>
                  <a:lnTo>
                    <a:pt x="80083" y="22074"/>
                  </a:lnTo>
                  <a:lnTo>
                    <a:pt x="47358" y="47355"/>
                  </a:lnTo>
                  <a:lnTo>
                    <a:pt x="22075" y="80075"/>
                  </a:lnTo>
                  <a:lnTo>
                    <a:pt x="5775" y="118695"/>
                  </a:lnTo>
                  <a:lnTo>
                    <a:pt x="0" y="161671"/>
                  </a:lnTo>
                  <a:lnTo>
                    <a:pt x="0" y="1455292"/>
                  </a:lnTo>
                  <a:lnTo>
                    <a:pt x="5775" y="1498268"/>
                  </a:lnTo>
                  <a:lnTo>
                    <a:pt x="22075" y="1536888"/>
                  </a:lnTo>
                  <a:lnTo>
                    <a:pt x="47358" y="1569608"/>
                  </a:lnTo>
                  <a:lnTo>
                    <a:pt x="80083" y="1594889"/>
                  </a:lnTo>
                  <a:lnTo>
                    <a:pt x="118709" y="1611188"/>
                  </a:lnTo>
                  <a:lnTo>
                    <a:pt x="161696" y="1616964"/>
                  </a:lnTo>
                  <a:lnTo>
                    <a:pt x="10783696" y="1616964"/>
                  </a:lnTo>
                  <a:lnTo>
                    <a:pt x="10826672" y="1611188"/>
                  </a:lnTo>
                  <a:lnTo>
                    <a:pt x="10865292" y="1594889"/>
                  </a:lnTo>
                  <a:lnTo>
                    <a:pt x="10898012" y="1569608"/>
                  </a:lnTo>
                  <a:lnTo>
                    <a:pt x="10923293" y="1536888"/>
                  </a:lnTo>
                  <a:lnTo>
                    <a:pt x="10939592" y="1498268"/>
                  </a:lnTo>
                  <a:lnTo>
                    <a:pt x="10945367" y="1455292"/>
                  </a:lnTo>
                  <a:lnTo>
                    <a:pt x="10945367" y="161671"/>
                  </a:lnTo>
                  <a:lnTo>
                    <a:pt x="10939592" y="118695"/>
                  </a:lnTo>
                  <a:lnTo>
                    <a:pt x="10923293" y="80075"/>
                  </a:lnTo>
                  <a:lnTo>
                    <a:pt x="10898012" y="47355"/>
                  </a:lnTo>
                  <a:lnTo>
                    <a:pt x="10865292" y="22074"/>
                  </a:lnTo>
                  <a:lnTo>
                    <a:pt x="10826672" y="5775"/>
                  </a:lnTo>
                  <a:lnTo>
                    <a:pt x="1078369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1252" y="1379740"/>
              <a:ext cx="512445" cy="695960"/>
            </a:xfrm>
            <a:custGeom>
              <a:avLst/>
              <a:gdLst/>
              <a:ahLst/>
              <a:cxnLst/>
              <a:rect l="l" t="t" r="r" b="b"/>
              <a:pathLst>
                <a:path w="512444" h="695960">
                  <a:moveTo>
                    <a:pt x="512432" y="476097"/>
                  </a:moveTo>
                  <a:lnTo>
                    <a:pt x="503250" y="495515"/>
                  </a:lnTo>
                  <a:lnTo>
                    <a:pt x="477329" y="512991"/>
                  </a:lnTo>
                  <a:lnTo>
                    <a:pt x="457530" y="520306"/>
                  </a:lnTo>
                  <a:lnTo>
                    <a:pt x="457530" y="604278"/>
                  </a:lnTo>
                  <a:lnTo>
                    <a:pt x="456222" y="611771"/>
                  </a:lnTo>
                  <a:lnTo>
                    <a:pt x="452501" y="617550"/>
                  </a:lnTo>
                  <a:lnTo>
                    <a:pt x="446722" y="621271"/>
                  </a:lnTo>
                  <a:lnTo>
                    <a:pt x="439229" y="622592"/>
                  </a:lnTo>
                  <a:lnTo>
                    <a:pt x="431736" y="621271"/>
                  </a:lnTo>
                  <a:lnTo>
                    <a:pt x="425970" y="617550"/>
                  </a:lnTo>
                  <a:lnTo>
                    <a:pt x="422249" y="611771"/>
                  </a:lnTo>
                  <a:lnTo>
                    <a:pt x="420928" y="604278"/>
                  </a:lnTo>
                  <a:lnTo>
                    <a:pt x="422249" y="596785"/>
                  </a:lnTo>
                  <a:lnTo>
                    <a:pt x="425970" y="591007"/>
                  </a:lnTo>
                  <a:lnTo>
                    <a:pt x="431736" y="587286"/>
                  </a:lnTo>
                  <a:lnTo>
                    <a:pt x="439229" y="585965"/>
                  </a:lnTo>
                  <a:lnTo>
                    <a:pt x="446722" y="587286"/>
                  </a:lnTo>
                  <a:lnTo>
                    <a:pt x="452501" y="591007"/>
                  </a:lnTo>
                  <a:lnTo>
                    <a:pt x="456222" y="596785"/>
                  </a:lnTo>
                  <a:lnTo>
                    <a:pt x="457530" y="604278"/>
                  </a:lnTo>
                  <a:lnTo>
                    <a:pt x="457530" y="520306"/>
                  </a:lnTo>
                  <a:lnTo>
                    <a:pt x="437172" y="527824"/>
                  </a:lnTo>
                  <a:lnTo>
                    <a:pt x="385279" y="539305"/>
                  </a:lnTo>
                  <a:lnTo>
                    <a:pt x="324129" y="546709"/>
                  </a:lnTo>
                  <a:lnTo>
                    <a:pt x="256222" y="549338"/>
                  </a:lnTo>
                  <a:lnTo>
                    <a:pt x="188315" y="546709"/>
                  </a:lnTo>
                  <a:lnTo>
                    <a:pt x="127165" y="539305"/>
                  </a:lnTo>
                  <a:lnTo>
                    <a:pt x="75272" y="527824"/>
                  </a:lnTo>
                  <a:lnTo>
                    <a:pt x="35115" y="512991"/>
                  </a:lnTo>
                  <a:lnTo>
                    <a:pt x="0" y="476097"/>
                  </a:lnTo>
                  <a:lnTo>
                    <a:pt x="0" y="622592"/>
                  </a:lnTo>
                  <a:lnTo>
                    <a:pt x="35115" y="659485"/>
                  </a:lnTo>
                  <a:lnTo>
                    <a:pt x="75272" y="674319"/>
                  </a:lnTo>
                  <a:lnTo>
                    <a:pt x="127165" y="685800"/>
                  </a:lnTo>
                  <a:lnTo>
                    <a:pt x="188315" y="693204"/>
                  </a:lnTo>
                  <a:lnTo>
                    <a:pt x="256222" y="695833"/>
                  </a:lnTo>
                  <a:lnTo>
                    <a:pt x="324129" y="693204"/>
                  </a:lnTo>
                  <a:lnTo>
                    <a:pt x="385279" y="685800"/>
                  </a:lnTo>
                  <a:lnTo>
                    <a:pt x="437172" y="674319"/>
                  </a:lnTo>
                  <a:lnTo>
                    <a:pt x="477329" y="659485"/>
                  </a:lnTo>
                  <a:lnTo>
                    <a:pt x="512432" y="622592"/>
                  </a:lnTo>
                  <a:lnTo>
                    <a:pt x="512432" y="585965"/>
                  </a:lnTo>
                  <a:lnTo>
                    <a:pt x="512432" y="549338"/>
                  </a:lnTo>
                  <a:lnTo>
                    <a:pt x="512432" y="476097"/>
                  </a:lnTo>
                  <a:close/>
                </a:path>
                <a:path w="512444" h="695960">
                  <a:moveTo>
                    <a:pt x="512432" y="292989"/>
                  </a:moveTo>
                  <a:lnTo>
                    <a:pt x="503250" y="312394"/>
                  </a:lnTo>
                  <a:lnTo>
                    <a:pt x="477329" y="329882"/>
                  </a:lnTo>
                  <a:lnTo>
                    <a:pt x="457530" y="337197"/>
                  </a:lnTo>
                  <a:lnTo>
                    <a:pt x="457530" y="421170"/>
                  </a:lnTo>
                  <a:lnTo>
                    <a:pt x="456222" y="428663"/>
                  </a:lnTo>
                  <a:lnTo>
                    <a:pt x="452501" y="434441"/>
                  </a:lnTo>
                  <a:lnTo>
                    <a:pt x="446722" y="438162"/>
                  </a:lnTo>
                  <a:lnTo>
                    <a:pt x="439229" y="439470"/>
                  </a:lnTo>
                  <a:lnTo>
                    <a:pt x="431736" y="438162"/>
                  </a:lnTo>
                  <a:lnTo>
                    <a:pt x="425970" y="434441"/>
                  </a:lnTo>
                  <a:lnTo>
                    <a:pt x="422249" y="428663"/>
                  </a:lnTo>
                  <a:lnTo>
                    <a:pt x="420928" y="421170"/>
                  </a:lnTo>
                  <a:lnTo>
                    <a:pt x="422249" y="413664"/>
                  </a:lnTo>
                  <a:lnTo>
                    <a:pt x="425970" y="407885"/>
                  </a:lnTo>
                  <a:lnTo>
                    <a:pt x="431736" y="404164"/>
                  </a:lnTo>
                  <a:lnTo>
                    <a:pt x="439229" y="402856"/>
                  </a:lnTo>
                  <a:lnTo>
                    <a:pt x="446722" y="404164"/>
                  </a:lnTo>
                  <a:lnTo>
                    <a:pt x="452501" y="407885"/>
                  </a:lnTo>
                  <a:lnTo>
                    <a:pt x="456222" y="413664"/>
                  </a:lnTo>
                  <a:lnTo>
                    <a:pt x="457530" y="421170"/>
                  </a:lnTo>
                  <a:lnTo>
                    <a:pt x="457530" y="337197"/>
                  </a:lnTo>
                  <a:lnTo>
                    <a:pt x="437172" y="344716"/>
                  </a:lnTo>
                  <a:lnTo>
                    <a:pt x="385279" y="356196"/>
                  </a:lnTo>
                  <a:lnTo>
                    <a:pt x="324129" y="363601"/>
                  </a:lnTo>
                  <a:lnTo>
                    <a:pt x="256222" y="366229"/>
                  </a:lnTo>
                  <a:lnTo>
                    <a:pt x="188315" y="363601"/>
                  </a:lnTo>
                  <a:lnTo>
                    <a:pt x="127165" y="356196"/>
                  </a:lnTo>
                  <a:lnTo>
                    <a:pt x="75272" y="344716"/>
                  </a:lnTo>
                  <a:lnTo>
                    <a:pt x="35115" y="329882"/>
                  </a:lnTo>
                  <a:lnTo>
                    <a:pt x="0" y="292989"/>
                  </a:lnTo>
                  <a:lnTo>
                    <a:pt x="0" y="439470"/>
                  </a:lnTo>
                  <a:lnTo>
                    <a:pt x="35115" y="476364"/>
                  </a:lnTo>
                  <a:lnTo>
                    <a:pt x="75272" y="491210"/>
                  </a:lnTo>
                  <a:lnTo>
                    <a:pt x="127165" y="502678"/>
                  </a:lnTo>
                  <a:lnTo>
                    <a:pt x="188315" y="510095"/>
                  </a:lnTo>
                  <a:lnTo>
                    <a:pt x="256222" y="512724"/>
                  </a:lnTo>
                  <a:lnTo>
                    <a:pt x="324129" y="510095"/>
                  </a:lnTo>
                  <a:lnTo>
                    <a:pt x="385279" y="502678"/>
                  </a:lnTo>
                  <a:lnTo>
                    <a:pt x="437172" y="491210"/>
                  </a:lnTo>
                  <a:lnTo>
                    <a:pt x="477329" y="476364"/>
                  </a:lnTo>
                  <a:lnTo>
                    <a:pt x="512432" y="439470"/>
                  </a:lnTo>
                  <a:lnTo>
                    <a:pt x="512432" y="402856"/>
                  </a:lnTo>
                  <a:lnTo>
                    <a:pt x="512432" y="366229"/>
                  </a:lnTo>
                  <a:lnTo>
                    <a:pt x="512432" y="292989"/>
                  </a:lnTo>
                  <a:close/>
                </a:path>
                <a:path w="512444" h="695960">
                  <a:moveTo>
                    <a:pt x="512432" y="109867"/>
                  </a:moveTo>
                  <a:lnTo>
                    <a:pt x="503250" y="129286"/>
                  </a:lnTo>
                  <a:lnTo>
                    <a:pt x="477329" y="146761"/>
                  </a:lnTo>
                  <a:lnTo>
                    <a:pt x="457530" y="154089"/>
                  </a:lnTo>
                  <a:lnTo>
                    <a:pt x="457530" y="238048"/>
                  </a:lnTo>
                  <a:lnTo>
                    <a:pt x="456222" y="245541"/>
                  </a:lnTo>
                  <a:lnTo>
                    <a:pt x="452501" y="251333"/>
                  </a:lnTo>
                  <a:lnTo>
                    <a:pt x="446722" y="255041"/>
                  </a:lnTo>
                  <a:lnTo>
                    <a:pt x="439229" y="256362"/>
                  </a:lnTo>
                  <a:lnTo>
                    <a:pt x="431736" y="255041"/>
                  </a:lnTo>
                  <a:lnTo>
                    <a:pt x="425970" y="251333"/>
                  </a:lnTo>
                  <a:lnTo>
                    <a:pt x="422249" y="245541"/>
                  </a:lnTo>
                  <a:lnTo>
                    <a:pt x="420928" y="238048"/>
                  </a:lnTo>
                  <a:lnTo>
                    <a:pt x="422249" y="230555"/>
                  </a:lnTo>
                  <a:lnTo>
                    <a:pt x="425970" y="224777"/>
                  </a:lnTo>
                  <a:lnTo>
                    <a:pt x="431736" y="221056"/>
                  </a:lnTo>
                  <a:lnTo>
                    <a:pt x="439229" y="219735"/>
                  </a:lnTo>
                  <a:lnTo>
                    <a:pt x="446722" y="221056"/>
                  </a:lnTo>
                  <a:lnTo>
                    <a:pt x="452501" y="224777"/>
                  </a:lnTo>
                  <a:lnTo>
                    <a:pt x="456222" y="230555"/>
                  </a:lnTo>
                  <a:lnTo>
                    <a:pt x="457530" y="238048"/>
                  </a:lnTo>
                  <a:lnTo>
                    <a:pt x="457530" y="154089"/>
                  </a:lnTo>
                  <a:lnTo>
                    <a:pt x="437172" y="161607"/>
                  </a:lnTo>
                  <a:lnTo>
                    <a:pt x="385279" y="173075"/>
                  </a:lnTo>
                  <a:lnTo>
                    <a:pt x="324129" y="180492"/>
                  </a:lnTo>
                  <a:lnTo>
                    <a:pt x="256222" y="183121"/>
                  </a:lnTo>
                  <a:lnTo>
                    <a:pt x="188315" y="180492"/>
                  </a:lnTo>
                  <a:lnTo>
                    <a:pt x="127165" y="173075"/>
                  </a:lnTo>
                  <a:lnTo>
                    <a:pt x="75272" y="161607"/>
                  </a:lnTo>
                  <a:lnTo>
                    <a:pt x="35115" y="146761"/>
                  </a:lnTo>
                  <a:lnTo>
                    <a:pt x="0" y="109867"/>
                  </a:lnTo>
                  <a:lnTo>
                    <a:pt x="0" y="256362"/>
                  </a:lnTo>
                  <a:lnTo>
                    <a:pt x="35115" y="293255"/>
                  </a:lnTo>
                  <a:lnTo>
                    <a:pt x="75272" y="308089"/>
                  </a:lnTo>
                  <a:lnTo>
                    <a:pt x="127165" y="319570"/>
                  </a:lnTo>
                  <a:lnTo>
                    <a:pt x="188315" y="326974"/>
                  </a:lnTo>
                  <a:lnTo>
                    <a:pt x="256222" y="329603"/>
                  </a:lnTo>
                  <a:lnTo>
                    <a:pt x="324129" y="326974"/>
                  </a:lnTo>
                  <a:lnTo>
                    <a:pt x="385279" y="319570"/>
                  </a:lnTo>
                  <a:lnTo>
                    <a:pt x="437172" y="308089"/>
                  </a:lnTo>
                  <a:lnTo>
                    <a:pt x="477329" y="293255"/>
                  </a:lnTo>
                  <a:lnTo>
                    <a:pt x="512432" y="256362"/>
                  </a:lnTo>
                  <a:lnTo>
                    <a:pt x="512432" y="219735"/>
                  </a:lnTo>
                  <a:lnTo>
                    <a:pt x="512432" y="183121"/>
                  </a:lnTo>
                  <a:lnTo>
                    <a:pt x="512432" y="109867"/>
                  </a:lnTo>
                  <a:close/>
                </a:path>
                <a:path w="512444" h="695960">
                  <a:moveTo>
                    <a:pt x="512432" y="73253"/>
                  </a:moveTo>
                  <a:lnTo>
                    <a:pt x="477456" y="36283"/>
                  </a:lnTo>
                  <a:lnTo>
                    <a:pt x="437388" y="21463"/>
                  </a:lnTo>
                  <a:lnTo>
                    <a:pt x="385533" y="10007"/>
                  </a:lnTo>
                  <a:lnTo>
                    <a:pt x="324332" y="2616"/>
                  </a:lnTo>
                  <a:lnTo>
                    <a:pt x="256222" y="0"/>
                  </a:lnTo>
                  <a:lnTo>
                    <a:pt x="188112" y="2616"/>
                  </a:lnTo>
                  <a:lnTo>
                    <a:pt x="126898" y="10007"/>
                  </a:lnTo>
                  <a:lnTo>
                    <a:pt x="75044" y="21463"/>
                  </a:lnTo>
                  <a:lnTo>
                    <a:pt x="34988" y="36283"/>
                  </a:lnTo>
                  <a:lnTo>
                    <a:pt x="0" y="73253"/>
                  </a:lnTo>
                  <a:lnTo>
                    <a:pt x="9156" y="92722"/>
                  </a:lnTo>
                  <a:lnTo>
                    <a:pt x="75044" y="125044"/>
                  </a:lnTo>
                  <a:lnTo>
                    <a:pt x="126898" y="136499"/>
                  </a:lnTo>
                  <a:lnTo>
                    <a:pt x="188112" y="143878"/>
                  </a:lnTo>
                  <a:lnTo>
                    <a:pt x="256222" y="146494"/>
                  </a:lnTo>
                  <a:lnTo>
                    <a:pt x="324332" y="143878"/>
                  </a:lnTo>
                  <a:lnTo>
                    <a:pt x="385533" y="136499"/>
                  </a:lnTo>
                  <a:lnTo>
                    <a:pt x="437388" y="125044"/>
                  </a:lnTo>
                  <a:lnTo>
                    <a:pt x="477456" y="110223"/>
                  </a:lnTo>
                  <a:lnTo>
                    <a:pt x="512432" y="73253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28086" y="1326007"/>
            <a:ext cx="8763000" cy="76454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40"/>
              </a:spcBef>
            </a:pPr>
            <a:r>
              <a:rPr sz="2400" dirty="0">
                <a:latin typeface="Calibri"/>
                <a:cs typeface="Calibri"/>
              </a:rPr>
              <a:t>Forms</a:t>
            </a:r>
            <a:r>
              <a:rPr sz="2400" spc="3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3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designed</a:t>
            </a:r>
            <a:r>
              <a:rPr sz="2400" spc="3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3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logically</a:t>
            </a:r>
            <a:r>
              <a:rPr sz="2400" spc="3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3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potential</a:t>
            </a:r>
            <a:r>
              <a:rPr sz="2400" spc="3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problems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3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 </a:t>
            </a:r>
            <a:r>
              <a:rPr sz="2400" spc="-10" dirty="0">
                <a:latin typeface="Calibri"/>
                <a:cs typeface="Calibri"/>
              </a:rPr>
              <a:t>inconsistencies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redundancy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02563" y="2938272"/>
            <a:ext cx="10945495" cy="1615440"/>
            <a:chOff x="702563" y="2938272"/>
            <a:chExt cx="10945495" cy="1615440"/>
          </a:xfrm>
        </p:grpSpPr>
        <p:sp>
          <p:nvSpPr>
            <p:cNvPr id="10" name="object 10"/>
            <p:cNvSpPr/>
            <p:nvPr/>
          </p:nvSpPr>
          <p:spPr>
            <a:xfrm>
              <a:off x="702563" y="2938272"/>
              <a:ext cx="10945495" cy="1615440"/>
            </a:xfrm>
            <a:custGeom>
              <a:avLst/>
              <a:gdLst/>
              <a:ahLst/>
              <a:cxnLst/>
              <a:rect l="l" t="t" r="r" b="b"/>
              <a:pathLst>
                <a:path w="10945495" h="1615439">
                  <a:moveTo>
                    <a:pt x="10783824" y="0"/>
                  </a:moveTo>
                  <a:lnTo>
                    <a:pt x="161544" y="0"/>
                  </a:lnTo>
                  <a:lnTo>
                    <a:pt x="118599" y="5774"/>
                  </a:lnTo>
                  <a:lnTo>
                    <a:pt x="80010" y="22069"/>
                  </a:lnTo>
                  <a:lnTo>
                    <a:pt x="47315" y="47339"/>
                  </a:lnTo>
                  <a:lnTo>
                    <a:pt x="22055" y="80038"/>
                  </a:lnTo>
                  <a:lnTo>
                    <a:pt x="5770" y="118621"/>
                  </a:lnTo>
                  <a:lnTo>
                    <a:pt x="0" y="161543"/>
                  </a:lnTo>
                  <a:lnTo>
                    <a:pt x="0" y="1453895"/>
                  </a:lnTo>
                  <a:lnTo>
                    <a:pt x="5770" y="1496818"/>
                  </a:lnTo>
                  <a:lnTo>
                    <a:pt x="22055" y="1535401"/>
                  </a:lnTo>
                  <a:lnTo>
                    <a:pt x="47315" y="1568100"/>
                  </a:lnTo>
                  <a:lnTo>
                    <a:pt x="80009" y="1593370"/>
                  </a:lnTo>
                  <a:lnTo>
                    <a:pt x="118599" y="1609665"/>
                  </a:lnTo>
                  <a:lnTo>
                    <a:pt x="161544" y="1615439"/>
                  </a:lnTo>
                  <a:lnTo>
                    <a:pt x="10783824" y="1615439"/>
                  </a:lnTo>
                  <a:lnTo>
                    <a:pt x="10826746" y="1609665"/>
                  </a:lnTo>
                  <a:lnTo>
                    <a:pt x="10865329" y="1593370"/>
                  </a:lnTo>
                  <a:lnTo>
                    <a:pt x="10898028" y="1568100"/>
                  </a:lnTo>
                  <a:lnTo>
                    <a:pt x="10923298" y="1535401"/>
                  </a:lnTo>
                  <a:lnTo>
                    <a:pt x="10939593" y="1496818"/>
                  </a:lnTo>
                  <a:lnTo>
                    <a:pt x="10945367" y="1453895"/>
                  </a:lnTo>
                  <a:lnTo>
                    <a:pt x="10945367" y="161543"/>
                  </a:lnTo>
                  <a:lnTo>
                    <a:pt x="10939593" y="118621"/>
                  </a:lnTo>
                  <a:lnTo>
                    <a:pt x="10923298" y="80038"/>
                  </a:lnTo>
                  <a:lnTo>
                    <a:pt x="10898028" y="47339"/>
                  </a:lnTo>
                  <a:lnTo>
                    <a:pt x="10865329" y="22069"/>
                  </a:lnTo>
                  <a:lnTo>
                    <a:pt x="10826746" y="5774"/>
                  </a:lnTo>
                  <a:lnTo>
                    <a:pt x="1078382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89748" y="3408387"/>
              <a:ext cx="695960" cy="688340"/>
            </a:xfrm>
            <a:custGeom>
              <a:avLst/>
              <a:gdLst/>
              <a:ahLst/>
              <a:cxnLst/>
              <a:rect l="l" t="t" r="r" b="b"/>
              <a:pathLst>
                <a:path w="695960" h="688339">
                  <a:moveTo>
                    <a:pt x="300139" y="289814"/>
                  </a:moveTo>
                  <a:lnTo>
                    <a:pt x="274523" y="264134"/>
                  </a:lnTo>
                  <a:lnTo>
                    <a:pt x="214122" y="324662"/>
                  </a:lnTo>
                  <a:lnTo>
                    <a:pt x="190334" y="300824"/>
                  </a:lnTo>
                  <a:lnTo>
                    <a:pt x="164706" y="326504"/>
                  </a:lnTo>
                  <a:lnTo>
                    <a:pt x="214122" y="376021"/>
                  </a:lnTo>
                  <a:lnTo>
                    <a:pt x="300139" y="289814"/>
                  </a:lnTo>
                  <a:close/>
                </a:path>
                <a:path w="695960" h="688339">
                  <a:moveTo>
                    <a:pt x="300139" y="170586"/>
                  </a:moveTo>
                  <a:lnTo>
                    <a:pt x="274523" y="144907"/>
                  </a:lnTo>
                  <a:lnTo>
                    <a:pt x="214122" y="205435"/>
                  </a:lnTo>
                  <a:lnTo>
                    <a:pt x="190334" y="181597"/>
                  </a:lnTo>
                  <a:lnTo>
                    <a:pt x="164706" y="207276"/>
                  </a:lnTo>
                  <a:lnTo>
                    <a:pt x="214122" y="256794"/>
                  </a:lnTo>
                  <a:lnTo>
                    <a:pt x="300139" y="170586"/>
                  </a:lnTo>
                  <a:close/>
                </a:path>
                <a:path w="695960" h="688339">
                  <a:moveTo>
                    <a:pt x="512432" y="302653"/>
                  </a:moveTo>
                  <a:lnTo>
                    <a:pt x="356870" y="302653"/>
                  </a:lnTo>
                  <a:lnTo>
                    <a:pt x="356870" y="339344"/>
                  </a:lnTo>
                  <a:lnTo>
                    <a:pt x="512432" y="339344"/>
                  </a:lnTo>
                  <a:lnTo>
                    <a:pt x="512432" y="302653"/>
                  </a:lnTo>
                  <a:close/>
                </a:path>
                <a:path w="695960" h="688339">
                  <a:moveTo>
                    <a:pt x="512432" y="183426"/>
                  </a:moveTo>
                  <a:lnTo>
                    <a:pt x="356870" y="183426"/>
                  </a:lnTo>
                  <a:lnTo>
                    <a:pt x="356870" y="220116"/>
                  </a:lnTo>
                  <a:lnTo>
                    <a:pt x="512432" y="220116"/>
                  </a:lnTo>
                  <a:lnTo>
                    <a:pt x="512432" y="183426"/>
                  </a:lnTo>
                  <a:close/>
                </a:path>
                <a:path w="695960" h="688339">
                  <a:moveTo>
                    <a:pt x="695452" y="55029"/>
                  </a:moveTo>
                  <a:lnTo>
                    <a:pt x="694016" y="47891"/>
                  </a:lnTo>
                  <a:lnTo>
                    <a:pt x="690105" y="42062"/>
                  </a:lnTo>
                  <a:lnTo>
                    <a:pt x="684288" y="38125"/>
                  </a:lnTo>
                  <a:lnTo>
                    <a:pt x="677151" y="36690"/>
                  </a:lnTo>
                  <a:lnTo>
                    <a:pt x="603935" y="36690"/>
                  </a:lnTo>
                  <a:lnTo>
                    <a:pt x="603935" y="100888"/>
                  </a:lnTo>
                  <a:lnTo>
                    <a:pt x="603935" y="431050"/>
                  </a:lnTo>
                  <a:lnTo>
                    <a:pt x="91503" y="431050"/>
                  </a:lnTo>
                  <a:lnTo>
                    <a:pt x="91503" y="100888"/>
                  </a:lnTo>
                  <a:lnTo>
                    <a:pt x="603935" y="100888"/>
                  </a:lnTo>
                  <a:lnTo>
                    <a:pt x="603935" y="36690"/>
                  </a:lnTo>
                  <a:lnTo>
                    <a:pt x="366026" y="36690"/>
                  </a:lnTo>
                  <a:lnTo>
                    <a:pt x="366026" y="18338"/>
                  </a:lnTo>
                  <a:lnTo>
                    <a:pt x="364591" y="11188"/>
                  </a:lnTo>
                  <a:lnTo>
                    <a:pt x="360667" y="5359"/>
                  </a:lnTo>
                  <a:lnTo>
                    <a:pt x="354850" y="1435"/>
                  </a:lnTo>
                  <a:lnTo>
                    <a:pt x="347726" y="0"/>
                  </a:lnTo>
                  <a:lnTo>
                    <a:pt x="340601" y="1435"/>
                  </a:lnTo>
                  <a:lnTo>
                    <a:pt x="334784" y="5359"/>
                  </a:lnTo>
                  <a:lnTo>
                    <a:pt x="330860" y="11188"/>
                  </a:lnTo>
                  <a:lnTo>
                    <a:pt x="329425" y="18338"/>
                  </a:lnTo>
                  <a:lnTo>
                    <a:pt x="329425" y="36690"/>
                  </a:lnTo>
                  <a:lnTo>
                    <a:pt x="18300" y="36690"/>
                  </a:lnTo>
                  <a:lnTo>
                    <a:pt x="11176" y="38125"/>
                  </a:lnTo>
                  <a:lnTo>
                    <a:pt x="5359" y="42062"/>
                  </a:lnTo>
                  <a:lnTo>
                    <a:pt x="1435" y="47891"/>
                  </a:lnTo>
                  <a:lnTo>
                    <a:pt x="0" y="55029"/>
                  </a:lnTo>
                  <a:lnTo>
                    <a:pt x="1435" y="62166"/>
                  </a:lnTo>
                  <a:lnTo>
                    <a:pt x="5359" y="67995"/>
                  </a:lnTo>
                  <a:lnTo>
                    <a:pt x="11176" y="71932"/>
                  </a:lnTo>
                  <a:lnTo>
                    <a:pt x="18300" y="73367"/>
                  </a:lnTo>
                  <a:lnTo>
                    <a:pt x="36601" y="73367"/>
                  </a:lnTo>
                  <a:lnTo>
                    <a:pt x="36601" y="449389"/>
                  </a:lnTo>
                  <a:lnTo>
                    <a:pt x="18300" y="449389"/>
                  </a:lnTo>
                  <a:lnTo>
                    <a:pt x="11176" y="450837"/>
                  </a:lnTo>
                  <a:lnTo>
                    <a:pt x="5359" y="454774"/>
                  </a:lnTo>
                  <a:lnTo>
                    <a:pt x="1435" y="460603"/>
                  </a:lnTo>
                  <a:lnTo>
                    <a:pt x="0" y="467741"/>
                  </a:lnTo>
                  <a:lnTo>
                    <a:pt x="1435" y="474878"/>
                  </a:lnTo>
                  <a:lnTo>
                    <a:pt x="5359" y="480707"/>
                  </a:lnTo>
                  <a:lnTo>
                    <a:pt x="11176" y="484644"/>
                  </a:lnTo>
                  <a:lnTo>
                    <a:pt x="18300" y="486079"/>
                  </a:lnTo>
                  <a:lnTo>
                    <a:pt x="297764" y="486079"/>
                  </a:lnTo>
                  <a:lnTo>
                    <a:pt x="156845" y="627316"/>
                  </a:lnTo>
                  <a:lnTo>
                    <a:pt x="152831" y="633437"/>
                  </a:lnTo>
                  <a:lnTo>
                    <a:pt x="151587" y="640016"/>
                  </a:lnTo>
                  <a:lnTo>
                    <a:pt x="151523" y="640397"/>
                  </a:lnTo>
                  <a:lnTo>
                    <a:pt x="152819" y="646925"/>
                  </a:lnTo>
                  <a:lnTo>
                    <a:pt x="170027" y="658749"/>
                  </a:lnTo>
                  <a:lnTo>
                    <a:pt x="176580" y="657428"/>
                  </a:lnTo>
                  <a:lnTo>
                    <a:pt x="176834" y="657428"/>
                  </a:lnTo>
                  <a:lnTo>
                    <a:pt x="183007" y="653275"/>
                  </a:lnTo>
                  <a:lnTo>
                    <a:pt x="329425" y="506526"/>
                  </a:lnTo>
                  <a:lnTo>
                    <a:pt x="329425" y="669505"/>
                  </a:lnTo>
                  <a:lnTo>
                    <a:pt x="330860" y="676643"/>
                  </a:lnTo>
                  <a:lnTo>
                    <a:pt x="334784" y="682472"/>
                  </a:lnTo>
                  <a:lnTo>
                    <a:pt x="340601" y="686409"/>
                  </a:lnTo>
                  <a:lnTo>
                    <a:pt x="347726" y="687844"/>
                  </a:lnTo>
                  <a:lnTo>
                    <a:pt x="354850" y="686409"/>
                  </a:lnTo>
                  <a:lnTo>
                    <a:pt x="360667" y="682472"/>
                  </a:lnTo>
                  <a:lnTo>
                    <a:pt x="364591" y="676643"/>
                  </a:lnTo>
                  <a:lnTo>
                    <a:pt x="366026" y="669505"/>
                  </a:lnTo>
                  <a:lnTo>
                    <a:pt x="366026" y="506526"/>
                  </a:lnTo>
                  <a:lnTo>
                    <a:pt x="366026" y="506260"/>
                  </a:lnTo>
                  <a:lnTo>
                    <a:pt x="512432" y="652995"/>
                  </a:lnTo>
                  <a:lnTo>
                    <a:pt x="518490" y="657034"/>
                  </a:lnTo>
                  <a:lnTo>
                    <a:pt x="525386" y="658368"/>
                  </a:lnTo>
                  <a:lnTo>
                    <a:pt x="532269" y="657034"/>
                  </a:lnTo>
                  <a:lnTo>
                    <a:pt x="538327" y="652995"/>
                  </a:lnTo>
                  <a:lnTo>
                    <a:pt x="542353" y="646925"/>
                  </a:lnTo>
                  <a:lnTo>
                    <a:pt x="543623" y="640397"/>
                  </a:lnTo>
                  <a:lnTo>
                    <a:pt x="543699" y="640016"/>
                  </a:lnTo>
                  <a:lnTo>
                    <a:pt x="542417" y="633437"/>
                  </a:lnTo>
                  <a:lnTo>
                    <a:pt x="542353" y="633120"/>
                  </a:lnTo>
                  <a:lnTo>
                    <a:pt x="538327" y="627037"/>
                  </a:lnTo>
                  <a:lnTo>
                    <a:pt x="417817" y="506260"/>
                  </a:lnTo>
                  <a:lnTo>
                    <a:pt x="397687" y="486079"/>
                  </a:lnTo>
                  <a:lnTo>
                    <a:pt x="677151" y="486079"/>
                  </a:lnTo>
                  <a:lnTo>
                    <a:pt x="684288" y="484644"/>
                  </a:lnTo>
                  <a:lnTo>
                    <a:pt x="690105" y="480707"/>
                  </a:lnTo>
                  <a:lnTo>
                    <a:pt x="694016" y="474878"/>
                  </a:lnTo>
                  <a:lnTo>
                    <a:pt x="695452" y="467741"/>
                  </a:lnTo>
                  <a:lnTo>
                    <a:pt x="694016" y="460603"/>
                  </a:lnTo>
                  <a:lnTo>
                    <a:pt x="690105" y="454774"/>
                  </a:lnTo>
                  <a:lnTo>
                    <a:pt x="684288" y="450837"/>
                  </a:lnTo>
                  <a:lnTo>
                    <a:pt x="677151" y="449389"/>
                  </a:lnTo>
                  <a:lnTo>
                    <a:pt x="658850" y="449389"/>
                  </a:lnTo>
                  <a:lnTo>
                    <a:pt x="658850" y="431050"/>
                  </a:lnTo>
                  <a:lnTo>
                    <a:pt x="658850" y="100888"/>
                  </a:lnTo>
                  <a:lnTo>
                    <a:pt x="658850" y="73367"/>
                  </a:lnTo>
                  <a:lnTo>
                    <a:pt x="677151" y="73367"/>
                  </a:lnTo>
                  <a:lnTo>
                    <a:pt x="684288" y="71932"/>
                  </a:lnTo>
                  <a:lnTo>
                    <a:pt x="690105" y="67995"/>
                  </a:lnTo>
                  <a:lnTo>
                    <a:pt x="694016" y="62166"/>
                  </a:lnTo>
                  <a:lnTo>
                    <a:pt x="695452" y="55029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28086" y="3160903"/>
            <a:ext cx="8761730" cy="113665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algn="just">
              <a:lnSpc>
                <a:spcPct val="101899"/>
              </a:lnSpc>
              <a:spcBef>
                <a:spcPts val="45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said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Normal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Forms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satisfies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rules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well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previous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 Light"/>
                <a:cs typeface="Calibri Light"/>
              </a:rPr>
              <a:t>it</a:t>
            </a:r>
            <a:r>
              <a:rPr sz="2400" spc="-20" dirty="0">
                <a:latin typeface="Calibri Light"/>
                <a:cs typeface="Calibri Light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20" dirty="0">
                <a:latin typeface="Calibri"/>
                <a:cs typeface="Calibri"/>
              </a:rPr>
              <a:t> also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suffer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addressed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02563" y="5030723"/>
            <a:ext cx="10945495" cy="1615440"/>
            <a:chOff x="702563" y="5030723"/>
            <a:chExt cx="10945495" cy="1615440"/>
          </a:xfrm>
        </p:grpSpPr>
        <p:sp>
          <p:nvSpPr>
            <p:cNvPr id="14" name="object 14"/>
            <p:cNvSpPr/>
            <p:nvPr/>
          </p:nvSpPr>
          <p:spPr>
            <a:xfrm>
              <a:off x="702563" y="5030723"/>
              <a:ext cx="10945495" cy="1615440"/>
            </a:xfrm>
            <a:custGeom>
              <a:avLst/>
              <a:gdLst/>
              <a:ahLst/>
              <a:cxnLst/>
              <a:rect l="l" t="t" r="r" b="b"/>
              <a:pathLst>
                <a:path w="10945495" h="1615440">
                  <a:moveTo>
                    <a:pt x="10783824" y="0"/>
                  </a:moveTo>
                  <a:lnTo>
                    <a:pt x="161544" y="0"/>
                  </a:lnTo>
                  <a:lnTo>
                    <a:pt x="118599" y="5774"/>
                  </a:lnTo>
                  <a:lnTo>
                    <a:pt x="80010" y="22069"/>
                  </a:lnTo>
                  <a:lnTo>
                    <a:pt x="47315" y="47339"/>
                  </a:lnTo>
                  <a:lnTo>
                    <a:pt x="22055" y="80038"/>
                  </a:lnTo>
                  <a:lnTo>
                    <a:pt x="5770" y="118621"/>
                  </a:lnTo>
                  <a:lnTo>
                    <a:pt x="0" y="161544"/>
                  </a:lnTo>
                  <a:lnTo>
                    <a:pt x="0" y="1453895"/>
                  </a:lnTo>
                  <a:lnTo>
                    <a:pt x="5770" y="1496840"/>
                  </a:lnTo>
                  <a:lnTo>
                    <a:pt x="22055" y="1535430"/>
                  </a:lnTo>
                  <a:lnTo>
                    <a:pt x="47315" y="1568124"/>
                  </a:lnTo>
                  <a:lnTo>
                    <a:pt x="80009" y="1593384"/>
                  </a:lnTo>
                  <a:lnTo>
                    <a:pt x="118599" y="1609669"/>
                  </a:lnTo>
                  <a:lnTo>
                    <a:pt x="161544" y="1615439"/>
                  </a:lnTo>
                  <a:lnTo>
                    <a:pt x="10783824" y="1615439"/>
                  </a:lnTo>
                  <a:lnTo>
                    <a:pt x="10826746" y="1609669"/>
                  </a:lnTo>
                  <a:lnTo>
                    <a:pt x="10865329" y="1593384"/>
                  </a:lnTo>
                  <a:lnTo>
                    <a:pt x="10898028" y="1568124"/>
                  </a:lnTo>
                  <a:lnTo>
                    <a:pt x="10923298" y="1535430"/>
                  </a:lnTo>
                  <a:lnTo>
                    <a:pt x="10939593" y="1496840"/>
                  </a:lnTo>
                  <a:lnTo>
                    <a:pt x="10945367" y="1453895"/>
                  </a:lnTo>
                  <a:lnTo>
                    <a:pt x="10945367" y="161544"/>
                  </a:lnTo>
                  <a:lnTo>
                    <a:pt x="10939593" y="118621"/>
                  </a:lnTo>
                  <a:lnTo>
                    <a:pt x="10923298" y="80038"/>
                  </a:lnTo>
                  <a:lnTo>
                    <a:pt x="10898028" y="47339"/>
                  </a:lnTo>
                  <a:lnTo>
                    <a:pt x="10865329" y="22069"/>
                  </a:lnTo>
                  <a:lnTo>
                    <a:pt x="10826746" y="5774"/>
                  </a:lnTo>
                  <a:lnTo>
                    <a:pt x="1078382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91768" y="5393435"/>
              <a:ext cx="889000" cy="890269"/>
            </a:xfrm>
            <a:custGeom>
              <a:avLst/>
              <a:gdLst/>
              <a:ahLst/>
              <a:cxnLst/>
              <a:rect l="l" t="t" r="r" b="b"/>
              <a:pathLst>
                <a:path w="889000" h="890270">
                  <a:moveTo>
                    <a:pt x="888492" y="0"/>
                  </a:moveTo>
                  <a:lnTo>
                    <a:pt x="0" y="0"/>
                  </a:lnTo>
                  <a:lnTo>
                    <a:pt x="0" y="890015"/>
                  </a:lnTo>
                  <a:lnTo>
                    <a:pt x="888492" y="890015"/>
                  </a:lnTo>
                  <a:lnTo>
                    <a:pt x="888492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728086" y="5593181"/>
            <a:ext cx="33121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 Light"/>
                <a:cs typeface="Calibri Light"/>
              </a:rPr>
              <a:t>Types</a:t>
            </a:r>
            <a:r>
              <a:rPr sz="2800" spc="-55" dirty="0">
                <a:latin typeface="Calibri Light"/>
                <a:cs typeface="Calibri Light"/>
              </a:rPr>
              <a:t> </a:t>
            </a:r>
            <a:r>
              <a:rPr sz="2800" dirty="0">
                <a:latin typeface="Calibri Light"/>
                <a:cs typeface="Calibri Light"/>
              </a:rPr>
              <a:t>of</a:t>
            </a:r>
            <a:r>
              <a:rPr sz="2800" spc="-55" dirty="0">
                <a:latin typeface="Calibri Light"/>
                <a:cs typeface="Calibri Light"/>
              </a:rPr>
              <a:t> </a:t>
            </a:r>
            <a:r>
              <a:rPr sz="2800" dirty="0">
                <a:latin typeface="Calibri Light"/>
                <a:cs typeface="Calibri Light"/>
              </a:rPr>
              <a:t>Normal</a:t>
            </a:r>
            <a:r>
              <a:rPr sz="2800" spc="-60" dirty="0">
                <a:latin typeface="Calibri Light"/>
                <a:cs typeface="Calibri Light"/>
              </a:rPr>
              <a:t> </a:t>
            </a:r>
            <a:r>
              <a:rPr sz="2800" spc="-20" dirty="0">
                <a:latin typeface="Calibri Light"/>
                <a:cs typeface="Calibri Light"/>
              </a:rPr>
              <a:t>Forms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54543" y="6569608"/>
            <a:ext cx="22879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Fifth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Normal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(5NF)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54543" y="4526847"/>
            <a:ext cx="3084195" cy="1909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49275">
              <a:lnSpc>
                <a:spcPct val="137300"/>
              </a:lnSpc>
              <a:spcBef>
                <a:spcPts val="95"/>
              </a:spcBef>
            </a:pP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Normal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(1NF) </a:t>
            </a:r>
            <a:r>
              <a:rPr sz="1800" dirty="0">
                <a:latin typeface="Calibri"/>
                <a:cs typeface="Calibri"/>
              </a:rPr>
              <a:t>Second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Normal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(2NF) </a:t>
            </a:r>
            <a:r>
              <a:rPr sz="1800" dirty="0">
                <a:latin typeface="Calibri"/>
                <a:cs typeface="Calibri"/>
              </a:rPr>
              <a:t>Third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Normal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(3NF)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2980"/>
              </a:lnSpc>
              <a:spcBef>
                <a:spcPts val="80"/>
              </a:spcBef>
            </a:pPr>
            <a:r>
              <a:rPr sz="1800" dirty="0">
                <a:latin typeface="Calibri"/>
                <a:cs typeface="Calibri"/>
              </a:rPr>
              <a:t>Boyce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Normal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(BCNF) </a:t>
            </a:r>
            <a:r>
              <a:rPr sz="1800" dirty="0">
                <a:latin typeface="Calibri"/>
                <a:cs typeface="Calibri"/>
              </a:rPr>
              <a:t>Fourth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Normal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(4NF)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4065" y="259079"/>
            <a:ext cx="4460240" cy="6306820"/>
            <a:chOff x="274065" y="259079"/>
            <a:chExt cx="4460240" cy="6306820"/>
          </a:xfrm>
        </p:grpSpPr>
        <p:sp>
          <p:nvSpPr>
            <p:cNvPr id="3" name="object 3"/>
            <p:cNvSpPr/>
            <p:nvPr/>
          </p:nvSpPr>
          <p:spPr>
            <a:xfrm>
              <a:off x="337565" y="322325"/>
              <a:ext cx="4333240" cy="6179820"/>
            </a:xfrm>
            <a:custGeom>
              <a:avLst/>
              <a:gdLst/>
              <a:ahLst/>
              <a:cxnLst/>
              <a:rect l="l" t="t" r="r" b="b"/>
              <a:pathLst>
                <a:path w="4333240" h="6179820">
                  <a:moveTo>
                    <a:pt x="4332732" y="0"/>
                  </a:moveTo>
                  <a:lnTo>
                    <a:pt x="0" y="0"/>
                  </a:lnTo>
                  <a:lnTo>
                    <a:pt x="0" y="6179820"/>
                  </a:lnTo>
                  <a:lnTo>
                    <a:pt x="4332732" y="6179820"/>
                  </a:lnTo>
                  <a:lnTo>
                    <a:pt x="4332732" y="0"/>
                  </a:lnTo>
                  <a:close/>
                </a:path>
              </a:pathLst>
            </a:custGeom>
            <a:solidFill>
              <a:srgbClr val="404040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4066" y="259079"/>
              <a:ext cx="4460240" cy="6306820"/>
            </a:xfrm>
            <a:custGeom>
              <a:avLst/>
              <a:gdLst/>
              <a:ahLst/>
              <a:cxnLst/>
              <a:rect l="l" t="t" r="r" b="b"/>
              <a:pathLst>
                <a:path w="4460240" h="6306820">
                  <a:moveTo>
                    <a:pt x="4408932" y="50800"/>
                  </a:moveTo>
                  <a:lnTo>
                    <a:pt x="50800" y="50800"/>
                  </a:lnTo>
                  <a:lnTo>
                    <a:pt x="50800" y="127000"/>
                  </a:lnTo>
                  <a:lnTo>
                    <a:pt x="50800" y="6179820"/>
                  </a:lnTo>
                  <a:lnTo>
                    <a:pt x="50800" y="6256020"/>
                  </a:lnTo>
                  <a:lnTo>
                    <a:pt x="4408932" y="6256020"/>
                  </a:lnTo>
                  <a:lnTo>
                    <a:pt x="4408932" y="6179820"/>
                  </a:lnTo>
                  <a:lnTo>
                    <a:pt x="127000" y="6179820"/>
                  </a:lnTo>
                  <a:lnTo>
                    <a:pt x="127000" y="127000"/>
                  </a:lnTo>
                  <a:lnTo>
                    <a:pt x="4332732" y="127000"/>
                  </a:lnTo>
                  <a:lnTo>
                    <a:pt x="4332732" y="6179566"/>
                  </a:lnTo>
                  <a:lnTo>
                    <a:pt x="4408932" y="6179578"/>
                  </a:lnTo>
                  <a:lnTo>
                    <a:pt x="4408932" y="127000"/>
                  </a:lnTo>
                  <a:lnTo>
                    <a:pt x="4408932" y="126746"/>
                  </a:lnTo>
                  <a:lnTo>
                    <a:pt x="4408932" y="50800"/>
                  </a:lnTo>
                  <a:close/>
                </a:path>
                <a:path w="4460240" h="6306820">
                  <a:moveTo>
                    <a:pt x="4459732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6281420"/>
                  </a:lnTo>
                  <a:lnTo>
                    <a:pt x="0" y="6306820"/>
                  </a:lnTo>
                  <a:lnTo>
                    <a:pt x="4459732" y="6306820"/>
                  </a:lnTo>
                  <a:lnTo>
                    <a:pt x="4459732" y="6281420"/>
                  </a:lnTo>
                  <a:lnTo>
                    <a:pt x="25400" y="6281420"/>
                  </a:lnTo>
                  <a:lnTo>
                    <a:pt x="25400" y="25400"/>
                  </a:lnTo>
                  <a:lnTo>
                    <a:pt x="4434332" y="25400"/>
                  </a:lnTo>
                  <a:lnTo>
                    <a:pt x="4434332" y="6281166"/>
                  </a:lnTo>
                  <a:lnTo>
                    <a:pt x="4459732" y="6281178"/>
                  </a:lnTo>
                  <a:lnTo>
                    <a:pt x="4459732" y="25400"/>
                  </a:lnTo>
                  <a:lnTo>
                    <a:pt x="4459732" y="25146"/>
                  </a:lnTo>
                  <a:lnTo>
                    <a:pt x="4459732" y="0"/>
                  </a:lnTo>
                  <a:close/>
                </a:path>
              </a:pathLst>
            </a:custGeom>
            <a:solidFill>
              <a:srgbClr val="585858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5060" y="1655775"/>
            <a:ext cx="2779395" cy="20745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indent="-635" algn="ctr">
              <a:lnSpc>
                <a:spcPct val="90000"/>
              </a:lnSpc>
              <a:spcBef>
                <a:spcPts val="675"/>
              </a:spcBef>
            </a:pPr>
            <a:r>
              <a:rPr sz="4800" spc="-25" dirty="0">
                <a:solidFill>
                  <a:srgbClr val="FFFFFF"/>
                </a:solidFill>
              </a:rPr>
              <a:t>Un </a:t>
            </a:r>
            <a:r>
              <a:rPr sz="4800" spc="-60" dirty="0">
                <a:solidFill>
                  <a:srgbClr val="FFFFFF"/>
                </a:solidFill>
              </a:rPr>
              <a:t>Normalized </a:t>
            </a:r>
            <a:r>
              <a:rPr sz="4800" spc="-20" dirty="0">
                <a:solidFill>
                  <a:srgbClr val="FFFFFF"/>
                </a:solidFill>
              </a:rPr>
              <a:t>Data</a:t>
            </a:r>
            <a:endParaRPr sz="4800"/>
          </a:p>
        </p:txBody>
      </p:sp>
      <p:sp>
        <p:nvSpPr>
          <p:cNvPr id="6" name="object 6"/>
          <p:cNvSpPr/>
          <p:nvPr/>
        </p:nvSpPr>
        <p:spPr>
          <a:xfrm>
            <a:off x="1192530" y="3911346"/>
            <a:ext cx="2586990" cy="0"/>
          </a:xfrm>
          <a:custGeom>
            <a:avLst/>
            <a:gdLst/>
            <a:ahLst/>
            <a:cxnLst/>
            <a:rect l="l" t="t" r="r" b="b"/>
            <a:pathLst>
              <a:path w="2586990">
                <a:moveTo>
                  <a:pt x="0" y="0"/>
                </a:moveTo>
                <a:lnTo>
                  <a:pt x="2586735" y="0"/>
                </a:lnTo>
              </a:path>
            </a:pathLst>
          </a:custGeom>
          <a:ln w="222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147436" y="715009"/>
          <a:ext cx="6551929" cy="541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6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8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45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Faculty</a:t>
                      </a:r>
                      <a:r>
                        <a:rPr sz="15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20" dirty="0">
                          <a:latin typeface="Calibri"/>
                          <a:cs typeface="Calibri"/>
                        </a:rPr>
                        <a:t>Code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Faculty</a:t>
                      </a:r>
                      <a:r>
                        <a:rPr sz="15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20" dirty="0">
                          <a:latin typeface="Calibri"/>
                          <a:cs typeface="Calibri"/>
                        </a:rPr>
                        <a:t>Name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Date</a:t>
                      </a:r>
                      <a:r>
                        <a:rPr sz="15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latin typeface="Calibri"/>
                          <a:cs typeface="Calibri"/>
                        </a:rPr>
                        <a:t>Birth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Subject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Hours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4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411480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Yogesh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18770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17/07/64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DSA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4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SS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4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IS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4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500" spc="-20" dirty="0">
                          <a:latin typeface="Calibri"/>
                          <a:cs typeface="Calibri"/>
                        </a:rPr>
                        <a:t>Amit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18770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24/12/72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MIS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4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PM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4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IS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4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238125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Omprakash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18770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03/02/80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20" dirty="0">
                          <a:latin typeface="Calibri"/>
                          <a:cs typeface="Calibri"/>
                        </a:rPr>
                        <a:t>PWRC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4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20" dirty="0">
                          <a:latin typeface="Calibri"/>
                          <a:cs typeface="Calibri"/>
                        </a:rPr>
                        <a:t>PCOM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4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IP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4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Nitin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187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28/11/66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DT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4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20" dirty="0">
                          <a:latin typeface="Calibri"/>
                          <a:cs typeface="Calibri"/>
                        </a:rPr>
                        <a:t>PCOM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4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SS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4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63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67030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Mahesh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63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18770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01/01/86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63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DT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84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ADBMS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84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3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00" spc="-20" dirty="0">
                          <a:latin typeface="Calibri"/>
                          <a:cs typeface="Calibri"/>
                        </a:rPr>
                        <a:t>PWRC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585858"/>
                </a:solidFill>
              </a:rPr>
              <a:t>25</a:t>
            </a:fld>
            <a:endParaRPr spc="-25" dirty="0">
              <a:solidFill>
                <a:srgbClr val="585858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55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spc="-30" dirty="0"/>
              <a:t>First</a:t>
            </a:r>
            <a:r>
              <a:rPr sz="5200" spc="-254" dirty="0"/>
              <a:t> </a:t>
            </a:r>
            <a:r>
              <a:rPr sz="5200" spc="-30" dirty="0"/>
              <a:t>Normal</a:t>
            </a:r>
            <a:r>
              <a:rPr sz="5200" spc="-250" dirty="0"/>
              <a:t> </a:t>
            </a:r>
            <a:r>
              <a:rPr sz="5200" spc="-20" dirty="0"/>
              <a:t>Form</a:t>
            </a:r>
            <a:r>
              <a:rPr sz="5200" spc="-275" dirty="0"/>
              <a:t> </a:t>
            </a:r>
            <a:r>
              <a:rPr sz="5200" spc="-10" dirty="0"/>
              <a:t>(1NF)</a:t>
            </a:r>
            <a:endParaRPr sz="5200"/>
          </a:p>
        </p:txBody>
      </p:sp>
      <p:grpSp>
        <p:nvGrpSpPr>
          <p:cNvPr id="3" name="object 3"/>
          <p:cNvGrpSpPr/>
          <p:nvPr/>
        </p:nvGrpSpPr>
        <p:grpSpPr>
          <a:xfrm>
            <a:off x="838200" y="1827276"/>
            <a:ext cx="10515600" cy="916305"/>
            <a:chOff x="838200" y="1827276"/>
            <a:chExt cx="10515600" cy="916305"/>
          </a:xfrm>
        </p:grpSpPr>
        <p:sp>
          <p:nvSpPr>
            <p:cNvPr id="4" name="object 4"/>
            <p:cNvSpPr/>
            <p:nvPr/>
          </p:nvSpPr>
          <p:spPr>
            <a:xfrm>
              <a:off x="838200" y="1827276"/>
              <a:ext cx="10515600" cy="916305"/>
            </a:xfrm>
            <a:custGeom>
              <a:avLst/>
              <a:gdLst/>
              <a:ahLst/>
              <a:cxnLst/>
              <a:rect l="l" t="t" r="r" b="b"/>
              <a:pathLst>
                <a:path w="10515600" h="916305">
                  <a:moveTo>
                    <a:pt x="10424033" y="0"/>
                  </a:moveTo>
                  <a:lnTo>
                    <a:pt x="91592" y="0"/>
                  </a:lnTo>
                  <a:lnTo>
                    <a:pt x="55940" y="7199"/>
                  </a:lnTo>
                  <a:lnTo>
                    <a:pt x="26827" y="26828"/>
                  </a:lnTo>
                  <a:lnTo>
                    <a:pt x="7197" y="55935"/>
                  </a:lnTo>
                  <a:lnTo>
                    <a:pt x="0" y="91566"/>
                  </a:lnTo>
                  <a:lnTo>
                    <a:pt x="0" y="824357"/>
                  </a:lnTo>
                  <a:lnTo>
                    <a:pt x="7197" y="859988"/>
                  </a:lnTo>
                  <a:lnTo>
                    <a:pt x="26827" y="889095"/>
                  </a:lnTo>
                  <a:lnTo>
                    <a:pt x="55940" y="908724"/>
                  </a:lnTo>
                  <a:lnTo>
                    <a:pt x="91592" y="915924"/>
                  </a:lnTo>
                  <a:lnTo>
                    <a:pt x="10424033" y="915924"/>
                  </a:lnTo>
                  <a:lnTo>
                    <a:pt x="10459664" y="908724"/>
                  </a:lnTo>
                  <a:lnTo>
                    <a:pt x="10488771" y="889095"/>
                  </a:lnTo>
                  <a:lnTo>
                    <a:pt x="10508400" y="859988"/>
                  </a:lnTo>
                  <a:lnTo>
                    <a:pt x="10515600" y="824357"/>
                  </a:lnTo>
                  <a:lnTo>
                    <a:pt x="10515600" y="91566"/>
                  </a:lnTo>
                  <a:lnTo>
                    <a:pt x="10508400" y="55935"/>
                  </a:lnTo>
                  <a:lnTo>
                    <a:pt x="10488771" y="26828"/>
                  </a:lnTo>
                  <a:lnTo>
                    <a:pt x="10459664" y="7199"/>
                  </a:lnTo>
                  <a:lnTo>
                    <a:pt x="1042403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28560" y="2118835"/>
              <a:ext cx="478790" cy="337820"/>
            </a:xfrm>
            <a:custGeom>
              <a:avLst/>
              <a:gdLst/>
              <a:ahLst/>
              <a:cxnLst/>
              <a:rect l="l" t="t" r="r" b="b"/>
              <a:pathLst>
                <a:path w="478790" h="337819">
                  <a:moveTo>
                    <a:pt x="436638" y="0"/>
                  </a:moveTo>
                  <a:lnTo>
                    <a:pt x="171443" y="251590"/>
                  </a:lnTo>
                  <a:lnTo>
                    <a:pt x="44026" y="120597"/>
                  </a:lnTo>
                  <a:lnTo>
                    <a:pt x="0" y="162702"/>
                  </a:lnTo>
                  <a:lnTo>
                    <a:pt x="169372" y="337360"/>
                  </a:lnTo>
                  <a:lnTo>
                    <a:pt x="213916" y="295775"/>
                  </a:lnTo>
                  <a:lnTo>
                    <a:pt x="478592" y="43664"/>
                  </a:lnTo>
                  <a:lnTo>
                    <a:pt x="4366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38200" y="2971800"/>
            <a:ext cx="10515600" cy="914400"/>
            <a:chOff x="838200" y="2971800"/>
            <a:chExt cx="10515600" cy="914400"/>
          </a:xfrm>
        </p:grpSpPr>
        <p:sp>
          <p:nvSpPr>
            <p:cNvPr id="7" name="object 7"/>
            <p:cNvSpPr/>
            <p:nvPr/>
          </p:nvSpPr>
          <p:spPr>
            <a:xfrm>
              <a:off x="838200" y="297180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10424160" y="0"/>
                  </a:moveTo>
                  <a:lnTo>
                    <a:pt x="91440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84" y="858571"/>
                  </a:lnTo>
                  <a:lnTo>
                    <a:pt x="26779" y="887634"/>
                  </a:lnTo>
                  <a:lnTo>
                    <a:pt x="55844" y="907220"/>
                  </a:lnTo>
                  <a:lnTo>
                    <a:pt x="91440" y="914400"/>
                  </a:lnTo>
                  <a:lnTo>
                    <a:pt x="10424160" y="914400"/>
                  </a:lnTo>
                  <a:lnTo>
                    <a:pt x="10459771" y="907220"/>
                  </a:lnTo>
                  <a:lnTo>
                    <a:pt x="10488834" y="887634"/>
                  </a:lnTo>
                  <a:lnTo>
                    <a:pt x="10508420" y="858571"/>
                  </a:lnTo>
                  <a:lnTo>
                    <a:pt x="10515600" y="822960"/>
                  </a:lnTo>
                  <a:lnTo>
                    <a:pt x="10515600" y="91439"/>
                  </a:lnTo>
                  <a:lnTo>
                    <a:pt x="10508420" y="55828"/>
                  </a:lnTo>
                  <a:lnTo>
                    <a:pt x="10488834" y="26765"/>
                  </a:lnTo>
                  <a:lnTo>
                    <a:pt x="10459771" y="7179"/>
                  </a:lnTo>
                  <a:lnTo>
                    <a:pt x="10424160" y="0"/>
                  </a:lnTo>
                  <a:close/>
                </a:path>
              </a:pathLst>
            </a:custGeom>
            <a:solidFill>
              <a:srgbClr val="52C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4843" y="3233139"/>
              <a:ext cx="446405" cy="394335"/>
            </a:xfrm>
            <a:custGeom>
              <a:avLst/>
              <a:gdLst/>
              <a:ahLst/>
              <a:cxnLst/>
              <a:rect l="l" t="t" r="r" b="b"/>
              <a:pathLst>
                <a:path w="446405" h="394335">
                  <a:moveTo>
                    <a:pt x="220512" y="0"/>
                  </a:moveTo>
                  <a:lnTo>
                    <a:pt x="2622" y="362674"/>
                  </a:lnTo>
                  <a:lnTo>
                    <a:pt x="0" y="370476"/>
                  </a:lnTo>
                  <a:lnTo>
                    <a:pt x="552" y="378404"/>
                  </a:lnTo>
                  <a:lnTo>
                    <a:pt x="4035" y="385545"/>
                  </a:lnTo>
                  <a:lnTo>
                    <a:pt x="10205" y="390992"/>
                  </a:lnTo>
                  <a:lnTo>
                    <a:pt x="13349" y="392805"/>
                  </a:lnTo>
                  <a:lnTo>
                    <a:pt x="16929" y="393768"/>
                  </a:lnTo>
                  <a:lnTo>
                    <a:pt x="425491" y="393768"/>
                  </a:lnTo>
                  <a:lnTo>
                    <a:pt x="433553" y="392131"/>
                  </a:lnTo>
                  <a:lnTo>
                    <a:pt x="440134" y="387681"/>
                  </a:lnTo>
                  <a:lnTo>
                    <a:pt x="444562" y="381088"/>
                  </a:lnTo>
                  <a:lnTo>
                    <a:pt x="446166" y="373017"/>
                  </a:lnTo>
                  <a:lnTo>
                    <a:pt x="446166" y="369385"/>
                  </a:lnTo>
                  <a:lnTo>
                    <a:pt x="445216" y="365818"/>
                  </a:lnTo>
                  <a:lnTo>
                    <a:pt x="417030" y="316758"/>
                  </a:lnTo>
                  <a:lnTo>
                    <a:pt x="171735" y="316758"/>
                  </a:lnTo>
                  <a:lnTo>
                    <a:pt x="149773" y="294784"/>
                  </a:lnTo>
                  <a:lnTo>
                    <a:pt x="201051" y="243478"/>
                  </a:lnTo>
                  <a:lnTo>
                    <a:pt x="149773" y="192172"/>
                  </a:lnTo>
                  <a:lnTo>
                    <a:pt x="171735" y="170199"/>
                  </a:lnTo>
                  <a:lnTo>
                    <a:pt x="332848" y="170199"/>
                  </a:lnTo>
                  <a:lnTo>
                    <a:pt x="240986" y="10269"/>
                  </a:lnTo>
                  <a:lnTo>
                    <a:pt x="235561" y="4082"/>
                  </a:lnTo>
                  <a:lnTo>
                    <a:pt x="228433" y="579"/>
                  </a:lnTo>
                  <a:lnTo>
                    <a:pt x="220512" y="0"/>
                  </a:lnTo>
                  <a:close/>
                </a:path>
                <a:path w="446405" h="394335">
                  <a:moveTo>
                    <a:pt x="223013" y="265452"/>
                  </a:moveTo>
                  <a:lnTo>
                    <a:pt x="171735" y="316758"/>
                  </a:lnTo>
                  <a:lnTo>
                    <a:pt x="274290" y="316758"/>
                  </a:lnTo>
                  <a:lnTo>
                    <a:pt x="223013" y="265452"/>
                  </a:lnTo>
                  <a:close/>
                </a:path>
                <a:path w="446405" h="394335">
                  <a:moveTo>
                    <a:pt x="332848" y="170199"/>
                  </a:moveTo>
                  <a:lnTo>
                    <a:pt x="274290" y="170199"/>
                  </a:lnTo>
                  <a:lnTo>
                    <a:pt x="296252" y="192172"/>
                  </a:lnTo>
                  <a:lnTo>
                    <a:pt x="244974" y="243478"/>
                  </a:lnTo>
                  <a:lnTo>
                    <a:pt x="296252" y="294784"/>
                  </a:lnTo>
                  <a:lnTo>
                    <a:pt x="274290" y="316758"/>
                  </a:lnTo>
                  <a:lnTo>
                    <a:pt x="417030" y="316758"/>
                  </a:lnTo>
                  <a:lnTo>
                    <a:pt x="332848" y="170199"/>
                  </a:lnTo>
                  <a:close/>
                </a:path>
                <a:path w="446405" h="394335">
                  <a:moveTo>
                    <a:pt x="274290" y="170199"/>
                  </a:moveTo>
                  <a:lnTo>
                    <a:pt x="171735" y="170199"/>
                  </a:lnTo>
                  <a:lnTo>
                    <a:pt x="223013" y="221505"/>
                  </a:lnTo>
                  <a:lnTo>
                    <a:pt x="274290" y="170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38200" y="4116323"/>
            <a:ext cx="10515600" cy="914400"/>
            <a:chOff x="838200" y="4116323"/>
            <a:chExt cx="10515600" cy="914400"/>
          </a:xfrm>
        </p:grpSpPr>
        <p:sp>
          <p:nvSpPr>
            <p:cNvPr id="10" name="object 10"/>
            <p:cNvSpPr/>
            <p:nvPr/>
          </p:nvSpPr>
          <p:spPr>
            <a:xfrm>
              <a:off x="838200" y="4116323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10424160" y="0"/>
                  </a:moveTo>
                  <a:lnTo>
                    <a:pt x="91440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822959"/>
                  </a:lnTo>
                  <a:lnTo>
                    <a:pt x="7184" y="858571"/>
                  </a:lnTo>
                  <a:lnTo>
                    <a:pt x="26779" y="887634"/>
                  </a:lnTo>
                  <a:lnTo>
                    <a:pt x="55844" y="907220"/>
                  </a:lnTo>
                  <a:lnTo>
                    <a:pt x="91440" y="914400"/>
                  </a:lnTo>
                  <a:lnTo>
                    <a:pt x="10424160" y="914400"/>
                  </a:lnTo>
                  <a:lnTo>
                    <a:pt x="10459771" y="907220"/>
                  </a:lnTo>
                  <a:lnTo>
                    <a:pt x="10488834" y="887634"/>
                  </a:lnTo>
                  <a:lnTo>
                    <a:pt x="10508420" y="858571"/>
                  </a:lnTo>
                  <a:lnTo>
                    <a:pt x="10515600" y="822959"/>
                  </a:lnTo>
                  <a:lnTo>
                    <a:pt x="10515600" y="91439"/>
                  </a:lnTo>
                  <a:lnTo>
                    <a:pt x="10508420" y="55828"/>
                  </a:lnTo>
                  <a:lnTo>
                    <a:pt x="10488834" y="26765"/>
                  </a:lnTo>
                  <a:lnTo>
                    <a:pt x="10459771" y="7179"/>
                  </a:lnTo>
                  <a:lnTo>
                    <a:pt x="10424160" y="0"/>
                  </a:lnTo>
                  <a:close/>
                </a:path>
              </a:pathLst>
            </a:custGeom>
            <a:solidFill>
              <a:srgbClr val="48BE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983" y="4398297"/>
              <a:ext cx="165746" cy="16583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0624" y="4512311"/>
              <a:ext cx="372977" cy="261194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838200" y="5259323"/>
            <a:ext cx="10515600" cy="916305"/>
            <a:chOff x="838200" y="5259323"/>
            <a:chExt cx="10515600" cy="916305"/>
          </a:xfrm>
        </p:grpSpPr>
        <p:sp>
          <p:nvSpPr>
            <p:cNvPr id="14" name="object 14"/>
            <p:cNvSpPr/>
            <p:nvPr/>
          </p:nvSpPr>
          <p:spPr>
            <a:xfrm>
              <a:off x="838200" y="5259323"/>
              <a:ext cx="10515600" cy="916305"/>
            </a:xfrm>
            <a:custGeom>
              <a:avLst/>
              <a:gdLst/>
              <a:ahLst/>
              <a:cxnLst/>
              <a:rect l="l" t="t" r="r" b="b"/>
              <a:pathLst>
                <a:path w="10515600" h="916304">
                  <a:moveTo>
                    <a:pt x="10424033" y="0"/>
                  </a:moveTo>
                  <a:lnTo>
                    <a:pt x="91592" y="0"/>
                  </a:lnTo>
                  <a:lnTo>
                    <a:pt x="55940" y="7199"/>
                  </a:lnTo>
                  <a:lnTo>
                    <a:pt x="26827" y="26828"/>
                  </a:lnTo>
                  <a:lnTo>
                    <a:pt x="7197" y="55935"/>
                  </a:lnTo>
                  <a:lnTo>
                    <a:pt x="0" y="91566"/>
                  </a:lnTo>
                  <a:lnTo>
                    <a:pt x="0" y="824318"/>
                  </a:lnTo>
                  <a:lnTo>
                    <a:pt x="26827" y="889095"/>
                  </a:lnTo>
                  <a:lnTo>
                    <a:pt x="91592" y="915924"/>
                  </a:lnTo>
                  <a:lnTo>
                    <a:pt x="10424033" y="915936"/>
                  </a:lnTo>
                  <a:lnTo>
                    <a:pt x="10459664" y="908738"/>
                  </a:lnTo>
                  <a:lnTo>
                    <a:pt x="10488771" y="889107"/>
                  </a:lnTo>
                  <a:lnTo>
                    <a:pt x="10508400" y="859990"/>
                  </a:lnTo>
                  <a:lnTo>
                    <a:pt x="10515600" y="824331"/>
                  </a:lnTo>
                  <a:lnTo>
                    <a:pt x="10515600" y="91566"/>
                  </a:lnTo>
                  <a:lnTo>
                    <a:pt x="10508400" y="55935"/>
                  </a:lnTo>
                  <a:lnTo>
                    <a:pt x="10488771" y="26828"/>
                  </a:lnTo>
                  <a:lnTo>
                    <a:pt x="10459664" y="7199"/>
                  </a:lnTo>
                  <a:lnTo>
                    <a:pt x="10424033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84499" y="5534248"/>
              <a:ext cx="367030" cy="368300"/>
            </a:xfrm>
            <a:custGeom>
              <a:avLst/>
              <a:gdLst/>
              <a:ahLst/>
              <a:cxnLst/>
              <a:rect l="l" t="t" r="r" b="b"/>
              <a:pathLst>
                <a:path w="367030" h="368300">
                  <a:moveTo>
                    <a:pt x="44026" y="0"/>
                  </a:moveTo>
                  <a:lnTo>
                    <a:pt x="0" y="44184"/>
                  </a:lnTo>
                  <a:lnTo>
                    <a:pt x="139330" y="184014"/>
                  </a:lnTo>
                  <a:lnTo>
                    <a:pt x="0" y="323845"/>
                  </a:lnTo>
                  <a:lnTo>
                    <a:pt x="44026" y="368029"/>
                  </a:lnTo>
                  <a:lnTo>
                    <a:pt x="183356" y="228199"/>
                  </a:lnTo>
                  <a:lnTo>
                    <a:pt x="271409" y="228199"/>
                  </a:lnTo>
                  <a:lnTo>
                    <a:pt x="227383" y="184014"/>
                  </a:lnTo>
                  <a:lnTo>
                    <a:pt x="271409" y="139830"/>
                  </a:lnTo>
                  <a:lnTo>
                    <a:pt x="183356" y="139830"/>
                  </a:lnTo>
                  <a:lnTo>
                    <a:pt x="44026" y="0"/>
                  </a:lnTo>
                  <a:close/>
                </a:path>
                <a:path w="367030" h="368300">
                  <a:moveTo>
                    <a:pt x="271409" y="228199"/>
                  </a:moveTo>
                  <a:lnTo>
                    <a:pt x="183356" y="228199"/>
                  </a:lnTo>
                  <a:lnTo>
                    <a:pt x="322687" y="368029"/>
                  </a:lnTo>
                  <a:lnTo>
                    <a:pt x="366713" y="323845"/>
                  </a:lnTo>
                  <a:lnTo>
                    <a:pt x="271409" y="228199"/>
                  </a:lnTo>
                  <a:close/>
                </a:path>
                <a:path w="367030" h="368300">
                  <a:moveTo>
                    <a:pt x="322687" y="0"/>
                  </a:moveTo>
                  <a:lnTo>
                    <a:pt x="183356" y="139830"/>
                  </a:lnTo>
                  <a:lnTo>
                    <a:pt x="271409" y="139830"/>
                  </a:lnTo>
                  <a:lnTo>
                    <a:pt x="366713" y="44184"/>
                  </a:lnTo>
                  <a:lnTo>
                    <a:pt x="3226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979802" y="2090166"/>
            <a:ext cx="9272270" cy="3793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relation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1NF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contains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exactly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attribute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05"/>
              </a:spcBef>
            </a:pPr>
            <a:endParaRPr sz="2200">
              <a:latin typeface="Calibri"/>
              <a:cs typeface="Calibri"/>
            </a:endParaRPr>
          </a:p>
          <a:p>
            <a:pPr marL="12700" marR="178435">
              <a:lnSpc>
                <a:spcPct val="101400"/>
              </a:lnSpc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1NF</a:t>
            </a:r>
            <a:r>
              <a:rPr sz="2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states</a:t>
            </a:r>
            <a:r>
              <a:rPr sz="2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attributes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included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relation</a:t>
            </a:r>
            <a:r>
              <a:rPr sz="2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2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atomic</a:t>
            </a:r>
            <a:r>
              <a:rPr sz="2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attribute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tuple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domain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attribute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4911725" algn="l"/>
              </a:tabLst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above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does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atomic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	values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Subject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hence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normalized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form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0"/>
              </a:spcBef>
            </a:pP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above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1NF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follows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585858"/>
                </a:solidFill>
              </a:rPr>
              <a:t>26</a:t>
            </a:fld>
            <a:endParaRPr spc="-25" dirty="0">
              <a:solidFill>
                <a:srgbClr val="585858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6666" y="3497402"/>
            <a:ext cx="23920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Calibri Light"/>
                <a:cs typeface="Calibri Light"/>
              </a:rPr>
              <a:t>1NF</a:t>
            </a:r>
            <a:r>
              <a:rPr sz="4800" spc="-225" dirty="0">
                <a:latin typeface="Calibri Light"/>
                <a:cs typeface="Calibri Light"/>
              </a:rPr>
              <a:t> </a:t>
            </a:r>
            <a:r>
              <a:rPr sz="4800" spc="-90" dirty="0">
                <a:latin typeface="Calibri Light"/>
                <a:cs typeface="Calibri Light"/>
              </a:rPr>
              <a:t>Table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81583" y="626363"/>
            <a:ext cx="704215" cy="146685"/>
          </a:xfrm>
          <a:custGeom>
            <a:avLst/>
            <a:gdLst/>
            <a:ahLst/>
            <a:cxnLst/>
            <a:rect l="l" t="t" r="r" b="b"/>
            <a:pathLst>
              <a:path w="704215" h="146684">
                <a:moveTo>
                  <a:pt x="704088" y="0"/>
                </a:moveTo>
                <a:lnTo>
                  <a:pt x="0" y="0"/>
                </a:lnTo>
                <a:lnTo>
                  <a:pt x="0" y="146303"/>
                </a:lnTo>
                <a:lnTo>
                  <a:pt x="704088" y="146303"/>
                </a:lnTo>
                <a:lnTo>
                  <a:pt x="704088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1583" y="4547615"/>
            <a:ext cx="4023360" cy="18415"/>
          </a:xfrm>
          <a:custGeom>
            <a:avLst/>
            <a:gdLst/>
            <a:ahLst/>
            <a:cxnLst/>
            <a:rect l="l" t="t" r="r" b="b"/>
            <a:pathLst>
              <a:path w="4023360" h="18414">
                <a:moveTo>
                  <a:pt x="4023360" y="0"/>
                </a:moveTo>
                <a:lnTo>
                  <a:pt x="0" y="0"/>
                </a:lnTo>
                <a:lnTo>
                  <a:pt x="0" y="18287"/>
                </a:lnTo>
                <a:lnTo>
                  <a:pt x="4023360" y="18287"/>
                </a:lnTo>
                <a:lnTo>
                  <a:pt x="4023360" y="0"/>
                </a:lnTo>
                <a:close/>
              </a:path>
            </a:pathLst>
          </a:custGeom>
          <a:solidFill>
            <a:srgbClr val="D4D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83226" y="619379"/>
          <a:ext cx="6594474" cy="5448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53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03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Sr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Faculty</a:t>
                      </a:r>
                      <a:r>
                        <a:rPr sz="14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Faculty</a:t>
                      </a:r>
                      <a:r>
                        <a:rPr sz="14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R="29210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Date</a:t>
                      </a:r>
                      <a:r>
                        <a:rPr sz="14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Birth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Subject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Hours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45847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Yogesh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17/07/64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DSA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99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45847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Yogesh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17/07/64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SS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99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45847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Yogesh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17/07/64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IS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Amit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24/12/72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MIS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99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Amit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24/12/72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PM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Amit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24/12/72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IS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99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288925"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Omprakash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03/02/80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PWRC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288925"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Omprakash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03/02/80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PCOM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99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288925"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Omprakash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03/02/80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IP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Nitin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28/11/66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DT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Nitin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28/11/66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PCOM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Nitin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28/11/66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SS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4171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Mahesh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01/01/86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DT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4171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Mahesh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01/01/86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ADBMS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4171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Mahesh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01/01/86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PWRC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454510" y="6464909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27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5971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50594" y="431673"/>
            <a:ext cx="4381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>
                <a:solidFill>
                  <a:srgbClr val="FFFFFF"/>
                </a:solidFill>
              </a:rPr>
              <a:t>Second</a:t>
            </a:r>
            <a:r>
              <a:rPr spc="-18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Normal</a:t>
            </a:r>
            <a:r>
              <a:rPr spc="-17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Form: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8767" y="1655445"/>
            <a:ext cx="10480040" cy="503428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5080" indent="-228600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A relation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2NF if it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 1NF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every </a:t>
            </a:r>
            <a:r>
              <a:rPr sz="1800" spc="-10" dirty="0">
                <a:latin typeface="Calibri"/>
                <a:cs typeface="Calibri"/>
              </a:rPr>
              <a:t>non-</a:t>
            </a:r>
            <a:r>
              <a:rPr sz="1800" dirty="0">
                <a:latin typeface="Calibri"/>
                <a:cs typeface="Calibri"/>
              </a:rPr>
              <a:t>key attribute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 fully functionally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dependent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primary key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just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primary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key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2NF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prohibits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partial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dependencies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spc="-10" dirty="0">
                <a:latin typeface="Calibri"/>
                <a:cs typeface="Calibri"/>
              </a:rPr>
              <a:t>Steps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800" dirty="0">
                <a:latin typeface="Calibri"/>
                <a:cs typeface="Calibri"/>
              </a:rPr>
              <a:t>–Find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remove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attributes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related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key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00" dirty="0">
                <a:latin typeface="Calibri"/>
                <a:cs typeface="Calibri"/>
              </a:rPr>
              <a:t>–Group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removed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attributes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another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dirty="0">
                <a:latin typeface="Calibri"/>
                <a:cs typeface="Calibri"/>
              </a:rPr>
              <a:t>–Assign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consists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old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composite</a:t>
            </a:r>
            <a:r>
              <a:rPr sz="1800" spc="-25" dirty="0">
                <a:latin typeface="Calibri"/>
                <a:cs typeface="Calibri"/>
              </a:rPr>
              <a:t> key</a:t>
            </a:r>
            <a:endParaRPr sz="1800">
              <a:latin typeface="Calibri"/>
              <a:cs typeface="Calibri"/>
            </a:endParaRPr>
          </a:p>
          <a:p>
            <a:pPr marL="126364" indent="-123825">
              <a:lnSpc>
                <a:spcPct val="100000"/>
              </a:lnSpc>
              <a:spcBef>
                <a:spcPts val="780"/>
              </a:spcBef>
              <a:buSzPct val="91666"/>
              <a:buChar char="•"/>
              <a:tabLst>
                <a:tab pos="126364" algn="l"/>
              </a:tabLst>
            </a:pPr>
            <a:r>
              <a:rPr sz="1800" dirty="0">
                <a:latin typeface="Calibri"/>
                <a:cs typeface="Calibri"/>
              </a:rPr>
              <a:t>Hence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tables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latin typeface="Calibri"/>
                <a:cs typeface="Calibri"/>
              </a:rPr>
              <a:t>–Faculty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(Faculty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Faculty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Birth)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dirty="0">
                <a:latin typeface="Calibri"/>
                <a:cs typeface="Calibri"/>
              </a:rPr>
              <a:t>–Subject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(Faculty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Subject,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Hours)</a:t>
            </a:r>
            <a:endParaRPr sz="1800">
              <a:latin typeface="Calibri"/>
              <a:cs typeface="Calibri"/>
            </a:endParaRPr>
          </a:p>
          <a:p>
            <a:pPr marL="126364" indent="-123825">
              <a:lnSpc>
                <a:spcPct val="100000"/>
              </a:lnSpc>
              <a:spcBef>
                <a:spcPts val="780"/>
              </a:spcBef>
              <a:buSzPct val="91666"/>
              <a:buChar char="•"/>
              <a:tabLst>
                <a:tab pos="126364" algn="l"/>
              </a:tabLst>
            </a:pPr>
            <a:r>
              <a:rPr sz="1800" spc="-10" dirty="0">
                <a:latin typeface="Calibri"/>
                <a:cs typeface="Calibri"/>
              </a:rPr>
              <a:t>Anomalies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00" dirty="0">
                <a:latin typeface="Calibri"/>
                <a:cs typeface="Calibri"/>
              </a:rPr>
              <a:t>–Inserting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records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various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faculties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teaching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subject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redundancy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hours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800" dirty="0">
                <a:latin typeface="Calibri"/>
                <a:cs typeface="Calibri"/>
              </a:rPr>
              <a:t>–As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hours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repeated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change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repeated</a:t>
            </a:r>
            <a:r>
              <a:rPr sz="1800" spc="3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every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instance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dirty="0">
                <a:latin typeface="Calibri"/>
                <a:cs typeface="Calibri"/>
              </a:rPr>
              <a:t>–If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faculty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leaves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organization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regarding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subject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lost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81633" y="1247394"/>
          <a:ext cx="3554095" cy="1741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3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dirty="0">
                          <a:latin typeface="Calibri"/>
                          <a:cs typeface="Calibri"/>
                        </a:rPr>
                        <a:t>Faculty</a:t>
                      </a:r>
                      <a:r>
                        <a:rPr sz="15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20" dirty="0">
                          <a:latin typeface="Calibri"/>
                          <a:cs typeface="Calibri"/>
                        </a:rPr>
                        <a:t>Code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dirty="0">
                          <a:latin typeface="Calibri"/>
                          <a:cs typeface="Calibri"/>
                        </a:rPr>
                        <a:t>Faculty</a:t>
                      </a:r>
                      <a:r>
                        <a:rPr sz="15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20" dirty="0">
                          <a:latin typeface="Calibri"/>
                          <a:cs typeface="Calibri"/>
                        </a:rPr>
                        <a:t>Name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spc="-25" dirty="0">
                          <a:latin typeface="Calibri"/>
                          <a:cs typeface="Calibri"/>
                        </a:rPr>
                        <a:t>DOB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Yogesh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17/7/85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0" dirty="0">
                          <a:latin typeface="Calibri"/>
                          <a:cs typeface="Calibri"/>
                        </a:rPr>
                        <a:t>Amit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24/12/86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Om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0" dirty="0">
                          <a:latin typeface="Calibri"/>
                          <a:cs typeface="Calibri"/>
                        </a:rPr>
                        <a:t>02-03-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85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Nitin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28/11/86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Mahesh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0" dirty="0">
                          <a:latin typeface="Calibri"/>
                          <a:cs typeface="Calibri"/>
                        </a:rPr>
                        <a:t>01-01-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86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26226" y="1247394"/>
          <a:ext cx="4082414" cy="464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Sr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No.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dirty="0">
                          <a:latin typeface="Calibri"/>
                          <a:cs typeface="Calibri"/>
                        </a:rPr>
                        <a:t>Faculty</a:t>
                      </a:r>
                      <a:r>
                        <a:rPr sz="15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20" dirty="0">
                          <a:latin typeface="Calibri"/>
                          <a:cs typeface="Calibri"/>
                        </a:rPr>
                        <a:t>Code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spc="-10" dirty="0">
                          <a:latin typeface="Calibri"/>
                          <a:cs typeface="Calibri"/>
                        </a:rPr>
                        <a:t>Subject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spc="-10" dirty="0">
                          <a:latin typeface="Calibri"/>
                          <a:cs typeface="Calibri"/>
                        </a:rPr>
                        <a:t>Hours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DSA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SS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IS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MIS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PM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IS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7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PW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COM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9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IP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DT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20" dirty="0">
                          <a:latin typeface="Calibri"/>
                          <a:cs typeface="Calibri"/>
                        </a:rPr>
                        <a:t>PCOM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SS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DT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800"/>
                        </a:lnSpc>
                        <a:spcBef>
                          <a:spcPts val="385"/>
                        </a:spcBef>
                      </a:pPr>
                      <a:r>
                        <a:rPr sz="1500" spc="-20" dirty="0">
                          <a:latin typeface="Calibri"/>
                          <a:cs typeface="Calibri"/>
                        </a:rPr>
                        <a:t>DBMS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8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8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IP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8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85061" y="679196"/>
            <a:ext cx="170116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Non</a:t>
            </a:r>
            <a:r>
              <a:rPr sz="1500" spc="-10" dirty="0">
                <a:latin typeface="Calibri"/>
                <a:cs typeface="Calibri"/>
              </a:rPr>
              <a:t> repeating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groups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2889" y="679196"/>
            <a:ext cx="13373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Calibri"/>
                <a:cs typeface="Calibri"/>
              </a:rPr>
              <a:t>repeating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groups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2028" y="857503"/>
            <a:ext cx="7594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2NF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30" dirty="0">
                <a:latin typeface="Calibri"/>
                <a:cs typeface="Calibri"/>
              </a:rPr>
              <a:t>Table: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4906645" cy="6867525"/>
            <a:chOff x="-4762" y="-4762"/>
            <a:chExt cx="4906645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5910" y="0"/>
              <a:ext cx="1295358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4819015" cy="6858000"/>
            </a:xfrm>
            <a:custGeom>
              <a:avLst/>
              <a:gdLst/>
              <a:ahLst/>
              <a:cxnLst/>
              <a:rect l="l" t="t" r="r" b="b"/>
              <a:pathLst>
                <a:path w="4819015" h="6858000">
                  <a:moveTo>
                    <a:pt x="360591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3605911" y="6857999"/>
                  </a:lnTo>
                  <a:lnTo>
                    <a:pt x="3668903" y="6788730"/>
                  </a:lnTo>
                  <a:lnTo>
                    <a:pt x="3697951" y="6753210"/>
                  </a:lnTo>
                  <a:lnTo>
                    <a:pt x="3726691" y="6717324"/>
                  </a:lnTo>
                  <a:lnTo>
                    <a:pt x="3755121" y="6681075"/>
                  </a:lnTo>
                  <a:lnTo>
                    <a:pt x="3783238" y="6644466"/>
                  </a:lnTo>
                  <a:lnTo>
                    <a:pt x="3811039" y="6607500"/>
                  </a:lnTo>
                  <a:lnTo>
                    <a:pt x="3838522" y="6570181"/>
                  </a:lnTo>
                  <a:lnTo>
                    <a:pt x="3865684" y="6532511"/>
                  </a:lnTo>
                  <a:lnTo>
                    <a:pt x="3892522" y="6494494"/>
                  </a:lnTo>
                  <a:lnTo>
                    <a:pt x="3919035" y="6456132"/>
                  </a:lnTo>
                  <a:lnTo>
                    <a:pt x="3945219" y="6417430"/>
                  </a:lnTo>
                  <a:lnTo>
                    <a:pt x="3971071" y="6378390"/>
                  </a:lnTo>
                  <a:lnTo>
                    <a:pt x="3996590" y="6339015"/>
                  </a:lnTo>
                  <a:lnTo>
                    <a:pt x="4021772" y="6299308"/>
                  </a:lnTo>
                  <a:lnTo>
                    <a:pt x="4046616" y="6259273"/>
                  </a:lnTo>
                  <a:lnTo>
                    <a:pt x="4071117" y="6218913"/>
                  </a:lnTo>
                  <a:lnTo>
                    <a:pt x="4095275" y="6178231"/>
                  </a:lnTo>
                  <a:lnTo>
                    <a:pt x="4119086" y="6137229"/>
                  </a:lnTo>
                  <a:lnTo>
                    <a:pt x="4142547" y="6095912"/>
                  </a:lnTo>
                  <a:lnTo>
                    <a:pt x="4165656" y="6054282"/>
                  </a:lnTo>
                  <a:lnTo>
                    <a:pt x="4188411" y="6012342"/>
                  </a:lnTo>
                  <a:lnTo>
                    <a:pt x="4210808" y="5970096"/>
                  </a:lnTo>
                  <a:lnTo>
                    <a:pt x="4232846" y="5927547"/>
                  </a:lnTo>
                  <a:lnTo>
                    <a:pt x="4254521" y="5884697"/>
                  </a:lnTo>
                  <a:lnTo>
                    <a:pt x="4275832" y="5841550"/>
                  </a:lnTo>
                  <a:lnTo>
                    <a:pt x="4296774" y="5798110"/>
                  </a:lnTo>
                  <a:lnTo>
                    <a:pt x="4317347" y="5754379"/>
                  </a:lnTo>
                  <a:lnTo>
                    <a:pt x="4337547" y="5710360"/>
                  </a:lnTo>
                  <a:lnTo>
                    <a:pt x="4357371" y="5666057"/>
                  </a:lnTo>
                  <a:lnTo>
                    <a:pt x="4376818" y="5621472"/>
                  </a:lnTo>
                  <a:lnTo>
                    <a:pt x="4395884" y="5576610"/>
                  </a:lnTo>
                  <a:lnTo>
                    <a:pt x="4414566" y="5531472"/>
                  </a:lnTo>
                  <a:lnTo>
                    <a:pt x="4432863" y="5486062"/>
                  </a:lnTo>
                  <a:lnTo>
                    <a:pt x="4450772" y="5440384"/>
                  </a:lnTo>
                  <a:lnTo>
                    <a:pt x="4468290" y="5394440"/>
                  </a:lnTo>
                  <a:lnTo>
                    <a:pt x="4485414" y="5348234"/>
                  </a:lnTo>
                  <a:lnTo>
                    <a:pt x="4502142" y="5301769"/>
                  </a:lnTo>
                  <a:lnTo>
                    <a:pt x="4518472" y="5255047"/>
                  </a:lnTo>
                  <a:lnTo>
                    <a:pt x="4534400" y="5208072"/>
                  </a:lnTo>
                  <a:lnTo>
                    <a:pt x="4549924" y="5160848"/>
                  </a:lnTo>
                  <a:lnTo>
                    <a:pt x="4565041" y="5113377"/>
                  </a:lnTo>
                  <a:lnTo>
                    <a:pt x="4579750" y="5065662"/>
                  </a:lnTo>
                  <a:lnTo>
                    <a:pt x="4594047" y="5017707"/>
                  </a:lnTo>
                  <a:lnTo>
                    <a:pt x="4607929" y="4969514"/>
                  </a:lnTo>
                  <a:lnTo>
                    <a:pt x="4621395" y="4921088"/>
                  </a:lnTo>
                  <a:lnTo>
                    <a:pt x="4634441" y="4872430"/>
                  </a:lnTo>
                  <a:lnTo>
                    <a:pt x="4647065" y="4823545"/>
                  </a:lnTo>
                  <a:lnTo>
                    <a:pt x="4659265" y="4774434"/>
                  </a:lnTo>
                  <a:lnTo>
                    <a:pt x="4671037" y="4725103"/>
                  </a:lnTo>
                  <a:lnTo>
                    <a:pt x="4682379" y="4675553"/>
                  </a:lnTo>
                  <a:lnTo>
                    <a:pt x="4693289" y="4625787"/>
                  </a:lnTo>
                  <a:lnTo>
                    <a:pt x="4703764" y="4575810"/>
                  </a:lnTo>
                  <a:lnTo>
                    <a:pt x="4713801" y="4525623"/>
                  </a:lnTo>
                  <a:lnTo>
                    <a:pt x="4723398" y="4475231"/>
                  </a:lnTo>
                  <a:lnTo>
                    <a:pt x="4732552" y="4424636"/>
                  </a:lnTo>
                  <a:lnTo>
                    <a:pt x="4741261" y="4373841"/>
                  </a:lnTo>
                  <a:lnTo>
                    <a:pt x="4749521" y="4322850"/>
                  </a:lnTo>
                  <a:lnTo>
                    <a:pt x="4757331" y="4271666"/>
                  </a:lnTo>
                  <a:lnTo>
                    <a:pt x="4764688" y="4220292"/>
                  </a:lnTo>
                  <a:lnTo>
                    <a:pt x="4771589" y="4168730"/>
                  </a:lnTo>
                  <a:lnTo>
                    <a:pt x="4778032" y="4116985"/>
                  </a:lnTo>
                  <a:lnTo>
                    <a:pt x="4784013" y="4065059"/>
                  </a:lnTo>
                  <a:lnTo>
                    <a:pt x="4789531" y="4012956"/>
                  </a:lnTo>
                  <a:lnTo>
                    <a:pt x="4794583" y="3960678"/>
                  </a:lnTo>
                  <a:lnTo>
                    <a:pt x="4799165" y="3908229"/>
                  </a:lnTo>
                  <a:lnTo>
                    <a:pt x="4803277" y="3855612"/>
                  </a:lnTo>
                  <a:lnTo>
                    <a:pt x="4806915" y="3802830"/>
                  </a:lnTo>
                  <a:lnTo>
                    <a:pt x="4810075" y="3749886"/>
                  </a:lnTo>
                  <a:lnTo>
                    <a:pt x="4812757" y="3696783"/>
                  </a:lnTo>
                  <a:lnTo>
                    <a:pt x="4814957" y="3643525"/>
                  </a:lnTo>
                  <a:lnTo>
                    <a:pt x="4816673" y="3590114"/>
                  </a:lnTo>
                  <a:lnTo>
                    <a:pt x="4817901" y="3536554"/>
                  </a:lnTo>
                  <a:lnTo>
                    <a:pt x="4818641" y="3482848"/>
                  </a:lnTo>
                  <a:lnTo>
                    <a:pt x="4818888" y="3429000"/>
                  </a:lnTo>
                  <a:lnTo>
                    <a:pt x="4818641" y="3375151"/>
                  </a:lnTo>
                  <a:lnTo>
                    <a:pt x="4817901" y="3321445"/>
                  </a:lnTo>
                  <a:lnTo>
                    <a:pt x="4816673" y="3267885"/>
                  </a:lnTo>
                  <a:lnTo>
                    <a:pt x="4814957" y="3214474"/>
                  </a:lnTo>
                  <a:lnTo>
                    <a:pt x="4812757" y="3161216"/>
                  </a:lnTo>
                  <a:lnTo>
                    <a:pt x="4810075" y="3108114"/>
                  </a:lnTo>
                  <a:lnTo>
                    <a:pt x="4806915" y="3055170"/>
                  </a:lnTo>
                  <a:lnTo>
                    <a:pt x="4803277" y="3002388"/>
                  </a:lnTo>
                  <a:lnTo>
                    <a:pt x="4799165" y="2949771"/>
                  </a:lnTo>
                  <a:lnTo>
                    <a:pt x="4794583" y="2897322"/>
                  </a:lnTo>
                  <a:lnTo>
                    <a:pt x="4789531" y="2845045"/>
                  </a:lnTo>
                  <a:lnTo>
                    <a:pt x="4784013" y="2792941"/>
                  </a:lnTo>
                  <a:lnTo>
                    <a:pt x="4778032" y="2741016"/>
                  </a:lnTo>
                  <a:lnTo>
                    <a:pt x="4771589" y="2689271"/>
                  </a:lnTo>
                  <a:lnTo>
                    <a:pt x="4764688" y="2637709"/>
                  </a:lnTo>
                  <a:lnTo>
                    <a:pt x="4757331" y="2586335"/>
                  </a:lnTo>
                  <a:lnTo>
                    <a:pt x="4749521" y="2535151"/>
                  </a:lnTo>
                  <a:lnTo>
                    <a:pt x="4741261" y="2484160"/>
                  </a:lnTo>
                  <a:lnTo>
                    <a:pt x="4732552" y="2433366"/>
                  </a:lnTo>
                  <a:lnTo>
                    <a:pt x="4723398" y="2382771"/>
                  </a:lnTo>
                  <a:lnTo>
                    <a:pt x="4713801" y="2332379"/>
                  </a:lnTo>
                  <a:lnTo>
                    <a:pt x="4703764" y="2282193"/>
                  </a:lnTo>
                  <a:lnTo>
                    <a:pt x="4693289" y="2232215"/>
                  </a:lnTo>
                  <a:lnTo>
                    <a:pt x="4682379" y="2182450"/>
                  </a:lnTo>
                  <a:lnTo>
                    <a:pt x="4671037" y="2132900"/>
                  </a:lnTo>
                  <a:lnTo>
                    <a:pt x="4659265" y="2083568"/>
                  </a:lnTo>
                  <a:lnTo>
                    <a:pt x="4647065" y="2034458"/>
                  </a:lnTo>
                  <a:lnTo>
                    <a:pt x="4634441" y="1985573"/>
                  </a:lnTo>
                  <a:lnTo>
                    <a:pt x="4621395" y="1936915"/>
                  </a:lnTo>
                  <a:lnTo>
                    <a:pt x="4607929" y="1888489"/>
                  </a:lnTo>
                  <a:lnTo>
                    <a:pt x="4594047" y="1840296"/>
                  </a:lnTo>
                  <a:lnTo>
                    <a:pt x="4579750" y="1792341"/>
                  </a:lnTo>
                  <a:lnTo>
                    <a:pt x="4565041" y="1744626"/>
                  </a:lnTo>
                  <a:lnTo>
                    <a:pt x="4549924" y="1697154"/>
                  </a:lnTo>
                  <a:lnTo>
                    <a:pt x="4534400" y="1649930"/>
                  </a:lnTo>
                  <a:lnTo>
                    <a:pt x="4518472" y="1602955"/>
                  </a:lnTo>
                  <a:lnTo>
                    <a:pt x="4502142" y="1556233"/>
                  </a:lnTo>
                  <a:lnTo>
                    <a:pt x="4485414" y="1509767"/>
                  </a:lnTo>
                  <a:lnTo>
                    <a:pt x="4468290" y="1463560"/>
                  </a:lnTo>
                  <a:lnTo>
                    <a:pt x="4450772" y="1417616"/>
                  </a:lnTo>
                  <a:lnTo>
                    <a:pt x="4432863" y="1371937"/>
                  </a:lnTo>
                  <a:lnTo>
                    <a:pt x="4414566" y="1326527"/>
                  </a:lnTo>
                  <a:lnTo>
                    <a:pt x="4395884" y="1281389"/>
                  </a:lnTo>
                  <a:lnTo>
                    <a:pt x="4376818" y="1236526"/>
                  </a:lnTo>
                  <a:lnTo>
                    <a:pt x="4357371" y="1191941"/>
                  </a:lnTo>
                  <a:lnTo>
                    <a:pt x="4337547" y="1147637"/>
                  </a:lnTo>
                  <a:lnTo>
                    <a:pt x="4317347" y="1103617"/>
                  </a:lnTo>
                  <a:lnTo>
                    <a:pt x="4296774" y="1059885"/>
                  </a:lnTo>
                  <a:lnTo>
                    <a:pt x="4275832" y="1016443"/>
                  </a:lnTo>
                  <a:lnTo>
                    <a:pt x="4254521" y="973296"/>
                  </a:lnTo>
                  <a:lnTo>
                    <a:pt x="4232846" y="930445"/>
                  </a:lnTo>
                  <a:lnTo>
                    <a:pt x="4210808" y="887894"/>
                  </a:lnTo>
                  <a:lnTo>
                    <a:pt x="4188411" y="845647"/>
                  </a:lnTo>
                  <a:lnTo>
                    <a:pt x="4165656" y="803706"/>
                  </a:lnTo>
                  <a:lnTo>
                    <a:pt x="4142547" y="762074"/>
                  </a:lnTo>
                  <a:lnTo>
                    <a:pt x="4119086" y="720756"/>
                  </a:lnTo>
                  <a:lnTo>
                    <a:pt x="4095275" y="679753"/>
                  </a:lnTo>
                  <a:lnTo>
                    <a:pt x="4071117" y="639068"/>
                  </a:lnTo>
                  <a:lnTo>
                    <a:pt x="4046616" y="598706"/>
                  </a:lnTo>
                  <a:lnTo>
                    <a:pt x="4021772" y="558669"/>
                  </a:lnTo>
                  <a:lnTo>
                    <a:pt x="3996590" y="518961"/>
                  </a:lnTo>
                  <a:lnTo>
                    <a:pt x="3971071" y="479584"/>
                  </a:lnTo>
                  <a:lnTo>
                    <a:pt x="3945219" y="440542"/>
                  </a:lnTo>
                  <a:lnTo>
                    <a:pt x="3919035" y="401837"/>
                  </a:lnTo>
                  <a:lnTo>
                    <a:pt x="3892522" y="363473"/>
                  </a:lnTo>
                  <a:lnTo>
                    <a:pt x="3865684" y="325454"/>
                  </a:lnTo>
                  <a:lnTo>
                    <a:pt x="3838522" y="287781"/>
                  </a:lnTo>
                  <a:lnTo>
                    <a:pt x="3811039" y="250459"/>
                  </a:lnTo>
                  <a:lnTo>
                    <a:pt x="3783238" y="213491"/>
                  </a:lnTo>
                  <a:lnTo>
                    <a:pt x="3755121" y="176879"/>
                  </a:lnTo>
                  <a:lnTo>
                    <a:pt x="3726691" y="140627"/>
                  </a:lnTo>
                  <a:lnTo>
                    <a:pt x="3697951" y="104738"/>
                  </a:lnTo>
                  <a:lnTo>
                    <a:pt x="3668903" y="69215"/>
                  </a:lnTo>
                  <a:lnTo>
                    <a:pt x="36059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19015" cy="6858000"/>
            </a:xfrm>
            <a:custGeom>
              <a:avLst/>
              <a:gdLst/>
              <a:ahLst/>
              <a:cxnLst/>
              <a:rect l="l" t="t" r="r" b="b"/>
              <a:pathLst>
                <a:path w="4819015" h="6858000">
                  <a:moveTo>
                    <a:pt x="0" y="0"/>
                  </a:moveTo>
                  <a:lnTo>
                    <a:pt x="3605911" y="0"/>
                  </a:lnTo>
                  <a:lnTo>
                    <a:pt x="3668903" y="69215"/>
                  </a:lnTo>
                  <a:lnTo>
                    <a:pt x="3697951" y="104738"/>
                  </a:lnTo>
                  <a:lnTo>
                    <a:pt x="3726691" y="140627"/>
                  </a:lnTo>
                  <a:lnTo>
                    <a:pt x="3755121" y="176879"/>
                  </a:lnTo>
                  <a:lnTo>
                    <a:pt x="3783238" y="213491"/>
                  </a:lnTo>
                  <a:lnTo>
                    <a:pt x="3811039" y="250459"/>
                  </a:lnTo>
                  <a:lnTo>
                    <a:pt x="3838522" y="287781"/>
                  </a:lnTo>
                  <a:lnTo>
                    <a:pt x="3865684" y="325454"/>
                  </a:lnTo>
                  <a:lnTo>
                    <a:pt x="3892522" y="363473"/>
                  </a:lnTo>
                  <a:lnTo>
                    <a:pt x="3919035" y="401837"/>
                  </a:lnTo>
                  <a:lnTo>
                    <a:pt x="3945219" y="440542"/>
                  </a:lnTo>
                  <a:lnTo>
                    <a:pt x="3971071" y="479584"/>
                  </a:lnTo>
                  <a:lnTo>
                    <a:pt x="3996590" y="518961"/>
                  </a:lnTo>
                  <a:lnTo>
                    <a:pt x="4021772" y="558669"/>
                  </a:lnTo>
                  <a:lnTo>
                    <a:pt x="4046616" y="598706"/>
                  </a:lnTo>
                  <a:lnTo>
                    <a:pt x="4071117" y="639068"/>
                  </a:lnTo>
                  <a:lnTo>
                    <a:pt x="4095275" y="679753"/>
                  </a:lnTo>
                  <a:lnTo>
                    <a:pt x="4119086" y="720756"/>
                  </a:lnTo>
                  <a:lnTo>
                    <a:pt x="4142547" y="762074"/>
                  </a:lnTo>
                  <a:lnTo>
                    <a:pt x="4165656" y="803706"/>
                  </a:lnTo>
                  <a:lnTo>
                    <a:pt x="4188411" y="845647"/>
                  </a:lnTo>
                  <a:lnTo>
                    <a:pt x="4210808" y="887894"/>
                  </a:lnTo>
                  <a:lnTo>
                    <a:pt x="4232846" y="930445"/>
                  </a:lnTo>
                  <a:lnTo>
                    <a:pt x="4254521" y="973296"/>
                  </a:lnTo>
                  <a:lnTo>
                    <a:pt x="4275832" y="1016443"/>
                  </a:lnTo>
                  <a:lnTo>
                    <a:pt x="4296774" y="1059885"/>
                  </a:lnTo>
                  <a:lnTo>
                    <a:pt x="4317347" y="1103617"/>
                  </a:lnTo>
                  <a:lnTo>
                    <a:pt x="4337547" y="1147637"/>
                  </a:lnTo>
                  <a:lnTo>
                    <a:pt x="4357371" y="1191941"/>
                  </a:lnTo>
                  <a:lnTo>
                    <a:pt x="4376818" y="1236526"/>
                  </a:lnTo>
                  <a:lnTo>
                    <a:pt x="4395884" y="1281389"/>
                  </a:lnTo>
                  <a:lnTo>
                    <a:pt x="4414566" y="1326527"/>
                  </a:lnTo>
                  <a:lnTo>
                    <a:pt x="4432863" y="1371937"/>
                  </a:lnTo>
                  <a:lnTo>
                    <a:pt x="4450772" y="1417616"/>
                  </a:lnTo>
                  <a:lnTo>
                    <a:pt x="4468290" y="1463560"/>
                  </a:lnTo>
                  <a:lnTo>
                    <a:pt x="4485414" y="1509767"/>
                  </a:lnTo>
                  <a:lnTo>
                    <a:pt x="4502142" y="1556233"/>
                  </a:lnTo>
                  <a:lnTo>
                    <a:pt x="4518472" y="1602955"/>
                  </a:lnTo>
                  <a:lnTo>
                    <a:pt x="4534400" y="1649930"/>
                  </a:lnTo>
                  <a:lnTo>
                    <a:pt x="4549924" y="1697154"/>
                  </a:lnTo>
                  <a:lnTo>
                    <a:pt x="4565041" y="1744626"/>
                  </a:lnTo>
                  <a:lnTo>
                    <a:pt x="4579750" y="1792341"/>
                  </a:lnTo>
                  <a:lnTo>
                    <a:pt x="4594047" y="1840296"/>
                  </a:lnTo>
                  <a:lnTo>
                    <a:pt x="4607929" y="1888489"/>
                  </a:lnTo>
                  <a:lnTo>
                    <a:pt x="4621395" y="1936915"/>
                  </a:lnTo>
                  <a:lnTo>
                    <a:pt x="4634441" y="1985573"/>
                  </a:lnTo>
                  <a:lnTo>
                    <a:pt x="4647065" y="2034458"/>
                  </a:lnTo>
                  <a:lnTo>
                    <a:pt x="4659265" y="2083568"/>
                  </a:lnTo>
                  <a:lnTo>
                    <a:pt x="4671037" y="2132900"/>
                  </a:lnTo>
                  <a:lnTo>
                    <a:pt x="4682379" y="2182450"/>
                  </a:lnTo>
                  <a:lnTo>
                    <a:pt x="4693289" y="2232215"/>
                  </a:lnTo>
                  <a:lnTo>
                    <a:pt x="4703764" y="2282193"/>
                  </a:lnTo>
                  <a:lnTo>
                    <a:pt x="4713801" y="2332379"/>
                  </a:lnTo>
                  <a:lnTo>
                    <a:pt x="4723398" y="2382771"/>
                  </a:lnTo>
                  <a:lnTo>
                    <a:pt x="4732552" y="2433366"/>
                  </a:lnTo>
                  <a:lnTo>
                    <a:pt x="4741261" y="2484160"/>
                  </a:lnTo>
                  <a:lnTo>
                    <a:pt x="4749521" y="2535151"/>
                  </a:lnTo>
                  <a:lnTo>
                    <a:pt x="4757331" y="2586335"/>
                  </a:lnTo>
                  <a:lnTo>
                    <a:pt x="4764688" y="2637709"/>
                  </a:lnTo>
                  <a:lnTo>
                    <a:pt x="4771589" y="2689271"/>
                  </a:lnTo>
                  <a:lnTo>
                    <a:pt x="4778032" y="2741016"/>
                  </a:lnTo>
                  <a:lnTo>
                    <a:pt x="4784013" y="2792941"/>
                  </a:lnTo>
                  <a:lnTo>
                    <a:pt x="4789531" y="2845045"/>
                  </a:lnTo>
                  <a:lnTo>
                    <a:pt x="4794583" y="2897322"/>
                  </a:lnTo>
                  <a:lnTo>
                    <a:pt x="4799165" y="2949771"/>
                  </a:lnTo>
                  <a:lnTo>
                    <a:pt x="4803277" y="3002388"/>
                  </a:lnTo>
                  <a:lnTo>
                    <a:pt x="4806915" y="3055170"/>
                  </a:lnTo>
                  <a:lnTo>
                    <a:pt x="4810075" y="3108114"/>
                  </a:lnTo>
                  <a:lnTo>
                    <a:pt x="4812757" y="3161216"/>
                  </a:lnTo>
                  <a:lnTo>
                    <a:pt x="4814957" y="3214474"/>
                  </a:lnTo>
                  <a:lnTo>
                    <a:pt x="4816673" y="3267885"/>
                  </a:lnTo>
                  <a:lnTo>
                    <a:pt x="4817901" y="3321445"/>
                  </a:lnTo>
                  <a:lnTo>
                    <a:pt x="4818641" y="3375151"/>
                  </a:lnTo>
                  <a:lnTo>
                    <a:pt x="4818888" y="3429000"/>
                  </a:lnTo>
                  <a:lnTo>
                    <a:pt x="4818641" y="3482848"/>
                  </a:lnTo>
                  <a:lnTo>
                    <a:pt x="4817901" y="3536554"/>
                  </a:lnTo>
                  <a:lnTo>
                    <a:pt x="4816673" y="3590114"/>
                  </a:lnTo>
                  <a:lnTo>
                    <a:pt x="4814957" y="3643525"/>
                  </a:lnTo>
                  <a:lnTo>
                    <a:pt x="4812757" y="3696783"/>
                  </a:lnTo>
                  <a:lnTo>
                    <a:pt x="4810075" y="3749886"/>
                  </a:lnTo>
                  <a:lnTo>
                    <a:pt x="4806915" y="3802830"/>
                  </a:lnTo>
                  <a:lnTo>
                    <a:pt x="4803277" y="3855612"/>
                  </a:lnTo>
                  <a:lnTo>
                    <a:pt x="4799165" y="3908229"/>
                  </a:lnTo>
                  <a:lnTo>
                    <a:pt x="4794583" y="3960678"/>
                  </a:lnTo>
                  <a:lnTo>
                    <a:pt x="4789531" y="4012956"/>
                  </a:lnTo>
                  <a:lnTo>
                    <a:pt x="4784013" y="4065059"/>
                  </a:lnTo>
                  <a:lnTo>
                    <a:pt x="4778032" y="4116985"/>
                  </a:lnTo>
                  <a:lnTo>
                    <a:pt x="4771589" y="4168730"/>
                  </a:lnTo>
                  <a:lnTo>
                    <a:pt x="4764688" y="4220292"/>
                  </a:lnTo>
                  <a:lnTo>
                    <a:pt x="4757331" y="4271666"/>
                  </a:lnTo>
                  <a:lnTo>
                    <a:pt x="4749521" y="4322850"/>
                  </a:lnTo>
                  <a:lnTo>
                    <a:pt x="4741261" y="4373841"/>
                  </a:lnTo>
                  <a:lnTo>
                    <a:pt x="4732552" y="4424636"/>
                  </a:lnTo>
                  <a:lnTo>
                    <a:pt x="4723398" y="4475231"/>
                  </a:lnTo>
                  <a:lnTo>
                    <a:pt x="4713801" y="4525623"/>
                  </a:lnTo>
                  <a:lnTo>
                    <a:pt x="4703764" y="4575810"/>
                  </a:lnTo>
                  <a:lnTo>
                    <a:pt x="4693289" y="4625787"/>
                  </a:lnTo>
                  <a:lnTo>
                    <a:pt x="4682379" y="4675553"/>
                  </a:lnTo>
                  <a:lnTo>
                    <a:pt x="4671037" y="4725103"/>
                  </a:lnTo>
                  <a:lnTo>
                    <a:pt x="4659265" y="4774434"/>
                  </a:lnTo>
                  <a:lnTo>
                    <a:pt x="4647065" y="4823545"/>
                  </a:lnTo>
                  <a:lnTo>
                    <a:pt x="4634441" y="4872430"/>
                  </a:lnTo>
                  <a:lnTo>
                    <a:pt x="4621395" y="4921088"/>
                  </a:lnTo>
                  <a:lnTo>
                    <a:pt x="4607929" y="4969514"/>
                  </a:lnTo>
                  <a:lnTo>
                    <a:pt x="4594047" y="5017707"/>
                  </a:lnTo>
                  <a:lnTo>
                    <a:pt x="4579750" y="5065662"/>
                  </a:lnTo>
                  <a:lnTo>
                    <a:pt x="4565041" y="5113377"/>
                  </a:lnTo>
                  <a:lnTo>
                    <a:pt x="4549924" y="5160848"/>
                  </a:lnTo>
                  <a:lnTo>
                    <a:pt x="4534400" y="5208072"/>
                  </a:lnTo>
                  <a:lnTo>
                    <a:pt x="4518472" y="5255047"/>
                  </a:lnTo>
                  <a:lnTo>
                    <a:pt x="4502142" y="5301769"/>
                  </a:lnTo>
                  <a:lnTo>
                    <a:pt x="4485414" y="5348234"/>
                  </a:lnTo>
                  <a:lnTo>
                    <a:pt x="4468290" y="5394440"/>
                  </a:lnTo>
                  <a:lnTo>
                    <a:pt x="4450772" y="5440384"/>
                  </a:lnTo>
                  <a:lnTo>
                    <a:pt x="4432863" y="5486062"/>
                  </a:lnTo>
                  <a:lnTo>
                    <a:pt x="4414566" y="5531472"/>
                  </a:lnTo>
                  <a:lnTo>
                    <a:pt x="4395884" y="5576610"/>
                  </a:lnTo>
                  <a:lnTo>
                    <a:pt x="4376818" y="5621472"/>
                  </a:lnTo>
                  <a:lnTo>
                    <a:pt x="4357371" y="5666057"/>
                  </a:lnTo>
                  <a:lnTo>
                    <a:pt x="4337547" y="5710360"/>
                  </a:lnTo>
                  <a:lnTo>
                    <a:pt x="4317347" y="5754379"/>
                  </a:lnTo>
                  <a:lnTo>
                    <a:pt x="4296774" y="5798110"/>
                  </a:lnTo>
                  <a:lnTo>
                    <a:pt x="4275832" y="5841550"/>
                  </a:lnTo>
                  <a:lnTo>
                    <a:pt x="4254521" y="5884697"/>
                  </a:lnTo>
                  <a:lnTo>
                    <a:pt x="4232846" y="5927547"/>
                  </a:lnTo>
                  <a:lnTo>
                    <a:pt x="4210808" y="5970096"/>
                  </a:lnTo>
                  <a:lnTo>
                    <a:pt x="4188411" y="6012342"/>
                  </a:lnTo>
                  <a:lnTo>
                    <a:pt x="4165656" y="6054282"/>
                  </a:lnTo>
                  <a:lnTo>
                    <a:pt x="4142547" y="6095912"/>
                  </a:lnTo>
                  <a:lnTo>
                    <a:pt x="4119086" y="6137229"/>
                  </a:lnTo>
                  <a:lnTo>
                    <a:pt x="4095275" y="6178231"/>
                  </a:lnTo>
                  <a:lnTo>
                    <a:pt x="4071117" y="6218913"/>
                  </a:lnTo>
                  <a:lnTo>
                    <a:pt x="4046616" y="6259273"/>
                  </a:lnTo>
                  <a:lnTo>
                    <a:pt x="4021772" y="6299308"/>
                  </a:lnTo>
                  <a:lnTo>
                    <a:pt x="3996590" y="6339015"/>
                  </a:lnTo>
                  <a:lnTo>
                    <a:pt x="3971071" y="6378390"/>
                  </a:lnTo>
                  <a:lnTo>
                    <a:pt x="3945219" y="6417430"/>
                  </a:lnTo>
                  <a:lnTo>
                    <a:pt x="3919035" y="6456132"/>
                  </a:lnTo>
                  <a:lnTo>
                    <a:pt x="3892522" y="6494494"/>
                  </a:lnTo>
                  <a:lnTo>
                    <a:pt x="3865684" y="6532511"/>
                  </a:lnTo>
                  <a:lnTo>
                    <a:pt x="3838522" y="6570181"/>
                  </a:lnTo>
                  <a:lnTo>
                    <a:pt x="3811039" y="6607500"/>
                  </a:lnTo>
                  <a:lnTo>
                    <a:pt x="3783238" y="6644466"/>
                  </a:lnTo>
                  <a:lnTo>
                    <a:pt x="3755121" y="6681075"/>
                  </a:lnTo>
                  <a:lnTo>
                    <a:pt x="3726691" y="6717324"/>
                  </a:lnTo>
                  <a:lnTo>
                    <a:pt x="3697951" y="6753210"/>
                  </a:lnTo>
                  <a:lnTo>
                    <a:pt x="3668903" y="6788730"/>
                  </a:lnTo>
                  <a:lnTo>
                    <a:pt x="3605911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4811395" cy="6858000"/>
            </a:xfrm>
            <a:custGeom>
              <a:avLst/>
              <a:gdLst/>
              <a:ahLst/>
              <a:cxnLst/>
              <a:rect l="l" t="t" r="r" b="b"/>
              <a:pathLst>
                <a:path w="4811395" h="6858000">
                  <a:moveTo>
                    <a:pt x="359829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3598291" y="6857999"/>
                  </a:lnTo>
                  <a:lnTo>
                    <a:pt x="3661283" y="6788730"/>
                  </a:lnTo>
                  <a:lnTo>
                    <a:pt x="3690331" y="6753210"/>
                  </a:lnTo>
                  <a:lnTo>
                    <a:pt x="3719071" y="6717324"/>
                  </a:lnTo>
                  <a:lnTo>
                    <a:pt x="3747501" y="6681075"/>
                  </a:lnTo>
                  <a:lnTo>
                    <a:pt x="3775618" y="6644466"/>
                  </a:lnTo>
                  <a:lnTo>
                    <a:pt x="3803419" y="6607500"/>
                  </a:lnTo>
                  <a:lnTo>
                    <a:pt x="3830902" y="6570181"/>
                  </a:lnTo>
                  <a:lnTo>
                    <a:pt x="3858064" y="6532511"/>
                  </a:lnTo>
                  <a:lnTo>
                    <a:pt x="3884902" y="6494494"/>
                  </a:lnTo>
                  <a:lnTo>
                    <a:pt x="3911415" y="6456132"/>
                  </a:lnTo>
                  <a:lnTo>
                    <a:pt x="3937599" y="6417430"/>
                  </a:lnTo>
                  <a:lnTo>
                    <a:pt x="3963451" y="6378390"/>
                  </a:lnTo>
                  <a:lnTo>
                    <a:pt x="3988970" y="6339015"/>
                  </a:lnTo>
                  <a:lnTo>
                    <a:pt x="4014152" y="6299308"/>
                  </a:lnTo>
                  <a:lnTo>
                    <a:pt x="4038996" y="6259273"/>
                  </a:lnTo>
                  <a:lnTo>
                    <a:pt x="4063497" y="6218913"/>
                  </a:lnTo>
                  <a:lnTo>
                    <a:pt x="4087655" y="6178231"/>
                  </a:lnTo>
                  <a:lnTo>
                    <a:pt x="4111466" y="6137229"/>
                  </a:lnTo>
                  <a:lnTo>
                    <a:pt x="4134927" y="6095912"/>
                  </a:lnTo>
                  <a:lnTo>
                    <a:pt x="4158036" y="6054282"/>
                  </a:lnTo>
                  <a:lnTo>
                    <a:pt x="4180791" y="6012342"/>
                  </a:lnTo>
                  <a:lnTo>
                    <a:pt x="4203188" y="5970096"/>
                  </a:lnTo>
                  <a:lnTo>
                    <a:pt x="4225226" y="5927547"/>
                  </a:lnTo>
                  <a:lnTo>
                    <a:pt x="4246901" y="5884697"/>
                  </a:lnTo>
                  <a:lnTo>
                    <a:pt x="4268212" y="5841550"/>
                  </a:lnTo>
                  <a:lnTo>
                    <a:pt x="4289154" y="5798110"/>
                  </a:lnTo>
                  <a:lnTo>
                    <a:pt x="4309727" y="5754379"/>
                  </a:lnTo>
                  <a:lnTo>
                    <a:pt x="4329927" y="5710360"/>
                  </a:lnTo>
                  <a:lnTo>
                    <a:pt x="4349751" y="5666057"/>
                  </a:lnTo>
                  <a:lnTo>
                    <a:pt x="4369198" y="5621472"/>
                  </a:lnTo>
                  <a:lnTo>
                    <a:pt x="4388264" y="5576610"/>
                  </a:lnTo>
                  <a:lnTo>
                    <a:pt x="4406946" y="5531472"/>
                  </a:lnTo>
                  <a:lnTo>
                    <a:pt x="4425243" y="5486062"/>
                  </a:lnTo>
                  <a:lnTo>
                    <a:pt x="4443152" y="5440384"/>
                  </a:lnTo>
                  <a:lnTo>
                    <a:pt x="4460670" y="5394440"/>
                  </a:lnTo>
                  <a:lnTo>
                    <a:pt x="4477794" y="5348234"/>
                  </a:lnTo>
                  <a:lnTo>
                    <a:pt x="4494522" y="5301769"/>
                  </a:lnTo>
                  <a:lnTo>
                    <a:pt x="4510852" y="5255047"/>
                  </a:lnTo>
                  <a:lnTo>
                    <a:pt x="4526780" y="5208072"/>
                  </a:lnTo>
                  <a:lnTo>
                    <a:pt x="4542304" y="5160848"/>
                  </a:lnTo>
                  <a:lnTo>
                    <a:pt x="4557421" y="5113377"/>
                  </a:lnTo>
                  <a:lnTo>
                    <a:pt x="4572130" y="5065662"/>
                  </a:lnTo>
                  <a:lnTo>
                    <a:pt x="4586427" y="5017707"/>
                  </a:lnTo>
                  <a:lnTo>
                    <a:pt x="4600309" y="4969514"/>
                  </a:lnTo>
                  <a:lnTo>
                    <a:pt x="4613775" y="4921088"/>
                  </a:lnTo>
                  <a:lnTo>
                    <a:pt x="4626821" y="4872430"/>
                  </a:lnTo>
                  <a:lnTo>
                    <a:pt x="4639445" y="4823545"/>
                  </a:lnTo>
                  <a:lnTo>
                    <a:pt x="4651645" y="4774434"/>
                  </a:lnTo>
                  <a:lnTo>
                    <a:pt x="4663417" y="4725103"/>
                  </a:lnTo>
                  <a:lnTo>
                    <a:pt x="4674759" y="4675553"/>
                  </a:lnTo>
                  <a:lnTo>
                    <a:pt x="4685669" y="4625787"/>
                  </a:lnTo>
                  <a:lnTo>
                    <a:pt x="4696144" y="4575810"/>
                  </a:lnTo>
                  <a:lnTo>
                    <a:pt x="4706181" y="4525623"/>
                  </a:lnTo>
                  <a:lnTo>
                    <a:pt x="4715778" y="4475231"/>
                  </a:lnTo>
                  <a:lnTo>
                    <a:pt x="4724932" y="4424636"/>
                  </a:lnTo>
                  <a:lnTo>
                    <a:pt x="4733641" y="4373841"/>
                  </a:lnTo>
                  <a:lnTo>
                    <a:pt x="4741901" y="4322850"/>
                  </a:lnTo>
                  <a:lnTo>
                    <a:pt x="4749711" y="4271666"/>
                  </a:lnTo>
                  <a:lnTo>
                    <a:pt x="4757068" y="4220292"/>
                  </a:lnTo>
                  <a:lnTo>
                    <a:pt x="4763969" y="4168730"/>
                  </a:lnTo>
                  <a:lnTo>
                    <a:pt x="4770412" y="4116985"/>
                  </a:lnTo>
                  <a:lnTo>
                    <a:pt x="4776393" y="4065059"/>
                  </a:lnTo>
                  <a:lnTo>
                    <a:pt x="4781911" y="4012956"/>
                  </a:lnTo>
                  <a:lnTo>
                    <a:pt x="4786963" y="3960678"/>
                  </a:lnTo>
                  <a:lnTo>
                    <a:pt x="4791545" y="3908229"/>
                  </a:lnTo>
                  <a:lnTo>
                    <a:pt x="4795657" y="3855612"/>
                  </a:lnTo>
                  <a:lnTo>
                    <a:pt x="4799295" y="3802830"/>
                  </a:lnTo>
                  <a:lnTo>
                    <a:pt x="4802455" y="3749886"/>
                  </a:lnTo>
                  <a:lnTo>
                    <a:pt x="4805137" y="3696783"/>
                  </a:lnTo>
                  <a:lnTo>
                    <a:pt x="4807337" y="3643525"/>
                  </a:lnTo>
                  <a:lnTo>
                    <a:pt x="4809053" y="3590114"/>
                  </a:lnTo>
                  <a:lnTo>
                    <a:pt x="4810281" y="3536554"/>
                  </a:lnTo>
                  <a:lnTo>
                    <a:pt x="4811021" y="3482848"/>
                  </a:lnTo>
                  <a:lnTo>
                    <a:pt x="4811268" y="3429000"/>
                  </a:lnTo>
                  <a:lnTo>
                    <a:pt x="4811021" y="3375151"/>
                  </a:lnTo>
                  <a:lnTo>
                    <a:pt x="4810281" y="3321445"/>
                  </a:lnTo>
                  <a:lnTo>
                    <a:pt x="4809053" y="3267885"/>
                  </a:lnTo>
                  <a:lnTo>
                    <a:pt x="4807337" y="3214474"/>
                  </a:lnTo>
                  <a:lnTo>
                    <a:pt x="4805137" y="3161216"/>
                  </a:lnTo>
                  <a:lnTo>
                    <a:pt x="4802455" y="3108114"/>
                  </a:lnTo>
                  <a:lnTo>
                    <a:pt x="4799295" y="3055170"/>
                  </a:lnTo>
                  <a:lnTo>
                    <a:pt x="4795657" y="3002388"/>
                  </a:lnTo>
                  <a:lnTo>
                    <a:pt x="4791545" y="2949771"/>
                  </a:lnTo>
                  <a:lnTo>
                    <a:pt x="4786963" y="2897322"/>
                  </a:lnTo>
                  <a:lnTo>
                    <a:pt x="4781911" y="2845045"/>
                  </a:lnTo>
                  <a:lnTo>
                    <a:pt x="4776393" y="2792941"/>
                  </a:lnTo>
                  <a:lnTo>
                    <a:pt x="4770412" y="2741016"/>
                  </a:lnTo>
                  <a:lnTo>
                    <a:pt x="4763969" y="2689271"/>
                  </a:lnTo>
                  <a:lnTo>
                    <a:pt x="4757068" y="2637709"/>
                  </a:lnTo>
                  <a:lnTo>
                    <a:pt x="4749711" y="2586335"/>
                  </a:lnTo>
                  <a:lnTo>
                    <a:pt x="4741901" y="2535151"/>
                  </a:lnTo>
                  <a:lnTo>
                    <a:pt x="4733641" y="2484160"/>
                  </a:lnTo>
                  <a:lnTo>
                    <a:pt x="4724932" y="2433366"/>
                  </a:lnTo>
                  <a:lnTo>
                    <a:pt x="4715778" y="2382771"/>
                  </a:lnTo>
                  <a:lnTo>
                    <a:pt x="4706181" y="2332379"/>
                  </a:lnTo>
                  <a:lnTo>
                    <a:pt x="4696144" y="2282193"/>
                  </a:lnTo>
                  <a:lnTo>
                    <a:pt x="4685669" y="2232215"/>
                  </a:lnTo>
                  <a:lnTo>
                    <a:pt x="4674759" y="2182450"/>
                  </a:lnTo>
                  <a:lnTo>
                    <a:pt x="4663417" y="2132900"/>
                  </a:lnTo>
                  <a:lnTo>
                    <a:pt x="4651645" y="2083568"/>
                  </a:lnTo>
                  <a:lnTo>
                    <a:pt x="4639445" y="2034458"/>
                  </a:lnTo>
                  <a:lnTo>
                    <a:pt x="4626821" y="1985573"/>
                  </a:lnTo>
                  <a:lnTo>
                    <a:pt x="4613775" y="1936915"/>
                  </a:lnTo>
                  <a:lnTo>
                    <a:pt x="4600309" y="1888489"/>
                  </a:lnTo>
                  <a:lnTo>
                    <a:pt x="4586427" y="1840296"/>
                  </a:lnTo>
                  <a:lnTo>
                    <a:pt x="4572130" y="1792341"/>
                  </a:lnTo>
                  <a:lnTo>
                    <a:pt x="4557421" y="1744626"/>
                  </a:lnTo>
                  <a:lnTo>
                    <a:pt x="4542304" y="1697154"/>
                  </a:lnTo>
                  <a:lnTo>
                    <a:pt x="4526780" y="1649930"/>
                  </a:lnTo>
                  <a:lnTo>
                    <a:pt x="4510852" y="1602955"/>
                  </a:lnTo>
                  <a:lnTo>
                    <a:pt x="4494522" y="1556233"/>
                  </a:lnTo>
                  <a:lnTo>
                    <a:pt x="4477794" y="1509767"/>
                  </a:lnTo>
                  <a:lnTo>
                    <a:pt x="4460670" y="1463560"/>
                  </a:lnTo>
                  <a:lnTo>
                    <a:pt x="4443152" y="1417616"/>
                  </a:lnTo>
                  <a:lnTo>
                    <a:pt x="4425243" y="1371937"/>
                  </a:lnTo>
                  <a:lnTo>
                    <a:pt x="4406946" y="1326527"/>
                  </a:lnTo>
                  <a:lnTo>
                    <a:pt x="4388264" y="1281389"/>
                  </a:lnTo>
                  <a:lnTo>
                    <a:pt x="4369198" y="1236526"/>
                  </a:lnTo>
                  <a:lnTo>
                    <a:pt x="4349751" y="1191941"/>
                  </a:lnTo>
                  <a:lnTo>
                    <a:pt x="4329927" y="1147637"/>
                  </a:lnTo>
                  <a:lnTo>
                    <a:pt x="4309727" y="1103617"/>
                  </a:lnTo>
                  <a:lnTo>
                    <a:pt x="4289154" y="1059885"/>
                  </a:lnTo>
                  <a:lnTo>
                    <a:pt x="4268212" y="1016443"/>
                  </a:lnTo>
                  <a:lnTo>
                    <a:pt x="4246901" y="973296"/>
                  </a:lnTo>
                  <a:lnTo>
                    <a:pt x="4225226" y="930445"/>
                  </a:lnTo>
                  <a:lnTo>
                    <a:pt x="4203188" y="887894"/>
                  </a:lnTo>
                  <a:lnTo>
                    <a:pt x="4180791" y="845647"/>
                  </a:lnTo>
                  <a:lnTo>
                    <a:pt x="4158036" y="803706"/>
                  </a:lnTo>
                  <a:lnTo>
                    <a:pt x="4134927" y="762074"/>
                  </a:lnTo>
                  <a:lnTo>
                    <a:pt x="4111466" y="720756"/>
                  </a:lnTo>
                  <a:lnTo>
                    <a:pt x="4087655" y="679753"/>
                  </a:lnTo>
                  <a:lnTo>
                    <a:pt x="4063497" y="639068"/>
                  </a:lnTo>
                  <a:lnTo>
                    <a:pt x="4038996" y="598706"/>
                  </a:lnTo>
                  <a:lnTo>
                    <a:pt x="4014152" y="558669"/>
                  </a:lnTo>
                  <a:lnTo>
                    <a:pt x="3988970" y="518961"/>
                  </a:lnTo>
                  <a:lnTo>
                    <a:pt x="3963451" y="479584"/>
                  </a:lnTo>
                  <a:lnTo>
                    <a:pt x="3937599" y="440542"/>
                  </a:lnTo>
                  <a:lnTo>
                    <a:pt x="3911415" y="401837"/>
                  </a:lnTo>
                  <a:lnTo>
                    <a:pt x="3884902" y="363473"/>
                  </a:lnTo>
                  <a:lnTo>
                    <a:pt x="3858064" y="325454"/>
                  </a:lnTo>
                  <a:lnTo>
                    <a:pt x="3830902" y="287781"/>
                  </a:lnTo>
                  <a:lnTo>
                    <a:pt x="3803419" y="250459"/>
                  </a:lnTo>
                  <a:lnTo>
                    <a:pt x="3775618" y="213491"/>
                  </a:lnTo>
                  <a:lnTo>
                    <a:pt x="3747501" y="176879"/>
                  </a:lnTo>
                  <a:lnTo>
                    <a:pt x="3719071" y="140627"/>
                  </a:lnTo>
                  <a:lnTo>
                    <a:pt x="3690331" y="104738"/>
                  </a:lnTo>
                  <a:lnTo>
                    <a:pt x="3661283" y="69215"/>
                  </a:lnTo>
                  <a:lnTo>
                    <a:pt x="35982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00531" y="2770758"/>
            <a:ext cx="266509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20" dirty="0">
                <a:latin typeface="Calibri Light"/>
                <a:cs typeface="Calibri Light"/>
              </a:rPr>
              <a:t>Third</a:t>
            </a:r>
            <a:r>
              <a:rPr sz="4000" spc="-190" dirty="0">
                <a:latin typeface="Calibri Light"/>
                <a:cs typeface="Calibri Light"/>
              </a:rPr>
              <a:t> </a:t>
            </a:r>
            <a:r>
              <a:rPr sz="4000" spc="-35" dirty="0">
                <a:latin typeface="Calibri Light"/>
                <a:cs typeface="Calibri Light"/>
              </a:rPr>
              <a:t>Normal </a:t>
            </a:r>
            <a:r>
              <a:rPr sz="4000" spc="-20" dirty="0">
                <a:latin typeface="Calibri Light"/>
                <a:cs typeface="Calibri Light"/>
              </a:rPr>
              <a:t>Form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101339"/>
            <a:ext cx="128270" cy="655320"/>
          </a:xfrm>
          <a:custGeom>
            <a:avLst/>
            <a:gdLst/>
            <a:ahLst/>
            <a:cxnLst/>
            <a:rect l="l" t="t" r="r" b="b"/>
            <a:pathLst>
              <a:path w="128270" h="655320">
                <a:moveTo>
                  <a:pt x="128016" y="0"/>
                </a:moveTo>
                <a:lnTo>
                  <a:pt x="0" y="0"/>
                </a:lnTo>
                <a:lnTo>
                  <a:pt x="0" y="655320"/>
                </a:lnTo>
                <a:lnTo>
                  <a:pt x="128016" y="655320"/>
                </a:lnTo>
                <a:lnTo>
                  <a:pt x="12801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25695" y="243078"/>
            <a:ext cx="6925309" cy="46805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normal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reduce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transitive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dependency</a:t>
            </a:r>
            <a:endParaRPr sz="1800">
              <a:latin typeface="Calibri"/>
              <a:cs typeface="Calibri"/>
            </a:endParaRPr>
          </a:p>
          <a:p>
            <a:pPr marL="241300" marR="6350" indent="-228600" algn="just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3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dependent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3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dependent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3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said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spc="-10" dirty="0">
                <a:latin typeface="Calibri"/>
                <a:cs typeface="Calibri"/>
              </a:rPr>
              <a:t>transitively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dependent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relation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3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3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3NF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3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2NF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3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non-</a:t>
            </a:r>
            <a:r>
              <a:rPr sz="1800" dirty="0">
                <a:latin typeface="Calibri"/>
                <a:cs typeface="Calibri"/>
              </a:rPr>
              <a:t>key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attribute</a:t>
            </a:r>
            <a:r>
              <a:rPr sz="1800" spc="4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relation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transitively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dependent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primary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key</a:t>
            </a:r>
            <a:endParaRPr sz="1800">
              <a:latin typeface="Calibri"/>
              <a:cs typeface="Calibri"/>
            </a:endParaRPr>
          </a:p>
          <a:p>
            <a:pPr marL="240665" indent="-227965" algn="just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3NF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prohibits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transitive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dependencies</a:t>
            </a:r>
            <a:endParaRPr sz="180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8000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1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above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1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hours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depends</a:t>
            </a:r>
            <a:r>
              <a:rPr sz="1800" spc="1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Subject</a:t>
            </a:r>
            <a:r>
              <a:rPr sz="1800" spc="1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Subject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depends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on </a:t>
            </a:r>
            <a:r>
              <a:rPr sz="1800" dirty="0">
                <a:latin typeface="Calibri"/>
                <a:cs typeface="Calibri"/>
              </a:rPr>
              <a:t>Faculty</a:t>
            </a:r>
            <a:r>
              <a:rPr sz="1800" spc="4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Code.</a:t>
            </a:r>
            <a:r>
              <a:rPr sz="1800" spc="4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Hence</a:t>
            </a:r>
            <a:r>
              <a:rPr sz="1800" spc="459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4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exists</a:t>
            </a:r>
            <a:r>
              <a:rPr sz="1800" spc="4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4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transitive</a:t>
            </a:r>
            <a:r>
              <a:rPr sz="1800" spc="4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dependency</a:t>
            </a:r>
            <a:r>
              <a:rPr sz="1800" spc="4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between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three.</a:t>
            </a:r>
            <a:endParaRPr sz="1800">
              <a:latin typeface="Calibri"/>
              <a:cs typeface="Calibri"/>
            </a:endParaRPr>
          </a:p>
          <a:p>
            <a:pPr marL="241300" marR="7620" indent="-228600" algn="just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faculty</a:t>
            </a:r>
            <a:r>
              <a:rPr sz="1800" spc="1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deleted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information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regarding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subject</a:t>
            </a:r>
            <a:r>
              <a:rPr sz="1800" spc="1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spc="-20" dirty="0">
                <a:latin typeface="Calibri"/>
                <a:cs typeface="Calibri"/>
              </a:rPr>
              <a:t>lost</a:t>
            </a:r>
            <a:endParaRPr sz="1800">
              <a:latin typeface="Calibri"/>
              <a:cs typeface="Calibri"/>
            </a:endParaRPr>
          </a:p>
          <a:p>
            <a:pPr marL="241300" marR="6350" indent="-228600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3NF</a:t>
            </a:r>
            <a:r>
              <a:rPr sz="1800" spc="-10" dirty="0">
                <a:latin typeface="Calibri"/>
                <a:cs typeface="Calibri"/>
              </a:rPr>
              <a:t> transitive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dependency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removed.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3NF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becomes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697865" algn="l"/>
              </a:tabLst>
            </a:pPr>
            <a:r>
              <a:rPr sz="1800" spc="-10" dirty="0">
                <a:latin typeface="Calibri"/>
                <a:cs typeface="Calibri"/>
              </a:rPr>
              <a:t>Faculty_Subject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(Faculty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Subject)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697865" algn="l"/>
              </a:tabLst>
            </a:pPr>
            <a:r>
              <a:rPr sz="1800" dirty="0">
                <a:latin typeface="Calibri"/>
                <a:cs typeface="Calibri"/>
              </a:rPr>
              <a:t>Subject_Hours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(Subject,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Hours)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spc="-10" dirty="0">
                <a:latin typeface="Calibri"/>
                <a:cs typeface="Calibri"/>
              </a:rPr>
              <a:t>Advantages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382895" y="4905882"/>
            <a:ext cx="6468745" cy="130619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241300" marR="6350" indent="-228600">
              <a:lnSpc>
                <a:spcPts val="1730"/>
              </a:lnSpc>
              <a:spcBef>
                <a:spcPts val="51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No</a:t>
            </a:r>
            <a:r>
              <a:rPr sz="1800" spc="5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redundancy</a:t>
            </a:r>
            <a:r>
              <a:rPr sz="1800" spc="6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5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5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5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subject</a:t>
            </a:r>
            <a:r>
              <a:rPr sz="1800" spc="5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5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hours</a:t>
            </a:r>
            <a:r>
              <a:rPr sz="1800" spc="5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while</a:t>
            </a:r>
            <a:r>
              <a:rPr sz="1800" spc="50" dirty="0">
                <a:latin typeface="Calibri"/>
                <a:cs typeface="Calibri"/>
              </a:rPr>
              <a:t>  </a:t>
            </a:r>
            <a:r>
              <a:rPr sz="1800" spc="-10" dirty="0">
                <a:latin typeface="Calibri"/>
                <a:cs typeface="Calibri"/>
              </a:rPr>
              <a:t>inserting records</a:t>
            </a:r>
            <a:endParaRPr sz="18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515"/>
              </a:spcBef>
              <a:buFont typeface="Arial MT"/>
              <a:buChar char="•"/>
              <a:tabLst>
                <a:tab pos="241300" algn="l"/>
                <a:tab pos="1065530" algn="l"/>
                <a:tab pos="1553210" algn="l"/>
                <a:tab pos="2218055" algn="l"/>
                <a:tab pos="2654935" algn="l"/>
                <a:tab pos="3385820" algn="l"/>
                <a:tab pos="3695065" algn="l"/>
                <a:tab pos="4636770" algn="l"/>
                <a:tab pos="5243830" algn="l"/>
                <a:tab pos="5591175" algn="l"/>
              </a:tabLst>
            </a:pPr>
            <a:r>
              <a:rPr sz="1800" spc="-10" dirty="0">
                <a:latin typeface="Calibri"/>
                <a:cs typeface="Calibri"/>
              </a:rPr>
              <a:t>Subject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and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hours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are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stored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in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separate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table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so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Updation </a:t>
            </a:r>
            <a:r>
              <a:rPr sz="1800" dirty="0">
                <a:latin typeface="Calibri"/>
                <a:cs typeface="Calibri"/>
              </a:rPr>
              <a:t>becomes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easier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Even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faculty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record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deleted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subject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hours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still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retrieved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4588510" cy="6867525"/>
            <a:chOff x="-4762" y="-4762"/>
            <a:chExt cx="458851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3072" y="0"/>
              <a:ext cx="1340357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4456430" cy="6858000"/>
            </a:xfrm>
            <a:custGeom>
              <a:avLst/>
              <a:gdLst/>
              <a:ahLst/>
              <a:cxnLst/>
              <a:rect l="l" t="t" r="r" b="b"/>
              <a:pathLst>
                <a:path w="4456430" h="6858000">
                  <a:moveTo>
                    <a:pt x="3243072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3243072" y="6857999"/>
                  </a:lnTo>
                  <a:lnTo>
                    <a:pt x="3306064" y="6788730"/>
                  </a:lnTo>
                  <a:lnTo>
                    <a:pt x="3335112" y="6753210"/>
                  </a:lnTo>
                  <a:lnTo>
                    <a:pt x="3363852" y="6717324"/>
                  </a:lnTo>
                  <a:lnTo>
                    <a:pt x="3392283" y="6681075"/>
                  </a:lnTo>
                  <a:lnTo>
                    <a:pt x="3420400" y="6644466"/>
                  </a:lnTo>
                  <a:lnTo>
                    <a:pt x="3448202" y="6607500"/>
                  </a:lnTo>
                  <a:lnTo>
                    <a:pt x="3475685" y="6570181"/>
                  </a:lnTo>
                  <a:lnTo>
                    <a:pt x="3502848" y="6532511"/>
                  </a:lnTo>
                  <a:lnTo>
                    <a:pt x="3529688" y="6494494"/>
                  </a:lnTo>
                  <a:lnTo>
                    <a:pt x="3556201" y="6456132"/>
                  </a:lnTo>
                  <a:lnTo>
                    <a:pt x="3582386" y="6417430"/>
                  </a:lnTo>
                  <a:lnTo>
                    <a:pt x="3608240" y="6378390"/>
                  </a:lnTo>
                  <a:lnTo>
                    <a:pt x="3633760" y="6339015"/>
                  </a:lnTo>
                  <a:lnTo>
                    <a:pt x="3658944" y="6299308"/>
                  </a:lnTo>
                  <a:lnTo>
                    <a:pt x="3683789" y="6259273"/>
                  </a:lnTo>
                  <a:lnTo>
                    <a:pt x="3708292" y="6218913"/>
                  </a:lnTo>
                  <a:lnTo>
                    <a:pt x="3732452" y="6178231"/>
                  </a:lnTo>
                  <a:lnTo>
                    <a:pt x="3756264" y="6137229"/>
                  </a:lnTo>
                  <a:lnTo>
                    <a:pt x="3779727" y="6095912"/>
                  </a:lnTo>
                  <a:lnTo>
                    <a:pt x="3802838" y="6054282"/>
                  </a:lnTo>
                  <a:lnTo>
                    <a:pt x="3825595" y="6012342"/>
                  </a:lnTo>
                  <a:lnTo>
                    <a:pt x="3847995" y="5970096"/>
                  </a:lnTo>
                  <a:lnTo>
                    <a:pt x="3870035" y="5927547"/>
                  </a:lnTo>
                  <a:lnTo>
                    <a:pt x="3891712" y="5884697"/>
                  </a:lnTo>
                  <a:lnTo>
                    <a:pt x="3913025" y="5841550"/>
                  </a:lnTo>
                  <a:lnTo>
                    <a:pt x="3933970" y="5798110"/>
                  </a:lnTo>
                  <a:lnTo>
                    <a:pt x="3954545" y="5754379"/>
                  </a:lnTo>
                  <a:lnTo>
                    <a:pt x="3974747" y="5710360"/>
                  </a:lnTo>
                  <a:lnTo>
                    <a:pt x="3994574" y="5666057"/>
                  </a:lnTo>
                  <a:lnTo>
                    <a:pt x="4014023" y="5621472"/>
                  </a:lnTo>
                  <a:lnTo>
                    <a:pt x="4033091" y="5576610"/>
                  </a:lnTo>
                  <a:lnTo>
                    <a:pt x="4051777" y="5531472"/>
                  </a:lnTo>
                  <a:lnTo>
                    <a:pt x="4070076" y="5486062"/>
                  </a:lnTo>
                  <a:lnTo>
                    <a:pt x="4087987" y="5440384"/>
                  </a:lnTo>
                  <a:lnTo>
                    <a:pt x="4105508" y="5394440"/>
                  </a:lnTo>
                  <a:lnTo>
                    <a:pt x="4122635" y="5348234"/>
                  </a:lnTo>
                  <a:lnTo>
                    <a:pt x="4139365" y="5301769"/>
                  </a:lnTo>
                  <a:lnTo>
                    <a:pt x="4155697" y="5255047"/>
                  </a:lnTo>
                  <a:lnTo>
                    <a:pt x="4171628" y="5208072"/>
                  </a:lnTo>
                  <a:lnTo>
                    <a:pt x="4187155" y="5160848"/>
                  </a:lnTo>
                  <a:lnTo>
                    <a:pt x="4202275" y="5113377"/>
                  </a:lnTo>
                  <a:lnTo>
                    <a:pt x="4216986" y="5065662"/>
                  </a:lnTo>
                  <a:lnTo>
                    <a:pt x="4231286" y="5017707"/>
                  </a:lnTo>
                  <a:lnTo>
                    <a:pt x="4245171" y="4969514"/>
                  </a:lnTo>
                  <a:lnTo>
                    <a:pt x="4258639" y="4921088"/>
                  </a:lnTo>
                  <a:lnTo>
                    <a:pt x="4271688" y="4872430"/>
                  </a:lnTo>
                  <a:lnTo>
                    <a:pt x="4284314" y="4823545"/>
                  </a:lnTo>
                  <a:lnTo>
                    <a:pt x="4296516" y="4774434"/>
                  </a:lnTo>
                  <a:lnTo>
                    <a:pt x="4308291" y="4725103"/>
                  </a:lnTo>
                  <a:lnTo>
                    <a:pt x="4319635" y="4675553"/>
                  </a:lnTo>
                  <a:lnTo>
                    <a:pt x="4330547" y="4625787"/>
                  </a:lnTo>
                  <a:lnTo>
                    <a:pt x="4341024" y="4575810"/>
                  </a:lnTo>
                  <a:lnTo>
                    <a:pt x="4351064" y="4525623"/>
                  </a:lnTo>
                  <a:lnTo>
                    <a:pt x="4360663" y="4475231"/>
                  </a:lnTo>
                  <a:lnTo>
                    <a:pt x="4369819" y="4424636"/>
                  </a:lnTo>
                  <a:lnTo>
                    <a:pt x="4378529" y="4373841"/>
                  </a:lnTo>
                  <a:lnTo>
                    <a:pt x="4386792" y="4322850"/>
                  </a:lnTo>
                  <a:lnTo>
                    <a:pt x="4394604" y="4271666"/>
                  </a:lnTo>
                  <a:lnTo>
                    <a:pt x="4401962" y="4220292"/>
                  </a:lnTo>
                  <a:lnTo>
                    <a:pt x="4408865" y="4168730"/>
                  </a:lnTo>
                  <a:lnTo>
                    <a:pt x="4415309" y="4116985"/>
                  </a:lnTo>
                  <a:lnTo>
                    <a:pt x="4421292" y="4065059"/>
                  </a:lnTo>
                  <a:lnTo>
                    <a:pt x="4426811" y="4012956"/>
                  </a:lnTo>
                  <a:lnTo>
                    <a:pt x="4431864" y="3960678"/>
                  </a:lnTo>
                  <a:lnTo>
                    <a:pt x="4436448" y="3908229"/>
                  </a:lnTo>
                  <a:lnTo>
                    <a:pt x="4440561" y="3855612"/>
                  </a:lnTo>
                  <a:lnTo>
                    <a:pt x="4444199" y="3802830"/>
                  </a:lnTo>
                  <a:lnTo>
                    <a:pt x="4447361" y="3749886"/>
                  </a:lnTo>
                  <a:lnTo>
                    <a:pt x="4450043" y="3696783"/>
                  </a:lnTo>
                  <a:lnTo>
                    <a:pt x="4452244" y="3643525"/>
                  </a:lnTo>
                  <a:lnTo>
                    <a:pt x="4453960" y="3590114"/>
                  </a:lnTo>
                  <a:lnTo>
                    <a:pt x="4455189" y="3536554"/>
                  </a:lnTo>
                  <a:lnTo>
                    <a:pt x="4455928" y="3482848"/>
                  </a:lnTo>
                  <a:lnTo>
                    <a:pt x="4456176" y="3429000"/>
                  </a:lnTo>
                  <a:lnTo>
                    <a:pt x="4455928" y="3375151"/>
                  </a:lnTo>
                  <a:lnTo>
                    <a:pt x="4455189" y="3321445"/>
                  </a:lnTo>
                  <a:lnTo>
                    <a:pt x="4453960" y="3267885"/>
                  </a:lnTo>
                  <a:lnTo>
                    <a:pt x="4452244" y="3214474"/>
                  </a:lnTo>
                  <a:lnTo>
                    <a:pt x="4450043" y="3161216"/>
                  </a:lnTo>
                  <a:lnTo>
                    <a:pt x="4447361" y="3108114"/>
                  </a:lnTo>
                  <a:lnTo>
                    <a:pt x="4444199" y="3055170"/>
                  </a:lnTo>
                  <a:lnTo>
                    <a:pt x="4440561" y="3002388"/>
                  </a:lnTo>
                  <a:lnTo>
                    <a:pt x="4436448" y="2949771"/>
                  </a:lnTo>
                  <a:lnTo>
                    <a:pt x="4431864" y="2897322"/>
                  </a:lnTo>
                  <a:lnTo>
                    <a:pt x="4426811" y="2845045"/>
                  </a:lnTo>
                  <a:lnTo>
                    <a:pt x="4421292" y="2792941"/>
                  </a:lnTo>
                  <a:lnTo>
                    <a:pt x="4415309" y="2741016"/>
                  </a:lnTo>
                  <a:lnTo>
                    <a:pt x="4408865" y="2689271"/>
                  </a:lnTo>
                  <a:lnTo>
                    <a:pt x="4401962" y="2637709"/>
                  </a:lnTo>
                  <a:lnTo>
                    <a:pt x="4394604" y="2586335"/>
                  </a:lnTo>
                  <a:lnTo>
                    <a:pt x="4386792" y="2535151"/>
                  </a:lnTo>
                  <a:lnTo>
                    <a:pt x="4378529" y="2484160"/>
                  </a:lnTo>
                  <a:lnTo>
                    <a:pt x="4369819" y="2433366"/>
                  </a:lnTo>
                  <a:lnTo>
                    <a:pt x="4360663" y="2382771"/>
                  </a:lnTo>
                  <a:lnTo>
                    <a:pt x="4351064" y="2332379"/>
                  </a:lnTo>
                  <a:lnTo>
                    <a:pt x="4341024" y="2282193"/>
                  </a:lnTo>
                  <a:lnTo>
                    <a:pt x="4330547" y="2232215"/>
                  </a:lnTo>
                  <a:lnTo>
                    <a:pt x="4319635" y="2182450"/>
                  </a:lnTo>
                  <a:lnTo>
                    <a:pt x="4308291" y="2132900"/>
                  </a:lnTo>
                  <a:lnTo>
                    <a:pt x="4296516" y="2083568"/>
                  </a:lnTo>
                  <a:lnTo>
                    <a:pt x="4284314" y="2034458"/>
                  </a:lnTo>
                  <a:lnTo>
                    <a:pt x="4271688" y="1985573"/>
                  </a:lnTo>
                  <a:lnTo>
                    <a:pt x="4258639" y="1936915"/>
                  </a:lnTo>
                  <a:lnTo>
                    <a:pt x="4245171" y="1888489"/>
                  </a:lnTo>
                  <a:lnTo>
                    <a:pt x="4231286" y="1840296"/>
                  </a:lnTo>
                  <a:lnTo>
                    <a:pt x="4216986" y="1792341"/>
                  </a:lnTo>
                  <a:lnTo>
                    <a:pt x="4202275" y="1744626"/>
                  </a:lnTo>
                  <a:lnTo>
                    <a:pt x="4187155" y="1697154"/>
                  </a:lnTo>
                  <a:lnTo>
                    <a:pt x="4171628" y="1649930"/>
                  </a:lnTo>
                  <a:lnTo>
                    <a:pt x="4155697" y="1602955"/>
                  </a:lnTo>
                  <a:lnTo>
                    <a:pt x="4139365" y="1556233"/>
                  </a:lnTo>
                  <a:lnTo>
                    <a:pt x="4122635" y="1509767"/>
                  </a:lnTo>
                  <a:lnTo>
                    <a:pt x="4105508" y="1463560"/>
                  </a:lnTo>
                  <a:lnTo>
                    <a:pt x="4087987" y="1417616"/>
                  </a:lnTo>
                  <a:lnTo>
                    <a:pt x="4070076" y="1371937"/>
                  </a:lnTo>
                  <a:lnTo>
                    <a:pt x="4051777" y="1326527"/>
                  </a:lnTo>
                  <a:lnTo>
                    <a:pt x="4033091" y="1281389"/>
                  </a:lnTo>
                  <a:lnTo>
                    <a:pt x="4014023" y="1236526"/>
                  </a:lnTo>
                  <a:lnTo>
                    <a:pt x="3994574" y="1191941"/>
                  </a:lnTo>
                  <a:lnTo>
                    <a:pt x="3974747" y="1147637"/>
                  </a:lnTo>
                  <a:lnTo>
                    <a:pt x="3954545" y="1103617"/>
                  </a:lnTo>
                  <a:lnTo>
                    <a:pt x="3933970" y="1059885"/>
                  </a:lnTo>
                  <a:lnTo>
                    <a:pt x="3913025" y="1016443"/>
                  </a:lnTo>
                  <a:lnTo>
                    <a:pt x="3891712" y="973296"/>
                  </a:lnTo>
                  <a:lnTo>
                    <a:pt x="3870035" y="930445"/>
                  </a:lnTo>
                  <a:lnTo>
                    <a:pt x="3847995" y="887894"/>
                  </a:lnTo>
                  <a:lnTo>
                    <a:pt x="3825595" y="845647"/>
                  </a:lnTo>
                  <a:lnTo>
                    <a:pt x="3802838" y="803706"/>
                  </a:lnTo>
                  <a:lnTo>
                    <a:pt x="3779727" y="762074"/>
                  </a:lnTo>
                  <a:lnTo>
                    <a:pt x="3756264" y="720756"/>
                  </a:lnTo>
                  <a:lnTo>
                    <a:pt x="3732452" y="679753"/>
                  </a:lnTo>
                  <a:lnTo>
                    <a:pt x="3708292" y="639068"/>
                  </a:lnTo>
                  <a:lnTo>
                    <a:pt x="3683789" y="598706"/>
                  </a:lnTo>
                  <a:lnTo>
                    <a:pt x="3658944" y="558669"/>
                  </a:lnTo>
                  <a:lnTo>
                    <a:pt x="3633760" y="518961"/>
                  </a:lnTo>
                  <a:lnTo>
                    <a:pt x="3608240" y="479584"/>
                  </a:lnTo>
                  <a:lnTo>
                    <a:pt x="3582386" y="440542"/>
                  </a:lnTo>
                  <a:lnTo>
                    <a:pt x="3556201" y="401837"/>
                  </a:lnTo>
                  <a:lnTo>
                    <a:pt x="3529688" y="363473"/>
                  </a:lnTo>
                  <a:lnTo>
                    <a:pt x="3502848" y="325454"/>
                  </a:lnTo>
                  <a:lnTo>
                    <a:pt x="3475685" y="287781"/>
                  </a:lnTo>
                  <a:lnTo>
                    <a:pt x="3448202" y="250459"/>
                  </a:lnTo>
                  <a:lnTo>
                    <a:pt x="3420400" y="213491"/>
                  </a:lnTo>
                  <a:lnTo>
                    <a:pt x="3392283" y="176879"/>
                  </a:lnTo>
                  <a:lnTo>
                    <a:pt x="3363852" y="140627"/>
                  </a:lnTo>
                  <a:lnTo>
                    <a:pt x="3335112" y="104738"/>
                  </a:lnTo>
                  <a:lnTo>
                    <a:pt x="3306064" y="69215"/>
                  </a:lnTo>
                  <a:lnTo>
                    <a:pt x="32430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456430" cy="6858000"/>
            </a:xfrm>
            <a:custGeom>
              <a:avLst/>
              <a:gdLst/>
              <a:ahLst/>
              <a:cxnLst/>
              <a:rect l="l" t="t" r="r" b="b"/>
              <a:pathLst>
                <a:path w="4456430" h="6858000">
                  <a:moveTo>
                    <a:pt x="0" y="0"/>
                  </a:moveTo>
                  <a:lnTo>
                    <a:pt x="3243072" y="0"/>
                  </a:lnTo>
                  <a:lnTo>
                    <a:pt x="3306064" y="69215"/>
                  </a:lnTo>
                  <a:lnTo>
                    <a:pt x="3335112" y="104738"/>
                  </a:lnTo>
                  <a:lnTo>
                    <a:pt x="3363852" y="140627"/>
                  </a:lnTo>
                  <a:lnTo>
                    <a:pt x="3392283" y="176879"/>
                  </a:lnTo>
                  <a:lnTo>
                    <a:pt x="3420400" y="213491"/>
                  </a:lnTo>
                  <a:lnTo>
                    <a:pt x="3448202" y="250459"/>
                  </a:lnTo>
                  <a:lnTo>
                    <a:pt x="3475685" y="287781"/>
                  </a:lnTo>
                  <a:lnTo>
                    <a:pt x="3502848" y="325454"/>
                  </a:lnTo>
                  <a:lnTo>
                    <a:pt x="3529688" y="363473"/>
                  </a:lnTo>
                  <a:lnTo>
                    <a:pt x="3556201" y="401837"/>
                  </a:lnTo>
                  <a:lnTo>
                    <a:pt x="3582386" y="440542"/>
                  </a:lnTo>
                  <a:lnTo>
                    <a:pt x="3608240" y="479584"/>
                  </a:lnTo>
                  <a:lnTo>
                    <a:pt x="3633760" y="518961"/>
                  </a:lnTo>
                  <a:lnTo>
                    <a:pt x="3658944" y="558669"/>
                  </a:lnTo>
                  <a:lnTo>
                    <a:pt x="3683789" y="598706"/>
                  </a:lnTo>
                  <a:lnTo>
                    <a:pt x="3708292" y="639068"/>
                  </a:lnTo>
                  <a:lnTo>
                    <a:pt x="3732452" y="679753"/>
                  </a:lnTo>
                  <a:lnTo>
                    <a:pt x="3756264" y="720756"/>
                  </a:lnTo>
                  <a:lnTo>
                    <a:pt x="3779727" y="762074"/>
                  </a:lnTo>
                  <a:lnTo>
                    <a:pt x="3802838" y="803706"/>
                  </a:lnTo>
                  <a:lnTo>
                    <a:pt x="3825595" y="845647"/>
                  </a:lnTo>
                  <a:lnTo>
                    <a:pt x="3847995" y="887894"/>
                  </a:lnTo>
                  <a:lnTo>
                    <a:pt x="3870035" y="930445"/>
                  </a:lnTo>
                  <a:lnTo>
                    <a:pt x="3891712" y="973296"/>
                  </a:lnTo>
                  <a:lnTo>
                    <a:pt x="3913025" y="1016443"/>
                  </a:lnTo>
                  <a:lnTo>
                    <a:pt x="3933970" y="1059885"/>
                  </a:lnTo>
                  <a:lnTo>
                    <a:pt x="3954545" y="1103617"/>
                  </a:lnTo>
                  <a:lnTo>
                    <a:pt x="3974747" y="1147637"/>
                  </a:lnTo>
                  <a:lnTo>
                    <a:pt x="3994574" y="1191941"/>
                  </a:lnTo>
                  <a:lnTo>
                    <a:pt x="4014023" y="1236526"/>
                  </a:lnTo>
                  <a:lnTo>
                    <a:pt x="4033091" y="1281389"/>
                  </a:lnTo>
                  <a:lnTo>
                    <a:pt x="4051777" y="1326527"/>
                  </a:lnTo>
                  <a:lnTo>
                    <a:pt x="4070076" y="1371937"/>
                  </a:lnTo>
                  <a:lnTo>
                    <a:pt x="4087987" y="1417616"/>
                  </a:lnTo>
                  <a:lnTo>
                    <a:pt x="4105508" y="1463560"/>
                  </a:lnTo>
                  <a:lnTo>
                    <a:pt x="4122635" y="1509767"/>
                  </a:lnTo>
                  <a:lnTo>
                    <a:pt x="4139365" y="1556233"/>
                  </a:lnTo>
                  <a:lnTo>
                    <a:pt x="4155697" y="1602955"/>
                  </a:lnTo>
                  <a:lnTo>
                    <a:pt x="4171628" y="1649930"/>
                  </a:lnTo>
                  <a:lnTo>
                    <a:pt x="4187155" y="1697154"/>
                  </a:lnTo>
                  <a:lnTo>
                    <a:pt x="4202275" y="1744626"/>
                  </a:lnTo>
                  <a:lnTo>
                    <a:pt x="4216986" y="1792341"/>
                  </a:lnTo>
                  <a:lnTo>
                    <a:pt x="4231286" y="1840296"/>
                  </a:lnTo>
                  <a:lnTo>
                    <a:pt x="4245171" y="1888489"/>
                  </a:lnTo>
                  <a:lnTo>
                    <a:pt x="4258639" y="1936915"/>
                  </a:lnTo>
                  <a:lnTo>
                    <a:pt x="4271688" y="1985573"/>
                  </a:lnTo>
                  <a:lnTo>
                    <a:pt x="4284314" y="2034458"/>
                  </a:lnTo>
                  <a:lnTo>
                    <a:pt x="4296516" y="2083568"/>
                  </a:lnTo>
                  <a:lnTo>
                    <a:pt x="4308291" y="2132900"/>
                  </a:lnTo>
                  <a:lnTo>
                    <a:pt x="4319635" y="2182450"/>
                  </a:lnTo>
                  <a:lnTo>
                    <a:pt x="4330547" y="2232215"/>
                  </a:lnTo>
                  <a:lnTo>
                    <a:pt x="4341024" y="2282193"/>
                  </a:lnTo>
                  <a:lnTo>
                    <a:pt x="4351064" y="2332379"/>
                  </a:lnTo>
                  <a:lnTo>
                    <a:pt x="4360663" y="2382771"/>
                  </a:lnTo>
                  <a:lnTo>
                    <a:pt x="4369819" y="2433366"/>
                  </a:lnTo>
                  <a:lnTo>
                    <a:pt x="4378529" y="2484160"/>
                  </a:lnTo>
                  <a:lnTo>
                    <a:pt x="4386792" y="2535151"/>
                  </a:lnTo>
                  <a:lnTo>
                    <a:pt x="4394604" y="2586335"/>
                  </a:lnTo>
                  <a:lnTo>
                    <a:pt x="4401962" y="2637709"/>
                  </a:lnTo>
                  <a:lnTo>
                    <a:pt x="4408865" y="2689271"/>
                  </a:lnTo>
                  <a:lnTo>
                    <a:pt x="4415309" y="2741016"/>
                  </a:lnTo>
                  <a:lnTo>
                    <a:pt x="4421292" y="2792941"/>
                  </a:lnTo>
                  <a:lnTo>
                    <a:pt x="4426811" y="2845045"/>
                  </a:lnTo>
                  <a:lnTo>
                    <a:pt x="4431864" y="2897322"/>
                  </a:lnTo>
                  <a:lnTo>
                    <a:pt x="4436448" y="2949771"/>
                  </a:lnTo>
                  <a:lnTo>
                    <a:pt x="4440561" y="3002388"/>
                  </a:lnTo>
                  <a:lnTo>
                    <a:pt x="4444199" y="3055170"/>
                  </a:lnTo>
                  <a:lnTo>
                    <a:pt x="4447361" y="3108114"/>
                  </a:lnTo>
                  <a:lnTo>
                    <a:pt x="4450043" y="3161216"/>
                  </a:lnTo>
                  <a:lnTo>
                    <a:pt x="4452244" y="3214474"/>
                  </a:lnTo>
                  <a:lnTo>
                    <a:pt x="4453960" y="3267885"/>
                  </a:lnTo>
                  <a:lnTo>
                    <a:pt x="4455189" y="3321445"/>
                  </a:lnTo>
                  <a:lnTo>
                    <a:pt x="4455928" y="3375151"/>
                  </a:lnTo>
                  <a:lnTo>
                    <a:pt x="4456176" y="3429000"/>
                  </a:lnTo>
                  <a:lnTo>
                    <a:pt x="4455928" y="3482848"/>
                  </a:lnTo>
                  <a:lnTo>
                    <a:pt x="4455189" y="3536554"/>
                  </a:lnTo>
                  <a:lnTo>
                    <a:pt x="4453960" y="3590114"/>
                  </a:lnTo>
                  <a:lnTo>
                    <a:pt x="4452244" y="3643525"/>
                  </a:lnTo>
                  <a:lnTo>
                    <a:pt x="4450043" y="3696783"/>
                  </a:lnTo>
                  <a:lnTo>
                    <a:pt x="4447361" y="3749886"/>
                  </a:lnTo>
                  <a:lnTo>
                    <a:pt x="4444199" y="3802830"/>
                  </a:lnTo>
                  <a:lnTo>
                    <a:pt x="4440561" y="3855612"/>
                  </a:lnTo>
                  <a:lnTo>
                    <a:pt x="4436448" y="3908229"/>
                  </a:lnTo>
                  <a:lnTo>
                    <a:pt x="4431864" y="3960678"/>
                  </a:lnTo>
                  <a:lnTo>
                    <a:pt x="4426811" y="4012956"/>
                  </a:lnTo>
                  <a:lnTo>
                    <a:pt x="4421292" y="4065059"/>
                  </a:lnTo>
                  <a:lnTo>
                    <a:pt x="4415309" y="4116985"/>
                  </a:lnTo>
                  <a:lnTo>
                    <a:pt x="4408865" y="4168730"/>
                  </a:lnTo>
                  <a:lnTo>
                    <a:pt x="4401962" y="4220292"/>
                  </a:lnTo>
                  <a:lnTo>
                    <a:pt x="4394604" y="4271666"/>
                  </a:lnTo>
                  <a:lnTo>
                    <a:pt x="4386792" y="4322850"/>
                  </a:lnTo>
                  <a:lnTo>
                    <a:pt x="4378529" y="4373841"/>
                  </a:lnTo>
                  <a:lnTo>
                    <a:pt x="4369819" y="4424636"/>
                  </a:lnTo>
                  <a:lnTo>
                    <a:pt x="4360663" y="4475231"/>
                  </a:lnTo>
                  <a:lnTo>
                    <a:pt x="4351064" y="4525623"/>
                  </a:lnTo>
                  <a:lnTo>
                    <a:pt x="4341024" y="4575810"/>
                  </a:lnTo>
                  <a:lnTo>
                    <a:pt x="4330547" y="4625787"/>
                  </a:lnTo>
                  <a:lnTo>
                    <a:pt x="4319635" y="4675553"/>
                  </a:lnTo>
                  <a:lnTo>
                    <a:pt x="4308291" y="4725103"/>
                  </a:lnTo>
                  <a:lnTo>
                    <a:pt x="4296516" y="4774434"/>
                  </a:lnTo>
                  <a:lnTo>
                    <a:pt x="4284314" y="4823545"/>
                  </a:lnTo>
                  <a:lnTo>
                    <a:pt x="4271688" y="4872430"/>
                  </a:lnTo>
                  <a:lnTo>
                    <a:pt x="4258639" y="4921088"/>
                  </a:lnTo>
                  <a:lnTo>
                    <a:pt x="4245171" y="4969514"/>
                  </a:lnTo>
                  <a:lnTo>
                    <a:pt x="4231286" y="5017707"/>
                  </a:lnTo>
                  <a:lnTo>
                    <a:pt x="4216986" y="5065662"/>
                  </a:lnTo>
                  <a:lnTo>
                    <a:pt x="4202275" y="5113377"/>
                  </a:lnTo>
                  <a:lnTo>
                    <a:pt x="4187155" y="5160848"/>
                  </a:lnTo>
                  <a:lnTo>
                    <a:pt x="4171628" y="5208072"/>
                  </a:lnTo>
                  <a:lnTo>
                    <a:pt x="4155697" y="5255047"/>
                  </a:lnTo>
                  <a:lnTo>
                    <a:pt x="4139365" y="5301769"/>
                  </a:lnTo>
                  <a:lnTo>
                    <a:pt x="4122635" y="5348234"/>
                  </a:lnTo>
                  <a:lnTo>
                    <a:pt x="4105508" y="5394440"/>
                  </a:lnTo>
                  <a:lnTo>
                    <a:pt x="4087987" y="5440384"/>
                  </a:lnTo>
                  <a:lnTo>
                    <a:pt x="4070076" y="5486062"/>
                  </a:lnTo>
                  <a:lnTo>
                    <a:pt x="4051777" y="5531472"/>
                  </a:lnTo>
                  <a:lnTo>
                    <a:pt x="4033091" y="5576610"/>
                  </a:lnTo>
                  <a:lnTo>
                    <a:pt x="4014023" y="5621472"/>
                  </a:lnTo>
                  <a:lnTo>
                    <a:pt x="3994574" y="5666057"/>
                  </a:lnTo>
                  <a:lnTo>
                    <a:pt x="3974747" y="5710360"/>
                  </a:lnTo>
                  <a:lnTo>
                    <a:pt x="3954545" y="5754379"/>
                  </a:lnTo>
                  <a:lnTo>
                    <a:pt x="3933970" y="5798110"/>
                  </a:lnTo>
                  <a:lnTo>
                    <a:pt x="3913025" y="5841550"/>
                  </a:lnTo>
                  <a:lnTo>
                    <a:pt x="3891712" y="5884697"/>
                  </a:lnTo>
                  <a:lnTo>
                    <a:pt x="3870035" y="5927547"/>
                  </a:lnTo>
                  <a:lnTo>
                    <a:pt x="3847995" y="5970096"/>
                  </a:lnTo>
                  <a:lnTo>
                    <a:pt x="3825595" y="6012342"/>
                  </a:lnTo>
                  <a:lnTo>
                    <a:pt x="3802838" y="6054282"/>
                  </a:lnTo>
                  <a:lnTo>
                    <a:pt x="3779727" y="6095912"/>
                  </a:lnTo>
                  <a:lnTo>
                    <a:pt x="3756264" y="6137229"/>
                  </a:lnTo>
                  <a:lnTo>
                    <a:pt x="3732452" y="6178231"/>
                  </a:lnTo>
                  <a:lnTo>
                    <a:pt x="3708292" y="6218913"/>
                  </a:lnTo>
                  <a:lnTo>
                    <a:pt x="3683789" y="6259273"/>
                  </a:lnTo>
                  <a:lnTo>
                    <a:pt x="3658944" y="6299308"/>
                  </a:lnTo>
                  <a:lnTo>
                    <a:pt x="3633760" y="6339015"/>
                  </a:lnTo>
                  <a:lnTo>
                    <a:pt x="3608240" y="6378390"/>
                  </a:lnTo>
                  <a:lnTo>
                    <a:pt x="3582386" y="6417430"/>
                  </a:lnTo>
                  <a:lnTo>
                    <a:pt x="3556201" y="6456132"/>
                  </a:lnTo>
                  <a:lnTo>
                    <a:pt x="3529688" y="6494494"/>
                  </a:lnTo>
                  <a:lnTo>
                    <a:pt x="3502848" y="6532511"/>
                  </a:lnTo>
                  <a:lnTo>
                    <a:pt x="3475685" y="6570181"/>
                  </a:lnTo>
                  <a:lnTo>
                    <a:pt x="3448202" y="6607500"/>
                  </a:lnTo>
                  <a:lnTo>
                    <a:pt x="3420400" y="6644466"/>
                  </a:lnTo>
                  <a:lnTo>
                    <a:pt x="3392283" y="6681075"/>
                  </a:lnTo>
                  <a:lnTo>
                    <a:pt x="3363852" y="6717324"/>
                  </a:lnTo>
                  <a:lnTo>
                    <a:pt x="3335112" y="6753210"/>
                  </a:lnTo>
                  <a:lnTo>
                    <a:pt x="3306064" y="6788730"/>
                  </a:lnTo>
                  <a:lnTo>
                    <a:pt x="3243072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4447540" cy="6858000"/>
            </a:xfrm>
            <a:custGeom>
              <a:avLst/>
              <a:gdLst/>
              <a:ahLst/>
              <a:cxnLst/>
              <a:rect l="l" t="t" r="r" b="b"/>
              <a:pathLst>
                <a:path w="4447540" h="6858000">
                  <a:moveTo>
                    <a:pt x="3233928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3233928" y="6857999"/>
                  </a:lnTo>
                  <a:lnTo>
                    <a:pt x="3296920" y="6788730"/>
                  </a:lnTo>
                  <a:lnTo>
                    <a:pt x="3325968" y="6753210"/>
                  </a:lnTo>
                  <a:lnTo>
                    <a:pt x="3354708" y="6717324"/>
                  </a:lnTo>
                  <a:lnTo>
                    <a:pt x="3383139" y="6681075"/>
                  </a:lnTo>
                  <a:lnTo>
                    <a:pt x="3411256" y="6644466"/>
                  </a:lnTo>
                  <a:lnTo>
                    <a:pt x="3439058" y="6607500"/>
                  </a:lnTo>
                  <a:lnTo>
                    <a:pt x="3466541" y="6570181"/>
                  </a:lnTo>
                  <a:lnTo>
                    <a:pt x="3493704" y="6532511"/>
                  </a:lnTo>
                  <a:lnTo>
                    <a:pt x="3520544" y="6494494"/>
                  </a:lnTo>
                  <a:lnTo>
                    <a:pt x="3547057" y="6456132"/>
                  </a:lnTo>
                  <a:lnTo>
                    <a:pt x="3573242" y="6417430"/>
                  </a:lnTo>
                  <a:lnTo>
                    <a:pt x="3599096" y="6378390"/>
                  </a:lnTo>
                  <a:lnTo>
                    <a:pt x="3624616" y="6339015"/>
                  </a:lnTo>
                  <a:lnTo>
                    <a:pt x="3649800" y="6299308"/>
                  </a:lnTo>
                  <a:lnTo>
                    <a:pt x="3674645" y="6259273"/>
                  </a:lnTo>
                  <a:lnTo>
                    <a:pt x="3699148" y="6218913"/>
                  </a:lnTo>
                  <a:lnTo>
                    <a:pt x="3723308" y="6178231"/>
                  </a:lnTo>
                  <a:lnTo>
                    <a:pt x="3747120" y="6137229"/>
                  </a:lnTo>
                  <a:lnTo>
                    <a:pt x="3770583" y="6095912"/>
                  </a:lnTo>
                  <a:lnTo>
                    <a:pt x="3793694" y="6054282"/>
                  </a:lnTo>
                  <a:lnTo>
                    <a:pt x="3816451" y="6012342"/>
                  </a:lnTo>
                  <a:lnTo>
                    <a:pt x="3838851" y="5970096"/>
                  </a:lnTo>
                  <a:lnTo>
                    <a:pt x="3860891" y="5927547"/>
                  </a:lnTo>
                  <a:lnTo>
                    <a:pt x="3882568" y="5884697"/>
                  </a:lnTo>
                  <a:lnTo>
                    <a:pt x="3903881" y="5841550"/>
                  </a:lnTo>
                  <a:lnTo>
                    <a:pt x="3924826" y="5798110"/>
                  </a:lnTo>
                  <a:lnTo>
                    <a:pt x="3945401" y="5754379"/>
                  </a:lnTo>
                  <a:lnTo>
                    <a:pt x="3965603" y="5710360"/>
                  </a:lnTo>
                  <a:lnTo>
                    <a:pt x="3985430" y="5666057"/>
                  </a:lnTo>
                  <a:lnTo>
                    <a:pt x="4004879" y="5621472"/>
                  </a:lnTo>
                  <a:lnTo>
                    <a:pt x="4023947" y="5576610"/>
                  </a:lnTo>
                  <a:lnTo>
                    <a:pt x="4042633" y="5531472"/>
                  </a:lnTo>
                  <a:lnTo>
                    <a:pt x="4060932" y="5486062"/>
                  </a:lnTo>
                  <a:lnTo>
                    <a:pt x="4078843" y="5440384"/>
                  </a:lnTo>
                  <a:lnTo>
                    <a:pt x="4096364" y="5394440"/>
                  </a:lnTo>
                  <a:lnTo>
                    <a:pt x="4113491" y="5348234"/>
                  </a:lnTo>
                  <a:lnTo>
                    <a:pt x="4130221" y="5301769"/>
                  </a:lnTo>
                  <a:lnTo>
                    <a:pt x="4146553" y="5255047"/>
                  </a:lnTo>
                  <a:lnTo>
                    <a:pt x="4162484" y="5208072"/>
                  </a:lnTo>
                  <a:lnTo>
                    <a:pt x="4178011" y="5160848"/>
                  </a:lnTo>
                  <a:lnTo>
                    <a:pt x="4193131" y="5113377"/>
                  </a:lnTo>
                  <a:lnTo>
                    <a:pt x="4207842" y="5065662"/>
                  </a:lnTo>
                  <a:lnTo>
                    <a:pt x="4222142" y="5017707"/>
                  </a:lnTo>
                  <a:lnTo>
                    <a:pt x="4236027" y="4969514"/>
                  </a:lnTo>
                  <a:lnTo>
                    <a:pt x="4249495" y="4921088"/>
                  </a:lnTo>
                  <a:lnTo>
                    <a:pt x="4262544" y="4872430"/>
                  </a:lnTo>
                  <a:lnTo>
                    <a:pt x="4275170" y="4823545"/>
                  </a:lnTo>
                  <a:lnTo>
                    <a:pt x="4287372" y="4774434"/>
                  </a:lnTo>
                  <a:lnTo>
                    <a:pt x="4299147" y="4725103"/>
                  </a:lnTo>
                  <a:lnTo>
                    <a:pt x="4310491" y="4675553"/>
                  </a:lnTo>
                  <a:lnTo>
                    <a:pt x="4321403" y="4625787"/>
                  </a:lnTo>
                  <a:lnTo>
                    <a:pt x="4331880" y="4575810"/>
                  </a:lnTo>
                  <a:lnTo>
                    <a:pt x="4341920" y="4525623"/>
                  </a:lnTo>
                  <a:lnTo>
                    <a:pt x="4351519" y="4475231"/>
                  </a:lnTo>
                  <a:lnTo>
                    <a:pt x="4360675" y="4424636"/>
                  </a:lnTo>
                  <a:lnTo>
                    <a:pt x="4369385" y="4373841"/>
                  </a:lnTo>
                  <a:lnTo>
                    <a:pt x="4377648" y="4322850"/>
                  </a:lnTo>
                  <a:lnTo>
                    <a:pt x="4385460" y="4271666"/>
                  </a:lnTo>
                  <a:lnTo>
                    <a:pt x="4392818" y="4220292"/>
                  </a:lnTo>
                  <a:lnTo>
                    <a:pt x="4399721" y="4168730"/>
                  </a:lnTo>
                  <a:lnTo>
                    <a:pt x="4406165" y="4116985"/>
                  </a:lnTo>
                  <a:lnTo>
                    <a:pt x="4412148" y="4065059"/>
                  </a:lnTo>
                  <a:lnTo>
                    <a:pt x="4417667" y="4012956"/>
                  </a:lnTo>
                  <a:lnTo>
                    <a:pt x="4422720" y="3960678"/>
                  </a:lnTo>
                  <a:lnTo>
                    <a:pt x="4427304" y="3908229"/>
                  </a:lnTo>
                  <a:lnTo>
                    <a:pt x="4431417" y="3855612"/>
                  </a:lnTo>
                  <a:lnTo>
                    <a:pt x="4435055" y="3802830"/>
                  </a:lnTo>
                  <a:lnTo>
                    <a:pt x="4438217" y="3749886"/>
                  </a:lnTo>
                  <a:lnTo>
                    <a:pt x="4440899" y="3696783"/>
                  </a:lnTo>
                  <a:lnTo>
                    <a:pt x="4443100" y="3643525"/>
                  </a:lnTo>
                  <a:lnTo>
                    <a:pt x="4444816" y="3590114"/>
                  </a:lnTo>
                  <a:lnTo>
                    <a:pt x="4446045" y="3536554"/>
                  </a:lnTo>
                  <a:lnTo>
                    <a:pt x="4446784" y="3482848"/>
                  </a:lnTo>
                  <a:lnTo>
                    <a:pt x="4447032" y="3429000"/>
                  </a:lnTo>
                  <a:lnTo>
                    <a:pt x="4446784" y="3375151"/>
                  </a:lnTo>
                  <a:lnTo>
                    <a:pt x="4446045" y="3321445"/>
                  </a:lnTo>
                  <a:lnTo>
                    <a:pt x="4444816" y="3267885"/>
                  </a:lnTo>
                  <a:lnTo>
                    <a:pt x="4443100" y="3214474"/>
                  </a:lnTo>
                  <a:lnTo>
                    <a:pt x="4440899" y="3161216"/>
                  </a:lnTo>
                  <a:lnTo>
                    <a:pt x="4438217" y="3108114"/>
                  </a:lnTo>
                  <a:lnTo>
                    <a:pt x="4435055" y="3055170"/>
                  </a:lnTo>
                  <a:lnTo>
                    <a:pt x="4431417" y="3002388"/>
                  </a:lnTo>
                  <a:lnTo>
                    <a:pt x="4427304" y="2949771"/>
                  </a:lnTo>
                  <a:lnTo>
                    <a:pt x="4422720" y="2897322"/>
                  </a:lnTo>
                  <a:lnTo>
                    <a:pt x="4417667" y="2845045"/>
                  </a:lnTo>
                  <a:lnTo>
                    <a:pt x="4412148" y="2792941"/>
                  </a:lnTo>
                  <a:lnTo>
                    <a:pt x="4406165" y="2741016"/>
                  </a:lnTo>
                  <a:lnTo>
                    <a:pt x="4399721" y="2689271"/>
                  </a:lnTo>
                  <a:lnTo>
                    <a:pt x="4392818" y="2637709"/>
                  </a:lnTo>
                  <a:lnTo>
                    <a:pt x="4385460" y="2586335"/>
                  </a:lnTo>
                  <a:lnTo>
                    <a:pt x="4377648" y="2535151"/>
                  </a:lnTo>
                  <a:lnTo>
                    <a:pt x="4369385" y="2484160"/>
                  </a:lnTo>
                  <a:lnTo>
                    <a:pt x="4360675" y="2433366"/>
                  </a:lnTo>
                  <a:lnTo>
                    <a:pt x="4351519" y="2382771"/>
                  </a:lnTo>
                  <a:lnTo>
                    <a:pt x="4341920" y="2332379"/>
                  </a:lnTo>
                  <a:lnTo>
                    <a:pt x="4331880" y="2282193"/>
                  </a:lnTo>
                  <a:lnTo>
                    <a:pt x="4321403" y="2232215"/>
                  </a:lnTo>
                  <a:lnTo>
                    <a:pt x="4310491" y="2182450"/>
                  </a:lnTo>
                  <a:lnTo>
                    <a:pt x="4299147" y="2132900"/>
                  </a:lnTo>
                  <a:lnTo>
                    <a:pt x="4287372" y="2083568"/>
                  </a:lnTo>
                  <a:lnTo>
                    <a:pt x="4275170" y="2034458"/>
                  </a:lnTo>
                  <a:lnTo>
                    <a:pt x="4262544" y="1985573"/>
                  </a:lnTo>
                  <a:lnTo>
                    <a:pt x="4249495" y="1936915"/>
                  </a:lnTo>
                  <a:lnTo>
                    <a:pt x="4236027" y="1888489"/>
                  </a:lnTo>
                  <a:lnTo>
                    <a:pt x="4222142" y="1840296"/>
                  </a:lnTo>
                  <a:lnTo>
                    <a:pt x="4207842" y="1792341"/>
                  </a:lnTo>
                  <a:lnTo>
                    <a:pt x="4193131" y="1744626"/>
                  </a:lnTo>
                  <a:lnTo>
                    <a:pt x="4178011" y="1697154"/>
                  </a:lnTo>
                  <a:lnTo>
                    <a:pt x="4162484" y="1649930"/>
                  </a:lnTo>
                  <a:lnTo>
                    <a:pt x="4146553" y="1602955"/>
                  </a:lnTo>
                  <a:lnTo>
                    <a:pt x="4130221" y="1556233"/>
                  </a:lnTo>
                  <a:lnTo>
                    <a:pt x="4113491" y="1509767"/>
                  </a:lnTo>
                  <a:lnTo>
                    <a:pt x="4096364" y="1463560"/>
                  </a:lnTo>
                  <a:lnTo>
                    <a:pt x="4078843" y="1417616"/>
                  </a:lnTo>
                  <a:lnTo>
                    <a:pt x="4060932" y="1371937"/>
                  </a:lnTo>
                  <a:lnTo>
                    <a:pt x="4042633" y="1326527"/>
                  </a:lnTo>
                  <a:lnTo>
                    <a:pt x="4023947" y="1281389"/>
                  </a:lnTo>
                  <a:lnTo>
                    <a:pt x="4004879" y="1236526"/>
                  </a:lnTo>
                  <a:lnTo>
                    <a:pt x="3985430" y="1191941"/>
                  </a:lnTo>
                  <a:lnTo>
                    <a:pt x="3965603" y="1147637"/>
                  </a:lnTo>
                  <a:lnTo>
                    <a:pt x="3945401" y="1103617"/>
                  </a:lnTo>
                  <a:lnTo>
                    <a:pt x="3924826" y="1059885"/>
                  </a:lnTo>
                  <a:lnTo>
                    <a:pt x="3903881" y="1016443"/>
                  </a:lnTo>
                  <a:lnTo>
                    <a:pt x="3882568" y="973296"/>
                  </a:lnTo>
                  <a:lnTo>
                    <a:pt x="3860891" y="930445"/>
                  </a:lnTo>
                  <a:lnTo>
                    <a:pt x="3838851" y="887894"/>
                  </a:lnTo>
                  <a:lnTo>
                    <a:pt x="3816451" y="845647"/>
                  </a:lnTo>
                  <a:lnTo>
                    <a:pt x="3793694" y="803706"/>
                  </a:lnTo>
                  <a:lnTo>
                    <a:pt x="3770583" y="762074"/>
                  </a:lnTo>
                  <a:lnTo>
                    <a:pt x="3747120" y="720756"/>
                  </a:lnTo>
                  <a:lnTo>
                    <a:pt x="3723308" y="679753"/>
                  </a:lnTo>
                  <a:lnTo>
                    <a:pt x="3699148" y="639068"/>
                  </a:lnTo>
                  <a:lnTo>
                    <a:pt x="3674645" y="598706"/>
                  </a:lnTo>
                  <a:lnTo>
                    <a:pt x="3649800" y="558669"/>
                  </a:lnTo>
                  <a:lnTo>
                    <a:pt x="3624616" y="518961"/>
                  </a:lnTo>
                  <a:lnTo>
                    <a:pt x="3599096" y="479584"/>
                  </a:lnTo>
                  <a:lnTo>
                    <a:pt x="3573242" y="440542"/>
                  </a:lnTo>
                  <a:lnTo>
                    <a:pt x="3547057" y="401837"/>
                  </a:lnTo>
                  <a:lnTo>
                    <a:pt x="3520544" y="363473"/>
                  </a:lnTo>
                  <a:lnTo>
                    <a:pt x="3493704" y="325454"/>
                  </a:lnTo>
                  <a:lnTo>
                    <a:pt x="3466541" y="287781"/>
                  </a:lnTo>
                  <a:lnTo>
                    <a:pt x="3439058" y="250459"/>
                  </a:lnTo>
                  <a:lnTo>
                    <a:pt x="3411256" y="213491"/>
                  </a:lnTo>
                  <a:lnTo>
                    <a:pt x="3383139" y="176879"/>
                  </a:lnTo>
                  <a:lnTo>
                    <a:pt x="3354708" y="140627"/>
                  </a:lnTo>
                  <a:lnTo>
                    <a:pt x="3325968" y="104738"/>
                  </a:lnTo>
                  <a:lnTo>
                    <a:pt x="3296920" y="69215"/>
                  </a:lnTo>
                  <a:lnTo>
                    <a:pt x="3233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5195" y="844296"/>
              <a:ext cx="548640" cy="73660"/>
            </a:xfrm>
            <a:custGeom>
              <a:avLst/>
              <a:gdLst/>
              <a:ahLst/>
              <a:cxnLst/>
              <a:rect l="l" t="t" r="r" b="b"/>
              <a:pathLst>
                <a:path w="548640" h="73659">
                  <a:moveTo>
                    <a:pt x="54864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548640" y="73151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8244" y="2442972"/>
              <a:ext cx="3337560" cy="18415"/>
            </a:xfrm>
            <a:custGeom>
              <a:avLst/>
              <a:gdLst/>
              <a:ahLst/>
              <a:cxnLst/>
              <a:rect l="l" t="t" r="r" b="b"/>
              <a:pathLst>
                <a:path w="3337560" h="18414">
                  <a:moveTo>
                    <a:pt x="3337559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3337559" y="18287"/>
                  </a:lnTo>
                  <a:lnTo>
                    <a:pt x="3337559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9986" y="2668015"/>
            <a:ext cx="2211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3600" b="1" dirty="0">
                <a:latin typeface="Calibri"/>
                <a:cs typeface="Calibri"/>
              </a:rPr>
              <a:t>3NF</a:t>
            </a:r>
            <a:r>
              <a:rPr sz="3600" b="1" spc="-6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Form: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559031" y="6464909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895850" y="1084707"/>
          <a:ext cx="6922769" cy="4879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4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2540" algn="ctr">
                        <a:lnSpc>
                          <a:spcPts val="1335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Fac_Sub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ts val="1335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Sub_Hrs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Sr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No.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Faculty</a:t>
                      </a:r>
                      <a:r>
                        <a:rPr sz="14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Code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Subject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1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0995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Subject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Hours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DSA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DSA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SS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SS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14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14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5"/>
                        </a:lnSpc>
                        <a:spcBef>
                          <a:spcPts val="414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IS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14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IS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55"/>
                        </a:lnSpc>
                        <a:spcBef>
                          <a:spcPts val="414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MIS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MIS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PM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PM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14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14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5"/>
                        </a:lnSpc>
                        <a:spcBef>
                          <a:spcPts val="414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IS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14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IS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55"/>
                        </a:lnSpc>
                        <a:spcBef>
                          <a:spcPts val="414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PW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PW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55"/>
                        </a:lnSpc>
                        <a:spcBef>
                          <a:spcPts val="409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1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5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COM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55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COM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55"/>
                        </a:lnSpc>
                        <a:spcBef>
                          <a:spcPts val="41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1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55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IP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55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IP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55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DT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DT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PCOM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8620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PCOM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SS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SS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DT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DT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DBMS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DBMS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104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IP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IP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4906645" cy="6867525"/>
            <a:chOff x="-4762" y="-4762"/>
            <a:chExt cx="4906645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5910" y="0"/>
              <a:ext cx="1295358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4819015" cy="6858000"/>
            </a:xfrm>
            <a:custGeom>
              <a:avLst/>
              <a:gdLst/>
              <a:ahLst/>
              <a:cxnLst/>
              <a:rect l="l" t="t" r="r" b="b"/>
              <a:pathLst>
                <a:path w="4819015" h="6858000">
                  <a:moveTo>
                    <a:pt x="360591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3605911" y="6857999"/>
                  </a:lnTo>
                  <a:lnTo>
                    <a:pt x="3668903" y="6788730"/>
                  </a:lnTo>
                  <a:lnTo>
                    <a:pt x="3697951" y="6753210"/>
                  </a:lnTo>
                  <a:lnTo>
                    <a:pt x="3726691" y="6717324"/>
                  </a:lnTo>
                  <a:lnTo>
                    <a:pt x="3755121" y="6681075"/>
                  </a:lnTo>
                  <a:lnTo>
                    <a:pt x="3783238" y="6644466"/>
                  </a:lnTo>
                  <a:lnTo>
                    <a:pt x="3811039" y="6607500"/>
                  </a:lnTo>
                  <a:lnTo>
                    <a:pt x="3838522" y="6570181"/>
                  </a:lnTo>
                  <a:lnTo>
                    <a:pt x="3865684" y="6532511"/>
                  </a:lnTo>
                  <a:lnTo>
                    <a:pt x="3892522" y="6494494"/>
                  </a:lnTo>
                  <a:lnTo>
                    <a:pt x="3919035" y="6456132"/>
                  </a:lnTo>
                  <a:lnTo>
                    <a:pt x="3945219" y="6417430"/>
                  </a:lnTo>
                  <a:lnTo>
                    <a:pt x="3971071" y="6378390"/>
                  </a:lnTo>
                  <a:lnTo>
                    <a:pt x="3996590" y="6339015"/>
                  </a:lnTo>
                  <a:lnTo>
                    <a:pt x="4021772" y="6299308"/>
                  </a:lnTo>
                  <a:lnTo>
                    <a:pt x="4046616" y="6259273"/>
                  </a:lnTo>
                  <a:lnTo>
                    <a:pt x="4071117" y="6218913"/>
                  </a:lnTo>
                  <a:lnTo>
                    <a:pt x="4095275" y="6178231"/>
                  </a:lnTo>
                  <a:lnTo>
                    <a:pt x="4119086" y="6137229"/>
                  </a:lnTo>
                  <a:lnTo>
                    <a:pt x="4142547" y="6095912"/>
                  </a:lnTo>
                  <a:lnTo>
                    <a:pt x="4165656" y="6054282"/>
                  </a:lnTo>
                  <a:lnTo>
                    <a:pt x="4188411" y="6012342"/>
                  </a:lnTo>
                  <a:lnTo>
                    <a:pt x="4210808" y="5970096"/>
                  </a:lnTo>
                  <a:lnTo>
                    <a:pt x="4232846" y="5927547"/>
                  </a:lnTo>
                  <a:lnTo>
                    <a:pt x="4254521" y="5884697"/>
                  </a:lnTo>
                  <a:lnTo>
                    <a:pt x="4275832" y="5841550"/>
                  </a:lnTo>
                  <a:lnTo>
                    <a:pt x="4296774" y="5798110"/>
                  </a:lnTo>
                  <a:lnTo>
                    <a:pt x="4317347" y="5754379"/>
                  </a:lnTo>
                  <a:lnTo>
                    <a:pt x="4337547" y="5710360"/>
                  </a:lnTo>
                  <a:lnTo>
                    <a:pt x="4357371" y="5666057"/>
                  </a:lnTo>
                  <a:lnTo>
                    <a:pt x="4376818" y="5621472"/>
                  </a:lnTo>
                  <a:lnTo>
                    <a:pt x="4395884" y="5576610"/>
                  </a:lnTo>
                  <a:lnTo>
                    <a:pt x="4414566" y="5531472"/>
                  </a:lnTo>
                  <a:lnTo>
                    <a:pt x="4432863" y="5486062"/>
                  </a:lnTo>
                  <a:lnTo>
                    <a:pt x="4450772" y="5440384"/>
                  </a:lnTo>
                  <a:lnTo>
                    <a:pt x="4468290" y="5394440"/>
                  </a:lnTo>
                  <a:lnTo>
                    <a:pt x="4485414" y="5348234"/>
                  </a:lnTo>
                  <a:lnTo>
                    <a:pt x="4502142" y="5301769"/>
                  </a:lnTo>
                  <a:lnTo>
                    <a:pt x="4518472" y="5255047"/>
                  </a:lnTo>
                  <a:lnTo>
                    <a:pt x="4534400" y="5208072"/>
                  </a:lnTo>
                  <a:lnTo>
                    <a:pt x="4549924" y="5160848"/>
                  </a:lnTo>
                  <a:lnTo>
                    <a:pt x="4565041" y="5113377"/>
                  </a:lnTo>
                  <a:lnTo>
                    <a:pt x="4579750" y="5065662"/>
                  </a:lnTo>
                  <a:lnTo>
                    <a:pt x="4594047" y="5017707"/>
                  </a:lnTo>
                  <a:lnTo>
                    <a:pt x="4607929" y="4969514"/>
                  </a:lnTo>
                  <a:lnTo>
                    <a:pt x="4621395" y="4921088"/>
                  </a:lnTo>
                  <a:lnTo>
                    <a:pt x="4634441" y="4872430"/>
                  </a:lnTo>
                  <a:lnTo>
                    <a:pt x="4647065" y="4823545"/>
                  </a:lnTo>
                  <a:lnTo>
                    <a:pt x="4659265" y="4774434"/>
                  </a:lnTo>
                  <a:lnTo>
                    <a:pt x="4671037" y="4725103"/>
                  </a:lnTo>
                  <a:lnTo>
                    <a:pt x="4682379" y="4675553"/>
                  </a:lnTo>
                  <a:lnTo>
                    <a:pt x="4693289" y="4625787"/>
                  </a:lnTo>
                  <a:lnTo>
                    <a:pt x="4703764" y="4575810"/>
                  </a:lnTo>
                  <a:lnTo>
                    <a:pt x="4713801" y="4525623"/>
                  </a:lnTo>
                  <a:lnTo>
                    <a:pt x="4723398" y="4475231"/>
                  </a:lnTo>
                  <a:lnTo>
                    <a:pt x="4732552" y="4424636"/>
                  </a:lnTo>
                  <a:lnTo>
                    <a:pt x="4741261" y="4373841"/>
                  </a:lnTo>
                  <a:lnTo>
                    <a:pt x="4749521" y="4322850"/>
                  </a:lnTo>
                  <a:lnTo>
                    <a:pt x="4757331" y="4271666"/>
                  </a:lnTo>
                  <a:lnTo>
                    <a:pt x="4764688" y="4220292"/>
                  </a:lnTo>
                  <a:lnTo>
                    <a:pt x="4771589" y="4168730"/>
                  </a:lnTo>
                  <a:lnTo>
                    <a:pt x="4778032" y="4116985"/>
                  </a:lnTo>
                  <a:lnTo>
                    <a:pt x="4784013" y="4065059"/>
                  </a:lnTo>
                  <a:lnTo>
                    <a:pt x="4789531" y="4012956"/>
                  </a:lnTo>
                  <a:lnTo>
                    <a:pt x="4794583" y="3960678"/>
                  </a:lnTo>
                  <a:lnTo>
                    <a:pt x="4799165" y="3908229"/>
                  </a:lnTo>
                  <a:lnTo>
                    <a:pt x="4803277" y="3855612"/>
                  </a:lnTo>
                  <a:lnTo>
                    <a:pt x="4806915" y="3802830"/>
                  </a:lnTo>
                  <a:lnTo>
                    <a:pt x="4810075" y="3749886"/>
                  </a:lnTo>
                  <a:lnTo>
                    <a:pt x="4812757" y="3696783"/>
                  </a:lnTo>
                  <a:lnTo>
                    <a:pt x="4814957" y="3643525"/>
                  </a:lnTo>
                  <a:lnTo>
                    <a:pt x="4816673" y="3590114"/>
                  </a:lnTo>
                  <a:lnTo>
                    <a:pt x="4817901" y="3536554"/>
                  </a:lnTo>
                  <a:lnTo>
                    <a:pt x="4818641" y="3482848"/>
                  </a:lnTo>
                  <a:lnTo>
                    <a:pt x="4818888" y="3429000"/>
                  </a:lnTo>
                  <a:lnTo>
                    <a:pt x="4818641" y="3375151"/>
                  </a:lnTo>
                  <a:lnTo>
                    <a:pt x="4817901" y="3321445"/>
                  </a:lnTo>
                  <a:lnTo>
                    <a:pt x="4816673" y="3267885"/>
                  </a:lnTo>
                  <a:lnTo>
                    <a:pt x="4814957" y="3214474"/>
                  </a:lnTo>
                  <a:lnTo>
                    <a:pt x="4812757" y="3161216"/>
                  </a:lnTo>
                  <a:lnTo>
                    <a:pt x="4810075" y="3108114"/>
                  </a:lnTo>
                  <a:lnTo>
                    <a:pt x="4806915" y="3055170"/>
                  </a:lnTo>
                  <a:lnTo>
                    <a:pt x="4803277" y="3002388"/>
                  </a:lnTo>
                  <a:lnTo>
                    <a:pt x="4799165" y="2949771"/>
                  </a:lnTo>
                  <a:lnTo>
                    <a:pt x="4794583" y="2897322"/>
                  </a:lnTo>
                  <a:lnTo>
                    <a:pt x="4789531" y="2845045"/>
                  </a:lnTo>
                  <a:lnTo>
                    <a:pt x="4784013" y="2792941"/>
                  </a:lnTo>
                  <a:lnTo>
                    <a:pt x="4778032" y="2741016"/>
                  </a:lnTo>
                  <a:lnTo>
                    <a:pt x="4771589" y="2689271"/>
                  </a:lnTo>
                  <a:lnTo>
                    <a:pt x="4764688" y="2637709"/>
                  </a:lnTo>
                  <a:lnTo>
                    <a:pt x="4757331" y="2586335"/>
                  </a:lnTo>
                  <a:lnTo>
                    <a:pt x="4749521" y="2535151"/>
                  </a:lnTo>
                  <a:lnTo>
                    <a:pt x="4741261" y="2484160"/>
                  </a:lnTo>
                  <a:lnTo>
                    <a:pt x="4732552" y="2433366"/>
                  </a:lnTo>
                  <a:lnTo>
                    <a:pt x="4723398" y="2382771"/>
                  </a:lnTo>
                  <a:lnTo>
                    <a:pt x="4713801" y="2332379"/>
                  </a:lnTo>
                  <a:lnTo>
                    <a:pt x="4703764" y="2282193"/>
                  </a:lnTo>
                  <a:lnTo>
                    <a:pt x="4693289" y="2232215"/>
                  </a:lnTo>
                  <a:lnTo>
                    <a:pt x="4682379" y="2182450"/>
                  </a:lnTo>
                  <a:lnTo>
                    <a:pt x="4671037" y="2132900"/>
                  </a:lnTo>
                  <a:lnTo>
                    <a:pt x="4659265" y="2083568"/>
                  </a:lnTo>
                  <a:lnTo>
                    <a:pt x="4647065" y="2034458"/>
                  </a:lnTo>
                  <a:lnTo>
                    <a:pt x="4634441" y="1985573"/>
                  </a:lnTo>
                  <a:lnTo>
                    <a:pt x="4621395" y="1936915"/>
                  </a:lnTo>
                  <a:lnTo>
                    <a:pt x="4607929" y="1888489"/>
                  </a:lnTo>
                  <a:lnTo>
                    <a:pt x="4594047" y="1840296"/>
                  </a:lnTo>
                  <a:lnTo>
                    <a:pt x="4579750" y="1792341"/>
                  </a:lnTo>
                  <a:lnTo>
                    <a:pt x="4565041" y="1744626"/>
                  </a:lnTo>
                  <a:lnTo>
                    <a:pt x="4549924" y="1697154"/>
                  </a:lnTo>
                  <a:lnTo>
                    <a:pt x="4534400" y="1649930"/>
                  </a:lnTo>
                  <a:lnTo>
                    <a:pt x="4518472" y="1602955"/>
                  </a:lnTo>
                  <a:lnTo>
                    <a:pt x="4502142" y="1556233"/>
                  </a:lnTo>
                  <a:lnTo>
                    <a:pt x="4485414" y="1509767"/>
                  </a:lnTo>
                  <a:lnTo>
                    <a:pt x="4468290" y="1463560"/>
                  </a:lnTo>
                  <a:lnTo>
                    <a:pt x="4450772" y="1417616"/>
                  </a:lnTo>
                  <a:lnTo>
                    <a:pt x="4432863" y="1371937"/>
                  </a:lnTo>
                  <a:lnTo>
                    <a:pt x="4414566" y="1326527"/>
                  </a:lnTo>
                  <a:lnTo>
                    <a:pt x="4395884" y="1281389"/>
                  </a:lnTo>
                  <a:lnTo>
                    <a:pt x="4376818" y="1236526"/>
                  </a:lnTo>
                  <a:lnTo>
                    <a:pt x="4357371" y="1191941"/>
                  </a:lnTo>
                  <a:lnTo>
                    <a:pt x="4337547" y="1147637"/>
                  </a:lnTo>
                  <a:lnTo>
                    <a:pt x="4317347" y="1103617"/>
                  </a:lnTo>
                  <a:lnTo>
                    <a:pt x="4296774" y="1059885"/>
                  </a:lnTo>
                  <a:lnTo>
                    <a:pt x="4275832" y="1016443"/>
                  </a:lnTo>
                  <a:lnTo>
                    <a:pt x="4254521" y="973296"/>
                  </a:lnTo>
                  <a:lnTo>
                    <a:pt x="4232846" y="930445"/>
                  </a:lnTo>
                  <a:lnTo>
                    <a:pt x="4210808" y="887894"/>
                  </a:lnTo>
                  <a:lnTo>
                    <a:pt x="4188411" y="845647"/>
                  </a:lnTo>
                  <a:lnTo>
                    <a:pt x="4165656" y="803706"/>
                  </a:lnTo>
                  <a:lnTo>
                    <a:pt x="4142547" y="762074"/>
                  </a:lnTo>
                  <a:lnTo>
                    <a:pt x="4119086" y="720756"/>
                  </a:lnTo>
                  <a:lnTo>
                    <a:pt x="4095275" y="679753"/>
                  </a:lnTo>
                  <a:lnTo>
                    <a:pt x="4071117" y="639068"/>
                  </a:lnTo>
                  <a:lnTo>
                    <a:pt x="4046616" y="598706"/>
                  </a:lnTo>
                  <a:lnTo>
                    <a:pt x="4021772" y="558669"/>
                  </a:lnTo>
                  <a:lnTo>
                    <a:pt x="3996590" y="518961"/>
                  </a:lnTo>
                  <a:lnTo>
                    <a:pt x="3971071" y="479584"/>
                  </a:lnTo>
                  <a:lnTo>
                    <a:pt x="3945219" y="440542"/>
                  </a:lnTo>
                  <a:lnTo>
                    <a:pt x="3919035" y="401837"/>
                  </a:lnTo>
                  <a:lnTo>
                    <a:pt x="3892522" y="363473"/>
                  </a:lnTo>
                  <a:lnTo>
                    <a:pt x="3865684" y="325454"/>
                  </a:lnTo>
                  <a:lnTo>
                    <a:pt x="3838522" y="287781"/>
                  </a:lnTo>
                  <a:lnTo>
                    <a:pt x="3811039" y="250459"/>
                  </a:lnTo>
                  <a:lnTo>
                    <a:pt x="3783238" y="213491"/>
                  </a:lnTo>
                  <a:lnTo>
                    <a:pt x="3755121" y="176879"/>
                  </a:lnTo>
                  <a:lnTo>
                    <a:pt x="3726691" y="140627"/>
                  </a:lnTo>
                  <a:lnTo>
                    <a:pt x="3697951" y="104738"/>
                  </a:lnTo>
                  <a:lnTo>
                    <a:pt x="3668903" y="69215"/>
                  </a:lnTo>
                  <a:lnTo>
                    <a:pt x="36059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19015" cy="6858000"/>
            </a:xfrm>
            <a:custGeom>
              <a:avLst/>
              <a:gdLst/>
              <a:ahLst/>
              <a:cxnLst/>
              <a:rect l="l" t="t" r="r" b="b"/>
              <a:pathLst>
                <a:path w="4819015" h="6858000">
                  <a:moveTo>
                    <a:pt x="0" y="0"/>
                  </a:moveTo>
                  <a:lnTo>
                    <a:pt x="3605911" y="0"/>
                  </a:lnTo>
                  <a:lnTo>
                    <a:pt x="3668903" y="69215"/>
                  </a:lnTo>
                  <a:lnTo>
                    <a:pt x="3697951" y="104738"/>
                  </a:lnTo>
                  <a:lnTo>
                    <a:pt x="3726691" y="140627"/>
                  </a:lnTo>
                  <a:lnTo>
                    <a:pt x="3755121" y="176879"/>
                  </a:lnTo>
                  <a:lnTo>
                    <a:pt x="3783238" y="213491"/>
                  </a:lnTo>
                  <a:lnTo>
                    <a:pt x="3811039" y="250459"/>
                  </a:lnTo>
                  <a:lnTo>
                    <a:pt x="3838522" y="287781"/>
                  </a:lnTo>
                  <a:lnTo>
                    <a:pt x="3865684" y="325454"/>
                  </a:lnTo>
                  <a:lnTo>
                    <a:pt x="3892522" y="363473"/>
                  </a:lnTo>
                  <a:lnTo>
                    <a:pt x="3919035" y="401837"/>
                  </a:lnTo>
                  <a:lnTo>
                    <a:pt x="3945219" y="440542"/>
                  </a:lnTo>
                  <a:lnTo>
                    <a:pt x="3971071" y="479584"/>
                  </a:lnTo>
                  <a:lnTo>
                    <a:pt x="3996590" y="518961"/>
                  </a:lnTo>
                  <a:lnTo>
                    <a:pt x="4021772" y="558669"/>
                  </a:lnTo>
                  <a:lnTo>
                    <a:pt x="4046616" y="598706"/>
                  </a:lnTo>
                  <a:lnTo>
                    <a:pt x="4071117" y="639068"/>
                  </a:lnTo>
                  <a:lnTo>
                    <a:pt x="4095275" y="679753"/>
                  </a:lnTo>
                  <a:lnTo>
                    <a:pt x="4119086" y="720756"/>
                  </a:lnTo>
                  <a:lnTo>
                    <a:pt x="4142547" y="762074"/>
                  </a:lnTo>
                  <a:lnTo>
                    <a:pt x="4165656" y="803706"/>
                  </a:lnTo>
                  <a:lnTo>
                    <a:pt x="4188411" y="845647"/>
                  </a:lnTo>
                  <a:lnTo>
                    <a:pt x="4210808" y="887894"/>
                  </a:lnTo>
                  <a:lnTo>
                    <a:pt x="4232846" y="930445"/>
                  </a:lnTo>
                  <a:lnTo>
                    <a:pt x="4254521" y="973296"/>
                  </a:lnTo>
                  <a:lnTo>
                    <a:pt x="4275832" y="1016443"/>
                  </a:lnTo>
                  <a:lnTo>
                    <a:pt x="4296774" y="1059885"/>
                  </a:lnTo>
                  <a:lnTo>
                    <a:pt x="4317347" y="1103617"/>
                  </a:lnTo>
                  <a:lnTo>
                    <a:pt x="4337547" y="1147637"/>
                  </a:lnTo>
                  <a:lnTo>
                    <a:pt x="4357371" y="1191941"/>
                  </a:lnTo>
                  <a:lnTo>
                    <a:pt x="4376818" y="1236526"/>
                  </a:lnTo>
                  <a:lnTo>
                    <a:pt x="4395884" y="1281389"/>
                  </a:lnTo>
                  <a:lnTo>
                    <a:pt x="4414566" y="1326527"/>
                  </a:lnTo>
                  <a:lnTo>
                    <a:pt x="4432863" y="1371937"/>
                  </a:lnTo>
                  <a:lnTo>
                    <a:pt x="4450772" y="1417616"/>
                  </a:lnTo>
                  <a:lnTo>
                    <a:pt x="4468290" y="1463560"/>
                  </a:lnTo>
                  <a:lnTo>
                    <a:pt x="4485414" y="1509767"/>
                  </a:lnTo>
                  <a:lnTo>
                    <a:pt x="4502142" y="1556233"/>
                  </a:lnTo>
                  <a:lnTo>
                    <a:pt x="4518472" y="1602955"/>
                  </a:lnTo>
                  <a:lnTo>
                    <a:pt x="4534400" y="1649930"/>
                  </a:lnTo>
                  <a:lnTo>
                    <a:pt x="4549924" y="1697154"/>
                  </a:lnTo>
                  <a:lnTo>
                    <a:pt x="4565041" y="1744626"/>
                  </a:lnTo>
                  <a:lnTo>
                    <a:pt x="4579750" y="1792341"/>
                  </a:lnTo>
                  <a:lnTo>
                    <a:pt x="4594047" y="1840296"/>
                  </a:lnTo>
                  <a:lnTo>
                    <a:pt x="4607929" y="1888489"/>
                  </a:lnTo>
                  <a:lnTo>
                    <a:pt x="4621395" y="1936915"/>
                  </a:lnTo>
                  <a:lnTo>
                    <a:pt x="4634441" y="1985573"/>
                  </a:lnTo>
                  <a:lnTo>
                    <a:pt x="4647065" y="2034458"/>
                  </a:lnTo>
                  <a:lnTo>
                    <a:pt x="4659265" y="2083568"/>
                  </a:lnTo>
                  <a:lnTo>
                    <a:pt x="4671037" y="2132900"/>
                  </a:lnTo>
                  <a:lnTo>
                    <a:pt x="4682379" y="2182450"/>
                  </a:lnTo>
                  <a:lnTo>
                    <a:pt x="4693289" y="2232215"/>
                  </a:lnTo>
                  <a:lnTo>
                    <a:pt x="4703764" y="2282193"/>
                  </a:lnTo>
                  <a:lnTo>
                    <a:pt x="4713801" y="2332379"/>
                  </a:lnTo>
                  <a:lnTo>
                    <a:pt x="4723398" y="2382771"/>
                  </a:lnTo>
                  <a:lnTo>
                    <a:pt x="4732552" y="2433366"/>
                  </a:lnTo>
                  <a:lnTo>
                    <a:pt x="4741261" y="2484160"/>
                  </a:lnTo>
                  <a:lnTo>
                    <a:pt x="4749521" y="2535151"/>
                  </a:lnTo>
                  <a:lnTo>
                    <a:pt x="4757331" y="2586335"/>
                  </a:lnTo>
                  <a:lnTo>
                    <a:pt x="4764688" y="2637709"/>
                  </a:lnTo>
                  <a:lnTo>
                    <a:pt x="4771589" y="2689271"/>
                  </a:lnTo>
                  <a:lnTo>
                    <a:pt x="4778032" y="2741016"/>
                  </a:lnTo>
                  <a:lnTo>
                    <a:pt x="4784013" y="2792941"/>
                  </a:lnTo>
                  <a:lnTo>
                    <a:pt x="4789531" y="2845045"/>
                  </a:lnTo>
                  <a:lnTo>
                    <a:pt x="4794583" y="2897322"/>
                  </a:lnTo>
                  <a:lnTo>
                    <a:pt x="4799165" y="2949771"/>
                  </a:lnTo>
                  <a:lnTo>
                    <a:pt x="4803277" y="3002388"/>
                  </a:lnTo>
                  <a:lnTo>
                    <a:pt x="4806915" y="3055170"/>
                  </a:lnTo>
                  <a:lnTo>
                    <a:pt x="4810075" y="3108114"/>
                  </a:lnTo>
                  <a:lnTo>
                    <a:pt x="4812757" y="3161216"/>
                  </a:lnTo>
                  <a:lnTo>
                    <a:pt x="4814957" y="3214474"/>
                  </a:lnTo>
                  <a:lnTo>
                    <a:pt x="4816673" y="3267885"/>
                  </a:lnTo>
                  <a:lnTo>
                    <a:pt x="4817901" y="3321445"/>
                  </a:lnTo>
                  <a:lnTo>
                    <a:pt x="4818641" y="3375151"/>
                  </a:lnTo>
                  <a:lnTo>
                    <a:pt x="4818888" y="3429000"/>
                  </a:lnTo>
                  <a:lnTo>
                    <a:pt x="4818641" y="3482848"/>
                  </a:lnTo>
                  <a:lnTo>
                    <a:pt x="4817901" y="3536554"/>
                  </a:lnTo>
                  <a:lnTo>
                    <a:pt x="4816673" y="3590114"/>
                  </a:lnTo>
                  <a:lnTo>
                    <a:pt x="4814957" y="3643525"/>
                  </a:lnTo>
                  <a:lnTo>
                    <a:pt x="4812757" y="3696783"/>
                  </a:lnTo>
                  <a:lnTo>
                    <a:pt x="4810075" y="3749886"/>
                  </a:lnTo>
                  <a:lnTo>
                    <a:pt x="4806915" y="3802830"/>
                  </a:lnTo>
                  <a:lnTo>
                    <a:pt x="4803277" y="3855612"/>
                  </a:lnTo>
                  <a:lnTo>
                    <a:pt x="4799165" y="3908229"/>
                  </a:lnTo>
                  <a:lnTo>
                    <a:pt x="4794583" y="3960678"/>
                  </a:lnTo>
                  <a:lnTo>
                    <a:pt x="4789531" y="4012956"/>
                  </a:lnTo>
                  <a:lnTo>
                    <a:pt x="4784013" y="4065059"/>
                  </a:lnTo>
                  <a:lnTo>
                    <a:pt x="4778032" y="4116985"/>
                  </a:lnTo>
                  <a:lnTo>
                    <a:pt x="4771589" y="4168730"/>
                  </a:lnTo>
                  <a:lnTo>
                    <a:pt x="4764688" y="4220292"/>
                  </a:lnTo>
                  <a:lnTo>
                    <a:pt x="4757331" y="4271666"/>
                  </a:lnTo>
                  <a:lnTo>
                    <a:pt x="4749521" y="4322850"/>
                  </a:lnTo>
                  <a:lnTo>
                    <a:pt x="4741261" y="4373841"/>
                  </a:lnTo>
                  <a:lnTo>
                    <a:pt x="4732552" y="4424636"/>
                  </a:lnTo>
                  <a:lnTo>
                    <a:pt x="4723398" y="4475231"/>
                  </a:lnTo>
                  <a:lnTo>
                    <a:pt x="4713801" y="4525623"/>
                  </a:lnTo>
                  <a:lnTo>
                    <a:pt x="4703764" y="4575810"/>
                  </a:lnTo>
                  <a:lnTo>
                    <a:pt x="4693289" y="4625787"/>
                  </a:lnTo>
                  <a:lnTo>
                    <a:pt x="4682379" y="4675553"/>
                  </a:lnTo>
                  <a:lnTo>
                    <a:pt x="4671037" y="4725103"/>
                  </a:lnTo>
                  <a:lnTo>
                    <a:pt x="4659265" y="4774434"/>
                  </a:lnTo>
                  <a:lnTo>
                    <a:pt x="4647065" y="4823545"/>
                  </a:lnTo>
                  <a:lnTo>
                    <a:pt x="4634441" y="4872430"/>
                  </a:lnTo>
                  <a:lnTo>
                    <a:pt x="4621395" y="4921088"/>
                  </a:lnTo>
                  <a:lnTo>
                    <a:pt x="4607929" y="4969514"/>
                  </a:lnTo>
                  <a:lnTo>
                    <a:pt x="4594047" y="5017707"/>
                  </a:lnTo>
                  <a:lnTo>
                    <a:pt x="4579750" y="5065662"/>
                  </a:lnTo>
                  <a:lnTo>
                    <a:pt x="4565041" y="5113377"/>
                  </a:lnTo>
                  <a:lnTo>
                    <a:pt x="4549924" y="5160848"/>
                  </a:lnTo>
                  <a:lnTo>
                    <a:pt x="4534400" y="5208072"/>
                  </a:lnTo>
                  <a:lnTo>
                    <a:pt x="4518472" y="5255047"/>
                  </a:lnTo>
                  <a:lnTo>
                    <a:pt x="4502142" y="5301769"/>
                  </a:lnTo>
                  <a:lnTo>
                    <a:pt x="4485414" y="5348234"/>
                  </a:lnTo>
                  <a:lnTo>
                    <a:pt x="4468290" y="5394440"/>
                  </a:lnTo>
                  <a:lnTo>
                    <a:pt x="4450772" y="5440384"/>
                  </a:lnTo>
                  <a:lnTo>
                    <a:pt x="4432863" y="5486062"/>
                  </a:lnTo>
                  <a:lnTo>
                    <a:pt x="4414566" y="5531472"/>
                  </a:lnTo>
                  <a:lnTo>
                    <a:pt x="4395884" y="5576610"/>
                  </a:lnTo>
                  <a:lnTo>
                    <a:pt x="4376818" y="5621472"/>
                  </a:lnTo>
                  <a:lnTo>
                    <a:pt x="4357371" y="5666057"/>
                  </a:lnTo>
                  <a:lnTo>
                    <a:pt x="4337547" y="5710360"/>
                  </a:lnTo>
                  <a:lnTo>
                    <a:pt x="4317347" y="5754379"/>
                  </a:lnTo>
                  <a:lnTo>
                    <a:pt x="4296774" y="5798110"/>
                  </a:lnTo>
                  <a:lnTo>
                    <a:pt x="4275832" y="5841550"/>
                  </a:lnTo>
                  <a:lnTo>
                    <a:pt x="4254521" y="5884697"/>
                  </a:lnTo>
                  <a:lnTo>
                    <a:pt x="4232846" y="5927547"/>
                  </a:lnTo>
                  <a:lnTo>
                    <a:pt x="4210808" y="5970096"/>
                  </a:lnTo>
                  <a:lnTo>
                    <a:pt x="4188411" y="6012342"/>
                  </a:lnTo>
                  <a:lnTo>
                    <a:pt x="4165656" y="6054282"/>
                  </a:lnTo>
                  <a:lnTo>
                    <a:pt x="4142547" y="6095912"/>
                  </a:lnTo>
                  <a:lnTo>
                    <a:pt x="4119086" y="6137229"/>
                  </a:lnTo>
                  <a:lnTo>
                    <a:pt x="4095275" y="6178231"/>
                  </a:lnTo>
                  <a:lnTo>
                    <a:pt x="4071117" y="6218913"/>
                  </a:lnTo>
                  <a:lnTo>
                    <a:pt x="4046616" y="6259273"/>
                  </a:lnTo>
                  <a:lnTo>
                    <a:pt x="4021772" y="6299308"/>
                  </a:lnTo>
                  <a:lnTo>
                    <a:pt x="3996590" y="6339015"/>
                  </a:lnTo>
                  <a:lnTo>
                    <a:pt x="3971071" y="6378390"/>
                  </a:lnTo>
                  <a:lnTo>
                    <a:pt x="3945219" y="6417430"/>
                  </a:lnTo>
                  <a:lnTo>
                    <a:pt x="3919035" y="6456132"/>
                  </a:lnTo>
                  <a:lnTo>
                    <a:pt x="3892522" y="6494494"/>
                  </a:lnTo>
                  <a:lnTo>
                    <a:pt x="3865684" y="6532511"/>
                  </a:lnTo>
                  <a:lnTo>
                    <a:pt x="3838522" y="6570181"/>
                  </a:lnTo>
                  <a:lnTo>
                    <a:pt x="3811039" y="6607500"/>
                  </a:lnTo>
                  <a:lnTo>
                    <a:pt x="3783238" y="6644466"/>
                  </a:lnTo>
                  <a:lnTo>
                    <a:pt x="3755121" y="6681075"/>
                  </a:lnTo>
                  <a:lnTo>
                    <a:pt x="3726691" y="6717324"/>
                  </a:lnTo>
                  <a:lnTo>
                    <a:pt x="3697951" y="6753210"/>
                  </a:lnTo>
                  <a:lnTo>
                    <a:pt x="3668903" y="6788730"/>
                  </a:lnTo>
                  <a:lnTo>
                    <a:pt x="3605911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4811395" cy="6858000"/>
            </a:xfrm>
            <a:custGeom>
              <a:avLst/>
              <a:gdLst/>
              <a:ahLst/>
              <a:cxnLst/>
              <a:rect l="l" t="t" r="r" b="b"/>
              <a:pathLst>
                <a:path w="4811395" h="6858000">
                  <a:moveTo>
                    <a:pt x="359829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3598291" y="6857999"/>
                  </a:lnTo>
                  <a:lnTo>
                    <a:pt x="3661283" y="6788730"/>
                  </a:lnTo>
                  <a:lnTo>
                    <a:pt x="3690331" y="6753210"/>
                  </a:lnTo>
                  <a:lnTo>
                    <a:pt x="3719071" y="6717324"/>
                  </a:lnTo>
                  <a:lnTo>
                    <a:pt x="3747501" y="6681075"/>
                  </a:lnTo>
                  <a:lnTo>
                    <a:pt x="3775618" y="6644466"/>
                  </a:lnTo>
                  <a:lnTo>
                    <a:pt x="3803419" y="6607500"/>
                  </a:lnTo>
                  <a:lnTo>
                    <a:pt x="3830902" y="6570181"/>
                  </a:lnTo>
                  <a:lnTo>
                    <a:pt x="3858064" y="6532511"/>
                  </a:lnTo>
                  <a:lnTo>
                    <a:pt x="3884902" y="6494494"/>
                  </a:lnTo>
                  <a:lnTo>
                    <a:pt x="3911415" y="6456132"/>
                  </a:lnTo>
                  <a:lnTo>
                    <a:pt x="3937599" y="6417430"/>
                  </a:lnTo>
                  <a:lnTo>
                    <a:pt x="3963451" y="6378390"/>
                  </a:lnTo>
                  <a:lnTo>
                    <a:pt x="3988970" y="6339015"/>
                  </a:lnTo>
                  <a:lnTo>
                    <a:pt x="4014152" y="6299308"/>
                  </a:lnTo>
                  <a:lnTo>
                    <a:pt x="4038996" y="6259273"/>
                  </a:lnTo>
                  <a:lnTo>
                    <a:pt x="4063497" y="6218913"/>
                  </a:lnTo>
                  <a:lnTo>
                    <a:pt x="4087655" y="6178231"/>
                  </a:lnTo>
                  <a:lnTo>
                    <a:pt x="4111466" y="6137229"/>
                  </a:lnTo>
                  <a:lnTo>
                    <a:pt x="4134927" y="6095912"/>
                  </a:lnTo>
                  <a:lnTo>
                    <a:pt x="4158036" y="6054282"/>
                  </a:lnTo>
                  <a:lnTo>
                    <a:pt x="4180791" y="6012342"/>
                  </a:lnTo>
                  <a:lnTo>
                    <a:pt x="4203188" y="5970096"/>
                  </a:lnTo>
                  <a:lnTo>
                    <a:pt x="4225226" y="5927547"/>
                  </a:lnTo>
                  <a:lnTo>
                    <a:pt x="4246901" y="5884697"/>
                  </a:lnTo>
                  <a:lnTo>
                    <a:pt x="4268212" y="5841550"/>
                  </a:lnTo>
                  <a:lnTo>
                    <a:pt x="4289154" y="5798110"/>
                  </a:lnTo>
                  <a:lnTo>
                    <a:pt x="4309727" y="5754379"/>
                  </a:lnTo>
                  <a:lnTo>
                    <a:pt x="4329927" y="5710360"/>
                  </a:lnTo>
                  <a:lnTo>
                    <a:pt x="4349751" y="5666057"/>
                  </a:lnTo>
                  <a:lnTo>
                    <a:pt x="4369198" y="5621472"/>
                  </a:lnTo>
                  <a:lnTo>
                    <a:pt x="4388264" y="5576610"/>
                  </a:lnTo>
                  <a:lnTo>
                    <a:pt x="4406946" y="5531472"/>
                  </a:lnTo>
                  <a:lnTo>
                    <a:pt x="4425243" y="5486062"/>
                  </a:lnTo>
                  <a:lnTo>
                    <a:pt x="4443152" y="5440384"/>
                  </a:lnTo>
                  <a:lnTo>
                    <a:pt x="4460670" y="5394440"/>
                  </a:lnTo>
                  <a:lnTo>
                    <a:pt x="4477794" y="5348234"/>
                  </a:lnTo>
                  <a:lnTo>
                    <a:pt x="4494522" y="5301769"/>
                  </a:lnTo>
                  <a:lnTo>
                    <a:pt x="4510852" y="5255047"/>
                  </a:lnTo>
                  <a:lnTo>
                    <a:pt x="4526780" y="5208072"/>
                  </a:lnTo>
                  <a:lnTo>
                    <a:pt x="4542304" y="5160848"/>
                  </a:lnTo>
                  <a:lnTo>
                    <a:pt x="4557421" y="5113377"/>
                  </a:lnTo>
                  <a:lnTo>
                    <a:pt x="4572130" y="5065662"/>
                  </a:lnTo>
                  <a:lnTo>
                    <a:pt x="4586427" y="5017707"/>
                  </a:lnTo>
                  <a:lnTo>
                    <a:pt x="4600309" y="4969514"/>
                  </a:lnTo>
                  <a:lnTo>
                    <a:pt x="4613775" y="4921088"/>
                  </a:lnTo>
                  <a:lnTo>
                    <a:pt x="4626821" y="4872430"/>
                  </a:lnTo>
                  <a:lnTo>
                    <a:pt x="4639445" y="4823545"/>
                  </a:lnTo>
                  <a:lnTo>
                    <a:pt x="4651645" y="4774434"/>
                  </a:lnTo>
                  <a:lnTo>
                    <a:pt x="4663417" y="4725103"/>
                  </a:lnTo>
                  <a:lnTo>
                    <a:pt x="4674759" y="4675553"/>
                  </a:lnTo>
                  <a:lnTo>
                    <a:pt x="4685669" y="4625787"/>
                  </a:lnTo>
                  <a:lnTo>
                    <a:pt x="4696144" y="4575810"/>
                  </a:lnTo>
                  <a:lnTo>
                    <a:pt x="4706181" y="4525623"/>
                  </a:lnTo>
                  <a:lnTo>
                    <a:pt x="4715778" y="4475231"/>
                  </a:lnTo>
                  <a:lnTo>
                    <a:pt x="4724932" y="4424636"/>
                  </a:lnTo>
                  <a:lnTo>
                    <a:pt x="4733641" y="4373841"/>
                  </a:lnTo>
                  <a:lnTo>
                    <a:pt x="4741901" y="4322850"/>
                  </a:lnTo>
                  <a:lnTo>
                    <a:pt x="4749711" y="4271666"/>
                  </a:lnTo>
                  <a:lnTo>
                    <a:pt x="4757068" y="4220292"/>
                  </a:lnTo>
                  <a:lnTo>
                    <a:pt x="4763969" y="4168730"/>
                  </a:lnTo>
                  <a:lnTo>
                    <a:pt x="4770412" y="4116985"/>
                  </a:lnTo>
                  <a:lnTo>
                    <a:pt x="4776393" y="4065059"/>
                  </a:lnTo>
                  <a:lnTo>
                    <a:pt x="4781911" y="4012956"/>
                  </a:lnTo>
                  <a:lnTo>
                    <a:pt x="4786963" y="3960678"/>
                  </a:lnTo>
                  <a:lnTo>
                    <a:pt x="4791545" y="3908229"/>
                  </a:lnTo>
                  <a:lnTo>
                    <a:pt x="4795657" y="3855612"/>
                  </a:lnTo>
                  <a:lnTo>
                    <a:pt x="4799295" y="3802830"/>
                  </a:lnTo>
                  <a:lnTo>
                    <a:pt x="4802455" y="3749886"/>
                  </a:lnTo>
                  <a:lnTo>
                    <a:pt x="4805137" y="3696783"/>
                  </a:lnTo>
                  <a:lnTo>
                    <a:pt x="4807337" y="3643525"/>
                  </a:lnTo>
                  <a:lnTo>
                    <a:pt x="4809053" y="3590114"/>
                  </a:lnTo>
                  <a:lnTo>
                    <a:pt x="4810281" y="3536554"/>
                  </a:lnTo>
                  <a:lnTo>
                    <a:pt x="4811021" y="3482848"/>
                  </a:lnTo>
                  <a:lnTo>
                    <a:pt x="4811268" y="3429000"/>
                  </a:lnTo>
                  <a:lnTo>
                    <a:pt x="4811021" y="3375151"/>
                  </a:lnTo>
                  <a:lnTo>
                    <a:pt x="4810281" y="3321445"/>
                  </a:lnTo>
                  <a:lnTo>
                    <a:pt x="4809053" y="3267885"/>
                  </a:lnTo>
                  <a:lnTo>
                    <a:pt x="4807337" y="3214474"/>
                  </a:lnTo>
                  <a:lnTo>
                    <a:pt x="4805137" y="3161216"/>
                  </a:lnTo>
                  <a:lnTo>
                    <a:pt x="4802455" y="3108114"/>
                  </a:lnTo>
                  <a:lnTo>
                    <a:pt x="4799295" y="3055170"/>
                  </a:lnTo>
                  <a:lnTo>
                    <a:pt x="4795657" y="3002388"/>
                  </a:lnTo>
                  <a:lnTo>
                    <a:pt x="4791545" y="2949771"/>
                  </a:lnTo>
                  <a:lnTo>
                    <a:pt x="4786963" y="2897322"/>
                  </a:lnTo>
                  <a:lnTo>
                    <a:pt x="4781911" y="2845045"/>
                  </a:lnTo>
                  <a:lnTo>
                    <a:pt x="4776393" y="2792941"/>
                  </a:lnTo>
                  <a:lnTo>
                    <a:pt x="4770412" y="2741016"/>
                  </a:lnTo>
                  <a:lnTo>
                    <a:pt x="4763969" y="2689271"/>
                  </a:lnTo>
                  <a:lnTo>
                    <a:pt x="4757068" y="2637709"/>
                  </a:lnTo>
                  <a:lnTo>
                    <a:pt x="4749711" y="2586335"/>
                  </a:lnTo>
                  <a:lnTo>
                    <a:pt x="4741901" y="2535151"/>
                  </a:lnTo>
                  <a:lnTo>
                    <a:pt x="4733641" y="2484160"/>
                  </a:lnTo>
                  <a:lnTo>
                    <a:pt x="4724932" y="2433366"/>
                  </a:lnTo>
                  <a:lnTo>
                    <a:pt x="4715778" y="2382771"/>
                  </a:lnTo>
                  <a:lnTo>
                    <a:pt x="4706181" y="2332379"/>
                  </a:lnTo>
                  <a:lnTo>
                    <a:pt x="4696144" y="2282193"/>
                  </a:lnTo>
                  <a:lnTo>
                    <a:pt x="4685669" y="2232215"/>
                  </a:lnTo>
                  <a:lnTo>
                    <a:pt x="4674759" y="2182450"/>
                  </a:lnTo>
                  <a:lnTo>
                    <a:pt x="4663417" y="2132900"/>
                  </a:lnTo>
                  <a:lnTo>
                    <a:pt x="4651645" y="2083568"/>
                  </a:lnTo>
                  <a:lnTo>
                    <a:pt x="4639445" y="2034458"/>
                  </a:lnTo>
                  <a:lnTo>
                    <a:pt x="4626821" y="1985573"/>
                  </a:lnTo>
                  <a:lnTo>
                    <a:pt x="4613775" y="1936915"/>
                  </a:lnTo>
                  <a:lnTo>
                    <a:pt x="4600309" y="1888489"/>
                  </a:lnTo>
                  <a:lnTo>
                    <a:pt x="4586427" y="1840296"/>
                  </a:lnTo>
                  <a:lnTo>
                    <a:pt x="4572130" y="1792341"/>
                  </a:lnTo>
                  <a:lnTo>
                    <a:pt x="4557421" y="1744626"/>
                  </a:lnTo>
                  <a:lnTo>
                    <a:pt x="4542304" y="1697154"/>
                  </a:lnTo>
                  <a:lnTo>
                    <a:pt x="4526780" y="1649930"/>
                  </a:lnTo>
                  <a:lnTo>
                    <a:pt x="4510852" y="1602955"/>
                  </a:lnTo>
                  <a:lnTo>
                    <a:pt x="4494522" y="1556233"/>
                  </a:lnTo>
                  <a:lnTo>
                    <a:pt x="4477794" y="1509767"/>
                  </a:lnTo>
                  <a:lnTo>
                    <a:pt x="4460670" y="1463560"/>
                  </a:lnTo>
                  <a:lnTo>
                    <a:pt x="4443152" y="1417616"/>
                  </a:lnTo>
                  <a:lnTo>
                    <a:pt x="4425243" y="1371937"/>
                  </a:lnTo>
                  <a:lnTo>
                    <a:pt x="4406946" y="1326527"/>
                  </a:lnTo>
                  <a:lnTo>
                    <a:pt x="4388264" y="1281389"/>
                  </a:lnTo>
                  <a:lnTo>
                    <a:pt x="4369198" y="1236526"/>
                  </a:lnTo>
                  <a:lnTo>
                    <a:pt x="4349751" y="1191941"/>
                  </a:lnTo>
                  <a:lnTo>
                    <a:pt x="4329927" y="1147637"/>
                  </a:lnTo>
                  <a:lnTo>
                    <a:pt x="4309727" y="1103617"/>
                  </a:lnTo>
                  <a:lnTo>
                    <a:pt x="4289154" y="1059885"/>
                  </a:lnTo>
                  <a:lnTo>
                    <a:pt x="4268212" y="1016443"/>
                  </a:lnTo>
                  <a:lnTo>
                    <a:pt x="4246901" y="973296"/>
                  </a:lnTo>
                  <a:lnTo>
                    <a:pt x="4225226" y="930445"/>
                  </a:lnTo>
                  <a:lnTo>
                    <a:pt x="4203188" y="887894"/>
                  </a:lnTo>
                  <a:lnTo>
                    <a:pt x="4180791" y="845647"/>
                  </a:lnTo>
                  <a:lnTo>
                    <a:pt x="4158036" y="803706"/>
                  </a:lnTo>
                  <a:lnTo>
                    <a:pt x="4134927" y="762074"/>
                  </a:lnTo>
                  <a:lnTo>
                    <a:pt x="4111466" y="720756"/>
                  </a:lnTo>
                  <a:lnTo>
                    <a:pt x="4087655" y="679753"/>
                  </a:lnTo>
                  <a:lnTo>
                    <a:pt x="4063497" y="639068"/>
                  </a:lnTo>
                  <a:lnTo>
                    <a:pt x="4038996" y="598706"/>
                  </a:lnTo>
                  <a:lnTo>
                    <a:pt x="4014152" y="558669"/>
                  </a:lnTo>
                  <a:lnTo>
                    <a:pt x="3988970" y="518961"/>
                  </a:lnTo>
                  <a:lnTo>
                    <a:pt x="3963451" y="479584"/>
                  </a:lnTo>
                  <a:lnTo>
                    <a:pt x="3937599" y="440542"/>
                  </a:lnTo>
                  <a:lnTo>
                    <a:pt x="3911415" y="401837"/>
                  </a:lnTo>
                  <a:lnTo>
                    <a:pt x="3884902" y="363473"/>
                  </a:lnTo>
                  <a:lnTo>
                    <a:pt x="3858064" y="325454"/>
                  </a:lnTo>
                  <a:lnTo>
                    <a:pt x="3830902" y="287781"/>
                  </a:lnTo>
                  <a:lnTo>
                    <a:pt x="3803419" y="250459"/>
                  </a:lnTo>
                  <a:lnTo>
                    <a:pt x="3775618" y="213491"/>
                  </a:lnTo>
                  <a:lnTo>
                    <a:pt x="3747501" y="176879"/>
                  </a:lnTo>
                  <a:lnTo>
                    <a:pt x="3719071" y="140627"/>
                  </a:lnTo>
                  <a:lnTo>
                    <a:pt x="3690331" y="104738"/>
                  </a:lnTo>
                  <a:lnTo>
                    <a:pt x="3661283" y="69215"/>
                  </a:lnTo>
                  <a:lnTo>
                    <a:pt x="35982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99896" y="2640914"/>
            <a:ext cx="3250565" cy="141605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992505" marR="5080" indent="-980440">
              <a:lnSpc>
                <a:spcPts val="5190"/>
              </a:lnSpc>
              <a:spcBef>
                <a:spcPts val="750"/>
              </a:spcBef>
            </a:pPr>
            <a:r>
              <a:rPr sz="4800" spc="-20" dirty="0">
                <a:latin typeface="Calibri Light"/>
                <a:cs typeface="Calibri Light"/>
              </a:rPr>
              <a:t>BCNF</a:t>
            </a:r>
            <a:r>
              <a:rPr sz="4800" spc="-225" dirty="0">
                <a:latin typeface="Calibri Light"/>
                <a:cs typeface="Calibri Light"/>
              </a:rPr>
              <a:t> </a:t>
            </a:r>
            <a:r>
              <a:rPr sz="4800" spc="-40" dirty="0">
                <a:latin typeface="Calibri Light"/>
                <a:cs typeface="Calibri Light"/>
              </a:rPr>
              <a:t>Normal </a:t>
            </a:r>
            <a:r>
              <a:rPr sz="4800" spc="-20" dirty="0">
                <a:latin typeface="Calibri Light"/>
                <a:cs typeface="Calibri Light"/>
              </a:rPr>
              <a:t>Form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101339"/>
            <a:ext cx="128270" cy="655320"/>
          </a:xfrm>
          <a:custGeom>
            <a:avLst/>
            <a:gdLst/>
            <a:ahLst/>
            <a:cxnLst/>
            <a:rect l="l" t="t" r="r" b="b"/>
            <a:pathLst>
              <a:path w="128270" h="655320">
                <a:moveTo>
                  <a:pt x="128016" y="0"/>
                </a:moveTo>
                <a:lnTo>
                  <a:pt x="0" y="0"/>
                </a:lnTo>
                <a:lnTo>
                  <a:pt x="0" y="655320"/>
                </a:lnTo>
                <a:lnTo>
                  <a:pt x="128016" y="655320"/>
                </a:lnTo>
                <a:lnTo>
                  <a:pt x="12801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513578" y="799591"/>
            <a:ext cx="6240145" cy="88011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39395" marR="5080" indent="-226695" algn="just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intention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BCNF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3NF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satisfactorily 	</a:t>
            </a:r>
            <a:r>
              <a:rPr sz="2000" dirty="0">
                <a:latin typeface="Calibri"/>
                <a:cs typeface="Calibri"/>
              </a:rPr>
              <a:t>handle</a:t>
            </a:r>
            <a:r>
              <a:rPr sz="2000" spc="4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</a:t>
            </a:r>
            <a:r>
              <a:rPr sz="2000" spc="4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4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relation</a:t>
            </a:r>
            <a:r>
              <a:rPr sz="2000" spc="4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processing</a:t>
            </a:r>
            <a:r>
              <a:rPr sz="2000" spc="4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4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more 	</a:t>
            </a:r>
            <a:r>
              <a:rPr sz="2000" dirty="0">
                <a:latin typeface="Calibri"/>
                <a:cs typeface="Calibri"/>
              </a:rPr>
              <a:t>composite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overlapping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candidate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keys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513578" y="1749298"/>
            <a:ext cx="6238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  <a:tab pos="1440815" algn="l"/>
                <a:tab pos="1941830" algn="l"/>
                <a:tab pos="2252980" algn="l"/>
                <a:tab pos="2528570" algn="l"/>
                <a:tab pos="3450590" algn="l"/>
                <a:tab pos="4218940" algn="l"/>
                <a:tab pos="4728210" algn="l"/>
                <a:tab pos="5226685" algn="l"/>
                <a:tab pos="6011545" algn="l"/>
              </a:tabLst>
            </a:pPr>
            <a:r>
              <a:rPr sz="2000" spc="-10" dirty="0">
                <a:latin typeface="Calibri"/>
                <a:cs typeface="Calibri"/>
              </a:rPr>
              <a:t>Candidate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key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is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0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column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which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ability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13578" y="1926691"/>
            <a:ext cx="6240145" cy="177990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865"/>
              </a:spcBef>
            </a:pPr>
            <a:r>
              <a:rPr sz="2000" dirty="0">
                <a:latin typeface="Calibri"/>
                <a:cs typeface="Calibri"/>
              </a:rPr>
              <a:t>become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primary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key</a:t>
            </a:r>
            <a:endParaRPr sz="2000">
              <a:latin typeface="Calibri"/>
              <a:cs typeface="Calibri"/>
            </a:endParaRPr>
          </a:p>
          <a:p>
            <a:pPr marL="241300" marR="6350" indent="-228600">
              <a:lnSpc>
                <a:spcPts val="216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  <a:tab pos="525780" algn="l"/>
                <a:tab pos="1954530" algn="l"/>
                <a:tab pos="2248535" algn="l"/>
                <a:tab pos="2752725" algn="l"/>
                <a:tab pos="3801745" algn="l"/>
                <a:tab pos="4205605" algn="l"/>
                <a:tab pos="4956810" algn="l"/>
                <a:tab pos="5656580" algn="l"/>
              </a:tabLst>
            </a:pPr>
            <a:r>
              <a:rPr sz="2000" spc="-50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determinant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is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any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attribute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on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which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some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other attribute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fully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functionally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dependent</a:t>
            </a: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ts val="216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relation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BCNF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determinant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candidate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key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13578" y="3776598"/>
            <a:ext cx="62414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1353185" algn="l"/>
                <a:tab pos="1901189" algn="l"/>
                <a:tab pos="3049905" algn="l"/>
                <a:tab pos="3775710" algn="l"/>
                <a:tab pos="4168775" algn="l"/>
                <a:tab pos="4986020" algn="l"/>
                <a:tab pos="5746115" algn="l"/>
                <a:tab pos="6106160" algn="l"/>
              </a:tabLst>
            </a:pPr>
            <a:r>
              <a:rPr sz="2000" spc="-10" dirty="0">
                <a:latin typeface="Calibri"/>
                <a:cs typeface="Calibri"/>
              </a:rPr>
              <a:t>Consider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following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table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which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there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is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13578" y="3954412"/>
            <a:ext cx="6240145" cy="177990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R="34925" algn="ctr">
              <a:lnSpc>
                <a:spcPct val="100000"/>
              </a:lnSpc>
              <a:spcBef>
                <a:spcPts val="860"/>
              </a:spcBef>
            </a:pPr>
            <a:r>
              <a:rPr sz="2000" dirty="0">
                <a:latin typeface="Calibri"/>
                <a:cs typeface="Calibri"/>
              </a:rPr>
              <a:t>dependency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(SoldierId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OfficerId)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UnitId.</a:t>
            </a:r>
            <a:endParaRPr sz="2000">
              <a:latin typeface="Calibri"/>
              <a:cs typeface="Calibri"/>
            </a:endParaRPr>
          </a:p>
          <a:p>
            <a:pPr marL="227965" indent="-227965" algn="ctr">
              <a:lnSpc>
                <a:spcPts val="2280"/>
              </a:lnSpc>
              <a:spcBef>
                <a:spcPts val="770"/>
              </a:spcBef>
              <a:buFont typeface="Arial MT"/>
              <a:buChar char="•"/>
              <a:tabLst>
                <a:tab pos="227965" algn="l"/>
              </a:tabLst>
            </a:pPr>
            <a:r>
              <a:rPr sz="2000" dirty="0">
                <a:latin typeface="Calibri"/>
                <a:cs typeface="Calibri"/>
              </a:rPr>
              <a:t>There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dependency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UnitId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OfficerId</a:t>
            </a:r>
            <a:endParaRPr sz="2000">
              <a:latin typeface="Calibri"/>
              <a:cs typeface="Calibri"/>
            </a:endParaRPr>
          </a:p>
          <a:p>
            <a:pPr marR="1950085" algn="ctr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partial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neither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transitive</a:t>
            </a: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What</a:t>
            </a:r>
            <a:r>
              <a:rPr sz="2000" spc="3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3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3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3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determinate</a:t>
            </a:r>
            <a:r>
              <a:rPr sz="2000" spc="3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31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candidate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UnitId.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solved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BCNF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24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44804"/>
            <a:ext cx="65151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u="sng" spc="-10" dirty="0">
                <a:uFill>
                  <a:solidFill>
                    <a:srgbClr val="000000"/>
                  </a:solidFill>
                </a:uFill>
              </a:rPr>
              <a:t>BCNF</a:t>
            </a:r>
            <a:r>
              <a:rPr sz="4800" u="sng" spc="-24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4800" u="sng" spc="-25" dirty="0">
                <a:uFill>
                  <a:solidFill>
                    <a:srgbClr val="000000"/>
                  </a:solidFill>
                </a:uFill>
              </a:rPr>
              <a:t>Normal</a:t>
            </a:r>
            <a:r>
              <a:rPr sz="4800" u="sng" spc="-21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4800" u="sng" spc="-35" dirty="0">
                <a:uFill>
                  <a:solidFill>
                    <a:srgbClr val="000000"/>
                  </a:solidFill>
                </a:uFill>
              </a:rPr>
              <a:t>Form</a:t>
            </a:r>
            <a:r>
              <a:rPr sz="4800" u="sng" spc="-23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4800" u="sng" spc="-10" dirty="0">
                <a:uFill>
                  <a:solidFill>
                    <a:srgbClr val="000000"/>
                  </a:solidFill>
                </a:uFill>
              </a:rPr>
              <a:t>Contd..</a:t>
            </a:r>
            <a:endParaRPr sz="4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03450" y="1441450"/>
          <a:ext cx="7924799" cy="213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3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1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SoldierId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OfficerId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UnitId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32430" y="4032250"/>
          <a:ext cx="2590165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SoldierId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UnitId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935726" y="4108450"/>
          <a:ext cx="257175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OfficerId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UnitId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1208" y="643127"/>
            <a:ext cx="688975" cy="5979160"/>
            <a:chOff x="521208" y="643127"/>
            <a:chExt cx="688975" cy="5979160"/>
          </a:xfrm>
        </p:grpSpPr>
        <p:sp>
          <p:nvSpPr>
            <p:cNvPr id="3" name="object 3"/>
            <p:cNvSpPr/>
            <p:nvPr/>
          </p:nvSpPr>
          <p:spPr>
            <a:xfrm>
              <a:off x="521208" y="911352"/>
              <a:ext cx="687705" cy="5710555"/>
            </a:xfrm>
            <a:custGeom>
              <a:avLst/>
              <a:gdLst/>
              <a:ahLst/>
              <a:cxnLst/>
              <a:rect l="l" t="t" r="r" b="b"/>
              <a:pathLst>
                <a:path w="687705" h="5710555">
                  <a:moveTo>
                    <a:pt x="687324" y="0"/>
                  </a:moveTo>
                  <a:lnTo>
                    <a:pt x="0" y="466725"/>
                  </a:lnTo>
                  <a:lnTo>
                    <a:pt x="0" y="5710428"/>
                  </a:lnTo>
                  <a:lnTo>
                    <a:pt x="687324" y="5243703"/>
                  </a:lnTo>
                  <a:lnTo>
                    <a:pt x="687324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0100" y="643127"/>
              <a:ext cx="410209" cy="5521960"/>
            </a:xfrm>
            <a:custGeom>
              <a:avLst/>
              <a:gdLst/>
              <a:ahLst/>
              <a:cxnLst/>
              <a:rect l="l" t="t" r="r" b="b"/>
              <a:pathLst>
                <a:path w="410209" h="5521960">
                  <a:moveTo>
                    <a:pt x="0" y="0"/>
                  </a:moveTo>
                  <a:lnTo>
                    <a:pt x="0" y="5259197"/>
                  </a:lnTo>
                  <a:lnTo>
                    <a:pt x="409956" y="5521452"/>
                  </a:lnTo>
                  <a:lnTo>
                    <a:pt x="409956" y="2599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95527" y="644651"/>
            <a:ext cx="3855720" cy="5252085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3600">
              <a:latin typeface="Times New Roman"/>
              <a:cs typeface="Times New Roman"/>
            </a:endParaRPr>
          </a:p>
          <a:p>
            <a:pPr marL="618490" marR="1013460">
              <a:lnSpc>
                <a:spcPts val="3890"/>
              </a:lnSpc>
            </a:pPr>
            <a:r>
              <a:rPr sz="3600" spc="-70" dirty="0">
                <a:solidFill>
                  <a:srgbClr val="FFFFFF"/>
                </a:solidFill>
                <a:latin typeface="Calibri Light"/>
                <a:cs typeface="Calibri Light"/>
              </a:rPr>
              <a:t>RELATIONAL </a:t>
            </a:r>
            <a:r>
              <a:rPr sz="3600" spc="-10" dirty="0">
                <a:solidFill>
                  <a:srgbClr val="FFFFFF"/>
                </a:solidFill>
                <a:latin typeface="Calibri Light"/>
                <a:cs typeface="Calibri Light"/>
              </a:rPr>
              <a:t>ALGEBRA: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42915" y="1341119"/>
            <a:ext cx="6489700" cy="914400"/>
          </a:xfrm>
          <a:custGeom>
            <a:avLst/>
            <a:gdLst/>
            <a:ahLst/>
            <a:cxnLst/>
            <a:rect l="l" t="t" r="r" b="b"/>
            <a:pathLst>
              <a:path w="6489700" h="914400">
                <a:moveTo>
                  <a:pt x="6336792" y="0"/>
                </a:moveTo>
                <a:lnTo>
                  <a:pt x="152400" y="0"/>
                </a:lnTo>
                <a:lnTo>
                  <a:pt x="104217" y="7766"/>
                </a:lnTo>
                <a:lnTo>
                  <a:pt x="62380" y="29394"/>
                </a:lnTo>
                <a:lnTo>
                  <a:pt x="29394" y="62380"/>
                </a:lnTo>
                <a:lnTo>
                  <a:pt x="7766" y="104217"/>
                </a:lnTo>
                <a:lnTo>
                  <a:pt x="0" y="152400"/>
                </a:lnTo>
                <a:lnTo>
                  <a:pt x="0" y="762000"/>
                </a:lnTo>
                <a:lnTo>
                  <a:pt x="7766" y="810182"/>
                </a:lnTo>
                <a:lnTo>
                  <a:pt x="29394" y="852019"/>
                </a:lnTo>
                <a:lnTo>
                  <a:pt x="62380" y="885005"/>
                </a:lnTo>
                <a:lnTo>
                  <a:pt x="104217" y="906633"/>
                </a:lnTo>
                <a:lnTo>
                  <a:pt x="152400" y="914400"/>
                </a:lnTo>
                <a:lnTo>
                  <a:pt x="6336792" y="914400"/>
                </a:lnTo>
                <a:lnTo>
                  <a:pt x="6384974" y="906633"/>
                </a:lnTo>
                <a:lnTo>
                  <a:pt x="6426811" y="885005"/>
                </a:lnTo>
                <a:lnTo>
                  <a:pt x="6459797" y="852019"/>
                </a:lnTo>
                <a:lnTo>
                  <a:pt x="6481425" y="810182"/>
                </a:lnTo>
                <a:lnTo>
                  <a:pt x="6489192" y="762000"/>
                </a:lnTo>
                <a:lnTo>
                  <a:pt x="6489192" y="152400"/>
                </a:lnTo>
                <a:lnTo>
                  <a:pt x="6481425" y="104217"/>
                </a:lnTo>
                <a:lnTo>
                  <a:pt x="6459797" y="62380"/>
                </a:lnTo>
                <a:lnTo>
                  <a:pt x="6426811" y="29394"/>
                </a:lnTo>
                <a:lnTo>
                  <a:pt x="6384974" y="7766"/>
                </a:lnTo>
                <a:lnTo>
                  <a:pt x="6336792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63058" y="1414399"/>
            <a:ext cx="6172200" cy="698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645"/>
              </a:lnSpc>
              <a:spcBef>
                <a:spcPts val="10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sz="23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algebra</a:t>
            </a:r>
            <a:r>
              <a:rPr sz="2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became</a:t>
            </a:r>
            <a:r>
              <a:rPr sz="23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popular</a:t>
            </a:r>
            <a:r>
              <a:rPr sz="23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after</a:t>
            </a:r>
            <a:r>
              <a:rPr sz="23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publication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ts val="2645"/>
              </a:lnSpc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E.F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Codd’s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1970.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42915" y="2321051"/>
            <a:ext cx="6489700" cy="916305"/>
          </a:xfrm>
          <a:custGeom>
            <a:avLst/>
            <a:gdLst/>
            <a:ahLst/>
            <a:cxnLst/>
            <a:rect l="l" t="t" r="r" b="b"/>
            <a:pathLst>
              <a:path w="6489700" h="916305">
                <a:moveTo>
                  <a:pt x="6336538" y="0"/>
                </a:moveTo>
                <a:lnTo>
                  <a:pt x="152654" y="0"/>
                </a:lnTo>
                <a:lnTo>
                  <a:pt x="104396" y="7780"/>
                </a:lnTo>
                <a:lnTo>
                  <a:pt x="62490" y="29447"/>
                </a:lnTo>
                <a:lnTo>
                  <a:pt x="29447" y="62490"/>
                </a:lnTo>
                <a:lnTo>
                  <a:pt x="7780" y="104396"/>
                </a:lnTo>
                <a:lnTo>
                  <a:pt x="0" y="152653"/>
                </a:lnTo>
                <a:lnTo>
                  <a:pt x="0" y="763270"/>
                </a:lnTo>
                <a:lnTo>
                  <a:pt x="7780" y="811527"/>
                </a:lnTo>
                <a:lnTo>
                  <a:pt x="29447" y="853433"/>
                </a:lnTo>
                <a:lnTo>
                  <a:pt x="62490" y="886476"/>
                </a:lnTo>
                <a:lnTo>
                  <a:pt x="104396" y="908143"/>
                </a:lnTo>
                <a:lnTo>
                  <a:pt x="152654" y="915924"/>
                </a:lnTo>
                <a:lnTo>
                  <a:pt x="6336538" y="915924"/>
                </a:lnTo>
                <a:lnTo>
                  <a:pt x="6384795" y="908143"/>
                </a:lnTo>
                <a:lnTo>
                  <a:pt x="6426701" y="886476"/>
                </a:lnTo>
                <a:lnTo>
                  <a:pt x="6459744" y="853433"/>
                </a:lnTo>
                <a:lnTo>
                  <a:pt x="6481411" y="811527"/>
                </a:lnTo>
                <a:lnTo>
                  <a:pt x="6489192" y="763270"/>
                </a:lnTo>
                <a:lnTo>
                  <a:pt x="6489192" y="152653"/>
                </a:lnTo>
                <a:lnTo>
                  <a:pt x="6481411" y="104396"/>
                </a:lnTo>
                <a:lnTo>
                  <a:pt x="6459744" y="62490"/>
                </a:lnTo>
                <a:lnTo>
                  <a:pt x="6426701" y="29447"/>
                </a:lnTo>
                <a:lnTo>
                  <a:pt x="6384795" y="7780"/>
                </a:lnTo>
                <a:lnTo>
                  <a:pt x="6336538" y="0"/>
                </a:lnTo>
                <a:close/>
              </a:path>
            </a:pathLst>
          </a:custGeom>
          <a:solidFill>
            <a:srgbClr val="D17A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163058" y="2395855"/>
            <a:ext cx="5905500" cy="6985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530"/>
              </a:lnSpc>
              <a:spcBef>
                <a:spcPts val="380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procedural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useful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representing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2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sz="2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plan,&amp;</a:t>
            </a:r>
            <a:r>
              <a:rPr sz="2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relatively</a:t>
            </a:r>
            <a:r>
              <a:rPr sz="2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close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Calibri"/>
                <a:cs typeface="Calibri"/>
              </a:rPr>
              <a:t>SQL.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42915" y="3302508"/>
            <a:ext cx="6489700" cy="916305"/>
          </a:xfrm>
          <a:custGeom>
            <a:avLst/>
            <a:gdLst/>
            <a:ahLst/>
            <a:cxnLst/>
            <a:rect l="l" t="t" r="r" b="b"/>
            <a:pathLst>
              <a:path w="6489700" h="916304">
                <a:moveTo>
                  <a:pt x="6336538" y="0"/>
                </a:moveTo>
                <a:lnTo>
                  <a:pt x="152654" y="0"/>
                </a:lnTo>
                <a:lnTo>
                  <a:pt x="104396" y="7780"/>
                </a:lnTo>
                <a:lnTo>
                  <a:pt x="62490" y="29447"/>
                </a:lnTo>
                <a:lnTo>
                  <a:pt x="29447" y="62490"/>
                </a:lnTo>
                <a:lnTo>
                  <a:pt x="7780" y="104396"/>
                </a:lnTo>
                <a:lnTo>
                  <a:pt x="0" y="152653"/>
                </a:lnTo>
                <a:lnTo>
                  <a:pt x="0" y="763269"/>
                </a:lnTo>
                <a:lnTo>
                  <a:pt x="7780" y="811527"/>
                </a:lnTo>
                <a:lnTo>
                  <a:pt x="29447" y="853433"/>
                </a:lnTo>
                <a:lnTo>
                  <a:pt x="62490" y="886476"/>
                </a:lnTo>
                <a:lnTo>
                  <a:pt x="104396" y="908143"/>
                </a:lnTo>
                <a:lnTo>
                  <a:pt x="152654" y="915923"/>
                </a:lnTo>
                <a:lnTo>
                  <a:pt x="6336538" y="915923"/>
                </a:lnTo>
                <a:lnTo>
                  <a:pt x="6384795" y="908143"/>
                </a:lnTo>
                <a:lnTo>
                  <a:pt x="6426701" y="886476"/>
                </a:lnTo>
                <a:lnTo>
                  <a:pt x="6459744" y="853433"/>
                </a:lnTo>
                <a:lnTo>
                  <a:pt x="6481411" y="811527"/>
                </a:lnTo>
                <a:lnTo>
                  <a:pt x="6489192" y="763269"/>
                </a:lnTo>
                <a:lnTo>
                  <a:pt x="6489192" y="152653"/>
                </a:lnTo>
                <a:lnTo>
                  <a:pt x="6481411" y="104396"/>
                </a:lnTo>
                <a:lnTo>
                  <a:pt x="6459744" y="62490"/>
                </a:lnTo>
                <a:lnTo>
                  <a:pt x="6426701" y="29447"/>
                </a:lnTo>
                <a:lnTo>
                  <a:pt x="6384795" y="7780"/>
                </a:lnTo>
                <a:lnTo>
                  <a:pt x="6336538" y="0"/>
                </a:lnTo>
                <a:close/>
              </a:path>
            </a:pathLst>
          </a:custGeom>
          <a:solidFill>
            <a:srgbClr val="B889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63058" y="3377310"/>
            <a:ext cx="6203315" cy="6985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530"/>
              </a:lnSpc>
              <a:spcBef>
                <a:spcPts val="380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algebra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operations</a:t>
            </a:r>
            <a:r>
              <a:rPr sz="2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accepts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relation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produce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relation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result.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42915" y="4283964"/>
            <a:ext cx="6489700" cy="914400"/>
          </a:xfrm>
          <a:custGeom>
            <a:avLst/>
            <a:gdLst/>
            <a:ahLst/>
            <a:cxnLst/>
            <a:rect l="l" t="t" r="r" b="b"/>
            <a:pathLst>
              <a:path w="6489700" h="914400">
                <a:moveTo>
                  <a:pt x="6336792" y="0"/>
                </a:moveTo>
                <a:lnTo>
                  <a:pt x="152400" y="0"/>
                </a:lnTo>
                <a:lnTo>
                  <a:pt x="104217" y="7766"/>
                </a:lnTo>
                <a:lnTo>
                  <a:pt x="62380" y="29394"/>
                </a:lnTo>
                <a:lnTo>
                  <a:pt x="29394" y="62380"/>
                </a:lnTo>
                <a:lnTo>
                  <a:pt x="7766" y="104217"/>
                </a:lnTo>
                <a:lnTo>
                  <a:pt x="0" y="152400"/>
                </a:lnTo>
                <a:lnTo>
                  <a:pt x="0" y="762000"/>
                </a:lnTo>
                <a:lnTo>
                  <a:pt x="7766" y="810182"/>
                </a:lnTo>
                <a:lnTo>
                  <a:pt x="29394" y="852019"/>
                </a:lnTo>
                <a:lnTo>
                  <a:pt x="62380" y="885005"/>
                </a:lnTo>
                <a:lnTo>
                  <a:pt x="104217" y="906633"/>
                </a:lnTo>
                <a:lnTo>
                  <a:pt x="152400" y="914400"/>
                </a:lnTo>
                <a:lnTo>
                  <a:pt x="6336792" y="914400"/>
                </a:lnTo>
                <a:lnTo>
                  <a:pt x="6384974" y="906633"/>
                </a:lnTo>
                <a:lnTo>
                  <a:pt x="6426811" y="885005"/>
                </a:lnTo>
                <a:lnTo>
                  <a:pt x="6459797" y="852019"/>
                </a:lnTo>
                <a:lnTo>
                  <a:pt x="6481425" y="810182"/>
                </a:lnTo>
                <a:lnTo>
                  <a:pt x="6489192" y="762000"/>
                </a:lnTo>
                <a:lnTo>
                  <a:pt x="6489192" y="152400"/>
                </a:lnTo>
                <a:lnTo>
                  <a:pt x="6481425" y="104217"/>
                </a:lnTo>
                <a:lnTo>
                  <a:pt x="6459797" y="62380"/>
                </a:lnTo>
                <a:lnTo>
                  <a:pt x="6426811" y="29394"/>
                </a:lnTo>
                <a:lnTo>
                  <a:pt x="6384974" y="7766"/>
                </a:lnTo>
                <a:lnTo>
                  <a:pt x="6336792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63058" y="4358385"/>
            <a:ext cx="6079490" cy="698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45"/>
              </a:lnSpc>
              <a:spcBef>
                <a:spcPts val="100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applied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tables/relations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ts val="2645"/>
              </a:lnSpc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2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table/relation.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2994" y="309117"/>
            <a:ext cx="73602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>
                <a:latin typeface="Arial Black"/>
                <a:cs typeface="Arial Black"/>
              </a:rPr>
              <a:t>FUNDAMENTAL</a:t>
            </a:r>
            <a:r>
              <a:rPr sz="3600" spc="-250" dirty="0">
                <a:latin typeface="Arial Black"/>
                <a:cs typeface="Arial Black"/>
              </a:rPr>
              <a:t> </a:t>
            </a:r>
            <a:r>
              <a:rPr sz="3600" spc="-10" dirty="0">
                <a:latin typeface="Arial Black"/>
                <a:cs typeface="Arial Black"/>
              </a:rPr>
              <a:t>OPERATIONS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31594" y="1051926"/>
            <a:ext cx="4244340" cy="5407660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2800" dirty="0">
                <a:solidFill>
                  <a:srgbClr val="6F2F9F"/>
                </a:solidFill>
                <a:latin typeface="Arial Black"/>
                <a:cs typeface="Arial Black"/>
              </a:rPr>
              <a:t>UNARY</a:t>
            </a:r>
            <a:r>
              <a:rPr sz="2800" spc="-204" dirty="0">
                <a:solidFill>
                  <a:srgbClr val="6F2F9F"/>
                </a:solidFill>
                <a:latin typeface="Arial Black"/>
                <a:cs typeface="Arial Black"/>
              </a:rPr>
              <a:t> </a:t>
            </a:r>
            <a:r>
              <a:rPr sz="2800" spc="-10" dirty="0">
                <a:solidFill>
                  <a:srgbClr val="6F2F9F"/>
                </a:solidFill>
                <a:latin typeface="Arial Black"/>
                <a:cs typeface="Arial Black"/>
              </a:rPr>
              <a:t>OPERATION</a:t>
            </a:r>
            <a:endParaRPr sz="2800">
              <a:latin typeface="Arial Black"/>
              <a:cs typeface="Arial Black"/>
            </a:endParaRPr>
          </a:p>
          <a:p>
            <a:pPr marL="354965" indent="-342265">
              <a:lnSpc>
                <a:spcPct val="100000"/>
              </a:lnSpc>
              <a:spcBef>
                <a:spcPts val="875"/>
              </a:spcBef>
              <a:buFont typeface="Wingdings"/>
              <a:buChar char="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Select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(</a:t>
            </a:r>
            <a:r>
              <a:rPr sz="2000" spc="-25" dirty="0">
                <a:latin typeface="Symbol"/>
                <a:cs typeface="Symbol"/>
              </a:rPr>
              <a:t></a:t>
            </a:r>
            <a:r>
              <a:rPr sz="2000" spc="-25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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(∏)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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Rename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320" dirty="0">
                <a:latin typeface="Arial MT"/>
                <a:cs typeface="Arial MT"/>
              </a:rPr>
              <a:t>(ρ)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Font typeface="Wingdings"/>
              <a:buChar char=""/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800" spc="-20" dirty="0">
                <a:solidFill>
                  <a:srgbClr val="6F2F9F"/>
                </a:solidFill>
                <a:latin typeface="Arial Black"/>
                <a:cs typeface="Arial Black"/>
              </a:rPr>
              <a:t>BINARY</a:t>
            </a:r>
            <a:r>
              <a:rPr sz="2800" spc="-170" dirty="0">
                <a:solidFill>
                  <a:srgbClr val="6F2F9F"/>
                </a:solidFill>
                <a:latin typeface="Arial Black"/>
                <a:cs typeface="Arial Black"/>
              </a:rPr>
              <a:t> </a:t>
            </a:r>
            <a:r>
              <a:rPr sz="2800" spc="-10" dirty="0">
                <a:solidFill>
                  <a:srgbClr val="6F2F9F"/>
                </a:solidFill>
                <a:latin typeface="Arial Black"/>
                <a:cs typeface="Arial Black"/>
              </a:rPr>
              <a:t>OPERATIONS</a:t>
            </a:r>
            <a:endParaRPr sz="2800">
              <a:latin typeface="Arial Black"/>
              <a:cs typeface="Arial Black"/>
            </a:endParaRPr>
          </a:p>
          <a:p>
            <a:pPr marL="563880" indent="-551180">
              <a:lnSpc>
                <a:spcPct val="100000"/>
              </a:lnSpc>
              <a:spcBef>
                <a:spcPts val="869"/>
              </a:spcBef>
              <a:buClr>
                <a:srgbClr val="000000"/>
              </a:buClr>
              <a:buFont typeface="Wingdings"/>
              <a:buChar char=""/>
              <a:tabLst>
                <a:tab pos="563880" algn="l"/>
              </a:tabLst>
            </a:pP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Union</a:t>
            </a:r>
            <a:r>
              <a:rPr sz="20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(U)</a:t>
            </a:r>
            <a:endParaRPr sz="2000">
              <a:latin typeface="Arial MT"/>
              <a:cs typeface="Arial MT"/>
            </a:endParaRPr>
          </a:p>
          <a:p>
            <a:pPr marL="563880" indent="-551180">
              <a:lnSpc>
                <a:spcPct val="100000"/>
              </a:lnSpc>
              <a:spcBef>
                <a:spcPts val="445"/>
              </a:spcBef>
              <a:buFont typeface="Wingdings"/>
              <a:buChar char=""/>
              <a:tabLst>
                <a:tab pos="563880" algn="l"/>
              </a:tabLst>
            </a:pP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Set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difference</a:t>
            </a:r>
            <a:r>
              <a:rPr sz="20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(-</a:t>
            </a:r>
            <a:r>
              <a:rPr sz="2000" spc="-50" dirty="0">
                <a:solidFill>
                  <a:srgbClr val="252525"/>
                </a:solidFill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L="563880" indent="-551180">
              <a:lnSpc>
                <a:spcPct val="100000"/>
              </a:lnSpc>
              <a:buFont typeface="Wingdings"/>
              <a:buChar char=""/>
              <a:tabLst>
                <a:tab pos="563880" algn="l"/>
                <a:tab pos="2737485" algn="l"/>
              </a:tabLst>
            </a:pP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Cartesian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Product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	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(</a:t>
            </a:r>
            <a:r>
              <a:rPr sz="2000" b="1" spc="-25" dirty="0">
                <a:solidFill>
                  <a:srgbClr val="252525"/>
                </a:solidFill>
                <a:latin typeface="Arial"/>
                <a:cs typeface="Arial"/>
              </a:rPr>
              <a:t>X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Wingdings"/>
              <a:buChar char=""/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solidFill>
                  <a:srgbClr val="6F2F9F"/>
                </a:solidFill>
                <a:latin typeface="Arial"/>
                <a:cs typeface="Arial"/>
              </a:rPr>
              <a:t>Additional</a:t>
            </a:r>
            <a:r>
              <a:rPr sz="2800" b="1" spc="-1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6F2F9F"/>
                </a:solidFill>
                <a:latin typeface="Arial"/>
                <a:cs typeface="Arial"/>
              </a:rPr>
              <a:t>Operations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Wingdings"/>
              <a:buChar char="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Intersection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(∩)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"/>
              <a:tabLst>
                <a:tab pos="354965" algn="l"/>
                <a:tab pos="2273935" algn="l"/>
              </a:tabLst>
            </a:pPr>
            <a:r>
              <a:rPr sz="2000" dirty="0">
                <a:latin typeface="Arial MT"/>
                <a:cs typeface="Arial MT"/>
              </a:rPr>
              <a:t>Join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Operations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235" dirty="0">
                <a:latin typeface="Arial MT"/>
                <a:cs typeface="Arial MT"/>
              </a:rPr>
              <a:t>(</a:t>
            </a:r>
            <a:r>
              <a:rPr sz="2000" spc="235" dirty="0">
                <a:latin typeface="Cambria Math"/>
                <a:cs typeface="Cambria Math"/>
              </a:rPr>
              <a:t>𝔴</a:t>
            </a:r>
            <a:r>
              <a:rPr sz="2000" spc="235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"/>
              <a:tabLst>
                <a:tab pos="354965" algn="l"/>
              </a:tabLst>
            </a:pPr>
            <a:r>
              <a:rPr sz="2000" spc="-10" dirty="0">
                <a:latin typeface="Arial MT"/>
                <a:cs typeface="Arial MT"/>
              </a:rPr>
              <a:t>Division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914400"/>
            <a:ext cx="9144000" cy="76200"/>
          </a:xfrm>
          <a:custGeom>
            <a:avLst/>
            <a:gdLst/>
            <a:ahLst/>
            <a:cxnLst/>
            <a:rect l="l" t="t" r="r" b="b"/>
            <a:pathLst>
              <a:path w="9144000" h="76200">
                <a:moveTo>
                  <a:pt x="0" y="0"/>
                </a:moveTo>
                <a:lnTo>
                  <a:pt x="9144000" y="7620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24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5394" y="618490"/>
            <a:ext cx="5027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 Black"/>
                <a:cs typeface="Arial Black"/>
              </a:rPr>
              <a:t>Select</a:t>
            </a:r>
            <a:r>
              <a:rPr sz="3600" spc="-100" dirty="0">
                <a:latin typeface="Arial Black"/>
                <a:cs typeface="Arial Black"/>
              </a:rPr>
              <a:t> </a:t>
            </a:r>
            <a:r>
              <a:rPr sz="3600" dirty="0">
                <a:latin typeface="Arial Black"/>
                <a:cs typeface="Arial Black"/>
              </a:rPr>
              <a:t>Operation</a:t>
            </a:r>
            <a:r>
              <a:rPr sz="3600" spc="-95" dirty="0">
                <a:latin typeface="Arial Black"/>
                <a:cs typeface="Arial Black"/>
              </a:rPr>
              <a:t> </a:t>
            </a:r>
            <a:r>
              <a:rPr sz="3600" spc="-25" dirty="0">
                <a:latin typeface="Arial Black"/>
                <a:cs typeface="Arial Black"/>
              </a:rPr>
              <a:t>(</a:t>
            </a:r>
            <a:r>
              <a:rPr sz="3600" spc="-25" dirty="0">
                <a:latin typeface="Symbol"/>
                <a:cs typeface="Symbol"/>
              </a:rPr>
              <a:t></a:t>
            </a:r>
            <a:r>
              <a:rPr sz="3600" spc="-25" dirty="0">
                <a:latin typeface="Arial Black"/>
                <a:cs typeface="Arial Black"/>
              </a:rPr>
              <a:t>)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1295400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5">
                <a:moveTo>
                  <a:pt x="0" y="0"/>
                </a:moveTo>
                <a:lnTo>
                  <a:pt x="9144000" y="165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55394" y="1244518"/>
            <a:ext cx="8606155" cy="327088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1285"/>
              </a:spcBef>
              <a:buAutoNum type="alphaUcParenR"/>
              <a:tabLst>
                <a:tab pos="585470" algn="l"/>
              </a:tabLst>
            </a:pP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OVERVIEW</a:t>
            </a:r>
            <a:endParaRPr sz="2800">
              <a:latin typeface="Arial"/>
              <a:cs typeface="Arial"/>
            </a:endParaRPr>
          </a:p>
          <a:p>
            <a:pPr marL="432434" lvl="1" indent="-128270">
              <a:lnSpc>
                <a:spcPct val="100000"/>
              </a:lnSpc>
              <a:spcBef>
                <a:spcPts val="860"/>
              </a:spcBef>
              <a:buSzPct val="95000"/>
              <a:buFont typeface="Wingdings"/>
              <a:buChar char=""/>
              <a:tabLst>
                <a:tab pos="432434" algn="l"/>
                <a:tab pos="1054735" algn="l"/>
                <a:tab pos="2139950" algn="l"/>
                <a:tab pos="2463165" algn="l"/>
                <a:tab pos="3155315" algn="l"/>
                <a:tab pos="3503929" algn="l"/>
                <a:tab pos="4307840" algn="l"/>
                <a:tab pos="5067935" algn="l"/>
                <a:tab pos="5744845" algn="l"/>
                <a:tab pos="6390640" algn="l"/>
                <a:tab pos="7083425" algn="l"/>
                <a:tab pos="7872730" algn="l"/>
              </a:tabLst>
            </a:pPr>
            <a:r>
              <a:rPr sz="2000" spc="-20" dirty="0">
                <a:latin typeface="Arial MT"/>
                <a:cs typeface="Arial MT"/>
              </a:rPr>
              <a:t>This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operator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is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used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to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select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some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rows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from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table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which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satisfy</a:t>
            </a:r>
            <a:endParaRPr sz="2000">
              <a:latin typeface="Arial MT"/>
              <a:cs typeface="Arial MT"/>
            </a:endParaRPr>
          </a:p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particular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selection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condition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given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selection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operation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317500" marR="5080" lvl="1" indent="233045">
              <a:lnSpc>
                <a:spcPct val="100000"/>
              </a:lnSpc>
              <a:buSzPct val="90000"/>
              <a:buFont typeface="Wingdings"/>
              <a:buChar char=""/>
              <a:tabLst>
                <a:tab pos="550545" algn="l"/>
                <a:tab pos="1757680" algn="l"/>
                <a:tab pos="2862580" algn="l"/>
                <a:tab pos="3813810" algn="l"/>
                <a:tab pos="4115435" algn="l"/>
                <a:tab pos="4615180" algn="l"/>
                <a:tab pos="4986020" algn="l"/>
                <a:tab pos="5825490" algn="l"/>
                <a:tab pos="6407785" algn="l"/>
                <a:tab pos="7289165" algn="l"/>
                <a:tab pos="7588884" algn="l"/>
              </a:tabLst>
            </a:pPr>
            <a:r>
              <a:rPr sz="2000" spc="-10" dirty="0">
                <a:latin typeface="Arial MT"/>
                <a:cs typeface="Arial MT"/>
              </a:rPr>
              <a:t>Selection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operator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selects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50" dirty="0">
                <a:latin typeface="Arial MT"/>
                <a:cs typeface="Arial MT"/>
              </a:rPr>
              <a:t>a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set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of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tuples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that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satisfy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50" dirty="0">
                <a:latin typeface="Arial MT"/>
                <a:cs typeface="Arial MT"/>
              </a:rPr>
              <a:t>a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selection condition.</a:t>
            </a:r>
            <a:endParaRPr sz="2000">
              <a:latin typeface="Arial MT"/>
              <a:cs typeface="Arial MT"/>
            </a:endParaRPr>
          </a:p>
          <a:p>
            <a:pPr marL="498475" lvl="1" indent="-180975">
              <a:lnSpc>
                <a:spcPct val="100000"/>
              </a:lnSpc>
              <a:buFont typeface="Wingdings"/>
              <a:buChar char=""/>
              <a:tabLst>
                <a:tab pos="49847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selection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operation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2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unary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operation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means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operates</a:t>
            </a:r>
            <a:endParaRPr sz="2000">
              <a:latin typeface="Arial MT"/>
              <a:cs typeface="Arial MT"/>
            </a:endParaRPr>
          </a:p>
          <a:p>
            <a:pPr marL="3175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relation.</a:t>
            </a:r>
            <a:endParaRPr sz="2000">
              <a:latin typeface="Arial MT"/>
              <a:cs typeface="Arial MT"/>
            </a:endParaRPr>
          </a:p>
          <a:p>
            <a:pPr marL="502920" lvl="1" indent="-185420">
              <a:lnSpc>
                <a:spcPts val="2390"/>
              </a:lnSpc>
              <a:buFont typeface="Wingdings"/>
              <a:buChar char=""/>
              <a:tabLst>
                <a:tab pos="502920" algn="l"/>
              </a:tabLst>
            </a:pP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denoted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Greek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letter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Sigma.</a:t>
            </a:r>
            <a:endParaRPr sz="2000">
              <a:latin typeface="Arial MT"/>
              <a:cs typeface="Arial MT"/>
            </a:endParaRPr>
          </a:p>
          <a:p>
            <a:pPr marL="812800" indent="-571500">
              <a:lnSpc>
                <a:spcPts val="3350"/>
              </a:lnSpc>
              <a:buAutoNum type="alphaUcParenR"/>
              <a:tabLst>
                <a:tab pos="812800" algn="l"/>
              </a:tabLst>
            </a:pP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SYNTAX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4800600"/>
            <a:ext cx="8382000" cy="457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05000" y="4800600"/>
            <a:ext cx="8382000" cy="457200"/>
          </a:xfrm>
          <a:prstGeom prst="rect">
            <a:avLst/>
          </a:prstGeom>
          <a:ln w="6350">
            <a:solidFill>
              <a:srgbClr val="4471C4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527050">
              <a:lnSpc>
                <a:spcPct val="100000"/>
              </a:lnSpc>
              <a:spcBef>
                <a:spcPts val="275"/>
              </a:spcBef>
            </a:pPr>
            <a:r>
              <a:rPr sz="1600" dirty="0">
                <a:latin typeface="Symbol"/>
                <a:cs typeface="Symbol"/>
              </a:rPr>
              <a:t>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Calibri"/>
                <a:cs typeface="Calibri"/>
              </a:rPr>
              <a:t>&lt;attribute_name&gt;&lt;comparison_operator&gt;&lt;constant_value&gt;(&lt;input_table_name&gt;)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24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136394" y="5581599"/>
            <a:ext cx="45237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Where,</a:t>
            </a:r>
            <a:endParaRPr sz="1800">
              <a:latin typeface="Calibri"/>
              <a:cs typeface="Calibri"/>
            </a:endParaRPr>
          </a:p>
          <a:p>
            <a:pPr marL="27432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Attribute_name</a:t>
            </a:r>
            <a:r>
              <a:rPr sz="1800" b="1" spc="29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:</a:t>
            </a:r>
            <a:r>
              <a:rPr sz="1800" b="1" spc="3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column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  <a:p>
            <a:pPr marL="274320">
              <a:lnSpc>
                <a:spcPct val="100000"/>
              </a:lnSpc>
              <a:tabLst>
                <a:tab pos="2675255" algn="l"/>
              </a:tabLst>
            </a:pPr>
            <a:r>
              <a:rPr sz="1800" b="1" dirty="0">
                <a:latin typeface="Calibri"/>
                <a:cs typeface="Calibri"/>
              </a:rPr>
              <a:t>Comparison_operator</a:t>
            </a:r>
            <a:r>
              <a:rPr sz="1800" b="1" spc="240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: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 &lt; 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 &gt;=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&lt;&gt;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1594" y="938529"/>
            <a:ext cx="23126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4200" algn="l"/>
              </a:tabLst>
            </a:pPr>
            <a:r>
              <a:rPr sz="2800" b="1" spc="-25" dirty="0">
                <a:solidFill>
                  <a:srgbClr val="FF0000"/>
                </a:solidFill>
                <a:latin typeface="Arial"/>
                <a:cs typeface="Arial"/>
              </a:rPr>
              <a:t>C)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1600200"/>
            <a:ext cx="3200400" cy="2225040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806825" y="1593850"/>
          <a:ext cx="32004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6350">
                      <a:solidFill>
                        <a:srgbClr val="4471C4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6350">
                      <a:solidFill>
                        <a:srgbClr val="4471C4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Suhas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Ajay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Rani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Raju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Sonal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194175" y="4057269"/>
            <a:ext cx="2111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σ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30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(Employee)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730625" y="4572000"/>
            <a:ext cx="3359150" cy="1478280"/>
            <a:chOff x="3730625" y="4572000"/>
            <a:chExt cx="3359150" cy="147828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3800" y="4572000"/>
              <a:ext cx="3352800" cy="147828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30625" y="4937759"/>
              <a:ext cx="3359150" cy="0"/>
            </a:xfrm>
            <a:custGeom>
              <a:avLst/>
              <a:gdLst/>
              <a:ahLst/>
              <a:cxnLst/>
              <a:rect l="l" t="t" r="r" b="b"/>
              <a:pathLst>
                <a:path w="3359150">
                  <a:moveTo>
                    <a:pt x="0" y="0"/>
                  </a:moveTo>
                  <a:lnTo>
                    <a:pt x="335915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730625" y="4565650"/>
          <a:ext cx="3352800" cy="1480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6350">
                      <a:solidFill>
                        <a:srgbClr val="4471C4"/>
                      </a:solidFill>
                      <a:prstDash val="solid"/>
                    </a:lnL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6350">
                      <a:solidFill>
                        <a:srgbClr val="4471C4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Suhas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Ajay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Raju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24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194" y="461517"/>
            <a:ext cx="6022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 Black"/>
                <a:cs typeface="Arial Black"/>
              </a:rPr>
              <a:t>Projection</a:t>
            </a:r>
            <a:r>
              <a:rPr sz="3600" spc="-50" dirty="0">
                <a:latin typeface="Arial Black"/>
                <a:cs typeface="Arial Black"/>
              </a:rPr>
              <a:t> </a:t>
            </a:r>
            <a:r>
              <a:rPr sz="3600" dirty="0">
                <a:latin typeface="Arial Black"/>
                <a:cs typeface="Arial Black"/>
              </a:rPr>
              <a:t>operation</a:t>
            </a:r>
            <a:r>
              <a:rPr sz="3600" spc="-45" dirty="0">
                <a:latin typeface="Arial Black"/>
                <a:cs typeface="Arial Black"/>
              </a:rPr>
              <a:t> </a:t>
            </a:r>
            <a:r>
              <a:rPr sz="3600" spc="-25" dirty="0">
                <a:latin typeface="Arial Black"/>
                <a:cs typeface="Arial Black"/>
              </a:rPr>
              <a:t>(∏)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1143000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5">
                <a:moveTo>
                  <a:pt x="0" y="0"/>
                </a:moveTo>
                <a:lnTo>
                  <a:pt x="9144000" y="165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85873" y="1385061"/>
            <a:ext cx="8576310" cy="3587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6409" indent="-473709">
              <a:lnSpc>
                <a:spcPct val="100000"/>
              </a:lnSpc>
              <a:spcBef>
                <a:spcPts val="95"/>
              </a:spcBef>
              <a:buAutoNum type="alphaUcParenR"/>
              <a:tabLst>
                <a:tab pos="486409" algn="l"/>
              </a:tabLst>
            </a:pP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OVERVIEW</a:t>
            </a:r>
            <a:endParaRPr sz="2800">
              <a:latin typeface="Arial"/>
              <a:cs typeface="Arial"/>
            </a:endParaRPr>
          </a:p>
          <a:p>
            <a:pPr marL="669925" lvl="1" indent="-231140">
              <a:lnSpc>
                <a:spcPct val="100000"/>
              </a:lnSpc>
              <a:spcBef>
                <a:spcPts val="1485"/>
              </a:spcBef>
              <a:buFont typeface="Wingdings"/>
              <a:buChar char=""/>
              <a:tabLst>
                <a:tab pos="669925" algn="l"/>
              </a:tabLst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operator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selecting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some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many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columns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table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</a:t>
            </a:r>
            <a:endParaRPr sz="2000">
              <a:latin typeface="Arial MT"/>
              <a:cs typeface="Arial MT"/>
            </a:endParaRPr>
          </a:p>
          <a:p>
            <a:pPr marL="438784">
              <a:lnSpc>
                <a:spcPct val="100000"/>
              </a:lnSpc>
              <a:spcBef>
                <a:spcPts val="60"/>
              </a:spcBef>
            </a:pPr>
            <a:r>
              <a:rPr sz="2000" dirty="0">
                <a:latin typeface="Arial MT"/>
                <a:cs typeface="Arial MT"/>
              </a:rPr>
              <a:t>display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result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set.</a:t>
            </a:r>
            <a:endParaRPr sz="2000">
              <a:latin typeface="Arial MT"/>
              <a:cs typeface="Arial MT"/>
            </a:endParaRPr>
          </a:p>
          <a:p>
            <a:pPr marL="438784" marR="5715" lvl="1" indent="256540">
              <a:lnSpc>
                <a:spcPct val="100000"/>
              </a:lnSpc>
              <a:buFont typeface="Wingdings"/>
              <a:buChar char=""/>
              <a:tabLst>
                <a:tab pos="695325" algn="l"/>
                <a:tab pos="7377430" algn="l"/>
              </a:tabLst>
            </a:pPr>
            <a:r>
              <a:rPr sz="2000" dirty="0">
                <a:latin typeface="Arial MT"/>
                <a:cs typeface="Arial MT"/>
              </a:rPr>
              <a:t>Projection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operator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select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column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columns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</a:t>
            </a:r>
            <a:r>
              <a:rPr sz="2000" dirty="0">
                <a:latin typeface="Arial MT"/>
                <a:cs typeface="Arial MT"/>
              </a:rPr>
              <a:t>	table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 </a:t>
            </a:r>
            <a:r>
              <a:rPr sz="2000" spc="-25" dirty="0">
                <a:latin typeface="Arial MT"/>
                <a:cs typeface="Arial MT"/>
              </a:rPr>
              <a:t>be </a:t>
            </a:r>
            <a:r>
              <a:rPr sz="2000" dirty="0">
                <a:latin typeface="Arial MT"/>
                <a:cs typeface="Arial MT"/>
              </a:rPr>
              <a:t>display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query.</a:t>
            </a:r>
            <a:endParaRPr sz="2000">
              <a:latin typeface="Arial MT"/>
              <a:cs typeface="Arial MT"/>
            </a:endParaRPr>
          </a:p>
          <a:p>
            <a:pPr marL="695325" lvl="1" indent="-256540">
              <a:lnSpc>
                <a:spcPct val="100000"/>
              </a:lnSpc>
              <a:buFont typeface="Wingdings"/>
              <a:buChar char=""/>
              <a:tabLst>
                <a:tab pos="695325" algn="l"/>
              </a:tabLst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40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4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select</a:t>
            </a:r>
            <a:r>
              <a:rPr sz="2000" spc="40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only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few</a:t>
            </a:r>
            <a:r>
              <a:rPr sz="2000" spc="4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columns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4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columns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4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table</a:t>
            </a:r>
            <a:r>
              <a:rPr sz="2000" spc="4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4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per</a:t>
            </a:r>
            <a:endParaRPr sz="2000">
              <a:latin typeface="Arial MT"/>
              <a:cs typeface="Arial MT"/>
            </a:endParaRPr>
          </a:p>
          <a:p>
            <a:pPr marL="438784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requirements.</a:t>
            </a:r>
            <a:endParaRPr sz="2000">
              <a:latin typeface="Arial MT"/>
              <a:cs typeface="Arial MT"/>
            </a:endParaRPr>
          </a:p>
          <a:p>
            <a:pPr marL="690245" lvl="1" indent="-25146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690245" algn="l"/>
              </a:tabLst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unary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relational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operator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table.</a:t>
            </a:r>
            <a:endParaRPr sz="2000">
              <a:latin typeface="Arial MT"/>
              <a:cs typeface="Arial MT"/>
            </a:endParaRPr>
          </a:p>
          <a:p>
            <a:pPr marL="624205" lvl="1" indent="-185420">
              <a:lnSpc>
                <a:spcPct val="100000"/>
              </a:lnSpc>
              <a:buFont typeface="Wingdings"/>
              <a:buChar char=""/>
              <a:tabLst>
                <a:tab pos="624205" algn="l"/>
              </a:tabLst>
            </a:pP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denoted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Greek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letter</a:t>
            </a:r>
            <a:r>
              <a:rPr sz="2000" spc="-25" dirty="0">
                <a:latin typeface="Arial MT"/>
                <a:cs typeface="Arial MT"/>
              </a:rPr>
              <a:t> pi.</a:t>
            </a:r>
            <a:endParaRPr sz="2000">
              <a:latin typeface="Arial MT"/>
              <a:cs typeface="Arial MT"/>
            </a:endParaRPr>
          </a:p>
          <a:p>
            <a:pPr marL="133985">
              <a:lnSpc>
                <a:spcPct val="100000"/>
              </a:lnSpc>
              <a:spcBef>
                <a:spcPts val="580"/>
              </a:spcBef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B)</a:t>
            </a:r>
            <a:r>
              <a:rPr sz="2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SYNTAX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5181600"/>
            <a:ext cx="6096000" cy="457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14600" y="5181600"/>
            <a:ext cx="6096000" cy="457200"/>
          </a:xfrm>
          <a:prstGeom prst="rect">
            <a:avLst/>
          </a:prstGeom>
          <a:solidFill>
            <a:srgbClr val="EC7C30">
              <a:alpha val="39999"/>
            </a:srgbClr>
          </a:solidFill>
          <a:ln w="6350">
            <a:solidFill>
              <a:srgbClr val="EC7C3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71945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Calibri"/>
                <a:cs typeface="Calibri"/>
              </a:rPr>
              <a:t>∏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&lt;cloumn_list&gt;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(&lt;input_table_name&gt;)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24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994" y="709929"/>
            <a:ext cx="2213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C)</a:t>
            </a:r>
            <a:r>
              <a:rPr sz="2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83994" y="1549653"/>
            <a:ext cx="684275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sz="2000" spc="-25" dirty="0">
                <a:latin typeface="Arial MT"/>
                <a:cs typeface="Arial MT"/>
              </a:rPr>
              <a:t>1.</a:t>
            </a:r>
            <a:r>
              <a:rPr sz="2000" dirty="0">
                <a:latin typeface="Arial MT"/>
                <a:cs typeface="Arial MT"/>
              </a:rPr>
              <a:t>	Find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employee’s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salary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age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employee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table.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3994" y="5208270"/>
            <a:ext cx="78803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1835" algn="l"/>
              </a:tabLst>
            </a:pPr>
            <a:r>
              <a:rPr sz="2000" spc="-25" dirty="0">
                <a:latin typeface="Arial MT"/>
                <a:cs typeface="Arial MT"/>
              </a:rPr>
              <a:t>2.</a:t>
            </a:r>
            <a:r>
              <a:rPr sz="2000" dirty="0">
                <a:latin typeface="Arial MT"/>
                <a:cs typeface="Arial MT"/>
              </a:rPr>
              <a:t>	Find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names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employees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having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salary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less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20000.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 MT"/>
              <a:cs typeface="Arial MT"/>
            </a:endParaRPr>
          </a:p>
          <a:p>
            <a:pPr marL="99695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∏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ename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b="1" dirty="0">
                <a:latin typeface="Arial"/>
                <a:cs typeface="Arial"/>
              </a:rPr>
              <a:t>σ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sal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&lt;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20000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</a:rPr>
              <a:t>(Employee))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197225" y="2359025"/>
            <a:ext cx="4578350" cy="466725"/>
            <a:chOff x="3197225" y="2359025"/>
            <a:chExt cx="4578350" cy="466725"/>
          </a:xfrm>
        </p:grpSpPr>
        <p:sp>
          <p:nvSpPr>
            <p:cNvPr id="6" name="object 6"/>
            <p:cNvSpPr/>
            <p:nvPr/>
          </p:nvSpPr>
          <p:spPr>
            <a:xfrm>
              <a:off x="3200400" y="2362200"/>
              <a:ext cx="4572000" cy="457200"/>
            </a:xfrm>
            <a:custGeom>
              <a:avLst/>
              <a:gdLst/>
              <a:ahLst/>
              <a:cxnLst/>
              <a:rect l="l" t="t" r="r" b="b"/>
              <a:pathLst>
                <a:path w="4572000" h="457200">
                  <a:moveTo>
                    <a:pt x="4572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0" y="4572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97225" y="2359025"/>
              <a:ext cx="4578350" cy="466725"/>
            </a:xfrm>
            <a:custGeom>
              <a:avLst/>
              <a:gdLst/>
              <a:ahLst/>
              <a:cxnLst/>
              <a:rect l="l" t="t" r="r" b="b"/>
              <a:pathLst>
                <a:path w="4578350" h="466725">
                  <a:moveTo>
                    <a:pt x="3175" y="0"/>
                  </a:moveTo>
                  <a:lnTo>
                    <a:pt x="3175" y="466725"/>
                  </a:lnTo>
                </a:path>
                <a:path w="4578350" h="466725">
                  <a:moveTo>
                    <a:pt x="4575175" y="0"/>
                  </a:moveTo>
                  <a:lnTo>
                    <a:pt x="4575175" y="466725"/>
                  </a:lnTo>
                </a:path>
                <a:path w="4578350" h="466725">
                  <a:moveTo>
                    <a:pt x="0" y="3175"/>
                  </a:moveTo>
                  <a:lnTo>
                    <a:pt x="4578350" y="3175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97225" y="2813050"/>
              <a:ext cx="4578350" cy="12700"/>
            </a:xfrm>
            <a:custGeom>
              <a:avLst/>
              <a:gdLst/>
              <a:ahLst/>
              <a:cxnLst/>
              <a:rect l="l" t="t" r="r" b="b"/>
              <a:pathLst>
                <a:path w="4578350" h="12700">
                  <a:moveTo>
                    <a:pt x="0" y="12700"/>
                  </a:moveTo>
                  <a:lnTo>
                    <a:pt x="4578350" y="12700"/>
                  </a:lnTo>
                  <a:lnTo>
                    <a:pt x="457835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197225" y="2376042"/>
            <a:ext cx="4578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9878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∏</a:t>
            </a:r>
            <a:r>
              <a:rPr sz="2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Eid,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Salary,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Age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(Employee)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83025" y="3200400"/>
            <a:ext cx="3206750" cy="1493520"/>
            <a:chOff x="3883025" y="3200400"/>
            <a:chExt cx="3206750" cy="14935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6200" y="3200400"/>
              <a:ext cx="3200400" cy="14935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883025" y="3581400"/>
              <a:ext cx="3206750" cy="0"/>
            </a:xfrm>
            <a:custGeom>
              <a:avLst/>
              <a:gdLst/>
              <a:ahLst/>
              <a:cxnLst/>
              <a:rect l="l" t="t" r="r" b="b"/>
              <a:pathLst>
                <a:path w="3206750">
                  <a:moveTo>
                    <a:pt x="0" y="0"/>
                  </a:moveTo>
                  <a:lnTo>
                    <a:pt x="320675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883025" y="3194050"/>
          <a:ext cx="3200400" cy="1495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17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6350">
                      <a:solidFill>
                        <a:srgbClr val="4471C4"/>
                      </a:solidFill>
                      <a:prstDash val="solid"/>
                    </a:lnL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6350">
                      <a:solidFill>
                        <a:srgbClr val="4471C4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10000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24000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24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2994" y="842517"/>
            <a:ext cx="5477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 Black"/>
                <a:cs typeface="Arial Black"/>
              </a:rPr>
              <a:t>Rename</a:t>
            </a:r>
            <a:r>
              <a:rPr sz="3600" spc="-155" dirty="0">
                <a:latin typeface="Arial Black"/>
                <a:cs typeface="Arial Black"/>
              </a:rPr>
              <a:t> </a:t>
            </a:r>
            <a:r>
              <a:rPr sz="3600" dirty="0">
                <a:latin typeface="Arial Black"/>
                <a:cs typeface="Arial Black"/>
              </a:rPr>
              <a:t>Operation</a:t>
            </a:r>
            <a:r>
              <a:rPr sz="3600" spc="-140" dirty="0">
                <a:latin typeface="Arial Black"/>
                <a:cs typeface="Arial Black"/>
              </a:rPr>
              <a:t> </a:t>
            </a:r>
            <a:r>
              <a:rPr sz="3600" spc="-25" dirty="0">
                <a:latin typeface="Arial Black"/>
                <a:cs typeface="Arial Black"/>
              </a:rPr>
              <a:t>(ρ)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1447800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5">
                <a:moveTo>
                  <a:pt x="0" y="0"/>
                </a:moveTo>
                <a:lnTo>
                  <a:pt x="9144000" y="165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587625" y="4340225"/>
            <a:ext cx="5949950" cy="1304925"/>
            <a:chOff x="2587625" y="4340225"/>
            <a:chExt cx="5949950" cy="1304925"/>
          </a:xfrm>
        </p:grpSpPr>
        <p:sp>
          <p:nvSpPr>
            <p:cNvPr id="5" name="object 5"/>
            <p:cNvSpPr/>
            <p:nvPr/>
          </p:nvSpPr>
          <p:spPr>
            <a:xfrm>
              <a:off x="2590800" y="4343400"/>
              <a:ext cx="5943600" cy="1295400"/>
            </a:xfrm>
            <a:custGeom>
              <a:avLst/>
              <a:gdLst/>
              <a:ahLst/>
              <a:cxnLst/>
              <a:rect l="l" t="t" r="r" b="b"/>
              <a:pathLst>
                <a:path w="5943600" h="1295400">
                  <a:moveTo>
                    <a:pt x="5943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5943600" y="1295400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87625" y="4340225"/>
              <a:ext cx="5949950" cy="1304925"/>
            </a:xfrm>
            <a:custGeom>
              <a:avLst/>
              <a:gdLst/>
              <a:ahLst/>
              <a:cxnLst/>
              <a:rect l="l" t="t" r="r" b="b"/>
              <a:pathLst>
                <a:path w="5949950" h="1304925">
                  <a:moveTo>
                    <a:pt x="3175" y="0"/>
                  </a:moveTo>
                  <a:lnTo>
                    <a:pt x="3175" y="1304925"/>
                  </a:lnTo>
                </a:path>
                <a:path w="5949950" h="1304925">
                  <a:moveTo>
                    <a:pt x="5946775" y="0"/>
                  </a:moveTo>
                  <a:lnTo>
                    <a:pt x="5946775" y="1304925"/>
                  </a:lnTo>
                </a:path>
                <a:path w="5949950" h="1304925">
                  <a:moveTo>
                    <a:pt x="0" y="3175"/>
                  </a:moveTo>
                  <a:lnTo>
                    <a:pt x="5949950" y="3175"/>
                  </a:lnTo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87625" y="5632450"/>
              <a:ext cx="5949950" cy="12700"/>
            </a:xfrm>
            <a:custGeom>
              <a:avLst/>
              <a:gdLst/>
              <a:ahLst/>
              <a:cxnLst/>
              <a:rect l="l" t="t" r="r" b="b"/>
              <a:pathLst>
                <a:path w="5949950" h="12700">
                  <a:moveTo>
                    <a:pt x="0" y="12700"/>
                  </a:moveTo>
                  <a:lnTo>
                    <a:pt x="5949950" y="12700"/>
                  </a:lnTo>
                  <a:lnTo>
                    <a:pt x="594995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07794" y="1549957"/>
            <a:ext cx="7832090" cy="362204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485775" indent="-473075">
              <a:lnSpc>
                <a:spcPct val="100000"/>
              </a:lnSpc>
              <a:spcBef>
                <a:spcPts val="1280"/>
              </a:spcBef>
              <a:buAutoNum type="alphaUcParenR"/>
              <a:tabLst>
                <a:tab pos="485775" algn="l"/>
              </a:tabLst>
            </a:pP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OVERVIEW</a:t>
            </a:r>
            <a:endParaRPr sz="2800">
              <a:latin typeface="Arial"/>
              <a:cs typeface="Arial"/>
            </a:endParaRPr>
          </a:p>
          <a:p>
            <a:pPr marL="549910" lvl="1" indent="-156210">
              <a:lnSpc>
                <a:spcPct val="100000"/>
              </a:lnSpc>
              <a:spcBef>
                <a:spcPts val="850"/>
              </a:spcBef>
              <a:buSzPct val="90000"/>
              <a:buFont typeface="Wingdings"/>
              <a:buChar char=""/>
              <a:tabLst>
                <a:tab pos="549910" algn="l"/>
              </a:tabLst>
            </a:pPr>
            <a:r>
              <a:rPr sz="2000" dirty="0">
                <a:latin typeface="Arial MT"/>
                <a:cs typeface="Arial MT"/>
              </a:rPr>
              <a:t>Rename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returns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existing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relation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under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new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name.</a:t>
            </a:r>
            <a:endParaRPr sz="2000">
              <a:latin typeface="Arial MT"/>
              <a:cs typeface="Arial MT"/>
            </a:endParaRPr>
          </a:p>
          <a:p>
            <a:pPr marL="579120" lvl="1" indent="-185420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579120" algn="l"/>
              </a:tabLst>
            </a:pPr>
            <a:r>
              <a:rPr sz="2000" dirty="0">
                <a:latin typeface="Arial MT"/>
                <a:cs typeface="Arial MT"/>
              </a:rPr>
              <a:t>Rename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denoted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Greek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letter</a:t>
            </a:r>
            <a:r>
              <a:rPr sz="2000" spc="-20" dirty="0">
                <a:latin typeface="Arial MT"/>
                <a:cs typeface="Arial MT"/>
              </a:rPr>
              <a:t> rho.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200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B)</a:t>
            </a:r>
            <a:r>
              <a:rPr sz="2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SYNTAX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10"/>
              </a:spcBef>
            </a:pPr>
            <a:endParaRPr sz="2800">
              <a:latin typeface="Arial"/>
              <a:cs typeface="Arial"/>
            </a:endParaRPr>
          </a:p>
          <a:p>
            <a:pPr marL="774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Calibri"/>
                <a:cs typeface="Calibri"/>
              </a:rPr>
              <a:t>ρ</a:t>
            </a:r>
            <a:r>
              <a:rPr sz="1800" b="1" spc="-10" dirty="0">
                <a:latin typeface="Calibri"/>
                <a:cs typeface="Calibri"/>
              </a:rPr>
              <a:t>&lt;New_Name&gt;</a:t>
            </a:r>
            <a:r>
              <a:rPr sz="2800" b="1" spc="-10" dirty="0">
                <a:latin typeface="Calibri"/>
                <a:cs typeface="Calibri"/>
              </a:rPr>
              <a:t>(&lt;input_table_name&gt;)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24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24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8794" y="481329"/>
            <a:ext cx="2213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C)</a:t>
            </a:r>
            <a:r>
              <a:rPr sz="2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8794" y="1519174"/>
            <a:ext cx="7161530" cy="306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Rename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emp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employee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AutoNum type="arabicPeriod"/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1069975" algn="l"/>
              </a:tabLst>
            </a:pPr>
            <a:r>
              <a:rPr sz="2000" b="1" spc="-10" dirty="0">
                <a:latin typeface="Arial"/>
                <a:cs typeface="Arial"/>
              </a:rPr>
              <a:t>Syntax: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dirty="0">
                <a:latin typeface="Calibri"/>
                <a:cs typeface="Calibri"/>
              </a:rPr>
              <a:t>ρ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employee(emp)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20"/>
              </a:spcBef>
            </a:pPr>
            <a:endParaRPr sz="2000">
              <a:latin typeface="Calibri"/>
              <a:cs typeface="Calibri"/>
            </a:endParaRPr>
          </a:p>
          <a:p>
            <a:pPr marL="12700" marR="5080" indent="279400">
              <a:lnSpc>
                <a:spcPct val="100000"/>
              </a:lnSpc>
              <a:buAutoNum type="arabicPeriod" startAt="2"/>
              <a:tabLst>
                <a:tab pos="292100" algn="l"/>
              </a:tabLst>
            </a:pPr>
            <a:r>
              <a:rPr sz="2000" dirty="0">
                <a:latin typeface="Arial MT"/>
                <a:cs typeface="Arial MT"/>
              </a:rPr>
              <a:t>Find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salary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employee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whose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name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Allen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relation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emp_details.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ts val="2375"/>
              </a:lnSpc>
            </a:pPr>
            <a:r>
              <a:rPr sz="2000" b="1" spc="-10" dirty="0">
                <a:latin typeface="Arial"/>
                <a:cs typeface="Arial"/>
              </a:rPr>
              <a:t>Syntax:</a:t>
            </a:r>
            <a:endParaRPr sz="2000">
              <a:latin typeface="Arial"/>
              <a:cs typeface="Arial"/>
            </a:endParaRPr>
          </a:p>
          <a:p>
            <a:pPr marL="208915">
              <a:lnSpc>
                <a:spcPts val="2375"/>
              </a:lnSpc>
            </a:pPr>
            <a:r>
              <a:rPr sz="2000" dirty="0">
                <a:latin typeface="Calibri"/>
                <a:cs typeface="Calibri"/>
              </a:rPr>
              <a:t>∏</a:t>
            </a:r>
            <a:r>
              <a:rPr sz="2000" spc="3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sal(</a:t>
            </a:r>
            <a:r>
              <a:rPr sz="2000" dirty="0">
                <a:latin typeface="Symbol"/>
                <a:cs typeface="Symbol"/>
              </a:rPr>
              <a:t>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Calibri"/>
                <a:cs typeface="Calibri"/>
              </a:rPr>
              <a:t>ename=“Allen”(ρ </a:t>
            </a:r>
            <a:r>
              <a:rPr sz="2000" dirty="0">
                <a:latin typeface="Calibri"/>
                <a:cs typeface="Calibri"/>
              </a:rPr>
              <a:t>emp_details</a:t>
            </a:r>
            <a:r>
              <a:rPr sz="2000" spc="-10" dirty="0">
                <a:latin typeface="Calibri"/>
                <a:cs typeface="Calibri"/>
              </a:rPr>
              <a:t> (emp)))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1732" y="2494610"/>
            <a:ext cx="2480310" cy="159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ts val="6155"/>
              </a:lnSpc>
              <a:spcBef>
                <a:spcPts val="100"/>
              </a:spcBef>
            </a:pPr>
            <a:r>
              <a:rPr sz="5400" spc="-25" dirty="0">
                <a:latin typeface="Calibri Light"/>
                <a:cs typeface="Calibri Light"/>
              </a:rPr>
              <a:t>SET</a:t>
            </a:r>
            <a:endParaRPr sz="5400">
              <a:latin typeface="Calibri Light"/>
              <a:cs typeface="Calibri Light"/>
            </a:endParaRPr>
          </a:p>
          <a:p>
            <a:pPr algn="ctr">
              <a:lnSpc>
                <a:spcPts val="6155"/>
              </a:lnSpc>
            </a:pPr>
            <a:r>
              <a:rPr sz="5400" spc="-55" dirty="0">
                <a:latin typeface="Calibri Light"/>
                <a:cs typeface="Calibri Light"/>
              </a:rPr>
              <a:t>Operator</a:t>
            </a:r>
            <a:endParaRPr sz="54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87952" y="649223"/>
            <a:ext cx="7169150" cy="805180"/>
          </a:xfrm>
          <a:custGeom>
            <a:avLst/>
            <a:gdLst/>
            <a:ahLst/>
            <a:cxnLst/>
            <a:rect l="l" t="t" r="r" b="b"/>
            <a:pathLst>
              <a:path w="7169150" h="805180">
                <a:moveTo>
                  <a:pt x="7034783" y="0"/>
                </a:moveTo>
                <a:lnTo>
                  <a:pt x="134112" y="0"/>
                </a:lnTo>
                <a:lnTo>
                  <a:pt x="91732" y="6839"/>
                </a:lnTo>
                <a:lnTo>
                  <a:pt x="54918" y="25883"/>
                </a:lnTo>
                <a:lnTo>
                  <a:pt x="25883" y="54918"/>
                </a:lnTo>
                <a:lnTo>
                  <a:pt x="6839" y="91732"/>
                </a:lnTo>
                <a:lnTo>
                  <a:pt x="0" y="134112"/>
                </a:lnTo>
                <a:lnTo>
                  <a:pt x="0" y="670560"/>
                </a:lnTo>
                <a:lnTo>
                  <a:pt x="6839" y="712939"/>
                </a:lnTo>
                <a:lnTo>
                  <a:pt x="25883" y="749753"/>
                </a:lnTo>
                <a:lnTo>
                  <a:pt x="54918" y="778788"/>
                </a:lnTo>
                <a:lnTo>
                  <a:pt x="91732" y="797832"/>
                </a:lnTo>
                <a:lnTo>
                  <a:pt x="134112" y="804672"/>
                </a:lnTo>
                <a:lnTo>
                  <a:pt x="7034783" y="804672"/>
                </a:lnTo>
                <a:lnTo>
                  <a:pt x="7077163" y="797832"/>
                </a:lnTo>
                <a:lnTo>
                  <a:pt x="7113977" y="778788"/>
                </a:lnTo>
                <a:lnTo>
                  <a:pt x="7143012" y="749753"/>
                </a:lnTo>
                <a:lnTo>
                  <a:pt x="7162056" y="712939"/>
                </a:lnTo>
                <a:lnTo>
                  <a:pt x="7168896" y="670560"/>
                </a:lnTo>
                <a:lnTo>
                  <a:pt x="7168896" y="134112"/>
                </a:lnTo>
                <a:lnTo>
                  <a:pt x="7162056" y="91732"/>
                </a:lnTo>
                <a:lnTo>
                  <a:pt x="7143012" y="54918"/>
                </a:lnTo>
                <a:lnTo>
                  <a:pt x="7113977" y="25883"/>
                </a:lnTo>
                <a:lnTo>
                  <a:pt x="7077163" y="6839"/>
                </a:lnTo>
                <a:lnTo>
                  <a:pt x="703478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87952" y="1578863"/>
            <a:ext cx="7169150" cy="805180"/>
          </a:xfrm>
          <a:custGeom>
            <a:avLst/>
            <a:gdLst/>
            <a:ahLst/>
            <a:cxnLst/>
            <a:rect l="l" t="t" r="r" b="b"/>
            <a:pathLst>
              <a:path w="7169150" h="805180">
                <a:moveTo>
                  <a:pt x="7034783" y="0"/>
                </a:moveTo>
                <a:lnTo>
                  <a:pt x="134112" y="0"/>
                </a:lnTo>
                <a:lnTo>
                  <a:pt x="91732" y="6839"/>
                </a:lnTo>
                <a:lnTo>
                  <a:pt x="54918" y="25883"/>
                </a:lnTo>
                <a:lnTo>
                  <a:pt x="25883" y="54918"/>
                </a:lnTo>
                <a:lnTo>
                  <a:pt x="6839" y="91732"/>
                </a:lnTo>
                <a:lnTo>
                  <a:pt x="0" y="134112"/>
                </a:lnTo>
                <a:lnTo>
                  <a:pt x="0" y="670560"/>
                </a:lnTo>
                <a:lnTo>
                  <a:pt x="6839" y="712939"/>
                </a:lnTo>
                <a:lnTo>
                  <a:pt x="25883" y="749753"/>
                </a:lnTo>
                <a:lnTo>
                  <a:pt x="54918" y="778788"/>
                </a:lnTo>
                <a:lnTo>
                  <a:pt x="91732" y="797832"/>
                </a:lnTo>
                <a:lnTo>
                  <a:pt x="134112" y="804672"/>
                </a:lnTo>
                <a:lnTo>
                  <a:pt x="7034783" y="804672"/>
                </a:lnTo>
                <a:lnTo>
                  <a:pt x="7077163" y="797832"/>
                </a:lnTo>
                <a:lnTo>
                  <a:pt x="7113977" y="778788"/>
                </a:lnTo>
                <a:lnTo>
                  <a:pt x="7143012" y="749753"/>
                </a:lnTo>
                <a:lnTo>
                  <a:pt x="7162056" y="712939"/>
                </a:lnTo>
                <a:lnTo>
                  <a:pt x="7168896" y="670560"/>
                </a:lnTo>
                <a:lnTo>
                  <a:pt x="7168896" y="134112"/>
                </a:lnTo>
                <a:lnTo>
                  <a:pt x="7162056" y="91732"/>
                </a:lnTo>
                <a:lnTo>
                  <a:pt x="7143012" y="54918"/>
                </a:lnTo>
                <a:lnTo>
                  <a:pt x="7113977" y="25883"/>
                </a:lnTo>
                <a:lnTo>
                  <a:pt x="7077163" y="6839"/>
                </a:lnTo>
                <a:lnTo>
                  <a:pt x="7034783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91076" y="855980"/>
            <a:ext cx="6377305" cy="1400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Introduction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z="2000">
              <a:latin typeface="Calibri"/>
              <a:cs typeface="Calibri"/>
            </a:endParaRPr>
          </a:p>
          <a:p>
            <a:pPr marL="12700" marR="5080">
              <a:lnSpc>
                <a:spcPts val="221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allow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combining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more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statements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combines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queries.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87952" y="2506979"/>
            <a:ext cx="7169150" cy="805180"/>
          </a:xfrm>
          <a:custGeom>
            <a:avLst/>
            <a:gdLst/>
            <a:ahLst/>
            <a:cxnLst/>
            <a:rect l="l" t="t" r="r" b="b"/>
            <a:pathLst>
              <a:path w="7169150" h="805179">
                <a:moveTo>
                  <a:pt x="7034783" y="0"/>
                </a:moveTo>
                <a:lnTo>
                  <a:pt x="134112" y="0"/>
                </a:lnTo>
                <a:lnTo>
                  <a:pt x="91732" y="6839"/>
                </a:lnTo>
                <a:lnTo>
                  <a:pt x="54918" y="25883"/>
                </a:lnTo>
                <a:lnTo>
                  <a:pt x="25883" y="54918"/>
                </a:lnTo>
                <a:lnTo>
                  <a:pt x="6839" y="91732"/>
                </a:lnTo>
                <a:lnTo>
                  <a:pt x="0" y="134112"/>
                </a:lnTo>
                <a:lnTo>
                  <a:pt x="0" y="670560"/>
                </a:lnTo>
                <a:lnTo>
                  <a:pt x="6839" y="712939"/>
                </a:lnTo>
                <a:lnTo>
                  <a:pt x="25883" y="749753"/>
                </a:lnTo>
                <a:lnTo>
                  <a:pt x="54918" y="778788"/>
                </a:lnTo>
                <a:lnTo>
                  <a:pt x="91732" y="797832"/>
                </a:lnTo>
                <a:lnTo>
                  <a:pt x="134112" y="804672"/>
                </a:lnTo>
                <a:lnTo>
                  <a:pt x="7034783" y="804672"/>
                </a:lnTo>
                <a:lnTo>
                  <a:pt x="7077163" y="797832"/>
                </a:lnTo>
                <a:lnTo>
                  <a:pt x="7113977" y="778788"/>
                </a:lnTo>
                <a:lnTo>
                  <a:pt x="7143012" y="749753"/>
                </a:lnTo>
                <a:lnTo>
                  <a:pt x="7162056" y="712939"/>
                </a:lnTo>
                <a:lnTo>
                  <a:pt x="7168896" y="670560"/>
                </a:lnTo>
                <a:lnTo>
                  <a:pt x="7168896" y="134112"/>
                </a:lnTo>
                <a:lnTo>
                  <a:pt x="7162056" y="91732"/>
                </a:lnTo>
                <a:lnTo>
                  <a:pt x="7143012" y="54918"/>
                </a:lnTo>
                <a:lnTo>
                  <a:pt x="7113977" y="25883"/>
                </a:lnTo>
                <a:lnTo>
                  <a:pt x="7077163" y="6839"/>
                </a:lnTo>
                <a:lnTo>
                  <a:pt x="703478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91076" y="2574417"/>
            <a:ext cx="6960234" cy="6115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queries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combined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operations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union,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intersection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difference.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87952" y="3436620"/>
            <a:ext cx="7169150" cy="805180"/>
          </a:xfrm>
          <a:custGeom>
            <a:avLst/>
            <a:gdLst/>
            <a:ahLst/>
            <a:cxnLst/>
            <a:rect l="l" t="t" r="r" b="b"/>
            <a:pathLst>
              <a:path w="7169150" h="805179">
                <a:moveTo>
                  <a:pt x="7034783" y="0"/>
                </a:moveTo>
                <a:lnTo>
                  <a:pt x="134112" y="0"/>
                </a:lnTo>
                <a:lnTo>
                  <a:pt x="91732" y="6839"/>
                </a:lnTo>
                <a:lnTo>
                  <a:pt x="54918" y="25883"/>
                </a:lnTo>
                <a:lnTo>
                  <a:pt x="25883" y="54918"/>
                </a:lnTo>
                <a:lnTo>
                  <a:pt x="6839" y="91732"/>
                </a:lnTo>
                <a:lnTo>
                  <a:pt x="0" y="134112"/>
                </a:lnTo>
                <a:lnTo>
                  <a:pt x="0" y="670559"/>
                </a:lnTo>
                <a:lnTo>
                  <a:pt x="6839" y="712939"/>
                </a:lnTo>
                <a:lnTo>
                  <a:pt x="25883" y="749753"/>
                </a:lnTo>
                <a:lnTo>
                  <a:pt x="54918" y="778788"/>
                </a:lnTo>
                <a:lnTo>
                  <a:pt x="91732" y="797832"/>
                </a:lnTo>
                <a:lnTo>
                  <a:pt x="134112" y="804671"/>
                </a:lnTo>
                <a:lnTo>
                  <a:pt x="7034783" y="804671"/>
                </a:lnTo>
                <a:lnTo>
                  <a:pt x="7077163" y="797832"/>
                </a:lnTo>
                <a:lnTo>
                  <a:pt x="7113977" y="778788"/>
                </a:lnTo>
                <a:lnTo>
                  <a:pt x="7143012" y="749753"/>
                </a:lnTo>
                <a:lnTo>
                  <a:pt x="7162056" y="712939"/>
                </a:lnTo>
                <a:lnTo>
                  <a:pt x="7168896" y="670559"/>
                </a:lnTo>
                <a:lnTo>
                  <a:pt x="7168896" y="134112"/>
                </a:lnTo>
                <a:lnTo>
                  <a:pt x="7162056" y="91732"/>
                </a:lnTo>
                <a:lnTo>
                  <a:pt x="7143012" y="54918"/>
                </a:lnTo>
                <a:lnTo>
                  <a:pt x="7113977" y="25883"/>
                </a:lnTo>
                <a:lnTo>
                  <a:pt x="7077163" y="6839"/>
                </a:lnTo>
                <a:lnTo>
                  <a:pt x="703478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91076" y="3642740"/>
            <a:ext cx="14693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Requirements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87952" y="4364735"/>
            <a:ext cx="7169150" cy="805180"/>
          </a:xfrm>
          <a:custGeom>
            <a:avLst/>
            <a:gdLst/>
            <a:ahLst/>
            <a:cxnLst/>
            <a:rect l="l" t="t" r="r" b="b"/>
            <a:pathLst>
              <a:path w="7169150" h="805179">
                <a:moveTo>
                  <a:pt x="7034783" y="0"/>
                </a:moveTo>
                <a:lnTo>
                  <a:pt x="134112" y="0"/>
                </a:lnTo>
                <a:lnTo>
                  <a:pt x="91732" y="6839"/>
                </a:lnTo>
                <a:lnTo>
                  <a:pt x="54918" y="25883"/>
                </a:lnTo>
                <a:lnTo>
                  <a:pt x="25883" y="54918"/>
                </a:lnTo>
                <a:lnTo>
                  <a:pt x="6839" y="91732"/>
                </a:lnTo>
                <a:lnTo>
                  <a:pt x="0" y="134112"/>
                </a:lnTo>
                <a:lnTo>
                  <a:pt x="0" y="670559"/>
                </a:lnTo>
                <a:lnTo>
                  <a:pt x="6839" y="712939"/>
                </a:lnTo>
                <a:lnTo>
                  <a:pt x="25883" y="749753"/>
                </a:lnTo>
                <a:lnTo>
                  <a:pt x="54918" y="778788"/>
                </a:lnTo>
                <a:lnTo>
                  <a:pt x="91732" y="797832"/>
                </a:lnTo>
                <a:lnTo>
                  <a:pt x="134112" y="804671"/>
                </a:lnTo>
                <a:lnTo>
                  <a:pt x="7034783" y="804671"/>
                </a:lnTo>
                <a:lnTo>
                  <a:pt x="7077163" y="797832"/>
                </a:lnTo>
                <a:lnTo>
                  <a:pt x="7113977" y="778788"/>
                </a:lnTo>
                <a:lnTo>
                  <a:pt x="7143012" y="749753"/>
                </a:lnTo>
                <a:lnTo>
                  <a:pt x="7162056" y="712939"/>
                </a:lnTo>
                <a:lnTo>
                  <a:pt x="7168896" y="670559"/>
                </a:lnTo>
                <a:lnTo>
                  <a:pt x="7168896" y="134112"/>
                </a:lnTo>
                <a:lnTo>
                  <a:pt x="7162056" y="91732"/>
                </a:lnTo>
                <a:lnTo>
                  <a:pt x="7143012" y="54918"/>
                </a:lnTo>
                <a:lnTo>
                  <a:pt x="7113977" y="25883"/>
                </a:lnTo>
                <a:lnTo>
                  <a:pt x="7077163" y="6839"/>
                </a:lnTo>
                <a:lnTo>
                  <a:pt x="7034783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87952" y="5294376"/>
            <a:ext cx="7169150" cy="805180"/>
          </a:xfrm>
          <a:custGeom>
            <a:avLst/>
            <a:gdLst/>
            <a:ahLst/>
            <a:cxnLst/>
            <a:rect l="l" t="t" r="r" b="b"/>
            <a:pathLst>
              <a:path w="7169150" h="805179">
                <a:moveTo>
                  <a:pt x="7034783" y="0"/>
                </a:moveTo>
                <a:lnTo>
                  <a:pt x="134112" y="0"/>
                </a:lnTo>
                <a:lnTo>
                  <a:pt x="91732" y="6839"/>
                </a:lnTo>
                <a:lnTo>
                  <a:pt x="54918" y="25883"/>
                </a:lnTo>
                <a:lnTo>
                  <a:pt x="25883" y="54918"/>
                </a:lnTo>
                <a:lnTo>
                  <a:pt x="6839" y="91732"/>
                </a:lnTo>
                <a:lnTo>
                  <a:pt x="0" y="134112"/>
                </a:lnTo>
                <a:lnTo>
                  <a:pt x="0" y="670560"/>
                </a:lnTo>
                <a:lnTo>
                  <a:pt x="6839" y="712949"/>
                </a:lnTo>
                <a:lnTo>
                  <a:pt x="25883" y="749764"/>
                </a:lnTo>
                <a:lnTo>
                  <a:pt x="54918" y="778795"/>
                </a:lnTo>
                <a:lnTo>
                  <a:pt x="91732" y="797834"/>
                </a:lnTo>
                <a:lnTo>
                  <a:pt x="134112" y="804672"/>
                </a:lnTo>
                <a:lnTo>
                  <a:pt x="7034783" y="804672"/>
                </a:lnTo>
                <a:lnTo>
                  <a:pt x="7077163" y="797834"/>
                </a:lnTo>
                <a:lnTo>
                  <a:pt x="7113977" y="778795"/>
                </a:lnTo>
                <a:lnTo>
                  <a:pt x="7143012" y="749764"/>
                </a:lnTo>
                <a:lnTo>
                  <a:pt x="7162056" y="712949"/>
                </a:lnTo>
                <a:lnTo>
                  <a:pt x="7168896" y="670560"/>
                </a:lnTo>
                <a:lnTo>
                  <a:pt x="7168896" y="134112"/>
                </a:lnTo>
                <a:lnTo>
                  <a:pt x="7162056" y="91732"/>
                </a:lnTo>
                <a:lnTo>
                  <a:pt x="7143012" y="54918"/>
                </a:lnTo>
                <a:lnTo>
                  <a:pt x="7113977" y="25883"/>
                </a:lnTo>
                <a:lnTo>
                  <a:pt x="7077163" y="6839"/>
                </a:lnTo>
                <a:lnTo>
                  <a:pt x="703478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91076" y="4432172"/>
            <a:ext cx="6884034" cy="1540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sz="2000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both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queries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retrieve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305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columns.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2000">
              <a:latin typeface="Calibri"/>
              <a:cs typeface="Calibri"/>
            </a:endParaRPr>
          </a:p>
          <a:p>
            <a:pPr marL="12700" marR="421640">
              <a:lnSpc>
                <a:spcPts val="221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corresponding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type.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62227"/>
            <a:ext cx="196850" cy="673735"/>
          </a:xfrm>
          <a:custGeom>
            <a:avLst/>
            <a:gdLst/>
            <a:ahLst/>
            <a:cxnLst/>
            <a:rect l="l" t="t" r="r" b="b"/>
            <a:pathLst>
              <a:path w="196850" h="673735">
                <a:moveTo>
                  <a:pt x="196596" y="0"/>
                </a:moveTo>
                <a:lnTo>
                  <a:pt x="0" y="0"/>
                </a:lnTo>
                <a:lnTo>
                  <a:pt x="0" y="673608"/>
                </a:lnTo>
                <a:lnTo>
                  <a:pt x="196596" y="673608"/>
                </a:lnTo>
                <a:lnTo>
                  <a:pt x="19659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8224" y="1062227"/>
            <a:ext cx="195580" cy="673735"/>
          </a:xfrm>
          <a:custGeom>
            <a:avLst/>
            <a:gdLst/>
            <a:ahLst/>
            <a:cxnLst/>
            <a:rect l="l" t="t" r="r" b="b"/>
            <a:pathLst>
              <a:path w="195579" h="673735">
                <a:moveTo>
                  <a:pt x="195072" y="0"/>
                </a:moveTo>
                <a:lnTo>
                  <a:pt x="0" y="0"/>
                </a:lnTo>
                <a:lnTo>
                  <a:pt x="0" y="673608"/>
                </a:lnTo>
                <a:lnTo>
                  <a:pt x="195072" y="673608"/>
                </a:lnTo>
                <a:lnTo>
                  <a:pt x="19507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8348" y="641604"/>
            <a:ext cx="5864860" cy="1705610"/>
            <a:chOff x="498348" y="641604"/>
            <a:chExt cx="5864860" cy="1705610"/>
          </a:xfrm>
        </p:grpSpPr>
        <p:sp>
          <p:nvSpPr>
            <p:cNvPr id="5" name="object 5"/>
            <p:cNvSpPr/>
            <p:nvPr/>
          </p:nvSpPr>
          <p:spPr>
            <a:xfrm>
              <a:off x="534924" y="1062227"/>
              <a:ext cx="105410" cy="673735"/>
            </a:xfrm>
            <a:custGeom>
              <a:avLst/>
              <a:gdLst/>
              <a:ahLst/>
              <a:cxnLst/>
              <a:rect l="l" t="t" r="r" b="b"/>
              <a:pathLst>
                <a:path w="105409" h="673735">
                  <a:moveTo>
                    <a:pt x="0" y="673608"/>
                  </a:moveTo>
                  <a:lnTo>
                    <a:pt x="105156" y="673608"/>
                  </a:lnTo>
                  <a:lnTo>
                    <a:pt x="105156" y="0"/>
                  </a:lnTo>
                  <a:lnTo>
                    <a:pt x="0" y="0"/>
                  </a:lnTo>
                  <a:lnTo>
                    <a:pt x="0" y="673608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348" y="641604"/>
              <a:ext cx="5864352" cy="170535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0080" y="656844"/>
            <a:ext cx="5590540" cy="1431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04495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3185"/>
              </a:spcBef>
            </a:pPr>
            <a:r>
              <a:rPr sz="3600" dirty="0"/>
              <a:t>1.</a:t>
            </a:r>
            <a:r>
              <a:rPr sz="3600" spc="-120" dirty="0"/>
              <a:t> </a:t>
            </a:r>
            <a:r>
              <a:rPr sz="3600" spc="-10" dirty="0"/>
              <a:t>Union</a:t>
            </a:r>
            <a:r>
              <a:rPr sz="3600" spc="-135" dirty="0"/>
              <a:t> </a:t>
            </a:r>
            <a:r>
              <a:rPr sz="3600" spc="-40" dirty="0"/>
              <a:t>operation</a:t>
            </a:r>
            <a:r>
              <a:rPr sz="3600" spc="-130" dirty="0"/>
              <a:t> </a:t>
            </a:r>
            <a:r>
              <a:rPr sz="3600" spc="-25" dirty="0"/>
              <a:t>(υ)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1123899" y="2162682"/>
            <a:ext cx="4726940" cy="332803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41300" marR="33655" indent="-229235">
              <a:lnSpc>
                <a:spcPct val="80000"/>
              </a:lnSpc>
              <a:spcBef>
                <a:spcPts val="509"/>
              </a:spcBef>
              <a:buClr>
                <a:srgbClr val="FFAB35"/>
              </a:buClr>
              <a:buFont typeface="Arial MT"/>
              <a:buChar char="•"/>
              <a:tabLst>
                <a:tab pos="241300" algn="l"/>
              </a:tabLst>
            </a:pPr>
            <a:r>
              <a:rPr sz="1700" dirty="0">
                <a:latin typeface="Calibri"/>
                <a:cs typeface="Calibri"/>
              </a:rPr>
              <a:t>UNION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symbolized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mbria Math"/>
                <a:cs typeface="Cambria Math"/>
              </a:rPr>
              <a:t>∪</a:t>
            </a:r>
            <a:r>
              <a:rPr sz="1700" spc="-5" dirty="0">
                <a:latin typeface="Cambria Math"/>
                <a:cs typeface="Cambria Math"/>
              </a:rPr>
              <a:t> </a:t>
            </a:r>
            <a:r>
              <a:rPr sz="1700" dirty="0">
                <a:latin typeface="Calibri"/>
                <a:cs typeface="Calibri"/>
              </a:rPr>
              <a:t>symbol.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It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includes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all </a:t>
            </a:r>
            <a:r>
              <a:rPr sz="1700" dirty="0">
                <a:latin typeface="Calibri"/>
                <a:cs typeface="Calibri"/>
              </a:rPr>
              <a:t>tuples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that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are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tables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or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B.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It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also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eliminates </a:t>
            </a:r>
            <a:r>
              <a:rPr sz="1700" dirty="0">
                <a:latin typeface="Calibri"/>
                <a:cs typeface="Calibri"/>
              </a:rPr>
              <a:t>duplicate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tuples.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So,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set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UNION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set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would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be </a:t>
            </a:r>
            <a:r>
              <a:rPr sz="1700" dirty="0">
                <a:latin typeface="Calibri"/>
                <a:cs typeface="Calibri"/>
              </a:rPr>
              <a:t>expressed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as: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90"/>
              </a:spcBef>
              <a:buClr>
                <a:srgbClr val="FFAB35"/>
              </a:buClr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alibri"/>
                <a:cs typeface="Calibri"/>
              </a:rPr>
              <a:t>Syntax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&lt;-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mbria Math"/>
                <a:cs typeface="Cambria Math"/>
              </a:rPr>
              <a:t>∪</a:t>
            </a:r>
            <a:r>
              <a:rPr sz="1700" spc="-5" dirty="0">
                <a:latin typeface="Cambria Math"/>
                <a:cs typeface="Cambria Math"/>
              </a:rPr>
              <a:t> </a:t>
            </a:r>
            <a:r>
              <a:rPr sz="1700" spc="-50" dirty="0">
                <a:latin typeface="Calibri"/>
                <a:cs typeface="Calibri"/>
              </a:rPr>
              <a:t>B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85"/>
              </a:spcBef>
              <a:buClr>
                <a:srgbClr val="FFAB35"/>
              </a:buClr>
              <a:buFont typeface="Arial MT"/>
              <a:buChar char="•"/>
              <a:tabLst>
                <a:tab pos="240665" algn="l"/>
              </a:tabLst>
            </a:pPr>
            <a:r>
              <a:rPr sz="1700" dirty="0">
                <a:latin typeface="Calibri"/>
                <a:cs typeface="Calibri"/>
              </a:rPr>
              <a:t>(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Query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Expression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1)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Query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Expression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2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0" dirty="0">
                <a:latin typeface="Calibri"/>
                <a:cs typeface="Calibri"/>
              </a:rPr>
              <a:t>)</a:t>
            </a:r>
            <a:endParaRPr sz="1700">
              <a:latin typeface="Calibri"/>
              <a:cs typeface="Calibri"/>
            </a:endParaRPr>
          </a:p>
          <a:p>
            <a:pPr marL="241300" marR="370205" indent="-229235">
              <a:lnSpc>
                <a:spcPct val="80000"/>
              </a:lnSpc>
              <a:spcBef>
                <a:spcPts val="1010"/>
              </a:spcBef>
              <a:buClr>
                <a:srgbClr val="FFAB35"/>
              </a:buClr>
              <a:buFont typeface="Arial MT"/>
              <a:buChar char="•"/>
              <a:tabLst>
                <a:tab pos="241300" algn="l"/>
              </a:tabLst>
            </a:pPr>
            <a:r>
              <a:rPr sz="1700" dirty="0">
                <a:latin typeface="Calibri"/>
                <a:cs typeface="Calibri"/>
              </a:rPr>
              <a:t>For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union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operation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valid,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following </a:t>
            </a:r>
            <a:r>
              <a:rPr sz="1700" dirty="0">
                <a:latin typeface="Calibri"/>
                <a:cs typeface="Calibri"/>
              </a:rPr>
              <a:t>conditions</a:t>
            </a:r>
            <a:r>
              <a:rPr sz="1700" spc="-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must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hold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50" dirty="0">
                <a:latin typeface="Calibri"/>
                <a:cs typeface="Calibri"/>
              </a:rPr>
              <a:t>-</a:t>
            </a:r>
            <a:endParaRPr sz="1700">
              <a:latin typeface="Calibri"/>
              <a:cs typeface="Calibri"/>
            </a:endParaRPr>
          </a:p>
          <a:p>
            <a:pPr marL="241300" marR="5080" indent="-229235">
              <a:lnSpc>
                <a:spcPts val="1630"/>
              </a:lnSpc>
              <a:spcBef>
                <a:spcPts val="985"/>
              </a:spcBef>
              <a:buClr>
                <a:srgbClr val="FFAB35"/>
              </a:buClr>
              <a:buFont typeface="Arial MT"/>
              <a:buChar char="•"/>
              <a:tabLst>
                <a:tab pos="241300" algn="l"/>
              </a:tabLst>
            </a:pPr>
            <a:r>
              <a:rPr sz="1700" spc="-20" dirty="0">
                <a:latin typeface="Calibri"/>
                <a:cs typeface="Calibri"/>
              </a:rPr>
              <a:t>Table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Table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must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have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same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number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of </a:t>
            </a:r>
            <a:r>
              <a:rPr sz="1700" spc="-10" dirty="0">
                <a:latin typeface="Calibri"/>
                <a:cs typeface="Calibri"/>
              </a:rPr>
              <a:t>attributes.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05"/>
              </a:spcBef>
              <a:buClr>
                <a:srgbClr val="FFAB35"/>
              </a:buClr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alibri"/>
                <a:cs typeface="Calibri"/>
              </a:rPr>
              <a:t>Attribute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domains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need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compatible.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Clr>
                <a:srgbClr val="FFAB35"/>
              </a:buClr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alibri"/>
                <a:cs typeface="Calibri"/>
              </a:rPr>
              <a:t>Duplicate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tuples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should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 </a:t>
            </a:r>
            <a:r>
              <a:rPr sz="1700" spc="-10" dirty="0">
                <a:latin typeface="Calibri"/>
                <a:cs typeface="Calibri"/>
              </a:rPr>
              <a:t>automatically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removed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8200" y="658368"/>
            <a:ext cx="10648315" cy="5862955"/>
            <a:chOff x="838200" y="658368"/>
            <a:chExt cx="10648315" cy="586295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8693" y="697822"/>
              <a:ext cx="4921240" cy="28623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633971" y="658368"/>
              <a:ext cx="4719955" cy="2679700"/>
            </a:xfrm>
            <a:custGeom>
              <a:avLst/>
              <a:gdLst/>
              <a:ahLst/>
              <a:cxnLst/>
              <a:rect l="l" t="t" r="r" b="b"/>
              <a:pathLst>
                <a:path w="4719955" h="2679700">
                  <a:moveTo>
                    <a:pt x="4719828" y="0"/>
                  </a:moveTo>
                  <a:lnTo>
                    <a:pt x="0" y="0"/>
                  </a:lnTo>
                  <a:lnTo>
                    <a:pt x="0" y="2679191"/>
                  </a:lnTo>
                  <a:lnTo>
                    <a:pt x="4719828" y="2679191"/>
                  </a:lnTo>
                  <a:lnTo>
                    <a:pt x="4719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92240" y="3515868"/>
              <a:ext cx="4994148" cy="295351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633971" y="3531107"/>
              <a:ext cx="4719955" cy="2679700"/>
            </a:xfrm>
            <a:custGeom>
              <a:avLst/>
              <a:gdLst/>
              <a:ahLst/>
              <a:cxnLst/>
              <a:rect l="l" t="t" r="r" b="b"/>
              <a:pathLst>
                <a:path w="4719955" h="2679700">
                  <a:moveTo>
                    <a:pt x="4719828" y="0"/>
                  </a:moveTo>
                  <a:lnTo>
                    <a:pt x="0" y="0"/>
                  </a:lnTo>
                  <a:lnTo>
                    <a:pt x="0" y="2679192"/>
                  </a:lnTo>
                  <a:lnTo>
                    <a:pt x="4719828" y="2679192"/>
                  </a:lnTo>
                  <a:lnTo>
                    <a:pt x="4719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81800" y="949452"/>
              <a:ext cx="4306824" cy="221589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38200" y="6492239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>
                  <a:moveTo>
                    <a:pt x="10515600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15656" y="3628644"/>
              <a:ext cx="2156459" cy="23164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5552" y="2994482"/>
            <a:ext cx="2125345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600" spc="-40" dirty="0">
                <a:latin typeface="Calibri Light"/>
                <a:cs typeface="Calibri Light"/>
              </a:rPr>
              <a:t>Example:</a:t>
            </a:r>
            <a:endParaRPr sz="4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37708" y="983742"/>
            <a:ext cx="36239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Consider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following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relations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37708" y="1316286"/>
            <a:ext cx="5225415" cy="13144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28000"/>
              </a:lnSpc>
              <a:spcBef>
                <a:spcPts val="110"/>
              </a:spcBef>
            </a:pPr>
            <a:r>
              <a:rPr sz="2200" spc="-10" dirty="0">
                <a:latin typeface="Calibri"/>
                <a:cs typeface="Calibri"/>
              </a:rPr>
              <a:t>Borrower(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customer_name,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loan_number) Depositor(customer_name,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account_number) Customer(customer_name,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streetno,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city)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7708" y="3556761"/>
            <a:ext cx="6078855" cy="18224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390"/>
              </a:spcBef>
            </a:pPr>
            <a:r>
              <a:rPr sz="2200" dirty="0">
                <a:latin typeface="Calibri"/>
                <a:cs typeface="Calibri"/>
              </a:rPr>
              <a:t>Qn.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List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customers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either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account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loan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both.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200" spc="-10" dirty="0">
                <a:latin typeface="Calibri"/>
                <a:cs typeface="Calibri"/>
              </a:rPr>
              <a:t>Syntax:</a:t>
            </a:r>
            <a:endParaRPr sz="2200">
              <a:latin typeface="Calibri"/>
              <a:cs typeface="Calibri"/>
            </a:endParaRPr>
          </a:p>
          <a:p>
            <a:pPr marL="76200">
              <a:lnSpc>
                <a:spcPts val="2510"/>
              </a:lnSpc>
              <a:spcBef>
                <a:spcPts val="750"/>
              </a:spcBef>
            </a:pPr>
            <a:r>
              <a:rPr sz="2200" b="1" dirty="0">
                <a:latin typeface="Calibri"/>
                <a:cs typeface="Calibri"/>
              </a:rPr>
              <a:t>∏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customer_name(Borrower)</a:t>
            </a:r>
            <a:r>
              <a:rPr sz="2200" b="1" dirty="0">
                <a:latin typeface="Calibri"/>
                <a:cs typeface="Calibri"/>
              </a:rPr>
              <a:t> U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50" dirty="0">
                <a:latin typeface="Calibri"/>
                <a:cs typeface="Calibri"/>
              </a:rPr>
              <a:t>∏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510"/>
              </a:lnSpc>
            </a:pPr>
            <a:r>
              <a:rPr sz="2200" b="1" spc="-10" dirty="0">
                <a:latin typeface="Calibri"/>
                <a:cs typeface="Calibri"/>
              </a:rPr>
              <a:t>customer_name(Depositor)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95101" y="656335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62227"/>
            <a:ext cx="196850" cy="673735"/>
          </a:xfrm>
          <a:custGeom>
            <a:avLst/>
            <a:gdLst/>
            <a:ahLst/>
            <a:cxnLst/>
            <a:rect l="l" t="t" r="r" b="b"/>
            <a:pathLst>
              <a:path w="196850" h="673735">
                <a:moveTo>
                  <a:pt x="196596" y="0"/>
                </a:moveTo>
                <a:lnTo>
                  <a:pt x="0" y="0"/>
                </a:lnTo>
                <a:lnTo>
                  <a:pt x="0" y="673608"/>
                </a:lnTo>
                <a:lnTo>
                  <a:pt x="196596" y="673608"/>
                </a:lnTo>
                <a:lnTo>
                  <a:pt x="19659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8224" y="1062227"/>
            <a:ext cx="195580" cy="673735"/>
          </a:xfrm>
          <a:custGeom>
            <a:avLst/>
            <a:gdLst/>
            <a:ahLst/>
            <a:cxnLst/>
            <a:rect l="l" t="t" r="r" b="b"/>
            <a:pathLst>
              <a:path w="195579" h="673735">
                <a:moveTo>
                  <a:pt x="195072" y="0"/>
                </a:moveTo>
                <a:lnTo>
                  <a:pt x="0" y="0"/>
                </a:lnTo>
                <a:lnTo>
                  <a:pt x="0" y="673608"/>
                </a:lnTo>
                <a:lnTo>
                  <a:pt x="195072" y="673608"/>
                </a:lnTo>
                <a:lnTo>
                  <a:pt x="19507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8348" y="641604"/>
            <a:ext cx="5864860" cy="1705610"/>
            <a:chOff x="498348" y="641604"/>
            <a:chExt cx="5864860" cy="1705610"/>
          </a:xfrm>
        </p:grpSpPr>
        <p:sp>
          <p:nvSpPr>
            <p:cNvPr id="5" name="object 5"/>
            <p:cNvSpPr/>
            <p:nvPr/>
          </p:nvSpPr>
          <p:spPr>
            <a:xfrm>
              <a:off x="534924" y="1062227"/>
              <a:ext cx="105410" cy="673735"/>
            </a:xfrm>
            <a:custGeom>
              <a:avLst/>
              <a:gdLst/>
              <a:ahLst/>
              <a:cxnLst/>
              <a:rect l="l" t="t" r="r" b="b"/>
              <a:pathLst>
                <a:path w="105409" h="673735">
                  <a:moveTo>
                    <a:pt x="0" y="673608"/>
                  </a:moveTo>
                  <a:lnTo>
                    <a:pt x="105156" y="673608"/>
                  </a:lnTo>
                  <a:lnTo>
                    <a:pt x="105156" y="0"/>
                  </a:lnTo>
                  <a:lnTo>
                    <a:pt x="0" y="0"/>
                  </a:lnTo>
                  <a:lnTo>
                    <a:pt x="0" y="673608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348" y="641604"/>
              <a:ext cx="5864352" cy="170535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0080" y="656844"/>
            <a:ext cx="5590540" cy="1431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4470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1610"/>
              </a:spcBef>
            </a:pPr>
            <a:r>
              <a:rPr sz="3300" dirty="0"/>
              <a:t>2.</a:t>
            </a:r>
            <a:r>
              <a:rPr sz="3300" spc="-80" dirty="0"/>
              <a:t> </a:t>
            </a:r>
            <a:r>
              <a:rPr sz="3300" spc="-35" dirty="0"/>
              <a:t>Intersection</a:t>
            </a:r>
            <a:r>
              <a:rPr sz="3300" spc="-110" dirty="0"/>
              <a:t> </a:t>
            </a:r>
            <a:r>
              <a:rPr sz="3300" spc="-10" dirty="0"/>
              <a:t>Operation</a:t>
            </a:r>
            <a:endParaRPr sz="3300"/>
          </a:p>
        </p:txBody>
      </p:sp>
      <p:sp>
        <p:nvSpPr>
          <p:cNvPr id="8" name="object 8"/>
          <p:cNvSpPr txBox="1"/>
          <p:nvPr/>
        </p:nvSpPr>
        <p:spPr>
          <a:xfrm>
            <a:off x="1123899" y="2526280"/>
            <a:ext cx="4613910" cy="312356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intersection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symbol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∩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∩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  <a:p>
            <a:pPr marL="241300" marR="85725" indent="-229235">
              <a:lnSpc>
                <a:spcPts val="216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Defines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relation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consisting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25" dirty="0">
                <a:latin typeface="Times New Roman"/>
                <a:cs typeface="Times New Roman"/>
              </a:rPr>
              <a:t>all </a:t>
            </a:r>
            <a:r>
              <a:rPr sz="2000" dirty="0">
                <a:latin typeface="Times New Roman"/>
                <a:cs typeface="Times New Roman"/>
              </a:rPr>
              <a:t>tuple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both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B.</a:t>
            </a:r>
            <a:endParaRPr sz="2000">
              <a:latin typeface="Times New Roman"/>
              <a:cs typeface="Times New Roman"/>
            </a:endParaRPr>
          </a:p>
          <a:p>
            <a:pPr marL="241300" marR="13335" indent="-229235">
              <a:lnSpc>
                <a:spcPct val="901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finds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 rows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are </a:t>
            </a:r>
            <a:r>
              <a:rPr sz="2000" dirty="0">
                <a:latin typeface="Times New Roman"/>
                <a:cs typeface="Times New Roman"/>
              </a:rPr>
              <a:t>common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both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query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result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2.</a:t>
            </a:r>
            <a:endParaRPr sz="2000">
              <a:latin typeface="Times New Roman"/>
              <a:cs typeface="Times New Roman"/>
            </a:endParaRPr>
          </a:p>
          <a:p>
            <a:pPr marL="241300" marR="372110" indent="-229235">
              <a:lnSpc>
                <a:spcPts val="2110"/>
              </a:lnSpc>
              <a:spcBef>
                <a:spcPts val="106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Syntax: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(Query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1)∩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(Query </a:t>
            </a:r>
            <a:r>
              <a:rPr sz="2000" dirty="0">
                <a:latin typeface="Times New Roman"/>
                <a:cs typeface="Times New Roman"/>
              </a:rPr>
              <a:t>Expression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2)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8200" y="658368"/>
            <a:ext cx="10648315" cy="5862955"/>
            <a:chOff x="838200" y="658368"/>
            <a:chExt cx="10648315" cy="586295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8693" y="697822"/>
              <a:ext cx="4921240" cy="28623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633971" y="658368"/>
              <a:ext cx="4719955" cy="2679700"/>
            </a:xfrm>
            <a:custGeom>
              <a:avLst/>
              <a:gdLst/>
              <a:ahLst/>
              <a:cxnLst/>
              <a:rect l="l" t="t" r="r" b="b"/>
              <a:pathLst>
                <a:path w="4719955" h="2679700">
                  <a:moveTo>
                    <a:pt x="4719828" y="0"/>
                  </a:moveTo>
                  <a:lnTo>
                    <a:pt x="0" y="0"/>
                  </a:lnTo>
                  <a:lnTo>
                    <a:pt x="0" y="2679191"/>
                  </a:lnTo>
                  <a:lnTo>
                    <a:pt x="4719828" y="2679191"/>
                  </a:lnTo>
                  <a:lnTo>
                    <a:pt x="4719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1235" y="943356"/>
              <a:ext cx="4305300" cy="211378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92240" y="3515868"/>
              <a:ext cx="4994148" cy="295351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633971" y="3531107"/>
              <a:ext cx="4719955" cy="2679700"/>
            </a:xfrm>
            <a:custGeom>
              <a:avLst/>
              <a:gdLst/>
              <a:ahLst/>
              <a:cxnLst/>
              <a:rect l="l" t="t" r="r" b="b"/>
              <a:pathLst>
                <a:path w="4719955" h="2679700">
                  <a:moveTo>
                    <a:pt x="4719828" y="0"/>
                  </a:moveTo>
                  <a:lnTo>
                    <a:pt x="0" y="0"/>
                  </a:lnTo>
                  <a:lnTo>
                    <a:pt x="0" y="2679192"/>
                  </a:lnTo>
                  <a:lnTo>
                    <a:pt x="4719828" y="2679192"/>
                  </a:lnTo>
                  <a:lnTo>
                    <a:pt x="4719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41235" y="4259579"/>
              <a:ext cx="4305300" cy="120548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38200" y="6492239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>
                  <a:moveTo>
                    <a:pt x="10515600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2629" y="518236"/>
            <a:ext cx="23139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50" dirty="0"/>
              <a:t>Example</a:t>
            </a:r>
            <a:endParaRPr sz="5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548" y="646553"/>
            <a:ext cx="717297" cy="7647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1711807"/>
            <a:ext cx="8766175" cy="438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46095">
              <a:lnSpc>
                <a:spcPct val="1219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Consider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following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relations</a:t>
            </a:r>
            <a:r>
              <a:rPr sz="2600" spc="6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Borrower(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customer_name,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loan_number)</a:t>
            </a:r>
            <a:endParaRPr sz="2600">
              <a:latin typeface="Calibri"/>
              <a:cs typeface="Calibri"/>
            </a:endParaRPr>
          </a:p>
          <a:p>
            <a:pPr marL="12700" marR="2587625">
              <a:lnSpc>
                <a:spcPct val="121900"/>
              </a:lnSpc>
              <a:spcBef>
                <a:spcPts val="15"/>
              </a:spcBef>
            </a:pPr>
            <a:r>
              <a:rPr sz="2600" spc="-10" dirty="0">
                <a:latin typeface="Calibri"/>
                <a:cs typeface="Calibri"/>
              </a:rPr>
              <a:t>Depositor(customer_name,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account_number) Customer(customer_name,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streetno,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city)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600">
              <a:latin typeface="Calibri"/>
              <a:cs typeface="Calibri"/>
            </a:endParaRPr>
          </a:p>
          <a:p>
            <a:pPr marL="12700" marR="197485">
              <a:lnSpc>
                <a:spcPct val="121900"/>
              </a:lnSpc>
            </a:pPr>
            <a:r>
              <a:rPr sz="2600" dirty="0">
                <a:latin typeface="Calibri"/>
                <a:cs typeface="Calibri"/>
              </a:rPr>
              <a:t>Qn.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List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customers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have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both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loan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account. Syntax:</a:t>
            </a:r>
            <a:endParaRPr sz="2600">
              <a:latin typeface="Calibri"/>
              <a:cs typeface="Calibri"/>
            </a:endParaRPr>
          </a:p>
          <a:p>
            <a:pPr marL="86995">
              <a:lnSpc>
                <a:spcPct val="100000"/>
              </a:lnSpc>
              <a:spcBef>
                <a:spcPts val="705"/>
              </a:spcBef>
              <a:tabLst>
                <a:tab pos="4632325" algn="l"/>
              </a:tabLst>
            </a:pPr>
            <a:r>
              <a:rPr sz="2600" b="1" dirty="0">
                <a:latin typeface="Calibri"/>
                <a:cs typeface="Calibri"/>
              </a:rPr>
              <a:t>∏</a:t>
            </a:r>
            <a:r>
              <a:rPr sz="2600" b="1" spc="2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customer_name(Borrower)</a:t>
            </a:r>
            <a:r>
              <a:rPr sz="2600" b="1" spc="10" dirty="0">
                <a:latin typeface="Calibri"/>
                <a:cs typeface="Calibri"/>
              </a:rPr>
              <a:t> </a:t>
            </a:r>
            <a:r>
              <a:rPr sz="2600" spc="-780" dirty="0">
                <a:latin typeface="Arial MT"/>
                <a:cs typeface="Arial MT"/>
              </a:rPr>
              <a:t>∩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b="1" dirty="0">
                <a:latin typeface="Calibri"/>
                <a:cs typeface="Calibri"/>
              </a:rPr>
              <a:t>∏</a:t>
            </a:r>
            <a:r>
              <a:rPr sz="2600" b="1" spc="-10" dirty="0">
                <a:latin typeface="Calibri"/>
                <a:cs typeface="Calibri"/>
              </a:rPr>
              <a:t> customer_name(Depositor)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6551" y="0"/>
            <a:ext cx="5992495" cy="3234055"/>
          </a:xfrm>
          <a:custGeom>
            <a:avLst/>
            <a:gdLst/>
            <a:ahLst/>
            <a:cxnLst/>
            <a:rect l="l" t="t" r="r" b="b"/>
            <a:pathLst>
              <a:path w="5992495" h="3234055">
                <a:moveTo>
                  <a:pt x="0" y="3233928"/>
                </a:moveTo>
                <a:lnTo>
                  <a:pt x="5992368" y="3233928"/>
                </a:lnTo>
                <a:lnTo>
                  <a:pt x="5992368" y="0"/>
                </a:lnTo>
                <a:lnTo>
                  <a:pt x="0" y="0"/>
                </a:lnTo>
                <a:lnTo>
                  <a:pt x="0" y="323392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6551" y="0"/>
            <a:ext cx="5992495" cy="3234055"/>
          </a:xfrm>
          <a:prstGeom prst="rect">
            <a:avLst/>
          </a:prstGeom>
        </p:spPr>
        <p:txBody>
          <a:bodyPr vert="horz" wrap="square" lIns="0" tIns="4660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70"/>
              </a:spcBef>
            </a:pPr>
            <a:endParaRPr sz="4400">
              <a:latin typeface="Times New Roman"/>
              <a:cs typeface="Times New Roman"/>
            </a:endParaRPr>
          </a:p>
          <a:p>
            <a:pPr marL="651510">
              <a:lnSpc>
                <a:spcPct val="100000"/>
              </a:lnSpc>
            </a:pPr>
            <a:r>
              <a:rPr sz="4400" dirty="0"/>
              <a:t>3.</a:t>
            </a:r>
            <a:r>
              <a:rPr sz="4400" spc="-114" dirty="0"/>
              <a:t> </a:t>
            </a:r>
            <a:r>
              <a:rPr sz="4400" dirty="0"/>
              <a:t>Set</a:t>
            </a:r>
            <a:r>
              <a:rPr sz="4400" spc="-135" dirty="0"/>
              <a:t> </a:t>
            </a:r>
            <a:r>
              <a:rPr sz="4400" spc="-55" dirty="0"/>
              <a:t>Difference</a:t>
            </a:r>
            <a:r>
              <a:rPr sz="4400" spc="-160" dirty="0"/>
              <a:t> </a:t>
            </a:r>
            <a:r>
              <a:rPr sz="4400" spc="-25" dirty="0"/>
              <a:t>(-</a:t>
            </a:r>
            <a:r>
              <a:rPr sz="4400" spc="-50" dirty="0"/>
              <a:t>)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607060" cy="3234055"/>
            </a:xfrm>
            <a:custGeom>
              <a:avLst/>
              <a:gdLst/>
              <a:ahLst/>
              <a:cxnLst/>
              <a:rect l="l" t="t" r="r" b="b"/>
              <a:pathLst>
                <a:path w="607060" h="3234055">
                  <a:moveTo>
                    <a:pt x="606552" y="0"/>
                  </a:moveTo>
                  <a:lnTo>
                    <a:pt x="0" y="0"/>
                  </a:lnTo>
                  <a:lnTo>
                    <a:pt x="0" y="3233928"/>
                  </a:lnTo>
                  <a:lnTo>
                    <a:pt x="606552" y="3233928"/>
                  </a:lnTo>
                  <a:lnTo>
                    <a:pt x="606552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8720" y="73151"/>
              <a:ext cx="1179830" cy="233679"/>
            </a:xfrm>
            <a:custGeom>
              <a:avLst/>
              <a:gdLst/>
              <a:ahLst/>
              <a:cxnLst/>
              <a:rect l="l" t="t" r="r" b="b"/>
              <a:pathLst>
                <a:path w="1179830" h="233679">
                  <a:moveTo>
                    <a:pt x="54864" y="203454"/>
                  </a:moveTo>
                  <a:lnTo>
                    <a:pt x="52705" y="191909"/>
                  </a:lnTo>
                  <a:lnTo>
                    <a:pt x="46824" y="182460"/>
                  </a:lnTo>
                  <a:lnTo>
                    <a:pt x="38100" y="176085"/>
                  </a:lnTo>
                  <a:lnTo>
                    <a:pt x="27432" y="173748"/>
                  </a:lnTo>
                  <a:lnTo>
                    <a:pt x="16751" y="176085"/>
                  </a:lnTo>
                  <a:lnTo>
                    <a:pt x="8026" y="182460"/>
                  </a:lnTo>
                  <a:lnTo>
                    <a:pt x="2146" y="191909"/>
                  </a:lnTo>
                  <a:lnTo>
                    <a:pt x="0" y="203454"/>
                  </a:lnTo>
                  <a:lnTo>
                    <a:pt x="2146" y="215011"/>
                  </a:lnTo>
                  <a:lnTo>
                    <a:pt x="8026" y="224459"/>
                  </a:lnTo>
                  <a:lnTo>
                    <a:pt x="16751" y="230835"/>
                  </a:lnTo>
                  <a:lnTo>
                    <a:pt x="27432" y="233172"/>
                  </a:lnTo>
                  <a:lnTo>
                    <a:pt x="38100" y="230835"/>
                  </a:lnTo>
                  <a:lnTo>
                    <a:pt x="46824" y="224459"/>
                  </a:lnTo>
                  <a:lnTo>
                    <a:pt x="52705" y="215011"/>
                  </a:lnTo>
                  <a:lnTo>
                    <a:pt x="54864" y="203454"/>
                  </a:lnTo>
                  <a:close/>
                </a:path>
                <a:path w="1179830" h="233679">
                  <a:moveTo>
                    <a:pt x="54864" y="29718"/>
                  </a:moveTo>
                  <a:lnTo>
                    <a:pt x="52705" y="18173"/>
                  </a:lnTo>
                  <a:lnTo>
                    <a:pt x="46824" y="8724"/>
                  </a:lnTo>
                  <a:lnTo>
                    <a:pt x="38100" y="2349"/>
                  </a:lnTo>
                  <a:lnTo>
                    <a:pt x="27432" y="0"/>
                  </a:lnTo>
                  <a:lnTo>
                    <a:pt x="16751" y="2349"/>
                  </a:lnTo>
                  <a:lnTo>
                    <a:pt x="8026" y="8724"/>
                  </a:lnTo>
                  <a:lnTo>
                    <a:pt x="2146" y="18173"/>
                  </a:lnTo>
                  <a:lnTo>
                    <a:pt x="0" y="29718"/>
                  </a:lnTo>
                  <a:lnTo>
                    <a:pt x="2146" y="41275"/>
                  </a:lnTo>
                  <a:lnTo>
                    <a:pt x="8026" y="50723"/>
                  </a:lnTo>
                  <a:lnTo>
                    <a:pt x="16751" y="57099"/>
                  </a:lnTo>
                  <a:lnTo>
                    <a:pt x="27432" y="59436"/>
                  </a:lnTo>
                  <a:lnTo>
                    <a:pt x="38100" y="57099"/>
                  </a:lnTo>
                  <a:lnTo>
                    <a:pt x="46824" y="50723"/>
                  </a:lnTo>
                  <a:lnTo>
                    <a:pt x="52705" y="41275"/>
                  </a:lnTo>
                  <a:lnTo>
                    <a:pt x="54864" y="29718"/>
                  </a:lnTo>
                  <a:close/>
                </a:path>
                <a:path w="1179830" h="233679">
                  <a:moveTo>
                    <a:pt x="179832" y="203454"/>
                  </a:moveTo>
                  <a:lnTo>
                    <a:pt x="177660" y="191909"/>
                  </a:lnTo>
                  <a:lnTo>
                    <a:pt x="171780" y="182460"/>
                  </a:lnTo>
                  <a:lnTo>
                    <a:pt x="163055" y="176085"/>
                  </a:lnTo>
                  <a:lnTo>
                    <a:pt x="152400" y="173748"/>
                  </a:lnTo>
                  <a:lnTo>
                    <a:pt x="141732" y="176085"/>
                  </a:lnTo>
                  <a:lnTo>
                    <a:pt x="133007" y="182460"/>
                  </a:lnTo>
                  <a:lnTo>
                    <a:pt x="127127" y="191909"/>
                  </a:lnTo>
                  <a:lnTo>
                    <a:pt x="124968" y="203454"/>
                  </a:lnTo>
                  <a:lnTo>
                    <a:pt x="127127" y="215011"/>
                  </a:lnTo>
                  <a:lnTo>
                    <a:pt x="133007" y="224459"/>
                  </a:lnTo>
                  <a:lnTo>
                    <a:pt x="141732" y="230835"/>
                  </a:lnTo>
                  <a:lnTo>
                    <a:pt x="152400" y="233172"/>
                  </a:lnTo>
                  <a:lnTo>
                    <a:pt x="163055" y="230835"/>
                  </a:lnTo>
                  <a:lnTo>
                    <a:pt x="171780" y="224459"/>
                  </a:lnTo>
                  <a:lnTo>
                    <a:pt x="177660" y="215011"/>
                  </a:lnTo>
                  <a:lnTo>
                    <a:pt x="179832" y="203454"/>
                  </a:lnTo>
                  <a:close/>
                </a:path>
                <a:path w="1179830" h="233679">
                  <a:moveTo>
                    <a:pt x="179832" y="29718"/>
                  </a:moveTo>
                  <a:lnTo>
                    <a:pt x="177660" y="18173"/>
                  </a:lnTo>
                  <a:lnTo>
                    <a:pt x="171780" y="8724"/>
                  </a:lnTo>
                  <a:lnTo>
                    <a:pt x="163055" y="2349"/>
                  </a:lnTo>
                  <a:lnTo>
                    <a:pt x="152400" y="0"/>
                  </a:lnTo>
                  <a:lnTo>
                    <a:pt x="141732" y="2349"/>
                  </a:lnTo>
                  <a:lnTo>
                    <a:pt x="133007" y="8724"/>
                  </a:lnTo>
                  <a:lnTo>
                    <a:pt x="127127" y="18173"/>
                  </a:lnTo>
                  <a:lnTo>
                    <a:pt x="124968" y="29718"/>
                  </a:lnTo>
                  <a:lnTo>
                    <a:pt x="127127" y="41275"/>
                  </a:lnTo>
                  <a:lnTo>
                    <a:pt x="133007" y="50723"/>
                  </a:lnTo>
                  <a:lnTo>
                    <a:pt x="141732" y="57099"/>
                  </a:lnTo>
                  <a:lnTo>
                    <a:pt x="152400" y="59436"/>
                  </a:lnTo>
                  <a:lnTo>
                    <a:pt x="163055" y="57099"/>
                  </a:lnTo>
                  <a:lnTo>
                    <a:pt x="171780" y="50723"/>
                  </a:lnTo>
                  <a:lnTo>
                    <a:pt x="177660" y="41275"/>
                  </a:lnTo>
                  <a:lnTo>
                    <a:pt x="179832" y="29718"/>
                  </a:lnTo>
                  <a:close/>
                </a:path>
                <a:path w="1179830" h="233679">
                  <a:moveTo>
                    <a:pt x="304800" y="203454"/>
                  </a:moveTo>
                  <a:lnTo>
                    <a:pt x="302628" y="191909"/>
                  </a:lnTo>
                  <a:lnTo>
                    <a:pt x="296748" y="182460"/>
                  </a:lnTo>
                  <a:lnTo>
                    <a:pt x="288023" y="176085"/>
                  </a:lnTo>
                  <a:lnTo>
                    <a:pt x="277368" y="173748"/>
                  </a:lnTo>
                  <a:lnTo>
                    <a:pt x="266700" y="176085"/>
                  </a:lnTo>
                  <a:lnTo>
                    <a:pt x="257975" y="182460"/>
                  </a:lnTo>
                  <a:lnTo>
                    <a:pt x="252095" y="191909"/>
                  </a:lnTo>
                  <a:lnTo>
                    <a:pt x="249936" y="203454"/>
                  </a:lnTo>
                  <a:lnTo>
                    <a:pt x="252095" y="215011"/>
                  </a:lnTo>
                  <a:lnTo>
                    <a:pt x="257975" y="224459"/>
                  </a:lnTo>
                  <a:lnTo>
                    <a:pt x="266700" y="230835"/>
                  </a:lnTo>
                  <a:lnTo>
                    <a:pt x="277368" y="233172"/>
                  </a:lnTo>
                  <a:lnTo>
                    <a:pt x="288023" y="230835"/>
                  </a:lnTo>
                  <a:lnTo>
                    <a:pt x="296748" y="224459"/>
                  </a:lnTo>
                  <a:lnTo>
                    <a:pt x="302628" y="215011"/>
                  </a:lnTo>
                  <a:lnTo>
                    <a:pt x="304800" y="203454"/>
                  </a:lnTo>
                  <a:close/>
                </a:path>
                <a:path w="1179830" h="233679">
                  <a:moveTo>
                    <a:pt x="304800" y="29718"/>
                  </a:moveTo>
                  <a:lnTo>
                    <a:pt x="302628" y="18173"/>
                  </a:lnTo>
                  <a:lnTo>
                    <a:pt x="296748" y="8724"/>
                  </a:lnTo>
                  <a:lnTo>
                    <a:pt x="288023" y="2349"/>
                  </a:lnTo>
                  <a:lnTo>
                    <a:pt x="277368" y="0"/>
                  </a:lnTo>
                  <a:lnTo>
                    <a:pt x="266700" y="2349"/>
                  </a:lnTo>
                  <a:lnTo>
                    <a:pt x="257975" y="8724"/>
                  </a:lnTo>
                  <a:lnTo>
                    <a:pt x="252095" y="18173"/>
                  </a:lnTo>
                  <a:lnTo>
                    <a:pt x="249936" y="29718"/>
                  </a:lnTo>
                  <a:lnTo>
                    <a:pt x="252095" y="41275"/>
                  </a:lnTo>
                  <a:lnTo>
                    <a:pt x="257975" y="50723"/>
                  </a:lnTo>
                  <a:lnTo>
                    <a:pt x="266700" y="57099"/>
                  </a:lnTo>
                  <a:lnTo>
                    <a:pt x="277368" y="59436"/>
                  </a:lnTo>
                  <a:lnTo>
                    <a:pt x="288023" y="57099"/>
                  </a:lnTo>
                  <a:lnTo>
                    <a:pt x="296748" y="50723"/>
                  </a:lnTo>
                  <a:lnTo>
                    <a:pt x="302628" y="41275"/>
                  </a:lnTo>
                  <a:lnTo>
                    <a:pt x="304800" y="29718"/>
                  </a:lnTo>
                  <a:close/>
                </a:path>
                <a:path w="1179830" h="233679">
                  <a:moveTo>
                    <a:pt x="429768" y="203454"/>
                  </a:moveTo>
                  <a:lnTo>
                    <a:pt x="427596" y="191909"/>
                  </a:lnTo>
                  <a:lnTo>
                    <a:pt x="421716" y="182460"/>
                  </a:lnTo>
                  <a:lnTo>
                    <a:pt x="412991" y="176085"/>
                  </a:lnTo>
                  <a:lnTo>
                    <a:pt x="402336" y="173748"/>
                  </a:lnTo>
                  <a:lnTo>
                    <a:pt x="391668" y="176085"/>
                  </a:lnTo>
                  <a:lnTo>
                    <a:pt x="382943" y="182460"/>
                  </a:lnTo>
                  <a:lnTo>
                    <a:pt x="377063" y="191909"/>
                  </a:lnTo>
                  <a:lnTo>
                    <a:pt x="374904" y="203454"/>
                  </a:lnTo>
                  <a:lnTo>
                    <a:pt x="377063" y="215011"/>
                  </a:lnTo>
                  <a:lnTo>
                    <a:pt x="382943" y="224459"/>
                  </a:lnTo>
                  <a:lnTo>
                    <a:pt x="391668" y="230835"/>
                  </a:lnTo>
                  <a:lnTo>
                    <a:pt x="402336" y="233172"/>
                  </a:lnTo>
                  <a:lnTo>
                    <a:pt x="412991" y="230835"/>
                  </a:lnTo>
                  <a:lnTo>
                    <a:pt x="421716" y="224459"/>
                  </a:lnTo>
                  <a:lnTo>
                    <a:pt x="427596" y="215011"/>
                  </a:lnTo>
                  <a:lnTo>
                    <a:pt x="429768" y="203454"/>
                  </a:lnTo>
                  <a:close/>
                </a:path>
                <a:path w="1179830" h="233679">
                  <a:moveTo>
                    <a:pt x="429768" y="29718"/>
                  </a:moveTo>
                  <a:lnTo>
                    <a:pt x="427596" y="18173"/>
                  </a:lnTo>
                  <a:lnTo>
                    <a:pt x="421716" y="8724"/>
                  </a:lnTo>
                  <a:lnTo>
                    <a:pt x="412991" y="2349"/>
                  </a:lnTo>
                  <a:lnTo>
                    <a:pt x="402336" y="0"/>
                  </a:lnTo>
                  <a:lnTo>
                    <a:pt x="391668" y="2349"/>
                  </a:lnTo>
                  <a:lnTo>
                    <a:pt x="382943" y="8724"/>
                  </a:lnTo>
                  <a:lnTo>
                    <a:pt x="377063" y="18173"/>
                  </a:lnTo>
                  <a:lnTo>
                    <a:pt x="374904" y="29718"/>
                  </a:lnTo>
                  <a:lnTo>
                    <a:pt x="377063" y="41275"/>
                  </a:lnTo>
                  <a:lnTo>
                    <a:pt x="382943" y="50723"/>
                  </a:lnTo>
                  <a:lnTo>
                    <a:pt x="391668" y="57099"/>
                  </a:lnTo>
                  <a:lnTo>
                    <a:pt x="402336" y="59436"/>
                  </a:lnTo>
                  <a:lnTo>
                    <a:pt x="412991" y="57099"/>
                  </a:lnTo>
                  <a:lnTo>
                    <a:pt x="421716" y="50723"/>
                  </a:lnTo>
                  <a:lnTo>
                    <a:pt x="427596" y="41275"/>
                  </a:lnTo>
                  <a:lnTo>
                    <a:pt x="429768" y="29718"/>
                  </a:lnTo>
                  <a:close/>
                </a:path>
                <a:path w="1179830" h="233679">
                  <a:moveTo>
                    <a:pt x="554736" y="203454"/>
                  </a:moveTo>
                  <a:lnTo>
                    <a:pt x="552564" y="191909"/>
                  </a:lnTo>
                  <a:lnTo>
                    <a:pt x="546684" y="182460"/>
                  </a:lnTo>
                  <a:lnTo>
                    <a:pt x="537959" y="176085"/>
                  </a:lnTo>
                  <a:lnTo>
                    <a:pt x="527304" y="173748"/>
                  </a:lnTo>
                  <a:lnTo>
                    <a:pt x="516636" y="176085"/>
                  </a:lnTo>
                  <a:lnTo>
                    <a:pt x="507911" y="182460"/>
                  </a:lnTo>
                  <a:lnTo>
                    <a:pt x="502031" y="191909"/>
                  </a:lnTo>
                  <a:lnTo>
                    <a:pt x="499872" y="203454"/>
                  </a:lnTo>
                  <a:lnTo>
                    <a:pt x="502031" y="215011"/>
                  </a:lnTo>
                  <a:lnTo>
                    <a:pt x="507911" y="224459"/>
                  </a:lnTo>
                  <a:lnTo>
                    <a:pt x="516636" y="230835"/>
                  </a:lnTo>
                  <a:lnTo>
                    <a:pt x="527304" y="233172"/>
                  </a:lnTo>
                  <a:lnTo>
                    <a:pt x="537959" y="230835"/>
                  </a:lnTo>
                  <a:lnTo>
                    <a:pt x="546684" y="224459"/>
                  </a:lnTo>
                  <a:lnTo>
                    <a:pt x="552564" y="215011"/>
                  </a:lnTo>
                  <a:lnTo>
                    <a:pt x="554736" y="203454"/>
                  </a:lnTo>
                  <a:close/>
                </a:path>
                <a:path w="1179830" h="233679">
                  <a:moveTo>
                    <a:pt x="554736" y="29718"/>
                  </a:moveTo>
                  <a:lnTo>
                    <a:pt x="552564" y="18173"/>
                  </a:lnTo>
                  <a:lnTo>
                    <a:pt x="546684" y="8724"/>
                  </a:lnTo>
                  <a:lnTo>
                    <a:pt x="537959" y="2349"/>
                  </a:lnTo>
                  <a:lnTo>
                    <a:pt x="527304" y="0"/>
                  </a:lnTo>
                  <a:lnTo>
                    <a:pt x="516636" y="2349"/>
                  </a:lnTo>
                  <a:lnTo>
                    <a:pt x="507911" y="8724"/>
                  </a:lnTo>
                  <a:lnTo>
                    <a:pt x="502031" y="18173"/>
                  </a:lnTo>
                  <a:lnTo>
                    <a:pt x="499872" y="29718"/>
                  </a:lnTo>
                  <a:lnTo>
                    <a:pt x="502031" y="41275"/>
                  </a:lnTo>
                  <a:lnTo>
                    <a:pt x="507911" y="50723"/>
                  </a:lnTo>
                  <a:lnTo>
                    <a:pt x="516636" y="57099"/>
                  </a:lnTo>
                  <a:lnTo>
                    <a:pt x="527304" y="59436"/>
                  </a:lnTo>
                  <a:lnTo>
                    <a:pt x="537959" y="57099"/>
                  </a:lnTo>
                  <a:lnTo>
                    <a:pt x="546684" y="50723"/>
                  </a:lnTo>
                  <a:lnTo>
                    <a:pt x="552564" y="41275"/>
                  </a:lnTo>
                  <a:lnTo>
                    <a:pt x="554736" y="29718"/>
                  </a:lnTo>
                  <a:close/>
                </a:path>
                <a:path w="1179830" h="233679">
                  <a:moveTo>
                    <a:pt x="679704" y="203454"/>
                  </a:moveTo>
                  <a:lnTo>
                    <a:pt x="677532" y="191909"/>
                  </a:lnTo>
                  <a:lnTo>
                    <a:pt x="671652" y="182460"/>
                  </a:lnTo>
                  <a:lnTo>
                    <a:pt x="662927" y="176085"/>
                  </a:lnTo>
                  <a:lnTo>
                    <a:pt x="652272" y="173748"/>
                  </a:lnTo>
                  <a:lnTo>
                    <a:pt x="641604" y="176085"/>
                  </a:lnTo>
                  <a:lnTo>
                    <a:pt x="632879" y="182460"/>
                  </a:lnTo>
                  <a:lnTo>
                    <a:pt x="626999" y="191909"/>
                  </a:lnTo>
                  <a:lnTo>
                    <a:pt x="624840" y="203454"/>
                  </a:lnTo>
                  <a:lnTo>
                    <a:pt x="626999" y="215011"/>
                  </a:lnTo>
                  <a:lnTo>
                    <a:pt x="632879" y="224459"/>
                  </a:lnTo>
                  <a:lnTo>
                    <a:pt x="641604" y="230835"/>
                  </a:lnTo>
                  <a:lnTo>
                    <a:pt x="652272" y="233172"/>
                  </a:lnTo>
                  <a:lnTo>
                    <a:pt x="662927" y="230835"/>
                  </a:lnTo>
                  <a:lnTo>
                    <a:pt x="671652" y="224459"/>
                  </a:lnTo>
                  <a:lnTo>
                    <a:pt x="677532" y="215011"/>
                  </a:lnTo>
                  <a:lnTo>
                    <a:pt x="679704" y="203454"/>
                  </a:lnTo>
                  <a:close/>
                </a:path>
                <a:path w="1179830" h="233679">
                  <a:moveTo>
                    <a:pt x="679704" y="29718"/>
                  </a:moveTo>
                  <a:lnTo>
                    <a:pt x="677532" y="18173"/>
                  </a:lnTo>
                  <a:lnTo>
                    <a:pt x="671652" y="8724"/>
                  </a:lnTo>
                  <a:lnTo>
                    <a:pt x="662927" y="2349"/>
                  </a:lnTo>
                  <a:lnTo>
                    <a:pt x="652272" y="0"/>
                  </a:lnTo>
                  <a:lnTo>
                    <a:pt x="641604" y="2349"/>
                  </a:lnTo>
                  <a:lnTo>
                    <a:pt x="632879" y="8724"/>
                  </a:lnTo>
                  <a:lnTo>
                    <a:pt x="626999" y="18173"/>
                  </a:lnTo>
                  <a:lnTo>
                    <a:pt x="624840" y="29718"/>
                  </a:lnTo>
                  <a:lnTo>
                    <a:pt x="626999" y="41275"/>
                  </a:lnTo>
                  <a:lnTo>
                    <a:pt x="632879" y="50723"/>
                  </a:lnTo>
                  <a:lnTo>
                    <a:pt x="641604" y="57099"/>
                  </a:lnTo>
                  <a:lnTo>
                    <a:pt x="652272" y="59436"/>
                  </a:lnTo>
                  <a:lnTo>
                    <a:pt x="662927" y="57099"/>
                  </a:lnTo>
                  <a:lnTo>
                    <a:pt x="671652" y="50723"/>
                  </a:lnTo>
                  <a:lnTo>
                    <a:pt x="677532" y="41275"/>
                  </a:lnTo>
                  <a:lnTo>
                    <a:pt x="679704" y="29718"/>
                  </a:lnTo>
                  <a:close/>
                </a:path>
                <a:path w="1179830" h="233679">
                  <a:moveTo>
                    <a:pt x="804672" y="203454"/>
                  </a:moveTo>
                  <a:lnTo>
                    <a:pt x="802500" y="191909"/>
                  </a:lnTo>
                  <a:lnTo>
                    <a:pt x="796620" y="182460"/>
                  </a:lnTo>
                  <a:lnTo>
                    <a:pt x="787895" y="176085"/>
                  </a:lnTo>
                  <a:lnTo>
                    <a:pt x="777240" y="173748"/>
                  </a:lnTo>
                  <a:lnTo>
                    <a:pt x="766572" y="176085"/>
                  </a:lnTo>
                  <a:lnTo>
                    <a:pt x="757847" y="182460"/>
                  </a:lnTo>
                  <a:lnTo>
                    <a:pt x="751967" y="191909"/>
                  </a:lnTo>
                  <a:lnTo>
                    <a:pt x="749808" y="203454"/>
                  </a:lnTo>
                  <a:lnTo>
                    <a:pt x="751967" y="215011"/>
                  </a:lnTo>
                  <a:lnTo>
                    <a:pt x="757847" y="224459"/>
                  </a:lnTo>
                  <a:lnTo>
                    <a:pt x="766572" y="230835"/>
                  </a:lnTo>
                  <a:lnTo>
                    <a:pt x="777240" y="233172"/>
                  </a:lnTo>
                  <a:lnTo>
                    <a:pt x="787895" y="230835"/>
                  </a:lnTo>
                  <a:lnTo>
                    <a:pt x="796620" y="224459"/>
                  </a:lnTo>
                  <a:lnTo>
                    <a:pt x="802500" y="215011"/>
                  </a:lnTo>
                  <a:lnTo>
                    <a:pt x="804672" y="203454"/>
                  </a:lnTo>
                  <a:close/>
                </a:path>
                <a:path w="1179830" h="233679">
                  <a:moveTo>
                    <a:pt x="804672" y="29718"/>
                  </a:moveTo>
                  <a:lnTo>
                    <a:pt x="802500" y="18173"/>
                  </a:lnTo>
                  <a:lnTo>
                    <a:pt x="796620" y="8724"/>
                  </a:lnTo>
                  <a:lnTo>
                    <a:pt x="787895" y="2349"/>
                  </a:lnTo>
                  <a:lnTo>
                    <a:pt x="777240" y="0"/>
                  </a:lnTo>
                  <a:lnTo>
                    <a:pt x="766572" y="2349"/>
                  </a:lnTo>
                  <a:lnTo>
                    <a:pt x="757847" y="8724"/>
                  </a:lnTo>
                  <a:lnTo>
                    <a:pt x="751967" y="18173"/>
                  </a:lnTo>
                  <a:lnTo>
                    <a:pt x="749808" y="29718"/>
                  </a:lnTo>
                  <a:lnTo>
                    <a:pt x="751967" y="41275"/>
                  </a:lnTo>
                  <a:lnTo>
                    <a:pt x="757847" y="50723"/>
                  </a:lnTo>
                  <a:lnTo>
                    <a:pt x="766572" y="57099"/>
                  </a:lnTo>
                  <a:lnTo>
                    <a:pt x="777240" y="59436"/>
                  </a:lnTo>
                  <a:lnTo>
                    <a:pt x="787895" y="57099"/>
                  </a:lnTo>
                  <a:lnTo>
                    <a:pt x="796620" y="50723"/>
                  </a:lnTo>
                  <a:lnTo>
                    <a:pt x="802500" y="41275"/>
                  </a:lnTo>
                  <a:lnTo>
                    <a:pt x="804672" y="29718"/>
                  </a:lnTo>
                  <a:close/>
                </a:path>
                <a:path w="1179830" h="233679">
                  <a:moveTo>
                    <a:pt x="929640" y="203454"/>
                  </a:moveTo>
                  <a:lnTo>
                    <a:pt x="927468" y="191909"/>
                  </a:lnTo>
                  <a:lnTo>
                    <a:pt x="921588" y="182460"/>
                  </a:lnTo>
                  <a:lnTo>
                    <a:pt x="912863" y="176085"/>
                  </a:lnTo>
                  <a:lnTo>
                    <a:pt x="902208" y="173748"/>
                  </a:lnTo>
                  <a:lnTo>
                    <a:pt x="891540" y="176085"/>
                  </a:lnTo>
                  <a:lnTo>
                    <a:pt x="882815" y="182460"/>
                  </a:lnTo>
                  <a:lnTo>
                    <a:pt x="876935" y="191909"/>
                  </a:lnTo>
                  <a:lnTo>
                    <a:pt x="874776" y="203454"/>
                  </a:lnTo>
                  <a:lnTo>
                    <a:pt x="876935" y="215011"/>
                  </a:lnTo>
                  <a:lnTo>
                    <a:pt x="882815" y="224459"/>
                  </a:lnTo>
                  <a:lnTo>
                    <a:pt x="891540" y="230835"/>
                  </a:lnTo>
                  <a:lnTo>
                    <a:pt x="902208" y="233172"/>
                  </a:lnTo>
                  <a:lnTo>
                    <a:pt x="912863" y="230835"/>
                  </a:lnTo>
                  <a:lnTo>
                    <a:pt x="921588" y="224459"/>
                  </a:lnTo>
                  <a:lnTo>
                    <a:pt x="927468" y="215011"/>
                  </a:lnTo>
                  <a:lnTo>
                    <a:pt x="929640" y="203454"/>
                  </a:lnTo>
                  <a:close/>
                </a:path>
                <a:path w="1179830" h="233679">
                  <a:moveTo>
                    <a:pt x="929640" y="29718"/>
                  </a:moveTo>
                  <a:lnTo>
                    <a:pt x="927468" y="18173"/>
                  </a:lnTo>
                  <a:lnTo>
                    <a:pt x="921588" y="8724"/>
                  </a:lnTo>
                  <a:lnTo>
                    <a:pt x="912863" y="2349"/>
                  </a:lnTo>
                  <a:lnTo>
                    <a:pt x="902208" y="0"/>
                  </a:lnTo>
                  <a:lnTo>
                    <a:pt x="891540" y="2349"/>
                  </a:lnTo>
                  <a:lnTo>
                    <a:pt x="882815" y="8724"/>
                  </a:lnTo>
                  <a:lnTo>
                    <a:pt x="876935" y="18173"/>
                  </a:lnTo>
                  <a:lnTo>
                    <a:pt x="874776" y="29718"/>
                  </a:lnTo>
                  <a:lnTo>
                    <a:pt x="876935" y="41275"/>
                  </a:lnTo>
                  <a:lnTo>
                    <a:pt x="882815" y="50723"/>
                  </a:lnTo>
                  <a:lnTo>
                    <a:pt x="891540" y="57099"/>
                  </a:lnTo>
                  <a:lnTo>
                    <a:pt x="902208" y="59436"/>
                  </a:lnTo>
                  <a:lnTo>
                    <a:pt x="912863" y="57099"/>
                  </a:lnTo>
                  <a:lnTo>
                    <a:pt x="921588" y="50723"/>
                  </a:lnTo>
                  <a:lnTo>
                    <a:pt x="927468" y="41275"/>
                  </a:lnTo>
                  <a:lnTo>
                    <a:pt x="929640" y="29718"/>
                  </a:lnTo>
                  <a:close/>
                </a:path>
                <a:path w="1179830" h="233679">
                  <a:moveTo>
                    <a:pt x="1054608" y="203454"/>
                  </a:moveTo>
                  <a:lnTo>
                    <a:pt x="1052436" y="191909"/>
                  </a:lnTo>
                  <a:lnTo>
                    <a:pt x="1046556" y="182460"/>
                  </a:lnTo>
                  <a:lnTo>
                    <a:pt x="1037831" y="176085"/>
                  </a:lnTo>
                  <a:lnTo>
                    <a:pt x="1027176" y="173748"/>
                  </a:lnTo>
                  <a:lnTo>
                    <a:pt x="1016508" y="176085"/>
                  </a:lnTo>
                  <a:lnTo>
                    <a:pt x="1007783" y="182460"/>
                  </a:lnTo>
                  <a:lnTo>
                    <a:pt x="1001903" y="191909"/>
                  </a:lnTo>
                  <a:lnTo>
                    <a:pt x="999744" y="203454"/>
                  </a:lnTo>
                  <a:lnTo>
                    <a:pt x="1001903" y="215011"/>
                  </a:lnTo>
                  <a:lnTo>
                    <a:pt x="1007783" y="224459"/>
                  </a:lnTo>
                  <a:lnTo>
                    <a:pt x="1016508" y="230835"/>
                  </a:lnTo>
                  <a:lnTo>
                    <a:pt x="1027176" y="233172"/>
                  </a:lnTo>
                  <a:lnTo>
                    <a:pt x="1037831" y="230835"/>
                  </a:lnTo>
                  <a:lnTo>
                    <a:pt x="1046556" y="224459"/>
                  </a:lnTo>
                  <a:lnTo>
                    <a:pt x="1052436" y="215011"/>
                  </a:lnTo>
                  <a:lnTo>
                    <a:pt x="1054608" y="203454"/>
                  </a:lnTo>
                  <a:close/>
                </a:path>
                <a:path w="1179830" h="233679">
                  <a:moveTo>
                    <a:pt x="1054608" y="29718"/>
                  </a:moveTo>
                  <a:lnTo>
                    <a:pt x="1052436" y="18173"/>
                  </a:lnTo>
                  <a:lnTo>
                    <a:pt x="1046556" y="8724"/>
                  </a:lnTo>
                  <a:lnTo>
                    <a:pt x="1037831" y="2349"/>
                  </a:lnTo>
                  <a:lnTo>
                    <a:pt x="1027176" y="0"/>
                  </a:lnTo>
                  <a:lnTo>
                    <a:pt x="1016508" y="2349"/>
                  </a:lnTo>
                  <a:lnTo>
                    <a:pt x="1007783" y="8724"/>
                  </a:lnTo>
                  <a:lnTo>
                    <a:pt x="1001903" y="18173"/>
                  </a:lnTo>
                  <a:lnTo>
                    <a:pt x="999744" y="29718"/>
                  </a:lnTo>
                  <a:lnTo>
                    <a:pt x="1001903" y="41275"/>
                  </a:lnTo>
                  <a:lnTo>
                    <a:pt x="1007783" y="50723"/>
                  </a:lnTo>
                  <a:lnTo>
                    <a:pt x="1016508" y="57099"/>
                  </a:lnTo>
                  <a:lnTo>
                    <a:pt x="1027176" y="59436"/>
                  </a:lnTo>
                  <a:lnTo>
                    <a:pt x="1037831" y="57099"/>
                  </a:lnTo>
                  <a:lnTo>
                    <a:pt x="1046556" y="50723"/>
                  </a:lnTo>
                  <a:lnTo>
                    <a:pt x="1052436" y="41275"/>
                  </a:lnTo>
                  <a:lnTo>
                    <a:pt x="1054608" y="29718"/>
                  </a:lnTo>
                  <a:close/>
                </a:path>
                <a:path w="1179830" h="233679">
                  <a:moveTo>
                    <a:pt x="1179576" y="203454"/>
                  </a:moveTo>
                  <a:lnTo>
                    <a:pt x="1177404" y="191909"/>
                  </a:lnTo>
                  <a:lnTo>
                    <a:pt x="1171524" y="182460"/>
                  </a:lnTo>
                  <a:lnTo>
                    <a:pt x="1162799" y="176085"/>
                  </a:lnTo>
                  <a:lnTo>
                    <a:pt x="1152144" y="173748"/>
                  </a:lnTo>
                  <a:lnTo>
                    <a:pt x="1141476" y="176085"/>
                  </a:lnTo>
                  <a:lnTo>
                    <a:pt x="1132751" y="182460"/>
                  </a:lnTo>
                  <a:lnTo>
                    <a:pt x="1126871" y="191909"/>
                  </a:lnTo>
                  <a:lnTo>
                    <a:pt x="1124712" y="203454"/>
                  </a:lnTo>
                  <a:lnTo>
                    <a:pt x="1126871" y="215011"/>
                  </a:lnTo>
                  <a:lnTo>
                    <a:pt x="1132751" y="224459"/>
                  </a:lnTo>
                  <a:lnTo>
                    <a:pt x="1141476" y="230835"/>
                  </a:lnTo>
                  <a:lnTo>
                    <a:pt x="1152144" y="233172"/>
                  </a:lnTo>
                  <a:lnTo>
                    <a:pt x="1162799" y="230835"/>
                  </a:lnTo>
                  <a:lnTo>
                    <a:pt x="1171524" y="224459"/>
                  </a:lnTo>
                  <a:lnTo>
                    <a:pt x="1177404" y="215011"/>
                  </a:lnTo>
                  <a:lnTo>
                    <a:pt x="1179576" y="203454"/>
                  </a:lnTo>
                  <a:close/>
                </a:path>
                <a:path w="1179830" h="233679">
                  <a:moveTo>
                    <a:pt x="1179576" y="29718"/>
                  </a:moveTo>
                  <a:lnTo>
                    <a:pt x="1177404" y="18173"/>
                  </a:lnTo>
                  <a:lnTo>
                    <a:pt x="1171524" y="8724"/>
                  </a:lnTo>
                  <a:lnTo>
                    <a:pt x="1162799" y="2349"/>
                  </a:lnTo>
                  <a:lnTo>
                    <a:pt x="1152144" y="0"/>
                  </a:lnTo>
                  <a:lnTo>
                    <a:pt x="1141476" y="2349"/>
                  </a:lnTo>
                  <a:lnTo>
                    <a:pt x="1132751" y="8724"/>
                  </a:lnTo>
                  <a:lnTo>
                    <a:pt x="1126871" y="18173"/>
                  </a:lnTo>
                  <a:lnTo>
                    <a:pt x="1124712" y="29718"/>
                  </a:lnTo>
                  <a:lnTo>
                    <a:pt x="1126871" y="41275"/>
                  </a:lnTo>
                  <a:lnTo>
                    <a:pt x="1132751" y="50723"/>
                  </a:lnTo>
                  <a:lnTo>
                    <a:pt x="1141476" y="57099"/>
                  </a:lnTo>
                  <a:lnTo>
                    <a:pt x="1152144" y="59436"/>
                  </a:lnTo>
                  <a:lnTo>
                    <a:pt x="1162799" y="57099"/>
                  </a:lnTo>
                  <a:lnTo>
                    <a:pt x="1171524" y="50723"/>
                  </a:lnTo>
                  <a:lnTo>
                    <a:pt x="1177404" y="41275"/>
                  </a:lnTo>
                  <a:lnTo>
                    <a:pt x="1179576" y="2971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6540" y="29943"/>
              <a:ext cx="5585459" cy="320398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3233927"/>
              <a:ext cx="607060" cy="3624579"/>
            </a:xfrm>
            <a:custGeom>
              <a:avLst/>
              <a:gdLst/>
              <a:ahLst/>
              <a:cxnLst/>
              <a:rect l="l" t="t" r="r" b="b"/>
              <a:pathLst>
                <a:path w="607060" h="3624579">
                  <a:moveTo>
                    <a:pt x="606552" y="0"/>
                  </a:moveTo>
                  <a:lnTo>
                    <a:pt x="0" y="0"/>
                  </a:lnTo>
                  <a:lnTo>
                    <a:pt x="0" y="3624072"/>
                  </a:lnTo>
                  <a:lnTo>
                    <a:pt x="606552" y="3624072"/>
                  </a:lnTo>
                  <a:lnTo>
                    <a:pt x="60655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45514" y="3575050"/>
            <a:ext cx="9860280" cy="238506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40"/>
              </a:spcBef>
              <a:buChar char="•"/>
              <a:tabLst>
                <a:tab pos="240665" algn="l"/>
                <a:tab pos="1320800" algn="l"/>
              </a:tabLst>
            </a:pPr>
            <a:r>
              <a:rPr sz="2100" spc="-10" dirty="0">
                <a:latin typeface="Arial MT"/>
                <a:cs typeface="Arial MT"/>
              </a:rPr>
              <a:t>Returns</a:t>
            </a:r>
            <a:r>
              <a:rPr sz="2100" dirty="0">
                <a:latin typeface="Arial MT"/>
                <a:cs typeface="Arial MT"/>
              </a:rPr>
              <a:t>	all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rows that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are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result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query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1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but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result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query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spc="-50" dirty="0">
                <a:latin typeface="Arial MT"/>
                <a:cs typeface="Arial MT"/>
              </a:rPr>
              <a:t>2</a:t>
            </a:r>
            <a:endParaRPr sz="21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dirty="0">
                <a:latin typeface="Calibri"/>
                <a:cs typeface="Calibri"/>
              </a:rPr>
              <a:t>(Query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Expression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1)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(Query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Expression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2)</a:t>
            </a:r>
            <a:endParaRPr sz="2100">
              <a:latin typeface="Arial MT"/>
              <a:cs typeface="Arial MT"/>
            </a:endParaRPr>
          </a:p>
          <a:p>
            <a:pPr marL="240665" indent="-227965">
              <a:lnSpc>
                <a:spcPts val="2395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dirty="0">
                <a:latin typeface="Calibri"/>
                <a:cs typeface="Calibri"/>
              </a:rPr>
              <a:t>-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Symbol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denotes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it.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result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-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B,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relation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which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includes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all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tuples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that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are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50" dirty="0">
                <a:latin typeface="Calibri"/>
                <a:cs typeface="Calibri"/>
              </a:rPr>
              <a:t>A</a:t>
            </a:r>
            <a:endParaRPr sz="2100">
              <a:latin typeface="Calibri"/>
              <a:cs typeface="Calibri"/>
            </a:endParaRPr>
          </a:p>
          <a:p>
            <a:pPr marL="240665">
              <a:lnSpc>
                <a:spcPts val="2395"/>
              </a:lnSpc>
            </a:pPr>
            <a:r>
              <a:rPr sz="2100" dirty="0">
                <a:latin typeface="Calibri"/>
                <a:cs typeface="Calibri"/>
              </a:rPr>
              <a:t>but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not in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B.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dirty="0">
                <a:latin typeface="Calibri"/>
                <a:cs typeface="Calibri"/>
              </a:rPr>
              <a:t>The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attribute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name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must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match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attribute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name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B.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dirty="0">
                <a:latin typeface="Calibri"/>
                <a:cs typeface="Calibri"/>
              </a:rPr>
              <a:t>It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should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defined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relation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consisting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tuples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that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are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relation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A,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but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not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B.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5514" y="2784728"/>
            <a:ext cx="2313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50" dirty="0">
                <a:latin typeface="Calibri Light"/>
                <a:cs typeface="Calibri Light"/>
              </a:rPr>
              <a:t>Example</a:t>
            </a:r>
            <a:endParaRPr sz="5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0621" y="386867"/>
            <a:ext cx="4842510" cy="204216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2200" dirty="0">
                <a:latin typeface="Calibri"/>
                <a:cs typeface="Calibri"/>
              </a:rPr>
              <a:t>Consider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following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relations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200" spc="-10" dirty="0">
                <a:latin typeface="Calibri"/>
                <a:cs typeface="Calibri"/>
              </a:rPr>
              <a:t>Borrower(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customer_name,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loan_number)</a:t>
            </a:r>
            <a:endParaRPr sz="2200">
              <a:latin typeface="Calibri"/>
              <a:cs typeface="Calibri"/>
            </a:endParaRPr>
          </a:p>
          <a:p>
            <a:pPr marL="12700" marR="1706245">
              <a:lnSpc>
                <a:spcPts val="2380"/>
              </a:lnSpc>
              <a:spcBef>
                <a:spcPts val="1025"/>
              </a:spcBef>
            </a:pPr>
            <a:r>
              <a:rPr sz="2200" spc="-10" dirty="0">
                <a:latin typeface="Calibri"/>
                <a:cs typeface="Calibri"/>
              </a:rPr>
              <a:t>Depositor(customer_name, account_number)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200" spc="-10" dirty="0">
                <a:latin typeface="Calibri"/>
                <a:cs typeface="Calibri"/>
              </a:rPr>
              <a:t>Customer(customer_name,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streetno,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city)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0621" y="3354781"/>
            <a:ext cx="4649470" cy="1821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Qn.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names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customers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who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510"/>
              </a:lnSpc>
            </a:pPr>
            <a:r>
              <a:rPr sz="2200" dirty="0">
                <a:latin typeface="Calibri"/>
                <a:cs typeface="Calibri"/>
              </a:rPr>
              <a:t>have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account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loan.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200" spc="-10" dirty="0">
                <a:latin typeface="Calibri"/>
                <a:cs typeface="Calibri"/>
              </a:rPr>
              <a:t>Syntax:</a:t>
            </a:r>
            <a:endParaRPr sz="2200">
              <a:latin typeface="Calibri"/>
              <a:cs typeface="Calibri"/>
            </a:endParaRPr>
          </a:p>
          <a:p>
            <a:pPr marL="76200">
              <a:lnSpc>
                <a:spcPts val="2495"/>
              </a:lnSpc>
              <a:spcBef>
                <a:spcPts val="755"/>
              </a:spcBef>
            </a:pPr>
            <a:r>
              <a:rPr sz="2200" b="1" dirty="0">
                <a:latin typeface="Calibri"/>
                <a:cs typeface="Calibri"/>
              </a:rPr>
              <a:t>∏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customer_name(Depositor)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dirty="0">
                <a:latin typeface="Arial MT"/>
                <a:cs typeface="Arial MT"/>
              </a:rPr>
              <a:t>-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b="1" spc="-50" dirty="0">
                <a:latin typeface="Calibri"/>
                <a:cs typeface="Calibri"/>
              </a:rPr>
              <a:t>∏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495"/>
              </a:lnSpc>
            </a:pPr>
            <a:r>
              <a:rPr sz="2200" b="1" spc="-10" dirty="0">
                <a:latin typeface="Calibri"/>
                <a:cs typeface="Calibri"/>
              </a:rPr>
              <a:t>customer_name(Borrower)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55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spc="-40" dirty="0"/>
              <a:t>Cartesian</a:t>
            </a:r>
            <a:r>
              <a:rPr sz="5200" spc="-220" dirty="0"/>
              <a:t> </a:t>
            </a:r>
            <a:r>
              <a:rPr sz="5200" spc="-50" dirty="0"/>
              <a:t>product(X)</a:t>
            </a:r>
            <a:r>
              <a:rPr sz="5200" spc="-204" dirty="0"/>
              <a:t> </a:t>
            </a:r>
            <a:r>
              <a:rPr sz="5200" dirty="0"/>
              <a:t>or</a:t>
            </a:r>
            <a:r>
              <a:rPr sz="5200" spc="-180" dirty="0"/>
              <a:t> </a:t>
            </a:r>
            <a:r>
              <a:rPr sz="5200" spc="-35" dirty="0"/>
              <a:t>Cross</a:t>
            </a:r>
            <a:r>
              <a:rPr sz="5200" spc="-210" dirty="0"/>
              <a:t> </a:t>
            </a:r>
            <a:r>
              <a:rPr sz="5200" spc="-20" dirty="0"/>
              <a:t>Join</a:t>
            </a:r>
            <a:endParaRPr sz="5200"/>
          </a:p>
        </p:txBody>
      </p:sp>
      <p:sp>
        <p:nvSpPr>
          <p:cNvPr id="3" name="object 3"/>
          <p:cNvSpPr/>
          <p:nvPr/>
        </p:nvSpPr>
        <p:spPr>
          <a:xfrm>
            <a:off x="838200" y="1834895"/>
            <a:ext cx="10515600" cy="1400810"/>
          </a:xfrm>
          <a:custGeom>
            <a:avLst/>
            <a:gdLst/>
            <a:ahLst/>
            <a:cxnLst/>
            <a:rect l="l" t="t" r="r" b="b"/>
            <a:pathLst>
              <a:path w="10515600" h="1400810">
                <a:moveTo>
                  <a:pt x="10282174" y="0"/>
                </a:moveTo>
                <a:lnTo>
                  <a:pt x="233425" y="0"/>
                </a:lnTo>
                <a:lnTo>
                  <a:pt x="186382" y="4742"/>
                </a:lnTo>
                <a:lnTo>
                  <a:pt x="142566" y="18345"/>
                </a:lnTo>
                <a:lnTo>
                  <a:pt x="102915" y="39868"/>
                </a:lnTo>
                <a:lnTo>
                  <a:pt x="68368" y="68373"/>
                </a:lnTo>
                <a:lnTo>
                  <a:pt x="39865" y="102920"/>
                </a:lnTo>
                <a:lnTo>
                  <a:pt x="18343" y="142571"/>
                </a:lnTo>
                <a:lnTo>
                  <a:pt x="4742" y="186386"/>
                </a:lnTo>
                <a:lnTo>
                  <a:pt x="0" y="233425"/>
                </a:lnTo>
                <a:lnTo>
                  <a:pt x="0" y="1167129"/>
                </a:lnTo>
                <a:lnTo>
                  <a:pt x="4742" y="1214169"/>
                </a:lnTo>
                <a:lnTo>
                  <a:pt x="18343" y="1257984"/>
                </a:lnTo>
                <a:lnTo>
                  <a:pt x="39865" y="1297635"/>
                </a:lnTo>
                <a:lnTo>
                  <a:pt x="68368" y="1332182"/>
                </a:lnTo>
                <a:lnTo>
                  <a:pt x="102915" y="1360687"/>
                </a:lnTo>
                <a:lnTo>
                  <a:pt x="142566" y="1382210"/>
                </a:lnTo>
                <a:lnTo>
                  <a:pt x="186382" y="1395813"/>
                </a:lnTo>
                <a:lnTo>
                  <a:pt x="233425" y="1400555"/>
                </a:lnTo>
                <a:lnTo>
                  <a:pt x="10282174" y="1400555"/>
                </a:lnTo>
                <a:lnTo>
                  <a:pt x="10329213" y="1395813"/>
                </a:lnTo>
                <a:lnTo>
                  <a:pt x="10373028" y="1382210"/>
                </a:lnTo>
                <a:lnTo>
                  <a:pt x="10412679" y="1360687"/>
                </a:lnTo>
                <a:lnTo>
                  <a:pt x="10447226" y="1332182"/>
                </a:lnTo>
                <a:lnTo>
                  <a:pt x="10475731" y="1297635"/>
                </a:lnTo>
                <a:lnTo>
                  <a:pt x="10497254" y="1257984"/>
                </a:lnTo>
                <a:lnTo>
                  <a:pt x="10510857" y="1214169"/>
                </a:lnTo>
                <a:lnTo>
                  <a:pt x="10515600" y="1167129"/>
                </a:lnTo>
                <a:lnTo>
                  <a:pt x="10515600" y="233425"/>
                </a:lnTo>
                <a:lnTo>
                  <a:pt x="10510857" y="186386"/>
                </a:lnTo>
                <a:lnTo>
                  <a:pt x="10497254" y="142571"/>
                </a:lnTo>
                <a:lnTo>
                  <a:pt x="10475731" y="102920"/>
                </a:lnTo>
                <a:lnTo>
                  <a:pt x="10447226" y="68373"/>
                </a:lnTo>
                <a:lnTo>
                  <a:pt x="10412679" y="39868"/>
                </a:lnTo>
                <a:lnTo>
                  <a:pt x="10373028" y="18345"/>
                </a:lnTo>
                <a:lnTo>
                  <a:pt x="10329213" y="4742"/>
                </a:lnTo>
                <a:lnTo>
                  <a:pt x="10282174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8200" y="3300984"/>
            <a:ext cx="10515600" cy="1400810"/>
          </a:xfrm>
          <a:custGeom>
            <a:avLst/>
            <a:gdLst/>
            <a:ahLst/>
            <a:cxnLst/>
            <a:rect l="l" t="t" r="r" b="b"/>
            <a:pathLst>
              <a:path w="10515600" h="1400810">
                <a:moveTo>
                  <a:pt x="10282174" y="0"/>
                </a:moveTo>
                <a:lnTo>
                  <a:pt x="233425" y="0"/>
                </a:lnTo>
                <a:lnTo>
                  <a:pt x="186382" y="4742"/>
                </a:lnTo>
                <a:lnTo>
                  <a:pt x="142566" y="18345"/>
                </a:lnTo>
                <a:lnTo>
                  <a:pt x="102915" y="39868"/>
                </a:lnTo>
                <a:lnTo>
                  <a:pt x="68368" y="68373"/>
                </a:lnTo>
                <a:lnTo>
                  <a:pt x="39865" y="102920"/>
                </a:lnTo>
                <a:lnTo>
                  <a:pt x="18343" y="142571"/>
                </a:lnTo>
                <a:lnTo>
                  <a:pt x="4742" y="186386"/>
                </a:lnTo>
                <a:lnTo>
                  <a:pt x="0" y="233425"/>
                </a:lnTo>
                <a:lnTo>
                  <a:pt x="0" y="1167129"/>
                </a:lnTo>
                <a:lnTo>
                  <a:pt x="4742" y="1214169"/>
                </a:lnTo>
                <a:lnTo>
                  <a:pt x="18343" y="1257984"/>
                </a:lnTo>
                <a:lnTo>
                  <a:pt x="39865" y="1297635"/>
                </a:lnTo>
                <a:lnTo>
                  <a:pt x="68368" y="1332182"/>
                </a:lnTo>
                <a:lnTo>
                  <a:pt x="102915" y="1360687"/>
                </a:lnTo>
                <a:lnTo>
                  <a:pt x="142566" y="1382210"/>
                </a:lnTo>
                <a:lnTo>
                  <a:pt x="186382" y="1395813"/>
                </a:lnTo>
                <a:lnTo>
                  <a:pt x="233425" y="1400555"/>
                </a:lnTo>
                <a:lnTo>
                  <a:pt x="10282174" y="1400555"/>
                </a:lnTo>
                <a:lnTo>
                  <a:pt x="10329213" y="1395813"/>
                </a:lnTo>
                <a:lnTo>
                  <a:pt x="10373028" y="1382210"/>
                </a:lnTo>
                <a:lnTo>
                  <a:pt x="10412679" y="1360687"/>
                </a:lnTo>
                <a:lnTo>
                  <a:pt x="10447226" y="1332182"/>
                </a:lnTo>
                <a:lnTo>
                  <a:pt x="10475731" y="1297635"/>
                </a:lnTo>
                <a:lnTo>
                  <a:pt x="10497254" y="1257984"/>
                </a:lnTo>
                <a:lnTo>
                  <a:pt x="10510857" y="1214169"/>
                </a:lnTo>
                <a:lnTo>
                  <a:pt x="10515600" y="1167129"/>
                </a:lnTo>
                <a:lnTo>
                  <a:pt x="10515600" y="233425"/>
                </a:lnTo>
                <a:lnTo>
                  <a:pt x="10510857" y="186386"/>
                </a:lnTo>
                <a:lnTo>
                  <a:pt x="10497254" y="142571"/>
                </a:lnTo>
                <a:lnTo>
                  <a:pt x="10475731" y="102920"/>
                </a:lnTo>
                <a:lnTo>
                  <a:pt x="10447226" y="68373"/>
                </a:lnTo>
                <a:lnTo>
                  <a:pt x="10412679" y="39868"/>
                </a:lnTo>
                <a:lnTo>
                  <a:pt x="10373028" y="18345"/>
                </a:lnTo>
                <a:lnTo>
                  <a:pt x="10329213" y="4742"/>
                </a:lnTo>
                <a:lnTo>
                  <a:pt x="10282174" y="0"/>
                </a:lnTo>
                <a:close/>
              </a:path>
            </a:pathLst>
          </a:custGeom>
          <a:solidFill>
            <a:srgbClr val="4DC5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8200" y="4767071"/>
            <a:ext cx="10515600" cy="1400810"/>
          </a:xfrm>
          <a:custGeom>
            <a:avLst/>
            <a:gdLst/>
            <a:ahLst/>
            <a:cxnLst/>
            <a:rect l="l" t="t" r="r" b="b"/>
            <a:pathLst>
              <a:path w="10515600" h="1400810">
                <a:moveTo>
                  <a:pt x="10282174" y="0"/>
                </a:moveTo>
                <a:lnTo>
                  <a:pt x="233425" y="0"/>
                </a:lnTo>
                <a:lnTo>
                  <a:pt x="186382" y="4742"/>
                </a:lnTo>
                <a:lnTo>
                  <a:pt x="142566" y="18345"/>
                </a:lnTo>
                <a:lnTo>
                  <a:pt x="102915" y="39868"/>
                </a:lnTo>
                <a:lnTo>
                  <a:pt x="68368" y="68373"/>
                </a:lnTo>
                <a:lnTo>
                  <a:pt x="39865" y="102920"/>
                </a:lnTo>
                <a:lnTo>
                  <a:pt x="18343" y="142571"/>
                </a:lnTo>
                <a:lnTo>
                  <a:pt x="4742" y="186386"/>
                </a:lnTo>
                <a:lnTo>
                  <a:pt x="0" y="233425"/>
                </a:lnTo>
                <a:lnTo>
                  <a:pt x="0" y="1167130"/>
                </a:lnTo>
                <a:lnTo>
                  <a:pt x="4742" y="1214173"/>
                </a:lnTo>
                <a:lnTo>
                  <a:pt x="18343" y="1257989"/>
                </a:lnTo>
                <a:lnTo>
                  <a:pt x="39865" y="1297640"/>
                </a:lnTo>
                <a:lnTo>
                  <a:pt x="68368" y="1332187"/>
                </a:lnTo>
                <a:lnTo>
                  <a:pt x="102915" y="1360690"/>
                </a:lnTo>
                <a:lnTo>
                  <a:pt x="142566" y="1382212"/>
                </a:lnTo>
                <a:lnTo>
                  <a:pt x="186382" y="1395813"/>
                </a:lnTo>
                <a:lnTo>
                  <a:pt x="233425" y="1400555"/>
                </a:lnTo>
                <a:lnTo>
                  <a:pt x="10282174" y="1400555"/>
                </a:lnTo>
                <a:lnTo>
                  <a:pt x="10329213" y="1395813"/>
                </a:lnTo>
                <a:lnTo>
                  <a:pt x="10373028" y="1382212"/>
                </a:lnTo>
                <a:lnTo>
                  <a:pt x="10412679" y="1360690"/>
                </a:lnTo>
                <a:lnTo>
                  <a:pt x="10447226" y="1332187"/>
                </a:lnTo>
                <a:lnTo>
                  <a:pt x="10475731" y="1297640"/>
                </a:lnTo>
                <a:lnTo>
                  <a:pt x="10497254" y="1257989"/>
                </a:lnTo>
                <a:lnTo>
                  <a:pt x="10510857" y="1214173"/>
                </a:lnTo>
                <a:lnTo>
                  <a:pt x="10515600" y="1167130"/>
                </a:lnTo>
                <a:lnTo>
                  <a:pt x="10515600" y="233425"/>
                </a:lnTo>
                <a:lnTo>
                  <a:pt x="10510857" y="186386"/>
                </a:lnTo>
                <a:lnTo>
                  <a:pt x="10497254" y="142571"/>
                </a:lnTo>
                <a:lnTo>
                  <a:pt x="10475731" y="102920"/>
                </a:lnTo>
                <a:lnTo>
                  <a:pt x="10447226" y="68373"/>
                </a:lnTo>
                <a:lnTo>
                  <a:pt x="10412679" y="39868"/>
                </a:lnTo>
                <a:lnTo>
                  <a:pt x="10373028" y="18345"/>
                </a:lnTo>
                <a:lnTo>
                  <a:pt x="10329213" y="4742"/>
                </a:lnTo>
                <a:lnTo>
                  <a:pt x="10282174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1557" y="2151964"/>
            <a:ext cx="10031730" cy="3488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cross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performs</a:t>
            </a:r>
            <a:r>
              <a:rPr sz="2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Cartesian</a:t>
            </a:r>
            <a:r>
              <a:rPr sz="2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2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specified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 query.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30"/>
              </a:spcBef>
            </a:pPr>
            <a:endParaRPr sz="2300">
              <a:latin typeface="Calibri"/>
              <a:cs typeface="Calibri"/>
            </a:endParaRPr>
          </a:p>
          <a:p>
            <a:pPr marL="12700" marR="5080" algn="just">
              <a:lnSpc>
                <a:spcPct val="101600"/>
              </a:lnSpc>
              <a:spcBef>
                <a:spcPts val="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every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row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joined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every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row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second.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finally,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rows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equals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rows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1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3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rows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table2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(Query</a:t>
            </a:r>
            <a:r>
              <a:rPr sz="2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Expression</a:t>
            </a:r>
            <a:r>
              <a:rPr sz="2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1)</a:t>
            </a:r>
            <a:r>
              <a:rPr sz="2300" dirty="0">
                <a:solidFill>
                  <a:srgbClr val="FFFFFF"/>
                </a:solidFill>
                <a:latin typeface="Cambria Math"/>
                <a:cs typeface="Cambria Math"/>
              </a:rPr>
              <a:t>⨉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(Query</a:t>
            </a:r>
            <a:r>
              <a:rPr sz="2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Expression</a:t>
            </a:r>
            <a:r>
              <a:rPr sz="2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Calibri"/>
                <a:cs typeface="Calibri"/>
              </a:rPr>
              <a:t>2)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2783" y="2113026"/>
            <a:ext cx="2757170" cy="233045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>
              <a:lnSpc>
                <a:spcPts val="5830"/>
              </a:lnSpc>
              <a:spcBef>
                <a:spcPts val="835"/>
              </a:spcBef>
            </a:pPr>
            <a:r>
              <a:rPr sz="5400" spc="-10" dirty="0"/>
              <a:t>Cartesian Product </a:t>
            </a:r>
            <a:r>
              <a:rPr sz="5400" spc="-65" dirty="0"/>
              <a:t>Operation</a:t>
            </a:r>
            <a:endParaRPr sz="5400"/>
          </a:p>
        </p:txBody>
      </p:sp>
      <p:sp>
        <p:nvSpPr>
          <p:cNvPr id="3" name="object 3"/>
          <p:cNvSpPr/>
          <p:nvPr/>
        </p:nvSpPr>
        <p:spPr>
          <a:xfrm>
            <a:off x="0" y="2985516"/>
            <a:ext cx="196850" cy="673735"/>
          </a:xfrm>
          <a:custGeom>
            <a:avLst/>
            <a:gdLst/>
            <a:ahLst/>
            <a:cxnLst/>
            <a:rect l="l" t="t" r="r" b="b"/>
            <a:pathLst>
              <a:path w="196850" h="673735">
                <a:moveTo>
                  <a:pt x="196596" y="0"/>
                </a:moveTo>
                <a:lnTo>
                  <a:pt x="0" y="0"/>
                </a:lnTo>
                <a:lnTo>
                  <a:pt x="0" y="673608"/>
                </a:lnTo>
                <a:lnTo>
                  <a:pt x="196596" y="673608"/>
                </a:lnTo>
                <a:lnTo>
                  <a:pt x="19659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8224" y="2985516"/>
            <a:ext cx="195580" cy="673735"/>
          </a:xfrm>
          <a:custGeom>
            <a:avLst/>
            <a:gdLst/>
            <a:ahLst/>
            <a:cxnLst/>
            <a:rect l="l" t="t" r="r" b="b"/>
            <a:pathLst>
              <a:path w="195579" h="673735">
                <a:moveTo>
                  <a:pt x="195072" y="0"/>
                </a:moveTo>
                <a:lnTo>
                  <a:pt x="0" y="0"/>
                </a:lnTo>
                <a:lnTo>
                  <a:pt x="0" y="673608"/>
                </a:lnTo>
                <a:lnTo>
                  <a:pt x="195072" y="673608"/>
                </a:lnTo>
                <a:lnTo>
                  <a:pt x="19507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4923" y="2985516"/>
            <a:ext cx="196850" cy="673735"/>
          </a:xfrm>
          <a:custGeom>
            <a:avLst/>
            <a:gdLst/>
            <a:ahLst/>
            <a:cxnLst/>
            <a:rect l="l" t="t" r="r" b="b"/>
            <a:pathLst>
              <a:path w="196850" h="673735">
                <a:moveTo>
                  <a:pt x="196595" y="0"/>
                </a:moveTo>
                <a:lnTo>
                  <a:pt x="0" y="0"/>
                </a:lnTo>
                <a:lnTo>
                  <a:pt x="0" y="673608"/>
                </a:lnTo>
                <a:lnTo>
                  <a:pt x="196595" y="673608"/>
                </a:lnTo>
                <a:lnTo>
                  <a:pt x="19659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544311" y="0"/>
            <a:ext cx="6647815" cy="6858000"/>
            <a:chOff x="5544311" y="0"/>
            <a:chExt cx="6647815" cy="6858000"/>
          </a:xfrm>
        </p:grpSpPr>
        <p:sp>
          <p:nvSpPr>
            <p:cNvPr id="7" name="object 7"/>
            <p:cNvSpPr/>
            <p:nvPr/>
          </p:nvSpPr>
          <p:spPr>
            <a:xfrm>
              <a:off x="10696955" y="0"/>
              <a:ext cx="1495425" cy="6858000"/>
            </a:xfrm>
            <a:custGeom>
              <a:avLst/>
              <a:gdLst/>
              <a:ahLst/>
              <a:cxnLst/>
              <a:rect l="l" t="t" r="r" b="b"/>
              <a:pathLst>
                <a:path w="1495425" h="6858000">
                  <a:moveTo>
                    <a:pt x="14950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044" y="6858000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4311" y="376440"/>
              <a:ext cx="6283451" cy="62910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686043" y="391668"/>
              <a:ext cx="6009640" cy="6017260"/>
            </a:xfrm>
            <a:custGeom>
              <a:avLst/>
              <a:gdLst/>
              <a:ahLst/>
              <a:cxnLst/>
              <a:rect l="l" t="t" r="r" b="b"/>
              <a:pathLst>
                <a:path w="6009640" h="6017260">
                  <a:moveTo>
                    <a:pt x="6009132" y="0"/>
                  </a:moveTo>
                  <a:lnTo>
                    <a:pt x="0" y="0"/>
                  </a:lnTo>
                  <a:lnTo>
                    <a:pt x="0" y="6016752"/>
                  </a:lnTo>
                  <a:lnTo>
                    <a:pt x="6009132" y="6016752"/>
                  </a:lnTo>
                  <a:lnTo>
                    <a:pt x="60091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2263" y="911352"/>
              <a:ext cx="5536692" cy="49758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3" name="object 3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44651" y="635508"/>
            <a:ext cx="10907395" cy="1742439"/>
            <a:chOff x="644651" y="635508"/>
            <a:chExt cx="10907395" cy="1742439"/>
          </a:xfrm>
        </p:grpSpPr>
        <p:sp>
          <p:nvSpPr>
            <p:cNvPr id="7" name="object 7"/>
            <p:cNvSpPr/>
            <p:nvPr/>
          </p:nvSpPr>
          <p:spPr>
            <a:xfrm>
              <a:off x="11222735" y="635508"/>
              <a:ext cx="329565" cy="1742439"/>
            </a:xfrm>
            <a:custGeom>
              <a:avLst/>
              <a:gdLst/>
              <a:ahLst/>
              <a:cxnLst/>
              <a:rect l="l" t="t" r="r" b="b"/>
              <a:pathLst>
                <a:path w="329565" h="1742439">
                  <a:moveTo>
                    <a:pt x="329184" y="0"/>
                  </a:moveTo>
                  <a:lnTo>
                    <a:pt x="0" y="198627"/>
                  </a:lnTo>
                  <a:lnTo>
                    <a:pt x="0" y="1741931"/>
                  </a:lnTo>
                  <a:lnTo>
                    <a:pt x="329184" y="1543303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4651" y="635508"/>
              <a:ext cx="10907395" cy="1542415"/>
            </a:xfrm>
            <a:custGeom>
              <a:avLst/>
              <a:gdLst/>
              <a:ahLst/>
              <a:cxnLst/>
              <a:rect l="l" t="t" r="r" b="b"/>
              <a:pathLst>
                <a:path w="10907395" h="1542414">
                  <a:moveTo>
                    <a:pt x="10907268" y="0"/>
                  </a:moveTo>
                  <a:lnTo>
                    <a:pt x="0" y="0"/>
                  </a:lnTo>
                  <a:lnTo>
                    <a:pt x="0" y="1542288"/>
                  </a:lnTo>
                  <a:lnTo>
                    <a:pt x="10907268" y="1542288"/>
                  </a:lnTo>
                  <a:lnTo>
                    <a:pt x="1090726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44651" y="635508"/>
            <a:ext cx="10907395" cy="1542415"/>
          </a:xfrm>
          <a:prstGeom prst="rect">
            <a:avLst/>
          </a:prstGeom>
        </p:spPr>
        <p:txBody>
          <a:bodyPr vert="horz" wrap="square" lIns="0" tIns="403225" rIns="0" bIns="0" rtlCol="0">
            <a:spAutoFit/>
          </a:bodyPr>
          <a:lstStyle/>
          <a:p>
            <a:pPr marL="405130">
              <a:lnSpc>
                <a:spcPct val="100000"/>
              </a:lnSpc>
              <a:spcBef>
                <a:spcPts val="3175"/>
              </a:spcBef>
            </a:pPr>
            <a:r>
              <a:rPr dirty="0">
                <a:solidFill>
                  <a:srgbClr val="FFFFFF"/>
                </a:solidFill>
              </a:rPr>
              <a:t>Join</a:t>
            </a:r>
            <a:r>
              <a:rPr spc="-204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46657" y="2642997"/>
            <a:ext cx="9551035" cy="309562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Join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retrieve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Join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denoted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⋈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Most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common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join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“Natural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join”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columns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having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same 	</a:t>
            </a:r>
            <a:r>
              <a:rPr sz="2400" dirty="0">
                <a:latin typeface="Calibri"/>
                <a:cs typeface="Calibri"/>
              </a:rPr>
              <a:t>name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taken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joining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Syntax: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20"/>
              </a:spcBef>
            </a:pPr>
            <a:r>
              <a:rPr sz="2400" b="1" spc="-10" dirty="0">
                <a:latin typeface="Calibri"/>
                <a:cs typeface="Calibri"/>
              </a:rPr>
              <a:t>(&lt;table_name&gt;)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&lt;join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condition&gt;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(table_name)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various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joins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algebra.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60313" y="640712"/>
            <a:ext cx="434340" cy="549275"/>
            <a:chOff x="1260313" y="640712"/>
            <a:chExt cx="434340" cy="549275"/>
          </a:xfrm>
        </p:grpSpPr>
        <p:sp>
          <p:nvSpPr>
            <p:cNvPr id="12" name="object 12"/>
            <p:cNvSpPr/>
            <p:nvPr/>
          </p:nvSpPr>
          <p:spPr>
            <a:xfrm>
              <a:off x="1264815" y="645219"/>
              <a:ext cx="424815" cy="539750"/>
            </a:xfrm>
            <a:custGeom>
              <a:avLst/>
              <a:gdLst/>
              <a:ahLst/>
              <a:cxnLst/>
              <a:rect l="l" t="t" r="r" b="b"/>
              <a:pathLst>
                <a:path w="424814" h="539750">
                  <a:moveTo>
                    <a:pt x="247089" y="538479"/>
                  </a:moveTo>
                  <a:lnTo>
                    <a:pt x="177240" y="538479"/>
                  </a:lnTo>
                  <a:lnTo>
                    <a:pt x="189513" y="539749"/>
                  </a:lnTo>
                  <a:lnTo>
                    <a:pt x="234835" y="539749"/>
                  </a:lnTo>
                  <a:lnTo>
                    <a:pt x="247089" y="538479"/>
                  </a:lnTo>
                  <a:close/>
                </a:path>
                <a:path w="424814" h="539750">
                  <a:moveTo>
                    <a:pt x="260324" y="2539"/>
                  </a:moveTo>
                  <a:lnTo>
                    <a:pt x="164703" y="2539"/>
                  </a:lnTo>
                  <a:lnTo>
                    <a:pt x="151411" y="3809"/>
                  </a:lnTo>
                  <a:lnTo>
                    <a:pt x="111310" y="11429"/>
                  </a:lnTo>
                  <a:lnTo>
                    <a:pt x="72737" y="22859"/>
                  </a:lnTo>
                  <a:lnTo>
                    <a:pt x="29466" y="45719"/>
                  </a:lnTo>
                  <a:lnTo>
                    <a:pt x="1911" y="80009"/>
                  </a:lnTo>
                  <a:lnTo>
                    <a:pt x="0" y="87629"/>
                  </a:lnTo>
                  <a:lnTo>
                    <a:pt x="99" y="448309"/>
                  </a:lnTo>
                  <a:lnTo>
                    <a:pt x="21113" y="487679"/>
                  </a:lnTo>
                  <a:lnTo>
                    <a:pt x="29731" y="495299"/>
                  </a:lnTo>
                  <a:lnTo>
                    <a:pt x="73320" y="518159"/>
                  </a:lnTo>
                  <a:lnTo>
                    <a:pt x="138081" y="534669"/>
                  </a:lnTo>
                  <a:lnTo>
                    <a:pt x="151259" y="535939"/>
                  </a:lnTo>
                  <a:lnTo>
                    <a:pt x="164400" y="538479"/>
                  </a:lnTo>
                  <a:lnTo>
                    <a:pt x="260021" y="538479"/>
                  </a:lnTo>
                  <a:lnTo>
                    <a:pt x="273313" y="537209"/>
                  </a:lnTo>
                  <a:lnTo>
                    <a:pt x="313414" y="529589"/>
                  </a:lnTo>
                  <a:lnTo>
                    <a:pt x="351987" y="518159"/>
                  </a:lnTo>
                  <a:lnTo>
                    <a:pt x="385888" y="501649"/>
                  </a:lnTo>
                  <a:lnTo>
                    <a:pt x="188211" y="501649"/>
                  </a:lnTo>
                  <a:lnTo>
                    <a:pt x="180083" y="500379"/>
                  </a:lnTo>
                  <a:lnTo>
                    <a:pt x="171883" y="500379"/>
                  </a:lnTo>
                  <a:lnTo>
                    <a:pt x="121489" y="492759"/>
                  </a:lnTo>
                  <a:lnTo>
                    <a:pt x="113420" y="490219"/>
                  </a:lnTo>
                  <a:lnTo>
                    <a:pt x="105522" y="488949"/>
                  </a:lnTo>
                  <a:lnTo>
                    <a:pt x="90290" y="483869"/>
                  </a:lnTo>
                  <a:lnTo>
                    <a:pt x="82956" y="481329"/>
                  </a:lnTo>
                  <a:lnTo>
                    <a:pt x="79938" y="478789"/>
                  </a:lnTo>
                  <a:lnTo>
                    <a:pt x="75916" y="477519"/>
                  </a:lnTo>
                  <a:lnTo>
                    <a:pt x="40323" y="452119"/>
                  </a:lnTo>
                  <a:lnTo>
                    <a:pt x="38611" y="448309"/>
                  </a:lnTo>
                  <a:lnTo>
                    <a:pt x="38611" y="153669"/>
                  </a:lnTo>
                  <a:lnTo>
                    <a:pt x="176708" y="153669"/>
                  </a:lnTo>
                  <a:lnTo>
                    <a:pt x="118852" y="144779"/>
                  </a:lnTo>
                  <a:lnTo>
                    <a:pt x="102410" y="139699"/>
                  </a:lnTo>
                  <a:lnTo>
                    <a:pt x="94528" y="138429"/>
                  </a:lnTo>
                  <a:lnTo>
                    <a:pt x="86875" y="135889"/>
                  </a:lnTo>
                  <a:lnTo>
                    <a:pt x="79543" y="132079"/>
                  </a:lnTo>
                  <a:lnTo>
                    <a:pt x="72623" y="129539"/>
                  </a:lnTo>
                  <a:lnTo>
                    <a:pt x="66118" y="125729"/>
                  </a:lnTo>
                  <a:lnTo>
                    <a:pt x="60027" y="123189"/>
                  </a:lnTo>
                  <a:lnTo>
                    <a:pt x="52183" y="118109"/>
                  </a:lnTo>
                  <a:lnTo>
                    <a:pt x="46153" y="111759"/>
                  </a:lnTo>
                  <a:lnTo>
                    <a:pt x="41931" y="105409"/>
                  </a:lnTo>
                  <a:lnTo>
                    <a:pt x="40921" y="104139"/>
                  </a:lnTo>
                  <a:lnTo>
                    <a:pt x="40117" y="102869"/>
                  </a:lnTo>
                  <a:lnTo>
                    <a:pt x="38913" y="100329"/>
                  </a:lnTo>
                  <a:lnTo>
                    <a:pt x="38611" y="99059"/>
                  </a:lnTo>
                  <a:lnTo>
                    <a:pt x="38611" y="92709"/>
                  </a:lnTo>
                  <a:lnTo>
                    <a:pt x="75916" y="63499"/>
                  </a:lnTo>
                  <a:lnTo>
                    <a:pt x="79938" y="60959"/>
                  </a:lnTo>
                  <a:lnTo>
                    <a:pt x="82956" y="59689"/>
                  </a:lnTo>
                  <a:lnTo>
                    <a:pt x="105917" y="52069"/>
                  </a:lnTo>
                  <a:lnTo>
                    <a:pt x="113723" y="50799"/>
                  </a:lnTo>
                  <a:lnTo>
                    <a:pt x="121660" y="48259"/>
                  </a:lnTo>
                  <a:lnTo>
                    <a:pt x="138099" y="45719"/>
                  </a:lnTo>
                  <a:lnTo>
                    <a:pt x="146600" y="43179"/>
                  </a:lnTo>
                  <a:lnTo>
                    <a:pt x="155159" y="41909"/>
                  </a:lnTo>
                  <a:lnTo>
                    <a:pt x="163642" y="41909"/>
                  </a:lnTo>
                  <a:lnTo>
                    <a:pt x="172051" y="40639"/>
                  </a:lnTo>
                  <a:lnTo>
                    <a:pt x="180385" y="40639"/>
                  </a:lnTo>
                  <a:lnTo>
                    <a:pt x="188606" y="39369"/>
                  </a:lnTo>
                  <a:lnTo>
                    <a:pt x="385433" y="39369"/>
                  </a:lnTo>
                  <a:lnTo>
                    <a:pt x="374932" y="33019"/>
                  </a:lnTo>
                  <a:lnTo>
                    <a:pt x="338978" y="17779"/>
                  </a:lnTo>
                  <a:lnTo>
                    <a:pt x="286643" y="6349"/>
                  </a:lnTo>
                  <a:lnTo>
                    <a:pt x="273465" y="5079"/>
                  </a:lnTo>
                  <a:lnTo>
                    <a:pt x="260324" y="2539"/>
                  </a:lnTo>
                  <a:close/>
                </a:path>
                <a:path w="424814" h="539750">
                  <a:moveTo>
                    <a:pt x="385433" y="39369"/>
                  </a:moveTo>
                  <a:lnTo>
                    <a:pt x="236513" y="39369"/>
                  </a:lnTo>
                  <a:lnTo>
                    <a:pt x="244641" y="40639"/>
                  </a:lnTo>
                  <a:lnTo>
                    <a:pt x="252840" y="40639"/>
                  </a:lnTo>
                  <a:lnTo>
                    <a:pt x="303235" y="48259"/>
                  </a:lnTo>
                  <a:lnTo>
                    <a:pt x="311304" y="50799"/>
                  </a:lnTo>
                  <a:lnTo>
                    <a:pt x="319202" y="52069"/>
                  </a:lnTo>
                  <a:lnTo>
                    <a:pt x="326912" y="54609"/>
                  </a:lnTo>
                  <a:lnTo>
                    <a:pt x="341768" y="59689"/>
                  </a:lnTo>
                  <a:lnTo>
                    <a:pt x="344786" y="62229"/>
                  </a:lnTo>
                  <a:lnTo>
                    <a:pt x="348808" y="63499"/>
                  </a:lnTo>
                  <a:lnTo>
                    <a:pt x="384401" y="88899"/>
                  </a:lnTo>
                  <a:lnTo>
                    <a:pt x="386113" y="92709"/>
                  </a:lnTo>
                  <a:lnTo>
                    <a:pt x="386113" y="99059"/>
                  </a:lnTo>
                  <a:lnTo>
                    <a:pt x="385811" y="100329"/>
                  </a:lnTo>
                  <a:lnTo>
                    <a:pt x="384607" y="102869"/>
                  </a:lnTo>
                  <a:lnTo>
                    <a:pt x="383796" y="104139"/>
                  </a:lnTo>
                  <a:lnTo>
                    <a:pt x="382793" y="105409"/>
                  </a:lnTo>
                  <a:lnTo>
                    <a:pt x="378571" y="111759"/>
                  </a:lnTo>
                  <a:lnTo>
                    <a:pt x="372438" y="118109"/>
                  </a:lnTo>
                  <a:lnTo>
                    <a:pt x="364394" y="123189"/>
                  </a:lnTo>
                  <a:lnTo>
                    <a:pt x="358192" y="125729"/>
                  </a:lnTo>
                  <a:lnTo>
                    <a:pt x="351651" y="129539"/>
                  </a:lnTo>
                  <a:lnTo>
                    <a:pt x="344769" y="132079"/>
                  </a:lnTo>
                  <a:lnTo>
                    <a:pt x="337546" y="135889"/>
                  </a:lnTo>
                  <a:lnTo>
                    <a:pt x="330025" y="138429"/>
                  </a:lnTo>
                  <a:lnTo>
                    <a:pt x="322238" y="140969"/>
                  </a:lnTo>
                  <a:lnTo>
                    <a:pt x="314187" y="142239"/>
                  </a:lnTo>
                  <a:lnTo>
                    <a:pt x="305872" y="144779"/>
                  </a:lnTo>
                  <a:lnTo>
                    <a:pt x="288980" y="147319"/>
                  </a:lnTo>
                  <a:lnTo>
                    <a:pt x="280534" y="149859"/>
                  </a:lnTo>
                  <a:lnTo>
                    <a:pt x="272087" y="151129"/>
                  </a:lnTo>
                  <a:lnTo>
                    <a:pt x="263735" y="151129"/>
                  </a:lnTo>
                  <a:lnTo>
                    <a:pt x="247598" y="153669"/>
                  </a:lnTo>
                  <a:lnTo>
                    <a:pt x="386113" y="153669"/>
                  </a:lnTo>
                  <a:lnTo>
                    <a:pt x="386113" y="448309"/>
                  </a:lnTo>
                  <a:lnTo>
                    <a:pt x="348808" y="477519"/>
                  </a:lnTo>
                  <a:lnTo>
                    <a:pt x="344786" y="480059"/>
                  </a:lnTo>
                  <a:lnTo>
                    <a:pt x="341768" y="481329"/>
                  </a:lnTo>
                  <a:lnTo>
                    <a:pt x="318807" y="488949"/>
                  </a:lnTo>
                  <a:lnTo>
                    <a:pt x="311001" y="490219"/>
                  </a:lnTo>
                  <a:lnTo>
                    <a:pt x="303064" y="492759"/>
                  </a:lnTo>
                  <a:lnTo>
                    <a:pt x="286625" y="495299"/>
                  </a:lnTo>
                  <a:lnTo>
                    <a:pt x="278124" y="497839"/>
                  </a:lnTo>
                  <a:lnTo>
                    <a:pt x="269562" y="499109"/>
                  </a:lnTo>
                  <a:lnTo>
                    <a:pt x="261079" y="499109"/>
                  </a:lnTo>
                  <a:lnTo>
                    <a:pt x="252672" y="500379"/>
                  </a:lnTo>
                  <a:lnTo>
                    <a:pt x="244339" y="500379"/>
                  </a:lnTo>
                  <a:lnTo>
                    <a:pt x="236118" y="501649"/>
                  </a:lnTo>
                  <a:lnTo>
                    <a:pt x="385888" y="501649"/>
                  </a:lnTo>
                  <a:lnTo>
                    <a:pt x="415168" y="474979"/>
                  </a:lnTo>
                  <a:lnTo>
                    <a:pt x="424724" y="453389"/>
                  </a:lnTo>
                  <a:lnTo>
                    <a:pt x="424625" y="92709"/>
                  </a:lnTo>
                  <a:lnTo>
                    <a:pt x="403611" y="53339"/>
                  </a:lnTo>
                  <a:lnTo>
                    <a:pt x="394993" y="45719"/>
                  </a:lnTo>
                  <a:lnTo>
                    <a:pt x="385433" y="39369"/>
                  </a:lnTo>
                  <a:close/>
                </a:path>
                <a:path w="424814" h="539750">
                  <a:moveTo>
                    <a:pt x="243979" y="191769"/>
                  </a:moveTo>
                  <a:lnTo>
                    <a:pt x="180632" y="191769"/>
                  </a:lnTo>
                  <a:lnTo>
                    <a:pt x="191622" y="193039"/>
                  </a:lnTo>
                  <a:lnTo>
                    <a:pt x="232950" y="193039"/>
                  </a:lnTo>
                  <a:lnTo>
                    <a:pt x="243979" y="191769"/>
                  </a:lnTo>
                  <a:close/>
                </a:path>
                <a:path w="424814" h="539750">
                  <a:moveTo>
                    <a:pt x="192227" y="153669"/>
                  </a:moveTo>
                  <a:lnTo>
                    <a:pt x="38611" y="153669"/>
                  </a:lnTo>
                  <a:lnTo>
                    <a:pt x="47605" y="160019"/>
                  </a:lnTo>
                  <a:lnTo>
                    <a:pt x="88366" y="176529"/>
                  </a:lnTo>
                  <a:lnTo>
                    <a:pt x="99470" y="179069"/>
                  </a:lnTo>
                  <a:lnTo>
                    <a:pt x="110838" y="182879"/>
                  </a:lnTo>
                  <a:lnTo>
                    <a:pt x="122468" y="185419"/>
                  </a:lnTo>
                  <a:lnTo>
                    <a:pt x="134216" y="186689"/>
                  </a:lnTo>
                  <a:lnTo>
                    <a:pt x="145925" y="189229"/>
                  </a:lnTo>
                  <a:lnTo>
                    <a:pt x="169227" y="191769"/>
                  </a:lnTo>
                  <a:lnTo>
                    <a:pt x="255497" y="191769"/>
                  </a:lnTo>
                  <a:lnTo>
                    <a:pt x="278954" y="189229"/>
                  </a:lnTo>
                  <a:lnTo>
                    <a:pt x="290624" y="186689"/>
                  </a:lnTo>
                  <a:lnTo>
                    <a:pt x="302256" y="185419"/>
                  </a:lnTo>
                  <a:lnTo>
                    <a:pt x="313774" y="182879"/>
                  </a:lnTo>
                  <a:lnTo>
                    <a:pt x="325104" y="179069"/>
                  </a:lnTo>
                  <a:lnTo>
                    <a:pt x="336246" y="176529"/>
                  </a:lnTo>
                  <a:lnTo>
                    <a:pt x="377234" y="160019"/>
                  </a:lnTo>
                  <a:lnTo>
                    <a:pt x="384337" y="154939"/>
                  </a:lnTo>
                  <a:lnTo>
                    <a:pt x="199392" y="154939"/>
                  </a:lnTo>
                  <a:lnTo>
                    <a:pt x="192227" y="153669"/>
                  </a:lnTo>
                  <a:close/>
                </a:path>
                <a:path w="424814" h="539750">
                  <a:moveTo>
                    <a:pt x="386113" y="153669"/>
                  </a:moveTo>
                  <a:lnTo>
                    <a:pt x="239815" y="153669"/>
                  </a:lnTo>
                  <a:lnTo>
                    <a:pt x="232329" y="154939"/>
                  </a:lnTo>
                  <a:lnTo>
                    <a:pt x="384337" y="154939"/>
                  </a:lnTo>
                  <a:lnTo>
                    <a:pt x="386113" y="153669"/>
                  </a:lnTo>
                  <a:close/>
                </a:path>
                <a:path w="424814" h="539750">
                  <a:moveTo>
                    <a:pt x="235211" y="1269"/>
                  </a:moveTo>
                  <a:lnTo>
                    <a:pt x="189889" y="1269"/>
                  </a:lnTo>
                  <a:lnTo>
                    <a:pt x="177635" y="2539"/>
                  </a:lnTo>
                  <a:lnTo>
                    <a:pt x="247484" y="2539"/>
                  </a:lnTo>
                  <a:lnTo>
                    <a:pt x="235211" y="1269"/>
                  </a:lnTo>
                  <a:close/>
                </a:path>
                <a:path w="424814" h="539750">
                  <a:moveTo>
                    <a:pt x="212362" y="0"/>
                  </a:moveTo>
                  <a:lnTo>
                    <a:pt x="201464" y="1269"/>
                  </a:lnTo>
                  <a:lnTo>
                    <a:pt x="223504" y="1269"/>
                  </a:lnTo>
                  <a:lnTo>
                    <a:pt x="21236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64815" y="645214"/>
              <a:ext cx="424815" cy="539750"/>
            </a:xfrm>
            <a:custGeom>
              <a:avLst/>
              <a:gdLst/>
              <a:ahLst/>
              <a:cxnLst/>
              <a:rect l="l" t="t" r="r" b="b"/>
              <a:pathLst>
                <a:path w="424814" h="539750">
                  <a:moveTo>
                    <a:pt x="212362" y="0"/>
                  </a:moveTo>
                  <a:lnTo>
                    <a:pt x="260324" y="2409"/>
                  </a:lnTo>
                  <a:lnTo>
                    <a:pt x="299858" y="7889"/>
                  </a:lnTo>
                  <a:lnTo>
                    <a:pt x="338978" y="17468"/>
                  </a:lnTo>
                  <a:lnTo>
                    <a:pt x="374932" y="32362"/>
                  </a:lnTo>
                  <a:lnTo>
                    <a:pt x="409846" y="58235"/>
                  </a:lnTo>
                  <a:lnTo>
                    <a:pt x="418688" y="72288"/>
                  </a:lnTo>
                  <a:lnTo>
                    <a:pt x="422511" y="79716"/>
                  </a:lnTo>
                  <a:lnTo>
                    <a:pt x="424525" y="87748"/>
                  </a:lnTo>
                  <a:lnTo>
                    <a:pt x="424725" y="96384"/>
                  </a:lnTo>
                  <a:lnTo>
                    <a:pt x="424725" y="443370"/>
                  </a:lnTo>
                  <a:lnTo>
                    <a:pt x="424725" y="452404"/>
                  </a:lnTo>
                  <a:lnTo>
                    <a:pt x="422813" y="460436"/>
                  </a:lnTo>
                  <a:lnTo>
                    <a:pt x="418991" y="467466"/>
                  </a:lnTo>
                  <a:lnTo>
                    <a:pt x="415168" y="474496"/>
                  </a:lnTo>
                  <a:lnTo>
                    <a:pt x="385888" y="501352"/>
                  </a:lnTo>
                  <a:lnTo>
                    <a:pt x="339506" y="521683"/>
                  </a:lnTo>
                  <a:lnTo>
                    <a:pt x="300010" y="531812"/>
                  </a:lnTo>
                  <a:lnTo>
                    <a:pt x="260021" y="537345"/>
                  </a:lnTo>
                  <a:lnTo>
                    <a:pt x="212362" y="539755"/>
                  </a:lnTo>
                  <a:lnTo>
                    <a:pt x="201220" y="539604"/>
                  </a:lnTo>
                  <a:lnTo>
                    <a:pt x="151259" y="535933"/>
                  </a:lnTo>
                  <a:lnTo>
                    <a:pt x="111612" y="529210"/>
                  </a:lnTo>
                  <a:lnTo>
                    <a:pt x="73320" y="517917"/>
                  </a:lnTo>
                  <a:lnTo>
                    <a:pt x="29731" y="494594"/>
                  </a:lnTo>
                  <a:lnTo>
                    <a:pt x="2213" y="460038"/>
                  </a:lnTo>
                  <a:lnTo>
                    <a:pt x="0" y="443370"/>
                  </a:lnTo>
                  <a:lnTo>
                    <a:pt x="0" y="96384"/>
                  </a:lnTo>
                  <a:lnTo>
                    <a:pt x="0" y="87350"/>
                  </a:lnTo>
                  <a:lnTo>
                    <a:pt x="1911" y="79318"/>
                  </a:lnTo>
                  <a:lnTo>
                    <a:pt x="5733" y="72288"/>
                  </a:lnTo>
                  <a:lnTo>
                    <a:pt x="9549" y="65258"/>
                  </a:lnTo>
                  <a:lnTo>
                    <a:pt x="38836" y="38404"/>
                  </a:lnTo>
                  <a:lnTo>
                    <a:pt x="85218" y="18074"/>
                  </a:lnTo>
                  <a:lnTo>
                    <a:pt x="124714" y="7945"/>
                  </a:lnTo>
                  <a:lnTo>
                    <a:pt x="164703" y="2409"/>
                  </a:lnTo>
                  <a:lnTo>
                    <a:pt x="201464" y="262"/>
                  </a:lnTo>
                  <a:lnTo>
                    <a:pt x="212362" y="0"/>
                  </a:lnTo>
                  <a:close/>
                </a:path>
                <a:path w="424814" h="539750">
                  <a:moveTo>
                    <a:pt x="212362" y="38553"/>
                  </a:moveTo>
                  <a:lnTo>
                    <a:pt x="172051" y="40022"/>
                  </a:lnTo>
                  <a:lnTo>
                    <a:pt x="129785" y="46082"/>
                  </a:lnTo>
                  <a:lnTo>
                    <a:pt x="90533" y="56756"/>
                  </a:lnTo>
                  <a:lnTo>
                    <a:pt x="70890" y="65059"/>
                  </a:lnTo>
                  <a:lnTo>
                    <a:pt x="65858" y="67469"/>
                  </a:lnTo>
                  <a:lnTo>
                    <a:pt x="38611" y="91970"/>
                  </a:lnTo>
                  <a:lnTo>
                    <a:pt x="38611" y="96384"/>
                  </a:lnTo>
                  <a:lnTo>
                    <a:pt x="38611" y="97991"/>
                  </a:lnTo>
                  <a:lnTo>
                    <a:pt x="38913" y="99494"/>
                  </a:lnTo>
                  <a:lnTo>
                    <a:pt x="39518" y="100902"/>
                  </a:lnTo>
                  <a:lnTo>
                    <a:pt x="40117" y="102309"/>
                  </a:lnTo>
                  <a:lnTo>
                    <a:pt x="40921" y="103716"/>
                  </a:lnTo>
                  <a:lnTo>
                    <a:pt x="41931" y="105117"/>
                  </a:lnTo>
                  <a:lnTo>
                    <a:pt x="46153" y="111542"/>
                  </a:lnTo>
                  <a:lnTo>
                    <a:pt x="79543" y="131814"/>
                  </a:lnTo>
                  <a:lnTo>
                    <a:pt x="118852" y="143671"/>
                  </a:lnTo>
                  <a:lnTo>
                    <a:pt x="160573" y="150809"/>
                  </a:lnTo>
                  <a:lnTo>
                    <a:pt x="199392" y="153764"/>
                  </a:lnTo>
                  <a:lnTo>
                    <a:pt x="212362" y="154215"/>
                  </a:lnTo>
                  <a:lnTo>
                    <a:pt x="218603" y="154159"/>
                  </a:lnTo>
                  <a:lnTo>
                    <a:pt x="263735" y="151111"/>
                  </a:lnTo>
                  <a:lnTo>
                    <a:pt x="305872" y="143973"/>
                  </a:lnTo>
                  <a:lnTo>
                    <a:pt x="344769" y="131699"/>
                  </a:lnTo>
                  <a:lnTo>
                    <a:pt x="378571" y="111748"/>
                  </a:lnTo>
                  <a:lnTo>
                    <a:pt x="382793" y="105117"/>
                  </a:lnTo>
                  <a:lnTo>
                    <a:pt x="383796" y="103716"/>
                  </a:lnTo>
                  <a:lnTo>
                    <a:pt x="384607" y="102309"/>
                  </a:lnTo>
                  <a:lnTo>
                    <a:pt x="385206" y="100902"/>
                  </a:lnTo>
                  <a:lnTo>
                    <a:pt x="385811" y="99494"/>
                  </a:lnTo>
                  <a:lnTo>
                    <a:pt x="386113" y="97991"/>
                  </a:lnTo>
                  <a:lnTo>
                    <a:pt x="386113" y="96384"/>
                  </a:lnTo>
                  <a:lnTo>
                    <a:pt x="386113" y="92368"/>
                  </a:lnTo>
                  <a:lnTo>
                    <a:pt x="353834" y="65361"/>
                  </a:lnTo>
                  <a:lnTo>
                    <a:pt x="348808" y="63151"/>
                  </a:lnTo>
                  <a:lnTo>
                    <a:pt x="344786" y="61242"/>
                  </a:lnTo>
                  <a:lnTo>
                    <a:pt x="341768" y="59636"/>
                  </a:lnTo>
                  <a:lnTo>
                    <a:pt x="334434" y="56890"/>
                  </a:lnTo>
                  <a:lnTo>
                    <a:pt x="295015" y="46384"/>
                  </a:lnTo>
                  <a:lnTo>
                    <a:pt x="252840" y="40324"/>
                  </a:lnTo>
                  <a:lnTo>
                    <a:pt x="220374" y="38741"/>
                  </a:lnTo>
                  <a:lnTo>
                    <a:pt x="212362" y="38553"/>
                  </a:lnTo>
                  <a:close/>
                </a:path>
                <a:path w="424814" h="539750">
                  <a:moveTo>
                    <a:pt x="212362" y="501201"/>
                  </a:moveTo>
                  <a:lnTo>
                    <a:pt x="252672" y="499732"/>
                  </a:lnTo>
                  <a:lnTo>
                    <a:pt x="294939" y="493672"/>
                  </a:lnTo>
                  <a:lnTo>
                    <a:pt x="334191" y="482998"/>
                  </a:lnTo>
                  <a:lnTo>
                    <a:pt x="353834" y="474695"/>
                  </a:lnTo>
                  <a:lnTo>
                    <a:pt x="358866" y="472285"/>
                  </a:lnTo>
                  <a:lnTo>
                    <a:pt x="380984" y="455418"/>
                  </a:lnTo>
                  <a:lnTo>
                    <a:pt x="384401" y="451807"/>
                  </a:lnTo>
                  <a:lnTo>
                    <a:pt x="386113" y="447791"/>
                  </a:lnTo>
                  <a:lnTo>
                    <a:pt x="386113" y="443370"/>
                  </a:lnTo>
                  <a:lnTo>
                    <a:pt x="386113" y="153611"/>
                  </a:lnTo>
                  <a:lnTo>
                    <a:pt x="347199" y="172291"/>
                  </a:lnTo>
                  <a:lnTo>
                    <a:pt x="302256" y="184339"/>
                  </a:lnTo>
                  <a:lnTo>
                    <a:pt x="255497" y="190662"/>
                  </a:lnTo>
                  <a:lnTo>
                    <a:pt x="212362" y="192769"/>
                  </a:lnTo>
                  <a:lnTo>
                    <a:pt x="202199" y="192656"/>
                  </a:lnTo>
                  <a:lnTo>
                    <a:pt x="157595" y="189871"/>
                  </a:lnTo>
                  <a:lnTo>
                    <a:pt x="110838" y="181778"/>
                  </a:lnTo>
                  <a:lnTo>
                    <a:pt x="67061" y="168412"/>
                  </a:lnTo>
                  <a:lnTo>
                    <a:pt x="38611" y="153611"/>
                  </a:lnTo>
                  <a:lnTo>
                    <a:pt x="38611" y="443370"/>
                  </a:lnTo>
                  <a:lnTo>
                    <a:pt x="38611" y="447386"/>
                  </a:lnTo>
                  <a:lnTo>
                    <a:pt x="40323" y="451299"/>
                  </a:lnTo>
                  <a:lnTo>
                    <a:pt x="43740" y="455116"/>
                  </a:lnTo>
                  <a:lnTo>
                    <a:pt x="47157" y="458933"/>
                  </a:lnTo>
                  <a:lnTo>
                    <a:pt x="70890" y="474393"/>
                  </a:lnTo>
                  <a:lnTo>
                    <a:pt x="75916" y="476603"/>
                  </a:lnTo>
                  <a:lnTo>
                    <a:pt x="79938" y="478512"/>
                  </a:lnTo>
                  <a:lnTo>
                    <a:pt x="82956" y="480118"/>
                  </a:lnTo>
                  <a:lnTo>
                    <a:pt x="90290" y="482998"/>
                  </a:lnTo>
                  <a:lnTo>
                    <a:pt x="129709" y="493596"/>
                  </a:lnTo>
                  <a:lnTo>
                    <a:pt x="171883" y="499318"/>
                  </a:lnTo>
                  <a:lnTo>
                    <a:pt x="204350" y="501126"/>
                  </a:lnTo>
                  <a:lnTo>
                    <a:pt x="212362" y="501201"/>
                  </a:lnTo>
                  <a:close/>
                </a:path>
              </a:pathLst>
            </a:custGeom>
            <a:ln w="900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154048"/>
            <a:ext cx="37407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75" dirty="0"/>
              <a:t>Types</a:t>
            </a:r>
            <a:r>
              <a:rPr sz="5400" spc="-175" dirty="0"/>
              <a:t> </a:t>
            </a:r>
            <a:r>
              <a:rPr sz="5400" dirty="0"/>
              <a:t>of</a:t>
            </a:r>
            <a:r>
              <a:rPr sz="5400" spc="-150" dirty="0"/>
              <a:t> </a:t>
            </a:r>
            <a:r>
              <a:rPr sz="5400" spc="-20" dirty="0"/>
              <a:t>Joins</a:t>
            </a:r>
            <a:endParaRPr sz="5400"/>
          </a:p>
        </p:txBody>
      </p:sp>
      <p:sp>
        <p:nvSpPr>
          <p:cNvPr id="3" name="object 3"/>
          <p:cNvSpPr/>
          <p:nvPr/>
        </p:nvSpPr>
        <p:spPr>
          <a:xfrm>
            <a:off x="411480" y="626363"/>
            <a:ext cx="548640" cy="73660"/>
          </a:xfrm>
          <a:custGeom>
            <a:avLst/>
            <a:gdLst/>
            <a:ahLst/>
            <a:cxnLst/>
            <a:rect l="l" t="t" r="r" b="b"/>
            <a:pathLst>
              <a:path w="548640" h="73659">
                <a:moveTo>
                  <a:pt x="548640" y="0"/>
                </a:moveTo>
                <a:lnTo>
                  <a:pt x="0" y="0"/>
                </a:lnTo>
                <a:lnTo>
                  <a:pt x="0" y="73151"/>
                </a:lnTo>
                <a:lnTo>
                  <a:pt x="548640" y="73151"/>
                </a:lnTo>
                <a:lnTo>
                  <a:pt x="54864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1480" y="2286000"/>
            <a:ext cx="4389120" cy="18415"/>
          </a:xfrm>
          <a:custGeom>
            <a:avLst/>
            <a:gdLst/>
            <a:ahLst/>
            <a:cxnLst/>
            <a:rect l="l" t="t" r="r" b="b"/>
            <a:pathLst>
              <a:path w="4389120" h="18414">
                <a:moveTo>
                  <a:pt x="4389120" y="0"/>
                </a:moveTo>
                <a:lnTo>
                  <a:pt x="0" y="0"/>
                </a:lnTo>
                <a:lnTo>
                  <a:pt x="0" y="18287"/>
                </a:lnTo>
                <a:lnTo>
                  <a:pt x="4389120" y="18287"/>
                </a:lnTo>
                <a:lnTo>
                  <a:pt x="4389120" y="0"/>
                </a:lnTo>
                <a:close/>
              </a:path>
            </a:pathLst>
          </a:custGeom>
          <a:solidFill>
            <a:srgbClr val="D4D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0219" y="2576334"/>
            <a:ext cx="4287520" cy="225044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314325" algn="l"/>
              </a:tabLst>
            </a:pPr>
            <a:r>
              <a:rPr sz="2400" b="1" spc="-20" dirty="0">
                <a:latin typeface="Calibri"/>
                <a:cs typeface="Calibri"/>
              </a:rPr>
              <a:t>NATURAL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JOIN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(</a:t>
            </a:r>
            <a:r>
              <a:rPr sz="2400" spc="-25" dirty="0">
                <a:latin typeface="Cambria Math"/>
                <a:cs typeface="Cambria Math"/>
              </a:rPr>
              <a:t>⋈</a:t>
            </a:r>
            <a:r>
              <a:rPr sz="2400" b="1" spc="-25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240029" marR="5080" lvl="1" indent="-227329" algn="just">
              <a:lnSpc>
                <a:spcPct val="9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Natural</a:t>
            </a:r>
            <a:r>
              <a:rPr sz="2400" spc="340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join</a:t>
            </a:r>
            <a:r>
              <a:rPr sz="2400" spc="345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345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345" dirty="0">
                <a:latin typeface="Calibri"/>
                <a:cs typeface="Calibri"/>
              </a:rPr>
              <a:t>   </a:t>
            </a:r>
            <a:r>
              <a:rPr sz="2400" spc="-25" dirty="0">
                <a:latin typeface="Calibri"/>
                <a:cs typeface="Calibri"/>
              </a:rPr>
              <a:t>be 	</a:t>
            </a:r>
            <a:r>
              <a:rPr sz="2400" dirty="0">
                <a:latin typeface="Calibri"/>
                <a:cs typeface="Calibri"/>
              </a:rPr>
              <a:t>performed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common 	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(column)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relations.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same.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7829" y="547860"/>
            <a:ext cx="4829175" cy="539082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0931" rIns="0" bIns="0" rtlCol="0">
            <a:spAutoFit/>
          </a:bodyPr>
          <a:lstStyle/>
          <a:p>
            <a:pPr marL="371094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2.</a:t>
            </a:r>
            <a:r>
              <a:rPr sz="4800" spc="-190" dirty="0"/>
              <a:t> </a:t>
            </a:r>
            <a:r>
              <a:rPr sz="4800" spc="-10" dirty="0"/>
              <a:t>Inner</a:t>
            </a:r>
            <a:r>
              <a:rPr sz="4800" spc="-210" dirty="0"/>
              <a:t> </a:t>
            </a:r>
            <a:r>
              <a:rPr sz="4800" spc="-20" dirty="0"/>
              <a:t>Join</a:t>
            </a:r>
            <a:endParaRPr sz="4800"/>
          </a:p>
        </p:txBody>
      </p:sp>
      <p:sp>
        <p:nvSpPr>
          <p:cNvPr id="3" name="object 3"/>
          <p:cNvSpPr/>
          <p:nvPr/>
        </p:nvSpPr>
        <p:spPr>
          <a:xfrm>
            <a:off x="838200" y="2124455"/>
            <a:ext cx="10515600" cy="1788160"/>
          </a:xfrm>
          <a:custGeom>
            <a:avLst/>
            <a:gdLst/>
            <a:ahLst/>
            <a:cxnLst/>
            <a:rect l="l" t="t" r="r" b="b"/>
            <a:pathLst>
              <a:path w="10515600" h="1788160">
                <a:moveTo>
                  <a:pt x="10217658" y="0"/>
                </a:moveTo>
                <a:lnTo>
                  <a:pt x="297954" y="0"/>
                </a:lnTo>
                <a:lnTo>
                  <a:pt x="249625" y="3898"/>
                </a:lnTo>
                <a:lnTo>
                  <a:pt x="203778" y="15185"/>
                </a:lnTo>
                <a:lnTo>
                  <a:pt x="161028" y="33247"/>
                </a:lnTo>
                <a:lnTo>
                  <a:pt x="121987" y="57473"/>
                </a:lnTo>
                <a:lnTo>
                  <a:pt x="87269" y="87249"/>
                </a:lnTo>
                <a:lnTo>
                  <a:pt x="57488" y="121962"/>
                </a:lnTo>
                <a:lnTo>
                  <a:pt x="33257" y="161001"/>
                </a:lnTo>
                <a:lnTo>
                  <a:pt x="15190" y="203752"/>
                </a:lnTo>
                <a:lnTo>
                  <a:pt x="3899" y="249603"/>
                </a:lnTo>
                <a:lnTo>
                  <a:pt x="0" y="297942"/>
                </a:lnTo>
                <a:lnTo>
                  <a:pt x="0" y="1489710"/>
                </a:lnTo>
                <a:lnTo>
                  <a:pt x="3899" y="1538048"/>
                </a:lnTo>
                <a:lnTo>
                  <a:pt x="15190" y="1583899"/>
                </a:lnTo>
                <a:lnTo>
                  <a:pt x="33257" y="1626650"/>
                </a:lnTo>
                <a:lnTo>
                  <a:pt x="57488" y="1665689"/>
                </a:lnTo>
                <a:lnTo>
                  <a:pt x="87269" y="1700403"/>
                </a:lnTo>
                <a:lnTo>
                  <a:pt x="121987" y="1730178"/>
                </a:lnTo>
                <a:lnTo>
                  <a:pt x="161028" y="1754404"/>
                </a:lnTo>
                <a:lnTo>
                  <a:pt x="203778" y="1772466"/>
                </a:lnTo>
                <a:lnTo>
                  <a:pt x="249625" y="1783753"/>
                </a:lnTo>
                <a:lnTo>
                  <a:pt x="297954" y="1787652"/>
                </a:lnTo>
                <a:lnTo>
                  <a:pt x="10217658" y="1787652"/>
                </a:lnTo>
                <a:lnTo>
                  <a:pt x="10265996" y="1783753"/>
                </a:lnTo>
                <a:lnTo>
                  <a:pt x="10311847" y="1772466"/>
                </a:lnTo>
                <a:lnTo>
                  <a:pt x="10354598" y="1754404"/>
                </a:lnTo>
                <a:lnTo>
                  <a:pt x="10393637" y="1730178"/>
                </a:lnTo>
                <a:lnTo>
                  <a:pt x="10428351" y="1700403"/>
                </a:lnTo>
                <a:lnTo>
                  <a:pt x="10458126" y="1665689"/>
                </a:lnTo>
                <a:lnTo>
                  <a:pt x="10482352" y="1626650"/>
                </a:lnTo>
                <a:lnTo>
                  <a:pt x="10500414" y="1583899"/>
                </a:lnTo>
                <a:lnTo>
                  <a:pt x="10511701" y="1538048"/>
                </a:lnTo>
                <a:lnTo>
                  <a:pt x="10515600" y="1489710"/>
                </a:lnTo>
                <a:lnTo>
                  <a:pt x="10515600" y="297942"/>
                </a:lnTo>
                <a:lnTo>
                  <a:pt x="10511701" y="249603"/>
                </a:lnTo>
                <a:lnTo>
                  <a:pt x="10500414" y="203752"/>
                </a:lnTo>
                <a:lnTo>
                  <a:pt x="10482352" y="161001"/>
                </a:lnTo>
                <a:lnTo>
                  <a:pt x="10458126" y="121962"/>
                </a:lnTo>
                <a:lnTo>
                  <a:pt x="10428351" y="87248"/>
                </a:lnTo>
                <a:lnTo>
                  <a:pt x="10393637" y="57473"/>
                </a:lnTo>
                <a:lnTo>
                  <a:pt x="10354598" y="33247"/>
                </a:lnTo>
                <a:lnTo>
                  <a:pt x="10311847" y="15185"/>
                </a:lnTo>
                <a:lnTo>
                  <a:pt x="10265996" y="3898"/>
                </a:lnTo>
                <a:lnTo>
                  <a:pt x="10217658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8200" y="4098035"/>
            <a:ext cx="10515600" cy="1788160"/>
          </a:xfrm>
          <a:custGeom>
            <a:avLst/>
            <a:gdLst/>
            <a:ahLst/>
            <a:cxnLst/>
            <a:rect l="l" t="t" r="r" b="b"/>
            <a:pathLst>
              <a:path w="10515600" h="1788160">
                <a:moveTo>
                  <a:pt x="10217658" y="0"/>
                </a:moveTo>
                <a:lnTo>
                  <a:pt x="297954" y="0"/>
                </a:lnTo>
                <a:lnTo>
                  <a:pt x="249625" y="3898"/>
                </a:lnTo>
                <a:lnTo>
                  <a:pt x="203778" y="15185"/>
                </a:lnTo>
                <a:lnTo>
                  <a:pt x="161028" y="33247"/>
                </a:lnTo>
                <a:lnTo>
                  <a:pt x="121987" y="57473"/>
                </a:lnTo>
                <a:lnTo>
                  <a:pt x="87269" y="87248"/>
                </a:lnTo>
                <a:lnTo>
                  <a:pt x="57488" y="121962"/>
                </a:lnTo>
                <a:lnTo>
                  <a:pt x="33257" y="161001"/>
                </a:lnTo>
                <a:lnTo>
                  <a:pt x="15190" y="203752"/>
                </a:lnTo>
                <a:lnTo>
                  <a:pt x="3899" y="249603"/>
                </a:lnTo>
                <a:lnTo>
                  <a:pt x="0" y="297941"/>
                </a:lnTo>
                <a:lnTo>
                  <a:pt x="0" y="1489710"/>
                </a:lnTo>
                <a:lnTo>
                  <a:pt x="3899" y="1538035"/>
                </a:lnTo>
                <a:lnTo>
                  <a:pt x="15190" y="1583879"/>
                </a:lnTo>
                <a:lnTo>
                  <a:pt x="33257" y="1626628"/>
                </a:lnTo>
                <a:lnTo>
                  <a:pt x="57488" y="1665667"/>
                </a:lnTo>
                <a:lnTo>
                  <a:pt x="87269" y="1700383"/>
                </a:lnTo>
                <a:lnTo>
                  <a:pt x="121987" y="1730164"/>
                </a:lnTo>
                <a:lnTo>
                  <a:pt x="161028" y="1754394"/>
                </a:lnTo>
                <a:lnTo>
                  <a:pt x="203778" y="1772461"/>
                </a:lnTo>
                <a:lnTo>
                  <a:pt x="249625" y="1783752"/>
                </a:lnTo>
                <a:lnTo>
                  <a:pt x="297954" y="1787652"/>
                </a:lnTo>
                <a:lnTo>
                  <a:pt x="10217658" y="1787652"/>
                </a:lnTo>
                <a:lnTo>
                  <a:pt x="10265996" y="1783752"/>
                </a:lnTo>
                <a:lnTo>
                  <a:pt x="10311847" y="1772461"/>
                </a:lnTo>
                <a:lnTo>
                  <a:pt x="10354598" y="1754394"/>
                </a:lnTo>
                <a:lnTo>
                  <a:pt x="10393637" y="1730164"/>
                </a:lnTo>
                <a:lnTo>
                  <a:pt x="10428351" y="1700383"/>
                </a:lnTo>
                <a:lnTo>
                  <a:pt x="10458126" y="1665667"/>
                </a:lnTo>
                <a:lnTo>
                  <a:pt x="10482352" y="1626628"/>
                </a:lnTo>
                <a:lnTo>
                  <a:pt x="10500414" y="1583879"/>
                </a:lnTo>
                <a:lnTo>
                  <a:pt x="10511701" y="1538035"/>
                </a:lnTo>
                <a:lnTo>
                  <a:pt x="10515600" y="1489710"/>
                </a:lnTo>
                <a:lnTo>
                  <a:pt x="10515600" y="297941"/>
                </a:lnTo>
                <a:lnTo>
                  <a:pt x="10511701" y="249603"/>
                </a:lnTo>
                <a:lnTo>
                  <a:pt x="10500414" y="203752"/>
                </a:lnTo>
                <a:lnTo>
                  <a:pt x="10482352" y="161001"/>
                </a:lnTo>
                <a:lnTo>
                  <a:pt x="10458126" y="121962"/>
                </a:lnTo>
                <a:lnTo>
                  <a:pt x="10428351" y="87249"/>
                </a:lnTo>
                <a:lnTo>
                  <a:pt x="10393637" y="57473"/>
                </a:lnTo>
                <a:lnTo>
                  <a:pt x="10354598" y="33247"/>
                </a:lnTo>
                <a:lnTo>
                  <a:pt x="10311847" y="15185"/>
                </a:lnTo>
                <a:lnTo>
                  <a:pt x="10265996" y="3898"/>
                </a:lnTo>
                <a:lnTo>
                  <a:pt x="10217658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34897" y="2265375"/>
            <a:ext cx="10124440" cy="31591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 algn="just">
              <a:lnSpc>
                <a:spcPts val="3520"/>
              </a:lnSpc>
              <a:spcBef>
                <a:spcPts val="490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3200" spc="37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3200" spc="38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cases,</a:t>
            </a:r>
            <a:r>
              <a:rPr sz="3200" spc="36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3200" spc="37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3200" spc="37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joined</a:t>
            </a:r>
            <a:r>
              <a:rPr sz="3200" spc="37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according</a:t>
            </a:r>
            <a:r>
              <a:rPr sz="3200" spc="36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200" spc="38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search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conditions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find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3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rows</a:t>
            </a:r>
            <a:r>
              <a:rPr sz="3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3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matching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;</a:t>
            </a:r>
            <a:r>
              <a:rPr sz="3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this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knows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inner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join.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40"/>
              </a:spcBef>
            </a:pPr>
            <a:endParaRPr sz="3200">
              <a:latin typeface="Calibri"/>
              <a:cs typeface="Calibri"/>
            </a:endParaRPr>
          </a:p>
          <a:p>
            <a:pPr marL="12700" marR="5715" algn="just">
              <a:lnSpc>
                <a:spcPts val="3520"/>
              </a:lnSpc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Inner</a:t>
            </a:r>
            <a:r>
              <a:rPr sz="3200" spc="12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r>
              <a:rPr sz="320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joins</a:t>
            </a:r>
            <a:r>
              <a:rPr sz="3200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3200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320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3200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sz="320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320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least</a:t>
            </a:r>
            <a:r>
              <a:rPr sz="3200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32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match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tables.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181" y="0"/>
            <a:ext cx="1671955" cy="1567815"/>
          </a:xfrm>
          <a:custGeom>
            <a:avLst/>
            <a:gdLst/>
            <a:ahLst/>
            <a:cxnLst/>
            <a:rect l="l" t="t" r="r" b="b"/>
            <a:pathLst>
              <a:path w="1671955" h="1567815">
                <a:moveTo>
                  <a:pt x="1671866" y="275475"/>
                </a:moveTo>
                <a:lnTo>
                  <a:pt x="1396403" y="0"/>
                </a:lnTo>
                <a:lnTo>
                  <a:pt x="0" y="0"/>
                </a:lnTo>
                <a:lnTo>
                  <a:pt x="0" y="1188339"/>
                </a:lnTo>
                <a:lnTo>
                  <a:pt x="379514" y="1567815"/>
                </a:lnTo>
                <a:lnTo>
                  <a:pt x="980821" y="966508"/>
                </a:lnTo>
                <a:lnTo>
                  <a:pt x="1215504" y="1201166"/>
                </a:lnTo>
                <a:lnTo>
                  <a:pt x="1671866" y="744855"/>
                </a:lnTo>
                <a:lnTo>
                  <a:pt x="1437157" y="510184"/>
                </a:lnTo>
                <a:lnTo>
                  <a:pt x="1671866" y="27547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357360" y="0"/>
            <a:ext cx="2834640" cy="1485265"/>
          </a:xfrm>
          <a:custGeom>
            <a:avLst/>
            <a:gdLst/>
            <a:ahLst/>
            <a:cxnLst/>
            <a:rect l="l" t="t" r="r" b="b"/>
            <a:pathLst>
              <a:path w="2834640" h="1485265">
                <a:moveTo>
                  <a:pt x="2834640" y="0"/>
                </a:moveTo>
                <a:lnTo>
                  <a:pt x="0" y="0"/>
                </a:lnTo>
                <a:lnTo>
                  <a:pt x="789317" y="753224"/>
                </a:lnTo>
                <a:lnTo>
                  <a:pt x="543687" y="998855"/>
                </a:lnTo>
                <a:lnTo>
                  <a:pt x="1029843" y="1485011"/>
                </a:lnTo>
                <a:lnTo>
                  <a:pt x="1286852" y="1228001"/>
                </a:lnTo>
                <a:lnTo>
                  <a:pt x="1552321" y="1481328"/>
                </a:lnTo>
                <a:lnTo>
                  <a:pt x="2834640" y="257683"/>
                </a:lnTo>
                <a:lnTo>
                  <a:pt x="283464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382011" y="643127"/>
            <a:ext cx="7428230" cy="6215380"/>
            <a:chOff x="2382011" y="643127"/>
            <a:chExt cx="7428230" cy="6215380"/>
          </a:xfrm>
        </p:grpSpPr>
        <p:sp>
          <p:nvSpPr>
            <p:cNvPr id="5" name="object 5"/>
            <p:cNvSpPr/>
            <p:nvPr/>
          </p:nvSpPr>
          <p:spPr>
            <a:xfrm>
              <a:off x="7976615" y="6115812"/>
              <a:ext cx="1493520" cy="742315"/>
            </a:xfrm>
            <a:custGeom>
              <a:avLst/>
              <a:gdLst/>
              <a:ahLst/>
              <a:cxnLst/>
              <a:rect l="l" t="t" r="r" b="b"/>
              <a:pathLst>
                <a:path w="1493520" h="742315">
                  <a:moveTo>
                    <a:pt x="746759" y="0"/>
                  </a:moveTo>
                  <a:lnTo>
                    <a:pt x="0" y="742187"/>
                  </a:lnTo>
                  <a:lnTo>
                    <a:pt x="1493519" y="742187"/>
                  </a:lnTo>
                  <a:lnTo>
                    <a:pt x="746759" y="0"/>
                  </a:lnTo>
                  <a:close/>
                </a:path>
              </a:pathLst>
            </a:custGeom>
            <a:solidFill>
              <a:srgbClr val="4471C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2011" y="643127"/>
              <a:ext cx="7427976" cy="55717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604759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4471C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5590" y="240029"/>
            <a:ext cx="4462780" cy="6023610"/>
            <a:chOff x="275590" y="240029"/>
            <a:chExt cx="4462780" cy="6023610"/>
          </a:xfrm>
        </p:grpSpPr>
        <p:sp>
          <p:nvSpPr>
            <p:cNvPr id="3" name="object 3"/>
            <p:cNvSpPr/>
            <p:nvPr/>
          </p:nvSpPr>
          <p:spPr>
            <a:xfrm>
              <a:off x="339090" y="304037"/>
              <a:ext cx="4335780" cy="5896610"/>
            </a:xfrm>
            <a:custGeom>
              <a:avLst/>
              <a:gdLst/>
              <a:ahLst/>
              <a:cxnLst/>
              <a:rect l="l" t="t" r="r" b="b"/>
              <a:pathLst>
                <a:path w="4335780" h="5896610">
                  <a:moveTo>
                    <a:pt x="4335780" y="0"/>
                  </a:moveTo>
                  <a:lnTo>
                    <a:pt x="0" y="0"/>
                  </a:lnTo>
                  <a:lnTo>
                    <a:pt x="0" y="5896356"/>
                  </a:lnTo>
                  <a:lnTo>
                    <a:pt x="4335780" y="5896356"/>
                  </a:lnTo>
                  <a:lnTo>
                    <a:pt x="433578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5590" y="240029"/>
              <a:ext cx="4462780" cy="6023610"/>
            </a:xfrm>
            <a:custGeom>
              <a:avLst/>
              <a:gdLst/>
              <a:ahLst/>
              <a:cxnLst/>
              <a:rect l="l" t="t" r="r" b="b"/>
              <a:pathLst>
                <a:path w="4462780" h="6023610">
                  <a:moveTo>
                    <a:pt x="4411980" y="50800"/>
                  </a:moveTo>
                  <a:lnTo>
                    <a:pt x="50800" y="50800"/>
                  </a:lnTo>
                  <a:lnTo>
                    <a:pt x="50800" y="127000"/>
                  </a:lnTo>
                  <a:lnTo>
                    <a:pt x="50800" y="5896610"/>
                  </a:lnTo>
                  <a:lnTo>
                    <a:pt x="50800" y="5972810"/>
                  </a:lnTo>
                  <a:lnTo>
                    <a:pt x="4411980" y="5972810"/>
                  </a:lnTo>
                  <a:lnTo>
                    <a:pt x="4411980" y="5896876"/>
                  </a:lnTo>
                  <a:lnTo>
                    <a:pt x="4411980" y="5896610"/>
                  </a:lnTo>
                  <a:lnTo>
                    <a:pt x="4411980" y="127508"/>
                  </a:lnTo>
                  <a:lnTo>
                    <a:pt x="4335780" y="127520"/>
                  </a:lnTo>
                  <a:lnTo>
                    <a:pt x="4335780" y="5896610"/>
                  </a:lnTo>
                  <a:lnTo>
                    <a:pt x="127000" y="5896610"/>
                  </a:lnTo>
                  <a:lnTo>
                    <a:pt x="127000" y="127000"/>
                  </a:lnTo>
                  <a:lnTo>
                    <a:pt x="4411980" y="127000"/>
                  </a:lnTo>
                  <a:lnTo>
                    <a:pt x="4411980" y="50800"/>
                  </a:lnTo>
                  <a:close/>
                </a:path>
                <a:path w="4462780" h="6023610">
                  <a:moveTo>
                    <a:pt x="446278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5998210"/>
                  </a:lnTo>
                  <a:lnTo>
                    <a:pt x="0" y="6023610"/>
                  </a:lnTo>
                  <a:lnTo>
                    <a:pt x="4462780" y="6023610"/>
                  </a:lnTo>
                  <a:lnTo>
                    <a:pt x="4462780" y="5998476"/>
                  </a:lnTo>
                  <a:lnTo>
                    <a:pt x="4462780" y="5998210"/>
                  </a:lnTo>
                  <a:lnTo>
                    <a:pt x="4462780" y="25920"/>
                  </a:lnTo>
                  <a:lnTo>
                    <a:pt x="4437380" y="25920"/>
                  </a:lnTo>
                  <a:lnTo>
                    <a:pt x="4437380" y="5998210"/>
                  </a:lnTo>
                  <a:lnTo>
                    <a:pt x="25400" y="5998210"/>
                  </a:lnTo>
                  <a:lnTo>
                    <a:pt x="25400" y="25400"/>
                  </a:lnTo>
                  <a:lnTo>
                    <a:pt x="4462780" y="25400"/>
                  </a:lnTo>
                  <a:lnTo>
                    <a:pt x="4462780" y="0"/>
                  </a:lnTo>
                  <a:close/>
                </a:path>
              </a:pathLst>
            </a:custGeom>
            <a:solidFill>
              <a:srgbClr val="000000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73100" y="2482088"/>
            <a:ext cx="35350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Calibri Light"/>
                <a:cs typeface="Calibri Light"/>
              </a:rPr>
              <a:t>3.</a:t>
            </a:r>
            <a:r>
              <a:rPr sz="4800" spc="-165" dirty="0">
                <a:latin typeface="Calibri Light"/>
                <a:cs typeface="Calibri Light"/>
              </a:rPr>
              <a:t> </a:t>
            </a:r>
            <a:r>
              <a:rPr sz="4800" spc="-20" dirty="0">
                <a:latin typeface="Calibri Light"/>
                <a:cs typeface="Calibri Light"/>
              </a:rPr>
              <a:t>OUTER</a:t>
            </a:r>
            <a:r>
              <a:rPr sz="4800" spc="-195" dirty="0">
                <a:latin typeface="Calibri Light"/>
                <a:cs typeface="Calibri Light"/>
              </a:rPr>
              <a:t> </a:t>
            </a:r>
            <a:r>
              <a:rPr sz="4800" spc="-20" dirty="0">
                <a:latin typeface="Calibri Light"/>
                <a:cs typeface="Calibri Light"/>
              </a:rPr>
              <a:t>JOIN</a:t>
            </a:r>
            <a:endParaRPr sz="4800">
              <a:latin typeface="Calibri Light"/>
              <a:cs typeface="Calibri Ligh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66359" y="309372"/>
            <a:ext cx="6590030" cy="1239520"/>
            <a:chOff x="5166359" y="309372"/>
            <a:chExt cx="6590030" cy="1239520"/>
          </a:xfrm>
        </p:grpSpPr>
        <p:sp>
          <p:nvSpPr>
            <p:cNvPr id="7" name="object 7"/>
            <p:cNvSpPr/>
            <p:nvPr/>
          </p:nvSpPr>
          <p:spPr>
            <a:xfrm>
              <a:off x="5166359" y="309372"/>
              <a:ext cx="6590030" cy="1239520"/>
            </a:xfrm>
            <a:custGeom>
              <a:avLst/>
              <a:gdLst/>
              <a:ahLst/>
              <a:cxnLst/>
              <a:rect l="l" t="t" r="r" b="b"/>
              <a:pathLst>
                <a:path w="6590030" h="1239520">
                  <a:moveTo>
                    <a:pt x="6465823" y="0"/>
                  </a:moveTo>
                  <a:lnTo>
                    <a:pt x="123951" y="0"/>
                  </a:lnTo>
                  <a:lnTo>
                    <a:pt x="75705" y="9741"/>
                  </a:lnTo>
                  <a:lnTo>
                    <a:pt x="36306" y="36306"/>
                  </a:lnTo>
                  <a:lnTo>
                    <a:pt x="9741" y="75705"/>
                  </a:lnTo>
                  <a:lnTo>
                    <a:pt x="0" y="123951"/>
                  </a:lnTo>
                  <a:lnTo>
                    <a:pt x="0" y="1115060"/>
                  </a:lnTo>
                  <a:lnTo>
                    <a:pt x="9741" y="1163306"/>
                  </a:lnTo>
                  <a:lnTo>
                    <a:pt x="36306" y="1202705"/>
                  </a:lnTo>
                  <a:lnTo>
                    <a:pt x="75705" y="1229270"/>
                  </a:lnTo>
                  <a:lnTo>
                    <a:pt x="123951" y="1239012"/>
                  </a:lnTo>
                  <a:lnTo>
                    <a:pt x="6465823" y="1239012"/>
                  </a:lnTo>
                  <a:lnTo>
                    <a:pt x="6514070" y="1229270"/>
                  </a:lnTo>
                  <a:lnTo>
                    <a:pt x="6553469" y="1202705"/>
                  </a:lnTo>
                  <a:lnTo>
                    <a:pt x="6580034" y="1163306"/>
                  </a:lnTo>
                  <a:lnTo>
                    <a:pt x="6589775" y="1115060"/>
                  </a:lnTo>
                  <a:lnTo>
                    <a:pt x="6589775" y="123951"/>
                  </a:lnTo>
                  <a:lnTo>
                    <a:pt x="6580034" y="75705"/>
                  </a:lnTo>
                  <a:lnTo>
                    <a:pt x="6553469" y="36306"/>
                  </a:lnTo>
                  <a:lnTo>
                    <a:pt x="6514070" y="9741"/>
                  </a:lnTo>
                  <a:lnTo>
                    <a:pt x="646582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64227" y="705565"/>
              <a:ext cx="239395" cy="98425"/>
            </a:xfrm>
            <a:custGeom>
              <a:avLst/>
              <a:gdLst/>
              <a:ahLst/>
              <a:cxnLst/>
              <a:rect l="l" t="t" r="r" b="b"/>
              <a:pathLst>
                <a:path w="239395" h="98425">
                  <a:moveTo>
                    <a:pt x="239077" y="0"/>
                  </a:moveTo>
                  <a:lnTo>
                    <a:pt x="0" y="0"/>
                  </a:lnTo>
                  <a:lnTo>
                    <a:pt x="0" y="98277"/>
                  </a:lnTo>
                  <a:lnTo>
                    <a:pt x="239077" y="98277"/>
                  </a:lnTo>
                  <a:lnTo>
                    <a:pt x="23907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0624" y="1077616"/>
              <a:ext cx="84380" cy="8423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1575" y="1077616"/>
              <a:ext cx="84380" cy="8423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2526" y="1077616"/>
              <a:ext cx="84380" cy="8423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658751" y="831922"/>
              <a:ext cx="450215" cy="224790"/>
            </a:xfrm>
            <a:custGeom>
              <a:avLst/>
              <a:gdLst/>
              <a:ahLst/>
              <a:cxnLst/>
              <a:rect l="l" t="t" r="r" b="b"/>
              <a:pathLst>
                <a:path w="450214" h="224790">
                  <a:moveTo>
                    <a:pt x="239077" y="0"/>
                  </a:moveTo>
                  <a:lnTo>
                    <a:pt x="210950" y="0"/>
                  </a:lnTo>
                  <a:lnTo>
                    <a:pt x="210950" y="66688"/>
                  </a:lnTo>
                  <a:lnTo>
                    <a:pt x="179308" y="98277"/>
                  </a:lnTo>
                  <a:lnTo>
                    <a:pt x="0" y="98277"/>
                  </a:lnTo>
                  <a:lnTo>
                    <a:pt x="0" y="224634"/>
                  </a:lnTo>
                  <a:lnTo>
                    <a:pt x="28126" y="224634"/>
                  </a:lnTo>
                  <a:lnTo>
                    <a:pt x="28126" y="126356"/>
                  </a:lnTo>
                  <a:lnTo>
                    <a:pt x="203919" y="126356"/>
                  </a:lnTo>
                  <a:lnTo>
                    <a:pt x="189855" y="112317"/>
                  </a:lnTo>
                  <a:lnTo>
                    <a:pt x="225014" y="77218"/>
                  </a:lnTo>
                  <a:lnTo>
                    <a:pt x="249625" y="77218"/>
                  </a:lnTo>
                  <a:lnTo>
                    <a:pt x="239077" y="66688"/>
                  </a:lnTo>
                  <a:lnTo>
                    <a:pt x="239077" y="0"/>
                  </a:lnTo>
                  <a:close/>
                </a:path>
                <a:path w="450214" h="224790">
                  <a:moveTo>
                    <a:pt x="203919" y="126356"/>
                  </a:moveTo>
                  <a:lnTo>
                    <a:pt x="179308" y="126356"/>
                  </a:lnTo>
                  <a:lnTo>
                    <a:pt x="210950" y="157946"/>
                  </a:lnTo>
                  <a:lnTo>
                    <a:pt x="210950" y="224634"/>
                  </a:lnTo>
                  <a:lnTo>
                    <a:pt x="239077" y="224634"/>
                  </a:lnTo>
                  <a:lnTo>
                    <a:pt x="239077" y="157946"/>
                  </a:lnTo>
                  <a:lnTo>
                    <a:pt x="249625" y="147416"/>
                  </a:lnTo>
                  <a:lnTo>
                    <a:pt x="225014" y="147416"/>
                  </a:lnTo>
                  <a:lnTo>
                    <a:pt x="203919" y="126356"/>
                  </a:lnTo>
                  <a:close/>
                </a:path>
                <a:path w="450214" h="224790">
                  <a:moveTo>
                    <a:pt x="450028" y="126356"/>
                  </a:moveTo>
                  <a:lnTo>
                    <a:pt x="421901" y="126356"/>
                  </a:lnTo>
                  <a:lnTo>
                    <a:pt x="421901" y="224634"/>
                  </a:lnTo>
                  <a:lnTo>
                    <a:pt x="450028" y="224634"/>
                  </a:lnTo>
                  <a:lnTo>
                    <a:pt x="450028" y="126356"/>
                  </a:lnTo>
                  <a:close/>
                </a:path>
                <a:path w="450214" h="224790">
                  <a:moveTo>
                    <a:pt x="249625" y="77218"/>
                  </a:moveTo>
                  <a:lnTo>
                    <a:pt x="225014" y="77218"/>
                  </a:lnTo>
                  <a:lnTo>
                    <a:pt x="260172" y="112317"/>
                  </a:lnTo>
                  <a:lnTo>
                    <a:pt x="225014" y="147416"/>
                  </a:lnTo>
                  <a:lnTo>
                    <a:pt x="249625" y="147416"/>
                  </a:lnTo>
                  <a:lnTo>
                    <a:pt x="270720" y="126356"/>
                  </a:lnTo>
                  <a:lnTo>
                    <a:pt x="450028" y="126356"/>
                  </a:lnTo>
                  <a:lnTo>
                    <a:pt x="450028" y="98277"/>
                  </a:lnTo>
                  <a:lnTo>
                    <a:pt x="270720" y="98277"/>
                  </a:lnTo>
                  <a:lnTo>
                    <a:pt x="249625" y="7721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17538" y="453008"/>
            <a:ext cx="4921250" cy="8909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algn="just">
              <a:lnSpc>
                <a:spcPct val="91800"/>
              </a:lnSpc>
              <a:spcBef>
                <a:spcPts val="300"/>
              </a:spcBef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outer</a:t>
            </a:r>
            <a:r>
              <a:rPr sz="2000" spc="4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join</a:t>
            </a:r>
            <a:r>
              <a:rPr sz="2000" spc="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resultant</a:t>
            </a:r>
            <a:r>
              <a:rPr sz="2000" spc="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4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contains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combinations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rows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satisfy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join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conditions.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66359" y="1857755"/>
            <a:ext cx="6590030" cy="1239520"/>
            <a:chOff x="5166359" y="1857755"/>
            <a:chExt cx="6590030" cy="1239520"/>
          </a:xfrm>
        </p:grpSpPr>
        <p:sp>
          <p:nvSpPr>
            <p:cNvPr id="15" name="object 15"/>
            <p:cNvSpPr/>
            <p:nvPr/>
          </p:nvSpPr>
          <p:spPr>
            <a:xfrm>
              <a:off x="5166359" y="1857755"/>
              <a:ext cx="6590030" cy="1239520"/>
            </a:xfrm>
            <a:custGeom>
              <a:avLst/>
              <a:gdLst/>
              <a:ahLst/>
              <a:cxnLst/>
              <a:rect l="l" t="t" r="r" b="b"/>
              <a:pathLst>
                <a:path w="6590030" h="1239520">
                  <a:moveTo>
                    <a:pt x="6465823" y="0"/>
                  </a:moveTo>
                  <a:lnTo>
                    <a:pt x="123951" y="0"/>
                  </a:lnTo>
                  <a:lnTo>
                    <a:pt x="75705" y="9741"/>
                  </a:lnTo>
                  <a:lnTo>
                    <a:pt x="36306" y="36306"/>
                  </a:lnTo>
                  <a:lnTo>
                    <a:pt x="9741" y="75705"/>
                  </a:lnTo>
                  <a:lnTo>
                    <a:pt x="0" y="123952"/>
                  </a:lnTo>
                  <a:lnTo>
                    <a:pt x="0" y="1115060"/>
                  </a:lnTo>
                  <a:lnTo>
                    <a:pt x="9741" y="1163306"/>
                  </a:lnTo>
                  <a:lnTo>
                    <a:pt x="36306" y="1202705"/>
                  </a:lnTo>
                  <a:lnTo>
                    <a:pt x="75705" y="1229270"/>
                  </a:lnTo>
                  <a:lnTo>
                    <a:pt x="123951" y="1239012"/>
                  </a:lnTo>
                  <a:lnTo>
                    <a:pt x="6465823" y="1239012"/>
                  </a:lnTo>
                  <a:lnTo>
                    <a:pt x="6514070" y="1229270"/>
                  </a:lnTo>
                  <a:lnTo>
                    <a:pt x="6553469" y="1202705"/>
                  </a:lnTo>
                  <a:lnTo>
                    <a:pt x="6580034" y="1163306"/>
                  </a:lnTo>
                  <a:lnTo>
                    <a:pt x="6589775" y="1115060"/>
                  </a:lnTo>
                  <a:lnTo>
                    <a:pt x="6589775" y="123952"/>
                  </a:lnTo>
                  <a:lnTo>
                    <a:pt x="6580034" y="75705"/>
                  </a:lnTo>
                  <a:lnTo>
                    <a:pt x="6553469" y="36306"/>
                  </a:lnTo>
                  <a:lnTo>
                    <a:pt x="6514070" y="9741"/>
                  </a:lnTo>
                  <a:lnTo>
                    <a:pt x="646582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02490" y="2282392"/>
              <a:ext cx="562610" cy="393700"/>
            </a:xfrm>
            <a:custGeom>
              <a:avLst/>
              <a:gdLst/>
              <a:ahLst/>
              <a:cxnLst/>
              <a:rect l="l" t="t" r="r" b="b"/>
              <a:pathLst>
                <a:path w="562610" h="393700">
                  <a:moveTo>
                    <a:pt x="210947" y="154076"/>
                  </a:moveTo>
                  <a:lnTo>
                    <a:pt x="182829" y="154076"/>
                  </a:lnTo>
                  <a:lnTo>
                    <a:pt x="182829" y="238315"/>
                  </a:lnTo>
                  <a:lnTo>
                    <a:pt x="210947" y="238315"/>
                  </a:lnTo>
                  <a:lnTo>
                    <a:pt x="210947" y="154076"/>
                  </a:lnTo>
                  <a:close/>
                </a:path>
                <a:path w="562610" h="393700">
                  <a:moveTo>
                    <a:pt x="379717" y="154076"/>
                  </a:moveTo>
                  <a:lnTo>
                    <a:pt x="351586" y="154076"/>
                  </a:lnTo>
                  <a:lnTo>
                    <a:pt x="351586" y="238315"/>
                  </a:lnTo>
                  <a:lnTo>
                    <a:pt x="379717" y="238315"/>
                  </a:lnTo>
                  <a:lnTo>
                    <a:pt x="379717" y="154076"/>
                  </a:lnTo>
                  <a:close/>
                </a:path>
                <a:path w="562610" h="393700">
                  <a:moveTo>
                    <a:pt x="562533" y="154076"/>
                  </a:moveTo>
                  <a:lnTo>
                    <a:pt x="520344" y="154076"/>
                  </a:lnTo>
                  <a:lnTo>
                    <a:pt x="520344" y="238315"/>
                  </a:lnTo>
                  <a:lnTo>
                    <a:pt x="562533" y="238315"/>
                  </a:lnTo>
                  <a:lnTo>
                    <a:pt x="562533" y="154076"/>
                  </a:lnTo>
                  <a:close/>
                </a:path>
                <a:path w="562610" h="393700">
                  <a:moveTo>
                    <a:pt x="562533" y="0"/>
                  </a:moveTo>
                  <a:lnTo>
                    <a:pt x="520344" y="0"/>
                  </a:lnTo>
                  <a:lnTo>
                    <a:pt x="520344" y="41871"/>
                  </a:lnTo>
                  <a:lnTo>
                    <a:pt x="520344" y="125628"/>
                  </a:lnTo>
                  <a:lnTo>
                    <a:pt x="379717" y="125628"/>
                  </a:lnTo>
                  <a:lnTo>
                    <a:pt x="379717" y="41871"/>
                  </a:lnTo>
                  <a:lnTo>
                    <a:pt x="520344" y="41871"/>
                  </a:lnTo>
                  <a:lnTo>
                    <a:pt x="520344" y="0"/>
                  </a:lnTo>
                  <a:lnTo>
                    <a:pt x="351586" y="0"/>
                  </a:lnTo>
                  <a:lnTo>
                    <a:pt x="351586" y="41871"/>
                  </a:lnTo>
                  <a:lnTo>
                    <a:pt x="351586" y="125628"/>
                  </a:lnTo>
                  <a:lnTo>
                    <a:pt x="210947" y="125628"/>
                  </a:lnTo>
                  <a:lnTo>
                    <a:pt x="210947" y="41871"/>
                  </a:lnTo>
                  <a:lnTo>
                    <a:pt x="351586" y="41871"/>
                  </a:lnTo>
                  <a:lnTo>
                    <a:pt x="351586" y="0"/>
                  </a:lnTo>
                  <a:lnTo>
                    <a:pt x="182829" y="0"/>
                  </a:lnTo>
                  <a:lnTo>
                    <a:pt x="182829" y="41871"/>
                  </a:lnTo>
                  <a:lnTo>
                    <a:pt x="182829" y="125628"/>
                  </a:lnTo>
                  <a:lnTo>
                    <a:pt x="42189" y="125628"/>
                  </a:lnTo>
                  <a:lnTo>
                    <a:pt x="42189" y="41871"/>
                  </a:lnTo>
                  <a:lnTo>
                    <a:pt x="182829" y="41871"/>
                  </a:lnTo>
                  <a:lnTo>
                    <a:pt x="182829" y="0"/>
                  </a:lnTo>
                  <a:lnTo>
                    <a:pt x="0" y="0"/>
                  </a:lnTo>
                  <a:lnTo>
                    <a:pt x="0" y="41871"/>
                  </a:lnTo>
                  <a:lnTo>
                    <a:pt x="0" y="125628"/>
                  </a:lnTo>
                  <a:lnTo>
                    <a:pt x="0" y="393369"/>
                  </a:lnTo>
                  <a:lnTo>
                    <a:pt x="562533" y="393369"/>
                  </a:lnTo>
                  <a:lnTo>
                    <a:pt x="562533" y="238556"/>
                  </a:lnTo>
                  <a:lnTo>
                    <a:pt x="520344" y="238556"/>
                  </a:lnTo>
                  <a:lnTo>
                    <a:pt x="520344" y="266471"/>
                  </a:lnTo>
                  <a:lnTo>
                    <a:pt x="520344" y="350227"/>
                  </a:lnTo>
                  <a:lnTo>
                    <a:pt x="379717" y="350227"/>
                  </a:lnTo>
                  <a:lnTo>
                    <a:pt x="379717" y="266471"/>
                  </a:lnTo>
                  <a:lnTo>
                    <a:pt x="520344" y="266471"/>
                  </a:lnTo>
                  <a:lnTo>
                    <a:pt x="520344" y="238556"/>
                  </a:lnTo>
                  <a:lnTo>
                    <a:pt x="351586" y="238556"/>
                  </a:lnTo>
                  <a:lnTo>
                    <a:pt x="351586" y="266471"/>
                  </a:lnTo>
                  <a:lnTo>
                    <a:pt x="351586" y="350227"/>
                  </a:lnTo>
                  <a:lnTo>
                    <a:pt x="210947" y="350227"/>
                  </a:lnTo>
                  <a:lnTo>
                    <a:pt x="210947" y="266471"/>
                  </a:lnTo>
                  <a:lnTo>
                    <a:pt x="351586" y="266471"/>
                  </a:lnTo>
                  <a:lnTo>
                    <a:pt x="351586" y="238556"/>
                  </a:lnTo>
                  <a:lnTo>
                    <a:pt x="182829" y="238556"/>
                  </a:lnTo>
                  <a:lnTo>
                    <a:pt x="182829" y="266471"/>
                  </a:lnTo>
                  <a:lnTo>
                    <a:pt x="182829" y="350227"/>
                  </a:lnTo>
                  <a:lnTo>
                    <a:pt x="42189" y="350227"/>
                  </a:lnTo>
                  <a:lnTo>
                    <a:pt x="42189" y="266471"/>
                  </a:lnTo>
                  <a:lnTo>
                    <a:pt x="182829" y="266471"/>
                  </a:lnTo>
                  <a:lnTo>
                    <a:pt x="182829" y="238556"/>
                  </a:lnTo>
                  <a:lnTo>
                    <a:pt x="42189" y="238556"/>
                  </a:lnTo>
                  <a:lnTo>
                    <a:pt x="42189" y="153543"/>
                  </a:lnTo>
                  <a:lnTo>
                    <a:pt x="562533" y="153543"/>
                  </a:lnTo>
                  <a:lnTo>
                    <a:pt x="562533" y="125996"/>
                  </a:lnTo>
                  <a:lnTo>
                    <a:pt x="562533" y="125628"/>
                  </a:lnTo>
                  <a:lnTo>
                    <a:pt x="562533" y="41871"/>
                  </a:lnTo>
                  <a:lnTo>
                    <a:pt x="56253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17538" y="2002282"/>
            <a:ext cx="4921885" cy="8909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algn="just">
              <a:lnSpc>
                <a:spcPct val="91800"/>
              </a:lnSpc>
              <a:spcBef>
                <a:spcPts val="300"/>
              </a:spcBef>
            </a:pPr>
            <a:r>
              <a:rPr sz="2000" dirty="0">
                <a:latin typeface="Calibri"/>
                <a:cs typeface="Calibri"/>
              </a:rPr>
              <a:t>Rows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satisfy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join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condition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are </a:t>
            </a:r>
            <a:r>
              <a:rPr sz="2000" dirty="0">
                <a:latin typeface="Calibri"/>
                <a:cs typeface="Calibri"/>
              </a:rPr>
              <a:t>discarded.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Outer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join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joins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although </a:t>
            </a:r>
            <a:r>
              <a:rPr sz="2000" dirty="0">
                <a:latin typeface="Calibri"/>
                <a:cs typeface="Calibri"/>
              </a:rPr>
              <a:t>there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joining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tables.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66359" y="3406140"/>
            <a:ext cx="6590030" cy="1240790"/>
            <a:chOff x="5166359" y="3406140"/>
            <a:chExt cx="6590030" cy="1240790"/>
          </a:xfrm>
        </p:grpSpPr>
        <p:sp>
          <p:nvSpPr>
            <p:cNvPr id="19" name="object 19"/>
            <p:cNvSpPr/>
            <p:nvPr/>
          </p:nvSpPr>
          <p:spPr>
            <a:xfrm>
              <a:off x="5166359" y="3406140"/>
              <a:ext cx="6590030" cy="1240790"/>
            </a:xfrm>
            <a:custGeom>
              <a:avLst/>
              <a:gdLst/>
              <a:ahLst/>
              <a:cxnLst/>
              <a:rect l="l" t="t" r="r" b="b"/>
              <a:pathLst>
                <a:path w="6590030" h="1240789">
                  <a:moveTo>
                    <a:pt x="6465696" y="0"/>
                  </a:moveTo>
                  <a:lnTo>
                    <a:pt x="124078" y="0"/>
                  </a:lnTo>
                  <a:lnTo>
                    <a:pt x="75759" y="9743"/>
                  </a:lnTo>
                  <a:lnTo>
                    <a:pt x="36321" y="36322"/>
                  </a:lnTo>
                  <a:lnTo>
                    <a:pt x="9743" y="75759"/>
                  </a:lnTo>
                  <a:lnTo>
                    <a:pt x="0" y="124079"/>
                  </a:lnTo>
                  <a:lnTo>
                    <a:pt x="0" y="1116457"/>
                  </a:lnTo>
                  <a:lnTo>
                    <a:pt x="9743" y="1164776"/>
                  </a:lnTo>
                  <a:lnTo>
                    <a:pt x="36322" y="1204214"/>
                  </a:lnTo>
                  <a:lnTo>
                    <a:pt x="75759" y="1230792"/>
                  </a:lnTo>
                  <a:lnTo>
                    <a:pt x="124078" y="1240536"/>
                  </a:lnTo>
                  <a:lnTo>
                    <a:pt x="6465696" y="1240536"/>
                  </a:lnTo>
                  <a:lnTo>
                    <a:pt x="6514016" y="1230792"/>
                  </a:lnTo>
                  <a:lnTo>
                    <a:pt x="6553454" y="1204214"/>
                  </a:lnTo>
                  <a:lnTo>
                    <a:pt x="6580032" y="1164776"/>
                  </a:lnTo>
                  <a:lnTo>
                    <a:pt x="6589775" y="1116457"/>
                  </a:lnTo>
                  <a:lnTo>
                    <a:pt x="6589775" y="124079"/>
                  </a:lnTo>
                  <a:lnTo>
                    <a:pt x="6580032" y="75759"/>
                  </a:lnTo>
                  <a:lnTo>
                    <a:pt x="6553454" y="36321"/>
                  </a:lnTo>
                  <a:lnTo>
                    <a:pt x="6514016" y="9743"/>
                  </a:lnTo>
                  <a:lnTo>
                    <a:pt x="646569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81007" y="3760509"/>
              <a:ext cx="605790" cy="534670"/>
            </a:xfrm>
            <a:custGeom>
              <a:avLst/>
              <a:gdLst/>
              <a:ahLst/>
              <a:cxnLst/>
              <a:rect l="l" t="t" r="r" b="b"/>
              <a:pathLst>
                <a:path w="605789" h="534670">
                  <a:moveTo>
                    <a:pt x="299363" y="0"/>
                  </a:moveTo>
                  <a:lnTo>
                    <a:pt x="3559" y="492360"/>
                  </a:lnTo>
                  <a:lnTo>
                    <a:pt x="0" y="502952"/>
                  </a:lnTo>
                  <a:lnTo>
                    <a:pt x="749" y="513714"/>
                  </a:lnTo>
                  <a:lnTo>
                    <a:pt x="5478" y="523410"/>
                  </a:lnTo>
                  <a:lnTo>
                    <a:pt x="13854" y="530803"/>
                  </a:lnTo>
                  <a:lnTo>
                    <a:pt x="18122" y="533266"/>
                  </a:lnTo>
                  <a:lnTo>
                    <a:pt x="22983" y="534573"/>
                  </a:lnTo>
                  <a:lnTo>
                    <a:pt x="577639" y="534573"/>
                  </a:lnTo>
                  <a:lnTo>
                    <a:pt x="588584" y="532350"/>
                  </a:lnTo>
                  <a:lnTo>
                    <a:pt x="597518" y="526309"/>
                  </a:lnTo>
                  <a:lnTo>
                    <a:pt x="603530" y="517358"/>
                  </a:lnTo>
                  <a:lnTo>
                    <a:pt x="605707" y="506402"/>
                  </a:lnTo>
                  <a:lnTo>
                    <a:pt x="605707" y="501471"/>
                  </a:lnTo>
                  <a:lnTo>
                    <a:pt x="604418" y="496628"/>
                  </a:lnTo>
                  <a:lnTo>
                    <a:pt x="566152" y="430025"/>
                  </a:lnTo>
                  <a:lnTo>
                    <a:pt x="233144" y="430025"/>
                  </a:lnTo>
                  <a:lnTo>
                    <a:pt x="203330" y="400194"/>
                  </a:lnTo>
                  <a:lnTo>
                    <a:pt x="272944" y="330542"/>
                  </a:lnTo>
                  <a:lnTo>
                    <a:pt x="203330" y="260890"/>
                  </a:lnTo>
                  <a:lnTo>
                    <a:pt x="233144" y="231059"/>
                  </a:lnTo>
                  <a:lnTo>
                    <a:pt x="451868" y="231059"/>
                  </a:lnTo>
                  <a:lnTo>
                    <a:pt x="327158" y="13941"/>
                  </a:lnTo>
                  <a:lnTo>
                    <a:pt x="319794" y="5542"/>
                  </a:lnTo>
                  <a:lnTo>
                    <a:pt x="310117" y="786"/>
                  </a:lnTo>
                  <a:lnTo>
                    <a:pt x="299363" y="0"/>
                  </a:lnTo>
                  <a:close/>
                </a:path>
                <a:path w="605789" h="534670">
                  <a:moveTo>
                    <a:pt x="302758" y="360373"/>
                  </a:moveTo>
                  <a:lnTo>
                    <a:pt x="233144" y="430025"/>
                  </a:lnTo>
                  <a:lnTo>
                    <a:pt x="372372" y="430025"/>
                  </a:lnTo>
                  <a:lnTo>
                    <a:pt x="302758" y="360373"/>
                  </a:lnTo>
                  <a:close/>
                </a:path>
                <a:path w="605789" h="534670">
                  <a:moveTo>
                    <a:pt x="451868" y="231059"/>
                  </a:moveTo>
                  <a:lnTo>
                    <a:pt x="372372" y="231059"/>
                  </a:lnTo>
                  <a:lnTo>
                    <a:pt x="402186" y="260890"/>
                  </a:lnTo>
                  <a:lnTo>
                    <a:pt x="332572" y="330542"/>
                  </a:lnTo>
                  <a:lnTo>
                    <a:pt x="402186" y="400194"/>
                  </a:lnTo>
                  <a:lnTo>
                    <a:pt x="372372" y="430025"/>
                  </a:lnTo>
                  <a:lnTo>
                    <a:pt x="566152" y="430025"/>
                  </a:lnTo>
                  <a:lnTo>
                    <a:pt x="451868" y="231059"/>
                  </a:lnTo>
                  <a:close/>
                </a:path>
                <a:path w="605789" h="534670">
                  <a:moveTo>
                    <a:pt x="372372" y="231059"/>
                  </a:moveTo>
                  <a:lnTo>
                    <a:pt x="233144" y="231059"/>
                  </a:lnTo>
                  <a:lnTo>
                    <a:pt x="302758" y="300711"/>
                  </a:lnTo>
                  <a:lnTo>
                    <a:pt x="372372" y="23105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717538" y="3551682"/>
            <a:ext cx="4921885" cy="8909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algn="just">
              <a:lnSpc>
                <a:spcPct val="91800"/>
              </a:lnSpc>
              <a:spcBef>
                <a:spcPts val="300"/>
              </a:spcBef>
            </a:pPr>
            <a:r>
              <a:rPr sz="2000" dirty="0">
                <a:latin typeface="Calibri"/>
                <a:cs typeface="Calibri"/>
              </a:rPr>
              <a:t>Outer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joins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useful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2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trying</a:t>
            </a:r>
            <a:r>
              <a:rPr sz="2000" spc="2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determine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related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cause </a:t>
            </a:r>
            <a:r>
              <a:rPr sz="2000" spc="-20" dirty="0">
                <a:latin typeface="Calibri"/>
                <a:cs typeface="Calibri"/>
              </a:rPr>
              <a:t>referential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integrity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166359" y="4956047"/>
            <a:ext cx="6590030" cy="1239520"/>
            <a:chOff x="5166359" y="4956047"/>
            <a:chExt cx="6590030" cy="1239520"/>
          </a:xfrm>
        </p:grpSpPr>
        <p:sp>
          <p:nvSpPr>
            <p:cNvPr id="23" name="object 23"/>
            <p:cNvSpPr/>
            <p:nvPr/>
          </p:nvSpPr>
          <p:spPr>
            <a:xfrm>
              <a:off x="5166359" y="4956047"/>
              <a:ext cx="6590030" cy="1239520"/>
            </a:xfrm>
            <a:custGeom>
              <a:avLst/>
              <a:gdLst/>
              <a:ahLst/>
              <a:cxnLst/>
              <a:rect l="l" t="t" r="r" b="b"/>
              <a:pathLst>
                <a:path w="6590030" h="1239520">
                  <a:moveTo>
                    <a:pt x="6465823" y="0"/>
                  </a:moveTo>
                  <a:lnTo>
                    <a:pt x="123951" y="0"/>
                  </a:lnTo>
                  <a:lnTo>
                    <a:pt x="75705" y="9741"/>
                  </a:lnTo>
                  <a:lnTo>
                    <a:pt x="36306" y="36306"/>
                  </a:lnTo>
                  <a:lnTo>
                    <a:pt x="9741" y="75705"/>
                  </a:lnTo>
                  <a:lnTo>
                    <a:pt x="0" y="123951"/>
                  </a:lnTo>
                  <a:lnTo>
                    <a:pt x="0" y="1115110"/>
                  </a:lnTo>
                  <a:lnTo>
                    <a:pt x="9741" y="1163338"/>
                  </a:lnTo>
                  <a:lnTo>
                    <a:pt x="36306" y="1202721"/>
                  </a:lnTo>
                  <a:lnTo>
                    <a:pt x="75705" y="1229275"/>
                  </a:lnTo>
                  <a:lnTo>
                    <a:pt x="123951" y="1239011"/>
                  </a:lnTo>
                  <a:lnTo>
                    <a:pt x="6465823" y="1239024"/>
                  </a:lnTo>
                  <a:lnTo>
                    <a:pt x="6514070" y="1229287"/>
                  </a:lnTo>
                  <a:lnTo>
                    <a:pt x="6553469" y="1202732"/>
                  </a:lnTo>
                  <a:lnTo>
                    <a:pt x="6580034" y="1163345"/>
                  </a:lnTo>
                  <a:lnTo>
                    <a:pt x="6589775" y="1115110"/>
                  </a:lnTo>
                  <a:lnTo>
                    <a:pt x="6589775" y="123951"/>
                  </a:lnTo>
                  <a:lnTo>
                    <a:pt x="6580034" y="75705"/>
                  </a:lnTo>
                  <a:lnTo>
                    <a:pt x="6553469" y="36306"/>
                  </a:lnTo>
                  <a:lnTo>
                    <a:pt x="6514070" y="9741"/>
                  </a:lnTo>
                  <a:lnTo>
                    <a:pt x="646582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74371" y="5457539"/>
              <a:ext cx="619125" cy="238760"/>
            </a:xfrm>
            <a:custGeom>
              <a:avLst/>
              <a:gdLst/>
              <a:ahLst/>
              <a:cxnLst/>
              <a:rect l="l" t="t" r="r" b="b"/>
              <a:pathLst>
                <a:path w="619125" h="238760">
                  <a:moveTo>
                    <a:pt x="119275" y="0"/>
                  </a:moveTo>
                  <a:lnTo>
                    <a:pt x="6328" y="104595"/>
                  </a:lnTo>
                  <a:lnTo>
                    <a:pt x="0" y="119600"/>
                  </a:lnTo>
                  <a:lnTo>
                    <a:pt x="1582" y="127398"/>
                  </a:lnTo>
                  <a:lnTo>
                    <a:pt x="6328" y="134078"/>
                  </a:lnTo>
                  <a:lnTo>
                    <a:pt x="108991" y="236568"/>
                  </a:lnTo>
                  <a:lnTo>
                    <a:pt x="114616" y="238674"/>
                  </a:lnTo>
                  <a:lnTo>
                    <a:pt x="124460" y="238674"/>
                  </a:lnTo>
                  <a:lnTo>
                    <a:pt x="130086" y="236568"/>
                  </a:lnTo>
                  <a:lnTo>
                    <a:pt x="134305" y="232356"/>
                  </a:lnTo>
                  <a:lnTo>
                    <a:pt x="139051" y="225281"/>
                  </a:lnTo>
                  <a:lnTo>
                    <a:pt x="140633" y="217351"/>
                  </a:lnTo>
                  <a:lnTo>
                    <a:pt x="139051" y="209552"/>
                  </a:lnTo>
                  <a:lnTo>
                    <a:pt x="134305" y="202873"/>
                  </a:lnTo>
                  <a:lnTo>
                    <a:pt x="71723" y="140396"/>
                  </a:lnTo>
                  <a:lnTo>
                    <a:pt x="597694" y="140396"/>
                  </a:lnTo>
                  <a:lnTo>
                    <a:pt x="606033" y="138784"/>
                  </a:lnTo>
                  <a:lnTo>
                    <a:pt x="612724" y="134341"/>
                  </a:lnTo>
                  <a:lnTo>
                    <a:pt x="617174" y="127662"/>
                  </a:lnTo>
                  <a:lnTo>
                    <a:pt x="618789" y="119337"/>
                  </a:lnTo>
                  <a:lnTo>
                    <a:pt x="617174" y="111011"/>
                  </a:lnTo>
                  <a:lnTo>
                    <a:pt x="612724" y="104332"/>
                  </a:lnTo>
                  <a:lnTo>
                    <a:pt x="606033" y="99889"/>
                  </a:lnTo>
                  <a:lnTo>
                    <a:pt x="597694" y="98277"/>
                  </a:lnTo>
                  <a:lnTo>
                    <a:pt x="71723" y="98277"/>
                  </a:lnTo>
                  <a:lnTo>
                    <a:pt x="134305" y="35801"/>
                  </a:lnTo>
                  <a:lnTo>
                    <a:pt x="139051" y="28726"/>
                  </a:lnTo>
                  <a:lnTo>
                    <a:pt x="140633" y="20796"/>
                  </a:lnTo>
                  <a:lnTo>
                    <a:pt x="139051" y="12997"/>
                  </a:lnTo>
                  <a:lnTo>
                    <a:pt x="134305" y="6317"/>
                  </a:lnTo>
                  <a:lnTo>
                    <a:pt x="127218" y="1579"/>
                  </a:lnTo>
                  <a:lnTo>
                    <a:pt x="119275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717538" y="5309108"/>
            <a:ext cx="843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libri"/>
                <a:cs typeface="Calibri"/>
              </a:rPr>
              <a:t>Types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82988" y="4779631"/>
            <a:ext cx="1942464" cy="1421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27099"/>
              </a:lnSpc>
              <a:spcBef>
                <a:spcPts val="105"/>
              </a:spcBef>
            </a:pPr>
            <a:r>
              <a:rPr sz="2400" dirty="0">
                <a:latin typeface="Calibri"/>
                <a:cs typeface="Calibri"/>
              </a:rPr>
              <a:t>Left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join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join </a:t>
            </a:r>
            <a:r>
              <a:rPr sz="2400" dirty="0">
                <a:latin typeface="Calibri"/>
                <a:cs typeface="Calibri"/>
              </a:rPr>
              <a:t>Full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outer</a:t>
            </a:r>
            <a:r>
              <a:rPr sz="2400" spc="-20" dirty="0">
                <a:latin typeface="Calibri"/>
                <a:cs typeface="Calibri"/>
              </a:rPr>
              <a:t> join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640" y="609676"/>
            <a:ext cx="45612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85590" algn="l"/>
              </a:tabLst>
            </a:pPr>
            <a:r>
              <a:rPr sz="4400" dirty="0"/>
              <a:t>Left</a:t>
            </a:r>
            <a:r>
              <a:rPr sz="4400" spc="-195" dirty="0"/>
              <a:t> </a:t>
            </a:r>
            <a:r>
              <a:rPr sz="4400" spc="-20" dirty="0"/>
              <a:t>Outer</a:t>
            </a:r>
            <a:r>
              <a:rPr sz="4400" spc="-200" dirty="0"/>
              <a:t> </a:t>
            </a:r>
            <a:r>
              <a:rPr sz="4400" spc="-10" dirty="0"/>
              <a:t>Join(A</a:t>
            </a:r>
            <a:r>
              <a:rPr sz="4400" dirty="0"/>
              <a:t>	</a:t>
            </a:r>
            <a:r>
              <a:rPr sz="4400" spc="-25" dirty="0"/>
              <a:t>B)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802638"/>
            <a:ext cx="10360660" cy="18364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6985" indent="-227965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Table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side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null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values.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outer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join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takes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tuples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left 	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tuple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relation.</a:t>
            </a:r>
            <a:endParaRPr sz="2400">
              <a:latin typeface="Calibri"/>
              <a:cs typeface="Calibri"/>
            </a:endParaRPr>
          </a:p>
          <a:p>
            <a:pPr marL="239395" marR="5080" indent="-227329" algn="just">
              <a:lnSpc>
                <a:spcPct val="9010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outer</a:t>
            </a:r>
            <a:r>
              <a:rPr sz="2400" spc="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join,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operation</a:t>
            </a:r>
            <a:r>
              <a:rPr sz="2400" spc="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keeping</a:t>
            </a:r>
            <a:r>
              <a:rPr sz="2400" spc="5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tuple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5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relation. 	</a:t>
            </a:r>
            <a:r>
              <a:rPr sz="2400" dirty="0">
                <a:latin typeface="Calibri"/>
                <a:cs typeface="Calibri"/>
              </a:rPr>
              <a:t>However,</a:t>
            </a:r>
            <a:r>
              <a:rPr sz="2400" spc="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matching</a:t>
            </a:r>
            <a:r>
              <a:rPr sz="2400" spc="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tuple</a:t>
            </a:r>
            <a:r>
              <a:rPr sz="2400" spc="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found</a:t>
            </a:r>
            <a:r>
              <a:rPr sz="2400" spc="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relation,</a:t>
            </a:r>
            <a:r>
              <a:rPr sz="2400" spc="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50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filled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200" y="874775"/>
            <a:ext cx="228600" cy="152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8785" y="4109258"/>
            <a:ext cx="9260772" cy="150127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065" y="247650"/>
            <a:ext cx="4460240" cy="630682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0"/>
              </a:spcBef>
            </a:pPr>
            <a:endParaRPr sz="4800">
              <a:latin typeface="Times New Roman"/>
              <a:cs typeface="Times New Roman"/>
            </a:endParaRPr>
          </a:p>
          <a:p>
            <a:pPr marL="1174750">
              <a:lnSpc>
                <a:spcPct val="100000"/>
              </a:lnSpc>
            </a:pP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Example</a:t>
            </a:r>
            <a:endParaRPr sz="48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0975" y="377505"/>
            <a:ext cx="6280776" cy="62279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456164" y="5684520"/>
            <a:ext cx="645160" cy="31877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28F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60"/>
              </a:spcBef>
            </a:pPr>
            <a:r>
              <a:rPr sz="1800" spc="-50" dirty="0"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542778" y="6075934"/>
            <a:ext cx="564515" cy="172720"/>
            <a:chOff x="10542778" y="6075934"/>
            <a:chExt cx="564515" cy="172720"/>
          </a:xfrm>
        </p:grpSpPr>
        <p:sp>
          <p:nvSpPr>
            <p:cNvPr id="6" name="object 6"/>
            <p:cNvSpPr/>
            <p:nvPr/>
          </p:nvSpPr>
          <p:spPr>
            <a:xfrm>
              <a:off x="10549128" y="6082284"/>
              <a:ext cx="551815" cy="160020"/>
            </a:xfrm>
            <a:custGeom>
              <a:avLst/>
              <a:gdLst/>
              <a:ahLst/>
              <a:cxnLst/>
              <a:rect l="l" t="t" r="r" b="b"/>
              <a:pathLst>
                <a:path w="551815" h="160020">
                  <a:moveTo>
                    <a:pt x="551687" y="0"/>
                  </a:moveTo>
                  <a:lnTo>
                    <a:pt x="0" y="0"/>
                  </a:lnTo>
                  <a:lnTo>
                    <a:pt x="0" y="160019"/>
                  </a:lnTo>
                  <a:lnTo>
                    <a:pt x="551687" y="160019"/>
                  </a:lnTo>
                  <a:lnTo>
                    <a:pt x="5516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549128" y="6082284"/>
              <a:ext cx="551815" cy="160020"/>
            </a:xfrm>
            <a:custGeom>
              <a:avLst/>
              <a:gdLst/>
              <a:ahLst/>
              <a:cxnLst/>
              <a:rect l="l" t="t" r="r" b="b"/>
              <a:pathLst>
                <a:path w="551815" h="160020">
                  <a:moveTo>
                    <a:pt x="0" y="160019"/>
                  </a:moveTo>
                  <a:lnTo>
                    <a:pt x="551687" y="160019"/>
                  </a:lnTo>
                  <a:lnTo>
                    <a:pt x="551687" y="0"/>
                  </a:lnTo>
                  <a:lnTo>
                    <a:pt x="0" y="0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697971" y="5997955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18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4065" y="259079"/>
            <a:ext cx="7302500" cy="6023610"/>
            <a:chOff x="274065" y="259079"/>
            <a:chExt cx="7302500" cy="6023610"/>
          </a:xfrm>
        </p:grpSpPr>
        <p:sp>
          <p:nvSpPr>
            <p:cNvPr id="3" name="object 3"/>
            <p:cNvSpPr/>
            <p:nvPr/>
          </p:nvSpPr>
          <p:spPr>
            <a:xfrm>
              <a:off x="337565" y="322325"/>
              <a:ext cx="7175500" cy="5896610"/>
            </a:xfrm>
            <a:custGeom>
              <a:avLst/>
              <a:gdLst/>
              <a:ahLst/>
              <a:cxnLst/>
              <a:rect l="l" t="t" r="r" b="b"/>
              <a:pathLst>
                <a:path w="7175500" h="5896610">
                  <a:moveTo>
                    <a:pt x="7174992" y="0"/>
                  </a:moveTo>
                  <a:lnTo>
                    <a:pt x="0" y="0"/>
                  </a:lnTo>
                  <a:lnTo>
                    <a:pt x="0" y="5896356"/>
                  </a:lnTo>
                  <a:lnTo>
                    <a:pt x="7174992" y="5896356"/>
                  </a:lnTo>
                  <a:lnTo>
                    <a:pt x="7174992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4066" y="259079"/>
              <a:ext cx="7302500" cy="6023610"/>
            </a:xfrm>
            <a:custGeom>
              <a:avLst/>
              <a:gdLst/>
              <a:ahLst/>
              <a:cxnLst/>
              <a:rect l="l" t="t" r="r" b="b"/>
              <a:pathLst>
                <a:path w="7302500" h="6023610">
                  <a:moveTo>
                    <a:pt x="7251192" y="50800"/>
                  </a:moveTo>
                  <a:lnTo>
                    <a:pt x="50800" y="50800"/>
                  </a:lnTo>
                  <a:lnTo>
                    <a:pt x="50800" y="127000"/>
                  </a:lnTo>
                  <a:lnTo>
                    <a:pt x="50800" y="5896610"/>
                  </a:lnTo>
                  <a:lnTo>
                    <a:pt x="50800" y="5972810"/>
                  </a:lnTo>
                  <a:lnTo>
                    <a:pt x="7251192" y="5972810"/>
                  </a:lnTo>
                  <a:lnTo>
                    <a:pt x="7251192" y="5896610"/>
                  </a:lnTo>
                  <a:lnTo>
                    <a:pt x="127000" y="5896610"/>
                  </a:lnTo>
                  <a:lnTo>
                    <a:pt x="127000" y="127000"/>
                  </a:lnTo>
                  <a:lnTo>
                    <a:pt x="7174992" y="127000"/>
                  </a:lnTo>
                  <a:lnTo>
                    <a:pt x="7174992" y="5896102"/>
                  </a:lnTo>
                  <a:lnTo>
                    <a:pt x="7251192" y="5896102"/>
                  </a:lnTo>
                  <a:lnTo>
                    <a:pt x="7251192" y="127000"/>
                  </a:lnTo>
                  <a:lnTo>
                    <a:pt x="7251192" y="126746"/>
                  </a:lnTo>
                  <a:lnTo>
                    <a:pt x="7251192" y="50800"/>
                  </a:lnTo>
                  <a:close/>
                </a:path>
                <a:path w="7302500" h="6023610">
                  <a:moveTo>
                    <a:pt x="7301992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5998210"/>
                  </a:lnTo>
                  <a:lnTo>
                    <a:pt x="0" y="6023610"/>
                  </a:lnTo>
                  <a:lnTo>
                    <a:pt x="7301992" y="6023610"/>
                  </a:lnTo>
                  <a:lnTo>
                    <a:pt x="7301992" y="5998210"/>
                  </a:lnTo>
                  <a:lnTo>
                    <a:pt x="25400" y="5998210"/>
                  </a:lnTo>
                  <a:lnTo>
                    <a:pt x="25400" y="25400"/>
                  </a:lnTo>
                  <a:lnTo>
                    <a:pt x="7276592" y="25400"/>
                  </a:lnTo>
                  <a:lnTo>
                    <a:pt x="7276592" y="5997702"/>
                  </a:lnTo>
                  <a:lnTo>
                    <a:pt x="7301992" y="5997702"/>
                  </a:lnTo>
                  <a:lnTo>
                    <a:pt x="7301992" y="25400"/>
                  </a:lnTo>
                  <a:lnTo>
                    <a:pt x="7301992" y="25146"/>
                  </a:lnTo>
                  <a:lnTo>
                    <a:pt x="7301992" y="0"/>
                  </a:lnTo>
                  <a:close/>
                </a:path>
              </a:pathLst>
            </a:custGeom>
            <a:solidFill>
              <a:srgbClr val="000000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0480" y="933068"/>
            <a:ext cx="44100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6370" algn="l"/>
              </a:tabLst>
            </a:pPr>
            <a:r>
              <a:rPr spc="-10" dirty="0"/>
              <a:t>Right</a:t>
            </a:r>
            <a:r>
              <a:rPr spc="-180" dirty="0"/>
              <a:t> </a:t>
            </a:r>
            <a:r>
              <a:rPr spc="-20" dirty="0"/>
              <a:t>Outer</a:t>
            </a:r>
            <a:r>
              <a:rPr spc="-195" dirty="0"/>
              <a:t> </a:t>
            </a:r>
            <a:r>
              <a:rPr spc="-10" dirty="0"/>
              <a:t>Join(A</a:t>
            </a:r>
            <a:r>
              <a:rPr dirty="0"/>
              <a:t>	</a:t>
            </a:r>
            <a:r>
              <a:rPr spc="-25" dirty="0"/>
              <a:t>B)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0480" y="2098928"/>
            <a:ext cx="6049010" cy="31534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Table</a:t>
            </a:r>
            <a:r>
              <a:rPr sz="2400" spc="4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4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side</a:t>
            </a:r>
            <a:r>
              <a:rPr sz="2400" spc="4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4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</a:t>
            </a:r>
            <a:r>
              <a:rPr sz="2400" spc="4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null</a:t>
            </a:r>
            <a:r>
              <a:rPr sz="2400" spc="4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values. 	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1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outer</a:t>
            </a:r>
            <a:r>
              <a:rPr sz="2400" spc="1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join</a:t>
            </a:r>
            <a:r>
              <a:rPr sz="2400" spc="1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takes</a:t>
            </a:r>
            <a:r>
              <a:rPr sz="2400" spc="1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1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tuples</a:t>
            </a:r>
            <a:r>
              <a:rPr sz="2400" spc="1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20" dirty="0">
                <a:latin typeface="Calibri"/>
                <a:cs typeface="Calibri"/>
              </a:rPr>
              <a:t>   </a:t>
            </a:r>
            <a:r>
              <a:rPr sz="2400" spc="-10" dirty="0">
                <a:latin typeface="Calibri"/>
                <a:cs typeface="Calibri"/>
              </a:rPr>
              <a:t>right 	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did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1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match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tuple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relation.</a:t>
            </a: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ct val="900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3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3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outer</a:t>
            </a:r>
            <a:r>
              <a:rPr sz="2400" spc="3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join,</a:t>
            </a:r>
            <a:r>
              <a:rPr sz="2400" spc="3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operation</a:t>
            </a:r>
            <a:r>
              <a:rPr sz="2400" spc="32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allows 	</a:t>
            </a:r>
            <a:r>
              <a:rPr sz="2400" dirty="0">
                <a:latin typeface="Calibri"/>
                <a:cs typeface="Calibri"/>
              </a:rPr>
              <a:t>keeping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tuple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However, 	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matching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tuple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left 	</a:t>
            </a:r>
            <a:r>
              <a:rPr sz="2400" dirty="0">
                <a:latin typeface="Calibri"/>
                <a:cs typeface="Calibri"/>
              </a:rPr>
              <a:t>relation,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 	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filled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5225" y="1025717"/>
            <a:ext cx="3989449" cy="15483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5671" y="2891896"/>
            <a:ext cx="3785140" cy="3278508"/>
          </a:xfrm>
          <a:prstGeom prst="rect">
            <a:avLst/>
          </a:prstGeom>
        </p:spPr>
      </p:pic>
      <p:pic>
        <p:nvPicPr>
          <p:cNvPr id="9" name="object 9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94859" y="1210055"/>
            <a:ext cx="243839" cy="19354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8704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95470" algn="l"/>
              </a:tabLst>
            </a:pPr>
            <a:r>
              <a:rPr sz="4400" dirty="0"/>
              <a:t>Full</a:t>
            </a:r>
            <a:r>
              <a:rPr sz="4400" spc="-185" dirty="0"/>
              <a:t> </a:t>
            </a:r>
            <a:r>
              <a:rPr sz="4400" spc="-20" dirty="0"/>
              <a:t>Outer</a:t>
            </a:r>
            <a:r>
              <a:rPr sz="4400" spc="-200" dirty="0"/>
              <a:t> </a:t>
            </a:r>
            <a:r>
              <a:rPr sz="4400" spc="-10" dirty="0"/>
              <a:t>Join(A</a:t>
            </a:r>
            <a:r>
              <a:rPr sz="4400" dirty="0"/>
              <a:t>	</a:t>
            </a:r>
            <a:r>
              <a:rPr sz="4400" spc="-25" dirty="0"/>
              <a:t>B)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811782"/>
            <a:ext cx="10360025" cy="155511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38760" marR="5080" indent="-226695" algn="just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Table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both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sides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operator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contain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null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values.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Full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outer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join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takes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tuples</a:t>
            </a:r>
            <a:r>
              <a:rPr sz="2000" spc="2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left 	</a:t>
            </a:r>
            <a:r>
              <a:rPr sz="2000" dirty="0">
                <a:latin typeface="Calibri"/>
                <a:cs typeface="Calibri"/>
              </a:rPr>
              <a:t>relation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did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match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tuple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right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relation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involves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tuples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dirty="0">
                <a:latin typeface="Calibri"/>
                <a:cs typeface="Calibri"/>
              </a:rPr>
              <a:t>right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tuples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left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relation.</a:t>
            </a:r>
            <a:endParaRPr sz="2000">
              <a:latin typeface="Calibri"/>
              <a:cs typeface="Calibri"/>
            </a:endParaRPr>
          </a:p>
          <a:p>
            <a:pPr marL="238760" marR="7620" indent="-226695" algn="just">
              <a:lnSpc>
                <a:spcPts val="216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full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outer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join,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tuples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both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relations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included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result,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irrespective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dirty="0">
                <a:latin typeface="Calibri"/>
                <a:cs typeface="Calibri"/>
              </a:rPr>
              <a:t>matching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condition.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30496" y="870203"/>
            <a:ext cx="502919" cy="3154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4287" y="3569600"/>
            <a:ext cx="2867784" cy="272481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2994" y="613917"/>
            <a:ext cx="7040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 Black"/>
                <a:cs typeface="Arial Black"/>
              </a:rPr>
              <a:t>Relational</a:t>
            </a:r>
            <a:r>
              <a:rPr sz="3600" spc="-210" dirty="0">
                <a:latin typeface="Arial Black"/>
                <a:cs typeface="Arial Black"/>
              </a:rPr>
              <a:t> </a:t>
            </a:r>
            <a:r>
              <a:rPr sz="3600" dirty="0">
                <a:latin typeface="Arial Black"/>
                <a:cs typeface="Arial Black"/>
              </a:rPr>
              <a:t>Division</a:t>
            </a:r>
            <a:r>
              <a:rPr sz="3600" spc="-180" dirty="0">
                <a:latin typeface="Arial Black"/>
                <a:cs typeface="Arial Black"/>
              </a:rPr>
              <a:t> </a:t>
            </a:r>
            <a:r>
              <a:rPr sz="3600" spc="-10" dirty="0">
                <a:latin typeface="Arial Black"/>
                <a:cs typeface="Arial Black"/>
              </a:rPr>
              <a:t>Operator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31594" y="1395729"/>
            <a:ext cx="24072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A)</a:t>
            </a:r>
            <a:r>
              <a:rPr sz="2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OVERVIEW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4994" y="1922729"/>
            <a:ext cx="74136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839" indent="-111125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"/>
              <a:tabLst>
                <a:tab pos="116839" algn="l"/>
              </a:tabLst>
            </a:pPr>
            <a:r>
              <a:rPr sz="1800" dirty="0">
                <a:latin typeface="Calibri"/>
                <a:cs typeface="Calibri"/>
              </a:rPr>
              <a:t>Produce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tuples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60" dirty="0">
                <a:latin typeface="Calibri"/>
                <a:cs typeface="Calibri"/>
              </a:rPr>
              <a:t>r,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tuples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another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9594" y="2083434"/>
            <a:ext cx="7591425" cy="1724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9285" indent="-141605">
              <a:lnSpc>
                <a:spcPts val="3120"/>
              </a:lnSpc>
              <a:spcBef>
                <a:spcPts val="100"/>
              </a:spcBef>
              <a:buClr>
                <a:srgbClr val="FFC000"/>
              </a:buClr>
              <a:buSzPct val="145000"/>
              <a:buFont typeface="Arial MT"/>
              <a:buChar char="•"/>
              <a:tabLst>
                <a:tab pos="629285" algn="l"/>
              </a:tabLst>
            </a:pPr>
            <a:r>
              <a:rPr sz="2000" i="1" dirty="0">
                <a:latin typeface="Calibri"/>
                <a:cs typeface="Calibri"/>
              </a:rPr>
              <a:t>R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 (</a:t>
            </a:r>
            <a:r>
              <a:rPr sz="2000" i="1" dirty="0">
                <a:latin typeface="Calibri"/>
                <a:cs typeface="Calibri"/>
              </a:rPr>
              <a:t>A</a:t>
            </a:r>
            <a:r>
              <a:rPr sz="1950" baseline="-21367" dirty="0">
                <a:latin typeface="Calibri"/>
                <a:cs typeface="Calibri"/>
              </a:rPr>
              <a:t>1</a:t>
            </a:r>
            <a:r>
              <a:rPr sz="2000" dirty="0">
                <a:latin typeface="Calibri"/>
                <a:cs typeface="Calibri"/>
              </a:rPr>
              <a:t>, …,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</a:t>
            </a:r>
            <a:r>
              <a:rPr sz="1950" i="1" baseline="-21367" dirty="0">
                <a:latin typeface="Calibri"/>
                <a:cs typeface="Calibri"/>
              </a:rPr>
              <a:t>m</a:t>
            </a:r>
            <a:r>
              <a:rPr sz="1950" i="1" spc="-7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B</a:t>
            </a:r>
            <a:r>
              <a:rPr sz="1950" baseline="-21367" dirty="0">
                <a:latin typeface="Calibri"/>
                <a:cs typeface="Calibri"/>
              </a:rPr>
              <a:t>1</a:t>
            </a:r>
            <a:r>
              <a:rPr sz="2000" dirty="0">
                <a:latin typeface="Calibri"/>
                <a:cs typeface="Calibri"/>
              </a:rPr>
              <a:t>, …,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B</a:t>
            </a:r>
            <a:r>
              <a:rPr sz="1950" i="1" baseline="-21367" dirty="0">
                <a:latin typeface="Calibri"/>
                <a:cs typeface="Calibri"/>
              </a:rPr>
              <a:t>n</a:t>
            </a:r>
            <a:r>
              <a:rPr sz="1950" i="1" spc="7" baseline="-21367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629285" indent="-141605">
              <a:lnSpc>
                <a:spcPts val="3120"/>
              </a:lnSpc>
              <a:buClr>
                <a:srgbClr val="FFC000"/>
              </a:buClr>
              <a:buSzPct val="145000"/>
              <a:buFont typeface="Arial MT"/>
              <a:buChar char="•"/>
              <a:tabLst>
                <a:tab pos="629285" algn="l"/>
              </a:tabLst>
            </a:pPr>
            <a:r>
              <a:rPr sz="2000" i="1" dirty="0">
                <a:latin typeface="Calibri"/>
                <a:cs typeface="Calibri"/>
              </a:rPr>
              <a:t>S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i="1" dirty="0">
                <a:latin typeface="Calibri"/>
                <a:cs typeface="Calibri"/>
              </a:rPr>
              <a:t>B</a:t>
            </a:r>
            <a:r>
              <a:rPr sz="1950" baseline="-21367" dirty="0">
                <a:latin typeface="Calibri"/>
                <a:cs typeface="Calibri"/>
              </a:rPr>
              <a:t>1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…,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i="1" spc="-25" dirty="0">
                <a:latin typeface="Calibri"/>
                <a:cs typeface="Calibri"/>
              </a:rPr>
              <a:t>B</a:t>
            </a:r>
            <a:r>
              <a:rPr sz="1950" i="1" spc="-37" baseline="-21367" dirty="0">
                <a:latin typeface="Calibri"/>
                <a:cs typeface="Calibri"/>
              </a:rPr>
              <a:t>n</a:t>
            </a:r>
            <a:r>
              <a:rPr sz="2000" spc="-25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294005" indent="-255904">
              <a:lnSpc>
                <a:spcPts val="2375"/>
              </a:lnSpc>
              <a:buFont typeface="Wingdings"/>
              <a:buChar char=""/>
              <a:tabLst>
                <a:tab pos="294005" algn="l"/>
              </a:tabLst>
            </a:pP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denoted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r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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223520" indent="-185420">
              <a:lnSpc>
                <a:spcPts val="2365"/>
              </a:lnSpc>
              <a:buFont typeface="Wingdings"/>
              <a:buChar char=""/>
              <a:tabLst>
                <a:tab pos="223520" algn="l"/>
                <a:tab pos="3568065" algn="l"/>
              </a:tabLst>
            </a:pPr>
            <a:r>
              <a:rPr sz="2000" dirty="0">
                <a:latin typeface="Arial MT"/>
                <a:cs typeface="Arial MT"/>
              </a:rPr>
              <a:t>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Symbol"/>
                <a:cs typeface="Symbol"/>
              </a:rPr>
              <a:t>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attributes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i="1" dirty="0">
                <a:latin typeface="Calibri"/>
                <a:cs typeface="Calibri"/>
              </a:rPr>
              <a:t>A</a:t>
            </a:r>
            <a:r>
              <a:rPr sz="1950" baseline="-21367" dirty="0">
                <a:latin typeface="Calibri"/>
                <a:cs typeface="Calibri"/>
              </a:rPr>
              <a:t>1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…,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i="1" spc="-25" dirty="0">
                <a:latin typeface="Calibri"/>
                <a:cs typeface="Calibri"/>
              </a:rPr>
              <a:t>A</a:t>
            </a:r>
            <a:r>
              <a:rPr sz="1950" i="1" spc="-37" baseline="-21367" dirty="0">
                <a:latin typeface="Calibri"/>
                <a:cs typeface="Calibri"/>
              </a:rPr>
              <a:t>m</a:t>
            </a:r>
            <a:r>
              <a:rPr sz="1950" i="1" baseline="-21367" dirty="0">
                <a:latin typeface="Calibri"/>
                <a:cs typeface="Calibri"/>
              </a:rPr>
              <a:t>	</a:t>
            </a:r>
            <a:r>
              <a:rPr sz="2000" i="1" dirty="0">
                <a:latin typeface="Calibri"/>
                <a:cs typeface="Calibri"/>
              </a:rPr>
              <a:t>is</a:t>
            </a:r>
            <a:r>
              <a:rPr sz="2000" i="1" spc="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the</a:t>
            </a:r>
            <a:r>
              <a:rPr sz="2000" i="1" spc="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set</a:t>
            </a:r>
            <a:r>
              <a:rPr sz="2000" i="1" spc="7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if</a:t>
            </a:r>
            <a:r>
              <a:rPr sz="2000" i="1" spc="7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all</a:t>
            </a:r>
            <a:r>
              <a:rPr sz="2000" i="1" spc="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tuples</a:t>
            </a:r>
            <a:r>
              <a:rPr sz="2000" i="1" spc="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&lt;a&gt;</a:t>
            </a:r>
            <a:r>
              <a:rPr sz="2000" i="1" spc="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such</a:t>
            </a:r>
            <a:r>
              <a:rPr sz="2000" i="1" spc="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that</a:t>
            </a:r>
            <a:r>
              <a:rPr sz="2000" i="1" spc="45" dirty="0">
                <a:latin typeface="Calibri"/>
                <a:cs typeface="Calibri"/>
              </a:rPr>
              <a:t> </a:t>
            </a:r>
            <a:r>
              <a:rPr sz="2000" i="1" spc="-25" dirty="0">
                <a:latin typeface="Calibri"/>
                <a:cs typeface="Calibri"/>
              </a:rPr>
              <a:t>for</a:t>
            </a:r>
            <a:endParaRPr sz="2000">
              <a:latin typeface="Calibri"/>
              <a:cs typeface="Calibri"/>
            </a:endParaRPr>
          </a:p>
          <a:p>
            <a:pPr marL="38100">
              <a:lnSpc>
                <a:spcPts val="2390"/>
              </a:lnSpc>
            </a:pPr>
            <a:r>
              <a:rPr sz="2000" i="1" dirty="0">
                <a:latin typeface="Calibri"/>
                <a:cs typeface="Calibri"/>
              </a:rPr>
              <a:t>every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tuple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&lt;b&gt;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in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s,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&lt;a,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b&gt;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is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in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i="1" spc="-25" dirty="0">
                <a:latin typeface="Calibri"/>
                <a:cs typeface="Calibri"/>
              </a:rPr>
              <a:t>r.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1594" y="4109084"/>
            <a:ext cx="19119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B)</a:t>
            </a:r>
            <a:r>
              <a:rPr sz="2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-30" dirty="0">
                <a:solidFill>
                  <a:srgbClr val="FF0000"/>
                </a:solidFill>
                <a:latin typeface="Arial"/>
                <a:cs typeface="Arial"/>
              </a:rPr>
              <a:t>SYNTAX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31338" y="4949825"/>
            <a:ext cx="6102350" cy="466725"/>
            <a:chOff x="2831338" y="4949825"/>
            <a:chExt cx="6102350" cy="466725"/>
          </a:xfrm>
        </p:grpSpPr>
        <p:sp>
          <p:nvSpPr>
            <p:cNvPr id="8" name="object 8"/>
            <p:cNvSpPr/>
            <p:nvPr/>
          </p:nvSpPr>
          <p:spPr>
            <a:xfrm>
              <a:off x="2834513" y="4953000"/>
              <a:ext cx="6096000" cy="457200"/>
            </a:xfrm>
            <a:custGeom>
              <a:avLst/>
              <a:gdLst/>
              <a:ahLst/>
              <a:cxnLst/>
              <a:rect l="l" t="t" r="r" b="b"/>
              <a:pathLst>
                <a:path w="6096000" h="457200">
                  <a:moveTo>
                    <a:pt x="609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6096000" y="4572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31338" y="4949825"/>
              <a:ext cx="6102350" cy="466725"/>
            </a:xfrm>
            <a:custGeom>
              <a:avLst/>
              <a:gdLst/>
              <a:ahLst/>
              <a:cxnLst/>
              <a:rect l="l" t="t" r="r" b="b"/>
              <a:pathLst>
                <a:path w="6102350" h="466725">
                  <a:moveTo>
                    <a:pt x="3175" y="0"/>
                  </a:moveTo>
                  <a:lnTo>
                    <a:pt x="3175" y="466725"/>
                  </a:lnTo>
                </a:path>
                <a:path w="6102350" h="466725">
                  <a:moveTo>
                    <a:pt x="6099175" y="0"/>
                  </a:moveTo>
                  <a:lnTo>
                    <a:pt x="6099175" y="466725"/>
                  </a:lnTo>
                </a:path>
                <a:path w="6102350" h="466725">
                  <a:moveTo>
                    <a:pt x="0" y="3175"/>
                  </a:moveTo>
                  <a:lnTo>
                    <a:pt x="6102350" y="3175"/>
                  </a:lnTo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31338" y="5403850"/>
              <a:ext cx="6102350" cy="12700"/>
            </a:xfrm>
            <a:custGeom>
              <a:avLst/>
              <a:gdLst/>
              <a:ahLst/>
              <a:cxnLst/>
              <a:rect l="l" t="t" r="r" b="b"/>
              <a:pathLst>
                <a:path w="6102350" h="12700">
                  <a:moveTo>
                    <a:pt x="0" y="12700"/>
                  </a:moveTo>
                  <a:lnTo>
                    <a:pt x="6102350" y="12700"/>
                  </a:lnTo>
                  <a:lnTo>
                    <a:pt x="610235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31338" y="4982032"/>
            <a:ext cx="61023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(Query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Expression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1)</a:t>
            </a:r>
            <a:r>
              <a:rPr sz="1800" b="1" spc="5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Symbol"/>
                <a:cs typeface="Symbol"/>
              </a:rPr>
              <a:t></a:t>
            </a:r>
            <a:r>
              <a:rPr sz="2400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(Query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Expression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2)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24000" y="1219200"/>
            <a:ext cx="9144000" cy="76200"/>
          </a:xfrm>
          <a:custGeom>
            <a:avLst/>
            <a:gdLst/>
            <a:ahLst/>
            <a:cxnLst/>
            <a:rect l="l" t="t" r="r" b="b"/>
            <a:pathLst>
              <a:path w="9144000" h="76200">
                <a:moveTo>
                  <a:pt x="0" y="7620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82506" y="492251"/>
            <a:ext cx="4940300" cy="897255"/>
            <a:chOff x="3782506" y="492251"/>
            <a:chExt cx="4940300" cy="8972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2506" y="738095"/>
              <a:ext cx="2934600" cy="3642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47103" y="492251"/>
              <a:ext cx="730757" cy="8968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35139" y="492251"/>
              <a:ext cx="1887474" cy="89687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34561" y="582930"/>
            <a:ext cx="47256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CC3300"/>
                </a:solidFill>
              </a:rPr>
              <a:t>Division</a:t>
            </a:r>
            <a:r>
              <a:rPr sz="3200" spc="-110" dirty="0">
                <a:solidFill>
                  <a:srgbClr val="CC3300"/>
                </a:solidFill>
              </a:rPr>
              <a:t> </a:t>
            </a:r>
            <a:r>
              <a:rPr sz="3200" spc="-35" dirty="0">
                <a:solidFill>
                  <a:srgbClr val="CC3300"/>
                </a:solidFill>
              </a:rPr>
              <a:t>Operation</a:t>
            </a:r>
            <a:r>
              <a:rPr sz="3200" spc="-95" dirty="0">
                <a:solidFill>
                  <a:srgbClr val="CC3300"/>
                </a:solidFill>
              </a:rPr>
              <a:t> </a:t>
            </a:r>
            <a:r>
              <a:rPr sz="3200" dirty="0">
                <a:solidFill>
                  <a:srgbClr val="CC3300"/>
                </a:solidFill>
              </a:rPr>
              <a:t>–</a:t>
            </a:r>
            <a:r>
              <a:rPr sz="3200" spc="-90" dirty="0">
                <a:solidFill>
                  <a:srgbClr val="CC3300"/>
                </a:solidFill>
              </a:rPr>
              <a:t> </a:t>
            </a:r>
            <a:r>
              <a:rPr sz="3200" spc="-10" dirty="0">
                <a:solidFill>
                  <a:srgbClr val="CC3300"/>
                </a:solidFill>
              </a:rPr>
              <a:t>Example</a:t>
            </a:r>
            <a:endParaRPr sz="32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53894" y="1112519"/>
            <a:ext cx="295656" cy="3032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784094" y="1116584"/>
            <a:ext cx="1251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Relations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i="1" spc="-45" dirty="0">
                <a:latin typeface="Calibri"/>
                <a:cs typeface="Calibri"/>
              </a:rPr>
              <a:t>r,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s</a:t>
            </a:r>
            <a:r>
              <a:rPr sz="1800" spc="-25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53894" y="4913629"/>
            <a:ext cx="295656" cy="3032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784094" y="4917694"/>
            <a:ext cx="4832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r</a:t>
            </a:r>
            <a:r>
              <a:rPr sz="1800" i="1" spc="-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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s</a:t>
            </a:r>
            <a:r>
              <a:rPr sz="1800" spc="-25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10037" y="4890325"/>
            <a:ext cx="466725" cy="466725"/>
            <a:chOff x="4110037" y="4890325"/>
            <a:chExt cx="466725" cy="466725"/>
          </a:xfrm>
        </p:grpSpPr>
        <p:sp>
          <p:nvSpPr>
            <p:cNvPr id="12" name="object 12"/>
            <p:cNvSpPr/>
            <p:nvPr/>
          </p:nvSpPr>
          <p:spPr>
            <a:xfrm>
              <a:off x="4114800" y="489508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14800" y="489508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457200" y="4572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64914" y="4960366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815137" y="1385125"/>
            <a:ext cx="466725" cy="466725"/>
            <a:chOff x="6815137" y="1385125"/>
            <a:chExt cx="466725" cy="466725"/>
          </a:xfrm>
        </p:grpSpPr>
        <p:sp>
          <p:nvSpPr>
            <p:cNvPr id="16" name="object 16"/>
            <p:cNvSpPr/>
            <p:nvPr/>
          </p:nvSpPr>
          <p:spPr>
            <a:xfrm>
              <a:off x="6819900" y="138988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19900" y="138988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457200" y="4572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973316" y="1454658"/>
            <a:ext cx="149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4114800" y="5414771"/>
            <a:ext cx="457200" cy="762000"/>
          </a:xfrm>
          <a:prstGeom prst="rect">
            <a:avLst/>
          </a:prstGeom>
          <a:solidFill>
            <a:srgbClr val="4471C4"/>
          </a:solidFill>
          <a:ln w="9525">
            <a:solidFill>
              <a:srgbClr val="0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900" spc="-50" dirty="0">
                <a:latin typeface="Symbol"/>
                <a:cs typeface="Symbol"/>
              </a:rPr>
              <a:t></a:t>
            </a:r>
            <a:endParaRPr sz="1900">
              <a:latin typeface="Symbol"/>
              <a:cs typeface="Symbol"/>
            </a:endParaRPr>
          </a:p>
          <a:p>
            <a:pPr algn="ctr">
              <a:lnSpc>
                <a:spcPts val="2275"/>
              </a:lnSpc>
              <a:spcBef>
                <a:spcPts val="960"/>
              </a:spcBef>
            </a:pPr>
            <a:r>
              <a:rPr sz="1900" spc="-50" dirty="0">
                <a:latin typeface="Symbol"/>
                <a:cs typeface="Symbol"/>
              </a:rPr>
              <a:t>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19900" y="1923288"/>
            <a:ext cx="457200" cy="762000"/>
          </a:xfrm>
          <a:prstGeom prst="rect">
            <a:avLst/>
          </a:prstGeom>
          <a:solidFill>
            <a:srgbClr val="4471C4"/>
          </a:solidFill>
          <a:ln w="9525">
            <a:solidFill>
              <a:srgbClr val="000000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sz="1800" i="1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800" i="1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91100" y="1237488"/>
            <a:ext cx="457200" cy="533400"/>
          </a:xfrm>
          <a:prstGeom prst="rect">
            <a:avLst/>
          </a:prstGeom>
          <a:solidFill>
            <a:srgbClr val="4471C4"/>
          </a:solidFill>
          <a:ln w="9525">
            <a:solidFill>
              <a:srgbClr val="000000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10"/>
              </a:spcBef>
            </a:pPr>
            <a:r>
              <a:rPr sz="1800" i="1" spc="-5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48300" y="1237488"/>
            <a:ext cx="457200" cy="533400"/>
          </a:xfrm>
          <a:prstGeom prst="rect">
            <a:avLst/>
          </a:prstGeom>
          <a:solidFill>
            <a:srgbClr val="4471C4"/>
          </a:solidFill>
          <a:ln w="9525">
            <a:solidFill>
              <a:srgbClr val="000000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sz="1800" i="1" spc="-5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4986337" y="1842325"/>
          <a:ext cx="914400" cy="312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690"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5"/>
                        </a:lnSpc>
                        <a:spcBef>
                          <a:spcPts val="310"/>
                        </a:spcBef>
                      </a:pPr>
                      <a:r>
                        <a:rPr sz="1800" i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i="1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i="1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ts val="2065"/>
                        </a:lnSpc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5"/>
                        </a:lnSpc>
                      </a:pPr>
                      <a:r>
                        <a:rPr sz="1800" i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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i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2540" algn="ctr">
                        <a:lnSpc>
                          <a:spcPts val="2060"/>
                        </a:lnSpc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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i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2540" algn="ctr">
                        <a:lnSpc>
                          <a:spcPts val="2060"/>
                        </a:lnSpc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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i="1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2540" algn="ctr">
                        <a:lnSpc>
                          <a:spcPts val="2060"/>
                        </a:lnSpc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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i="1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635" algn="ctr">
                        <a:lnSpc>
                          <a:spcPts val="2060"/>
                        </a:lnSpc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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i="1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635" algn="ctr">
                        <a:lnSpc>
                          <a:spcPts val="2065"/>
                        </a:lnSpc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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5"/>
                        </a:lnSpc>
                      </a:pPr>
                      <a:r>
                        <a:rPr sz="1800" i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</a:pPr>
                      <a:r>
                        <a:rPr sz="1800" i="1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5374385" y="4990922"/>
            <a:ext cx="1041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88302" y="2781046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80428" y="4125315"/>
            <a:ext cx="3328670" cy="183959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i="1" spc="-20" dirty="0">
                <a:solidFill>
                  <a:srgbClr val="CC3300"/>
                </a:solidFill>
                <a:latin typeface="Calibri"/>
                <a:cs typeface="Calibri"/>
              </a:rPr>
              <a:t>e.g.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i="1" dirty="0">
                <a:solidFill>
                  <a:srgbClr val="CC3300"/>
                </a:solidFill>
                <a:latin typeface="Calibri"/>
                <a:cs typeface="Calibri"/>
              </a:rPr>
              <a:t>A is</a:t>
            </a:r>
            <a:r>
              <a:rPr sz="1400" b="1" i="1" spc="-5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CC3300"/>
                </a:solidFill>
                <a:latin typeface="Calibri"/>
                <a:cs typeface="Calibri"/>
              </a:rPr>
              <a:t>customer</a:t>
            </a:r>
            <a:r>
              <a:rPr sz="1400" b="1" i="1" spc="-40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b="1" i="1" spc="-20" dirty="0">
                <a:solidFill>
                  <a:srgbClr val="CC3300"/>
                </a:solidFill>
                <a:latin typeface="Calibri"/>
                <a:cs typeface="Calibri"/>
              </a:rPr>
              <a:t>name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i="1" dirty="0">
                <a:solidFill>
                  <a:srgbClr val="CC3300"/>
                </a:solidFill>
                <a:latin typeface="Calibri"/>
                <a:cs typeface="Calibri"/>
              </a:rPr>
              <a:t>B</a:t>
            </a:r>
            <a:r>
              <a:rPr sz="1400" b="1" i="1" spc="5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CC3300"/>
                </a:solidFill>
                <a:latin typeface="Calibri"/>
                <a:cs typeface="Calibri"/>
              </a:rPr>
              <a:t>is</a:t>
            </a:r>
            <a:r>
              <a:rPr sz="1400" b="1" i="1" spc="10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CC3300"/>
                </a:solidFill>
                <a:latin typeface="Calibri"/>
                <a:cs typeface="Calibri"/>
              </a:rPr>
              <a:t>branch-</a:t>
            </a:r>
            <a:r>
              <a:rPr sz="1400" b="1" i="1" spc="-20" dirty="0">
                <a:solidFill>
                  <a:srgbClr val="CC3300"/>
                </a:solidFill>
                <a:latin typeface="Calibri"/>
                <a:cs typeface="Calibri"/>
              </a:rPr>
              <a:t>name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i="1" dirty="0">
                <a:solidFill>
                  <a:srgbClr val="CC3300"/>
                </a:solidFill>
                <a:latin typeface="Calibri"/>
                <a:cs typeface="Calibri"/>
              </a:rPr>
              <a:t>1and</a:t>
            </a:r>
            <a:r>
              <a:rPr sz="1400" b="1" i="1" spc="-15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CC3300"/>
                </a:solidFill>
                <a:latin typeface="Calibri"/>
                <a:cs typeface="Calibri"/>
              </a:rPr>
              <a:t>2</a:t>
            </a:r>
            <a:r>
              <a:rPr sz="1400" b="1" i="1" spc="-10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CC3300"/>
                </a:solidFill>
                <a:latin typeface="Calibri"/>
                <a:cs typeface="Calibri"/>
              </a:rPr>
              <a:t>here</a:t>
            </a:r>
            <a:r>
              <a:rPr sz="1400" b="1" i="1" spc="-15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CC3300"/>
                </a:solidFill>
                <a:latin typeface="Calibri"/>
                <a:cs typeface="Calibri"/>
              </a:rPr>
              <a:t>show</a:t>
            </a:r>
            <a:r>
              <a:rPr sz="1400" b="1" i="1" spc="-35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CC3300"/>
                </a:solidFill>
                <a:latin typeface="Calibri"/>
                <a:cs typeface="Calibri"/>
              </a:rPr>
              <a:t>two</a:t>
            </a:r>
            <a:r>
              <a:rPr sz="1400" b="1" i="1" spc="-30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CC3300"/>
                </a:solidFill>
                <a:latin typeface="Calibri"/>
                <a:cs typeface="Calibri"/>
              </a:rPr>
              <a:t>specific</a:t>
            </a:r>
            <a:r>
              <a:rPr sz="1400" b="1" i="1" spc="-10" dirty="0">
                <a:solidFill>
                  <a:srgbClr val="CC3300"/>
                </a:solidFill>
                <a:latin typeface="Calibri"/>
                <a:cs typeface="Calibri"/>
              </a:rPr>
              <a:t> branch-</a:t>
            </a:r>
            <a:r>
              <a:rPr sz="1400" b="1" i="1" spc="-20" dirty="0">
                <a:solidFill>
                  <a:srgbClr val="CC3300"/>
                </a:solidFill>
                <a:latin typeface="Calibri"/>
                <a:cs typeface="Calibri"/>
              </a:rPr>
              <a:t>names</a:t>
            </a:r>
            <a:endParaRPr sz="1400">
              <a:latin typeface="Calibri"/>
              <a:cs typeface="Calibri"/>
            </a:endParaRPr>
          </a:p>
          <a:p>
            <a:pPr marL="12700" marR="212090">
              <a:lnSpc>
                <a:spcPct val="100000"/>
              </a:lnSpc>
              <a:spcBef>
                <a:spcPts val="840"/>
              </a:spcBef>
            </a:pPr>
            <a:r>
              <a:rPr sz="1400" i="1" dirty="0">
                <a:solidFill>
                  <a:srgbClr val="CC3300"/>
                </a:solidFill>
                <a:latin typeface="Calibri"/>
                <a:cs typeface="Calibri"/>
              </a:rPr>
              <a:t>(Find</a:t>
            </a:r>
            <a:r>
              <a:rPr sz="1400" i="1" spc="-30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CC3300"/>
                </a:solidFill>
                <a:latin typeface="Calibri"/>
                <a:cs typeface="Calibri"/>
              </a:rPr>
              <a:t>customers</a:t>
            </a:r>
            <a:r>
              <a:rPr sz="1400" i="1" spc="-45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CC3300"/>
                </a:solidFill>
                <a:latin typeface="Calibri"/>
                <a:cs typeface="Calibri"/>
              </a:rPr>
              <a:t>who</a:t>
            </a:r>
            <a:r>
              <a:rPr sz="1400" i="1" spc="-35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CC3300"/>
                </a:solidFill>
                <a:latin typeface="Calibri"/>
                <a:cs typeface="Calibri"/>
              </a:rPr>
              <a:t>have</a:t>
            </a:r>
            <a:r>
              <a:rPr sz="1400" i="1" spc="-15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CC3300"/>
                </a:solidFill>
                <a:latin typeface="Calibri"/>
                <a:cs typeface="Calibri"/>
              </a:rPr>
              <a:t>an</a:t>
            </a:r>
            <a:r>
              <a:rPr sz="1400" i="1" spc="-20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CC3300"/>
                </a:solidFill>
                <a:latin typeface="Calibri"/>
                <a:cs typeface="Calibri"/>
              </a:rPr>
              <a:t>account</a:t>
            </a:r>
            <a:r>
              <a:rPr sz="1400" i="1" spc="-20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CC3300"/>
                </a:solidFill>
                <a:latin typeface="Calibri"/>
                <a:cs typeface="Calibri"/>
              </a:rPr>
              <a:t>in</a:t>
            </a:r>
            <a:r>
              <a:rPr sz="1400" i="1" spc="-25" dirty="0">
                <a:solidFill>
                  <a:srgbClr val="CC3300"/>
                </a:solidFill>
                <a:latin typeface="Calibri"/>
                <a:cs typeface="Calibri"/>
              </a:rPr>
              <a:t> all </a:t>
            </a:r>
            <a:r>
              <a:rPr sz="1400" i="1" dirty="0">
                <a:solidFill>
                  <a:srgbClr val="CC3300"/>
                </a:solidFill>
                <a:latin typeface="Calibri"/>
                <a:cs typeface="Calibri"/>
              </a:rPr>
              <a:t>branches</a:t>
            </a:r>
            <a:r>
              <a:rPr sz="1400" i="1" spc="-25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CC3300"/>
                </a:solidFill>
                <a:latin typeface="Calibri"/>
                <a:cs typeface="Calibri"/>
              </a:rPr>
              <a:t>of</a:t>
            </a:r>
            <a:r>
              <a:rPr sz="1400" i="1" spc="-35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CC3300"/>
                </a:solidFill>
                <a:latin typeface="Calibri"/>
                <a:cs typeface="Calibri"/>
              </a:rPr>
              <a:t>the</a:t>
            </a:r>
            <a:r>
              <a:rPr sz="1400" i="1" spc="-30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CC3300"/>
                </a:solidFill>
                <a:latin typeface="Calibri"/>
                <a:cs typeface="Calibri"/>
              </a:rPr>
              <a:t>bank)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42232" y="632459"/>
            <a:ext cx="759460" cy="5979160"/>
            <a:chOff x="4142232" y="632459"/>
            <a:chExt cx="759460" cy="5979160"/>
          </a:xfrm>
        </p:grpSpPr>
        <p:sp>
          <p:nvSpPr>
            <p:cNvPr id="3" name="object 3"/>
            <p:cNvSpPr/>
            <p:nvPr/>
          </p:nvSpPr>
          <p:spPr>
            <a:xfrm>
              <a:off x="4142232" y="900684"/>
              <a:ext cx="759460" cy="5710555"/>
            </a:xfrm>
            <a:custGeom>
              <a:avLst/>
              <a:gdLst/>
              <a:ahLst/>
              <a:cxnLst/>
              <a:rect l="l" t="t" r="r" b="b"/>
              <a:pathLst>
                <a:path w="759460" h="5710555">
                  <a:moveTo>
                    <a:pt x="0" y="0"/>
                  </a:moveTo>
                  <a:lnTo>
                    <a:pt x="0" y="5243703"/>
                  </a:lnTo>
                  <a:lnTo>
                    <a:pt x="758951" y="5710428"/>
                  </a:lnTo>
                  <a:lnTo>
                    <a:pt x="758951" y="466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3756" y="632459"/>
              <a:ext cx="483234" cy="5521960"/>
            </a:xfrm>
            <a:custGeom>
              <a:avLst/>
              <a:gdLst/>
              <a:ahLst/>
              <a:cxnLst/>
              <a:rect l="l" t="t" r="r" b="b"/>
              <a:pathLst>
                <a:path w="483235" h="5521960">
                  <a:moveTo>
                    <a:pt x="483108" y="0"/>
                  </a:moveTo>
                  <a:lnTo>
                    <a:pt x="0" y="259968"/>
                  </a:lnTo>
                  <a:lnTo>
                    <a:pt x="0" y="5521452"/>
                  </a:lnTo>
                  <a:lnTo>
                    <a:pt x="483108" y="5259197"/>
                  </a:lnTo>
                  <a:lnTo>
                    <a:pt x="483108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3983" y="637031"/>
            <a:ext cx="4000500" cy="5257800"/>
          </a:xfrm>
          <a:prstGeom prst="rect">
            <a:avLst/>
          </a:prstGeom>
          <a:solidFill>
            <a:srgbClr val="1F3863"/>
          </a:solidFill>
        </p:spPr>
        <p:txBody>
          <a:bodyPr vert="horz" wrap="square" lIns="0" tIns="5683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475"/>
              </a:spcBef>
            </a:pPr>
            <a:endParaRPr sz="4800">
              <a:latin typeface="Times New Roman"/>
              <a:cs typeface="Times New Roman"/>
            </a:endParaRPr>
          </a:p>
          <a:p>
            <a:pPr marL="392430" marR="1019810">
              <a:lnSpc>
                <a:spcPct val="90000"/>
              </a:lnSpc>
            </a:pPr>
            <a:r>
              <a:rPr sz="4800" spc="-10" dirty="0">
                <a:solidFill>
                  <a:srgbClr val="FFFFFF"/>
                </a:solidFill>
              </a:rPr>
              <a:t>Extended Relational Algebra </a:t>
            </a:r>
            <a:r>
              <a:rPr sz="4800" spc="-60" dirty="0">
                <a:solidFill>
                  <a:srgbClr val="FFFFFF"/>
                </a:solidFill>
              </a:rPr>
              <a:t>operations</a:t>
            </a:r>
            <a:endParaRPr sz="4800"/>
          </a:p>
        </p:txBody>
      </p:sp>
      <p:sp>
        <p:nvSpPr>
          <p:cNvPr id="6" name="object 6"/>
          <p:cNvSpPr txBox="1"/>
          <p:nvPr/>
        </p:nvSpPr>
        <p:spPr>
          <a:xfrm>
            <a:off x="4901184" y="1351788"/>
            <a:ext cx="6657340" cy="5252085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3295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95"/>
              </a:spcBef>
            </a:pPr>
            <a:endParaRPr sz="2400">
              <a:latin typeface="Times New Roman"/>
              <a:cs typeface="Times New Roman"/>
            </a:endParaRPr>
          </a:p>
          <a:p>
            <a:pPr marL="640080" indent="-227329" algn="just">
              <a:lnSpc>
                <a:spcPct val="100000"/>
              </a:lnSpc>
              <a:buFont typeface="Arial MT"/>
              <a:buChar char="•"/>
              <a:tabLst>
                <a:tab pos="640080" algn="l"/>
              </a:tabLst>
            </a:pPr>
            <a:r>
              <a:rPr sz="2400" b="1" spc="-10" dirty="0">
                <a:solidFill>
                  <a:srgbClr val="FDFFFF"/>
                </a:solidFill>
                <a:latin typeface="Calibri"/>
                <a:cs typeface="Calibri"/>
              </a:rPr>
              <a:t>Generalized</a:t>
            </a:r>
            <a:r>
              <a:rPr sz="2400" b="1" spc="-10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DFFFF"/>
                </a:solidFill>
                <a:latin typeface="Calibri"/>
                <a:cs typeface="Calibri"/>
              </a:rPr>
              <a:t>projection:</a:t>
            </a:r>
            <a:endParaRPr sz="2400">
              <a:latin typeface="Calibri"/>
              <a:cs typeface="Calibri"/>
            </a:endParaRPr>
          </a:p>
          <a:p>
            <a:pPr marL="640080" marR="470534" indent="-227329" algn="just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641350" algn="l"/>
              </a:tabLst>
            </a:pP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It</a:t>
            </a:r>
            <a:r>
              <a:rPr sz="2400" spc="355" dirty="0">
                <a:solidFill>
                  <a:srgbClr val="FD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extends</a:t>
            </a:r>
            <a:r>
              <a:rPr sz="2400" spc="355" dirty="0">
                <a:solidFill>
                  <a:srgbClr val="FD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2400" spc="360" dirty="0">
                <a:solidFill>
                  <a:srgbClr val="FD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projection</a:t>
            </a:r>
            <a:r>
              <a:rPr sz="2400" spc="355" dirty="0">
                <a:solidFill>
                  <a:srgbClr val="FD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operation</a:t>
            </a:r>
            <a:r>
              <a:rPr sz="2400" spc="360" dirty="0">
                <a:solidFill>
                  <a:srgbClr val="FDFFFF"/>
                </a:solidFill>
                <a:latin typeface="Calibri"/>
                <a:cs typeface="Calibri"/>
              </a:rPr>
              <a:t>  </a:t>
            </a:r>
            <a:r>
              <a:rPr sz="2400" spc="-25" dirty="0">
                <a:solidFill>
                  <a:srgbClr val="FDFFFF"/>
                </a:solidFill>
                <a:latin typeface="Calibri"/>
                <a:cs typeface="Calibri"/>
              </a:rPr>
              <a:t>by 	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allowing</a:t>
            </a:r>
            <a:r>
              <a:rPr sz="2400" spc="6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2400" spc="6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arithmetic</a:t>
            </a:r>
            <a:r>
              <a:rPr sz="2400" spc="7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functions</a:t>
            </a:r>
            <a:r>
              <a:rPr sz="2400" spc="6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to</a:t>
            </a:r>
            <a:r>
              <a:rPr sz="2400" spc="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be</a:t>
            </a:r>
            <a:r>
              <a:rPr sz="2400" spc="7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DFFFF"/>
                </a:solidFill>
                <a:latin typeface="Calibri"/>
                <a:cs typeface="Calibri"/>
              </a:rPr>
              <a:t>used 	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in</a:t>
            </a:r>
            <a:r>
              <a:rPr sz="2400" spc="-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2400" spc="-6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projection</a:t>
            </a:r>
            <a:r>
              <a:rPr sz="2400" spc="-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DFFFF"/>
                </a:solidFill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  <a:p>
            <a:pPr marL="640080" indent="-227329" algn="just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640080" algn="l"/>
              </a:tabLst>
            </a:pPr>
            <a:r>
              <a:rPr sz="2400" spc="-10" dirty="0">
                <a:solidFill>
                  <a:srgbClr val="FDFFFF"/>
                </a:solidFill>
                <a:latin typeface="Calibri"/>
                <a:cs typeface="Calibri"/>
              </a:rPr>
              <a:t>Syntax:</a:t>
            </a:r>
            <a:r>
              <a:rPr sz="2400" spc="-6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spc="65" dirty="0">
                <a:solidFill>
                  <a:srgbClr val="FDFFFF"/>
                </a:solidFill>
                <a:latin typeface="Cambria Math"/>
                <a:cs typeface="Cambria Math"/>
              </a:rPr>
              <a:t>𝝥</a:t>
            </a:r>
            <a:r>
              <a:rPr sz="2400" spc="-30" dirty="0">
                <a:solidFill>
                  <a:srgbClr val="FD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F1,</a:t>
            </a:r>
            <a:r>
              <a:rPr sz="2400" spc="-2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DFFFF"/>
                </a:solidFill>
                <a:latin typeface="Calibri"/>
                <a:cs typeface="Calibri"/>
              </a:rPr>
              <a:t>F2,….Fn(E)</a:t>
            </a:r>
            <a:endParaRPr sz="2400">
              <a:latin typeface="Calibri"/>
              <a:cs typeface="Calibri"/>
            </a:endParaRPr>
          </a:p>
          <a:p>
            <a:pPr marL="41275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Where</a:t>
            </a:r>
            <a:r>
              <a:rPr sz="2400" spc="-8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E:</a:t>
            </a:r>
            <a:r>
              <a:rPr sz="2400" spc="-8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Relational</a:t>
            </a:r>
            <a:r>
              <a:rPr sz="2400" spc="-1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algebra</a:t>
            </a:r>
            <a:r>
              <a:rPr sz="2400" spc="-9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DFFFF"/>
                </a:solidFill>
                <a:latin typeface="Calibri"/>
                <a:cs typeface="Calibri"/>
              </a:rPr>
              <a:t>expression</a:t>
            </a:r>
            <a:endParaRPr sz="2400">
              <a:latin typeface="Calibri"/>
              <a:cs typeface="Calibri"/>
            </a:endParaRPr>
          </a:p>
          <a:p>
            <a:pPr marL="41275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solidFill>
                  <a:srgbClr val="FDFFFF"/>
                </a:solidFill>
                <a:latin typeface="Cambria Math"/>
                <a:cs typeface="Cambria Math"/>
              </a:rPr>
              <a:t>𝐹</a:t>
            </a:r>
            <a:r>
              <a:rPr sz="2625" baseline="-15873" dirty="0">
                <a:solidFill>
                  <a:srgbClr val="FDFFFF"/>
                </a:solidFill>
                <a:latin typeface="Cambria Math"/>
                <a:cs typeface="Cambria Math"/>
              </a:rPr>
              <a:t>𝑖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:</a:t>
            </a:r>
            <a:r>
              <a:rPr sz="2400" spc="-4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Arithmetic</a:t>
            </a:r>
            <a:r>
              <a:rPr sz="2400" spc="-6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DFFFF"/>
                </a:solidFill>
                <a:latin typeface="Calibri"/>
                <a:cs typeface="Calibri"/>
              </a:rPr>
              <a:t>expression</a:t>
            </a:r>
            <a:endParaRPr sz="2400">
              <a:latin typeface="Calibri"/>
              <a:cs typeface="Calibri"/>
            </a:endParaRPr>
          </a:p>
          <a:p>
            <a:pPr marL="412750" marR="1472565">
              <a:lnSpc>
                <a:spcPts val="2580"/>
              </a:lnSpc>
              <a:spcBef>
                <a:spcPts val="1055"/>
              </a:spcBef>
            </a:pP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For</a:t>
            </a:r>
            <a:r>
              <a:rPr sz="2400" spc="-4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DFFFF"/>
                </a:solidFill>
                <a:latin typeface="Calibri"/>
                <a:cs typeface="Calibri"/>
              </a:rPr>
              <a:t>example:</a:t>
            </a:r>
            <a:r>
              <a:rPr sz="2400" spc="-7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spc="65" dirty="0">
                <a:solidFill>
                  <a:srgbClr val="FDFFFF"/>
                </a:solidFill>
                <a:latin typeface="Cambria Math"/>
                <a:cs typeface="Cambria Math"/>
              </a:rPr>
              <a:t>𝝥</a:t>
            </a:r>
            <a:r>
              <a:rPr sz="2400" spc="-45" dirty="0">
                <a:solidFill>
                  <a:srgbClr val="FD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customername,</a:t>
            </a:r>
            <a:r>
              <a:rPr sz="2400" spc="-7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DFFFF"/>
                </a:solidFill>
                <a:latin typeface="Calibri"/>
                <a:cs typeface="Calibri"/>
              </a:rPr>
              <a:t>(Limit- </a:t>
            </a:r>
            <a:r>
              <a:rPr sz="2400" dirty="0">
                <a:solidFill>
                  <a:srgbClr val="FDFFFF"/>
                </a:solidFill>
                <a:latin typeface="Calibri"/>
                <a:cs typeface="Calibri"/>
              </a:rPr>
              <a:t>credit_balance)</a:t>
            </a:r>
            <a:r>
              <a:rPr sz="2400" spc="-6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DFFFF"/>
                </a:solidFill>
                <a:latin typeface="Calibri"/>
                <a:cs typeface="Calibri"/>
              </a:rPr>
              <a:t>(creditinfo)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9"/>
              </a:spcBef>
            </a:pPr>
            <a:endParaRPr sz="2400">
              <a:latin typeface="Calibri"/>
              <a:cs typeface="Calibri"/>
            </a:endParaRPr>
          </a:p>
          <a:p>
            <a:pPr marR="248285" algn="r">
              <a:lnSpc>
                <a:spcPct val="100000"/>
              </a:lnSpc>
            </a:pP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62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060190" cy="6858000"/>
          </a:xfrm>
          <a:custGeom>
            <a:avLst/>
            <a:gdLst/>
            <a:ahLst/>
            <a:cxnLst/>
            <a:rect l="l" t="t" r="r" b="b"/>
            <a:pathLst>
              <a:path w="4060190" h="6858000">
                <a:moveTo>
                  <a:pt x="0" y="6857999"/>
                </a:moveTo>
                <a:lnTo>
                  <a:pt x="4059935" y="6858000"/>
                </a:lnTo>
                <a:lnTo>
                  <a:pt x="4059936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2172" y="2727147"/>
            <a:ext cx="2264410" cy="13011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spc="-60" dirty="0">
                <a:solidFill>
                  <a:srgbClr val="FFFFFF"/>
                </a:solidFill>
                <a:latin typeface="Calibri Light"/>
                <a:cs typeface="Calibri Light"/>
              </a:rPr>
              <a:t>Aggregate </a:t>
            </a:r>
            <a:r>
              <a:rPr sz="4400" spc="-10" dirty="0">
                <a:solidFill>
                  <a:srgbClr val="FFFFFF"/>
                </a:solidFill>
                <a:latin typeface="Calibri Light"/>
                <a:cs typeface="Calibri Light"/>
              </a:rPr>
              <a:t>Functions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45685" y="592963"/>
            <a:ext cx="1149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86478" y="616076"/>
            <a:ext cx="5773420" cy="3111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320"/>
              </a:lnSpc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takes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collection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returns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single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result.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45685" y="896848"/>
            <a:ext cx="7768590" cy="258318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sum(marks) (Record):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Returns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marks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record.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max(marks)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(Record):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Returns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maximum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marks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record.</a:t>
            </a:r>
            <a:endParaRPr sz="2000">
              <a:latin typeface="Calibri"/>
              <a:cs typeface="Calibri"/>
            </a:endParaRPr>
          </a:p>
          <a:p>
            <a:pPr marL="241300" marR="5080" indent="-229235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G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min(marks)</a:t>
            </a:r>
            <a:r>
              <a:rPr sz="2000" spc="3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(Record):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Returns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minimum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marks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 record.</a:t>
            </a:r>
            <a:endParaRPr sz="2000">
              <a:latin typeface="Calibri"/>
              <a:cs typeface="Calibri"/>
            </a:endParaRPr>
          </a:p>
          <a:p>
            <a:pPr marL="241300" marR="5080" indent="-229235">
              <a:lnSpc>
                <a:spcPts val="216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G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average(marks)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(Record):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Returns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average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marks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 record.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count(marks)(Record):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Returns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count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marks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3732" y="4209960"/>
            <a:ext cx="5902790" cy="249344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94846" y="6464909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63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502D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3336" y="1931873"/>
            <a:ext cx="2051685" cy="20561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35"/>
              </a:spcBef>
            </a:pPr>
            <a:r>
              <a:rPr sz="3600" spc="-10" dirty="0">
                <a:solidFill>
                  <a:srgbClr val="FFFFFF"/>
                </a:solidFill>
              </a:rPr>
              <a:t>Different Relational Algebra </a:t>
            </a:r>
            <a:r>
              <a:rPr sz="3600" spc="-20" dirty="0">
                <a:solidFill>
                  <a:srgbClr val="FFFFFF"/>
                </a:solidFill>
              </a:rPr>
              <a:t>Operations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429768" y="438912"/>
            <a:ext cx="8252459" cy="5849620"/>
            <a:chOff x="429768" y="438912"/>
            <a:chExt cx="8252459" cy="58496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768" y="438912"/>
              <a:ext cx="8252459" cy="5849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3776" y="484632"/>
              <a:ext cx="8129270" cy="5724525"/>
            </a:xfrm>
            <a:custGeom>
              <a:avLst/>
              <a:gdLst/>
              <a:ahLst/>
              <a:cxnLst/>
              <a:rect l="l" t="t" r="r" b="b"/>
              <a:pathLst>
                <a:path w="8129270" h="5724525">
                  <a:moveTo>
                    <a:pt x="8129016" y="0"/>
                  </a:moveTo>
                  <a:lnTo>
                    <a:pt x="0" y="0"/>
                  </a:lnTo>
                  <a:lnTo>
                    <a:pt x="0" y="5724144"/>
                  </a:lnTo>
                  <a:lnTo>
                    <a:pt x="8129016" y="5724144"/>
                  </a:lnTo>
                  <a:lnTo>
                    <a:pt x="8129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3776" y="484632"/>
              <a:ext cx="8129270" cy="5724525"/>
            </a:xfrm>
            <a:custGeom>
              <a:avLst/>
              <a:gdLst/>
              <a:ahLst/>
              <a:cxnLst/>
              <a:rect l="l" t="t" r="r" b="b"/>
              <a:pathLst>
                <a:path w="8129270" h="5724525">
                  <a:moveTo>
                    <a:pt x="0" y="5724144"/>
                  </a:moveTo>
                  <a:lnTo>
                    <a:pt x="8129016" y="5724144"/>
                  </a:lnTo>
                  <a:lnTo>
                    <a:pt x="8129016" y="0"/>
                  </a:lnTo>
                  <a:lnTo>
                    <a:pt x="0" y="0"/>
                  </a:lnTo>
                  <a:lnTo>
                    <a:pt x="0" y="5724144"/>
                  </a:lnTo>
                  <a:close/>
                </a:path>
              </a:pathLst>
            </a:custGeom>
            <a:ln w="9525">
              <a:solidFill>
                <a:srgbClr val="C7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6884" y="941831"/>
              <a:ext cx="7162800" cy="48097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3" name="object 3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1222735" y="635508"/>
            <a:ext cx="329565" cy="1742439"/>
          </a:xfrm>
          <a:custGeom>
            <a:avLst/>
            <a:gdLst/>
            <a:ahLst/>
            <a:cxnLst/>
            <a:rect l="l" t="t" r="r" b="b"/>
            <a:pathLst>
              <a:path w="329565" h="1742439">
                <a:moveTo>
                  <a:pt x="329184" y="0"/>
                </a:moveTo>
                <a:lnTo>
                  <a:pt x="0" y="198627"/>
                </a:lnTo>
                <a:lnTo>
                  <a:pt x="0" y="1741931"/>
                </a:lnTo>
                <a:lnTo>
                  <a:pt x="329184" y="1543303"/>
                </a:lnTo>
                <a:lnTo>
                  <a:pt x="329184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4651" y="635508"/>
            <a:ext cx="10907395" cy="1542415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328930" rIns="0" bIns="0" rtlCol="0">
            <a:spAutoFit/>
          </a:bodyPr>
          <a:lstStyle/>
          <a:p>
            <a:pPr marL="405130">
              <a:lnSpc>
                <a:spcPct val="100000"/>
              </a:lnSpc>
              <a:spcBef>
                <a:spcPts val="2590"/>
              </a:spcBef>
            </a:pPr>
            <a:r>
              <a:rPr sz="4800" spc="-50" dirty="0">
                <a:solidFill>
                  <a:srgbClr val="FFFFFF"/>
                </a:solidFill>
              </a:rPr>
              <a:t>Relational</a:t>
            </a:r>
            <a:r>
              <a:rPr sz="4800" spc="-190" dirty="0">
                <a:solidFill>
                  <a:srgbClr val="FFFFFF"/>
                </a:solidFill>
              </a:rPr>
              <a:t> </a:t>
            </a:r>
            <a:r>
              <a:rPr sz="4800" spc="-10" dirty="0">
                <a:solidFill>
                  <a:srgbClr val="FFFFFF"/>
                </a:solidFill>
              </a:rPr>
              <a:t>Calculus</a:t>
            </a:r>
            <a:endParaRPr sz="48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87577" rIns="0" bIns="0" rtlCol="0">
            <a:spAutoFit/>
          </a:bodyPr>
          <a:lstStyle/>
          <a:p>
            <a:pPr marL="240029" marR="5080" indent="-227329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/>
              <a:t>Non</a:t>
            </a:r>
            <a:r>
              <a:rPr sz="2400" spc="70" dirty="0"/>
              <a:t> </a:t>
            </a:r>
            <a:r>
              <a:rPr sz="2400" dirty="0"/>
              <a:t>procedural,</a:t>
            </a:r>
            <a:r>
              <a:rPr sz="2400" spc="70" dirty="0"/>
              <a:t> </a:t>
            </a:r>
            <a:r>
              <a:rPr sz="2400" dirty="0"/>
              <a:t>declarative</a:t>
            </a:r>
            <a:r>
              <a:rPr sz="2400" spc="75" dirty="0"/>
              <a:t> </a:t>
            </a:r>
            <a:r>
              <a:rPr sz="2400" dirty="0"/>
              <a:t>query</a:t>
            </a:r>
            <a:r>
              <a:rPr sz="2400" spc="75" dirty="0"/>
              <a:t> </a:t>
            </a:r>
            <a:r>
              <a:rPr sz="2400" dirty="0"/>
              <a:t>language,</a:t>
            </a:r>
            <a:r>
              <a:rPr sz="2400" spc="70" dirty="0"/>
              <a:t> </a:t>
            </a:r>
            <a:r>
              <a:rPr sz="2400" dirty="0"/>
              <a:t>that</a:t>
            </a:r>
            <a:r>
              <a:rPr sz="2400" spc="70" dirty="0"/>
              <a:t> </a:t>
            </a:r>
            <a:r>
              <a:rPr sz="2400" dirty="0"/>
              <a:t>is,</a:t>
            </a:r>
            <a:r>
              <a:rPr sz="2400" spc="55" dirty="0"/>
              <a:t> </a:t>
            </a:r>
            <a:r>
              <a:rPr sz="2400" dirty="0"/>
              <a:t>it</a:t>
            </a:r>
            <a:r>
              <a:rPr sz="2400" spc="60" dirty="0"/>
              <a:t> </a:t>
            </a:r>
            <a:r>
              <a:rPr sz="2400" dirty="0"/>
              <a:t>tells</a:t>
            </a:r>
            <a:r>
              <a:rPr sz="2400" spc="50" dirty="0"/>
              <a:t> </a:t>
            </a:r>
            <a:r>
              <a:rPr sz="2400" dirty="0"/>
              <a:t>what</a:t>
            </a:r>
            <a:r>
              <a:rPr sz="2400" spc="70" dirty="0"/>
              <a:t> </a:t>
            </a:r>
            <a:r>
              <a:rPr sz="2400" dirty="0"/>
              <a:t>to</a:t>
            </a:r>
            <a:r>
              <a:rPr sz="2400" spc="50" dirty="0"/>
              <a:t> </a:t>
            </a:r>
            <a:r>
              <a:rPr sz="2400" dirty="0"/>
              <a:t>do</a:t>
            </a:r>
            <a:r>
              <a:rPr sz="2400" spc="55" dirty="0"/>
              <a:t> </a:t>
            </a:r>
            <a:r>
              <a:rPr sz="2400" spc="-25" dirty="0"/>
              <a:t>but 	</a:t>
            </a:r>
            <a:r>
              <a:rPr sz="2400" dirty="0"/>
              <a:t>never</a:t>
            </a:r>
            <a:r>
              <a:rPr sz="2400" spc="-50" dirty="0"/>
              <a:t> </a:t>
            </a:r>
            <a:r>
              <a:rPr sz="2400" dirty="0"/>
              <a:t>explains</a:t>
            </a:r>
            <a:r>
              <a:rPr sz="2400" spc="-50" dirty="0"/>
              <a:t> </a:t>
            </a:r>
            <a:r>
              <a:rPr sz="2400" dirty="0"/>
              <a:t>how</a:t>
            </a:r>
            <a:r>
              <a:rPr sz="2400" spc="-60" dirty="0"/>
              <a:t> </a:t>
            </a:r>
            <a:r>
              <a:rPr sz="2400" dirty="0"/>
              <a:t>to</a:t>
            </a:r>
            <a:r>
              <a:rPr sz="2400" spc="-55" dirty="0"/>
              <a:t> </a:t>
            </a:r>
            <a:r>
              <a:rPr sz="2400" dirty="0"/>
              <a:t>do</a:t>
            </a:r>
            <a:r>
              <a:rPr sz="2400" spc="-55" dirty="0"/>
              <a:t> </a:t>
            </a:r>
            <a:r>
              <a:rPr sz="2400" spc="-25" dirty="0"/>
              <a:t>it.</a:t>
            </a:r>
            <a:endParaRPr sz="2400"/>
          </a:p>
          <a:p>
            <a:pPr marL="240029" marR="7620" indent="-227329" algn="just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/>
              <a:t>Can</a:t>
            </a:r>
            <a:r>
              <a:rPr sz="2400" spc="30" dirty="0"/>
              <a:t>  </a:t>
            </a:r>
            <a:r>
              <a:rPr sz="2400" dirty="0"/>
              <a:t>define</a:t>
            </a:r>
            <a:r>
              <a:rPr sz="2400" spc="35" dirty="0"/>
              <a:t>  </a:t>
            </a:r>
            <a:r>
              <a:rPr sz="2400" dirty="0"/>
              <a:t>the</a:t>
            </a:r>
            <a:r>
              <a:rPr sz="2400" spc="35" dirty="0"/>
              <a:t>  </a:t>
            </a:r>
            <a:r>
              <a:rPr sz="2400" dirty="0"/>
              <a:t>information</a:t>
            </a:r>
            <a:r>
              <a:rPr sz="2400" spc="35" dirty="0"/>
              <a:t>  </a:t>
            </a:r>
            <a:r>
              <a:rPr sz="2400" dirty="0"/>
              <a:t>to</a:t>
            </a:r>
            <a:r>
              <a:rPr sz="2400" spc="30" dirty="0"/>
              <a:t>  </a:t>
            </a:r>
            <a:r>
              <a:rPr sz="2400" dirty="0"/>
              <a:t>be</a:t>
            </a:r>
            <a:r>
              <a:rPr sz="2400" spc="40" dirty="0"/>
              <a:t>  </a:t>
            </a:r>
            <a:r>
              <a:rPr sz="2400" dirty="0"/>
              <a:t>retrieved</a:t>
            </a:r>
            <a:r>
              <a:rPr sz="2400" spc="35" dirty="0"/>
              <a:t>  </a:t>
            </a:r>
            <a:r>
              <a:rPr sz="2400" dirty="0"/>
              <a:t>not</a:t>
            </a:r>
            <a:r>
              <a:rPr sz="2400" spc="30" dirty="0"/>
              <a:t>  </a:t>
            </a:r>
            <a:r>
              <a:rPr sz="2400" dirty="0"/>
              <a:t>any</a:t>
            </a:r>
            <a:r>
              <a:rPr sz="2400" spc="40" dirty="0"/>
              <a:t>  </a:t>
            </a:r>
            <a:r>
              <a:rPr sz="2400" dirty="0"/>
              <a:t>specific</a:t>
            </a:r>
            <a:r>
              <a:rPr sz="2400" spc="35" dirty="0"/>
              <a:t>  </a:t>
            </a:r>
            <a:r>
              <a:rPr sz="2400" dirty="0"/>
              <a:t>series</a:t>
            </a:r>
            <a:r>
              <a:rPr sz="2400" spc="30" dirty="0"/>
              <a:t>  </a:t>
            </a:r>
            <a:r>
              <a:rPr sz="2400" spc="-25" dirty="0"/>
              <a:t>of 	</a:t>
            </a:r>
            <a:r>
              <a:rPr sz="2400" dirty="0"/>
              <a:t>operations.</a:t>
            </a:r>
            <a:r>
              <a:rPr sz="2400" spc="190" dirty="0"/>
              <a:t>  </a:t>
            </a:r>
            <a:r>
              <a:rPr sz="2400" dirty="0"/>
              <a:t>In</a:t>
            </a:r>
            <a:r>
              <a:rPr sz="2400" spc="200" dirty="0"/>
              <a:t>  </a:t>
            </a:r>
            <a:r>
              <a:rPr sz="2400" dirty="0"/>
              <a:t>contrast,</a:t>
            </a:r>
            <a:r>
              <a:rPr sz="2400" spc="195" dirty="0"/>
              <a:t>  </a:t>
            </a:r>
            <a:r>
              <a:rPr sz="2400" dirty="0"/>
              <a:t>relational</a:t>
            </a:r>
            <a:r>
              <a:rPr sz="2400" spc="195" dirty="0"/>
              <a:t>  </a:t>
            </a:r>
            <a:r>
              <a:rPr sz="2400" dirty="0"/>
              <a:t>algebra</a:t>
            </a:r>
            <a:r>
              <a:rPr sz="2400" spc="190" dirty="0"/>
              <a:t>  </a:t>
            </a:r>
            <a:r>
              <a:rPr sz="2400" dirty="0"/>
              <a:t>defines</a:t>
            </a:r>
            <a:r>
              <a:rPr sz="2400" spc="200" dirty="0"/>
              <a:t>  </a:t>
            </a:r>
            <a:r>
              <a:rPr sz="2400" dirty="0"/>
              <a:t>the</a:t>
            </a:r>
            <a:r>
              <a:rPr sz="2400" spc="190" dirty="0"/>
              <a:t>  </a:t>
            </a:r>
            <a:r>
              <a:rPr sz="2400" dirty="0"/>
              <a:t>sequences</a:t>
            </a:r>
            <a:r>
              <a:rPr sz="2400" spc="195" dirty="0"/>
              <a:t>  </a:t>
            </a:r>
            <a:r>
              <a:rPr sz="2400" spc="-25" dirty="0"/>
              <a:t>of 	</a:t>
            </a:r>
            <a:r>
              <a:rPr sz="2400" spc="-10" dirty="0"/>
              <a:t>operations.</a:t>
            </a:r>
            <a:endParaRPr sz="2400"/>
          </a:p>
          <a:p>
            <a:pPr marL="240029" indent="-227329" algn="just">
              <a:lnSpc>
                <a:spcPts val="2735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/>
              <a:t>Closer</a:t>
            </a:r>
            <a:r>
              <a:rPr sz="2400" spc="385" dirty="0"/>
              <a:t> </a:t>
            </a:r>
            <a:r>
              <a:rPr sz="2400" dirty="0"/>
              <a:t>than</a:t>
            </a:r>
            <a:r>
              <a:rPr sz="2400" spc="375" dirty="0"/>
              <a:t> </a:t>
            </a:r>
            <a:r>
              <a:rPr sz="2400" dirty="0"/>
              <a:t>relational</a:t>
            </a:r>
            <a:r>
              <a:rPr sz="2400" spc="395" dirty="0"/>
              <a:t> </a:t>
            </a:r>
            <a:r>
              <a:rPr sz="2400" dirty="0"/>
              <a:t>algebra</a:t>
            </a:r>
            <a:r>
              <a:rPr sz="2400" spc="390" dirty="0"/>
              <a:t> </a:t>
            </a:r>
            <a:r>
              <a:rPr sz="2400" dirty="0"/>
              <a:t>to</a:t>
            </a:r>
            <a:r>
              <a:rPr sz="2400" spc="390" dirty="0"/>
              <a:t> </a:t>
            </a:r>
            <a:r>
              <a:rPr sz="2400" dirty="0"/>
              <a:t>how</a:t>
            </a:r>
            <a:r>
              <a:rPr sz="2400" spc="390" dirty="0"/>
              <a:t> </a:t>
            </a:r>
            <a:r>
              <a:rPr sz="2400" dirty="0"/>
              <a:t>users</a:t>
            </a:r>
            <a:r>
              <a:rPr sz="2400" spc="385" dirty="0"/>
              <a:t> </a:t>
            </a:r>
            <a:r>
              <a:rPr sz="2400" dirty="0"/>
              <a:t>would</a:t>
            </a:r>
            <a:r>
              <a:rPr sz="2400" spc="395" dirty="0"/>
              <a:t> </a:t>
            </a:r>
            <a:r>
              <a:rPr sz="2400" dirty="0"/>
              <a:t>formulate</a:t>
            </a:r>
            <a:r>
              <a:rPr sz="2400" spc="395" dirty="0"/>
              <a:t> </a:t>
            </a:r>
            <a:r>
              <a:rPr sz="2400" dirty="0"/>
              <a:t>queries</a:t>
            </a:r>
            <a:r>
              <a:rPr sz="2400" spc="400" dirty="0"/>
              <a:t> </a:t>
            </a:r>
            <a:r>
              <a:rPr sz="2400" spc="-25" dirty="0"/>
              <a:t>in</a:t>
            </a:r>
            <a:endParaRPr sz="2400"/>
          </a:p>
          <a:p>
            <a:pPr marL="241300" algn="just">
              <a:lnSpc>
                <a:spcPts val="2735"/>
              </a:lnSpc>
            </a:pPr>
            <a:r>
              <a:rPr sz="2400" dirty="0"/>
              <a:t>terms</a:t>
            </a:r>
            <a:r>
              <a:rPr sz="2400" spc="-55" dirty="0"/>
              <a:t> </a:t>
            </a:r>
            <a:r>
              <a:rPr sz="2400" dirty="0"/>
              <a:t>of</a:t>
            </a:r>
            <a:r>
              <a:rPr sz="2400" spc="-45" dirty="0"/>
              <a:t> </a:t>
            </a:r>
            <a:r>
              <a:rPr sz="2400" dirty="0"/>
              <a:t>their</a:t>
            </a:r>
            <a:r>
              <a:rPr sz="2400" spc="-45" dirty="0"/>
              <a:t> </a:t>
            </a:r>
            <a:r>
              <a:rPr sz="2400" spc="-10" dirty="0"/>
              <a:t>information</a:t>
            </a:r>
            <a:r>
              <a:rPr sz="2400" spc="-50" dirty="0"/>
              <a:t> </a:t>
            </a:r>
            <a:r>
              <a:rPr sz="2400" dirty="0"/>
              <a:t>needs,</a:t>
            </a:r>
            <a:r>
              <a:rPr sz="2400" spc="-50" dirty="0"/>
              <a:t> </a:t>
            </a:r>
            <a:r>
              <a:rPr sz="2400" spc="-10" dirty="0"/>
              <a:t>rather</a:t>
            </a:r>
            <a:r>
              <a:rPr sz="2400" spc="-50" dirty="0"/>
              <a:t> </a:t>
            </a:r>
            <a:r>
              <a:rPr sz="2400" dirty="0"/>
              <a:t>than</a:t>
            </a:r>
            <a:r>
              <a:rPr sz="2400" spc="-40" dirty="0"/>
              <a:t> </a:t>
            </a:r>
            <a:r>
              <a:rPr sz="2400" dirty="0"/>
              <a:t>in</a:t>
            </a:r>
            <a:r>
              <a:rPr sz="2400" spc="-45" dirty="0"/>
              <a:t> </a:t>
            </a:r>
            <a:r>
              <a:rPr sz="2400" dirty="0"/>
              <a:t>terms</a:t>
            </a:r>
            <a:r>
              <a:rPr sz="2400" spc="-60" dirty="0"/>
              <a:t> </a:t>
            </a:r>
            <a:r>
              <a:rPr sz="2400" dirty="0"/>
              <a:t>of</a:t>
            </a:r>
            <a:r>
              <a:rPr sz="2400" spc="-35" dirty="0"/>
              <a:t> </a:t>
            </a:r>
            <a:r>
              <a:rPr sz="2400" spc="-10" dirty="0"/>
              <a:t>operations.</a:t>
            </a:r>
            <a:endParaRPr sz="24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471297"/>
            <a:ext cx="91998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Involves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variables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range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tuples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3966231"/>
            <a:ext cx="10292080" cy="194119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10" dirty="0">
                <a:latin typeface="Calibri"/>
                <a:cs typeface="Calibri"/>
              </a:rPr>
              <a:t>Tuple</a:t>
            </a:r>
            <a:r>
              <a:rPr sz="2800" b="1" spc="-1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Relational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Calculus:</a:t>
            </a:r>
            <a:r>
              <a:rPr sz="2800" b="1" spc="-10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Variables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range</a:t>
            </a:r>
            <a:r>
              <a:rPr sz="2800" b="1" spc="-1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over</a:t>
            </a:r>
            <a:r>
              <a:rPr sz="2800" b="1" spc="-10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tuples.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Domain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Relational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Calculus: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Variables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range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over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domain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attributes.</a:t>
            </a:r>
            <a:endParaRPr sz="2800">
              <a:latin typeface="Calibri"/>
              <a:cs typeface="Calibri"/>
            </a:endParaRPr>
          </a:p>
          <a:p>
            <a:pPr marL="240029" marR="613410" indent="-22796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Gives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referring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specific 	</a:t>
            </a:r>
            <a:r>
              <a:rPr sz="2800" dirty="0">
                <a:latin typeface="Calibri"/>
                <a:cs typeface="Calibri"/>
              </a:rPr>
              <a:t>tuples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them)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6068" y="1228344"/>
            <a:ext cx="3955910" cy="277367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3" name="object 3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1222735" y="635508"/>
            <a:ext cx="329565" cy="1742439"/>
          </a:xfrm>
          <a:custGeom>
            <a:avLst/>
            <a:gdLst/>
            <a:ahLst/>
            <a:cxnLst/>
            <a:rect l="l" t="t" r="r" b="b"/>
            <a:pathLst>
              <a:path w="329565" h="1742439">
                <a:moveTo>
                  <a:pt x="329184" y="0"/>
                </a:moveTo>
                <a:lnTo>
                  <a:pt x="0" y="198627"/>
                </a:lnTo>
                <a:lnTo>
                  <a:pt x="0" y="1741931"/>
                </a:lnTo>
                <a:lnTo>
                  <a:pt x="329184" y="1543303"/>
                </a:lnTo>
                <a:lnTo>
                  <a:pt x="329184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4651" y="635508"/>
            <a:ext cx="10907395" cy="1542415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328930" rIns="0" bIns="0" rtlCol="0">
            <a:spAutoFit/>
          </a:bodyPr>
          <a:lstStyle/>
          <a:p>
            <a:pPr marL="405130">
              <a:lnSpc>
                <a:spcPct val="100000"/>
              </a:lnSpc>
              <a:spcBef>
                <a:spcPts val="2590"/>
              </a:spcBef>
            </a:pPr>
            <a:r>
              <a:rPr sz="4800" spc="-105" dirty="0">
                <a:solidFill>
                  <a:srgbClr val="FFFFFF"/>
                </a:solidFill>
              </a:rPr>
              <a:t>Tuple</a:t>
            </a:r>
            <a:r>
              <a:rPr sz="4800" spc="-170" dirty="0">
                <a:solidFill>
                  <a:srgbClr val="FFFFFF"/>
                </a:solidFill>
              </a:rPr>
              <a:t> </a:t>
            </a:r>
            <a:r>
              <a:rPr sz="4800" spc="-50" dirty="0">
                <a:solidFill>
                  <a:srgbClr val="FFFFFF"/>
                </a:solidFill>
              </a:rPr>
              <a:t>Relational</a:t>
            </a:r>
            <a:r>
              <a:rPr sz="4800" spc="-175" dirty="0">
                <a:solidFill>
                  <a:srgbClr val="FFFFFF"/>
                </a:solidFill>
              </a:rPr>
              <a:t> </a:t>
            </a:r>
            <a:r>
              <a:rPr sz="4800" spc="-10" dirty="0">
                <a:solidFill>
                  <a:srgbClr val="FFFFFF"/>
                </a:solidFill>
              </a:rPr>
              <a:t>Calculus</a:t>
            </a:r>
            <a:endParaRPr sz="48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0029" marR="5715" indent="-227329">
              <a:lnSpc>
                <a:spcPts val="2690"/>
              </a:lnSpc>
              <a:spcBef>
                <a:spcPts val="740"/>
              </a:spcBef>
              <a:buFont typeface="Arial MT"/>
              <a:buChar char="•"/>
              <a:tabLst>
                <a:tab pos="241300" algn="l"/>
                <a:tab pos="593090" algn="l"/>
                <a:tab pos="2862580" algn="l"/>
                <a:tab pos="3844290" algn="l"/>
                <a:tab pos="5382260" algn="l"/>
                <a:tab pos="6438265" algn="l"/>
                <a:tab pos="7267575" algn="l"/>
                <a:tab pos="8248650" algn="l"/>
                <a:tab pos="8613140" algn="l"/>
                <a:tab pos="9055100" algn="l"/>
              </a:tabLst>
            </a:pP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nonprocedural</a:t>
            </a:r>
            <a:r>
              <a:rPr dirty="0"/>
              <a:t>	</a:t>
            </a:r>
            <a:r>
              <a:rPr spc="-10" dirty="0"/>
              <a:t>query</a:t>
            </a:r>
            <a:r>
              <a:rPr dirty="0"/>
              <a:t>	</a:t>
            </a:r>
            <a:r>
              <a:rPr spc="-10" dirty="0"/>
              <a:t>language,</a:t>
            </a:r>
            <a:r>
              <a:rPr dirty="0"/>
              <a:t>	</a:t>
            </a:r>
            <a:r>
              <a:rPr spc="-10" dirty="0"/>
              <a:t>where</a:t>
            </a:r>
            <a:r>
              <a:rPr dirty="0"/>
              <a:t>	</a:t>
            </a:r>
            <a:r>
              <a:rPr spc="-20" dirty="0"/>
              <a:t>each</a:t>
            </a:r>
            <a:r>
              <a:rPr dirty="0"/>
              <a:t>	</a:t>
            </a:r>
            <a:r>
              <a:rPr spc="-10" dirty="0"/>
              <a:t>query</a:t>
            </a:r>
            <a:r>
              <a:rPr dirty="0"/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5" dirty="0"/>
              <a:t>the 	</a:t>
            </a:r>
            <a:r>
              <a:rPr spc="-20" dirty="0"/>
              <a:t>form</a:t>
            </a:r>
          </a:p>
          <a:p>
            <a:pPr marL="2493645">
              <a:lnSpc>
                <a:spcPct val="100000"/>
              </a:lnSpc>
              <a:spcBef>
                <a:spcPts val="345"/>
              </a:spcBef>
            </a:pPr>
            <a:r>
              <a:rPr dirty="0"/>
              <a:t>{</a:t>
            </a:r>
            <a:r>
              <a:rPr i="1" dirty="0">
                <a:latin typeface="Calibri"/>
                <a:cs typeface="Calibri"/>
              </a:rPr>
              <a:t>t</a:t>
            </a:r>
            <a:r>
              <a:rPr i="1" spc="-15" dirty="0">
                <a:latin typeface="Calibri"/>
                <a:cs typeface="Calibri"/>
              </a:rPr>
              <a:t> </a:t>
            </a:r>
            <a:r>
              <a:rPr dirty="0"/>
              <a:t>| </a:t>
            </a:r>
            <a:r>
              <a:rPr i="1" dirty="0">
                <a:latin typeface="Calibri"/>
                <a:cs typeface="Calibri"/>
              </a:rPr>
              <a:t>P </a:t>
            </a:r>
            <a:r>
              <a:rPr dirty="0"/>
              <a:t>(</a:t>
            </a:r>
            <a:r>
              <a:rPr i="1" dirty="0">
                <a:latin typeface="Calibri"/>
                <a:cs typeface="Calibri"/>
              </a:rPr>
              <a:t>t</a:t>
            </a:r>
            <a:r>
              <a:rPr i="1" spc="-10" dirty="0">
                <a:latin typeface="Calibri"/>
                <a:cs typeface="Calibri"/>
              </a:rPr>
              <a:t> </a:t>
            </a:r>
            <a:r>
              <a:rPr dirty="0"/>
              <a:t>)</a:t>
            </a:r>
            <a:r>
              <a:rPr spc="-10" dirty="0"/>
              <a:t> </a:t>
            </a:r>
            <a:r>
              <a:rPr spc="-50" dirty="0"/>
              <a:t>}</a:t>
            </a:r>
          </a:p>
          <a:p>
            <a:pPr marL="240029" indent="-227329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It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set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all</a:t>
            </a:r>
            <a:r>
              <a:rPr spc="-50" dirty="0"/>
              <a:t> </a:t>
            </a:r>
            <a:r>
              <a:rPr dirty="0"/>
              <a:t>tuples</a:t>
            </a:r>
            <a:r>
              <a:rPr spc="-5" dirty="0"/>
              <a:t> </a:t>
            </a:r>
            <a:r>
              <a:rPr i="1" dirty="0">
                <a:latin typeface="Calibri"/>
                <a:cs typeface="Calibri"/>
              </a:rPr>
              <a:t>t</a:t>
            </a:r>
            <a:r>
              <a:rPr i="1" spc="-35" dirty="0">
                <a:latin typeface="Calibri"/>
                <a:cs typeface="Calibri"/>
              </a:rPr>
              <a:t> </a:t>
            </a:r>
            <a:r>
              <a:rPr dirty="0"/>
              <a:t>such</a:t>
            </a:r>
            <a:r>
              <a:rPr spc="-10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spc="-10" dirty="0"/>
              <a:t>predicate</a:t>
            </a:r>
            <a:r>
              <a:rPr spc="-30" dirty="0"/>
              <a:t> </a:t>
            </a:r>
            <a:r>
              <a:rPr i="1" dirty="0">
                <a:latin typeface="Calibri"/>
                <a:cs typeface="Calibri"/>
              </a:rPr>
              <a:t>P</a:t>
            </a:r>
            <a:r>
              <a:rPr i="1" spc="-30" dirty="0">
                <a:latin typeface="Calibri"/>
                <a:cs typeface="Calibri"/>
              </a:rPr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true</a:t>
            </a:r>
            <a:r>
              <a:rPr spc="-2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i="1" spc="-25" dirty="0">
                <a:latin typeface="Calibri"/>
                <a:cs typeface="Calibri"/>
              </a:rPr>
              <a:t>t.</a:t>
            </a:r>
          </a:p>
          <a:p>
            <a:pPr marL="240029" marR="5080" indent="-227329">
              <a:lnSpc>
                <a:spcPts val="269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  <a:tab pos="522605" algn="l"/>
                <a:tab pos="906780" algn="l"/>
                <a:tab pos="1240790" algn="l"/>
                <a:tab pos="2139950" algn="l"/>
                <a:tab pos="3554729" algn="l"/>
                <a:tab pos="3837940" algn="l"/>
                <a:tab pos="4318000" algn="l"/>
                <a:tab pos="4592320" algn="l"/>
                <a:tab pos="5924550" algn="l"/>
                <a:tab pos="6572250" algn="l"/>
                <a:tab pos="7506970" algn="l"/>
                <a:tab pos="7966709" algn="l"/>
                <a:tab pos="8879840" algn="l"/>
                <a:tab pos="9164955" algn="l"/>
              </a:tabLst>
            </a:pPr>
            <a:r>
              <a:rPr i="1" spc="-50" dirty="0">
                <a:latin typeface="Calibri"/>
                <a:cs typeface="Calibri"/>
              </a:rPr>
              <a:t>t</a:t>
            </a:r>
            <a:r>
              <a:rPr i="1" dirty="0">
                <a:latin typeface="Calibri"/>
                <a:cs typeface="Calibri"/>
              </a:rPr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i="1" spc="-10" dirty="0">
                <a:latin typeface="Calibri"/>
                <a:cs typeface="Calibri"/>
              </a:rPr>
              <a:t>tuple</a:t>
            </a:r>
            <a:r>
              <a:rPr i="1" dirty="0">
                <a:latin typeface="Calibri"/>
                <a:cs typeface="Calibri"/>
              </a:rPr>
              <a:t>	</a:t>
            </a:r>
            <a:r>
              <a:rPr i="1" spc="-10" dirty="0">
                <a:latin typeface="Calibri"/>
                <a:cs typeface="Calibri"/>
              </a:rPr>
              <a:t>variable</a:t>
            </a:r>
            <a:r>
              <a:rPr spc="-10" dirty="0"/>
              <a:t>,</a:t>
            </a:r>
            <a:r>
              <a:rPr dirty="0"/>
              <a:t>	</a:t>
            </a:r>
            <a:r>
              <a:rPr i="1" spc="-50" dirty="0">
                <a:latin typeface="Calibri"/>
                <a:cs typeface="Calibri"/>
              </a:rPr>
              <a:t>t</a:t>
            </a:r>
            <a:r>
              <a:rPr i="1" dirty="0">
                <a:latin typeface="Calibri"/>
                <a:cs typeface="Calibri"/>
              </a:rPr>
              <a:t>	</a:t>
            </a:r>
            <a:r>
              <a:rPr spc="-25" dirty="0"/>
              <a:t>[</a:t>
            </a:r>
            <a:r>
              <a:rPr i="1" spc="-25" dirty="0">
                <a:latin typeface="Calibri"/>
                <a:cs typeface="Calibri"/>
              </a:rPr>
              <a:t>A</a:t>
            </a:r>
            <a:r>
              <a:rPr i="1" dirty="0">
                <a:latin typeface="Calibri"/>
                <a:cs typeface="Calibri"/>
              </a:rPr>
              <a:t>	</a:t>
            </a:r>
            <a:r>
              <a:rPr spc="-50" dirty="0"/>
              <a:t>]</a:t>
            </a:r>
            <a:r>
              <a:rPr dirty="0"/>
              <a:t>	</a:t>
            </a:r>
            <a:r>
              <a:rPr spc="-10" dirty="0"/>
              <a:t>denotes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value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tuple</a:t>
            </a:r>
            <a:r>
              <a:rPr dirty="0"/>
              <a:t>	</a:t>
            </a:r>
            <a:r>
              <a:rPr i="1" spc="-50" dirty="0">
                <a:latin typeface="Calibri"/>
                <a:cs typeface="Calibri"/>
              </a:rPr>
              <a:t>t</a:t>
            </a:r>
            <a:r>
              <a:rPr i="1" dirty="0">
                <a:latin typeface="Calibri"/>
                <a:cs typeface="Calibri"/>
              </a:rPr>
              <a:t>	</a:t>
            </a:r>
            <a:r>
              <a:rPr spc="-25" dirty="0"/>
              <a:t>on 	</a:t>
            </a:r>
            <a:r>
              <a:rPr dirty="0"/>
              <a:t>attribute</a:t>
            </a:r>
            <a:r>
              <a:rPr spc="-145" dirty="0"/>
              <a:t> </a:t>
            </a:r>
            <a:r>
              <a:rPr i="1" spc="-25" dirty="0">
                <a:latin typeface="Calibri"/>
                <a:cs typeface="Calibri"/>
              </a:rPr>
              <a:t>A.</a:t>
            </a:r>
          </a:p>
          <a:p>
            <a:pPr marL="240029" indent="-227329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40029" algn="l"/>
              </a:tabLst>
            </a:pPr>
            <a:r>
              <a:rPr i="1" dirty="0">
                <a:latin typeface="Calibri"/>
                <a:cs typeface="Calibri"/>
              </a:rPr>
              <a:t>t</a:t>
            </a:r>
            <a:r>
              <a:rPr i="1" spc="-65" dirty="0">
                <a:latin typeface="Calibri"/>
                <a:cs typeface="Calibri"/>
              </a:rPr>
              <a:t> </a:t>
            </a:r>
            <a:r>
              <a:rPr dirty="0">
                <a:latin typeface="Symbol"/>
                <a:cs typeface="Symbol"/>
              </a:rPr>
              <a:t>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i="1" dirty="0">
                <a:latin typeface="Calibri"/>
                <a:cs typeface="Calibri"/>
              </a:rPr>
              <a:t>r</a:t>
            </a:r>
            <a:r>
              <a:rPr i="1" spc="-50" dirty="0">
                <a:latin typeface="Calibri"/>
                <a:cs typeface="Calibri"/>
              </a:rPr>
              <a:t> </a:t>
            </a:r>
            <a:r>
              <a:rPr dirty="0"/>
              <a:t>denotes</a:t>
            </a:r>
            <a:r>
              <a:rPr spc="-30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tuple</a:t>
            </a:r>
            <a:r>
              <a:rPr spc="-30" dirty="0"/>
              <a:t> </a:t>
            </a:r>
            <a:r>
              <a:rPr i="1" dirty="0">
                <a:latin typeface="Calibri"/>
                <a:cs typeface="Calibri"/>
              </a:rPr>
              <a:t>t</a:t>
            </a:r>
            <a:r>
              <a:rPr i="1" spc="-50" dirty="0">
                <a:latin typeface="Calibri"/>
                <a:cs typeface="Calibri"/>
              </a:rPr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relation</a:t>
            </a:r>
            <a:r>
              <a:rPr spc="-55" dirty="0"/>
              <a:t> </a:t>
            </a:r>
            <a:r>
              <a:rPr i="1" spc="-25" dirty="0">
                <a:latin typeface="Calibri"/>
                <a:cs typeface="Calibri"/>
              </a:rPr>
              <a:t>r.</a:t>
            </a:r>
          </a:p>
          <a:p>
            <a:pPr marL="240029" indent="-227329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240029" algn="l"/>
              </a:tabLst>
            </a:pPr>
            <a:r>
              <a:rPr i="1" dirty="0">
                <a:latin typeface="Calibri"/>
                <a:cs typeface="Calibri"/>
              </a:rPr>
              <a:t>P</a:t>
            </a:r>
            <a:r>
              <a:rPr i="1" spc="-45" dirty="0">
                <a:latin typeface="Calibri"/>
                <a:cs typeface="Calibri"/>
              </a:rPr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i="1" dirty="0">
                <a:latin typeface="Calibri"/>
                <a:cs typeface="Calibri"/>
              </a:rPr>
              <a:t>formula</a:t>
            </a:r>
            <a:r>
              <a:rPr i="1" spc="-30" dirty="0">
                <a:latin typeface="Calibri"/>
                <a:cs typeface="Calibri"/>
              </a:rPr>
              <a:t> </a:t>
            </a:r>
            <a:r>
              <a:rPr dirty="0"/>
              <a:t>similar</a:t>
            </a:r>
            <a:r>
              <a:rPr spc="-4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predicate</a:t>
            </a:r>
            <a:r>
              <a:rPr spc="-40" dirty="0"/>
              <a:t> </a:t>
            </a:r>
            <a:r>
              <a:rPr spc="-10" dirty="0"/>
              <a:t>calculus.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3" name="object 3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1222735" y="635508"/>
            <a:ext cx="329565" cy="1742439"/>
          </a:xfrm>
          <a:custGeom>
            <a:avLst/>
            <a:gdLst/>
            <a:ahLst/>
            <a:cxnLst/>
            <a:rect l="l" t="t" r="r" b="b"/>
            <a:pathLst>
              <a:path w="329565" h="1742439">
                <a:moveTo>
                  <a:pt x="329184" y="0"/>
                </a:moveTo>
                <a:lnTo>
                  <a:pt x="0" y="198627"/>
                </a:lnTo>
                <a:lnTo>
                  <a:pt x="0" y="1741931"/>
                </a:lnTo>
                <a:lnTo>
                  <a:pt x="329184" y="1543303"/>
                </a:lnTo>
                <a:lnTo>
                  <a:pt x="329184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4651" y="635508"/>
            <a:ext cx="10907395" cy="1542415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328930" rIns="0" bIns="0" rtlCol="0">
            <a:spAutoFit/>
          </a:bodyPr>
          <a:lstStyle/>
          <a:p>
            <a:pPr marL="405130">
              <a:lnSpc>
                <a:spcPct val="100000"/>
              </a:lnSpc>
              <a:spcBef>
                <a:spcPts val="2590"/>
              </a:spcBef>
            </a:pPr>
            <a:r>
              <a:rPr sz="4800" spc="-70" dirty="0">
                <a:solidFill>
                  <a:srgbClr val="FFFFFF"/>
                </a:solidFill>
              </a:rPr>
              <a:t>Predicate</a:t>
            </a:r>
            <a:r>
              <a:rPr sz="4800" spc="-180" dirty="0">
                <a:solidFill>
                  <a:srgbClr val="FFFFFF"/>
                </a:solidFill>
              </a:rPr>
              <a:t> </a:t>
            </a:r>
            <a:r>
              <a:rPr sz="4800" spc="-35" dirty="0">
                <a:solidFill>
                  <a:srgbClr val="FFFFFF"/>
                </a:solidFill>
              </a:rPr>
              <a:t>Calculus</a:t>
            </a:r>
            <a:r>
              <a:rPr sz="4800" spc="-165" dirty="0">
                <a:solidFill>
                  <a:srgbClr val="FFFFFF"/>
                </a:solidFill>
              </a:rPr>
              <a:t> </a:t>
            </a:r>
            <a:r>
              <a:rPr sz="4800" spc="-10" dirty="0">
                <a:solidFill>
                  <a:srgbClr val="FFFFFF"/>
                </a:solidFill>
              </a:rPr>
              <a:t>Formula</a:t>
            </a:r>
            <a:endParaRPr sz="480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68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1446657" y="4444060"/>
            <a:ext cx="27622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5" dirty="0">
                <a:latin typeface="Calibri"/>
                <a:cs typeface="Calibri"/>
              </a:rPr>
              <a:t>5.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6657" y="2177356"/>
            <a:ext cx="7907655" cy="3767454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926465" indent="-913765">
              <a:lnSpc>
                <a:spcPct val="100000"/>
              </a:lnSpc>
              <a:spcBef>
                <a:spcPts val="465"/>
              </a:spcBef>
              <a:buAutoNum type="arabicPeriod"/>
              <a:tabLst>
                <a:tab pos="926465" algn="l"/>
              </a:tabLst>
            </a:pPr>
            <a:r>
              <a:rPr sz="2600" dirty="0">
                <a:latin typeface="Calibri"/>
                <a:cs typeface="Calibri"/>
              </a:rPr>
              <a:t>Set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attributes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constants</a:t>
            </a:r>
            <a:endParaRPr sz="2600">
              <a:latin typeface="Calibri"/>
              <a:cs typeface="Calibri"/>
            </a:endParaRPr>
          </a:p>
          <a:p>
            <a:pPr marL="926465" indent="-913765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926465" algn="l"/>
                <a:tab pos="4961255" algn="l"/>
              </a:tabLst>
            </a:pPr>
            <a:r>
              <a:rPr sz="2600" dirty="0">
                <a:latin typeface="Calibri"/>
                <a:cs typeface="Calibri"/>
              </a:rPr>
              <a:t>Set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comparison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operators:</a:t>
            </a:r>
            <a:r>
              <a:rPr sz="2600" dirty="0">
                <a:latin typeface="Calibri"/>
                <a:cs typeface="Calibri"/>
              </a:rPr>
              <a:t>	(e.g.,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Symbol"/>
                <a:cs typeface="Symbol"/>
              </a:rPr>
              <a:t>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Symbol"/>
                <a:cs typeface="Symbol"/>
              </a:rPr>
              <a:t>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Symbol"/>
                <a:cs typeface="Symbol"/>
              </a:rPr>
              <a:t>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Symbol"/>
                <a:cs typeface="Symbol"/>
              </a:rPr>
              <a:t>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Symbol"/>
                <a:cs typeface="Symbol"/>
              </a:rPr>
              <a:t></a:t>
            </a:r>
            <a:r>
              <a:rPr sz="2600" spc="-25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  <a:p>
            <a:pPr marL="926465" indent="-913765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926465" algn="l"/>
                <a:tab pos="3601720" algn="l"/>
              </a:tabLst>
            </a:pPr>
            <a:r>
              <a:rPr sz="2600" dirty="0">
                <a:latin typeface="Calibri"/>
                <a:cs typeface="Calibri"/>
              </a:rPr>
              <a:t>Set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10" dirty="0">
                <a:latin typeface="Calibri"/>
                <a:cs typeface="Calibri"/>
              </a:rPr>
              <a:t> connectives:</a:t>
            </a:r>
            <a:r>
              <a:rPr sz="2600" dirty="0">
                <a:latin typeface="Calibri"/>
                <a:cs typeface="Calibri"/>
              </a:rPr>
              <a:t>	and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</a:t>
            </a:r>
            <a:r>
              <a:rPr sz="2600" dirty="0">
                <a:latin typeface="Symbol"/>
                <a:cs typeface="Symbol"/>
              </a:rPr>
              <a:t></a:t>
            </a:r>
            <a:r>
              <a:rPr sz="2600" dirty="0">
                <a:latin typeface="Calibri"/>
                <a:cs typeface="Calibri"/>
              </a:rPr>
              <a:t>),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 (v)‚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(</a:t>
            </a:r>
            <a:r>
              <a:rPr sz="2600" spc="-25" dirty="0">
                <a:latin typeface="Symbol"/>
                <a:cs typeface="Symbol"/>
              </a:rPr>
              <a:t></a:t>
            </a:r>
            <a:r>
              <a:rPr sz="2600" spc="-25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  <a:p>
            <a:pPr marL="926465" indent="-913765">
              <a:lnSpc>
                <a:spcPct val="100000"/>
              </a:lnSpc>
              <a:spcBef>
                <a:spcPts val="370"/>
              </a:spcBef>
              <a:buAutoNum type="arabicPeriod"/>
              <a:tabLst>
                <a:tab pos="926465" algn="l"/>
              </a:tabLst>
            </a:pPr>
            <a:r>
              <a:rPr sz="2600" dirty="0">
                <a:latin typeface="Calibri"/>
                <a:cs typeface="Calibri"/>
              </a:rPr>
              <a:t>Implication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</a:t>
            </a:r>
            <a:r>
              <a:rPr sz="2600" dirty="0">
                <a:latin typeface="Symbol"/>
                <a:cs typeface="Symbol"/>
              </a:rPr>
              <a:t></a:t>
            </a:r>
            <a:r>
              <a:rPr sz="2600" dirty="0">
                <a:latin typeface="Calibri"/>
                <a:cs typeface="Calibri"/>
              </a:rPr>
              <a:t>):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x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Symbol"/>
                <a:cs typeface="Symbol"/>
              </a:rPr>
              <a:t>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y,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x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true,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true</a:t>
            </a:r>
            <a:endParaRPr sz="2600">
              <a:latin typeface="Calibri"/>
              <a:cs typeface="Calibri"/>
            </a:endParaRPr>
          </a:p>
          <a:p>
            <a:pPr marL="2755900">
              <a:lnSpc>
                <a:spcPct val="100000"/>
              </a:lnSpc>
              <a:spcBef>
                <a:spcPts val="375"/>
              </a:spcBef>
            </a:pPr>
            <a:r>
              <a:rPr sz="2600" i="1" dirty="0">
                <a:latin typeface="Calibri"/>
                <a:cs typeface="Calibri"/>
              </a:rPr>
              <a:t>x</a:t>
            </a:r>
            <a:r>
              <a:rPr sz="2600" i="1" spc="-5" dirty="0">
                <a:latin typeface="Calibri"/>
                <a:cs typeface="Calibri"/>
              </a:rPr>
              <a:t> </a:t>
            </a:r>
            <a:r>
              <a:rPr sz="2600" dirty="0">
                <a:latin typeface="Symbol"/>
                <a:cs typeface="Symbol"/>
              </a:rPr>
              <a:t>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y</a:t>
            </a:r>
            <a:r>
              <a:rPr sz="2600" i="1" spc="-5" dirty="0">
                <a:latin typeface="Calibri"/>
                <a:cs typeface="Calibri"/>
              </a:rPr>
              <a:t> </a:t>
            </a:r>
            <a:r>
              <a:rPr sz="2600" dirty="0">
                <a:latin typeface="Symbol"/>
                <a:cs typeface="Symbol"/>
              </a:rPr>
              <a:t>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Symbol"/>
                <a:cs typeface="Symbol"/>
              </a:rPr>
              <a:t></a:t>
            </a:r>
            <a:r>
              <a:rPr sz="2600" i="1" dirty="0">
                <a:latin typeface="Calibri"/>
                <a:cs typeface="Calibri"/>
              </a:rPr>
              <a:t>x</a:t>
            </a:r>
            <a:r>
              <a:rPr sz="2600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 </a:t>
            </a:r>
            <a:r>
              <a:rPr sz="2600" i="1" spc="-50" dirty="0">
                <a:latin typeface="Calibri"/>
                <a:cs typeface="Calibri"/>
              </a:rPr>
              <a:t>y</a:t>
            </a:r>
            <a:endParaRPr sz="2600">
              <a:latin typeface="Calibri"/>
              <a:cs typeface="Calibri"/>
            </a:endParaRPr>
          </a:p>
          <a:p>
            <a:pPr marL="927100">
              <a:lnSpc>
                <a:spcPts val="3055"/>
              </a:lnSpc>
              <a:spcBef>
                <a:spcPts val="384"/>
              </a:spcBef>
            </a:pPr>
            <a:r>
              <a:rPr sz="2600" dirty="0">
                <a:latin typeface="Calibri"/>
                <a:cs typeface="Calibri"/>
              </a:rPr>
              <a:t>Set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quantifiers:</a:t>
            </a:r>
            <a:endParaRPr sz="2600">
              <a:latin typeface="Calibri"/>
              <a:cs typeface="Calibri"/>
            </a:endParaRPr>
          </a:p>
          <a:p>
            <a:pPr marL="469900">
              <a:lnSpc>
                <a:spcPts val="2745"/>
              </a:lnSpc>
            </a:pPr>
            <a:r>
              <a:rPr sz="2600" dirty="0">
                <a:latin typeface="Segoe UI Symbol"/>
                <a:cs typeface="Segoe UI Symbol"/>
              </a:rPr>
              <a:t>⯈</a:t>
            </a:r>
            <a:r>
              <a:rPr sz="2600" dirty="0">
                <a:latin typeface="Symbol"/>
                <a:cs typeface="Symbol"/>
              </a:rPr>
              <a:t>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t</a:t>
            </a:r>
            <a:r>
              <a:rPr sz="2600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Symbol"/>
                <a:cs typeface="Symbol"/>
              </a:rPr>
              <a:t>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r</a:t>
            </a:r>
            <a:r>
              <a:rPr sz="2600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</a:t>
            </a:r>
            <a:r>
              <a:rPr sz="2600" i="1" dirty="0">
                <a:latin typeface="Calibri"/>
                <a:cs typeface="Calibri"/>
              </a:rPr>
              <a:t>Q</a:t>
            </a:r>
            <a:r>
              <a:rPr sz="2600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</a:t>
            </a:r>
            <a:r>
              <a:rPr sz="2600" i="1" dirty="0">
                <a:latin typeface="Calibri"/>
                <a:cs typeface="Calibri"/>
              </a:rPr>
              <a:t>t</a:t>
            </a:r>
            <a:r>
              <a:rPr sz="2600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))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Symbol"/>
                <a:cs typeface="Symbol"/>
              </a:rPr>
              <a:t>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”there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exists”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tuple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t</a:t>
            </a:r>
            <a:r>
              <a:rPr sz="2600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relation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i="1" spc="-50" dirty="0">
                <a:latin typeface="Calibri"/>
                <a:cs typeface="Calibri"/>
              </a:rPr>
              <a:t>r</a:t>
            </a:r>
            <a:endParaRPr sz="2600">
              <a:latin typeface="Calibri"/>
              <a:cs typeface="Calibri"/>
            </a:endParaRPr>
          </a:p>
          <a:p>
            <a:pPr marL="2489200">
              <a:lnSpc>
                <a:spcPts val="2750"/>
              </a:lnSpc>
            </a:pPr>
            <a:r>
              <a:rPr sz="2600" dirty="0">
                <a:latin typeface="Calibri"/>
                <a:cs typeface="Calibri"/>
              </a:rPr>
              <a:t>such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predicate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Q</a:t>
            </a:r>
            <a:r>
              <a:rPr sz="2600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</a:t>
            </a:r>
            <a:r>
              <a:rPr sz="2600" i="1" dirty="0">
                <a:latin typeface="Calibri"/>
                <a:cs typeface="Calibri"/>
              </a:rPr>
              <a:t>t</a:t>
            </a:r>
            <a:r>
              <a:rPr sz="2600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)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true</a:t>
            </a:r>
            <a:endParaRPr sz="2600">
              <a:latin typeface="Calibri"/>
              <a:cs typeface="Calibri"/>
            </a:endParaRPr>
          </a:p>
          <a:p>
            <a:pPr marL="469900">
              <a:lnSpc>
                <a:spcPts val="3060"/>
              </a:lnSpc>
            </a:pPr>
            <a:r>
              <a:rPr sz="2600" dirty="0">
                <a:latin typeface="Segoe UI Symbol"/>
                <a:cs typeface="Segoe UI Symbol"/>
              </a:rPr>
              <a:t>⯈</a:t>
            </a:r>
            <a:r>
              <a:rPr sz="2600" dirty="0">
                <a:latin typeface="Symbol"/>
                <a:cs typeface="Symbol"/>
              </a:rPr>
              <a:t></a:t>
            </a:r>
            <a:r>
              <a:rPr sz="2600" i="1" dirty="0">
                <a:latin typeface="Calibri"/>
                <a:cs typeface="Calibri"/>
              </a:rPr>
              <a:t>t</a:t>
            </a:r>
            <a:r>
              <a:rPr sz="2600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Symbol"/>
                <a:cs typeface="Symbol"/>
              </a:rPr>
              <a:t>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r</a:t>
            </a:r>
            <a:r>
              <a:rPr sz="2600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</a:t>
            </a:r>
            <a:r>
              <a:rPr sz="2600" i="1" dirty="0">
                <a:latin typeface="Calibri"/>
                <a:cs typeface="Calibri"/>
              </a:rPr>
              <a:t>Q</a:t>
            </a:r>
            <a:r>
              <a:rPr sz="2600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</a:t>
            </a:r>
            <a:r>
              <a:rPr sz="2600" i="1" dirty="0">
                <a:latin typeface="Calibri"/>
                <a:cs typeface="Calibri"/>
              </a:rPr>
              <a:t>t</a:t>
            </a:r>
            <a:r>
              <a:rPr sz="2600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))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Symbol"/>
                <a:cs typeface="Symbol"/>
              </a:rPr>
              <a:t>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Q</a:t>
            </a:r>
            <a:r>
              <a:rPr sz="2600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true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“for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all”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tuples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t</a:t>
            </a:r>
            <a:r>
              <a:rPr sz="2600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relation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i="1" spc="-50" dirty="0">
                <a:latin typeface="Calibri"/>
                <a:cs typeface="Calibri"/>
              </a:rPr>
              <a:t>r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22735" y="635508"/>
            <a:ext cx="329565" cy="1742439"/>
          </a:xfrm>
          <a:custGeom>
            <a:avLst/>
            <a:gdLst/>
            <a:ahLst/>
            <a:cxnLst/>
            <a:rect l="l" t="t" r="r" b="b"/>
            <a:pathLst>
              <a:path w="329565" h="1742439">
                <a:moveTo>
                  <a:pt x="329184" y="0"/>
                </a:moveTo>
                <a:lnTo>
                  <a:pt x="0" y="198627"/>
                </a:lnTo>
                <a:lnTo>
                  <a:pt x="0" y="1741931"/>
                </a:lnTo>
                <a:lnTo>
                  <a:pt x="329184" y="1543303"/>
                </a:lnTo>
                <a:lnTo>
                  <a:pt x="329184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4" name="object 4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4651" y="635508"/>
            <a:ext cx="10907395" cy="1542415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345440" rIns="0" bIns="0" rtlCol="0">
            <a:spAutoFit/>
          </a:bodyPr>
          <a:lstStyle/>
          <a:p>
            <a:pPr marL="800735">
              <a:lnSpc>
                <a:spcPct val="100000"/>
              </a:lnSpc>
              <a:spcBef>
                <a:spcPts val="2720"/>
              </a:spcBef>
            </a:pPr>
            <a:r>
              <a:rPr sz="4800" spc="-30" dirty="0">
                <a:solidFill>
                  <a:srgbClr val="FFFFFF"/>
                </a:solidFill>
              </a:rPr>
              <a:t>Banking</a:t>
            </a:r>
            <a:r>
              <a:rPr sz="4800" spc="-235" dirty="0">
                <a:solidFill>
                  <a:srgbClr val="FFFFFF"/>
                </a:solidFill>
              </a:rPr>
              <a:t> </a:t>
            </a:r>
            <a:r>
              <a:rPr sz="4800" spc="-10" dirty="0">
                <a:solidFill>
                  <a:srgbClr val="FFFFFF"/>
                </a:solidFill>
              </a:rPr>
              <a:t>Example</a:t>
            </a:r>
            <a:endParaRPr sz="4800"/>
          </a:p>
        </p:txBody>
      </p:sp>
      <p:sp>
        <p:nvSpPr>
          <p:cNvPr id="8" name="object 8"/>
          <p:cNvSpPr/>
          <p:nvPr/>
        </p:nvSpPr>
        <p:spPr>
          <a:xfrm>
            <a:off x="1421891" y="2535935"/>
            <a:ext cx="9508490" cy="551815"/>
          </a:xfrm>
          <a:custGeom>
            <a:avLst/>
            <a:gdLst/>
            <a:ahLst/>
            <a:cxnLst/>
            <a:rect l="l" t="t" r="r" b="b"/>
            <a:pathLst>
              <a:path w="9508490" h="551814">
                <a:moveTo>
                  <a:pt x="9416288" y="0"/>
                </a:moveTo>
                <a:lnTo>
                  <a:pt x="91948" y="0"/>
                </a:lnTo>
                <a:lnTo>
                  <a:pt x="56149" y="7223"/>
                </a:lnTo>
                <a:lnTo>
                  <a:pt x="26924" y="26924"/>
                </a:lnTo>
                <a:lnTo>
                  <a:pt x="7223" y="56149"/>
                </a:lnTo>
                <a:lnTo>
                  <a:pt x="0" y="91948"/>
                </a:lnTo>
                <a:lnTo>
                  <a:pt x="0" y="459739"/>
                </a:lnTo>
                <a:lnTo>
                  <a:pt x="7223" y="495538"/>
                </a:lnTo>
                <a:lnTo>
                  <a:pt x="26923" y="524763"/>
                </a:lnTo>
                <a:lnTo>
                  <a:pt x="56149" y="544464"/>
                </a:lnTo>
                <a:lnTo>
                  <a:pt x="91948" y="551688"/>
                </a:lnTo>
                <a:lnTo>
                  <a:pt x="9416288" y="551688"/>
                </a:lnTo>
                <a:lnTo>
                  <a:pt x="9452086" y="544464"/>
                </a:lnTo>
                <a:lnTo>
                  <a:pt x="9481312" y="524763"/>
                </a:lnTo>
                <a:lnTo>
                  <a:pt x="9501012" y="495538"/>
                </a:lnTo>
                <a:lnTo>
                  <a:pt x="9508236" y="459739"/>
                </a:lnTo>
                <a:lnTo>
                  <a:pt x="9508236" y="91948"/>
                </a:lnTo>
                <a:lnTo>
                  <a:pt x="9501012" y="56149"/>
                </a:lnTo>
                <a:lnTo>
                  <a:pt x="9481312" y="26924"/>
                </a:lnTo>
                <a:lnTo>
                  <a:pt x="9452086" y="7223"/>
                </a:lnTo>
                <a:lnTo>
                  <a:pt x="941628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21891" y="3154679"/>
            <a:ext cx="9508490" cy="551815"/>
          </a:xfrm>
          <a:custGeom>
            <a:avLst/>
            <a:gdLst/>
            <a:ahLst/>
            <a:cxnLst/>
            <a:rect l="l" t="t" r="r" b="b"/>
            <a:pathLst>
              <a:path w="9508490" h="551814">
                <a:moveTo>
                  <a:pt x="9416288" y="0"/>
                </a:moveTo>
                <a:lnTo>
                  <a:pt x="91948" y="0"/>
                </a:lnTo>
                <a:lnTo>
                  <a:pt x="56149" y="7223"/>
                </a:lnTo>
                <a:lnTo>
                  <a:pt x="26924" y="26924"/>
                </a:lnTo>
                <a:lnTo>
                  <a:pt x="7223" y="56149"/>
                </a:lnTo>
                <a:lnTo>
                  <a:pt x="0" y="91948"/>
                </a:lnTo>
                <a:lnTo>
                  <a:pt x="0" y="459740"/>
                </a:lnTo>
                <a:lnTo>
                  <a:pt x="7223" y="495538"/>
                </a:lnTo>
                <a:lnTo>
                  <a:pt x="26923" y="524764"/>
                </a:lnTo>
                <a:lnTo>
                  <a:pt x="56149" y="544464"/>
                </a:lnTo>
                <a:lnTo>
                  <a:pt x="91948" y="551688"/>
                </a:lnTo>
                <a:lnTo>
                  <a:pt x="9416288" y="551688"/>
                </a:lnTo>
                <a:lnTo>
                  <a:pt x="9452086" y="544464"/>
                </a:lnTo>
                <a:lnTo>
                  <a:pt x="9481312" y="524764"/>
                </a:lnTo>
                <a:lnTo>
                  <a:pt x="9501012" y="495538"/>
                </a:lnTo>
                <a:lnTo>
                  <a:pt x="9508236" y="459740"/>
                </a:lnTo>
                <a:lnTo>
                  <a:pt x="9508236" y="91948"/>
                </a:lnTo>
                <a:lnTo>
                  <a:pt x="9501012" y="56149"/>
                </a:lnTo>
                <a:lnTo>
                  <a:pt x="9481312" y="26924"/>
                </a:lnTo>
                <a:lnTo>
                  <a:pt x="9452086" y="7223"/>
                </a:lnTo>
                <a:lnTo>
                  <a:pt x="941628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21891" y="3771900"/>
            <a:ext cx="9508490" cy="551815"/>
          </a:xfrm>
          <a:custGeom>
            <a:avLst/>
            <a:gdLst/>
            <a:ahLst/>
            <a:cxnLst/>
            <a:rect l="l" t="t" r="r" b="b"/>
            <a:pathLst>
              <a:path w="9508490" h="551814">
                <a:moveTo>
                  <a:pt x="9416288" y="0"/>
                </a:moveTo>
                <a:lnTo>
                  <a:pt x="91948" y="0"/>
                </a:lnTo>
                <a:lnTo>
                  <a:pt x="56149" y="7223"/>
                </a:lnTo>
                <a:lnTo>
                  <a:pt x="26924" y="26924"/>
                </a:lnTo>
                <a:lnTo>
                  <a:pt x="7223" y="56149"/>
                </a:lnTo>
                <a:lnTo>
                  <a:pt x="0" y="91948"/>
                </a:lnTo>
                <a:lnTo>
                  <a:pt x="0" y="459739"/>
                </a:lnTo>
                <a:lnTo>
                  <a:pt x="7223" y="495538"/>
                </a:lnTo>
                <a:lnTo>
                  <a:pt x="26923" y="524763"/>
                </a:lnTo>
                <a:lnTo>
                  <a:pt x="56149" y="544464"/>
                </a:lnTo>
                <a:lnTo>
                  <a:pt x="91948" y="551688"/>
                </a:lnTo>
                <a:lnTo>
                  <a:pt x="9416288" y="551688"/>
                </a:lnTo>
                <a:lnTo>
                  <a:pt x="9452086" y="544464"/>
                </a:lnTo>
                <a:lnTo>
                  <a:pt x="9481312" y="524763"/>
                </a:lnTo>
                <a:lnTo>
                  <a:pt x="9501012" y="495538"/>
                </a:lnTo>
                <a:lnTo>
                  <a:pt x="9508236" y="459739"/>
                </a:lnTo>
                <a:lnTo>
                  <a:pt x="9508236" y="91948"/>
                </a:lnTo>
                <a:lnTo>
                  <a:pt x="9501012" y="56149"/>
                </a:lnTo>
                <a:lnTo>
                  <a:pt x="9481312" y="26924"/>
                </a:lnTo>
                <a:lnTo>
                  <a:pt x="9452086" y="7223"/>
                </a:lnTo>
                <a:lnTo>
                  <a:pt x="941628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1891" y="4390644"/>
            <a:ext cx="9508490" cy="551815"/>
          </a:xfrm>
          <a:custGeom>
            <a:avLst/>
            <a:gdLst/>
            <a:ahLst/>
            <a:cxnLst/>
            <a:rect l="l" t="t" r="r" b="b"/>
            <a:pathLst>
              <a:path w="9508490" h="551814">
                <a:moveTo>
                  <a:pt x="9416288" y="0"/>
                </a:moveTo>
                <a:lnTo>
                  <a:pt x="91948" y="0"/>
                </a:lnTo>
                <a:lnTo>
                  <a:pt x="56149" y="7223"/>
                </a:lnTo>
                <a:lnTo>
                  <a:pt x="26924" y="26923"/>
                </a:lnTo>
                <a:lnTo>
                  <a:pt x="7223" y="56149"/>
                </a:lnTo>
                <a:lnTo>
                  <a:pt x="0" y="91947"/>
                </a:lnTo>
                <a:lnTo>
                  <a:pt x="0" y="459739"/>
                </a:lnTo>
                <a:lnTo>
                  <a:pt x="7223" y="495538"/>
                </a:lnTo>
                <a:lnTo>
                  <a:pt x="26923" y="524763"/>
                </a:lnTo>
                <a:lnTo>
                  <a:pt x="56149" y="544464"/>
                </a:lnTo>
                <a:lnTo>
                  <a:pt x="91948" y="551687"/>
                </a:lnTo>
                <a:lnTo>
                  <a:pt x="9416288" y="551687"/>
                </a:lnTo>
                <a:lnTo>
                  <a:pt x="9452086" y="544464"/>
                </a:lnTo>
                <a:lnTo>
                  <a:pt x="9481312" y="524763"/>
                </a:lnTo>
                <a:lnTo>
                  <a:pt x="9501012" y="495538"/>
                </a:lnTo>
                <a:lnTo>
                  <a:pt x="9508236" y="459739"/>
                </a:lnTo>
                <a:lnTo>
                  <a:pt x="9508236" y="91947"/>
                </a:lnTo>
                <a:lnTo>
                  <a:pt x="9501012" y="56149"/>
                </a:lnTo>
                <a:lnTo>
                  <a:pt x="9481312" y="26923"/>
                </a:lnTo>
                <a:lnTo>
                  <a:pt x="9452086" y="7223"/>
                </a:lnTo>
                <a:lnTo>
                  <a:pt x="941628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21891" y="5007864"/>
            <a:ext cx="9508490" cy="551815"/>
          </a:xfrm>
          <a:custGeom>
            <a:avLst/>
            <a:gdLst/>
            <a:ahLst/>
            <a:cxnLst/>
            <a:rect l="l" t="t" r="r" b="b"/>
            <a:pathLst>
              <a:path w="9508490" h="551814">
                <a:moveTo>
                  <a:pt x="9416288" y="0"/>
                </a:moveTo>
                <a:lnTo>
                  <a:pt x="91948" y="0"/>
                </a:lnTo>
                <a:lnTo>
                  <a:pt x="56149" y="7223"/>
                </a:lnTo>
                <a:lnTo>
                  <a:pt x="26924" y="26924"/>
                </a:lnTo>
                <a:lnTo>
                  <a:pt x="7223" y="56149"/>
                </a:lnTo>
                <a:lnTo>
                  <a:pt x="0" y="91948"/>
                </a:lnTo>
                <a:lnTo>
                  <a:pt x="0" y="459740"/>
                </a:lnTo>
                <a:lnTo>
                  <a:pt x="7223" y="495538"/>
                </a:lnTo>
                <a:lnTo>
                  <a:pt x="26923" y="524763"/>
                </a:lnTo>
                <a:lnTo>
                  <a:pt x="56149" y="544464"/>
                </a:lnTo>
                <a:lnTo>
                  <a:pt x="91948" y="551688"/>
                </a:lnTo>
                <a:lnTo>
                  <a:pt x="9416288" y="551688"/>
                </a:lnTo>
                <a:lnTo>
                  <a:pt x="9452086" y="544464"/>
                </a:lnTo>
                <a:lnTo>
                  <a:pt x="9481312" y="524764"/>
                </a:lnTo>
                <a:lnTo>
                  <a:pt x="9501012" y="495538"/>
                </a:lnTo>
                <a:lnTo>
                  <a:pt x="9508236" y="459740"/>
                </a:lnTo>
                <a:lnTo>
                  <a:pt x="9508236" y="91948"/>
                </a:lnTo>
                <a:lnTo>
                  <a:pt x="9501012" y="56149"/>
                </a:lnTo>
                <a:lnTo>
                  <a:pt x="9481312" y="26924"/>
                </a:lnTo>
                <a:lnTo>
                  <a:pt x="9452086" y="7223"/>
                </a:lnTo>
                <a:lnTo>
                  <a:pt x="941628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21891" y="5626608"/>
            <a:ext cx="9508490" cy="551815"/>
          </a:xfrm>
          <a:custGeom>
            <a:avLst/>
            <a:gdLst/>
            <a:ahLst/>
            <a:cxnLst/>
            <a:rect l="l" t="t" r="r" b="b"/>
            <a:pathLst>
              <a:path w="9508490" h="551814">
                <a:moveTo>
                  <a:pt x="9416288" y="0"/>
                </a:moveTo>
                <a:lnTo>
                  <a:pt x="91948" y="0"/>
                </a:lnTo>
                <a:lnTo>
                  <a:pt x="56149" y="7226"/>
                </a:lnTo>
                <a:lnTo>
                  <a:pt x="26924" y="26933"/>
                </a:lnTo>
                <a:lnTo>
                  <a:pt x="7223" y="56160"/>
                </a:lnTo>
                <a:lnTo>
                  <a:pt x="0" y="91947"/>
                </a:lnTo>
                <a:lnTo>
                  <a:pt x="0" y="459739"/>
                </a:lnTo>
                <a:lnTo>
                  <a:pt x="7223" y="495527"/>
                </a:lnTo>
                <a:lnTo>
                  <a:pt x="26923" y="524754"/>
                </a:lnTo>
                <a:lnTo>
                  <a:pt x="56149" y="544461"/>
                </a:lnTo>
                <a:lnTo>
                  <a:pt x="91948" y="551687"/>
                </a:lnTo>
                <a:lnTo>
                  <a:pt x="9416288" y="551687"/>
                </a:lnTo>
                <a:lnTo>
                  <a:pt x="9452086" y="544461"/>
                </a:lnTo>
                <a:lnTo>
                  <a:pt x="9481312" y="524754"/>
                </a:lnTo>
                <a:lnTo>
                  <a:pt x="9501012" y="495527"/>
                </a:lnTo>
                <a:lnTo>
                  <a:pt x="9508236" y="459739"/>
                </a:lnTo>
                <a:lnTo>
                  <a:pt x="9508236" y="91947"/>
                </a:lnTo>
                <a:lnTo>
                  <a:pt x="9501012" y="56160"/>
                </a:lnTo>
                <a:lnTo>
                  <a:pt x="9481312" y="26933"/>
                </a:lnTo>
                <a:lnTo>
                  <a:pt x="9452086" y="7226"/>
                </a:lnTo>
                <a:lnTo>
                  <a:pt x="941628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24761" y="2589657"/>
            <a:ext cx="7206615" cy="3467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i="1" dirty="0">
                <a:solidFill>
                  <a:srgbClr val="FFFFFF"/>
                </a:solidFill>
                <a:latin typeface="Calibri"/>
                <a:cs typeface="Calibri"/>
              </a:rPr>
              <a:t>branch</a:t>
            </a:r>
            <a:r>
              <a:rPr sz="2300" i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FFFFFF"/>
                </a:solidFill>
                <a:latin typeface="Calibri"/>
                <a:cs typeface="Calibri"/>
              </a:rPr>
              <a:t>(branch_name,</a:t>
            </a:r>
            <a:r>
              <a:rPr sz="2300" i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20" dirty="0">
                <a:solidFill>
                  <a:srgbClr val="FFFFFF"/>
                </a:solidFill>
                <a:latin typeface="Calibri"/>
                <a:cs typeface="Calibri"/>
              </a:rPr>
              <a:t>branch_city,</a:t>
            </a:r>
            <a:r>
              <a:rPr sz="2300" i="1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FFFFFF"/>
                </a:solidFill>
                <a:latin typeface="Calibri"/>
                <a:cs typeface="Calibri"/>
              </a:rPr>
              <a:t>assets</a:t>
            </a:r>
            <a:r>
              <a:rPr sz="2300" i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5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2300">
              <a:latin typeface="Calibri"/>
              <a:cs typeface="Calibri"/>
            </a:endParaRPr>
          </a:p>
          <a:p>
            <a:pPr marL="12700" marR="5080">
              <a:lnSpc>
                <a:spcPct val="176300"/>
              </a:lnSpc>
            </a:pPr>
            <a:r>
              <a:rPr sz="2300" i="1" spc="-1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23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FFFFFF"/>
                </a:solidFill>
                <a:latin typeface="Calibri"/>
                <a:cs typeface="Calibri"/>
              </a:rPr>
              <a:t>(customer_name,</a:t>
            </a:r>
            <a:r>
              <a:rPr sz="23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20" dirty="0">
                <a:solidFill>
                  <a:srgbClr val="FFFFFF"/>
                </a:solidFill>
                <a:latin typeface="Calibri"/>
                <a:cs typeface="Calibri"/>
              </a:rPr>
              <a:t>customer_street,</a:t>
            </a:r>
            <a:r>
              <a:rPr sz="23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FFFFFF"/>
                </a:solidFill>
                <a:latin typeface="Calibri"/>
                <a:cs typeface="Calibri"/>
              </a:rPr>
              <a:t>customer_city</a:t>
            </a:r>
            <a:r>
              <a:rPr sz="23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50" dirty="0">
                <a:solidFill>
                  <a:srgbClr val="FFFFFF"/>
                </a:solidFill>
                <a:latin typeface="Calibri"/>
                <a:cs typeface="Calibri"/>
              </a:rPr>
              <a:t>) </a:t>
            </a:r>
            <a:r>
              <a:rPr sz="2300" i="1" spc="-1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300" i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25" dirty="0">
                <a:solidFill>
                  <a:srgbClr val="FFFFFF"/>
                </a:solidFill>
                <a:latin typeface="Calibri"/>
                <a:cs typeface="Calibri"/>
              </a:rPr>
              <a:t>(account_number,</a:t>
            </a:r>
            <a:r>
              <a:rPr sz="2300" i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FFFFFF"/>
                </a:solidFill>
                <a:latin typeface="Calibri"/>
                <a:cs typeface="Calibri"/>
              </a:rPr>
              <a:t>branch_name,</a:t>
            </a:r>
            <a:r>
              <a:rPr sz="2300" i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FFFFFF"/>
                </a:solidFill>
                <a:latin typeface="Calibri"/>
                <a:cs typeface="Calibri"/>
              </a:rPr>
              <a:t>balance</a:t>
            </a:r>
            <a:r>
              <a:rPr sz="2300" i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5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2300">
              <a:latin typeface="Calibri"/>
              <a:cs typeface="Calibri"/>
            </a:endParaRPr>
          </a:p>
          <a:p>
            <a:pPr marL="12700" marR="1706245">
              <a:lnSpc>
                <a:spcPct val="176300"/>
              </a:lnSpc>
            </a:pPr>
            <a:r>
              <a:rPr sz="2300" i="1" dirty="0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sz="2300" i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20" dirty="0">
                <a:solidFill>
                  <a:srgbClr val="FFFFFF"/>
                </a:solidFill>
                <a:latin typeface="Calibri"/>
                <a:cs typeface="Calibri"/>
              </a:rPr>
              <a:t>(loan_number,</a:t>
            </a:r>
            <a:r>
              <a:rPr sz="2300" i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FFFFFF"/>
                </a:solidFill>
                <a:latin typeface="Calibri"/>
                <a:cs typeface="Calibri"/>
              </a:rPr>
              <a:t>branch_name,</a:t>
            </a:r>
            <a:r>
              <a:rPr sz="2300" i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FFFFFF"/>
                </a:solidFill>
                <a:latin typeface="Calibri"/>
                <a:cs typeface="Calibri"/>
              </a:rPr>
              <a:t>amount</a:t>
            </a:r>
            <a:r>
              <a:rPr sz="2300" i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50" dirty="0">
                <a:solidFill>
                  <a:srgbClr val="FFFFFF"/>
                </a:solidFill>
                <a:latin typeface="Calibri"/>
                <a:cs typeface="Calibri"/>
              </a:rPr>
              <a:t>) </a:t>
            </a:r>
            <a:r>
              <a:rPr sz="2300" i="1" dirty="0">
                <a:solidFill>
                  <a:srgbClr val="FFFFFF"/>
                </a:solidFill>
                <a:latin typeface="Calibri"/>
                <a:cs typeface="Calibri"/>
              </a:rPr>
              <a:t>depositor</a:t>
            </a:r>
            <a:r>
              <a:rPr sz="2300" i="1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FFFFFF"/>
                </a:solidFill>
                <a:latin typeface="Calibri"/>
                <a:cs typeface="Calibri"/>
              </a:rPr>
              <a:t>(customer_name,</a:t>
            </a:r>
            <a:r>
              <a:rPr sz="2300" i="1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FFFFFF"/>
                </a:solidFill>
                <a:latin typeface="Calibri"/>
                <a:cs typeface="Calibri"/>
              </a:rPr>
              <a:t>account_number</a:t>
            </a:r>
            <a:r>
              <a:rPr sz="2300" i="1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50" dirty="0">
                <a:solidFill>
                  <a:srgbClr val="FFFFFF"/>
                </a:solidFill>
                <a:latin typeface="Calibri"/>
                <a:cs typeface="Calibri"/>
              </a:rPr>
              <a:t>) </a:t>
            </a:r>
            <a:r>
              <a:rPr sz="2300" i="1" dirty="0">
                <a:solidFill>
                  <a:srgbClr val="FFFFFF"/>
                </a:solidFill>
                <a:latin typeface="Calibri"/>
                <a:cs typeface="Calibri"/>
              </a:rPr>
              <a:t>borrower</a:t>
            </a:r>
            <a:r>
              <a:rPr sz="23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FFFFFF"/>
                </a:solidFill>
                <a:latin typeface="Calibri"/>
                <a:cs typeface="Calibri"/>
              </a:rPr>
              <a:t>(customer_name,</a:t>
            </a:r>
            <a:r>
              <a:rPr sz="23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FFFFFF"/>
                </a:solidFill>
                <a:latin typeface="Calibri"/>
                <a:cs typeface="Calibri"/>
              </a:rPr>
              <a:t>loan_number</a:t>
            </a:r>
            <a:r>
              <a:rPr sz="2300" i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5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3" name="object 3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1222735" y="635508"/>
            <a:ext cx="329565" cy="1742439"/>
          </a:xfrm>
          <a:custGeom>
            <a:avLst/>
            <a:gdLst/>
            <a:ahLst/>
            <a:cxnLst/>
            <a:rect l="l" t="t" r="r" b="b"/>
            <a:pathLst>
              <a:path w="329565" h="1742439">
                <a:moveTo>
                  <a:pt x="329184" y="0"/>
                </a:moveTo>
                <a:lnTo>
                  <a:pt x="0" y="198627"/>
                </a:lnTo>
                <a:lnTo>
                  <a:pt x="0" y="1741931"/>
                </a:lnTo>
                <a:lnTo>
                  <a:pt x="329184" y="1543303"/>
                </a:lnTo>
                <a:lnTo>
                  <a:pt x="329184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4651" y="635508"/>
            <a:ext cx="10907395" cy="1542415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328930" rIns="0" bIns="0" rtlCol="0">
            <a:spAutoFit/>
          </a:bodyPr>
          <a:lstStyle/>
          <a:p>
            <a:pPr marL="405130">
              <a:lnSpc>
                <a:spcPct val="100000"/>
              </a:lnSpc>
              <a:spcBef>
                <a:spcPts val="2590"/>
              </a:spcBef>
            </a:pPr>
            <a:r>
              <a:rPr sz="4800" spc="-60" dirty="0">
                <a:solidFill>
                  <a:srgbClr val="FFFFFF"/>
                </a:solidFill>
              </a:rPr>
              <a:t>Example</a:t>
            </a:r>
            <a:r>
              <a:rPr sz="4800" spc="-210" dirty="0">
                <a:solidFill>
                  <a:srgbClr val="FFFFFF"/>
                </a:solidFill>
              </a:rPr>
              <a:t> </a:t>
            </a:r>
            <a:r>
              <a:rPr sz="4800" spc="-10" dirty="0">
                <a:solidFill>
                  <a:srgbClr val="FFFFFF"/>
                </a:solidFill>
              </a:rPr>
              <a:t>Queries</a:t>
            </a:r>
            <a:endParaRPr sz="48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1446657" y="2489454"/>
            <a:ext cx="9225915" cy="367537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492759">
              <a:lnSpc>
                <a:spcPts val="3020"/>
              </a:lnSpc>
              <a:spcBef>
                <a:spcPts val="480"/>
              </a:spcBef>
            </a:pPr>
            <a:r>
              <a:rPr sz="2800" dirty="0">
                <a:latin typeface="Calibri"/>
                <a:cs typeface="Calibri"/>
              </a:rPr>
              <a:t>Qn.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loan_number,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branch_name,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amount</a:t>
            </a:r>
            <a:r>
              <a:rPr sz="2800" i="1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loans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$1200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5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|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28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loan</a:t>
            </a:r>
            <a:r>
              <a:rPr sz="2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sz="28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amount</a:t>
            </a:r>
            <a:r>
              <a:rPr sz="28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]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</a:t>
            </a:r>
            <a:r>
              <a:rPr sz="28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1200}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2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020"/>
              </a:lnSpc>
            </a:pPr>
            <a:r>
              <a:rPr sz="2800" dirty="0">
                <a:latin typeface="Calibri"/>
                <a:cs typeface="Calibri"/>
              </a:rPr>
              <a:t>Qn.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2)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amount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greater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$1200</a:t>
            </a:r>
            <a:endParaRPr sz="2800">
              <a:latin typeface="Calibri"/>
              <a:cs typeface="Calibri"/>
            </a:endParaRPr>
          </a:p>
          <a:p>
            <a:pPr marL="321945" indent="-309245">
              <a:lnSpc>
                <a:spcPts val="3360"/>
              </a:lnSpc>
              <a:spcBef>
                <a:spcPts val="685"/>
              </a:spcBef>
              <a:buClr>
                <a:srgbClr val="44536A"/>
              </a:buClr>
              <a:buSzPct val="89285"/>
              <a:buFont typeface="Arial MT"/>
              <a:buChar char="•"/>
              <a:tabLst>
                <a:tab pos="321945" algn="l"/>
              </a:tabLst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8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|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</a:t>
            </a:r>
            <a:r>
              <a:rPr sz="28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8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295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loan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loan_number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]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=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loan_number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]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sz="28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spc="-5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80"/>
              </a:lnSpc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amount</a:t>
            </a:r>
            <a:r>
              <a:rPr sz="28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]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</a:t>
            </a:r>
            <a:r>
              <a:rPr sz="28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1200)}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71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1755394" y="92456"/>
            <a:ext cx="8370570" cy="64484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864235">
              <a:lnSpc>
                <a:spcPts val="2500"/>
              </a:lnSpc>
              <a:spcBef>
                <a:spcPts val="700"/>
              </a:spcBef>
            </a:pPr>
            <a:r>
              <a:rPr sz="2600" dirty="0">
                <a:latin typeface="Calibri"/>
                <a:cs typeface="Calibri"/>
              </a:rPr>
              <a:t>Qn.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3)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Find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names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customers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having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loan,</a:t>
            </a:r>
            <a:r>
              <a:rPr sz="2600" spc="-25" dirty="0">
                <a:latin typeface="Calibri"/>
                <a:cs typeface="Calibri"/>
              </a:rPr>
              <a:t> an </a:t>
            </a:r>
            <a:r>
              <a:rPr sz="2600" dirty="0">
                <a:latin typeface="Calibri"/>
                <a:cs typeface="Calibri"/>
              </a:rPr>
              <a:t>account,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both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bank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81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6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|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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6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26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borrower</a:t>
            </a:r>
            <a:r>
              <a:rPr sz="26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600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customer_name</a:t>
            </a:r>
            <a:r>
              <a:rPr sz="26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]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600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customer_name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495"/>
              </a:lnSpc>
            </a:pPr>
            <a:r>
              <a:rPr sz="2600" spc="-25" dirty="0">
                <a:solidFill>
                  <a:srgbClr val="FF0000"/>
                </a:solidFill>
                <a:latin typeface="Calibri"/>
                <a:cs typeface="Calibri"/>
              </a:rPr>
              <a:t>])</a:t>
            </a:r>
            <a:endParaRPr sz="2600">
              <a:latin typeface="Calibri"/>
              <a:cs typeface="Calibri"/>
            </a:endParaRPr>
          </a:p>
          <a:p>
            <a:pPr marL="614680">
              <a:lnSpc>
                <a:spcPts val="2495"/>
              </a:lnSpc>
            </a:pP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6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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26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26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depositor</a:t>
            </a:r>
            <a:r>
              <a:rPr sz="26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customer_name</a:t>
            </a:r>
            <a:r>
              <a:rPr sz="26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]</a:t>
            </a:r>
            <a:r>
              <a:rPr sz="2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-50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810"/>
              </a:lnSpc>
            </a:pP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customer_name</a:t>
            </a:r>
            <a:r>
              <a:rPr sz="2600" i="1" spc="-1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FF0000"/>
                </a:solidFill>
                <a:latin typeface="Calibri"/>
                <a:cs typeface="Calibri"/>
              </a:rPr>
              <a:t>])</a:t>
            </a:r>
            <a:endParaRPr sz="2600">
              <a:latin typeface="Calibri"/>
              <a:cs typeface="Calibri"/>
            </a:endParaRPr>
          </a:p>
          <a:p>
            <a:pPr marL="12700" marR="127635">
              <a:lnSpc>
                <a:spcPct val="80000"/>
              </a:lnSpc>
              <a:spcBef>
                <a:spcPts val="1015"/>
              </a:spcBef>
            </a:pPr>
            <a:r>
              <a:rPr sz="2600" dirty="0">
                <a:latin typeface="Calibri"/>
                <a:cs typeface="Calibri"/>
              </a:rPr>
              <a:t>Q.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4)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names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customers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have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loan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 </a:t>
            </a:r>
            <a:r>
              <a:rPr sz="2600" dirty="0">
                <a:latin typeface="Calibri"/>
                <a:cs typeface="Calibri"/>
              </a:rPr>
              <a:t>account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bank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810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6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|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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6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26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borrower</a:t>
            </a:r>
            <a:r>
              <a:rPr sz="26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customer_name</a:t>
            </a:r>
            <a:r>
              <a:rPr sz="26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]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customer_name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495"/>
              </a:lnSpc>
            </a:pPr>
            <a:r>
              <a:rPr sz="2600" spc="-25" dirty="0">
                <a:solidFill>
                  <a:srgbClr val="FF0000"/>
                </a:solidFill>
                <a:latin typeface="Calibri"/>
                <a:cs typeface="Calibri"/>
              </a:rPr>
              <a:t>])</a:t>
            </a:r>
            <a:endParaRPr sz="2600">
              <a:latin typeface="Calibri"/>
              <a:cs typeface="Calibri"/>
            </a:endParaRPr>
          </a:p>
          <a:p>
            <a:pPr marL="688975">
              <a:lnSpc>
                <a:spcPts val="2495"/>
              </a:lnSpc>
            </a:pP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sz="26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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26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26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depositor</a:t>
            </a:r>
            <a:r>
              <a:rPr sz="26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customer_name</a:t>
            </a:r>
            <a:r>
              <a:rPr sz="26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]</a:t>
            </a:r>
            <a:r>
              <a:rPr sz="2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= </a:t>
            </a:r>
            <a:r>
              <a:rPr sz="2600" i="1" spc="-50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810"/>
              </a:lnSpc>
            </a:pP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customer_name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]</a:t>
            </a:r>
            <a:r>
              <a:rPr sz="2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50" dirty="0">
                <a:solidFill>
                  <a:srgbClr val="FF0000"/>
                </a:solidFill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  <a:p>
            <a:pPr marL="12700" marR="661670">
              <a:lnSpc>
                <a:spcPts val="2500"/>
              </a:lnSpc>
              <a:spcBef>
                <a:spcPts val="969"/>
              </a:spcBef>
            </a:pPr>
            <a:r>
              <a:rPr sz="2600" dirty="0">
                <a:latin typeface="Calibri"/>
                <a:cs typeface="Calibri"/>
              </a:rPr>
              <a:t>Q.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5)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Find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names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customers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having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loan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-25" dirty="0">
                <a:latin typeface="Calibri"/>
                <a:cs typeface="Calibri"/>
              </a:rPr>
              <a:t> the </a:t>
            </a:r>
            <a:r>
              <a:rPr sz="2600" dirty="0">
                <a:latin typeface="Calibri"/>
                <a:cs typeface="Calibri"/>
              </a:rPr>
              <a:t>Perryridge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branch.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810"/>
              </a:lnSpc>
              <a:spcBef>
                <a:spcPts val="4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6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|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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6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26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borrower</a:t>
            </a:r>
            <a:r>
              <a:rPr sz="26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customer_name</a:t>
            </a:r>
            <a:r>
              <a:rPr sz="26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]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600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customer_name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495"/>
              </a:lnSpc>
            </a:pPr>
            <a:r>
              <a:rPr sz="2600" spc="-50" dirty="0">
                <a:solidFill>
                  <a:srgbClr val="FF0000"/>
                </a:solidFill>
                <a:latin typeface="Calibri"/>
                <a:cs typeface="Calibri"/>
              </a:rPr>
              <a:t>]</a:t>
            </a:r>
            <a:endParaRPr sz="2600">
              <a:latin typeface="Calibri"/>
              <a:cs typeface="Calibri"/>
            </a:endParaRPr>
          </a:p>
          <a:p>
            <a:pPr marL="614680">
              <a:lnSpc>
                <a:spcPts val="2495"/>
              </a:lnSpc>
            </a:pP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sz="2600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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26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26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loan</a:t>
            </a:r>
            <a:r>
              <a:rPr sz="26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26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branch_name</a:t>
            </a:r>
            <a:r>
              <a:rPr sz="26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]</a:t>
            </a:r>
            <a:r>
              <a:rPr sz="2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“Perryridge”</a:t>
            </a:r>
            <a:endParaRPr sz="2600">
              <a:latin typeface="Calibri"/>
              <a:cs typeface="Calibri"/>
            </a:endParaRPr>
          </a:p>
          <a:p>
            <a:pPr marL="2106930">
              <a:lnSpc>
                <a:spcPts val="2810"/>
              </a:lnSpc>
              <a:tabLst>
                <a:tab pos="2454275" algn="l"/>
              </a:tabLst>
            </a:pPr>
            <a:r>
              <a:rPr sz="2600" spc="-50" dirty="0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loan_number</a:t>
            </a:r>
            <a:r>
              <a:rPr sz="26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]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6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loan_number</a:t>
            </a:r>
            <a:r>
              <a:rPr sz="26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FF0000"/>
                </a:solidFill>
                <a:latin typeface="Calibri"/>
                <a:cs typeface="Calibri"/>
              </a:rPr>
              <a:t>]))}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42232" y="632459"/>
            <a:ext cx="759460" cy="5979160"/>
            <a:chOff x="4142232" y="632459"/>
            <a:chExt cx="759460" cy="5979160"/>
          </a:xfrm>
        </p:grpSpPr>
        <p:sp>
          <p:nvSpPr>
            <p:cNvPr id="3" name="object 3"/>
            <p:cNvSpPr/>
            <p:nvPr/>
          </p:nvSpPr>
          <p:spPr>
            <a:xfrm>
              <a:off x="4142232" y="900684"/>
              <a:ext cx="759460" cy="5710555"/>
            </a:xfrm>
            <a:custGeom>
              <a:avLst/>
              <a:gdLst/>
              <a:ahLst/>
              <a:cxnLst/>
              <a:rect l="l" t="t" r="r" b="b"/>
              <a:pathLst>
                <a:path w="759460" h="5710555">
                  <a:moveTo>
                    <a:pt x="0" y="0"/>
                  </a:moveTo>
                  <a:lnTo>
                    <a:pt x="0" y="5243703"/>
                  </a:lnTo>
                  <a:lnTo>
                    <a:pt x="758951" y="5710428"/>
                  </a:lnTo>
                  <a:lnTo>
                    <a:pt x="758951" y="466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3756" y="632459"/>
              <a:ext cx="483234" cy="5521960"/>
            </a:xfrm>
            <a:custGeom>
              <a:avLst/>
              <a:gdLst/>
              <a:ahLst/>
              <a:cxnLst/>
              <a:rect l="l" t="t" r="r" b="b"/>
              <a:pathLst>
                <a:path w="483235" h="5521960">
                  <a:moveTo>
                    <a:pt x="483108" y="0"/>
                  </a:moveTo>
                  <a:lnTo>
                    <a:pt x="0" y="259968"/>
                  </a:lnTo>
                  <a:lnTo>
                    <a:pt x="0" y="5521452"/>
                  </a:lnTo>
                  <a:lnTo>
                    <a:pt x="483108" y="5259197"/>
                  </a:lnTo>
                  <a:lnTo>
                    <a:pt x="483108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3983" y="637031"/>
            <a:ext cx="4000500" cy="5257800"/>
          </a:xfrm>
          <a:prstGeom prst="rect">
            <a:avLst/>
          </a:prstGeom>
          <a:solidFill>
            <a:srgbClr val="1F386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0"/>
              </a:spcBef>
            </a:pPr>
            <a:endParaRPr sz="4800">
              <a:latin typeface="Times New Roman"/>
              <a:cs typeface="Times New Roman"/>
            </a:endParaRPr>
          </a:p>
          <a:p>
            <a:pPr marL="392430" marR="1217930">
              <a:lnSpc>
                <a:spcPct val="90000"/>
              </a:lnSpc>
            </a:pP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Domain </a:t>
            </a:r>
            <a:r>
              <a:rPr sz="4800" spc="-55" dirty="0">
                <a:solidFill>
                  <a:srgbClr val="FFFFFF"/>
                </a:solidFill>
                <a:latin typeface="Calibri Light"/>
                <a:cs typeface="Calibri Light"/>
              </a:rPr>
              <a:t>Relational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Calculus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01184" y="1351788"/>
            <a:ext cx="6657340" cy="5252085"/>
          </a:xfrm>
          <a:custGeom>
            <a:avLst/>
            <a:gdLst/>
            <a:ahLst/>
            <a:cxnLst/>
            <a:rect l="l" t="t" r="r" b="b"/>
            <a:pathLst>
              <a:path w="6657340" h="5252084">
                <a:moveTo>
                  <a:pt x="6656831" y="0"/>
                </a:moveTo>
                <a:lnTo>
                  <a:pt x="0" y="0"/>
                </a:lnTo>
                <a:lnTo>
                  <a:pt x="0" y="5251704"/>
                </a:lnTo>
                <a:lnTo>
                  <a:pt x="6656831" y="5251704"/>
                </a:lnTo>
                <a:lnTo>
                  <a:pt x="6656831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01234" y="1644142"/>
            <a:ext cx="4119879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  <a:tab pos="894715" algn="l"/>
                <a:tab pos="3327400" algn="l"/>
              </a:tabLst>
            </a:pPr>
            <a:r>
              <a:rPr sz="2600" spc="-50" dirty="0">
                <a:solidFill>
                  <a:srgbClr val="FDFFFF"/>
                </a:solidFill>
                <a:latin typeface="Calibri"/>
                <a:cs typeface="Calibri"/>
              </a:rPr>
              <a:t>A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	</a:t>
            </a:r>
            <a:r>
              <a:rPr sz="2600" spc="-10" dirty="0">
                <a:solidFill>
                  <a:srgbClr val="FDFFFF"/>
                </a:solidFill>
                <a:latin typeface="Calibri"/>
                <a:cs typeface="Calibri"/>
              </a:rPr>
              <a:t>nonprocedural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	</a:t>
            </a:r>
            <a:r>
              <a:rPr sz="2600" spc="-10" dirty="0">
                <a:solidFill>
                  <a:srgbClr val="FDFFFF"/>
                </a:solidFill>
                <a:latin typeface="Calibri"/>
                <a:cs typeface="Calibri"/>
              </a:rPr>
              <a:t>query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29834" y="1644142"/>
            <a:ext cx="5565140" cy="7397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 marR="5080" indent="4325620">
              <a:lnSpc>
                <a:spcPct val="80000"/>
              </a:lnSpc>
              <a:spcBef>
                <a:spcPts val="725"/>
              </a:spcBef>
              <a:tabLst>
                <a:tab pos="1740535" algn="l"/>
                <a:tab pos="2309495" algn="l"/>
                <a:tab pos="3487420" algn="l"/>
                <a:tab pos="4088129" algn="l"/>
                <a:tab pos="4855210" algn="l"/>
              </a:tabLst>
            </a:pPr>
            <a:r>
              <a:rPr sz="2600" spc="-10" dirty="0">
                <a:solidFill>
                  <a:srgbClr val="FDFFFF"/>
                </a:solidFill>
                <a:latin typeface="Calibri"/>
                <a:cs typeface="Calibri"/>
              </a:rPr>
              <a:t>language equivalent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	</a:t>
            </a:r>
            <a:r>
              <a:rPr sz="2600" spc="-25" dirty="0">
                <a:solidFill>
                  <a:srgbClr val="FDFFFF"/>
                </a:solidFill>
                <a:latin typeface="Calibri"/>
                <a:cs typeface="Calibri"/>
              </a:rPr>
              <a:t>in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	</a:t>
            </a:r>
            <a:r>
              <a:rPr sz="2600" spc="-20" dirty="0">
                <a:solidFill>
                  <a:srgbClr val="FDFFFF"/>
                </a:solidFill>
                <a:latin typeface="Calibri"/>
                <a:cs typeface="Calibri"/>
              </a:rPr>
              <a:t>power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	</a:t>
            </a:r>
            <a:r>
              <a:rPr sz="2600" spc="-25" dirty="0">
                <a:solidFill>
                  <a:srgbClr val="FDFFFF"/>
                </a:solidFill>
                <a:latin typeface="Calibri"/>
                <a:cs typeface="Calibri"/>
              </a:rPr>
              <a:t>to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	</a:t>
            </a:r>
            <a:r>
              <a:rPr sz="2600" spc="-25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	</a:t>
            </a:r>
            <a:r>
              <a:rPr sz="2600" spc="-10" dirty="0">
                <a:solidFill>
                  <a:srgbClr val="FDFFFF"/>
                </a:solidFill>
                <a:latin typeface="Calibri"/>
                <a:cs typeface="Calibri"/>
              </a:rPr>
              <a:t>tuple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29834" y="2278126"/>
            <a:ext cx="252666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relational</a:t>
            </a:r>
            <a:r>
              <a:rPr sz="2600" spc="-12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DFFFF"/>
                </a:solidFill>
                <a:latin typeface="Calibri"/>
                <a:cs typeface="Calibri"/>
              </a:rPr>
              <a:t>calculus.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01234" y="2721991"/>
            <a:ext cx="56102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Each</a:t>
            </a:r>
            <a:r>
              <a:rPr sz="2600" spc="-2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query</a:t>
            </a:r>
            <a:r>
              <a:rPr sz="2600" spc="-4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is</a:t>
            </a:r>
            <a:r>
              <a:rPr sz="2600" spc="-2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an</a:t>
            </a:r>
            <a:r>
              <a:rPr sz="2600" spc="-3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expression</a:t>
            </a:r>
            <a:r>
              <a:rPr sz="2600" spc="-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of</a:t>
            </a:r>
            <a:r>
              <a:rPr sz="2600" spc="-2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2600" spc="-3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DFFFF"/>
                </a:solidFill>
                <a:latin typeface="Calibri"/>
                <a:cs typeface="Calibri"/>
              </a:rPr>
              <a:t>form: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04434" y="3610483"/>
            <a:ext cx="5518150" cy="213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{</a:t>
            </a:r>
            <a:r>
              <a:rPr sz="2600" spc="-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DFFFF"/>
                </a:solidFill>
                <a:latin typeface="Symbol"/>
                <a:cs typeface="Symbol"/>
              </a:rPr>
              <a:t></a:t>
            </a:r>
            <a:r>
              <a:rPr sz="2600" spc="-85" dirty="0">
                <a:solidFill>
                  <a:srgbClr val="FDFFFF"/>
                </a:solidFill>
                <a:latin typeface="Times New Roman"/>
                <a:cs typeface="Times New Roman"/>
              </a:rPr>
              <a:t> </a:t>
            </a:r>
            <a:r>
              <a:rPr sz="2600" i="1" dirty="0">
                <a:solidFill>
                  <a:srgbClr val="FDFFFF"/>
                </a:solidFill>
                <a:latin typeface="Calibri"/>
                <a:cs typeface="Calibri"/>
              </a:rPr>
              <a:t>x</a:t>
            </a:r>
            <a:r>
              <a:rPr sz="2550" baseline="-21241" dirty="0">
                <a:solidFill>
                  <a:srgbClr val="FDFFFF"/>
                </a:solidFill>
                <a:latin typeface="Calibri"/>
                <a:cs typeface="Calibri"/>
              </a:rPr>
              <a:t>1</a:t>
            </a:r>
            <a:r>
              <a:rPr sz="2600" i="1" dirty="0">
                <a:solidFill>
                  <a:srgbClr val="FDFFFF"/>
                </a:solidFill>
                <a:latin typeface="Calibri"/>
                <a:cs typeface="Calibri"/>
              </a:rPr>
              <a:t>,</a:t>
            </a:r>
            <a:r>
              <a:rPr sz="2600" i="1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DFFFF"/>
                </a:solidFill>
                <a:latin typeface="Calibri"/>
                <a:cs typeface="Calibri"/>
              </a:rPr>
              <a:t>x</a:t>
            </a:r>
            <a:r>
              <a:rPr sz="2550" baseline="-21241" dirty="0">
                <a:solidFill>
                  <a:srgbClr val="FDFFFF"/>
                </a:solidFill>
                <a:latin typeface="Calibri"/>
                <a:cs typeface="Calibri"/>
              </a:rPr>
              <a:t>2</a:t>
            </a:r>
            <a:r>
              <a:rPr sz="2600" i="1" dirty="0">
                <a:solidFill>
                  <a:srgbClr val="FDFFFF"/>
                </a:solidFill>
                <a:latin typeface="Calibri"/>
                <a:cs typeface="Calibri"/>
              </a:rPr>
              <a:t>,</a:t>
            </a:r>
            <a:r>
              <a:rPr sz="2600" i="1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DFFFF"/>
                </a:solidFill>
                <a:latin typeface="Calibri"/>
                <a:cs typeface="Calibri"/>
              </a:rPr>
              <a:t>…,</a:t>
            </a:r>
            <a:r>
              <a:rPr sz="2600" i="1" spc="-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DFFFF"/>
                </a:solidFill>
                <a:latin typeface="Calibri"/>
                <a:cs typeface="Calibri"/>
              </a:rPr>
              <a:t>x</a:t>
            </a:r>
            <a:r>
              <a:rPr sz="2550" i="1" baseline="-21241" dirty="0">
                <a:solidFill>
                  <a:srgbClr val="FDFFFF"/>
                </a:solidFill>
                <a:latin typeface="Calibri"/>
                <a:cs typeface="Calibri"/>
              </a:rPr>
              <a:t>n</a:t>
            </a:r>
            <a:r>
              <a:rPr sz="2550" i="1" spc="300" baseline="-21241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DFFFF"/>
                </a:solidFill>
                <a:latin typeface="Symbol"/>
                <a:cs typeface="Symbol"/>
              </a:rPr>
              <a:t></a:t>
            </a:r>
            <a:r>
              <a:rPr sz="2600" spc="-85" dirty="0">
                <a:solidFill>
                  <a:srgbClr val="FD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|</a:t>
            </a:r>
            <a:r>
              <a:rPr sz="260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DFFFF"/>
                </a:solidFill>
                <a:latin typeface="Calibri"/>
                <a:cs typeface="Calibri"/>
              </a:rPr>
              <a:t>P</a:t>
            </a:r>
            <a:r>
              <a:rPr sz="2600" i="1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(</a:t>
            </a:r>
            <a:r>
              <a:rPr sz="2600" i="1" dirty="0">
                <a:solidFill>
                  <a:srgbClr val="FDFFFF"/>
                </a:solidFill>
                <a:latin typeface="Calibri"/>
                <a:cs typeface="Calibri"/>
              </a:rPr>
              <a:t>x</a:t>
            </a:r>
            <a:r>
              <a:rPr sz="2550" baseline="-21241" dirty="0">
                <a:solidFill>
                  <a:srgbClr val="FDFFFF"/>
                </a:solidFill>
                <a:latin typeface="Calibri"/>
                <a:cs typeface="Calibri"/>
              </a:rPr>
              <a:t>1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,</a:t>
            </a:r>
            <a:r>
              <a:rPr sz="2600" spc="-2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DFFFF"/>
                </a:solidFill>
                <a:latin typeface="Calibri"/>
                <a:cs typeface="Calibri"/>
              </a:rPr>
              <a:t>x</a:t>
            </a:r>
            <a:r>
              <a:rPr sz="2550" baseline="-21241" dirty="0">
                <a:solidFill>
                  <a:srgbClr val="FDFFFF"/>
                </a:solidFill>
                <a:latin typeface="Calibri"/>
                <a:cs typeface="Calibri"/>
              </a:rPr>
              <a:t>2</a:t>
            </a:r>
            <a:r>
              <a:rPr sz="2600" i="1" dirty="0">
                <a:solidFill>
                  <a:srgbClr val="FDFFFF"/>
                </a:solidFill>
                <a:latin typeface="Calibri"/>
                <a:cs typeface="Calibri"/>
              </a:rPr>
              <a:t>, …,</a:t>
            </a:r>
            <a:r>
              <a:rPr sz="2600" i="1" spc="-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i="1" spc="-20" dirty="0">
                <a:solidFill>
                  <a:srgbClr val="FDFFFF"/>
                </a:solidFill>
                <a:latin typeface="Calibri"/>
                <a:cs typeface="Calibri"/>
              </a:rPr>
              <a:t>x</a:t>
            </a:r>
            <a:r>
              <a:rPr sz="2550" i="1" spc="-30" baseline="-21241" dirty="0">
                <a:solidFill>
                  <a:srgbClr val="FDFFFF"/>
                </a:solidFill>
                <a:latin typeface="Calibri"/>
                <a:cs typeface="Calibri"/>
              </a:rPr>
              <a:t>n</a:t>
            </a:r>
            <a:r>
              <a:rPr sz="2600" spc="-20" dirty="0">
                <a:solidFill>
                  <a:srgbClr val="FDFFFF"/>
                </a:solidFill>
                <a:latin typeface="Calibri"/>
                <a:cs typeface="Calibri"/>
              </a:rPr>
              <a:t>)}</a:t>
            </a:r>
            <a:endParaRPr sz="2600">
              <a:latin typeface="Calibri"/>
              <a:cs typeface="Calibri"/>
            </a:endParaRPr>
          </a:p>
          <a:p>
            <a:pPr marL="495300" marR="1037590" indent="-228600">
              <a:lnSpc>
                <a:spcPts val="2500"/>
              </a:lnSpc>
              <a:spcBef>
                <a:spcPts val="2980"/>
              </a:spcBef>
              <a:buFont typeface="Arial MT"/>
              <a:buChar char="•"/>
              <a:tabLst>
                <a:tab pos="495300" algn="l"/>
              </a:tabLst>
            </a:pPr>
            <a:r>
              <a:rPr sz="2600" i="1" dirty="0">
                <a:solidFill>
                  <a:srgbClr val="FDFFFF"/>
                </a:solidFill>
                <a:latin typeface="Calibri"/>
                <a:cs typeface="Calibri"/>
              </a:rPr>
              <a:t>x</a:t>
            </a:r>
            <a:r>
              <a:rPr sz="2550" baseline="-21241" dirty="0">
                <a:solidFill>
                  <a:srgbClr val="FDFFFF"/>
                </a:solidFill>
                <a:latin typeface="Calibri"/>
                <a:cs typeface="Calibri"/>
              </a:rPr>
              <a:t>1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,</a:t>
            </a:r>
            <a:r>
              <a:rPr sz="2600" spc="-2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DFFFF"/>
                </a:solidFill>
                <a:latin typeface="Calibri"/>
                <a:cs typeface="Calibri"/>
              </a:rPr>
              <a:t>x</a:t>
            </a:r>
            <a:r>
              <a:rPr sz="2550" baseline="-21241" dirty="0">
                <a:solidFill>
                  <a:srgbClr val="FDFFFF"/>
                </a:solidFill>
                <a:latin typeface="Calibri"/>
                <a:cs typeface="Calibri"/>
              </a:rPr>
              <a:t>2</a:t>
            </a:r>
            <a:r>
              <a:rPr sz="2600" i="1" dirty="0">
                <a:solidFill>
                  <a:srgbClr val="FDFFFF"/>
                </a:solidFill>
                <a:latin typeface="Calibri"/>
                <a:cs typeface="Calibri"/>
              </a:rPr>
              <a:t>,</a:t>
            </a:r>
            <a:r>
              <a:rPr sz="2600" i="1" spc="-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DFFFF"/>
                </a:solidFill>
                <a:latin typeface="Calibri"/>
                <a:cs typeface="Calibri"/>
              </a:rPr>
              <a:t>…,</a:t>
            </a:r>
            <a:r>
              <a:rPr sz="2600" i="1" spc="-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DFFFF"/>
                </a:solidFill>
                <a:latin typeface="Calibri"/>
                <a:cs typeface="Calibri"/>
              </a:rPr>
              <a:t>x</a:t>
            </a:r>
            <a:r>
              <a:rPr sz="2550" i="1" baseline="-21241" dirty="0">
                <a:solidFill>
                  <a:srgbClr val="FDFFFF"/>
                </a:solidFill>
                <a:latin typeface="Calibri"/>
                <a:cs typeface="Calibri"/>
              </a:rPr>
              <a:t>n</a:t>
            </a:r>
            <a:r>
              <a:rPr sz="2550" i="1" spc="135" baseline="-21241" dirty="0">
                <a:solidFill>
                  <a:srgbClr val="FDFFFF"/>
                </a:solidFill>
                <a:latin typeface="Calibri"/>
                <a:cs typeface="Calibri"/>
              </a:rPr>
              <a:t>  </a:t>
            </a:r>
            <a:r>
              <a:rPr sz="2600" spc="-10" dirty="0">
                <a:solidFill>
                  <a:srgbClr val="FDFFFF"/>
                </a:solidFill>
                <a:latin typeface="Calibri"/>
                <a:cs typeface="Calibri"/>
              </a:rPr>
              <a:t>represent</a:t>
            </a:r>
            <a:r>
              <a:rPr sz="2600" spc="-4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DFFFF"/>
                </a:solidFill>
                <a:latin typeface="Calibri"/>
                <a:cs typeface="Calibri"/>
              </a:rPr>
              <a:t>domain variables</a:t>
            </a:r>
            <a:endParaRPr sz="2600">
              <a:latin typeface="Calibri"/>
              <a:cs typeface="Calibri"/>
            </a:endParaRPr>
          </a:p>
          <a:p>
            <a:pPr marL="495300" marR="30480" indent="-228600">
              <a:lnSpc>
                <a:spcPts val="2500"/>
              </a:lnSpc>
              <a:spcBef>
                <a:spcPts val="484"/>
              </a:spcBef>
              <a:buFont typeface="Arial MT"/>
              <a:buChar char="•"/>
              <a:tabLst>
                <a:tab pos="495300" algn="l"/>
              </a:tabLst>
            </a:pPr>
            <a:r>
              <a:rPr sz="2600" i="1" dirty="0">
                <a:solidFill>
                  <a:srgbClr val="FDFFFF"/>
                </a:solidFill>
                <a:latin typeface="Calibri"/>
                <a:cs typeface="Calibri"/>
              </a:rPr>
              <a:t>P</a:t>
            </a:r>
            <a:r>
              <a:rPr sz="2600" i="1" spc="-6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DFFFF"/>
                </a:solidFill>
                <a:latin typeface="Calibri"/>
                <a:cs typeface="Calibri"/>
              </a:rPr>
              <a:t>represents</a:t>
            </a:r>
            <a:r>
              <a:rPr sz="2600" spc="-9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a</a:t>
            </a:r>
            <a:r>
              <a:rPr sz="2600" spc="-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formula</a:t>
            </a:r>
            <a:r>
              <a:rPr sz="2600" spc="-4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similar</a:t>
            </a:r>
            <a:r>
              <a:rPr sz="2600" spc="-6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to</a:t>
            </a:r>
            <a:r>
              <a:rPr sz="2600" spc="-5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FDFFFF"/>
                </a:solidFill>
                <a:latin typeface="Calibri"/>
                <a:cs typeface="Calibri"/>
              </a:rPr>
              <a:t>that 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of</a:t>
            </a:r>
            <a:r>
              <a:rPr sz="2600" spc="-2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2600" spc="-3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DFFFF"/>
                </a:solidFill>
                <a:latin typeface="Calibri"/>
                <a:cs typeface="Calibri"/>
              </a:rPr>
              <a:t>predicate</a:t>
            </a:r>
            <a:r>
              <a:rPr sz="2600" spc="-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DFFFF"/>
                </a:solidFill>
                <a:latin typeface="Calibri"/>
                <a:cs typeface="Calibri"/>
              </a:rPr>
              <a:t>calculus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161268" y="6239967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72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3" name="object 3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1222735" y="635508"/>
            <a:ext cx="329565" cy="1742439"/>
          </a:xfrm>
          <a:custGeom>
            <a:avLst/>
            <a:gdLst/>
            <a:ahLst/>
            <a:cxnLst/>
            <a:rect l="l" t="t" r="r" b="b"/>
            <a:pathLst>
              <a:path w="329565" h="1742439">
                <a:moveTo>
                  <a:pt x="329184" y="0"/>
                </a:moveTo>
                <a:lnTo>
                  <a:pt x="0" y="198627"/>
                </a:lnTo>
                <a:lnTo>
                  <a:pt x="0" y="1741931"/>
                </a:lnTo>
                <a:lnTo>
                  <a:pt x="329184" y="1543303"/>
                </a:lnTo>
                <a:lnTo>
                  <a:pt x="329184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4651" y="635508"/>
            <a:ext cx="10907395" cy="1542415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328930" rIns="0" bIns="0" rtlCol="0">
            <a:spAutoFit/>
          </a:bodyPr>
          <a:lstStyle/>
          <a:p>
            <a:pPr marL="405130">
              <a:lnSpc>
                <a:spcPct val="100000"/>
              </a:lnSpc>
              <a:spcBef>
                <a:spcPts val="2590"/>
              </a:spcBef>
            </a:pPr>
            <a:r>
              <a:rPr sz="4800" spc="-60" dirty="0">
                <a:solidFill>
                  <a:srgbClr val="FFFFFF"/>
                </a:solidFill>
              </a:rPr>
              <a:t>Example</a:t>
            </a:r>
            <a:r>
              <a:rPr sz="4800" spc="-210" dirty="0">
                <a:solidFill>
                  <a:srgbClr val="FFFFFF"/>
                </a:solidFill>
              </a:rPr>
              <a:t> </a:t>
            </a:r>
            <a:r>
              <a:rPr sz="4800" spc="-10" dirty="0">
                <a:solidFill>
                  <a:srgbClr val="FFFFFF"/>
                </a:solidFill>
              </a:rPr>
              <a:t>Queries</a:t>
            </a:r>
            <a:endParaRPr sz="48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73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1446657" y="2539111"/>
            <a:ext cx="9305290" cy="334962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765"/>
              </a:spcBef>
              <a:tabLst>
                <a:tab pos="6826884" algn="l"/>
              </a:tabLst>
            </a:pPr>
            <a:r>
              <a:rPr sz="2800" dirty="0">
                <a:latin typeface="Calibri"/>
                <a:cs typeface="Calibri"/>
              </a:rPr>
              <a:t>Q1)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loan_number,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branch_name,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i="1" dirty="0">
                <a:latin typeface="Calibri"/>
                <a:cs typeface="Calibri"/>
              </a:rPr>
              <a:t>amount</a:t>
            </a:r>
            <a:r>
              <a:rPr sz="2800" i="1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loans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$1200</a:t>
            </a:r>
            <a:endParaRPr sz="2800">
              <a:latin typeface="Calibri"/>
              <a:cs typeface="Calibri"/>
            </a:endParaRPr>
          </a:p>
          <a:p>
            <a:pPr marL="321945" indent="-309245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321945" algn="l"/>
              </a:tabLst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</a:t>
            </a:r>
            <a:r>
              <a:rPr sz="28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,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b,</a:t>
            </a:r>
            <a:r>
              <a:rPr sz="28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</a:t>
            </a:r>
            <a:r>
              <a:rPr sz="28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|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</a:t>
            </a:r>
            <a:r>
              <a:rPr sz="28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,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b,</a:t>
            </a:r>
            <a:r>
              <a:rPr sz="2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</a:t>
            </a:r>
            <a:r>
              <a:rPr sz="28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28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loan</a:t>
            </a:r>
            <a:r>
              <a:rPr sz="2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sz="28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&gt;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1200}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ts val="3025"/>
              </a:lnSpc>
            </a:pPr>
            <a:r>
              <a:rPr sz="2800" dirty="0">
                <a:latin typeface="Calibri"/>
                <a:cs typeface="Calibri"/>
              </a:rPr>
              <a:t>Q2)Find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names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customers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over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3025"/>
              </a:lnSpc>
            </a:pPr>
            <a:r>
              <a:rPr sz="2800" spc="-10" dirty="0">
                <a:latin typeface="Calibri"/>
                <a:cs typeface="Calibri"/>
              </a:rPr>
              <a:t>$1200</a:t>
            </a:r>
            <a:endParaRPr sz="2800">
              <a:latin typeface="Calibri"/>
              <a:cs typeface="Calibri"/>
            </a:endParaRPr>
          </a:p>
          <a:p>
            <a:pPr marL="241300" marR="306705" indent="-228600">
              <a:lnSpc>
                <a:spcPct val="80000"/>
              </a:lnSpc>
              <a:spcBef>
                <a:spcPts val="1000"/>
              </a:spcBef>
              <a:buChar char="•"/>
              <a:tabLst>
                <a:tab pos="241300" algn="l"/>
                <a:tab pos="321945" algn="l"/>
              </a:tabLst>
            </a:pP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</a:t>
            </a:r>
            <a:r>
              <a:rPr sz="28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</a:t>
            </a:r>
            <a:r>
              <a:rPr sz="28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|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</a:t>
            </a:r>
            <a:r>
              <a:rPr sz="28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l,</a:t>
            </a:r>
            <a:r>
              <a:rPr sz="2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b,</a:t>
            </a:r>
            <a:r>
              <a:rPr sz="2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</a:t>
            </a:r>
            <a:r>
              <a:rPr sz="28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c,</a:t>
            </a:r>
            <a:r>
              <a:rPr sz="2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28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</a:t>
            </a:r>
            <a:r>
              <a:rPr sz="28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28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borrower</a:t>
            </a:r>
            <a:r>
              <a:rPr sz="2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sz="28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</a:t>
            </a:r>
            <a:r>
              <a:rPr sz="28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l,</a:t>
            </a:r>
            <a:r>
              <a:rPr sz="2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b, a</a:t>
            </a:r>
            <a:r>
              <a:rPr sz="2800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</a:t>
            </a:r>
            <a:r>
              <a:rPr sz="28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</a:t>
            </a:r>
            <a:r>
              <a:rPr sz="28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loan</a:t>
            </a:r>
            <a:r>
              <a:rPr sz="2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sz="28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&gt;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1200)}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5104" y="463294"/>
            <a:ext cx="8334756" cy="63947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36135" cy="6858000"/>
          </a:xfrm>
          <a:custGeom>
            <a:avLst/>
            <a:gdLst/>
            <a:ahLst/>
            <a:cxnLst/>
            <a:rect l="l" t="t" r="r" b="b"/>
            <a:pathLst>
              <a:path w="4636135" h="6858000">
                <a:moveTo>
                  <a:pt x="4636008" y="0"/>
                </a:moveTo>
                <a:lnTo>
                  <a:pt x="0" y="0"/>
                </a:lnTo>
                <a:lnTo>
                  <a:pt x="0" y="6858000"/>
                </a:lnTo>
                <a:lnTo>
                  <a:pt x="4636008" y="6858000"/>
                </a:lnTo>
                <a:lnTo>
                  <a:pt x="463600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22096" y="3045663"/>
            <a:ext cx="18732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>
                <a:solidFill>
                  <a:srgbClr val="FFFFFF"/>
                </a:solidFill>
                <a:latin typeface="Calibri Light"/>
                <a:cs typeface="Calibri Light"/>
              </a:rPr>
              <a:t>Revision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5977" y="2972561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6335" y="1455419"/>
            <a:ext cx="1409700" cy="706120"/>
          </a:xfrm>
          <a:custGeom>
            <a:avLst/>
            <a:gdLst/>
            <a:ahLst/>
            <a:cxnLst/>
            <a:rect l="l" t="t" r="r" b="b"/>
            <a:pathLst>
              <a:path w="1409700" h="706119">
                <a:moveTo>
                  <a:pt x="1339088" y="0"/>
                </a:moveTo>
                <a:lnTo>
                  <a:pt x="70612" y="0"/>
                </a:lnTo>
                <a:lnTo>
                  <a:pt x="43130" y="5550"/>
                </a:lnTo>
                <a:lnTo>
                  <a:pt x="20685" y="20685"/>
                </a:lnTo>
                <a:lnTo>
                  <a:pt x="5550" y="43130"/>
                </a:lnTo>
                <a:lnTo>
                  <a:pt x="0" y="70612"/>
                </a:lnTo>
                <a:lnTo>
                  <a:pt x="0" y="635000"/>
                </a:lnTo>
                <a:lnTo>
                  <a:pt x="5550" y="662481"/>
                </a:lnTo>
                <a:lnTo>
                  <a:pt x="20685" y="684926"/>
                </a:lnTo>
                <a:lnTo>
                  <a:pt x="43130" y="700061"/>
                </a:lnTo>
                <a:lnTo>
                  <a:pt x="70612" y="705612"/>
                </a:lnTo>
                <a:lnTo>
                  <a:pt x="1339088" y="705612"/>
                </a:lnTo>
                <a:lnTo>
                  <a:pt x="1366569" y="700061"/>
                </a:lnTo>
                <a:lnTo>
                  <a:pt x="1389014" y="684926"/>
                </a:lnTo>
                <a:lnTo>
                  <a:pt x="1404149" y="662481"/>
                </a:lnTo>
                <a:lnTo>
                  <a:pt x="1409699" y="635000"/>
                </a:lnTo>
                <a:lnTo>
                  <a:pt x="1409699" y="70612"/>
                </a:lnTo>
                <a:lnTo>
                  <a:pt x="1404149" y="43130"/>
                </a:lnTo>
                <a:lnTo>
                  <a:pt x="1389014" y="20685"/>
                </a:lnTo>
                <a:lnTo>
                  <a:pt x="1366569" y="5550"/>
                </a:lnTo>
                <a:lnTo>
                  <a:pt x="133908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88228" y="1456766"/>
            <a:ext cx="1107440" cy="640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2420"/>
              </a:lnSpc>
              <a:spcBef>
                <a:spcPts val="100"/>
              </a:spcBef>
            </a:pP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endParaRPr sz="2100">
              <a:latin typeface="Calibri"/>
              <a:cs typeface="Calibri"/>
            </a:endParaRPr>
          </a:p>
          <a:p>
            <a:pPr algn="ctr">
              <a:lnSpc>
                <a:spcPts val="2420"/>
              </a:lnSpc>
            </a:pP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Operators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139813" y="639826"/>
            <a:ext cx="1986280" cy="1174750"/>
            <a:chOff x="7139813" y="639826"/>
            <a:chExt cx="1986280" cy="1174750"/>
          </a:xfrm>
        </p:grpSpPr>
        <p:sp>
          <p:nvSpPr>
            <p:cNvPr id="8" name="object 8"/>
            <p:cNvSpPr/>
            <p:nvPr/>
          </p:nvSpPr>
          <p:spPr>
            <a:xfrm>
              <a:off x="7146163" y="997839"/>
              <a:ext cx="563880" cy="810895"/>
            </a:xfrm>
            <a:custGeom>
              <a:avLst/>
              <a:gdLst/>
              <a:ahLst/>
              <a:cxnLst/>
              <a:rect l="l" t="t" r="r" b="b"/>
              <a:pathLst>
                <a:path w="563879" h="810894">
                  <a:moveTo>
                    <a:pt x="0" y="810387"/>
                  </a:moveTo>
                  <a:lnTo>
                    <a:pt x="563752" y="0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9916" y="646176"/>
              <a:ext cx="1409700" cy="704215"/>
            </a:xfrm>
            <a:custGeom>
              <a:avLst/>
              <a:gdLst/>
              <a:ahLst/>
              <a:cxnLst/>
              <a:rect l="l" t="t" r="r" b="b"/>
              <a:pathLst>
                <a:path w="1409700" h="704215">
                  <a:moveTo>
                    <a:pt x="1339341" y="0"/>
                  </a:moveTo>
                  <a:lnTo>
                    <a:pt x="70357" y="0"/>
                  </a:lnTo>
                  <a:lnTo>
                    <a:pt x="42969" y="5528"/>
                  </a:lnTo>
                  <a:lnTo>
                    <a:pt x="20605" y="20605"/>
                  </a:lnTo>
                  <a:lnTo>
                    <a:pt x="5528" y="42969"/>
                  </a:lnTo>
                  <a:lnTo>
                    <a:pt x="0" y="70358"/>
                  </a:lnTo>
                  <a:lnTo>
                    <a:pt x="0" y="633729"/>
                  </a:lnTo>
                  <a:lnTo>
                    <a:pt x="5528" y="661118"/>
                  </a:lnTo>
                  <a:lnTo>
                    <a:pt x="20605" y="683482"/>
                  </a:lnTo>
                  <a:lnTo>
                    <a:pt x="42969" y="698559"/>
                  </a:lnTo>
                  <a:lnTo>
                    <a:pt x="70357" y="704088"/>
                  </a:lnTo>
                  <a:lnTo>
                    <a:pt x="1339341" y="704088"/>
                  </a:lnTo>
                  <a:lnTo>
                    <a:pt x="1366730" y="698559"/>
                  </a:lnTo>
                  <a:lnTo>
                    <a:pt x="1389094" y="683482"/>
                  </a:lnTo>
                  <a:lnTo>
                    <a:pt x="1404171" y="661118"/>
                  </a:lnTo>
                  <a:lnTo>
                    <a:pt x="1409700" y="633729"/>
                  </a:lnTo>
                  <a:lnTo>
                    <a:pt x="1409700" y="70358"/>
                  </a:lnTo>
                  <a:lnTo>
                    <a:pt x="1404171" y="42969"/>
                  </a:lnTo>
                  <a:lnTo>
                    <a:pt x="1389094" y="20605"/>
                  </a:lnTo>
                  <a:lnTo>
                    <a:pt x="1366730" y="5528"/>
                  </a:lnTo>
                  <a:lnTo>
                    <a:pt x="1339341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09916" y="646176"/>
              <a:ext cx="1409700" cy="704215"/>
            </a:xfrm>
            <a:custGeom>
              <a:avLst/>
              <a:gdLst/>
              <a:ahLst/>
              <a:cxnLst/>
              <a:rect l="l" t="t" r="r" b="b"/>
              <a:pathLst>
                <a:path w="1409700" h="704215">
                  <a:moveTo>
                    <a:pt x="0" y="70358"/>
                  </a:moveTo>
                  <a:lnTo>
                    <a:pt x="5528" y="42969"/>
                  </a:lnTo>
                  <a:lnTo>
                    <a:pt x="20605" y="20605"/>
                  </a:lnTo>
                  <a:lnTo>
                    <a:pt x="42969" y="5528"/>
                  </a:lnTo>
                  <a:lnTo>
                    <a:pt x="70357" y="0"/>
                  </a:lnTo>
                  <a:lnTo>
                    <a:pt x="1339341" y="0"/>
                  </a:lnTo>
                  <a:lnTo>
                    <a:pt x="1366730" y="5528"/>
                  </a:lnTo>
                  <a:lnTo>
                    <a:pt x="1389094" y="20605"/>
                  </a:lnTo>
                  <a:lnTo>
                    <a:pt x="1404171" y="42969"/>
                  </a:lnTo>
                  <a:lnTo>
                    <a:pt x="1409700" y="70358"/>
                  </a:lnTo>
                  <a:lnTo>
                    <a:pt x="1409700" y="633729"/>
                  </a:lnTo>
                  <a:lnTo>
                    <a:pt x="1404171" y="661118"/>
                  </a:lnTo>
                  <a:lnTo>
                    <a:pt x="1389094" y="683482"/>
                  </a:lnTo>
                  <a:lnTo>
                    <a:pt x="1366730" y="698559"/>
                  </a:lnTo>
                  <a:lnTo>
                    <a:pt x="1339341" y="704088"/>
                  </a:lnTo>
                  <a:lnTo>
                    <a:pt x="70357" y="704088"/>
                  </a:lnTo>
                  <a:lnTo>
                    <a:pt x="42969" y="698559"/>
                  </a:lnTo>
                  <a:lnTo>
                    <a:pt x="20605" y="683482"/>
                  </a:lnTo>
                  <a:lnTo>
                    <a:pt x="5528" y="661118"/>
                  </a:lnTo>
                  <a:lnTo>
                    <a:pt x="0" y="633729"/>
                  </a:lnTo>
                  <a:lnTo>
                    <a:pt x="0" y="703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076692" y="793241"/>
            <a:ext cx="6775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Union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139685" y="1449069"/>
            <a:ext cx="1986280" cy="718820"/>
            <a:chOff x="7139685" y="1449069"/>
            <a:chExt cx="1986280" cy="718820"/>
          </a:xfrm>
        </p:grpSpPr>
        <p:sp>
          <p:nvSpPr>
            <p:cNvPr id="13" name="object 13"/>
            <p:cNvSpPr/>
            <p:nvPr/>
          </p:nvSpPr>
          <p:spPr>
            <a:xfrm>
              <a:off x="7146035" y="1808225"/>
              <a:ext cx="563880" cy="0"/>
            </a:xfrm>
            <a:custGeom>
              <a:avLst/>
              <a:gdLst/>
              <a:ahLst/>
              <a:cxnLst/>
              <a:rect l="l" t="t" r="r" b="b"/>
              <a:pathLst>
                <a:path w="563879">
                  <a:moveTo>
                    <a:pt x="0" y="0"/>
                  </a:moveTo>
                  <a:lnTo>
                    <a:pt x="563753" y="0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09915" y="1455419"/>
              <a:ext cx="1409700" cy="706120"/>
            </a:xfrm>
            <a:custGeom>
              <a:avLst/>
              <a:gdLst/>
              <a:ahLst/>
              <a:cxnLst/>
              <a:rect l="l" t="t" r="r" b="b"/>
              <a:pathLst>
                <a:path w="1409700" h="706119">
                  <a:moveTo>
                    <a:pt x="1339087" y="0"/>
                  </a:moveTo>
                  <a:lnTo>
                    <a:pt x="70611" y="0"/>
                  </a:lnTo>
                  <a:lnTo>
                    <a:pt x="43130" y="5550"/>
                  </a:lnTo>
                  <a:lnTo>
                    <a:pt x="20685" y="20685"/>
                  </a:lnTo>
                  <a:lnTo>
                    <a:pt x="5550" y="43130"/>
                  </a:lnTo>
                  <a:lnTo>
                    <a:pt x="0" y="70612"/>
                  </a:lnTo>
                  <a:lnTo>
                    <a:pt x="0" y="635000"/>
                  </a:lnTo>
                  <a:lnTo>
                    <a:pt x="5550" y="662481"/>
                  </a:lnTo>
                  <a:lnTo>
                    <a:pt x="20685" y="684926"/>
                  </a:lnTo>
                  <a:lnTo>
                    <a:pt x="43130" y="700061"/>
                  </a:lnTo>
                  <a:lnTo>
                    <a:pt x="70611" y="705612"/>
                  </a:lnTo>
                  <a:lnTo>
                    <a:pt x="1339087" y="705612"/>
                  </a:lnTo>
                  <a:lnTo>
                    <a:pt x="1366569" y="700061"/>
                  </a:lnTo>
                  <a:lnTo>
                    <a:pt x="1389014" y="684926"/>
                  </a:lnTo>
                  <a:lnTo>
                    <a:pt x="1404149" y="662481"/>
                  </a:lnTo>
                  <a:lnTo>
                    <a:pt x="1409700" y="635000"/>
                  </a:lnTo>
                  <a:lnTo>
                    <a:pt x="1409700" y="70612"/>
                  </a:lnTo>
                  <a:lnTo>
                    <a:pt x="1404149" y="43130"/>
                  </a:lnTo>
                  <a:lnTo>
                    <a:pt x="1389014" y="20685"/>
                  </a:lnTo>
                  <a:lnTo>
                    <a:pt x="1366569" y="5550"/>
                  </a:lnTo>
                  <a:lnTo>
                    <a:pt x="133908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09915" y="1455419"/>
              <a:ext cx="1409700" cy="706120"/>
            </a:xfrm>
            <a:custGeom>
              <a:avLst/>
              <a:gdLst/>
              <a:ahLst/>
              <a:cxnLst/>
              <a:rect l="l" t="t" r="r" b="b"/>
              <a:pathLst>
                <a:path w="1409700" h="706119">
                  <a:moveTo>
                    <a:pt x="0" y="70612"/>
                  </a:moveTo>
                  <a:lnTo>
                    <a:pt x="5550" y="43130"/>
                  </a:lnTo>
                  <a:lnTo>
                    <a:pt x="20685" y="20685"/>
                  </a:lnTo>
                  <a:lnTo>
                    <a:pt x="43130" y="5550"/>
                  </a:lnTo>
                  <a:lnTo>
                    <a:pt x="70611" y="0"/>
                  </a:lnTo>
                  <a:lnTo>
                    <a:pt x="1339087" y="0"/>
                  </a:lnTo>
                  <a:lnTo>
                    <a:pt x="1366569" y="5550"/>
                  </a:lnTo>
                  <a:lnTo>
                    <a:pt x="1389014" y="20685"/>
                  </a:lnTo>
                  <a:lnTo>
                    <a:pt x="1404149" y="43130"/>
                  </a:lnTo>
                  <a:lnTo>
                    <a:pt x="1409700" y="70612"/>
                  </a:lnTo>
                  <a:lnTo>
                    <a:pt x="1409700" y="635000"/>
                  </a:lnTo>
                  <a:lnTo>
                    <a:pt x="1404149" y="662481"/>
                  </a:lnTo>
                  <a:lnTo>
                    <a:pt x="1389014" y="684926"/>
                  </a:lnTo>
                  <a:lnTo>
                    <a:pt x="1366569" y="700061"/>
                  </a:lnTo>
                  <a:lnTo>
                    <a:pt x="1339087" y="705612"/>
                  </a:lnTo>
                  <a:lnTo>
                    <a:pt x="70611" y="705612"/>
                  </a:lnTo>
                  <a:lnTo>
                    <a:pt x="43130" y="700061"/>
                  </a:lnTo>
                  <a:lnTo>
                    <a:pt x="20685" y="684926"/>
                  </a:lnTo>
                  <a:lnTo>
                    <a:pt x="5550" y="662481"/>
                  </a:lnTo>
                  <a:lnTo>
                    <a:pt x="0" y="635000"/>
                  </a:lnTo>
                  <a:lnTo>
                    <a:pt x="0" y="7061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56652" y="1603628"/>
            <a:ext cx="131762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Intersection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139813" y="1801876"/>
            <a:ext cx="1986280" cy="1174750"/>
            <a:chOff x="7139813" y="1801876"/>
            <a:chExt cx="1986280" cy="1174750"/>
          </a:xfrm>
        </p:grpSpPr>
        <p:sp>
          <p:nvSpPr>
            <p:cNvPr id="18" name="object 18"/>
            <p:cNvSpPr/>
            <p:nvPr/>
          </p:nvSpPr>
          <p:spPr>
            <a:xfrm>
              <a:off x="7146163" y="1808226"/>
              <a:ext cx="563880" cy="810895"/>
            </a:xfrm>
            <a:custGeom>
              <a:avLst/>
              <a:gdLst/>
              <a:ahLst/>
              <a:cxnLst/>
              <a:rect l="l" t="t" r="r" b="b"/>
              <a:pathLst>
                <a:path w="563879" h="810894">
                  <a:moveTo>
                    <a:pt x="0" y="0"/>
                  </a:moveTo>
                  <a:lnTo>
                    <a:pt x="563752" y="810387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09916" y="2266188"/>
              <a:ext cx="1409700" cy="704215"/>
            </a:xfrm>
            <a:custGeom>
              <a:avLst/>
              <a:gdLst/>
              <a:ahLst/>
              <a:cxnLst/>
              <a:rect l="l" t="t" r="r" b="b"/>
              <a:pathLst>
                <a:path w="1409700" h="704214">
                  <a:moveTo>
                    <a:pt x="1339341" y="0"/>
                  </a:moveTo>
                  <a:lnTo>
                    <a:pt x="70357" y="0"/>
                  </a:lnTo>
                  <a:lnTo>
                    <a:pt x="42969" y="5528"/>
                  </a:lnTo>
                  <a:lnTo>
                    <a:pt x="20605" y="20605"/>
                  </a:lnTo>
                  <a:lnTo>
                    <a:pt x="5528" y="42969"/>
                  </a:lnTo>
                  <a:lnTo>
                    <a:pt x="0" y="70358"/>
                  </a:lnTo>
                  <a:lnTo>
                    <a:pt x="0" y="633729"/>
                  </a:lnTo>
                  <a:lnTo>
                    <a:pt x="5528" y="661118"/>
                  </a:lnTo>
                  <a:lnTo>
                    <a:pt x="20605" y="683482"/>
                  </a:lnTo>
                  <a:lnTo>
                    <a:pt x="42969" y="698559"/>
                  </a:lnTo>
                  <a:lnTo>
                    <a:pt x="70357" y="704088"/>
                  </a:lnTo>
                  <a:lnTo>
                    <a:pt x="1339341" y="704088"/>
                  </a:lnTo>
                  <a:lnTo>
                    <a:pt x="1366730" y="698559"/>
                  </a:lnTo>
                  <a:lnTo>
                    <a:pt x="1389094" y="683482"/>
                  </a:lnTo>
                  <a:lnTo>
                    <a:pt x="1404171" y="661118"/>
                  </a:lnTo>
                  <a:lnTo>
                    <a:pt x="1409700" y="633729"/>
                  </a:lnTo>
                  <a:lnTo>
                    <a:pt x="1409700" y="70358"/>
                  </a:lnTo>
                  <a:lnTo>
                    <a:pt x="1404171" y="42969"/>
                  </a:lnTo>
                  <a:lnTo>
                    <a:pt x="1389094" y="20605"/>
                  </a:lnTo>
                  <a:lnTo>
                    <a:pt x="1366730" y="5528"/>
                  </a:lnTo>
                  <a:lnTo>
                    <a:pt x="1339341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09916" y="2266188"/>
              <a:ext cx="1409700" cy="704215"/>
            </a:xfrm>
            <a:custGeom>
              <a:avLst/>
              <a:gdLst/>
              <a:ahLst/>
              <a:cxnLst/>
              <a:rect l="l" t="t" r="r" b="b"/>
              <a:pathLst>
                <a:path w="1409700" h="704214">
                  <a:moveTo>
                    <a:pt x="0" y="70358"/>
                  </a:moveTo>
                  <a:lnTo>
                    <a:pt x="5528" y="42969"/>
                  </a:lnTo>
                  <a:lnTo>
                    <a:pt x="20605" y="20605"/>
                  </a:lnTo>
                  <a:lnTo>
                    <a:pt x="42969" y="5528"/>
                  </a:lnTo>
                  <a:lnTo>
                    <a:pt x="70357" y="0"/>
                  </a:lnTo>
                  <a:lnTo>
                    <a:pt x="1339341" y="0"/>
                  </a:lnTo>
                  <a:lnTo>
                    <a:pt x="1366730" y="5528"/>
                  </a:lnTo>
                  <a:lnTo>
                    <a:pt x="1389094" y="20605"/>
                  </a:lnTo>
                  <a:lnTo>
                    <a:pt x="1404171" y="42969"/>
                  </a:lnTo>
                  <a:lnTo>
                    <a:pt x="1409700" y="70358"/>
                  </a:lnTo>
                  <a:lnTo>
                    <a:pt x="1409700" y="633729"/>
                  </a:lnTo>
                  <a:lnTo>
                    <a:pt x="1404171" y="661118"/>
                  </a:lnTo>
                  <a:lnTo>
                    <a:pt x="1389094" y="683482"/>
                  </a:lnTo>
                  <a:lnTo>
                    <a:pt x="1366730" y="698559"/>
                  </a:lnTo>
                  <a:lnTo>
                    <a:pt x="1339341" y="704088"/>
                  </a:lnTo>
                  <a:lnTo>
                    <a:pt x="70357" y="704088"/>
                  </a:lnTo>
                  <a:lnTo>
                    <a:pt x="42969" y="698559"/>
                  </a:lnTo>
                  <a:lnTo>
                    <a:pt x="20605" y="683482"/>
                  </a:lnTo>
                  <a:lnTo>
                    <a:pt x="5528" y="661118"/>
                  </a:lnTo>
                  <a:lnTo>
                    <a:pt x="0" y="633729"/>
                  </a:lnTo>
                  <a:lnTo>
                    <a:pt x="0" y="703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843519" y="2267839"/>
            <a:ext cx="1144905" cy="6400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386715">
              <a:lnSpc>
                <a:spcPts val="2320"/>
              </a:lnSpc>
              <a:spcBef>
                <a:spcPts val="340"/>
              </a:spcBef>
            </a:pP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Set </a:t>
            </a:r>
            <a:r>
              <a:rPr sz="2100" spc="-15" dirty="0">
                <a:solidFill>
                  <a:srgbClr val="FFFFFF"/>
                </a:solidFill>
                <a:latin typeface="Calibri"/>
                <a:cs typeface="Calibri"/>
              </a:rPr>
              <a:t>Difference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729985" y="2259838"/>
            <a:ext cx="1422400" cy="716915"/>
            <a:chOff x="5729985" y="2259838"/>
            <a:chExt cx="1422400" cy="716915"/>
          </a:xfrm>
        </p:grpSpPr>
        <p:sp>
          <p:nvSpPr>
            <p:cNvPr id="23" name="object 23"/>
            <p:cNvSpPr/>
            <p:nvPr/>
          </p:nvSpPr>
          <p:spPr>
            <a:xfrm>
              <a:off x="5736335" y="2266188"/>
              <a:ext cx="1409700" cy="704215"/>
            </a:xfrm>
            <a:custGeom>
              <a:avLst/>
              <a:gdLst/>
              <a:ahLst/>
              <a:cxnLst/>
              <a:rect l="l" t="t" r="r" b="b"/>
              <a:pathLst>
                <a:path w="1409700" h="704214">
                  <a:moveTo>
                    <a:pt x="1339341" y="0"/>
                  </a:moveTo>
                  <a:lnTo>
                    <a:pt x="70358" y="0"/>
                  </a:lnTo>
                  <a:lnTo>
                    <a:pt x="42969" y="5528"/>
                  </a:lnTo>
                  <a:lnTo>
                    <a:pt x="20605" y="20605"/>
                  </a:lnTo>
                  <a:lnTo>
                    <a:pt x="5528" y="42969"/>
                  </a:lnTo>
                  <a:lnTo>
                    <a:pt x="0" y="70358"/>
                  </a:lnTo>
                  <a:lnTo>
                    <a:pt x="0" y="633729"/>
                  </a:lnTo>
                  <a:lnTo>
                    <a:pt x="5528" y="661118"/>
                  </a:lnTo>
                  <a:lnTo>
                    <a:pt x="20605" y="683482"/>
                  </a:lnTo>
                  <a:lnTo>
                    <a:pt x="42969" y="698559"/>
                  </a:lnTo>
                  <a:lnTo>
                    <a:pt x="70358" y="704088"/>
                  </a:lnTo>
                  <a:lnTo>
                    <a:pt x="1339341" y="704088"/>
                  </a:lnTo>
                  <a:lnTo>
                    <a:pt x="1366730" y="698559"/>
                  </a:lnTo>
                  <a:lnTo>
                    <a:pt x="1389094" y="683482"/>
                  </a:lnTo>
                  <a:lnTo>
                    <a:pt x="1404171" y="661118"/>
                  </a:lnTo>
                  <a:lnTo>
                    <a:pt x="1409699" y="633729"/>
                  </a:lnTo>
                  <a:lnTo>
                    <a:pt x="1409699" y="70358"/>
                  </a:lnTo>
                  <a:lnTo>
                    <a:pt x="1404171" y="42969"/>
                  </a:lnTo>
                  <a:lnTo>
                    <a:pt x="1389094" y="20605"/>
                  </a:lnTo>
                  <a:lnTo>
                    <a:pt x="1366730" y="5528"/>
                  </a:lnTo>
                  <a:lnTo>
                    <a:pt x="133934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36335" y="2266188"/>
              <a:ext cx="1409700" cy="704215"/>
            </a:xfrm>
            <a:custGeom>
              <a:avLst/>
              <a:gdLst/>
              <a:ahLst/>
              <a:cxnLst/>
              <a:rect l="l" t="t" r="r" b="b"/>
              <a:pathLst>
                <a:path w="1409700" h="704214">
                  <a:moveTo>
                    <a:pt x="0" y="70358"/>
                  </a:moveTo>
                  <a:lnTo>
                    <a:pt x="5528" y="42969"/>
                  </a:lnTo>
                  <a:lnTo>
                    <a:pt x="20605" y="20605"/>
                  </a:lnTo>
                  <a:lnTo>
                    <a:pt x="42969" y="5528"/>
                  </a:lnTo>
                  <a:lnTo>
                    <a:pt x="70358" y="0"/>
                  </a:lnTo>
                  <a:lnTo>
                    <a:pt x="1339341" y="0"/>
                  </a:lnTo>
                  <a:lnTo>
                    <a:pt x="1366730" y="5528"/>
                  </a:lnTo>
                  <a:lnTo>
                    <a:pt x="1389094" y="20605"/>
                  </a:lnTo>
                  <a:lnTo>
                    <a:pt x="1404171" y="42969"/>
                  </a:lnTo>
                  <a:lnTo>
                    <a:pt x="1409699" y="70358"/>
                  </a:lnTo>
                  <a:lnTo>
                    <a:pt x="1409699" y="633729"/>
                  </a:lnTo>
                  <a:lnTo>
                    <a:pt x="1404171" y="661118"/>
                  </a:lnTo>
                  <a:lnTo>
                    <a:pt x="1389094" y="683482"/>
                  </a:lnTo>
                  <a:lnTo>
                    <a:pt x="1366730" y="698559"/>
                  </a:lnTo>
                  <a:lnTo>
                    <a:pt x="1339341" y="704088"/>
                  </a:lnTo>
                  <a:lnTo>
                    <a:pt x="70358" y="704088"/>
                  </a:lnTo>
                  <a:lnTo>
                    <a:pt x="42969" y="698559"/>
                  </a:lnTo>
                  <a:lnTo>
                    <a:pt x="20605" y="683482"/>
                  </a:lnTo>
                  <a:lnTo>
                    <a:pt x="5528" y="661118"/>
                  </a:lnTo>
                  <a:lnTo>
                    <a:pt x="0" y="633729"/>
                  </a:lnTo>
                  <a:lnTo>
                    <a:pt x="0" y="703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164326" y="2413838"/>
            <a:ext cx="55753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Joins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736335" y="3887723"/>
            <a:ext cx="1409700" cy="704215"/>
          </a:xfrm>
          <a:custGeom>
            <a:avLst/>
            <a:gdLst/>
            <a:ahLst/>
            <a:cxnLst/>
            <a:rect l="l" t="t" r="r" b="b"/>
            <a:pathLst>
              <a:path w="1409700" h="704214">
                <a:moveTo>
                  <a:pt x="1339341" y="0"/>
                </a:moveTo>
                <a:lnTo>
                  <a:pt x="70358" y="0"/>
                </a:lnTo>
                <a:lnTo>
                  <a:pt x="42969" y="5528"/>
                </a:lnTo>
                <a:lnTo>
                  <a:pt x="20605" y="20605"/>
                </a:lnTo>
                <a:lnTo>
                  <a:pt x="5528" y="42969"/>
                </a:lnTo>
                <a:lnTo>
                  <a:pt x="0" y="70357"/>
                </a:lnTo>
                <a:lnTo>
                  <a:pt x="0" y="633730"/>
                </a:lnTo>
                <a:lnTo>
                  <a:pt x="5528" y="661118"/>
                </a:lnTo>
                <a:lnTo>
                  <a:pt x="20605" y="683482"/>
                </a:lnTo>
                <a:lnTo>
                  <a:pt x="42969" y="698559"/>
                </a:lnTo>
                <a:lnTo>
                  <a:pt x="70358" y="704088"/>
                </a:lnTo>
                <a:lnTo>
                  <a:pt x="1339341" y="704088"/>
                </a:lnTo>
                <a:lnTo>
                  <a:pt x="1366730" y="698559"/>
                </a:lnTo>
                <a:lnTo>
                  <a:pt x="1389094" y="683482"/>
                </a:lnTo>
                <a:lnTo>
                  <a:pt x="1404171" y="661118"/>
                </a:lnTo>
                <a:lnTo>
                  <a:pt x="1409699" y="633730"/>
                </a:lnTo>
                <a:lnTo>
                  <a:pt x="1409699" y="70357"/>
                </a:lnTo>
                <a:lnTo>
                  <a:pt x="1404171" y="42969"/>
                </a:lnTo>
                <a:lnTo>
                  <a:pt x="1389094" y="20605"/>
                </a:lnTo>
                <a:lnTo>
                  <a:pt x="1366730" y="5528"/>
                </a:lnTo>
                <a:lnTo>
                  <a:pt x="1339341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979667" y="3888740"/>
            <a:ext cx="923925" cy="64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420"/>
              </a:lnSpc>
              <a:spcBef>
                <a:spcPts val="100"/>
              </a:spcBef>
            </a:pP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endParaRPr sz="2100">
              <a:latin typeface="Calibri"/>
              <a:cs typeface="Calibri"/>
            </a:endParaRPr>
          </a:p>
          <a:p>
            <a:pPr marR="50165" algn="ctr">
              <a:lnSpc>
                <a:spcPts val="2420"/>
              </a:lnSpc>
            </a:pP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Joins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139813" y="3070605"/>
            <a:ext cx="1986280" cy="1175385"/>
            <a:chOff x="7139813" y="3070605"/>
            <a:chExt cx="1986280" cy="1175385"/>
          </a:xfrm>
        </p:grpSpPr>
        <p:sp>
          <p:nvSpPr>
            <p:cNvPr id="29" name="object 29"/>
            <p:cNvSpPr/>
            <p:nvPr/>
          </p:nvSpPr>
          <p:spPr>
            <a:xfrm>
              <a:off x="7146163" y="3428999"/>
              <a:ext cx="563880" cy="810895"/>
            </a:xfrm>
            <a:custGeom>
              <a:avLst/>
              <a:gdLst/>
              <a:ahLst/>
              <a:cxnLst/>
              <a:rect l="l" t="t" r="r" b="b"/>
              <a:pathLst>
                <a:path w="563879" h="810895">
                  <a:moveTo>
                    <a:pt x="0" y="810387"/>
                  </a:moveTo>
                  <a:lnTo>
                    <a:pt x="563752" y="0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709916" y="3076955"/>
              <a:ext cx="1409700" cy="704215"/>
            </a:xfrm>
            <a:custGeom>
              <a:avLst/>
              <a:gdLst/>
              <a:ahLst/>
              <a:cxnLst/>
              <a:rect l="l" t="t" r="r" b="b"/>
              <a:pathLst>
                <a:path w="1409700" h="704214">
                  <a:moveTo>
                    <a:pt x="1339341" y="0"/>
                  </a:moveTo>
                  <a:lnTo>
                    <a:pt x="70357" y="0"/>
                  </a:lnTo>
                  <a:lnTo>
                    <a:pt x="42969" y="5528"/>
                  </a:lnTo>
                  <a:lnTo>
                    <a:pt x="20605" y="20605"/>
                  </a:lnTo>
                  <a:lnTo>
                    <a:pt x="5528" y="42969"/>
                  </a:lnTo>
                  <a:lnTo>
                    <a:pt x="0" y="70358"/>
                  </a:lnTo>
                  <a:lnTo>
                    <a:pt x="0" y="633730"/>
                  </a:lnTo>
                  <a:lnTo>
                    <a:pt x="5528" y="661118"/>
                  </a:lnTo>
                  <a:lnTo>
                    <a:pt x="20605" y="683482"/>
                  </a:lnTo>
                  <a:lnTo>
                    <a:pt x="42969" y="698559"/>
                  </a:lnTo>
                  <a:lnTo>
                    <a:pt x="70357" y="704088"/>
                  </a:lnTo>
                  <a:lnTo>
                    <a:pt x="1339341" y="704088"/>
                  </a:lnTo>
                  <a:lnTo>
                    <a:pt x="1366730" y="698559"/>
                  </a:lnTo>
                  <a:lnTo>
                    <a:pt x="1389094" y="683482"/>
                  </a:lnTo>
                  <a:lnTo>
                    <a:pt x="1404171" y="661118"/>
                  </a:lnTo>
                  <a:lnTo>
                    <a:pt x="1409700" y="633730"/>
                  </a:lnTo>
                  <a:lnTo>
                    <a:pt x="1409700" y="70358"/>
                  </a:lnTo>
                  <a:lnTo>
                    <a:pt x="1404171" y="42969"/>
                  </a:lnTo>
                  <a:lnTo>
                    <a:pt x="1389094" y="20605"/>
                  </a:lnTo>
                  <a:lnTo>
                    <a:pt x="1366730" y="5528"/>
                  </a:lnTo>
                  <a:lnTo>
                    <a:pt x="1339341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09916" y="3076955"/>
              <a:ext cx="1409700" cy="704215"/>
            </a:xfrm>
            <a:custGeom>
              <a:avLst/>
              <a:gdLst/>
              <a:ahLst/>
              <a:cxnLst/>
              <a:rect l="l" t="t" r="r" b="b"/>
              <a:pathLst>
                <a:path w="1409700" h="704214">
                  <a:moveTo>
                    <a:pt x="0" y="70358"/>
                  </a:moveTo>
                  <a:lnTo>
                    <a:pt x="5528" y="42969"/>
                  </a:lnTo>
                  <a:lnTo>
                    <a:pt x="20605" y="20605"/>
                  </a:lnTo>
                  <a:lnTo>
                    <a:pt x="42969" y="5528"/>
                  </a:lnTo>
                  <a:lnTo>
                    <a:pt x="70357" y="0"/>
                  </a:lnTo>
                  <a:lnTo>
                    <a:pt x="1339341" y="0"/>
                  </a:lnTo>
                  <a:lnTo>
                    <a:pt x="1366730" y="5528"/>
                  </a:lnTo>
                  <a:lnTo>
                    <a:pt x="1389094" y="20605"/>
                  </a:lnTo>
                  <a:lnTo>
                    <a:pt x="1404171" y="42969"/>
                  </a:lnTo>
                  <a:lnTo>
                    <a:pt x="1409700" y="70358"/>
                  </a:lnTo>
                  <a:lnTo>
                    <a:pt x="1409700" y="633730"/>
                  </a:lnTo>
                  <a:lnTo>
                    <a:pt x="1404171" y="661118"/>
                  </a:lnTo>
                  <a:lnTo>
                    <a:pt x="1389094" y="683482"/>
                  </a:lnTo>
                  <a:lnTo>
                    <a:pt x="1366730" y="698559"/>
                  </a:lnTo>
                  <a:lnTo>
                    <a:pt x="1339341" y="704088"/>
                  </a:lnTo>
                  <a:lnTo>
                    <a:pt x="70357" y="704088"/>
                  </a:lnTo>
                  <a:lnTo>
                    <a:pt x="42969" y="698559"/>
                  </a:lnTo>
                  <a:lnTo>
                    <a:pt x="20605" y="683482"/>
                  </a:lnTo>
                  <a:lnTo>
                    <a:pt x="5528" y="661118"/>
                  </a:lnTo>
                  <a:lnTo>
                    <a:pt x="0" y="633730"/>
                  </a:lnTo>
                  <a:lnTo>
                    <a:pt x="0" y="7035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756652" y="3224910"/>
            <a:ext cx="13169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Natural</a:t>
            </a:r>
            <a:r>
              <a:rPr sz="21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139685" y="3881373"/>
            <a:ext cx="1986280" cy="716915"/>
            <a:chOff x="7139685" y="3881373"/>
            <a:chExt cx="1986280" cy="716915"/>
          </a:xfrm>
        </p:grpSpPr>
        <p:sp>
          <p:nvSpPr>
            <p:cNvPr id="34" name="object 34"/>
            <p:cNvSpPr/>
            <p:nvPr/>
          </p:nvSpPr>
          <p:spPr>
            <a:xfrm>
              <a:off x="7146035" y="4239005"/>
              <a:ext cx="563880" cy="0"/>
            </a:xfrm>
            <a:custGeom>
              <a:avLst/>
              <a:gdLst/>
              <a:ahLst/>
              <a:cxnLst/>
              <a:rect l="l" t="t" r="r" b="b"/>
              <a:pathLst>
                <a:path w="563879">
                  <a:moveTo>
                    <a:pt x="0" y="0"/>
                  </a:moveTo>
                  <a:lnTo>
                    <a:pt x="563753" y="0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09915" y="3887723"/>
              <a:ext cx="1409700" cy="704215"/>
            </a:xfrm>
            <a:custGeom>
              <a:avLst/>
              <a:gdLst/>
              <a:ahLst/>
              <a:cxnLst/>
              <a:rect l="l" t="t" r="r" b="b"/>
              <a:pathLst>
                <a:path w="1409700" h="704214">
                  <a:moveTo>
                    <a:pt x="1339341" y="0"/>
                  </a:moveTo>
                  <a:lnTo>
                    <a:pt x="70357" y="0"/>
                  </a:lnTo>
                  <a:lnTo>
                    <a:pt x="42969" y="5528"/>
                  </a:lnTo>
                  <a:lnTo>
                    <a:pt x="20605" y="20605"/>
                  </a:lnTo>
                  <a:lnTo>
                    <a:pt x="5528" y="42969"/>
                  </a:lnTo>
                  <a:lnTo>
                    <a:pt x="0" y="70357"/>
                  </a:lnTo>
                  <a:lnTo>
                    <a:pt x="0" y="633730"/>
                  </a:lnTo>
                  <a:lnTo>
                    <a:pt x="5528" y="661118"/>
                  </a:lnTo>
                  <a:lnTo>
                    <a:pt x="20605" y="683482"/>
                  </a:lnTo>
                  <a:lnTo>
                    <a:pt x="42969" y="698559"/>
                  </a:lnTo>
                  <a:lnTo>
                    <a:pt x="70357" y="704088"/>
                  </a:lnTo>
                  <a:lnTo>
                    <a:pt x="1339341" y="704088"/>
                  </a:lnTo>
                  <a:lnTo>
                    <a:pt x="1366730" y="698559"/>
                  </a:lnTo>
                  <a:lnTo>
                    <a:pt x="1389094" y="683482"/>
                  </a:lnTo>
                  <a:lnTo>
                    <a:pt x="1404171" y="661118"/>
                  </a:lnTo>
                  <a:lnTo>
                    <a:pt x="1409700" y="633730"/>
                  </a:lnTo>
                  <a:lnTo>
                    <a:pt x="1409700" y="70357"/>
                  </a:lnTo>
                  <a:lnTo>
                    <a:pt x="1404171" y="42969"/>
                  </a:lnTo>
                  <a:lnTo>
                    <a:pt x="1389094" y="20605"/>
                  </a:lnTo>
                  <a:lnTo>
                    <a:pt x="1366730" y="5528"/>
                  </a:lnTo>
                  <a:lnTo>
                    <a:pt x="1339341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709915" y="3887723"/>
              <a:ext cx="1409700" cy="704215"/>
            </a:xfrm>
            <a:custGeom>
              <a:avLst/>
              <a:gdLst/>
              <a:ahLst/>
              <a:cxnLst/>
              <a:rect l="l" t="t" r="r" b="b"/>
              <a:pathLst>
                <a:path w="1409700" h="704214">
                  <a:moveTo>
                    <a:pt x="0" y="70357"/>
                  </a:moveTo>
                  <a:lnTo>
                    <a:pt x="5528" y="42969"/>
                  </a:lnTo>
                  <a:lnTo>
                    <a:pt x="20605" y="20605"/>
                  </a:lnTo>
                  <a:lnTo>
                    <a:pt x="42969" y="5528"/>
                  </a:lnTo>
                  <a:lnTo>
                    <a:pt x="70357" y="0"/>
                  </a:lnTo>
                  <a:lnTo>
                    <a:pt x="1339341" y="0"/>
                  </a:lnTo>
                  <a:lnTo>
                    <a:pt x="1366730" y="5528"/>
                  </a:lnTo>
                  <a:lnTo>
                    <a:pt x="1389094" y="20605"/>
                  </a:lnTo>
                  <a:lnTo>
                    <a:pt x="1404171" y="42969"/>
                  </a:lnTo>
                  <a:lnTo>
                    <a:pt x="1409700" y="70357"/>
                  </a:lnTo>
                  <a:lnTo>
                    <a:pt x="1409700" y="633730"/>
                  </a:lnTo>
                  <a:lnTo>
                    <a:pt x="1404171" y="661118"/>
                  </a:lnTo>
                  <a:lnTo>
                    <a:pt x="1389094" y="683482"/>
                  </a:lnTo>
                  <a:lnTo>
                    <a:pt x="1366730" y="698559"/>
                  </a:lnTo>
                  <a:lnTo>
                    <a:pt x="1339341" y="704088"/>
                  </a:lnTo>
                  <a:lnTo>
                    <a:pt x="70357" y="704088"/>
                  </a:lnTo>
                  <a:lnTo>
                    <a:pt x="42969" y="698559"/>
                  </a:lnTo>
                  <a:lnTo>
                    <a:pt x="20605" y="683482"/>
                  </a:lnTo>
                  <a:lnTo>
                    <a:pt x="5528" y="661118"/>
                  </a:lnTo>
                  <a:lnTo>
                    <a:pt x="0" y="633730"/>
                  </a:lnTo>
                  <a:lnTo>
                    <a:pt x="0" y="7035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872476" y="4035297"/>
            <a:ext cx="10871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Inner 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139813" y="4233036"/>
            <a:ext cx="1986280" cy="1176020"/>
            <a:chOff x="7139813" y="4233036"/>
            <a:chExt cx="1986280" cy="1176020"/>
          </a:xfrm>
        </p:grpSpPr>
        <p:sp>
          <p:nvSpPr>
            <p:cNvPr id="39" name="object 39"/>
            <p:cNvSpPr/>
            <p:nvPr/>
          </p:nvSpPr>
          <p:spPr>
            <a:xfrm>
              <a:off x="7146163" y="4239386"/>
              <a:ext cx="563880" cy="810895"/>
            </a:xfrm>
            <a:custGeom>
              <a:avLst/>
              <a:gdLst/>
              <a:ahLst/>
              <a:cxnLst/>
              <a:rect l="l" t="t" r="r" b="b"/>
              <a:pathLst>
                <a:path w="563879" h="810895">
                  <a:moveTo>
                    <a:pt x="0" y="0"/>
                  </a:moveTo>
                  <a:lnTo>
                    <a:pt x="563752" y="810387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709916" y="4696967"/>
              <a:ext cx="1409700" cy="706120"/>
            </a:xfrm>
            <a:custGeom>
              <a:avLst/>
              <a:gdLst/>
              <a:ahLst/>
              <a:cxnLst/>
              <a:rect l="l" t="t" r="r" b="b"/>
              <a:pathLst>
                <a:path w="1409700" h="706120">
                  <a:moveTo>
                    <a:pt x="1339087" y="0"/>
                  </a:moveTo>
                  <a:lnTo>
                    <a:pt x="70611" y="0"/>
                  </a:lnTo>
                  <a:lnTo>
                    <a:pt x="43130" y="5550"/>
                  </a:lnTo>
                  <a:lnTo>
                    <a:pt x="20685" y="20685"/>
                  </a:lnTo>
                  <a:lnTo>
                    <a:pt x="5550" y="43130"/>
                  </a:lnTo>
                  <a:lnTo>
                    <a:pt x="0" y="70611"/>
                  </a:lnTo>
                  <a:lnTo>
                    <a:pt x="0" y="634999"/>
                  </a:lnTo>
                  <a:lnTo>
                    <a:pt x="5550" y="662481"/>
                  </a:lnTo>
                  <a:lnTo>
                    <a:pt x="20685" y="684926"/>
                  </a:lnTo>
                  <a:lnTo>
                    <a:pt x="43130" y="700061"/>
                  </a:lnTo>
                  <a:lnTo>
                    <a:pt x="70611" y="705611"/>
                  </a:lnTo>
                  <a:lnTo>
                    <a:pt x="1339087" y="705611"/>
                  </a:lnTo>
                  <a:lnTo>
                    <a:pt x="1366569" y="700061"/>
                  </a:lnTo>
                  <a:lnTo>
                    <a:pt x="1389014" y="684926"/>
                  </a:lnTo>
                  <a:lnTo>
                    <a:pt x="1404149" y="662481"/>
                  </a:lnTo>
                  <a:lnTo>
                    <a:pt x="1409700" y="634999"/>
                  </a:lnTo>
                  <a:lnTo>
                    <a:pt x="1409700" y="70611"/>
                  </a:lnTo>
                  <a:lnTo>
                    <a:pt x="1404149" y="43130"/>
                  </a:lnTo>
                  <a:lnTo>
                    <a:pt x="1389014" y="20685"/>
                  </a:lnTo>
                  <a:lnTo>
                    <a:pt x="1366569" y="5550"/>
                  </a:lnTo>
                  <a:lnTo>
                    <a:pt x="133908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09916" y="4696967"/>
              <a:ext cx="1409700" cy="706120"/>
            </a:xfrm>
            <a:custGeom>
              <a:avLst/>
              <a:gdLst/>
              <a:ahLst/>
              <a:cxnLst/>
              <a:rect l="l" t="t" r="r" b="b"/>
              <a:pathLst>
                <a:path w="1409700" h="706120">
                  <a:moveTo>
                    <a:pt x="0" y="70611"/>
                  </a:moveTo>
                  <a:lnTo>
                    <a:pt x="5550" y="43130"/>
                  </a:lnTo>
                  <a:lnTo>
                    <a:pt x="20685" y="20685"/>
                  </a:lnTo>
                  <a:lnTo>
                    <a:pt x="43130" y="5550"/>
                  </a:lnTo>
                  <a:lnTo>
                    <a:pt x="70611" y="0"/>
                  </a:lnTo>
                  <a:lnTo>
                    <a:pt x="1339087" y="0"/>
                  </a:lnTo>
                  <a:lnTo>
                    <a:pt x="1366569" y="5550"/>
                  </a:lnTo>
                  <a:lnTo>
                    <a:pt x="1389014" y="20685"/>
                  </a:lnTo>
                  <a:lnTo>
                    <a:pt x="1404149" y="43130"/>
                  </a:lnTo>
                  <a:lnTo>
                    <a:pt x="1409700" y="70611"/>
                  </a:lnTo>
                  <a:lnTo>
                    <a:pt x="1409700" y="634999"/>
                  </a:lnTo>
                  <a:lnTo>
                    <a:pt x="1404149" y="662481"/>
                  </a:lnTo>
                  <a:lnTo>
                    <a:pt x="1389014" y="684926"/>
                  </a:lnTo>
                  <a:lnTo>
                    <a:pt x="1366569" y="700061"/>
                  </a:lnTo>
                  <a:lnTo>
                    <a:pt x="1339087" y="705611"/>
                  </a:lnTo>
                  <a:lnTo>
                    <a:pt x="70611" y="705611"/>
                  </a:lnTo>
                  <a:lnTo>
                    <a:pt x="43130" y="700061"/>
                  </a:lnTo>
                  <a:lnTo>
                    <a:pt x="20685" y="684926"/>
                  </a:lnTo>
                  <a:lnTo>
                    <a:pt x="5550" y="662481"/>
                  </a:lnTo>
                  <a:lnTo>
                    <a:pt x="0" y="634999"/>
                  </a:lnTo>
                  <a:lnTo>
                    <a:pt x="0" y="7061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845043" y="4845811"/>
            <a:ext cx="11410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Outer</a:t>
            </a:r>
            <a:r>
              <a:rPr sz="2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9112884" y="3881373"/>
            <a:ext cx="1985645" cy="1174750"/>
            <a:chOff x="9112884" y="3881373"/>
            <a:chExt cx="1985645" cy="1174750"/>
          </a:xfrm>
        </p:grpSpPr>
        <p:sp>
          <p:nvSpPr>
            <p:cNvPr id="44" name="object 44"/>
            <p:cNvSpPr/>
            <p:nvPr/>
          </p:nvSpPr>
          <p:spPr>
            <a:xfrm>
              <a:off x="9119234" y="4239386"/>
              <a:ext cx="563880" cy="810895"/>
            </a:xfrm>
            <a:custGeom>
              <a:avLst/>
              <a:gdLst/>
              <a:ahLst/>
              <a:cxnLst/>
              <a:rect l="l" t="t" r="r" b="b"/>
              <a:pathLst>
                <a:path w="563879" h="810895">
                  <a:moveTo>
                    <a:pt x="0" y="810387"/>
                  </a:moveTo>
                  <a:lnTo>
                    <a:pt x="563753" y="0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683495" y="3887723"/>
              <a:ext cx="1408430" cy="704215"/>
            </a:xfrm>
            <a:custGeom>
              <a:avLst/>
              <a:gdLst/>
              <a:ahLst/>
              <a:cxnLst/>
              <a:rect l="l" t="t" r="r" b="b"/>
              <a:pathLst>
                <a:path w="1408429" h="704214">
                  <a:moveTo>
                    <a:pt x="1337818" y="0"/>
                  </a:moveTo>
                  <a:lnTo>
                    <a:pt x="70357" y="0"/>
                  </a:lnTo>
                  <a:lnTo>
                    <a:pt x="42969" y="5528"/>
                  </a:lnTo>
                  <a:lnTo>
                    <a:pt x="20605" y="20605"/>
                  </a:lnTo>
                  <a:lnTo>
                    <a:pt x="5528" y="42969"/>
                  </a:lnTo>
                  <a:lnTo>
                    <a:pt x="0" y="70357"/>
                  </a:lnTo>
                  <a:lnTo>
                    <a:pt x="0" y="633730"/>
                  </a:lnTo>
                  <a:lnTo>
                    <a:pt x="5528" y="661118"/>
                  </a:lnTo>
                  <a:lnTo>
                    <a:pt x="20605" y="683482"/>
                  </a:lnTo>
                  <a:lnTo>
                    <a:pt x="42969" y="698559"/>
                  </a:lnTo>
                  <a:lnTo>
                    <a:pt x="70357" y="704088"/>
                  </a:lnTo>
                  <a:lnTo>
                    <a:pt x="1337818" y="704088"/>
                  </a:lnTo>
                  <a:lnTo>
                    <a:pt x="1365206" y="698559"/>
                  </a:lnTo>
                  <a:lnTo>
                    <a:pt x="1387570" y="683482"/>
                  </a:lnTo>
                  <a:lnTo>
                    <a:pt x="1402647" y="661118"/>
                  </a:lnTo>
                  <a:lnTo>
                    <a:pt x="1408176" y="633730"/>
                  </a:lnTo>
                  <a:lnTo>
                    <a:pt x="1408176" y="70357"/>
                  </a:lnTo>
                  <a:lnTo>
                    <a:pt x="1402647" y="42969"/>
                  </a:lnTo>
                  <a:lnTo>
                    <a:pt x="1387570" y="20605"/>
                  </a:lnTo>
                  <a:lnTo>
                    <a:pt x="1365206" y="5528"/>
                  </a:lnTo>
                  <a:lnTo>
                    <a:pt x="133781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683495" y="3887723"/>
              <a:ext cx="1408430" cy="704215"/>
            </a:xfrm>
            <a:custGeom>
              <a:avLst/>
              <a:gdLst/>
              <a:ahLst/>
              <a:cxnLst/>
              <a:rect l="l" t="t" r="r" b="b"/>
              <a:pathLst>
                <a:path w="1408429" h="704214">
                  <a:moveTo>
                    <a:pt x="0" y="70357"/>
                  </a:moveTo>
                  <a:lnTo>
                    <a:pt x="5528" y="42969"/>
                  </a:lnTo>
                  <a:lnTo>
                    <a:pt x="20605" y="20605"/>
                  </a:lnTo>
                  <a:lnTo>
                    <a:pt x="42969" y="5528"/>
                  </a:lnTo>
                  <a:lnTo>
                    <a:pt x="70357" y="0"/>
                  </a:lnTo>
                  <a:lnTo>
                    <a:pt x="1337818" y="0"/>
                  </a:lnTo>
                  <a:lnTo>
                    <a:pt x="1365206" y="5528"/>
                  </a:lnTo>
                  <a:lnTo>
                    <a:pt x="1387570" y="20605"/>
                  </a:lnTo>
                  <a:lnTo>
                    <a:pt x="1402647" y="42969"/>
                  </a:lnTo>
                  <a:lnTo>
                    <a:pt x="1408176" y="70357"/>
                  </a:lnTo>
                  <a:lnTo>
                    <a:pt x="1408176" y="633730"/>
                  </a:lnTo>
                  <a:lnTo>
                    <a:pt x="1402647" y="661118"/>
                  </a:lnTo>
                  <a:lnTo>
                    <a:pt x="1387570" y="683482"/>
                  </a:lnTo>
                  <a:lnTo>
                    <a:pt x="1365206" y="698559"/>
                  </a:lnTo>
                  <a:lnTo>
                    <a:pt x="1337818" y="704088"/>
                  </a:lnTo>
                  <a:lnTo>
                    <a:pt x="70357" y="704088"/>
                  </a:lnTo>
                  <a:lnTo>
                    <a:pt x="42969" y="698559"/>
                  </a:lnTo>
                  <a:lnTo>
                    <a:pt x="20605" y="683482"/>
                  </a:lnTo>
                  <a:lnTo>
                    <a:pt x="5528" y="661118"/>
                  </a:lnTo>
                  <a:lnTo>
                    <a:pt x="0" y="633730"/>
                  </a:lnTo>
                  <a:lnTo>
                    <a:pt x="0" y="70357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9824466" y="3888740"/>
            <a:ext cx="1129665" cy="64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42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Left</a:t>
            </a:r>
            <a:r>
              <a:rPr sz="2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Outer</a:t>
            </a:r>
            <a:endParaRPr sz="2100">
              <a:latin typeface="Calibri"/>
              <a:cs typeface="Calibri"/>
            </a:endParaRPr>
          </a:p>
          <a:p>
            <a:pPr algn="ctr">
              <a:lnSpc>
                <a:spcPts val="2420"/>
              </a:lnSpc>
            </a:pP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9113266" y="4690617"/>
            <a:ext cx="1985010" cy="718820"/>
            <a:chOff x="9113266" y="4690617"/>
            <a:chExt cx="1985010" cy="718820"/>
          </a:xfrm>
        </p:grpSpPr>
        <p:sp>
          <p:nvSpPr>
            <p:cNvPr id="49" name="object 49"/>
            <p:cNvSpPr/>
            <p:nvPr/>
          </p:nvSpPr>
          <p:spPr>
            <a:xfrm>
              <a:off x="9119616" y="5049773"/>
              <a:ext cx="563880" cy="0"/>
            </a:xfrm>
            <a:custGeom>
              <a:avLst/>
              <a:gdLst/>
              <a:ahLst/>
              <a:cxnLst/>
              <a:rect l="l" t="t" r="r" b="b"/>
              <a:pathLst>
                <a:path w="563879">
                  <a:moveTo>
                    <a:pt x="0" y="0"/>
                  </a:moveTo>
                  <a:lnTo>
                    <a:pt x="563752" y="0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683496" y="4696967"/>
              <a:ext cx="1408430" cy="706120"/>
            </a:xfrm>
            <a:custGeom>
              <a:avLst/>
              <a:gdLst/>
              <a:ahLst/>
              <a:cxnLst/>
              <a:rect l="l" t="t" r="r" b="b"/>
              <a:pathLst>
                <a:path w="1408429" h="706120">
                  <a:moveTo>
                    <a:pt x="1337563" y="0"/>
                  </a:moveTo>
                  <a:lnTo>
                    <a:pt x="70611" y="0"/>
                  </a:lnTo>
                  <a:lnTo>
                    <a:pt x="43130" y="5550"/>
                  </a:lnTo>
                  <a:lnTo>
                    <a:pt x="20685" y="20685"/>
                  </a:lnTo>
                  <a:lnTo>
                    <a:pt x="5550" y="43130"/>
                  </a:lnTo>
                  <a:lnTo>
                    <a:pt x="0" y="70611"/>
                  </a:lnTo>
                  <a:lnTo>
                    <a:pt x="0" y="634999"/>
                  </a:lnTo>
                  <a:lnTo>
                    <a:pt x="5550" y="662481"/>
                  </a:lnTo>
                  <a:lnTo>
                    <a:pt x="20685" y="684926"/>
                  </a:lnTo>
                  <a:lnTo>
                    <a:pt x="43130" y="700061"/>
                  </a:lnTo>
                  <a:lnTo>
                    <a:pt x="70611" y="705611"/>
                  </a:lnTo>
                  <a:lnTo>
                    <a:pt x="1337563" y="705611"/>
                  </a:lnTo>
                  <a:lnTo>
                    <a:pt x="1365045" y="700061"/>
                  </a:lnTo>
                  <a:lnTo>
                    <a:pt x="1387490" y="684926"/>
                  </a:lnTo>
                  <a:lnTo>
                    <a:pt x="1402625" y="662481"/>
                  </a:lnTo>
                  <a:lnTo>
                    <a:pt x="1408176" y="634999"/>
                  </a:lnTo>
                  <a:lnTo>
                    <a:pt x="1408176" y="70611"/>
                  </a:lnTo>
                  <a:lnTo>
                    <a:pt x="1402625" y="43130"/>
                  </a:lnTo>
                  <a:lnTo>
                    <a:pt x="1387490" y="20685"/>
                  </a:lnTo>
                  <a:lnTo>
                    <a:pt x="1365045" y="5550"/>
                  </a:lnTo>
                  <a:lnTo>
                    <a:pt x="133756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683496" y="4696967"/>
              <a:ext cx="1408430" cy="706120"/>
            </a:xfrm>
            <a:custGeom>
              <a:avLst/>
              <a:gdLst/>
              <a:ahLst/>
              <a:cxnLst/>
              <a:rect l="l" t="t" r="r" b="b"/>
              <a:pathLst>
                <a:path w="1408429" h="706120">
                  <a:moveTo>
                    <a:pt x="0" y="70611"/>
                  </a:moveTo>
                  <a:lnTo>
                    <a:pt x="5550" y="43130"/>
                  </a:lnTo>
                  <a:lnTo>
                    <a:pt x="20685" y="20685"/>
                  </a:lnTo>
                  <a:lnTo>
                    <a:pt x="43130" y="5550"/>
                  </a:lnTo>
                  <a:lnTo>
                    <a:pt x="70611" y="0"/>
                  </a:lnTo>
                  <a:lnTo>
                    <a:pt x="1337563" y="0"/>
                  </a:lnTo>
                  <a:lnTo>
                    <a:pt x="1365045" y="5550"/>
                  </a:lnTo>
                  <a:lnTo>
                    <a:pt x="1387490" y="20685"/>
                  </a:lnTo>
                  <a:lnTo>
                    <a:pt x="1402625" y="43130"/>
                  </a:lnTo>
                  <a:lnTo>
                    <a:pt x="1408176" y="70611"/>
                  </a:lnTo>
                  <a:lnTo>
                    <a:pt x="1408176" y="634999"/>
                  </a:lnTo>
                  <a:lnTo>
                    <a:pt x="1402625" y="662481"/>
                  </a:lnTo>
                  <a:lnTo>
                    <a:pt x="1387490" y="684926"/>
                  </a:lnTo>
                  <a:lnTo>
                    <a:pt x="1365045" y="700061"/>
                  </a:lnTo>
                  <a:lnTo>
                    <a:pt x="1337563" y="705611"/>
                  </a:lnTo>
                  <a:lnTo>
                    <a:pt x="70611" y="705611"/>
                  </a:lnTo>
                  <a:lnTo>
                    <a:pt x="43130" y="700061"/>
                  </a:lnTo>
                  <a:lnTo>
                    <a:pt x="20685" y="684926"/>
                  </a:lnTo>
                  <a:lnTo>
                    <a:pt x="5550" y="662481"/>
                  </a:lnTo>
                  <a:lnTo>
                    <a:pt x="0" y="634999"/>
                  </a:lnTo>
                  <a:lnTo>
                    <a:pt x="0" y="7061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751314" y="4698949"/>
            <a:ext cx="1274445" cy="640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42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Right</a:t>
            </a:r>
            <a:r>
              <a:rPr sz="2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Outer</a:t>
            </a:r>
            <a:endParaRPr sz="2100">
              <a:latin typeface="Calibri"/>
              <a:cs typeface="Calibri"/>
            </a:endParaRPr>
          </a:p>
          <a:p>
            <a:pPr algn="ctr">
              <a:lnSpc>
                <a:spcPts val="2420"/>
              </a:lnSpc>
            </a:pP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9112884" y="5043423"/>
            <a:ext cx="1985645" cy="1174750"/>
            <a:chOff x="9112884" y="5043423"/>
            <a:chExt cx="1985645" cy="1174750"/>
          </a:xfrm>
        </p:grpSpPr>
        <p:sp>
          <p:nvSpPr>
            <p:cNvPr id="54" name="object 54"/>
            <p:cNvSpPr/>
            <p:nvPr/>
          </p:nvSpPr>
          <p:spPr>
            <a:xfrm>
              <a:off x="9119234" y="5049773"/>
              <a:ext cx="563880" cy="810895"/>
            </a:xfrm>
            <a:custGeom>
              <a:avLst/>
              <a:gdLst/>
              <a:ahLst/>
              <a:cxnLst/>
              <a:rect l="l" t="t" r="r" b="b"/>
              <a:pathLst>
                <a:path w="563879" h="810895">
                  <a:moveTo>
                    <a:pt x="0" y="0"/>
                  </a:moveTo>
                  <a:lnTo>
                    <a:pt x="563753" y="810361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683495" y="5507735"/>
              <a:ext cx="1408430" cy="704215"/>
            </a:xfrm>
            <a:custGeom>
              <a:avLst/>
              <a:gdLst/>
              <a:ahLst/>
              <a:cxnLst/>
              <a:rect l="l" t="t" r="r" b="b"/>
              <a:pathLst>
                <a:path w="1408429" h="704214">
                  <a:moveTo>
                    <a:pt x="1337818" y="0"/>
                  </a:moveTo>
                  <a:lnTo>
                    <a:pt x="70357" y="0"/>
                  </a:lnTo>
                  <a:lnTo>
                    <a:pt x="42969" y="5528"/>
                  </a:lnTo>
                  <a:lnTo>
                    <a:pt x="20605" y="20605"/>
                  </a:lnTo>
                  <a:lnTo>
                    <a:pt x="5528" y="42969"/>
                  </a:lnTo>
                  <a:lnTo>
                    <a:pt x="0" y="70357"/>
                  </a:lnTo>
                  <a:lnTo>
                    <a:pt x="0" y="633679"/>
                  </a:lnTo>
                  <a:lnTo>
                    <a:pt x="5528" y="661086"/>
                  </a:lnTo>
                  <a:lnTo>
                    <a:pt x="20605" y="683466"/>
                  </a:lnTo>
                  <a:lnTo>
                    <a:pt x="42969" y="698555"/>
                  </a:lnTo>
                  <a:lnTo>
                    <a:pt x="70357" y="704087"/>
                  </a:lnTo>
                  <a:lnTo>
                    <a:pt x="1337818" y="704087"/>
                  </a:lnTo>
                  <a:lnTo>
                    <a:pt x="1365206" y="698555"/>
                  </a:lnTo>
                  <a:lnTo>
                    <a:pt x="1387570" y="683466"/>
                  </a:lnTo>
                  <a:lnTo>
                    <a:pt x="1402647" y="661086"/>
                  </a:lnTo>
                  <a:lnTo>
                    <a:pt x="1408176" y="633679"/>
                  </a:lnTo>
                  <a:lnTo>
                    <a:pt x="1408176" y="70357"/>
                  </a:lnTo>
                  <a:lnTo>
                    <a:pt x="1402647" y="42969"/>
                  </a:lnTo>
                  <a:lnTo>
                    <a:pt x="1387570" y="20605"/>
                  </a:lnTo>
                  <a:lnTo>
                    <a:pt x="1365206" y="5528"/>
                  </a:lnTo>
                  <a:lnTo>
                    <a:pt x="133781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683495" y="5507735"/>
              <a:ext cx="1408430" cy="704215"/>
            </a:xfrm>
            <a:custGeom>
              <a:avLst/>
              <a:gdLst/>
              <a:ahLst/>
              <a:cxnLst/>
              <a:rect l="l" t="t" r="r" b="b"/>
              <a:pathLst>
                <a:path w="1408429" h="704214">
                  <a:moveTo>
                    <a:pt x="0" y="70357"/>
                  </a:moveTo>
                  <a:lnTo>
                    <a:pt x="5528" y="42969"/>
                  </a:lnTo>
                  <a:lnTo>
                    <a:pt x="20605" y="20605"/>
                  </a:lnTo>
                  <a:lnTo>
                    <a:pt x="42969" y="5528"/>
                  </a:lnTo>
                  <a:lnTo>
                    <a:pt x="70357" y="0"/>
                  </a:lnTo>
                  <a:lnTo>
                    <a:pt x="1337818" y="0"/>
                  </a:lnTo>
                  <a:lnTo>
                    <a:pt x="1365206" y="5528"/>
                  </a:lnTo>
                  <a:lnTo>
                    <a:pt x="1387570" y="20605"/>
                  </a:lnTo>
                  <a:lnTo>
                    <a:pt x="1402647" y="42969"/>
                  </a:lnTo>
                  <a:lnTo>
                    <a:pt x="1408176" y="70357"/>
                  </a:lnTo>
                  <a:lnTo>
                    <a:pt x="1408176" y="633679"/>
                  </a:lnTo>
                  <a:lnTo>
                    <a:pt x="1402647" y="661086"/>
                  </a:lnTo>
                  <a:lnTo>
                    <a:pt x="1387570" y="683466"/>
                  </a:lnTo>
                  <a:lnTo>
                    <a:pt x="1365206" y="698555"/>
                  </a:lnTo>
                  <a:lnTo>
                    <a:pt x="1337818" y="704087"/>
                  </a:lnTo>
                  <a:lnTo>
                    <a:pt x="70357" y="704087"/>
                  </a:lnTo>
                  <a:lnTo>
                    <a:pt x="42969" y="698555"/>
                  </a:lnTo>
                  <a:lnTo>
                    <a:pt x="20605" y="683466"/>
                  </a:lnTo>
                  <a:lnTo>
                    <a:pt x="5528" y="661086"/>
                  </a:lnTo>
                  <a:lnTo>
                    <a:pt x="0" y="633679"/>
                  </a:lnTo>
                  <a:lnTo>
                    <a:pt x="0" y="7035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9838181" y="5509971"/>
            <a:ext cx="1100455" cy="6400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37185" marR="5080" indent="-325120">
              <a:lnSpc>
                <a:spcPts val="2320"/>
              </a:lnSpc>
              <a:spcBef>
                <a:spcPts val="34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Full</a:t>
            </a:r>
            <a:r>
              <a:rPr sz="2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Outer 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4564" y="634060"/>
            <a:ext cx="772795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spc="-30" dirty="0"/>
              <a:t>Queries</a:t>
            </a:r>
            <a:r>
              <a:rPr sz="5200" spc="-204" dirty="0"/>
              <a:t> </a:t>
            </a:r>
            <a:r>
              <a:rPr sz="5200" dirty="0"/>
              <a:t>on</a:t>
            </a:r>
            <a:r>
              <a:rPr sz="5200" spc="-190" dirty="0"/>
              <a:t> </a:t>
            </a:r>
            <a:r>
              <a:rPr sz="5200" spc="-55" dirty="0"/>
              <a:t>Relational</a:t>
            </a:r>
            <a:r>
              <a:rPr sz="5200" spc="-185" dirty="0"/>
              <a:t> </a:t>
            </a:r>
            <a:r>
              <a:rPr sz="5200" spc="-10" dirty="0"/>
              <a:t>Algebra</a:t>
            </a:r>
            <a:endParaRPr sz="5200"/>
          </a:p>
        </p:txBody>
      </p:sp>
      <p:sp>
        <p:nvSpPr>
          <p:cNvPr id="3" name="object 3"/>
          <p:cNvSpPr/>
          <p:nvPr/>
        </p:nvSpPr>
        <p:spPr>
          <a:xfrm>
            <a:off x="838200" y="182880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8200" y="2916935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8200" y="4005071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8200" y="5093208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6000" y="1573965"/>
            <a:ext cx="8894445" cy="4378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2800"/>
              </a:lnSpc>
              <a:spcBef>
                <a:spcPts val="95"/>
              </a:spcBef>
              <a:tabLst>
                <a:tab pos="1456690" algn="l"/>
              </a:tabLst>
            </a:pPr>
            <a:r>
              <a:rPr sz="5000" dirty="0">
                <a:latin typeface="Calibri"/>
                <a:cs typeface="Calibri"/>
              </a:rPr>
              <a:t>Q)</a:t>
            </a:r>
            <a:r>
              <a:rPr sz="5000" spc="-15" dirty="0">
                <a:latin typeface="Calibri"/>
                <a:cs typeface="Calibri"/>
              </a:rPr>
              <a:t> </a:t>
            </a:r>
            <a:r>
              <a:rPr sz="5000" dirty="0">
                <a:latin typeface="Calibri"/>
                <a:cs typeface="Calibri"/>
              </a:rPr>
              <a:t>Consider</a:t>
            </a:r>
            <a:r>
              <a:rPr sz="5000" spc="-15" dirty="0">
                <a:latin typeface="Calibri"/>
                <a:cs typeface="Calibri"/>
              </a:rPr>
              <a:t> </a:t>
            </a:r>
            <a:r>
              <a:rPr sz="5000" dirty="0">
                <a:latin typeface="Calibri"/>
                <a:cs typeface="Calibri"/>
              </a:rPr>
              <a:t>the</a:t>
            </a:r>
            <a:r>
              <a:rPr sz="5000" spc="-10" dirty="0">
                <a:latin typeface="Calibri"/>
                <a:cs typeface="Calibri"/>
              </a:rPr>
              <a:t> </a:t>
            </a:r>
            <a:r>
              <a:rPr sz="5000" dirty="0">
                <a:latin typeface="Calibri"/>
                <a:cs typeface="Calibri"/>
              </a:rPr>
              <a:t>following</a:t>
            </a:r>
            <a:r>
              <a:rPr sz="5000" spc="-30" dirty="0">
                <a:latin typeface="Calibri"/>
                <a:cs typeface="Calibri"/>
              </a:rPr>
              <a:t> </a:t>
            </a:r>
            <a:r>
              <a:rPr sz="5000" spc="-10" dirty="0">
                <a:latin typeface="Calibri"/>
                <a:cs typeface="Calibri"/>
              </a:rPr>
              <a:t>schema: </a:t>
            </a:r>
            <a:r>
              <a:rPr sz="5000" dirty="0">
                <a:latin typeface="Calibri"/>
                <a:cs typeface="Calibri"/>
              </a:rPr>
              <a:t>Suppliers</a:t>
            </a:r>
            <a:r>
              <a:rPr sz="5000" spc="-40" dirty="0">
                <a:latin typeface="Calibri"/>
                <a:cs typeface="Calibri"/>
              </a:rPr>
              <a:t> </a:t>
            </a:r>
            <a:r>
              <a:rPr sz="5000" dirty="0">
                <a:latin typeface="Calibri"/>
                <a:cs typeface="Calibri"/>
              </a:rPr>
              <a:t>(</a:t>
            </a:r>
            <a:r>
              <a:rPr sz="5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sid,</a:t>
            </a:r>
            <a:r>
              <a:rPr sz="5000" spc="-50" dirty="0">
                <a:latin typeface="Calibri"/>
                <a:cs typeface="Calibri"/>
              </a:rPr>
              <a:t> </a:t>
            </a:r>
            <a:r>
              <a:rPr sz="5000" dirty="0">
                <a:latin typeface="Calibri"/>
                <a:cs typeface="Calibri"/>
              </a:rPr>
              <a:t>sname</a:t>
            </a:r>
            <a:r>
              <a:rPr sz="5000" spc="-50" dirty="0">
                <a:latin typeface="Calibri"/>
                <a:cs typeface="Calibri"/>
              </a:rPr>
              <a:t> </a:t>
            </a:r>
            <a:r>
              <a:rPr sz="5000" dirty="0">
                <a:latin typeface="Calibri"/>
                <a:cs typeface="Calibri"/>
              </a:rPr>
              <a:t>,</a:t>
            </a:r>
            <a:r>
              <a:rPr sz="5000" spc="-35" dirty="0">
                <a:latin typeface="Calibri"/>
                <a:cs typeface="Calibri"/>
              </a:rPr>
              <a:t> </a:t>
            </a:r>
            <a:r>
              <a:rPr sz="5000" spc="-10" dirty="0">
                <a:latin typeface="Calibri"/>
                <a:cs typeface="Calibri"/>
              </a:rPr>
              <a:t>address) Parts</a:t>
            </a:r>
            <a:r>
              <a:rPr sz="5000" dirty="0">
                <a:latin typeface="Calibri"/>
                <a:cs typeface="Calibri"/>
              </a:rPr>
              <a:t>	(</a:t>
            </a:r>
            <a:r>
              <a:rPr sz="5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pid</a:t>
            </a:r>
            <a:r>
              <a:rPr sz="50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5000" dirty="0">
                <a:latin typeface="Calibri"/>
                <a:cs typeface="Calibri"/>
              </a:rPr>
              <a:t>,</a:t>
            </a:r>
            <a:r>
              <a:rPr sz="5000" spc="-10" dirty="0">
                <a:latin typeface="Calibri"/>
                <a:cs typeface="Calibri"/>
              </a:rPr>
              <a:t> </a:t>
            </a:r>
            <a:r>
              <a:rPr sz="5000" dirty="0">
                <a:latin typeface="Calibri"/>
                <a:cs typeface="Calibri"/>
              </a:rPr>
              <a:t>pname,</a:t>
            </a:r>
            <a:r>
              <a:rPr sz="5000" spc="-25" dirty="0">
                <a:latin typeface="Calibri"/>
                <a:cs typeface="Calibri"/>
              </a:rPr>
              <a:t> </a:t>
            </a:r>
            <a:r>
              <a:rPr sz="5000" spc="-10" dirty="0">
                <a:latin typeface="Calibri"/>
                <a:cs typeface="Calibri"/>
              </a:rPr>
              <a:t>color)</a:t>
            </a:r>
            <a:endParaRPr sz="5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70"/>
              </a:spcBef>
            </a:pPr>
            <a:r>
              <a:rPr sz="5000" dirty="0">
                <a:latin typeface="Calibri"/>
                <a:cs typeface="Calibri"/>
              </a:rPr>
              <a:t>Catalog</a:t>
            </a:r>
            <a:r>
              <a:rPr sz="5000" spc="-55" dirty="0">
                <a:latin typeface="Calibri"/>
                <a:cs typeface="Calibri"/>
              </a:rPr>
              <a:t> </a:t>
            </a:r>
            <a:r>
              <a:rPr sz="5000" dirty="0">
                <a:latin typeface="Calibri"/>
                <a:cs typeface="Calibri"/>
              </a:rPr>
              <a:t>(</a:t>
            </a:r>
            <a:r>
              <a:rPr sz="5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sid</a:t>
            </a:r>
            <a:r>
              <a:rPr sz="5000" dirty="0">
                <a:latin typeface="Calibri"/>
                <a:cs typeface="Calibri"/>
              </a:rPr>
              <a:t>,</a:t>
            </a:r>
            <a:r>
              <a:rPr sz="5000" spc="-50" dirty="0">
                <a:latin typeface="Calibri"/>
                <a:cs typeface="Calibri"/>
              </a:rPr>
              <a:t> </a:t>
            </a:r>
            <a:r>
              <a:rPr sz="5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pid</a:t>
            </a:r>
            <a:r>
              <a:rPr sz="50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5000" dirty="0">
                <a:latin typeface="Calibri"/>
                <a:cs typeface="Calibri"/>
              </a:rPr>
              <a:t>,</a:t>
            </a:r>
            <a:r>
              <a:rPr sz="5000" spc="-40" dirty="0">
                <a:latin typeface="Calibri"/>
                <a:cs typeface="Calibri"/>
              </a:rPr>
              <a:t> </a:t>
            </a:r>
            <a:r>
              <a:rPr sz="5000" spc="-10" dirty="0">
                <a:latin typeface="Calibri"/>
                <a:cs typeface="Calibri"/>
              </a:rPr>
              <a:t>cost)</a:t>
            </a:r>
            <a:endParaRPr sz="5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2377" y="228981"/>
            <a:ext cx="92138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Queries</a:t>
            </a:r>
            <a:r>
              <a:rPr sz="4400" spc="-120" dirty="0"/>
              <a:t> </a:t>
            </a:r>
            <a:r>
              <a:rPr sz="4400" dirty="0"/>
              <a:t>on</a:t>
            </a:r>
            <a:r>
              <a:rPr sz="4400" spc="-95" dirty="0"/>
              <a:t> </a:t>
            </a:r>
            <a:r>
              <a:rPr sz="4400" spc="-10" dirty="0"/>
              <a:t>Relational</a:t>
            </a:r>
            <a:r>
              <a:rPr sz="4400" spc="-90" dirty="0"/>
              <a:t> </a:t>
            </a:r>
            <a:r>
              <a:rPr sz="4400" dirty="0"/>
              <a:t>Algebra-</a:t>
            </a:r>
            <a:r>
              <a:rPr sz="4400" spc="-110" dirty="0"/>
              <a:t> </a:t>
            </a:r>
            <a:r>
              <a:rPr sz="4400" spc="-10" dirty="0"/>
              <a:t>Projection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83539" y="968451"/>
            <a:ext cx="10826115" cy="547243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768985" marR="1141730" indent="-744220">
              <a:lnSpc>
                <a:spcPts val="4210"/>
              </a:lnSpc>
              <a:spcBef>
                <a:spcPts val="635"/>
              </a:spcBef>
              <a:buAutoNum type="arabicPeriod"/>
              <a:tabLst>
                <a:tab pos="768985" algn="l"/>
              </a:tabLst>
            </a:pPr>
            <a:r>
              <a:rPr sz="3900" dirty="0">
                <a:latin typeface="Calibri"/>
                <a:cs typeface="Calibri"/>
              </a:rPr>
              <a:t>Write</a:t>
            </a:r>
            <a:r>
              <a:rPr sz="3900" spc="-80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a</a:t>
            </a:r>
            <a:r>
              <a:rPr sz="3900" spc="-90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query</a:t>
            </a:r>
            <a:r>
              <a:rPr sz="3900" spc="-90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in</a:t>
            </a:r>
            <a:r>
              <a:rPr sz="3900" spc="-95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relational</a:t>
            </a:r>
            <a:r>
              <a:rPr sz="3900" spc="-90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algebra</a:t>
            </a:r>
            <a:r>
              <a:rPr sz="3900" spc="-90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to</a:t>
            </a:r>
            <a:r>
              <a:rPr sz="3900" spc="-85" dirty="0">
                <a:latin typeface="Calibri"/>
                <a:cs typeface="Calibri"/>
              </a:rPr>
              <a:t> </a:t>
            </a:r>
            <a:r>
              <a:rPr sz="3900" spc="-10" dirty="0">
                <a:latin typeface="Calibri"/>
                <a:cs typeface="Calibri"/>
              </a:rPr>
              <a:t>display </a:t>
            </a:r>
            <a:r>
              <a:rPr sz="3900" dirty="0">
                <a:latin typeface="Calibri"/>
                <a:cs typeface="Calibri"/>
              </a:rPr>
              <a:t>Sname</a:t>
            </a:r>
            <a:r>
              <a:rPr sz="3900" spc="-30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of</a:t>
            </a:r>
            <a:r>
              <a:rPr sz="3900" spc="-10" dirty="0">
                <a:latin typeface="Calibri"/>
                <a:cs typeface="Calibri"/>
              </a:rPr>
              <a:t> Suppliers?</a:t>
            </a:r>
            <a:endParaRPr sz="3900">
              <a:latin typeface="Calibri"/>
              <a:cs typeface="Calibri"/>
            </a:endParaRPr>
          </a:p>
          <a:p>
            <a:pPr marL="933450">
              <a:lnSpc>
                <a:spcPts val="4660"/>
              </a:lnSpc>
            </a:pPr>
            <a:r>
              <a:rPr sz="3900" b="1" spc="-10" dirty="0">
                <a:latin typeface="Calibri"/>
                <a:cs typeface="Calibri"/>
              </a:rPr>
              <a:t>π</a:t>
            </a:r>
            <a:r>
              <a:rPr sz="3900" b="1" spc="-15" baseline="-20299" dirty="0">
                <a:latin typeface="Calibri"/>
                <a:cs typeface="Calibri"/>
              </a:rPr>
              <a:t>sname</a:t>
            </a:r>
            <a:r>
              <a:rPr sz="3900" b="1" spc="-10" dirty="0">
                <a:latin typeface="Calibri"/>
                <a:cs typeface="Calibri"/>
              </a:rPr>
              <a:t>(Suppliers)</a:t>
            </a:r>
            <a:endParaRPr sz="3900">
              <a:latin typeface="Calibri"/>
              <a:cs typeface="Calibri"/>
            </a:endParaRPr>
          </a:p>
          <a:p>
            <a:pPr marL="768985" marR="1141730" indent="-744220">
              <a:lnSpc>
                <a:spcPts val="4210"/>
              </a:lnSpc>
              <a:spcBef>
                <a:spcPts val="1060"/>
              </a:spcBef>
              <a:buAutoNum type="arabicPeriod" startAt="2"/>
              <a:tabLst>
                <a:tab pos="768985" algn="l"/>
              </a:tabLst>
            </a:pPr>
            <a:r>
              <a:rPr sz="3900" dirty="0">
                <a:latin typeface="Calibri"/>
                <a:cs typeface="Calibri"/>
              </a:rPr>
              <a:t>Write</a:t>
            </a:r>
            <a:r>
              <a:rPr sz="3900" spc="-80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a</a:t>
            </a:r>
            <a:r>
              <a:rPr sz="3900" spc="-90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query</a:t>
            </a:r>
            <a:r>
              <a:rPr sz="3900" spc="-90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in</a:t>
            </a:r>
            <a:r>
              <a:rPr sz="3900" spc="-95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relational</a:t>
            </a:r>
            <a:r>
              <a:rPr sz="3900" spc="-90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algebra</a:t>
            </a:r>
            <a:r>
              <a:rPr sz="3900" spc="-90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to</a:t>
            </a:r>
            <a:r>
              <a:rPr sz="3900" spc="-85" dirty="0">
                <a:latin typeface="Calibri"/>
                <a:cs typeface="Calibri"/>
              </a:rPr>
              <a:t> </a:t>
            </a:r>
            <a:r>
              <a:rPr sz="3900" spc="-10" dirty="0">
                <a:latin typeface="Calibri"/>
                <a:cs typeface="Calibri"/>
              </a:rPr>
              <a:t>display </a:t>
            </a:r>
            <a:r>
              <a:rPr sz="3900" dirty="0">
                <a:latin typeface="Calibri"/>
                <a:cs typeface="Calibri"/>
              </a:rPr>
              <a:t>pname</a:t>
            </a:r>
            <a:r>
              <a:rPr sz="3900" spc="-60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and</a:t>
            </a:r>
            <a:r>
              <a:rPr sz="3900" spc="-40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color</a:t>
            </a:r>
            <a:r>
              <a:rPr sz="3900" spc="-15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of</a:t>
            </a:r>
            <a:r>
              <a:rPr sz="3900" spc="-45" dirty="0">
                <a:latin typeface="Calibri"/>
                <a:cs typeface="Calibri"/>
              </a:rPr>
              <a:t> </a:t>
            </a:r>
            <a:r>
              <a:rPr sz="3900" spc="-10" dirty="0">
                <a:latin typeface="Calibri"/>
                <a:cs typeface="Calibri"/>
              </a:rPr>
              <a:t>Parts?</a:t>
            </a:r>
            <a:endParaRPr sz="3900">
              <a:latin typeface="Calibri"/>
              <a:cs typeface="Calibri"/>
            </a:endParaRPr>
          </a:p>
          <a:p>
            <a:pPr marL="1040130">
              <a:lnSpc>
                <a:spcPts val="4465"/>
              </a:lnSpc>
              <a:spcBef>
                <a:spcPts val="1440"/>
              </a:spcBef>
            </a:pPr>
            <a:r>
              <a:rPr sz="5850" b="1" baseline="13532" dirty="0">
                <a:latin typeface="Calibri"/>
                <a:cs typeface="Calibri"/>
              </a:rPr>
              <a:t>π</a:t>
            </a:r>
            <a:r>
              <a:rPr sz="2600" b="1" dirty="0">
                <a:latin typeface="Calibri"/>
                <a:cs typeface="Calibri"/>
              </a:rPr>
              <a:t>pname,</a:t>
            </a:r>
            <a:r>
              <a:rPr sz="2600" b="1" spc="-114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color</a:t>
            </a:r>
            <a:r>
              <a:rPr sz="5850" b="1" spc="-15" baseline="13532" dirty="0">
                <a:latin typeface="Calibri"/>
                <a:cs typeface="Calibri"/>
              </a:rPr>
              <a:t>(Parts)</a:t>
            </a:r>
            <a:endParaRPr sz="5850" baseline="13532">
              <a:latin typeface="Calibri"/>
              <a:cs typeface="Calibri"/>
            </a:endParaRPr>
          </a:p>
          <a:p>
            <a:pPr marL="939800" marR="17780" indent="-915035">
              <a:lnSpc>
                <a:spcPts val="4210"/>
              </a:lnSpc>
              <a:spcBef>
                <a:spcPts val="320"/>
              </a:spcBef>
              <a:buAutoNum type="arabicPeriod" startAt="3"/>
              <a:tabLst>
                <a:tab pos="939800" algn="l"/>
                <a:tab pos="962660" algn="l"/>
              </a:tabLst>
            </a:pPr>
            <a:r>
              <a:rPr sz="3900" dirty="0">
                <a:latin typeface="Calibri"/>
                <a:cs typeface="Calibri"/>
              </a:rPr>
              <a:t>	Write</a:t>
            </a:r>
            <a:r>
              <a:rPr sz="3900" spc="-95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a</a:t>
            </a:r>
            <a:r>
              <a:rPr sz="3900" spc="-110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query</a:t>
            </a:r>
            <a:r>
              <a:rPr sz="3900" spc="-105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in</a:t>
            </a:r>
            <a:r>
              <a:rPr sz="3900" spc="-114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relational</a:t>
            </a:r>
            <a:r>
              <a:rPr sz="3900" spc="-100" dirty="0">
                <a:latin typeface="Calibri"/>
                <a:cs typeface="Calibri"/>
              </a:rPr>
              <a:t> </a:t>
            </a:r>
            <a:r>
              <a:rPr sz="3900" spc="-10" dirty="0">
                <a:latin typeface="Calibri"/>
                <a:cs typeface="Calibri"/>
              </a:rPr>
              <a:t>algebra</a:t>
            </a:r>
            <a:r>
              <a:rPr sz="3900" spc="-110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to</a:t>
            </a:r>
            <a:r>
              <a:rPr sz="3900" spc="-95" dirty="0">
                <a:latin typeface="Calibri"/>
                <a:cs typeface="Calibri"/>
              </a:rPr>
              <a:t> </a:t>
            </a:r>
            <a:r>
              <a:rPr sz="3900" dirty="0">
                <a:latin typeface="Calibri"/>
                <a:cs typeface="Calibri"/>
              </a:rPr>
              <a:t>display</a:t>
            </a:r>
            <a:r>
              <a:rPr sz="3900" spc="-110" dirty="0">
                <a:latin typeface="Calibri"/>
                <a:cs typeface="Calibri"/>
              </a:rPr>
              <a:t> </a:t>
            </a:r>
            <a:r>
              <a:rPr sz="3900" spc="-20" dirty="0">
                <a:latin typeface="Calibri"/>
                <a:cs typeface="Calibri"/>
              </a:rPr>
              <a:t>cost </a:t>
            </a:r>
            <a:r>
              <a:rPr sz="3900" dirty="0">
                <a:latin typeface="Calibri"/>
                <a:cs typeface="Calibri"/>
              </a:rPr>
              <a:t>of</a:t>
            </a:r>
            <a:r>
              <a:rPr sz="3900" spc="-30" dirty="0">
                <a:latin typeface="Calibri"/>
                <a:cs typeface="Calibri"/>
              </a:rPr>
              <a:t> </a:t>
            </a:r>
            <a:r>
              <a:rPr sz="3900" spc="-10" dirty="0">
                <a:latin typeface="Calibri"/>
                <a:cs typeface="Calibri"/>
              </a:rPr>
              <a:t>Catalog?</a:t>
            </a:r>
            <a:endParaRPr sz="3900">
              <a:latin typeface="Calibri"/>
              <a:cs typeface="Calibri"/>
            </a:endParaRPr>
          </a:p>
          <a:p>
            <a:pPr marL="927735">
              <a:lnSpc>
                <a:spcPct val="100000"/>
              </a:lnSpc>
              <a:spcBef>
                <a:spcPts val="465"/>
              </a:spcBef>
            </a:pPr>
            <a:r>
              <a:rPr sz="3900" b="1" spc="-10" dirty="0">
                <a:latin typeface="Calibri"/>
                <a:cs typeface="Calibri"/>
              </a:rPr>
              <a:t>π</a:t>
            </a:r>
            <a:r>
              <a:rPr sz="3900" b="1" spc="-15" baseline="-20299" dirty="0">
                <a:latin typeface="Calibri"/>
                <a:cs typeface="Calibri"/>
              </a:rPr>
              <a:t>cost</a:t>
            </a:r>
            <a:r>
              <a:rPr sz="3900" b="1" spc="-10" dirty="0">
                <a:latin typeface="Calibri"/>
                <a:cs typeface="Calibri"/>
              </a:rPr>
              <a:t>(Catalog)</a:t>
            </a:r>
            <a:endParaRPr sz="3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6385" y="609676"/>
            <a:ext cx="90874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Queries</a:t>
            </a:r>
            <a:r>
              <a:rPr sz="4400" spc="-75" dirty="0"/>
              <a:t> </a:t>
            </a:r>
            <a:r>
              <a:rPr sz="4400" dirty="0"/>
              <a:t>on</a:t>
            </a:r>
            <a:r>
              <a:rPr sz="4400" spc="-75" dirty="0"/>
              <a:t> </a:t>
            </a:r>
            <a:r>
              <a:rPr sz="4400" spc="-10" dirty="0"/>
              <a:t>Relational</a:t>
            </a:r>
            <a:r>
              <a:rPr sz="4400" spc="-75" dirty="0"/>
              <a:t> </a:t>
            </a:r>
            <a:r>
              <a:rPr sz="4400" spc="-25" dirty="0"/>
              <a:t>Algebra-</a:t>
            </a:r>
            <a:r>
              <a:rPr sz="4400" spc="-10" dirty="0"/>
              <a:t>Projection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31009"/>
            <a:ext cx="10102215" cy="428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645" indent="-448945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461645" algn="l"/>
              </a:tabLst>
            </a:pPr>
            <a:r>
              <a:rPr sz="3600" dirty="0">
                <a:latin typeface="Calibri"/>
                <a:cs typeface="Calibri"/>
              </a:rPr>
              <a:t>Write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query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relational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algebra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display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sid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and</a:t>
            </a:r>
            <a:endParaRPr sz="3600">
              <a:latin typeface="Calibri"/>
              <a:cs typeface="Calibri"/>
            </a:endParaRPr>
          </a:p>
          <a:p>
            <a:pPr marL="838835">
              <a:lnSpc>
                <a:spcPct val="100000"/>
              </a:lnSpc>
              <a:spcBef>
                <a:spcPts val="3590"/>
              </a:spcBef>
            </a:pPr>
            <a:r>
              <a:rPr sz="3600" dirty="0">
                <a:latin typeface="Calibri"/>
                <a:cs typeface="Calibri"/>
              </a:rPr>
              <a:t>sname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address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Suppliers?</a:t>
            </a:r>
            <a:endParaRPr sz="3600">
              <a:latin typeface="Calibri"/>
              <a:cs typeface="Calibri"/>
            </a:endParaRPr>
          </a:p>
          <a:p>
            <a:pPr marL="838835">
              <a:lnSpc>
                <a:spcPct val="100000"/>
              </a:lnSpc>
              <a:spcBef>
                <a:spcPts val="145"/>
              </a:spcBef>
            </a:pPr>
            <a:r>
              <a:rPr sz="3600" b="1" spc="-10" dirty="0">
                <a:latin typeface="Calibri"/>
                <a:cs typeface="Calibri"/>
              </a:rPr>
              <a:t>Ans:??????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3600">
              <a:latin typeface="Calibri"/>
              <a:cs typeface="Calibri"/>
            </a:endParaRPr>
          </a:p>
          <a:p>
            <a:pPr marL="12700" marR="5080" indent="448945">
              <a:lnSpc>
                <a:spcPct val="80000"/>
              </a:lnSpc>
              <a:buAutoNum type="arabicPeriod" startAt="5"/>
              <a:tabLst>
                <a:tab pos="461645" algn="l"/>
                <a:tab pos="1841500" algn="l"/>
              </a:tabLst>
            </a:pPr>
            <a:r>
              <a:rPr sz="3600" dirty="0">
                <a:latin typeface="Calibri"/>
                <a:cs typeface="Calibri"/>
              </a:rPr>
              <a:t>Write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query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relational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algebra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display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sid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and </a:t>
            </a:r>
            <a:r>
              <a:rPr sz="3600" dirty="0">
                <a:latin typeface="Calibri"/>
                <a:cs typeface="Calibri"/>
              </a:rPr>
              <a:t>pid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of</a:t>
            </a:r>
            <a:r>
              <a:rPr sz="3600" dirty="0">
                <a:latin typeface="Calibri"/>
                <a:cs typeface="Calibri"/>
              </a:rPr>
              <a:t>	</a:t>
            </a:r>
            <a:r>
              <a:rPr sz="3600" spc="-10" dirty="0">
                <a:latin typeface="Calibri"/>
                <a:cs typeface="Calibri"/>
              </a:rPr>
              <a:t>Catalog?</a:t>
            </a:r>
            <a:endParaRPr sz="3600">
              <a:latin typeface="Calibri"/>
              <a:cs typeface="Calibri"/>
            </a:endParaRPr>
          </a:p>
          <a:p>
            <a:pPr marL="734695">
              <a:lnSpc>
                <a:spcPct val="100000"/>
              </a:lnSpc>
              <a:spcBef>
                <a:spcPts val="145"/>
              </a:spcBef>
            </a:pPr>
            <a:r>
              <a:rPr sz="3600" b="1" spc="-10" dirty="0">
                <a:latin typeface="Calibri"/>
                <a:cs typeface="Calibri"/>
              </a:rPr>
              <a:t>Ans:??????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3628" y="291795"/>
            <a:ext cx="8992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Queries</a:t>
            </a:r>
            <a:r>
              <a:rPr sz="4400" spc="-105" dirty="0"/>
              <a:t> </a:t>
            </a:r>
            <a:r>
              <a:rPr sz="4400" dirty="0"/>
              <a:t>on</a:t>
            </a:r>
            <a:r>
              <a:rPr sz="4400" spc="-105" dirty="0"/>
              <a:t> </a:t>
            </a:r>
            <a:r>
              <a:rPr sz="4400" spc="-10" dirty="0"/>
              <a:t>Relational</a:t>
            </a:r>
            <a:r>
              <a:rPr sz="4400" spc="-105" dirty="0"/>
              <a:t> </a:t>
            </a:r>
            <a:r>
              <a:rPr sz="4400" dirty="0"/>
              <a:t>Algebra-</a:t>
            </a:r>
            <a:r>
              <a:rPr sz="4400" spc="-125" dirty="0"/>
              <a:t> </a:t>
            </a:r>
            <a:r>
              <a:rPr sz="4400" spc="-10" dirty="0"/>
              <a:t>Selection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44576" y="1151382"/>
            <a:ext cx="11337290" cy="510667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438784" marR="689610" indent="-413384">
              <a:lnSpc>
                <a:spcPts val="3560"/>
              </a:lnSpc>
              <a:spcBef>
                <a:spcPts val="550"/>
              </a:spcBef>
              <a:buAutoNum type="arabicPeriod"/>
              <a:tabLst>
                <a:tab pos="939800" algn="l"/>
              </a:tabLst>
            </a:pPr>
            <a:r>
              <a:rPr sz="3300" dirty="0">
                <a:latin typeface="Calibri"/>
                <a:cs typeface="Calibri"/>
              </a:rPr>
              <a:t>Write</a:t>
            </a:r>
            <a:r>
              <a:rPr sz="3300" spc="-7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a</a:t>
            </a:r>
            <a:r>
              <a:rPr sz="3300" spc="-8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query</a:t>
            </a:r>
            <a:r>
              <a:rPr sz="3300" spc="-5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in</a:t>
            </a:r>
            <a:r>
              <a:rPr sz="3300" spc="-6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relational</a:t>
            </a:r>
            <a:r>
              <a:rPr sz="3300" spc="-7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algebra</a:t>
            </a:r>
            <a:r>
              <a:rPr sz="3300" spc="-7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to</a:t>
            </a:r>
            <a:r>
              <a:rPr sz="3300" spc="-7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display</a:t>
            </a:r>
            <a:r>
              <a:rPr sz="3300" spc="-6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Pname</a:t>
            </a:r>
            <a:r>
              <a:rPr sz="3300" spc="-8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of</a:t>
            </a:r>
            <a:r>
              <a:rPr sz="3300" spc="-60" dirty="0">
                <a:latin typeface="Calibri"/>
                <a:cs typeface="Calibri"/>
              </a:rPr>
              <a:t> </a:t>
            </a:r>
            <a:r>
              <a:rPr sz="3300" spc="-10" dirty="0">
                <a:latin typeface="Calibri"/>
                <a:cs typeface="Calibri"/>
              </a:rPr>
              <a:t>Parts 	</a:t>
            </a:r>
            <a:r>
              <a:rPr sz="3300" dirty="0">
                <a:latin typeface="Calibri"/>
                <a:cs typeface="Calibri"/>
              </a:rPr>
              <a:t>whose</a:t>
            </a:r>
            <a:r>
              <a:rPr sz="3300" spc="-2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color</a:t>
            </a:r>
            <a:r>
              <a:rPr sz="3300" spc="-2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is</a:t>
            </a:r>
            <a:r>
              <a:rPr sz="3300" spc="-25" dirty="0">
                <a:latin typeface="Calibri"/>
                <a:cs typeface="Calibri"/>
              </a:rPr>
              <a:t> </a:t>
            </a:r>
            <a:r>
              <a:rPr sz="3300" spc="-20" dirty="0">
                <a:latin typeface="Calibri"/>
                <a:cs typeface="Calibri"/>
              </a:rPr>
              <a:t>Red?</a:t>
            </a:r>
            <a:endParaRPr sz="3300">
              <a:latin typeface="Calibri"/>
              <a:cs typeface="Calibri"/>
            </a:endParaRPr>
          </a:p>
          <a:p>
            <a:pPr marL="939800">
              <a:lnSpc>
                <a:spcPts val="4410"/>
              </a:lnSpc>
              <a:spcBef>
                <a:spcPts val="1410"/>
              </a:spcBef>
            </a:pPr>
            <a:r>
              <a:rPr sz="5700" b="1" baseline="13888" dirty="0">
                <a:latin typeface="Calibri"/>
                <a:cs typeface="Calibri"/>
              </a:rPr>
              <a:t>Π</a:t>
            </a:r>
            <a:r>
              <a:rPr sz="2500" b="1" dirty="0">
                <a:latin typeface="Calibri"/>
                <a:cs typeface="Calibri"/>
              </a:rPr>
              <a:t>pname</a:t>
            </a:r>
            <a:r>
              <a:rPr sz="5700" b="1" baseline="13888" dirty="0">
                <a:latin typeface="Calibri"/>
                <a:cs typeface="Calibri"/>
              </a:rPr>
              <a:t>(σ</a:t>
            </a:r>
            <a:r>
              <a:rPr sz="5700" b="1" spc="-22" baseline="13888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color=’red’</a:t>
            </a:r>
            <a:r>
              <a:rPr sz="2500" b="1" spc="280" dirty="0">
                <a:latin typeface="Calibri"/>
                <a:cs typeface="Calibri"/>
              </a:rPr>
              <a:t> </a:t>
            </a:r>
            <a:r>
              <a:rPr sz="5700" b="1" spc="-15" baseline="13888" dirty="0">
                <a:latin typeface="Calibri"/>
                <a:cs typeface="Calibri"/>
              </a:rPr>
              <a:t>(parts))</a:t>
            </a:r>
            <a:endParaRPr sz="5700" baseline="13888">
              <a:latin typeface="Calibri"/>
              <a:cs typeface="Calibri"/>
            </a:endParaRPr>
          </a:p>
          <a:p>
            <a:pPr marL="438784" marR="17780" indent="-413384">
              <a:lnSpc>
                <a:spcPts val="3560"/>
              </a:lnSpc>
              <a:spcBef>
                <a:spcPts val="300"/>
              </a:spcBef>
              <a:buAutoNum type="arabicPeriod" startAt="2"/>
              <a:tabLst>
                <a:tab pos="939800" algn="l"/>
              </a:tabLst>
            </a:pPr>
            <a:r>
              <a:rPr sz="3300" dirty="0">
                <a:latin typeface="Calibri"/>
                <a:cs typeface="Calibri"/>
              </a:rPr>
              <a:t>Write</a:t>
            </a:r>
            <a:r>
              <a:rPr sz="3300" spc="-7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a</a:t>
            </a:r>
            <a:r>
              <a:rPr sz="3300" spc="-8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query</a:t>
            </a:r>
            <a:r>
              <a:rPr sz="3300" spc="-5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in</a:t>
            </a:r>
            <a:r>
              <a:rPr sz="3300" spc="-6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relational</a:t>
            </a:r>
            <a:r>
              <a:rPr sz="3300" spc="-7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algebra</a:t>
            </a:r>
            <a:r>
              <a:rPr sz="3300" spc="-7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to</a:t>
            </a:r>
            <a:r>
              <a:rPr sz="3300" spc="-7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display</a:t>
            </a:r>
            <a:r>
              <a:rPr sz="3300" spc="-6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Sname</a:t>
            </a:r>
            <a:r>
              <a:rPr sz="3300" spc="-6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of</a:t>
            </a:r>
            <a:r>
              <a:rPr sz="3300" spc="-70" dirty="0">
                <a:latin typeface="Calibri"/>
                <a:cs typeface="Calibri"/>
              </a:rPr>
              <a:t> </a:t>
            </a:r>
            <a:r>
              <a:rPr sz="3300" spc="-10" dirty="0">
                <a:latin typeface="Calibri"/>
                <a:cs typeface="Calibri"/>
              </a:rPr>
              <a:t>Suppliers 	</a:t>
            </a:r>
            <a:r>
              <a:rPr sz="3300" dirty="0">
                <a:latin typeface="Calibri"/>
                <a:cs typeface="Calibri"/>
              </a:rPr>
              <a:t>whose</a:t>
            </a:r>
            <a:r>
              <a:rPr sz="3300" spc="-4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address</a:t>
            </a:r>
            <a:r>
              <a:rPr sz="3300" spc="-4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is</a:t>
            </a:r>
            <a:r>
              <a:rPr sz="3300" spc="-45" dirty="0">
                <a:latin typeface="Calibri"/>
                <a:cs typeface="Calibri"/>
              </a:rPr>
              <a:t> </a:t>
            </a:r>
            <a:r>
              <a:rPr sz="3300" spc="-10" dirty="0">
                <a:latin typeface="Calibri"/>
                <a:cs typeface="Calibri"/>
              </a:rPr>
              <a:t>Thane?</a:t>
            </a:r>
            <a:endParaRPr sz="3300">
              <a:latin typeface="Calibri"/>
              <a:cs typeface="Calibri"/>
            </a:endParaRPr>
          </a:p>
          <a:p>
            <a:pPr marL="939800">
              <a:lnSpc>
                <a:spcPts val="4415"/>
              </a:lnSpc>
              <a:spcBef>
                <a:spcPts val="1400"/>
              </a:spcBef>
            </a:pPr>
            <a:r>
              <a:rPr sz="5700" b="1" baseline="13888" dirty="0">
                <a:latin typeface="Calibri"/>
                <a:cs typeface="Calibri"/>
              </a:rPr>
              <a:t>Π</a:t>
            </a:r>
            <a:r>
              <a:rPr sz="2500" b="1" dirty="0">
                <a:latin typeface="Calibri"/>
                <a:cs typeface="Calibri"/>
              </a:rPr>
              <a:t>sname</a:t>
            </a:r>
            <a:r>
              <a:rPr sz="5700" b="1" baseline="13888" dirty="0">
                <a:latin typeface="Calibri"/>
                <a:cs typeface="Calibri"/>
              </a:rPr>
              <a:t>(σ</a:t>
            </a:r>
            <a:r>
              <a:rPr sz="5700" b="1" spc="75" baseline="13888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address=’Thane’</a:t>
            </a:r>
            <a:r>
              <a:rPr sz="2500" b="1" spc="370" dirty="0">
                <a:latin typeface="Calibri"/>
                <a:cs typeface="Calibri"/>
              </a:rPr>
              <a:t> </a:t>
            </a:r>
            <a:r>
              <a:rPr sz="5700" b="1" spc="-15" baseline="13888" dirty="0">
                <a:latin typeface="Calibri"/>
                <a:cs typeface="Calibri"/>
              </a:rPr>
              <a:t>(Suppliers))</a:t>
            </a:r>
            <a:endParaRPr sz="5700" baseline="13888">
              <a:latin typeface="Calibri"/>
              <a:cs typeface="Calibri"/>
            </a:endParaRPr>
          </a:p>
          <a:p>
            <a:pPr marL="438784" marR="694690" indent="-413384">
              <a:lnSpc>
                <a:spcPts val="3570"/>
              </a:lnSpc>
              <a:spcBef>
                <a:spcPts val="295"/>
              </a:spcBef>
              <a:buAutoNum type="arabicPeriod" startAt="3"/>
              <a:tabLst>
                <a:tab pos="939800" algn="l"/>
              </a:tabLst>
            </a:pPr>
            <a:r>
              <a:rPr sz="3300" dirty="0">
                <a:latin typeface="Calibri"/>
                <a:cs typeface="Calibri"/>
              </a:rPr>
              <a:t>Write</a:t>
            </a:r>
            <a:r>
              <a:rPr sz="3300" spc="-7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a</a:t>
            </a:r>
            <a:r>
              <a:rPr sz="3300" spc="-8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query</a:t>
            </a:r>
            <a:r>
              <a:rPr sz="3300" spc="-6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in</a:t>
            </a:r>
            <a:r>
              <a:rPr sz="3300" spc="-6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relational</a:t>
            </a:r>
            <a:r>
              <a:rPr sz="3300" spc="-6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algebra</a:t>
            </a:r>
            <a:r>
              <a:rPr sz="3300" spc="-6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to</a:t>
            </a:r>
            <a:r>
              <a:rPr sz="3300" spc="-7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display</a:t>
            </a:r>
            <a:r>
              <a:rPr sz="3300" spc="-6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Pname</a:t>
            </a:r>
            <a:r>
              <a:rPr sz="3300" spc="-8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of</a:t>
            </a:r>
            <a:r>
              <a:rPr sz="3300" spc="-65" dirty="0">
                <a:latin typeface="Calibri"/>
                <a:cs typeface="Calibri"/>
              </a:rPr>
              <a:t> </a:t>
            </a:r>
            <a:r>
              <a:rPr sz="3300" spc="-10" dirty="0">
                <a:latin typeface="Calibri"/>
                <a:cs typeface="Calibri"/>
              </a:rPr>
              <a:t>Parts 	</a:t>
            </a:r>
            <a:r>
              <a:rPr sz="3300" dirty="0">
                <a:latin typeface="Calibri"/>
                <a:cs typeface="Calibri"/>
              </a:rPr>
              <a:t>whose</a:t>
            </a:r>
            <a:r>
              <a:rPr sz="3300" spc="-4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color</a:t>
            </a:r>
            <a:r>
              <a:rPr sz="3300" spc="-4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is</a:t>
            </a:r>
            <a:r>
              <a:rPr sz="3300" spc="-4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Red</a:t>
            </a:r>
            <a:r>
              <a:rPr sz="3300" spc="-4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and</a:t>
            </a:r>
            <a:r>
              <a:rPr sz="3300" spc="-35" dirty="0">
                <a:latin typeface="Calibri"/>
                <a:cs typeface="Calibri"/>
              </a:rPr>
              <a:t> </a:t>
            </a:r>
            <a:r>
              <a:rPr sz="3300" spc="-10" dirty="0">
                <a:latin typeface="Calibri"/>
                <a:cs typeface="Calibri"/>
              </a:rPr>
              <a:t>Blue?</a:t>
            </a:r>
            <a:endParaRPr sz="3300">
              <a:latin typeface="Calibri"/>
              <a:cs typeface="Calibri"/>
            </a:endParaRPr>
          </a:p>
          <a:p>
            <a:pPr marL="939800">
              <a:lnSpc>
                <a:spcPct val="100000"/>
              </a:lnSpc>
              <a:spcBef>
                <a:spcPts val="1390"/>
              </a:spcBef>
            </a:pPr>
            <a:r>
              <a:rPr sz="5700" b="1" baseline="13888" dirty="0">
                <a:latin typeface="Calibri"/>
                <a:cs typeface="Calibri"/>
              </a:rPr>
              <a:t>Π</a:t>
            </a:r>
            <a:r>
              <a:rPr sz="2500" b="1" dirty="0">
                <a:latin typeface="Calibri"/>
                <a:cs typeface="Calibri"/>
              </a:rPr>
              <a:t>pname</a:t>
            </a:r>
            <a:r>
              <a:rPr sz="5700" b="1" baseline="13888" dirty="0">
                <a:latin typeface="Calibri"/>
                <a:cs typeface="Calibri"/>
              </a:rPr>
              <a:t>(σ</a:t>
            </a:r>
            <a:r>
              <a:rPr sz="5700" b="1" spc="37" baseline="13888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color=’red’</a:t>
            </a:r>
            <a:r>
              <a:rPr sz="2500" b="1" spc="3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and</a:t>
            </a:r>
            <a:r>
              <a:rPr sz="2500" b="1" spc="1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color=’blue’</a:t>
            </a:r>
            <a:r>
              <a:rPr sz="2500" b="1" spc="335" dirty="0">
                <a:latin typeface="Calibri"/>
                <a:cs typeface="Calibri"/>
              </a:rPr>
              <a:t> </a:t>
            </a:r>
            <a:r>
              <a:rPr sz="5700" b="1" spc="-15" baseline="13888" dirty="0">
                <a:latin typeface="Calibri"/>
                <a:cs typeface="Calibri"/>
              </a:rPr>
              <a:t>(parts))</a:t>
            </a:r>
            <a:endParaRPr sz="5700" baseline="1388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2130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Queries</a:t>
            </a:r>
            <a:r>
              <a:rPr sz="4400" spc="-105" dirty="0"/>
              <a:t> </a:t>
            </a:r>
            <a:r>
              <a:rPr sz="4400" dirty="0"/>
              <a:t>on</a:t>
            </a:r>
            <a:r>
              <a:rPr sz="4400" spc="-105" dirty="0"/>
              <a:t> </a:t>
            </a:r>
            <a:r>
              <a:rPr sz="4400" spc="-10" dirty="0"/>
              <a:t>Relational</a:t>
            </a:r>
            <a:r>
              <a:rPr sz="4400" spc="-105" dirty="0"/>
              <a:t> </a:t>
            </a:r>
            <a:r>
              <a:rPr sz="4400" dirty="0"/>
              <a:t>Algebra-</a:t>
            </a:r>
            <a:r>
              <a:rPr sz="4400" spc="-145" dirty="0"/>
              <a:t> </a:t>
            </a:r>
            <a:r>
              <a:rPr sz="4400" spc="-10" dirty="0"/>
              <a:t>Selection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91539" y="1793493"/>
            <a:ext cx="10098405" cy="42703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88620" marR="486409" indent="-351155">
              <a:lnSpc>
                <a:spcPts val="3020"/>
              </a:lnSpc>
              <a:spcBef>
                <a:spcPts val="480"/>
              </a:spcBef>
              <a:buAutoNum type="arabicPeriod" startAt="4"/>
              <a:tabLst>
                <a:tab pos="952500" algn="l"/>
              </a:tabLst>
            </a:pPr>
            <a:r>
              <a:rPr sz="2800" dirty="0">
                <a:latin typeface="Calibri"/>
                <a:cs typeface="Calibri"/>
              </a:rPr>
              <a:t>Write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query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algebra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display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Sname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Suppliers 	</a:t>
            </a:r>
            <a:r>
              <a:rPr sz="2800" dirty="0">
                <a:latin typeface="Calibri"/>
                <a:cs typeface="Calibri"/>
              </a:rPr>
              <a:t>whose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50?</a:t>
            </a:r>
            <a:endParaRPr sz="2800">
              <a:latin typeface="Calibri"/>
              <a:cs typeface="Calibri"/>
            </a:endParaRPr>
          </a:p>
          <a:p>
            <a:pPr marL="952500">
              <a:lnSpc>
                <a:spcPct val="100000"/>
              </a:lnSpc>
              <a:spcBef>
                <a:spcPts val="480"/>
              </a:spcBef>
            </a:pPr>
            <a:r>
              <a:rPr sz="3600" b="1" dirty="0">
                <a:latin typeface="Calibri"/>
                <a:cs typeface="Calibri"/>
              </a:rPr>
              <a:t>Π</a:t>
            </a:r>
            <a:r>
              <a:rPr sz="3600" b="1" baseline="-20833" dirty="0">
                <a:latin typeface="Calibri"/>
                <a:cs typeface="Calibri"/>
              </a:rPr>
              <a:t>sname</a:t>
            </a:r>
            <a:r>
              <a:rPr sz="3600" b="1" dirty="0">
                <a:latin typeface="Calibri"/>
                <a:cs typeface="Calibri"/>
              </a:rPr>
              <a:t>(σ</a:t>
            </a:r>
            <a:r>
              <a:rPr sz="3600" b="1" spc="-60" dirty="0">
                <a:latin typeface="Calibri"/>
                <a:cs typeface="Calibri"/>
              </a:rPr>
              <a:t> </a:t>
            </a:r>
            <a:r>
              <a:rPr sz="3600" b="1" baseline="-20833" dirty="0">
                <a:latin typeface="Calibri"/>
                <a:cs typeface="Calibri"/>
              </a:rPr>
              <a:t>sid=50</a:t>
            </a:r>
            <a:r>
              <a:rPr sz="3600" b="1" spc="300" baseline="-20833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(Suppliers))</a:t>
            </a:r>
            <a:endParaRPr sz="3600">
              <a:latin typeface="Calibri"/>
              <a:cs typeface="Calibri"/>
            </a:endParaRPr>
          </a:p>
          <a:p>
            <a:pPr marL="388620" marR="30480" indent="-351155">
              <a:lnSpc>
                <a:spcPts val="3020"/>
              </a:lnSpc>
              <a:spcBef>
                <a:spcPts val="1100"/>
              </a:spcBef>
              <a:buAutoNum type="arabicPeriod" startAt="5"/>
              <a:tabLst>
                <a:tab pos="952500" algn="l"/>
              </a:tabLst>
            </a:pPr>
            <a:r>
              <a:rPr sz="2800" dirty="0">
                <a:latin typeface="Calibri"/>
                <a:cs typeface="Calibri"/>
              </a:rPr>
              <a:t>Write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query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algebra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display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Pname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whose 	</a:t>
            </a:r>
            <a:r>
              <a:rPr sz="2800" dirty="0">
                <a:latin typeface="Calibri"/>
                <a:cs typeface="Calibri"/>
              </a:rPr>
              <a:t>color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Green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White?</a:t>
            </a:r>
            <a:endParaRPr sz="2800">
              <a:latin typeface="Calibri"/>
              <a:cs typeface="Calibri"/>
            </a:endParaRPr>
          </a:p>
          <a:p>
            <a:pPr marL="952500">
              <a:lnSpc>
                <a:spcPct val="100000"/>
              </a:lnSpc>
              <a:spcBef>
                <a:spcPts val="625"/>
              </a:spcBef>
            </a:pPr>
            <a:r>
              <a:rPr sz="2800" b="1" spc="-10" dirty="0">
                <a:latin typeface="Calibri"/>
                <a:cs typeface="Calibri"/>
              </a:rPr>
              <a:t>Ans:??</a:t>
            </a:r>
            <a:endParaRPr sz="2800">
              <a:latin typeface="Calibri"/>
              <a:cs typeface="Calibri"/>
            </a:endParaRPr>
          </a:p>
          <a:p>
            <a:pPr marL="388620" marR="52705" indent="-351155">
              <a:lnSpc>
                <a:spcPts val="3020"/>
              </a:lnSpc>
              <a:spcBef>
                <a:spcPts val="1055"/>
              </a:spcBef>
              <a:buAutoNum type="arabicPeriod" startAt="6"/>
              <a:tabLst>
                <a:tab pos="952500" algn="l"/>
              </a:tabLst>
            </a:pPr>
            <a:r>
              <a:rPr sz="2800" dirty="0">
                <a:latin typeface="Calibri"/>
                <a:cs typeface="Calibri"/>
              </a:rPr>
              <a:t>Write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query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algebra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display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Cost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Catalog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whose 	</a:t>
            </a:r>
            <a:r>
              <a:rPr sz="2800" dirty="0">
                <a:latin typeface="Calibri"/>
                <a:cs typeface="Calibri"/>
              </a:rPr>
              <a:t>cost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500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1000?</a:t>
            </a:r>
            <a:endParaRPr sz="2800">
              <a:latin typeface="Calibri"/>
              <a:cs typeface="Calibri"/>
            </a:endParaRPr>
          </a:p>
          <a:p>
            <a:pPr marL="952500">
              <a:lnSpc>
                <a:spcPct val="100000"/>
              </a:lnSpc>
              <a:spcBef>
                <a:spcPts val="620"/>
              </a:spcBef>
            </a:pPr>
            <a:r>
              <a:rPr sz="2800" b="1" spc="-10" dirty="0">
                <a:latin typeface="Calibri"/>
                <a:cs typeface="Calibri"/>
              </a:rPr>
              <a:t>Ans:??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4545" y="178434"/>
            <a:ext cx="80473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Queries</a:t>
            </a:r>
            <a:r>
              <a:rPr sz="4400" spc="-120" dirty="0"/>
              <a:t> </a:t>
            </a:r>
            <a:r>
              <a:rPr sz="4400" dirty="0"/>
              <a:t>on</a:t>
            </a:r>
            <a:r>
              <a:rPr sz="4400" spc="-95" dirty="0"/>
              <a:t> </a:t>
            </a:r>
            <a:r>
              <a:rPr sz="4400" spc="-10" dirty="0"/>
              <a:t>Relational</a:t>
            </a:r>
            <a:r>
              <a:rPr sz="4400" spc="-90" dirty="0"/>
              <a:t> </a:t>
            </a:r>
            <a:r>
              <a:rPr sz="4400" dirty="0"/>
              <a:t>Algebra-</a:t>
            </a:r>
            <a:r>
              <a:rPr sz="4400" spc="-110" dirty="0"/>
              <a:t> </a:t>
            </a:r>
            <a:r>
              <a:rPr sz="4400" spc="-10" dirty="0"/>
              <a:t>Joins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57580" y="1498168"/>
            <a:ext cx="10797540" cy="481139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50800" marR="608330" indent="461645">
              <a:lnSpc>
                <a:spcPct val="90000"/>
              </a:lnSpc>
              <a:spcBef>
                <a:spcPts val="540"/>
              </a:spcBef>
              <a:buAutoNum type="arabicPeriod"/>
              <a:tabLst>
                <a:tab pos="512445" algn="l"/>
                <a:tab pos="4622800" algn="l"/>
                <a:tab pos="7645400" algn="l"/>
              </a:tabLst>
            </a:pPr>
            <a:r>
              <a:rPr sz="3700" dirty="0">
                <a:latin typeface="Calibri"/>
                <a:cs typeface="Calibri"/>
              </a:rPr>
              <a:t>Write</a:t>
            </a:r>
            <a:r>
              <a:rPr sz="3700" spc="-10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a</a:t>
            </a:r>
            <a:r>
              <a:rPr sz="3700" spc="-10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query</a:t>
            </a:r>
            <a:r>
              <a:rPr sz="3700" spc="-8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in</a:t>
            </a:r>
            <a:r>
              <a:rPr sz="3700" spc="-10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relational</a:t>
            </a:r>
            <a:r>
              <a:rPr sz="3700" spc="-85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algebra</a:t>
            </a:r>
            <a:r>
              <a:rPr sz="3700" spc="-10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to</a:t>
            </a:r>
            <a:r>
              <a:rPr sz="3700" spc="-9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display</a:t>
            </a:r>
            <a:r>
              <a:rPr sz="3700" spc="-8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SID</a:t>
            </a:r>
            <a:r>
              <a:rPr sz="3700" spc="-95" dirty="0">
                <a:latin typeface="Calibri"/>
                <a:cs typeface="Calibri"/>
              </a:rPr>
              <a:t> </a:t>
            </a:r>
            <a:r>
              <a:rPr sz="3700" spc="-25" dirty="0">
                <a:latin typeface="Calibri"/>
                <a:cs typeface="Calibri"/>
              </a:rPr>
              <a:t>of </a:t>
            </a:r>
            <a:r>
              <a:rPr sz="3700" dirty="0">
                <a:latin typeface="Calibri"/>
                <a:cs typeface="Calibri"/>
              </a:rPr>
              <a:t>suppliers</a:t>
            </a:r>
            <a:r>
              <a:rPr sz="3700" spc="-12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whose</a:t>
            </a:r>
            <a:r>
              <a:rPr sz="3700" spc="-130" dirty="0">
                <a:latin typeface="Calibri"/>
                <a:cs typeface="Calibri"/>
              </a:rPr>
              <a:t> </a:t>
            </a:r>
            <a:r>
              <a:rPr sz="3700" spc="-20" dirty="0">
                <a:latin typeface="Calibri"/>
                <a:cs typeface="Calibri"/>
              </a:rPr>
              <a:t>name</a:t>
            </a:r>
            <a:r>
              <a:rPr sz="3700" dirty="0">
                <a:latin typeface="Calibri"/>
                <a:cs typeface="Calibri"/>
              </a:rPr>
              <a:t>	is</a:t>
            </a:r>
            <a:r>
              <a:rPr sz="3700" spc="-1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‘Varun’</a:t>
            </a:r>
            <a:r>
              <a:rPr sz="3700" spc="-100" dirty="0">
                <a:latin typeface="Calibri"/>
                <a:cs typeface="Calibri"/>
              </a:rPr>
              <a:t> </a:t>
            </a:r>
            <a:r>
              <a:rPr sz="3700" spc="-25" dirty="0">
                <a:latin typeface="Calibri"/>
                <a:cs typeface="Calibri"/>
              </a:rPr>
              <a:t>and</a:t>
            </a:r>
            <a:r>
              <a:rPr sz="3700" dirty="0">
                <a:latin typeface="Calibri"/>
                <a:cs typeface="Calibri"/>
              </a:rPr>
              <a:t>	address</a:t>
            </a:r>
            <a:r>
              <a:rPr sz="3700" spc="-165" dirty="0">
                <a:latin typeface="Calibri"/>
                <a:cs typeface="Calibri"/>
              </a:rPr>
              <a:t> </a:t>
            </a:r>
            <a:r>
              <a:rPr sz="3700" spc="-25" dirty="0">
                <a:latin typeface="Calibri"/>
                <a:cs typeface="Calibri"/>
              </a:rPr>
              <a:t>is </a:t>
            </a:r>
            <a:r>
              <a:rPr sz="3700" spc="-10" dirty="0">
                <a:latin typeface="Calibri"/>
                <a:cs typeface="Calibri"/>
              </a:rPr>
              <a:t>‘Chandigarh’?</a:t>
            </a:r>
            <a:endParaRPr sz="3700">
              <a:latin typeface="Calibri"/>
              <a:cs typeface="Calibri"/>
            </a:endParaRPr>
          </a:p>
          <a:p>
            <a:pPr marL="964565">
              <a:lnSpc>
                <a:spcPct val="100000"/>
              </a:lnSpc>
              <a:spcBef>
                <a:spcPts val="1485"/>
              </a:spcBef>
            </a:pPr>
            <a:r>
              <a:rPr sz="6150" b="1" baseline="13550" dirty="0">
                <a:latin typeface="Calibri"/>
                <a:cs typeface="Calibri"/>
              </a:rPr>
              <a:t>Π</a:t>
            </a:r>
            <a:r>
              <a:rPr sz="2700" b="1" dirty="0">
                <a:latin typeface="Calibri"/>
                <a:cs typeface="Calibri"/>
              </a:rPr>
              <a:t>sid</a:t>
            </a:r>
            <a:r>
              <a:rPr sz="6150" b="1" baseline="13550" dirty="0">
                <a:latin typeface="Calibri"/>
                <a:cs typeface="Calibri"/>
              </a:rPr>
              <a:t>(σ </a:t>
            </a:r>
            <a:r>
              <a:rPr sz="2700" b="1" dirty="0">
                <a:latin typeface="Calibri"/>
                <a:cs typeface="Calibri"/>
              </a:rPr>
              <a:t>sname=‘varun’</a:t>
            </a:r>
            <a:r>
              <a:rPr sz="2700" b="1" spc="-4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and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address=’chandigarh’</a:t>
            </a:r>
            <a:r>
              <a:rPr sz="2700" b="1" spc="290" dirty="0">
                <a:latin typeface="Calibri"/>
                <a:cs typeface="Calibri"/>
              </a:rPr>
              <a:t> </a:t>
            </a:r>
            <a:r>
              <a:rPr sz="6150" b="1" spc="-15" baseline="13550" dirty="0">
                <a:latin typeface="Calibri"/>
                <a:cs typeface="Calibri"/>
              </a:rPr>
              <a:t>(Suppliers))</a:t>
            </a:r>
            <a:endParaRPr sz="6150" baseline="13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15"/>
              </a:spcBef>
            </a:pPr>
            <a:endParaRPr sz="2700">
              <a:latin typeface="Calibri"/>
              <a:cs typeface="Calibri"/>
            </a:endParaRPr>
          </a:p>
          <a:p>
            <a:pPr marL="50800" marR="607695" indent="461009">
              <a:lnSpc>
                <a:spcPts val="4000"/>
              </a:lnSpc>
              <a:buAutoNum type="arabicPeriod" startAt="2"/>
              <a:tabLst>
                <a:tab pos="511809" algn="l"/>
                <a:tab pos="4622800" algn="l"/>
              </a:tabLst>
            </a:pPr>
            <a:r>
              <a:rPr sz="3700" dirty="0">
                <a:latin typeface="Calibri"/>
                <a:cs typeface="Calibri"/>
              </a:rPr>
              <a:t>Write</a:t>
            </a:r>
            <a:r>
              <a:rPr sz="3700" spc="-10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a</a:t>
            </a:r>
            <a:r>
              <a:rPr sz="3700" spc="-10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query</a:t>
            </a:r>
            <a:r>
              <a:rPr sz="3700" spc="-8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in</a:t>
            </a:r>
            <a:r>
              <a:rPr sz="3700" spc="-11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relational</a:t>
            </a:r>
            <a:r>
              <a:rPr sz="3700" spc="-85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algebra</a:t>
            </a:r>
            <a:r>
              <a:rPr sz="3700" spc="-11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to</a:t>
            </a:r>
            <a:r>
              <a:rPr sz="3700" spc="-10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display</a:t>
            </a:r>
            <a:r>
              <a:rPr sz="3700" spc="-9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SID</a:t>
            </a:r>
            <a:r>
              <a:rPr sz="3700" spc="-110" dirty="0">
                <a:latin typeface="Calibri"/>
                <a:cs typeface="Calibri"/>
              </a:rPr>
              <a:t> </a:t>
            </a:r>
            <a:r>
              <a:rPr sz="3700" spc="-25" dirty="0">
                <a:latin typeface="Calibri"/>
                <a:cs typeface="Calibri"/>
              </a:rPr>
              <a:t>of </a:t>
            </a:r>
            <a:r>
              <a:rPr sz="3700" dirty="0">
                <a:latin typeface="Calibri"/>
                <a:cs typeface="Calibri"/>
              </a:rPr>
              <a:t>suppliers</a:t>
            </a:r>
            <a:r>
              <a:rPr sz="3700" spc="-114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who</a:t>
            </a:r>
            <a:r>
              <a:rPr sz="3700" spc="-130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supplied</a:t>
            </a:r>
            <a:r>
              <a:rPr sz="3700" dirty="0">
                <a:latin typeface="Calibri"/>
                <a:cs typeface="Calibri"/>
              </a:rPr>
              <a:t>	some</a:t>
            </a:r>
            <a:r>
              <a:rPr sz="3700" spc="-85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parts?</a:t>
            </a:r>
            <a:endParaRPr sz="3700">
              <a:latin typeface="Calibri"/>
              <a:cs typeface="Calibri"/>
            </a:endParaRPr>
          </a:p>
          <a:p>
            <a:pPr marL="964565">
              <a:lnSpc>
                <a:spcPct val="100000"/>
              </a:lnSpc>
              <a:spcBef>
                <a:spcPts val="414"/>
              </a:spcBef>
            </a:pPr>
            <a:r>
              <a:rPr sz="4100" b="1" spc="-10" dirty="0">
                <a:latin typeface="Calibri"/>
                <a:cs typeface="Calibri"/>
              </a:rPr>
              <a:t>π</a:t>
            </a:r>
            <a:r>
              <a:rPr sz="4050" b="1" spc="-15" baseline="-20576" dirty="0">
                <a:latin typeface="Calibri"/>
                <a:cs typeface="Calibri"/>
              </a:rPr>
              <a:t>sid</a:t>
            </a:r>
            <a:r>
              <a:rPr sz="4100" b="1" spc="-10" dirty="0">
                <a:latin typeface="Calibri"/>
                <a:cs typeface="Calibri"/>
              </a:rPr>
              <a:t>(Catalog)</a:t>
            </a:r>
            <a:endParaRPr sz="4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8552" y="178434"/>
            <a:ext cx="79203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Queries</a:t>
            </a:r>
            <a:r>
              <a:rPr sz="4400" spc="-85" dirty="0"/>
              <a:t> </a:t>
            </a:r>
            <a:r>
              <a:rPr sz="4400" dirty="0"/>
              <a:t>on</a:t>
            </a:r>
            <a:r>
              <a:rPr sz="4400" spc="-65" dirty="0"/>
              <a:t> </a:t>
            </a:r>
            <a:r>
              <a:rPr sz="4400" spc="-10" dirty="0"/>
              <a:t>Relational</a:t>
            </a:r>
            <a:r>
              <a:rPr sz="4400" spc="-55" dirty="0"/>
              <a:t> </a:t>
            </a:r>
            <a:r>
              <a:rPr sz="4400" spc="-25" dirty="0"/>
              <a:t>Algebra-</a:t>
            </a:r>
            <a:r>
              <a:rPr sz="4400" spc="-10" dirty="0"/>
              <a:t>Joins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57580" y="1518285"/>
            <a:ext cx="11090910" cy="41268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01320" marR="777875" indent="-351155">
              <a:lnSpc>
                <a:spcPts val="3020"/>
              </a:lnSpc>
              <a:spcBef>
                <a:spcPts val="480"/>
              </a:spcBef>
              <a:buAutoNum type="arabicPeriod" startAt="3"/>
              <a:tabLst>
                <a:tab pos="964565" algn="l"/>
              </a:tabLst>
            </a:pPr>
            <a:r>
              <a:rPr sz="2800" dirty="0">
                <a:latin typeface="Calibri"/>
                <a:cs typeface="Calibri"/>
              </a:rPr>
              <a:t>Write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query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algebra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display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Sname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suppliers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who 	</a:t>
            </a:r>
            <a:r>
              <a:rPr sz="2800" dirty="0">
                <a:latin typeface="Calibri"/>
                <a:cs typeface="Calibri"/>
              </a:rPr>
              <a:t>supplied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parts?</a:t>
            </a:r>
            <a:endParaRPr sz="2800">
              <a:latin typeface="Calibri"/>
              <a:cs typeface="Calibri"/>
            </a:endParaRPr>
          </a:p>
          <a:p>
            <a:pPr marL="1879600">
              <a:lnSpc>
                <a:spcPct val="100000"/>
              </a:lnSpc>
              <a:spcBef>
                <a:spcPts val="555"/>
              </a:spcBef>
            </a:pPr>
            <a:r>
              <a:rPr sz="3200" b="1" dirty="0">
                <a:latin typeface="Calibri"/>
                <a:cs typeface="Calibri"/>
              </a:rPr>
              <a:t>π</a:t>
            </a:r>
            <a:r>
              <a:rPr sz="3150" b="1" baseline="-21164" dirty="0">
                <a:latin typeface="Calibri"/>
                <a:cs typeface="Calibri"/>
              </a:rPr>
              <a:t>sname</a:t>
            </a:r>
            <a:r>
              <a:rPr sz="3200" b="1" dirty="0">
                <a:latin typeface="Calibri"/>
                <a:cs typeface="Calibri"/>
              </a:rPr>
              <a:t>(σ</a:t>
            </a:r>
            <a:r>
              <a:rPr sz="3200" b="1" spc="5" dirty="0">
                <a:latin typeface="Calibri"/>
                <a:cs typeface="Calibri"/>
              </a:rPr>
              <a:t> </a:t>
            </a:r>
            <a:r>
              <a:rPr sz="3150" b="1" baseline="-21164" dirty="0">
                <a:latin typeface="Calibri"/>
                <a:cs typeface="Calibri"/>
              </a:rPr>
              <a:t>s.sid=c.sid</a:t>
            </a:r>
            <a:r>
              <a:rPr sz="3200" b="1" dirty="0">
                <a:latin typeface="Calibri"/>
                <a:cs typeface="Calibri"/>
              </a:rPr>
              <a:t>(Supplier</a:t>
            </a:r>
            <a:r>
              <a:rPr sz="3200" b="1" spc="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X</a:t>
            </a:r>
            <a:r>
              <a:rPr sz="3200" b="1" spc="4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Catalog))</a:t>
            </a:r>
            <a:endParaRPr sz="3200">
              <a:latin typeface="Calibri"/>
              <a:cs typeface="Calibri"/>
            </a:endParaRPr>
          </a:p>
          <a:p>
            <a:pPr marL="1971039">
              <a:lnSpc>
                <a:spcPct val="100000"/>
              </a:lnSpc>
              <a:spcBef>
                <a:spcPts val="640"/>
              </a:spcBef>
              <a:tabLst>
                <a:tab pos="2519045" algn="l"/>
              </a:tabLst>
            </a:pPr>
            <a:r>
              <a:rPr sz="3200" b="1" spc="-25" dirty="0">
                <a:latin typeface="Calibri"/>
                <a:cs typeface="Calibri"/>
              </a:rPr>
              <a:t>or</a:t>
            </a:r>
            <a:r>
              <a:rPr sz="3200" b="1" dirty="0">
                <a:latin typeface="Calibri"/>
                <a:cs typeface="Calibri"/>
              </a:rPr>
              <a:t>	π</a:t>
            </a:r>
            <a:r>
              <a:rPr sz="3150" b="1" baseline="-21164" dirty="0">
                <a:latin typeface="Calibri"/>
                <a:cs typeface="Calibri"/>
              </a:rPr>
              <a:t>sname</a:t>
            </a:r>
            <a:r>
              <a:rPr sz="3200" b="1" dirty="0">
                <a:latin typeface="Calibri"/>
                <a:cs typeface="Calibri"/>
              </a:rPr>
              <a:t>(Supplier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dirty="0">
                <a:latin typeface="Cambria Math"/>
                <a:cs typeface="Cambria Math"/>
              </a:rPr>
              <a:t>⋈</a:t>
            </a:r>
            <a:r>
              <a:rPr sz="3200" spc="95" dirty="0">
                <a:latin typeface="Cambria Math"/>
                <a:cs typeface="Cambria Math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Catalog)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3200">
              <a:latin typeface="Calibri"/>
              <a:cs typeface="Calibri"/>
            </a:endParaRPr>
          </a:p>
          <a:p>
            <a:pPr marL="423545" marR="43180" indent="-373380">
              <a:lnSpc>
                <a:spcPts val="3240"/>
              </a:lnSpc>
              <a:buAutoNum type="arabicPeriod" startAt="4"/>
              <a:tabLst>
                <a:tab pos="964565" algn="l"/>
              </a:tabLst>
            </a:pPr>
            <a:r>
              <a:rPr sz="3000" spc="-10" dirty="0">
                <a:latin typeface="Calibri"/>
                <a:cs typeface="Calibri"/>
              </a:rPr>
              <a:t>Write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query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relational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algebra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display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Sname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suppliers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who 	</a:t>
            </a:r>
            <a:r>
              <a:rPr sz="3000" dirty="0">
                <a:latin typeface="Calibri"/>
                <a:cs typeface="Calibri"/>
              </a:rPr>
              <a:t>supplied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some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RED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color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parts?</a:t>
            </a:r>
            <a:endParaRPr sz="3000">
              <a:latin typeface="Calibri"/>
              <a:cs typeface="Calibri"/>
            </a:endParaRPr>
          </a:p>
          <a:p>
            <a:pPr marL="964565">
              <a:lnSpc>
                <a:spcPct val="100000"/>
              </a:lnSpc>
              <a:spcBef>
                <a:spcPts val="440"/>
              </a:spcBef>
            </a:pPr>
            <a:r>
              <a:rPr sz="4000" b="1" dirty="0">
                <a:latin typeface="Calibri"/>
                <a:cs typeface="Calibri"/>
              </a:rPr>
              <a:t>π</a:t>
            </a:r>
            <a:r>
              <a:rPr sz="3975" b="1" baseline="-20964" dirty="0">
                <a:latin typeface="Calibri"/>
                <a:cs typeface="Calibri"/>
              </a:rPr>
              <a:t>sname</a:t>
            </a:r>
            <a:r>
              <a:rPr sz="4000" b="1" dirty="0">
                <a:latin typeface="Calibri"/>
                <a:cs typeface="Calibri"/>
              </a:rPr>
              <a:t>(Supplier</a:t>
            </a:r>
            <a:r>
              <a:rPr sz="4000" b="1" spc="-55" dirty="0">
                <a:latin typeface="Calibri"/>
                <a:cs typeface="Calibri"/>
              </a:rPr>
              <a:t> </a:t>
            </a:r>
            <a:r>
              <a:rPr sz="4000" dirty="0">
                <a:latin typeface="Cambria Math"/>
                <a:cs typeface="Cambria Math"/>
              </a:rPr>
              <a:t>⋈</a:t>
            </a:r>
            <a:r>
              <a:rPr sz="4000" spc="30" dirty="0">
                <a:latin typeface="Cambria Math"/>
                <a:cs typeface="Cambria Math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(</a:t>
            </a:r>
            <a:r>
              <a:rPr sz="4000" b="1" dirty="0">
                <a:latin typeface="Calibri"/>
                <a:cs typeface="Calibri"/>
              </a:rPr>
              <a:t>Catalog</a:t>
            </a:r>
            <a:r>
              <a:rPr sz="4000" b="1" spc="-50" dirty="0">
                <a:latin typeface="Calibri"/>
                <a:cs typeface="Calibri"/>
              </a:rPr>
              <a:t> </a:t>
            </a:r>
            <a:r>
              <a:rPr sz="4000" dirty="0">
                <a:latin typeface="Cambria Math"/>
                <a:cs typeface="Cambria Math"/>
              </a:rPr>
              <a:t>⋈</a:t>
            </a:r>
            <a:r>
              <a:rPr sz="4000" spc="-60" dirty="0">
                <a:latin typeface="Cambria Math"/>
                <a:cs typeface="Cambria Math"/>
              </a:rPr>
              <a:t> </a:t>
            </a:r>
            <a:r>
              <a:rPr sz="4000" b="1" dirty="0">
                <a:latin typeface="Calibri"/>
                <a:cs typeface="Calibri"/>
              </a:rPr>
              <a:t>σ</a:t>
            </a:r>
            <a:r>
              <a:rPr sz="4000" b="1" spc="-75" dirty="0">
                <a:latin typeface="Calibri"/>
                <a:cs typeface="Calibri"/>
              </a:rPr>
              <a:t> </a:t>
            </a:r>
            <a:r>
              <a:rPr sz="3975" b="1" spc="-15" baseline="-20964" dirty="0">
                <a:latin typeface="Calibri"/>
                <a:cs typeface="Calibri"/>
              </a:rPr>
              <a:t>color=‘RED’</a:t>
            </a:r>
            <a:r>
              <a:rPr sz="4000" b="1" spc="-10" dirty="0">
                <a:latin typeface="Calibri"/>
                <a:cs typeface="Calibri"/>
              </a:rPr>
              <a:t>(Parts)))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2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90" dirty="0"/>
              <a:t>Table</a:t>
            </a:r>
            <a:r>
              <a:rPr sz="4400" spc="-155" dirty="0"/>
              <a:t> </a:t>
            </a:r>
            <a:r>
              <a:rPr sz="4400" spc="-30" dirty="0"/>
              <a:t>Details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42" y="1761063"/>
            <a:ext cx="11826882" cy="4109384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1809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Queries</a:t>
            </a:r>
            <a:r>
              <a:rPr sz="4400" spc="-185" dirty="0"/>
              <a:t> </a:t>
            </a:r>
            <a:r>
              <a:rPr sz="4400" dirty="0"/>
              <a:t>on</a:t>
            </a:r>
            <a:r>
              <a:rPr sz="4400" spc="-185" dirty="0"/>
              <a:t> </a:t>
            </a:r>
            <a:r>
              <a:rPr sz="4400" spc="-25" dirty="0"/>
              <a:t>above</a:t>
            </a:r>
            <a:r>
              <a:rPr sz="4400" spc="-180" dirty="0"/>
              <a:t> </a:t>
            </a:r>
            <a:r>
              <a:rPr sz="4400" spc="-65" dirty="0"/>
              <a:t>Table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48716" y="1784350"/>
            <a:ext cx="10466070" cy="422084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527685" marR="5080" indent="-515620">
              <a:lnSpc>
                <a:spcPts val="3460"/>
              </a:lnSpc>
              <a:spcBef>
                <a:spcPts val="535"/>
              </a:spcBef>
              <a:buAutoNum type="arabicPeriod"/>
              <a:tabLst>
                <a:tab pos="527685" algn="l"/>
                <a:tab pos="2967355" algn="l"/>
              </a:tabLst>
            </a:pPr>
            <a:r>
              <a:rPr sz="3200" dirty="0">
                <a:latin typeface="Calibri"/>
                <a:cs typeface="Calibri"/>
              </a:rPr>
              <a:t>Write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query</a:t>
            </a:r>
            <a:r>
              <a:rPr sz="3200" dirty="0">
                <a:latin typeface="Calibri"/>
                <a:cs typeface="Calibri"/>
              </a:rPr>
              <a:t>	to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display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Member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IDs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members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have </a:t>
            </a:r>
            <a:r>
              <a:rPr sz="3200" dirty="0">
                <a:latin typeface="Calibri"/>
                <a:cs typeface="Calibri"/>
              </a:rPr>
              <a:t>borrowed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books</a:t>
            </a:r>
            <a:endParaRPr sz="3200">
              <a:latin typeface="Calibri"/>
              <a:cs typeface="Calibri"/>
            </a:endParaRPr>
          </a:p>
          <a:p>
            <a:pPr marL="527685" marR="331470" indent="-515620">
              <a:lnSpc>
                <a:spcPts val="3460"/>
              </a:lnSpc>
              <a:spcBef>
                <a:spcPts val="990"/>
              </a:spcBef>
              <a:buAutoNum type="arabicPeriod"/>
              <a:tabLst>
                <a:tab pos="527685" algn="l"/>
                <a:tab pos="2967355" algn="l"/>
              </a:tabLst>
            </a:pPr>
            <a:r>
              <a:rPr sz="3200" dirty="0">
                <a:latin typeface="Calibri"/>
                <a:cs typeface="Calibri"/>
              </a:rPr>
              <a:t>Write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query</a:t>
            </a:r>
            <a:r>
              <a:rPr sz="3200" dirty="0">
                <a:latin typeface="Calibri"/>
                <a:cs typeface="Calibri"/>
              </a:rPr>
              <a:t>	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display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Member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IDs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members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Book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IDs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books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they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have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borrowed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books.</a:t>
            </a:r>
            <a:endParaRPr sz="32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555"/>
              </a:spcBef>
              <a:buAutoNum type="arabicPeriod"/>
              <a:tabLst>
                <a:tab pos="527685" algn="l"/>
              </a:tabLst>
            </a:pPr>
            <a:r>
              <a:rPr sz="3200" dirty="0">
                <a:latin typeface="Calibri"/>
                <a:cs typeface="Calibri"/>
              </a:rPr>
              <a:t>Details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members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were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born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21/10/1997.</a:t>
            </a:r>
            <a:endParaRPr sz="32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527685" algn="l"/>
              </a:tabLst>
            </a:pPr>
            <a:r>
              <a:rPr sz="3200" dirty="0">
                <a:latin typeface="Calibri"/>
                <a:cs typeface="Calibri"/>
              </a:rPr>
              <a:t>Rename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Member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relation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LibraryMember.</a:t>
            </a:r>
            <a:endParaRPr sz="32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615"/>
              </a:spcBef>
              <a:buAutoNum type="arabicPeriod"/>
              <a:tabLst>
                <a:tab pos="527685" algn="l"/>
              </a:tabLst>
            </a:pPr>
            <a:r>
              <a:rPr sz="3200" dirty="0">
                <a:latin typeface="Calibri"/>
                <a:cs typeface="Calibri"/>
              </a:rPr>
              <a:t>Perform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cross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product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between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Member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Borrow.</a:t>
            </a:r>
            <a:endParaRPr sz="32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610"/>
              </a:spcBef>
              <a:buAutoNum type="arabicPeriod"/>
              <a:tabLst>
                <a:tab pos="527685" algn="l"/>
              </a:tabLst>
            </a:pPr>
            <a:r>
              <a:rPr sz="3200" dirty="0">
                <a:latin typeface="Calibri"/>
                <a:cs typeface="Calibri"/>
              </a:rPr>
              <a:t>Perform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natural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join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between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Member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Borrow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2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0" dirty="0"/>
              <a:t>Answers</a:t>
            </a:r>
            <a:r>
              <a:rPr sz="4400" spc="-160" dirty="0"/>
              <a:t> </a:t>
            </a:r>
            <a:r>
              <a:rPr sz="4400" dirty="0"/>
              <a:t>of</a:t>
            </a:r>
            <a:r>
              <a:rPr sz="4400" spc="-145" dirty="0"/>
              <a:t> </a:t>
            </a:r>
            <a:r>
              <a:rPr sz="4400" dirty="0"/>
              <a:t>Ques</a:t>
            </a:r>
            <a:r>
              <a:rPr sz="4400" spc="-160" dirty="0"/>
              <a:t> </a:t>
            </a:r>
            <a:r>
              <a:rPr sz="4400" dirty="0"/>
              <a:t>1</a:t>
            </a:r>
            <a:r>
              <a:rPr sz="4400" spc="-150" dirty="0"/>
              <a:t> </a:t>
            </a:r>
            <a:r>
              <a:rPr sz="4400" dirty="0"/>
              <a:t>and</a:t>
            </a:r>
            <a:r>
              <a:rPr sz="4400" spc="-165" dirty="0"/>
              <a:t> </a:t>
            </a:r>
            <a:r>
              <a:rPr sz="4400" spc="-50" dirty="0"/>
              <a:t>2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935665"/>
            <a:ext cx="4332732" cy="426853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37859" y="2385060"/>
            <a:ext cx="5615940" cy="3592067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Answers</a:t>
            </a:r>
            <a:r>
              <a:rPr spc="-150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dirty="0"/>
              <a:t>Ques</a:t>
            </a:r>
            <a:r>
              <a:rPr spc="-145" dirty="0"/>
              <a:t> </a:t>
            </a:r>
            <a:r>
              <a:rPr dirty="0"/>
              <a:t>3</a:t>
            </a:r>
            <a:r>
              <a:rPr spc="-135" dirty="0"/>
              <a:t> </a:t>
            </a:r>
            <a:r>
              <a:rPr dirty="0"/>
              <a:t>and</a:t>
            </a:r>
            <a:r>
              <a:rPr spc="-145" dirty="0"/>
              <a:t> </a:t>
            </a:r>
            <a:r>
              <a:rPr spc="-50" dirty="0"/>
              <a:t>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79932" y="1027175"/>
            <a:ext cx="10642600" cy="5751830"/>
            <a:chOff x="979932" y="1027175"/>
            <a:chExt cx="10642600" cy="57518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9932" y="1027175"/>
              <a:ext cx="10642092" cy="25237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9932" y="3579874"/>
              <a:ext cx="10642092" cy="31988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8268" y="136905"/>
            <a:ext cx="37363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Answers</a:t>
            </a:r>
            <a:r>
              <a:rPr spc="-170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spc="-10" dirty="0"/>
              <a:t>Ques</a:t>
            </a:r>
            <a:r>
              <a:rPr spc="-165" dirty="0"/>
              <a:t> </a:t>
            </a:r>
            <a:r>
              <a:rPr spc="-50" dirty="0"/>
              <a:t>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000" y="1016477"/>
            <a:ext cx="10917557" cy="5733267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2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Ans</a:t>
            </a:r>
            <a:r>
              <a:rPr sz="4400" spc="-165" dirty="0"/>
              <a:t> </a:t>
            </a:r>
            <a:r>
              <a:rPr sz="4400" dirty="0"/>
              <a:t>of</a:t>
            </a:r>
            <a:r>
              <a:rPr sz="4400" spc="-150" dirty="0"/>
              <a:t> </a:t>
            </a:r>
            <a:r>
              <a:rPr sz="4400" dirty="0"/>
              <a:t>Ques</a:t>
            </a:r>
            <a:r>
              <a:rPr sz="4400" spc="-175" dirty="0"/>
              <a:t> </a:t>
            </a:r>
            <a:r>
              <a:rPr sz="4400" spc="-50" dirty="0"/>
              <a:t>6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028370"/>
            <a:ext cx="11423904" cy="3847647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73761"/>
            <a:ext cx="1036129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tabLst>
                <a:tab pos="1900555" algn="l"/>
                <a:tab pos="3370579" algn="l"/>
                <a:tab pos="5393055" algn="l"/>
                <a:tab pos="6665595" algn="l"/>
                <a:tab pos="7548245" algn="l"/>
                <a:tab pos="8221980" algn="l"/>
                <a:tab pos="9156065" algn="l"/>
              </a:tabLst>
            </a:pPr>
            <a:r>
              <a:rPr spc="-10" dirty="0"/>
              <a:t>Perform</a:t>
            </a:r>
            <a:r>
              <a:rPr dirty="0"/>
              <a:t>	</a:t>
            </a:r>
            <a:r>
              <a:rPr spc="-20" dirty="0"/>
              <a:t>Union</a:t>
            </a:r>
            <a:r>
              <a:rPr dirty="0"/>
              <a:t>	</a:t>
            </a:r>
            <a:r>
              <a:rPr spc="-10" dirty="0"/>
              <a:t>between</a:t>
            </a:r>
            <a:r>
              <a:rPr dirty="0"/>
              <a:t>	</a:t>
            </a:r>
            <a:r>
              <a:rPr spc="-20" dirty="0"/>
              <a:t>Book</a:t>
            </a:r>
            <a:r>
              <a:rPr dirty="0"/>
              <a:t>	</a:t>
            </a:r>
            <a:r>
              <a:rPr spc="-25" dirty="0"/>
              <a:t>IDs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50" dirty="0"/>
              <a:t>books borrowed</a:t>
            </a:r>
            <a:r>
              <a:rPr spc="-175" dirty="0"/>
              <a:t> </a:t>
            </a:r>
            <a:r>
              <a:rPr dirty="0"/>
              <a:t>by</a:t>
            </a:r>
            <a:r>
              <a:rPr spc="-135" dirty="0"/>
              <a:t> </a:t>
            </a:r>
            <a:r>
              <a:rPr spc="-10" dirty="0"/>
              <a:t>Charlie</a:t>
            </a:r>
            <a:r>
              <a:rPr spc="-170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-10" dirty="0"/>
              <a:t>Mike.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259" y="1865370"/>
            <a:ext cx="11330940" cy="4430273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algn="just">
              <a:lnSpc>
                <a:spcPts val="3890"/>
              </a:lnSpc>
              <a:spcBef>
                <a:spcPts val="585"/>
              </a:spcBef>
            </a:pPr>
            <a:r>
              <a:rPr sz="3600" dirty="0"/>
              <a:t>Perform</a:t>
            </a:r>
            <a:r>
              <a:rPr sz="3600" spc="360" dirty="0"/>
              <a:t>  </a:t>
            </a:r>
            <a:r>
              <a:rPr sz="3600" dirty="0"/>
              <a:t>Intersection</a:t>
            </a:r>
            <a:r>
              <a:rPr sz="3600" spc="375" dirty="0"/>
              <a:t>  </a:t>
            </a:r>
            <a:r>
              <a:rPr sz="3600" dirty="0"/>
              <a:t>between</a:t>
            </a:r>
            <a:r>
              <a:rPr sz="3600" spc="380" dirty="0"/>
              <a:t>  </a:t>
            </a:r>
            <a:r>
              <a:rPr sz="3600" dirty="0"/>
              <a:t>Member</a:t>
            </a:r>
            <a:r>
              <a:rPr sz="3600" spc="380" dirty="0"/>
              <a:t>  </a:t>
            </a:r>
            <a:r>
              <a:rPr sz="3600" dirty="0"/>
              <a:t>IDs</a:t>
            </a:r>
            <a:r>
              <a:rPr sz="3600" spc="375" dirty="0"/>
              <a:t>  </a:t>
            </a:r>
            <a:r>
              <a:rPr sz="3600" dirty="0"/>
              <a:t>of</a:t>
            </a:r>
            <a:r>
              <a:rPr sz="3600" spc="385" dirty="0"/>
              <a:t>  </a:t>
            </a:r>
            <a:r>
              <a:rPr sz="3600" spc="-25" dirty="0"/>
              <a:t>the </a:t>
            </a:r>
            <a:r>
              <a:rPr sz="3600" dirty="0"/>
              <a:t>members</a:t>
            </a:r>
            <a:r>
              <a:rPr sz="3600" spc="160" dirty="0"/>
              <a:t> </a:t>
            </a:r>
            <a:r>
              <a:rPr sz="3600" dirty="0"/>
              <a:t>who</a:t>
            </a:r>
            <a:r>
              <a:rPr sz="3600" spc="170" dirty="0"/>
              <a:t> </a:t>
            </a:r>
            <a:r>
              <a:rPr sz="3600" dirty="0"/>
              <a:t>have</a:t>
            </a:r>
            <a:r>
              <a:rPr sz="3600" spc="165" dirty="0"/>
              <a:t> </a:t>
            </a:r>
            <a:r>
              <a:rPr sz="3600" dirty="0"/>
              <a:t>borrowed</a:t>
            </a:r>
            <a:r>
              <a:rPr sz="3600" spc="160" dirty="0"/>
              <a:t> </a:t>
            </a:r>
            <a:r>
              <a:rPr sz="3600" dirty="0"/>
              <a:t>both</a:t>
            </a:r>
            <a:r>
              <a:rPr sz="3600" spc="160" dirty="0"/>
              <a:t> </a:t>
            </a:r>
            <a:r>
              <a:rPr sz="3600" dirty="0"/>
              <a:t>the</a:t>
            </a:r>
            <a:r>
              <a:rPr sz="3600" spc="160" dirty="0"/>
              <a:t> </a:t>
            </a:r>
            <a:r>
              <a:rPr sz="3600" dirty="0"/>
              <a:t>books</a:t>
            </a:r>
            <a:r>
              <a:rPr sz="3600" spc="170" dirty="0"/>
              <a:t> </a:t>
            </a:r>
            <a:r>
              <a:rPr sz="3600" spc="-10" dirty="0"/>
              <a:t>“Fences” </a:t>
            </a:r>
            <a:r>
              <a:rPr sz="3600" dirty="0"/>
              <a:t>and</a:t>
            </a:r>
            <a:r>
              <a:rPr sz="3600" spc="-180" dirty="0"/>
              <a:t> </a:t>
            </a:r>
            <a:r>
              <a:rPr sz="3600" spc="-10" dirty="0"/>
              <a:t>“Inheritance”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563" y="2027767"/>
            <a:ext cx="10651236" cy="3999905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16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65" dirty="0"/>
              <a:t>Perform</a:t>
            </a:r>
            <a:r>
              <a:rPr spc="-160" dirty="0"/>
              <a:t> </a:t>
            </a:r>
            <a:r>
              <a:rPr dirty="0"/>
              <a:t>Set</a:t>
            </a:r>
            <a:r>
              <a:rPr spc="-150" dirty="0"/>
              <a:t> </a:t>
            </a:r>
            <a:r>
              <a:rPr spc="-55" dirty="0"/>
              <a:t>difference</a:t>
            </a:r>
            <a:r>
              <a:rPr spc="-155" dirty="0"/>
              <a:t> </a:t>
            </a:r>
            <a:r>
              <a:rPr spc="-40" dirty="0"/>
              <a:t>between</a:t>
            </a:r>
            <a:r>
              <a:rPr spc="-160" dirty="0"/>
              <a:t> </a:t>
            </a:r>
            <a:r>
              <a:rPr spc="-30" dirty="0"/>
              <a:t>Member</a:t>
            </a:r>
            <a:r>
              <a:rPr spc="-145" dirty="0"/>
              <a:t> </a:t>
            </a:r>
            <a:r>
              <a:rPr dirty="0"/>
              <a:t>IDs</a:t>
            </a:r>
            <a:r>
              <a:rPr spc="-120" dirty="0"/>
              <a:t> </a:t>
            </a:r>
            <a:r>
              <a:rPr dirty="0"/>
              <a:t>of</a:t>
            </a:r>
            <a:r>
              <a:rPr spc="-110" dirty="0"/>
              <a:t> </a:t>
            </a:r>
            <a:r>
              <a:rPr spc="-25" dirty="0"/>
              <a:t>the </a:t>
            </a:r>
            <a:r>
              <a:rPr spc="-35" dirty="0"/>
              <a:t>members</a:t>
            </a:r>
            <a:r>
              <a:rPr spc="-175" dirty="0"/>
              <a:t> </a:t>
            </a:r>
            <a:r>
              <a:rPr dirty="0"/>
              <a:t>who</a:t>
            </a:r>
            <a:r>
              <a:rPr spc="-165" dirty="0"/>
              <a:t> </a:t>
            </a:r>
            <a:r>
              <a:rPr spc="-40" dirty="0"/>
              <a:t>have</a:t>
            </a:r>
            <a:r>
              <a:rPr spc="-180" dirty="0"/>
              <a:t> </a:t>
            </a:r>
            <a:r>
              <a:rPr spc="-20" dirty="0"/>
              <a:t>never</a:t>
            </a:r>
            <a:r>
              <a:rPr spc="-175" dirty="0"/>
              <a:t> </a:t>
            </a:r>
            <a:r>
              <a:rPr spc="-50" dirty="0"/>
              <a:t>borrowed</a:t>
            </a:r>
            <a:r>
              <a:rPr spc="-175" dirty="0"/>
              <a:t> </a:t>
            </a:r>
            <a:r>
              <a:rPr spc="-10" dirty="0"/>
              <a:t>books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508" y="1819809"/>
            <a:ext cx="11172444" cy="4820258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20310" y="4062476"/>
            <a:ext cx="31508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9620" algn="l"/>
              </a:tabLst>
            </a:pPr>
            <a:r>
              <a:rPr sz="6000" spc="-10" dirty="0">
                <a:solidFill>
                  <a:srgbClr val="FFFFFF"/>
                </a:solidFill>
              </a:rPr>
              <a:t>Thank</a:t>
            </a:r>
            <a:r>
              <a:rPr sz="6000" dirty="0">
                <a:solidFill>
                  <a:srgbClr val="FFFFFF"/>
                </a:solidFill>
              </a:rPr>
              <a:t>	</a:t>
            </a:r>
            <a:r>
              <a:rPr sz="6000" spc="-125" dirty="0">
                <a:solidFill>
                  <a:srgbClr val="FFFFFF"/>
                </a:solidFill>
              </a:rPr>
              <a:t>You</a:t>
            </a:r>
            <a:endParaRPr sz="6000"/>
          </a:p>
        </p:txBody>
      </p:sp>
      <p:grpSp>
        <p:nvGrpSpPr>
          <p:cNvPr id="4" name="object 4"/>
          <p:cNvGrpSpPr/>
          <p:nvPr/>
        </p:nvGrpSpPr>
        <p:grpSpPr>
          <a:xfrm>
            <a:off x="5017389" y="879728"/>
            <a:ext cx="2159000" cy="2160270"/>
            <a:chOff x="5017389" y="879728"/>
            <a:chExt cx="2159000" cy="2160270"/>
          </a:xfrm>
        </p:grpSpPr>
        <p:sp>
          <p:nvSpPr>
            <p:cNvPr id="5" name="object 5"/>
            <p:cNvSpPr/>
            <p:nvPr/>
          </p:nvSpPr>
          <p:spPr>
            <a:xfrm>
              <a:off x="5026914" y="889253"/>
              <a:ext cx="2139950" cy="2141220"/>
            </a:xfrm>
            <a:custGeom>
              <a:avLst/>
              <a:gdLst/>
              <a:ahLst/>
              <a:cxnLst/>
              <a:rect l="l" t="t" r="r" b="b"/>
              <a:pathLst>
                <a:path w="2139950" h="2141220">
                  <a:moveTo>
                    <a:pt x="1069848" y="0"/>
                  </a:moveTo>
                  <a:lnTo>
                    <a:pt x="1022197" y="1043"/>
                  </a:lnTo>
                  <a:lnTo>
                    <a:pt x="975079" y="4143"/>
                  </a:lnTo>
                  <a:lnTo>
                    <a:pt x="928538" y="9257"/>
                  </a:lnTo>
                  <a:lnTo>
                    <a:pt x="882618" y="16341"/>
                  </a:lnTo>
                  <a:lnTo>
                    <a:pt x="837361" y="25351"/>
                  </a:lnTo>
                  <a:lnTo>
                    <a:pt x="792812" y="36245"/>
                  </a:lnTo>
                  <a:lnTo>
                    <a:pt x="749014" y="48978"/>
                  </a:lnTo>
                  <a:lnTo>
                    <a:pt x="706010" y="63508"/>
                  </a:lnTo>
                  <a:lnTo>
                    <a:pt x="663844" y="79790"/>
                  </a:lnTo>
                  <a:lnTo>
                    <a:pt x="622559" y="97781"/>
                  </a:lnTo>
                  <a:lnTo>
                    <a:pt x="582199" y="117438"/>
                  </a:lnTo>
                  <a:lnTo>
                    <a:pt x="542808" y="138717"/>
                  </a:lnTo>
                  <a:lnTo>
                    <a:pt x="504428" y="161574"/>
                  </a:lnTo>
                  <a:lnTo>
                    <a:pt x="467104" y="185966"/>
                  </a:lnTo>
                  <a:lnTo>
                    <a:pt x="430879" y="211850"/>
                  </a:lnTo>
                  <a:lnTo>
                    <a:pt x="395796" y="239183"/>
                  </a:lnTo>
                  <a:lnTo>
                    <a:pt x="361899" y="267919"/>
                  </a:lnTo>
                  <a:lnTo>
                    <a:pt x="329231" y="298017"/>
                  </a:lnTo>
                  <a:lnTo>
                    <a:pt x="297837" y="329432"/>
                  </a:lnTo>
                  <a:lnTo>
                    <a:pt x="267758" y="362121"/>
                  </a:lnTo>
                  <a:lnTo>
                    <a:pt x="239040" y="396041"/>
                  </a:lnTo>
                  <a:lnTo>
                    <a:pt x="211725" y="431148"/>
                  </a:lnTo>
                  <a:lnTo>
                    <a:pt x="185857" y="467398"/>
                  </a:lnTo>
                  <a:lnTo>
                    <a:pt x="161480" y="504749"/>
                  </a:lnTo>
                  <a:lnTo>
                    <a:pt x="138636" y="543156"/>
                  </a:lnTo>
                  <a:lnTo>
                    <a:pt x="117370" y="582575"/>
                  </a:lnTo>
                  <a:lnTo>
                    <a:pt x="97725" y="622965"/>
                  </a:lnTo>
                  <a:lnTo>
                    <a:pt x="79745" y="664280"/>
                  </a:lnTo>
                  <a:lnTo>
                    <a:pt x="63472" y="706478"/>
                  </a:lnTo>
                  <a:lnTo>
                    <a:pt x="48951" y="749515"/>
                  </a:lnTo>
                  <a:lnTo>
                    <a:pt x="36225" y="793347"/>
                  </a:lnTo>
                  <a:lnTo>
                    <a:pt x="25337" y="837931"/>
                  </a:lnTo>
                  <a:lnTo>
                    <a:pt x="16332" y="883224"/>
                  </a:lnTo>
                  <a:lnTo>
                    <a:pt x="9252" y="929182"/>
                  </a:lnTo>
                  <a:lnTo>
                    <a:pt x="4141" y="975761"/>
                  </a:lnTo>
                  <a:lnTo>
                    <a:pt x="1042" y="1022918"/>
                  </a:lnTo>
                  <a:lnTo>
                    <a:pt x="0" y="1070610"/>
                  </a:lnTo>
                  <a:lnTo>
                    <a:pt x="1042" y="1118301"/>
                  </a:lnTo>
                  <a:lnTo>
                    <a:pt x="4141" y="1165458"/>
                  </a:lnTo>
                  <a:lnTo>
                    <a:pt x="9252" y="1212037"/>
                  </a:lnTo>
                  <a:lnTo>
                    <a:pt x="16332" y="1257995"/>
                  </a:lnTo>
                  <a:lnTo>
                    <a:pt x="25337" y="1303288"/>
                  </a:lnTo>
                  <a:lnTo>
                    <a:pt x="36225" y="1347872"/>
                  </a:lnTo>
                  <a:lnTo>
                    <a:pt x="48951" y="1391704"/>
                  </a:lnTo>
                  <a:lnTo>
                    <a:pt x="63472" y="1434741"/>
                  </a:lnTo>
                  <a:lnTo>
                    <a:pt x="79745" y="1476939"/>
                  </a:lnTo>
                  <a:lnTo>
                    <a:pt x="97725" y="1518254"/>
                  </a:lnTo>
                  <a:lnTo>
                    <a:pt x="117370" y="1558644"/>
                  </a:lnTo>
                  <a:lnTo>
                    <a:pt x="138636" y="1598063"/>
                  </a:lnTo>
                  <a:lnTo>
                    <a:pt x="161480" y="1636470"/>
                  </a:lnTo>
                  <a:lnTo>
                    <a:pt x="185857" y="1673821"/>
                  </a:lnTo>
                  <a:lnTo>
                    <a:pt x="211725" y="1710071"/>
                  </a:lnTo>
                  <a:lnTo>
                    <a:pt x="239040" y="1745178"/>
                  </a:lnTo>
                  <a:lnTo>
                    <a:pt x="267758" y="1779098"/>
                  </a:lnTo>
                  <a:lnTo>
                    <a:pt x="297837" y="1811787"/>
                  </a:lnTo>
                  <a:lnTo>
                    <a:pt x="329231" y="1843202"/>
                  </a:lnTo>
                  <a:lnTo>
                    <a:pt x="361899" y="1873300"/>
                  </a:lnTo>
                  <a:lnTo>
                    <a:pt x="395796" y="1902036"/>
                  </a:lnTo>
                  <a:lnTo>
                    <a:pt x="430879" y="1929369"/>
                  </a:lnTo>
                  <a:lnTo>
                    <a:pt x="467104" y="1955253"/>
                  </a:lnTo>
                  <a:lnTo>
                    <a:pt x="504428" y="1979645"/>
                  </a:lnTo>
                  <a:lnTo>
                    <a:pt x="542808" y="2002502"/>
                  </a:lnTo>
                  <a:lnTo>
                    <a:pt x="582199" y="2023781"/>
                  </a:lnTo>
                  <a:lnTo>
                    <a:pt x="622559" y="2043438"/>
                  </a:lnTo>
                  <a:lnTo>
                    <a:pt x="663844" y="2061429"/>
                  </a:lnTo>
                  <a:lnTo>
                    <a:pt x="706010" y="2077711"/>
                  </a:lnTo>
                  <a:lnTo>
                    <a:pt x="749014" y="2092241"/>
                  </a:lnTo>
                  <a:lnTo>
                    <a:pt x="792812" y="2104974"/>
                  </a:lnTo>
                  <a:lnTo>
                    <a:pt x="837361" y="2115868"/>
                  </a:lnTo>
                  <a:lnTo>
                    <a:pt x="882618" y="2124878"/>
                  </a:lnTo>
                  <a:lnTo>
                    <a:pt x="928538" y="2131962"/>
                  </a:lnTo>
                  <a:lnTo>
                    <a:pt x="975079" y="2137076"/>
                  </a:lnTo>
                  <a:lnTo>
                    <a:pt x="1022197" y="2140176"/>
                  </a:lnTo>
                  <a:lnTo>
                    <a:pt x="1069848" y="2141220"/>
                  </a:lnTo>
                  <a:lnTo>
                    <a:pt x="1117498" y="2140176"/>
                  </a:lnTo>
                  <a:lnTo>
                    <a:pt x="1164616" y="2137076"/>
                  </a:lnTo>
                  <a:lnTo>
                    <a:pt x="1211157" y="2131962"/>
                  </a:lnTo>
                  <a:lnTo>
                    <a:pt x="1257077" y="2124878"/>
                  </a:lnTo>
                  <a:lnTo>
                    <a:pt x="1302334" y="2115868"/>
                  </a:lnTo>
                  <a:lnTo>
                    <a:pt x="1346883" y="2104974"/>
                  </a:lnTo>
                  <a:lnTo>
                    <a:pt x="1390681" y="2092241"/>
                  </a:lnTo>
                  <a:lnTo>
                    <a:pt x="1433685" y="2077711"/>
                  </a:lnTo>
                  <a:lnTo>
                    <a:pt x="1475851" y="2061429"/>
                  </a:lnTo>
                  <a:lnTo>
                    <a:pt x="1517136" y="2043438"/>
                  </a:lnTo>
                  <a:lnTo>
                    <a:pt x="1557496" y="2023781"/>
                  </a:lnTo>
                  <a:lnTo>
                    <a:pt x="1596887" y="2002502"/>
                  </a:lnTo>
                  <a:lnTo>
                    <a:pt x="1635267" y="1979645"/>
                  </a:lnTo>
                  <a:lnTo>
                    <a:pt x="1672591" y="1955253"/>
                  </a:lnTo>
                  <a:lnTo>
                    <a:pt x="1708816" y="1929369"/>
                  </a:lnTo>
                  <a:lnTo>
                    <a:pt x="1743899" y="1902036"/>
                  </a:lnTo>
                  <a:lnTo>
                    <a:pt x="1777796" y="1873300"/>
                  </a:lnTo>
                  <a:lnTo>
                    <a:pt x="1810464" y="1843202"/>
                  </a:lnTo>
                  <a:lnTo>
                    <a:pt x="1841858" y="1811787"/>
                  </a:lnTo>
                  <a:lnTo>
                    <a:pt x="1871937" y="1779098"/>
                  </a:lnTo>
                  <a:lnTo>
                    <a:pt x="1900655" y="1745178"/>
                  </a:lnTo>
                  <a:lnTo>
                    <a:pt x="1927970" y="1710071"/>
                  </a:lnTo>
                  <a:lnTo>
                    <a:pt x="1953838" y="1673821"/>
                  </a:lnTo>
                  <a:lnTo>
                    <a:pt x="1978215" y="1636470"/>
                  </a:lnTo>
                  <a:lnTo>
                    <a:pt x="2001059" y="1598063"/>
                  </a:lnTo>
                  <a:lnTo>
                    <a:pt x="2022325" y="1558644"/>
                  </a:lnTo>
                  <a:lnTo>
                    <a:pt x="2041970" y="1518254"/>
                  </a:lnTo>
                  <a:lnTo>
                    <a:pt x="2059950" y="1476939"/>
                  </a:lnTo>
                  <a:lnTo>
                    <a:pt x="2076223" y="1434741"/>
                  </a:lnTo>
                  <a:lnTo>
                    <a:pt x="2090744" y="1391704"/>
                  </a:lnTo>
                  <a:lnTo>
                    <a:pt x="2103470" y="1347872"/>
                  </a:lnTo>
                  <a:lnTo>
                    <a:pt x="2114358" y="1303288"/>
                  </a:lnTo>
                  <a:lnTo>
                    <a:pt x="2123363" y="1257995"/>
                  </a:lnTo>
                  <a:lnTo>
                    <a:pt x="2130443" y="1212037"/>
                  </a:lnTo>
                  <a:lnTo>
                    <a:pt x="2135554" y="1165458"/>
                  </a:lnTo>
                  <a:lnTo>
                    <a:pt x="2138653" y="1118301"/>
                  </a:lnTo>
                  <a:lnTo>
                    <a:pt x="2139695" y="1070610"/>
                  </a:lnTo>
                  <a:lnTo>
                    <a:pt x="2138653" y="1022918"/>
                  </a:lnTo>
                  <a:lnTo>
                    <a:pt x="2135554" y="975761"/>
                  </a:lnTo>
                  <a:lnTo>
                    <a:pt x="2130443" y="929182"/>
                  </a:lnTo>
                  <a:lnTo>
                    <a:pt x="2123363" y="883224"/>
                  </a:lnTo>
                  <a:lnTo>
                    <a:pt x="2114358" y="837931"/>
                  </a:lnTo>
                  <a:lnTo>
                    <a:pt x="2103470" y="793347"/>
                  </a:lnTo>
                  <a:lnTo>
                    <a:pt x="2090744" y="749515"/>
                  </a:lnTo>
                  <a:lnTo>
                    <a:pt x="2076223" y="706478"/>
                  </a:lnTo>
                  <a:lnTo>
                    <a:pt x="2059950" y="664280"/>
                  </a:lnTo>
                  <a:lnTo>
                    <a:pt x="2041970" y="622965"/>
                  </a:lnTo>
                  <a:lnTo>
                    <a:pt x="2022325" y="582575"/>
                  </a:lnTo>
                  <a:lnTo>
                    <a:pt x="2001059" y="543156"/>
                  </a:lnTo>
                  <a:lnTo>
                    <a:pt x="1978215" y="504749"/>
                  </a:lnTo>
                  <a:lnTo>
                    <a:pt x="1953838" y="467398"/>
                  </a:lnTo>
                  <a:lnTo>
                    <a:pt x="1927970" y="431148"/>
                  </a:lnTo>
                  <a:lnTo>
                    <a:pt x="1900655" y="396041"/>
                  </a:lnTo>
                  <a:lnTo>
                    <a:pt x="1871937" y="362121"/>
                  </a:lnTo>
                  <a:lnTo>
                    <a:pt x="1841858" y="329432"/>
                  </a:lnTo>
                  <a:lnTo>
                    <a:pt x="1810464" y="298017"/>
                  </a:lnTo>
                  <a:lnTo>
                    <a:pt x="1777796" y="267919"/>
                  </a:lnTo>
                  <a:lnTo>
                    <a:pt x="1743899" y="239183"/>
                  </a:lnTo>
                  <a:lnTo>
                    <a:pt x="1708816" y="211850"/>
                  </a:lnTo>
                  <a:lnTo>
                    <a:pt x="1672591" y="185966"/>
                  </a:lnTo>
                  <a:lnTo>
                    <a:pt x="1635267" y="161574"/>
                  </a:lnTo>
                  <a:lnTo>
                    <a:pt x="1596887" y="138717"/>
                  </a:lnTo>
                  <a:lnTo>
                    <a:pt x="1557496" y="117438"/>
                  </a:lnTo>
                  <a:lnTo>
                    <a:pt x="1517136" y="97781"/>
                  </a:lnTo>
                  <a:lnTo>
                    <a:pt x="1475851" y="79790"/>
                  </a:lnTo>
                  <a:lnTo>
                    <a:pt x="1433685" y="63508"/>
                  </a:lnTo>
                  <a:lnTo>
                    <a:pt x="1390681" y="48978"/>
                  </a:lnTo>
                  <a:lnTo>
                    <a:pt x="1346883" y="36245"/>
                  </a:lnTo>
                  <a:lnTo>
                    <a:pt x="1302334" y="25351"/>
                  </a:lnTo>
                  <a:lnTo>
                    <a:pt x="1257077" y="16341"/>
                  </a:lnTo>
                  <a:lnTo>
                    <a:pt x="1211157" y="9257"/>
                  </a:lnTo>
                  <a:lnTo>
                    <a:pt x="1164616" y="4143"/>
                  </a:lnTo>
                  <a:lnTo>
                    <a:pt x="1117498" y="1043"/>
                  </a:lnTo>
                  <a:lnTo>
                    <a:pt x="10698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26914" y="889253"/>
              <a:ext cx="2139950" cy="2141220"/>
            </a:xfrm>
            <a:custGeom>
              <a:avLst/>
              <a:gdLst/>
              <a:ahLst/>
              <a:cxnLst/>
              <a:rect l="l" t="t" r="r" b="b"/>
              <a:pathLst>
                <a:path w="2139950" h="2141220">
                  <a:moveTo>
                    <a:pt x="0" y="1070610"/>
                  </a:moveTo>
                  <a:lnTo>
                    <a:pt x="1042" y="1022918"/>
                  </a:lnTo>
                  <a:lnTo>
                    <a:pt x="4141" y="975761"/>
                  </a:lnTo>
                  <a:lnTo>
                    <a:pt x="9252" y="929182"/>
                  </a:lnTo>
                  <a:lnTo>
                    <a:pt x="16332" y="883224"/>
                  </a:lnTo>
                  <a:lnTo>
                    <a:pt x="25337" y="837931"/>
                  </a:lnTo>
                  <a:lnTo>
                    <a:pt x="36225" y="793347"/>
                  </a:lnTo>
                  <a:lnTo>
                    <a:pt x="48951" y="749515"/>
                  </a:lnTo>
                  <a:lnTo>
                    <a:pt x="63472" y="706478"/>
                  </a:lnTo>
                  <a:lnTo>
                    <a:pt x="79745" y="664280"/>
                  </a:lnTo>
                  <a:lnTo>
                    <a:pt x="97725" y="622965"/>
                  </a:lnTo>
                  <a:lnTo>
                    <a:pt x="117370" y="582575"/>
                  </a:lnTo>
                  <a:lnTo>
                    <a:pt x="138636" y="543156"/>
                  </a:lnTo>
                  <a:lnTo>
                    <a:pt x="161480" y="504749"/>
                  </a:lnTo>
                  <a:lnTo>
                    <a:pt x="185857" y="467398"/>
                  </a:lnTo>
                  <a:lnTo>
                    <a:pt x="211725" y="431148"/>
                  </a:lnTo>
                  <a:lnTo>
                    <a:pt x="239040" y="396041"/>
                  </a:lnTo>
                  <a:lnTo>
                    <a:pt x="267758" y="362121"/>
                  </a:lnTo>
                  <a:lnTo>
                    <a:pt x="297837" y="329432"/>
                  </a:lnTo>
                  <a:lnTo>
                    <a:pt x="329231" y="298017"/>
                  </a:lnTo>
                  <a:lnTo>
                    <a:pt x="361899" y="267919"/>
                  </a:lnTo>
                  <a:lnTo>
                    <a:pt x="395796" y="239183"/>
                  </a:lnTo>
                  <a:lnTo>
                    <a:pt x="430879" y="211850"/>
                  </a:lnTo>
                  <a:lnTo>
                    <a:pt x="467104" y="185966"/>
                  </a:lnTo>
                  <a:lnTo>
                    <a:pt x="504428" y="161574"/>
                  </a:lnTo>
                  <a:lnTo>
                    <a:pt x="542808" y="138717"/>
                  </a:lnTo>
                  <a:lnTo>
                    <a:pt x="582199" y="117438"/>
                  </a:lnTo>
                  <a:lnTo>
                    <a:pt x="622559" y="97781"/>
                  </a:lnTo>
                  <a:lnTo>
                    <a:pt x="663844" y="79790"/>
                  </a:lnTo>
                  <a:lnTo>
                    <a:pt x="706010" y="63508"/>
                  </a:lnTo>
                  <a:lnTo>
                    <a:pt x="749014" y="48978"/>
                  </a:lnTo>
                  <a:lnTo>
                    <a:pt x="792812" y="36245"/>
                  </a:lnTo>
                  <a:lnTo>
                    <a:pt x="837361" y="25351"/>
                  </a:lnTo>
                  <a:lnTo>
                    <a:pt x="882618" y="16341"/>
                  </a:lnTo>
                  <a:lnTo>
                    <a:pt x="928538" y="9257"/>
                  </a:lnTo>
                  <a:lnTo>
                    <a:pt x="975079" y="4143"/>
                  </a:lnTo>
                  <a:lnTo>
                    <a:pt x="1022197" y="1043"/>
                  </a:lnTo>
                  <a:lnTo>
                    <a:pt x="1069848" y="0"/>
                  </a:lnTo>
                  <a:lnTo>
                    <a:pt x="1117498" y="1043"/>
                  </a:lnTo>
                  <a:lnTo>
                    <a:pt x="1164616" y="4143"/>
                  </a:lnTo>
                  <a:lnTo>
                    <a:pt x="1211157" y="9257"/>
                  </a:lnTo>
                  <a:lnTo>
                    <a:pt x="1257077" y="16341"/>
                  </a:lnTo>
                  <a:lnTo>
                    <a:pt x="1302334" y="25351"/>
                  </a:lnTo>
                  <a:lnTo>
                    <a:pt x="1346883" y="36245"/>
                  </a:lnTo>
                  <a:lnTo>
                    <a:pt x="1390681" y="48978"/>
                  </a:lnTo>
                  <a:lnTo>
                    <a:pt x="1433685" y="63508"/>
                  </a:lnTo>
                  <a:lnTo>
                    <a:pt x="1475851" y="79790"/>
                  </a:lnTo>
                  <a:lnTo>
                    <a:pt x="1517136" y="97781"/>
                  </a:lnTo>
                  <a:lnTo>
                    <a:pt x="1557496" y="117438"/>
                  </a:lnTo>
                  <a:lnTo>
                    <a:pt x="1596887" y="138717"/>
                  </a:lnTo>
                  <a:lnTo>
                    <a:pt x="1635267" y="161574"/>
                  </a:lnTo>
                  <a:lnTo>
                    <a:pt x="1672591" y="185966"/>
                  </a:lnTo>
                  <a:lnTo>
                    <a:pt x="1708816" y="211850"/>
                  </a:lnTo>
                  <a:lnTo>
                    <a:pt x="1743899" y="239183"/>
                  </a:lnTo>
                  <a:lnTo>
                    <a:pt x="1777796" y="267919"/>
                  </a:lnTo>
                  <a:lnTo>
                    <a:pt x="1810464" y="298017"/>
                  </a:lnTo>
                  <a:lnTo>
                    <a:pt x="1841858" y="329432"/>
                  </a:lnTo>
                  <a:lnTo>
                    <a:pt x="1871937" y="362121"/>
                  </a:lnTo>
                  <a:lnTo>
                    <a:pt x="1900655" y="396041"/>
                  </a:lnTo>
                  <a:lnTo>
                    <a:pt x="1927970" y="431148"/>
                  </a:lnTo>
                  <a:lnTo>
                    <a:pt x="1953838" y="467398"/>
                  </a:lnTo>
                  <a:lnTo>
                    <a:pt x="1978215" y="504749"/>
                  </a:lnTo>
                  <a:lnTo>
                    <a:pt x="2001059" y="543156"/>
                  </a:lnTo>
                  <a:lnTo>
                    <a:pt x="2022325" y="582575"/>
                  </a:lnTo>
                  <a:lnTo>
                    <a:pt x="2041970" y="622965"/>
                  </a:lnTo>
                  <a:lnTo>
                    <a:pt x="2059950" y="664280"/>
                  </a:lnTo>
                  <a:lnTo>
                    <a:pt x="2076223" y="706478"/>
                  </a:lnTo>
                  <a:lnTo>
                    <a:pt x="2090744" y="749515"/>
                  </a:lnTo>
                  <a:lnTo>
                    <a:pt x="2103470" y="793347"/>
                  </a:lnTo>
                  <a:lnTo>
                    <a:pt x="2114358" y="837931"/>
                  </a:lnTo>
                  <a:lnTo>
                    <a:pt x="2123363" y="883224"/>
                  </a:lnTo>
                  <a:lnTo>
                    <a:pt x="2130443" y="929182"/>
                  </a:lnTo>
                  <a:lnTo>
                    <a:pt x="2135554" y="975761"/>
                  </a:lnTo>
                  <a:lnTo>
                    <a:pt x="2138653" y="1022918"/>
                  </a:lnTo>
                  <a:lnTo>
                    <a:pt x="2139695" y="1070610"/>
                  </a:lnTo>
                  <a:lnTo>
                    <a:pt x="2138653" y="1118301"/>
                  </a:lnTo>
                  <a:lnTo>
                    <a:pt x="2135554" y="1165458"/>
                  </a:lnTo>
                  <a:lnTo>
                    <a:pt x="2130443" y="1212037"/>
                  </a:lnTo>
                  <a:lnTo>
                    <a:pt x="2123363" y="1257995"/>
                  </a:lnTo>
                  <a:lnTo>
                    <a:pt x="2114358" y="1303288"/>
                  </a:lnTo>
                  <a:lnTo>
                    <a:pt x="2103470" y="1347872"/>
                  </a:lnTo>
                  <a:lnTo>
                    <a:pt x="2090744" y="1391704"/>
                  </a:lnTo>
                  <a:lnTo>
                    <a:pt x="2076223" y="1434741"/>
                  </a:lnTo>
                  <a:lnTo>
                    <a:pt x="2059950" y="1476939"/>
                  </a:lnTo>
                  <a:lnTo>
                    <a:pt x="2041970" y="1518254"/>
                  </a:lnTo>
                  <a:lnTo>
                    <a:pt x="2022325" y="1558644"/>
                  </a:lnTo>
                  <a:lnTo>
                    <a:pt x="2001059" y="1598063"/>
                  </a:lnTo>
                  <a:lnTo>
                    <a:pt x="1978215" y="1636470"/>
                  </a:lnTo>
                  <a:lnTo>
                    <a:pt x="1953838" y="1673821"/>
                  </a:lnTo>
                  <a:lnTo>
                    <a:pt x="1927970" y="1710071"/>
                  </a:lnTo>
                  <a:lnTo>
                    <a:pt x="1900655" y="1745178"/>
                  </a:lnTo>
                  <a:lnTo>
                    <a:pt x="1871937" y="1779098"/>
                  </a:lnTo>
                  <a:lnTo>
                    <a:pt x="1841858" y="1811787"/>
                  </a:lnTo>
                  <a:lnTo>
                    <a:pt x="1810464" y="1843202"/>
                  </a:lnTo>
                  <a:lnTo>
                    <a:pt x="1777796" y="1873300"/>
                  </a:lnTo>
                  <a:lnTo>
                    <a:pt x="1743899" y="1902036"/>
                  </a:lnTo>
                  <a:lnTo>
                    <a:pt x="1708816" y="1929369"/>
                  </a:lnTo>
                  <a:lnTo>
                    <a:pt x="1672591" y="1955253"/>
                  </a:lnTo>
                  <a:lnTo>
                    <a:pt x="1635267" y="1979645"/>
                  </a:lnTo>
                  <a:lnTo>
                    <a:pt x="1596887" y="2002502"/>
                  </a:lnTo>
                  <a:lnTo>
                    <a:pt x="1557496" y="2023781"/>
                  </a:lnTo>
                  <a:lnTo>
                    <a:pt x="1517136" y="2043438"/>
                  </a:lnTo>
                  <a:lnTo>
                    <a:pt x="1475851" y="2061429"/>
                  </a:lnTo>
                  <a:lnTo>
                    <a:pt x="1433685" y="2077711"/>
                  </a:lnTo>
                  <a:lnTo>
                    <a:pt x="1390681" y="2092241"/>
                  </a:lnTo>
                  <a:lnTo>
                    <a:pt x="1346883" y="2104974"/>
                  </a:lnTo>
                  <a:lnTo>
                    <a:pt x="1302334" y="2115868"/>
                  </a:lnTo>
                  <a:lnTo>
                    <a:pt x="1257077" y="2124878"/>
                  </a:lnTo>
                  <a:lnTo>
                    <a:pt x="1211157" y="2131962"/>
                  </a:lnTo>
                  <a:lnTo>
                    <a:pt x="1164616" y="2137076"/>
                  </a:lnTo>
                  <a:lnTo>
                    <a:pt x="1117498" y="2140176"/>
                  </a:lnTo>
                  <a:lnTo>
                    <a:pt x="1069848" y="2141220"/>
                  </a:lnTo>
                  <a:lnTo>
                    <a:pt x="1022197" y="2140176"/>
                  </a:lnTo>
                  <a:lnTo>
                    <a:pt x="975079" y="2137076"/>
                  </a:lnTo>
                  <a:lnTo>
                    <a:pt x="928538" y="2131962"/>
                  </a:lnTo>
                  <a:lnTo>
                    <a:pt x="882618" y="2124878"/>
                  </a:lnTo>
                  <a:lnTo>
                    <a:pt x="837361" y="2115868"/>
                  </a:lnTo>
                  <a:lnTo>
                    <a:pt x="792812" y="2104974"/>
                  </a:lnTo>
                  <a:lnTo>
                    <a:pt x="749014" y="2092241"/>
                  </a:lnTo>
                  <a:lnTo>
                    <a:pt x="706010" y="2077711"/>
                  </a:lnTo>
                  <a:lnTo>
                    <a:pt x="663844" y="2061429"/>
                  </a:lnTo>
                  <a:lnTo>
                    <a:pt x="622559" y="2043438"/>
                  </a:lnTo>
                  <a:lnTo>
                    <a:pt x="582199" y="2023781"/>
                  </a:lnTo>
                  <a:lnTo>
                    <a:pt x="542808" y="2002502"/>
                  </a:lnTo>
                  <a:lnTo>
                    <a:pt x="504428" y="1979645"/>
                  </a:lnTo>
                  <a:lnTo>
                    <a:pt x="467104" y="1955253"/>
                  </a:lnTo>
                  <a:lnTo>
                    <a:pt x="430879" y="1929369"/>
                  </a:lnTo>
                  <a:lnTo>
                    <a:pt x="395796" y="1902036"/>
                  </a:lnTo>
                  <a:lnTo>
                    <a:pt x="361899" y="1873300"/>
                  </a:lnTo>
                  <a:lnTo>
                    <a:pt x="329231" y="1843202"/>
                  </a:lnTo>
                  <a:lnTo>
                    <a:pt x="297837" y="1811787"/>
                  </a:lnTo>
                  <a:lnTo>
                    <a:pt x="267758" y="1779098"/>
                  </a:lnTo>
                  <a:lnTo>
                    <a:pt x="239040" y="1745178"/>
                  </a:lnTo>
                  <a:lnTo>
                    <a:pt x="211725" y="1710071"/>
                  </a:lnTo>
                  <a:lnTo>
                    <a:pt x="185857" y="1673821"/>
                  </a:lnTo>
                  <a:lnTo>
                    <a:pt x="161480" y="1636470"/>
                  </a:lnTo>
                  <a:lnTo>
                    <a:pt x="138636" y="1598063"/>
                  </a:lnTo>
                  <a:lnTo>
                    <a:pt x="117370" y="1558644"/>
                  </a:lnTo>
                  <a:lnTo>
                    <a:pt x="97725" y="1518254"/>
                  </a:lnTo>
                  <a:lnTo>
                    <a:pt x="79745" y="1476939"/>
                  </a:lnTo>
                  <a:lnTo>
                    <a:pt x="63472" y="1434741"/>
                  </a:lnTo>
                  <a:lnTo>
                    <a:pt x="48951" y="1391704"/>
                  </a:lnTo>
                  <a:lnTo>
                    <a:pt x="36225" y="1347872"/>
                  </a:lnTo>
                  <a:lnTo>
                    <a:pt x="25337" y="1303288"/>
                  </a:lnTo>
                  <a:lnTo>
                    <a:pt x="16332" y="1257995"/>
                  </a:lnTo>
                  <a:lnTo>
                    <a:pt x="9252" y="1212037"/>
                  </a:lnTo>
                  <a:lnTo>
                    <a:pt x="4141" y="1165458"/>
                  </a:lnTo>
                  <a:lnTo>
                    <a:pt x="1042" y="1118301"/>
                  </a:lnTo>
                  <a:lnTo>
                    <a:pt x="0" y="1070610"/>
                  </a:lnTo>
                  <a:close/>
                </a:path>
              </a:pathLst>
            </a:custGeom>
            <a:ln w="190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24305" y="1809020"/>
              <a:ext cx="159539" cy="1594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2061" y="1809020"/>
              <a:ext cx="159539" cy="1594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853182" y="2118787"/>
              <a:ext cx="489584" cy="157480"/>
            </a:xfrm>
            <a:custGeom>
              <a:avLst/>
              <a:gdLst/>
              <a:ahLst/>
              <a:cxnLst/>
              <a:rect l="l" t="t" r="r" b="b"/>
              <a:pathLst>
                <a:path w="489585" h="157480">
                  <a:moveTo>
                    <a:pt x="465307" y="0"/>
                  </a:moveTo>
                  <a:lnTo>
                    <a:pt x="456825" y="0"/>
                  </a:lnTo>
                  <a:lnTo>
                    <a:pt x="449554" y="3632"/>
                  </a:lnTo>
                  <a:lnTo>
                    <a:pt x="445919" y="9686"/>
                  </a:lnTo>
                  <a:lnTo>
                    <a:pt x="415228" y="43133"/>
                  </a:lnTo>
                  <a:lnTo>
                    <a:pt x="378953" y="70362"/>
                  </a:lnTo>
                  <a:lnTo>
                    <a:pt x="337909" y="90674"/>
                  </a:lnTo>
                  <a:lnTo>
                    <a:pt x="292910" y="103373"/>
                  </a:lnTo>
                  <a:lnTo>
                    <a:pt x="244770" y="107761"/>
                  </a:lnTo>
                  <a:lnTo>
                    <a:pt x="196747" y="103373"/>
                  </a:lnTo>
                  <a:lnTo>
                    <a:pt x="151980" y="90674"/>
                  </a:lnTo>
                  <a:lnTo>
                    <a:pt x="111111" y="70362"/>
                  </a:lnTo>
                  <a:lnTo>
                    <a:pt x="74778" y="43133"/>
                  </a:lnTo>
                  <a:lnTo>
                    <a:pt x="43622" y="9686"/>
                  </a:lnTo>
                  <a:lnTo>
                    <a:pt x="38775" y="3632"/>
                  </a:lnTo>
                  <a:lnTo>
                    <a:pt x="31505" y="0"/>
                  </a:lnTo>
                  <a:lnTo>
                    <a:pt x="24234" y="0"/>
                  </a:lnTo>
                  <a:lnTo>
                    <a:pt x="14824" y="1910"/>
                  </a:lnTo>
                  <a:lnTo>
                    <a:pt x="7118" y="7113"/>
                  </a:lnTo>
                  <a:lnTo>
                    <a:pt x="1912" y="14813"/>
                  </a:lnTo>
                  <a:lnTo>
                    <a:pt x="0" y="24216"/>
                  </a:lnTo>
                  <a:lnTo>
                    <a:pt x="0" y="29059"/>
                  </a:lnTo>
                  <a:lnTo>
                    <a:pt x="35157" y="72760"/>
                  </a:lnTo>
                  <a:lnTo>
                    <a:pt x="70011" y="101797"/>
                  </a:lnTo>
                  <a:lnTo>
                    <a:pt x="108904" y="125318"/>
                  </a:lnTo>
                  <a:lnTo>
                    <a:pt x="151332" y="142784"/>
                  </a:lnTo>
                  <a:lnTo>
                    <a:pt x="196789" y="153659"/>
                  </a:lnTo>
                  <a:lnTo>
                    <a:pt x="244770" y="157404"/>
                  </a:lnTo>
                  <a:lnTo>
                    <a:pt x="292752" y="153659"/>
                  </a:lnTo>
                  <a:lnTo>
                    <a:pt x="338209" y="142784"/>
                  </a:lnTo>
                  <a:lnTo>
                    <a:pt x="380637" y="125318"/>
                  </a:lnTo>
                  <a:lnTo>
                    <a:pt x="419530" y="101797"/>
                  </a:lnTo>
                  <a:lnTo>
                    <a:pt x="454384" y="72760"/>
                  </a:lnTo>
                  <a:lnTo>
                    <a:pt x="484695" y="38745"/>
                  </a:lnTo>
                  <a:lnTo>
                    <a:pt x="489541" y="30270"/>
                  </a:lnTo>
                  <a:lnTo>
                    <a:pt x="489541" y="24216"/>
                  </a:lnTo>
                  <a:lnTo>
                    <a:pt x="487629" y="14813"/>
                  </a:lnTo>
                  <a:lnTo>
                    <a:pt x="482423" y="7113"/>
                  </a:lnTo>
                  <a:lnTo>
                    <a:pt x="474717" y="1910"/>
                  </a:lnTo>
                  <a:lnTo>
                    <a:pt x="46530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53182" y="2118787"/>
              <a:ext cx="489584" cy="157480"/>
            </a:xfrm>
            <a:custGeom>
              <a:avLst/>
              <a:gdLst/>
              <a:ahLst/>
              <a:cxnLst/>
              <a:rect l="l" t="t" r="r" b="b"/>
              <a:pathLst>
                <a:path w="489585" h="157480">
                  <a:moveTo>
                    <a:pt x="465307" y="0"/>
                  </a:moveTo>
                  <a:lnTo>
                    <a:pt x="456825" y="0"/>
                  </a:lnTo>
                  <a:lnTo>
                    <a:pt x="449554" y="3632"/>
                  </a:lnTo>
                  <a:lnTo>
                    <a:pt x="445919" y="9686"/>
                  </a:lnTo>
                  <a:lnTo>
                    <a:pt x="415228" y="43133"/>
                  </a:lnTo>
                  <a:lnTo>
                    <a:pt x="378953" y="70362"/>
                  </a:lnTo>
                  <a:lnTo>
                    <a:pt x="337909" y="90674"/>
                  </a:lnTo>
                  <a:lnTo>
                    <a:pt x="292910" y="103373"/>
                  </a:lnTo>
                  <a:lnTo>
                    <a:pt x="244770" y="107761"/>
                  </a:lnTo>
                  <a:lnTo>
                    <a:pt x="196747" y="103373"/>
                  </a:lnTo>
                  <a:lnTo>
                    <a:pt x="151980" y="90674"/>
                  </a:lnTo>
                  <a:lnTo>
                    <a:pt x="111111" y="70362"/>
                  </a:lnTo>
                  <a:lnTo>
                    <a:pt x="74778" y="43133"/>
                  </a:lnTo>
                  <a:lnTo>
                    <a:pt x="43622" y="9686"/>
                  </a:lnTo>
                  <a:lnTo>
                    <a:pt x="38775" y="3632"/>
                  </a:lnTo>
                  <a:lnTo>
                    <a:pt x="31505" y="0"/>
                  </a:lnTo>
                  <a:lnTo>
                    <a:pt x="24234" y="0"/>
                  </a:lnTo>
                  <a:lnTo>
                    <a:pt x="14824" y="1910"/>
                  </a:lnTo>
                  <a:lnTo>
                    <a:pt x="7118" y="7113"/>
                  </a:lnTo>
                  <a:lnTo>
                    <a:pt x="1912" y="14813"/>
                  </a:lnTo>
                  <a:lnTo>
                    <a:pt x="0" y="24216"/>
                  </a:lnTo>
                  <a:lnTo>
                    <a:pt x="0" y="29059"/>
                  </a:lnTo>
                  <a:lnTo>
                    <a:pt x="35157" y="72760"/>
                  </a:lnTo>
                  <a:lnTo>
                    <a:pt x="70011" y="101797"/>
                  </a:lnTo>
                  <a:lnTo>
                    <a:pt x="108904" y="125318"/>
                  </a:lnTo>
                  <a:lnTo>
                    <a:pt x="151332" y="142784"/>
                  </a:lnTo>
                  <a:lnTo>
                    <a:pt x="196789" y="153659"/>
                  </a:lnTo>
                  <a:lnTo>
                    <a:pt x="244770" y="157404"/>
                  </a:lnTo>
                  <a:lnTo>
                    <a:pt x="292752" y="153659"/>
                  </a:lnTo>
                  <a:lnTo>
                    <a:pt x="338209" y="142784"/>
                  </a:lnTo>
                  <a:lnTo>
                    <a:pt x="380637" y="125318"/>
                  </a:lnTo>
                  <a:lnTo>
                    <a:pt x="419530" y="101797"/>
                  </a:lnTo>
                  <a:lnTo>
                    <a:pt x="454384" y="72760"/>
                  </a:lnTo>
                  <a:lnTo>
                    <a:pt x="484695" y="38745"/>
                  </a:lnTo>
                  <a:lnTo>
                    <a:pt x="489541" y="30270"/>
                  </a:lnTo>
                  <a:lnTo>
                    <a:pt x="489541" y="24216"/>
                  </a:lnTo>
                  <a:lnTo>
                    <a:pt x="487629" y="14813"/>
                  </a:lnTo>
                  <a:lnTo>
                    <a:pt x="482423" y="7113"/>
                  </a:lnTo>
                  <a:lnTo>
                    <a:pt x="474717" y="1910"/>
                  </a:lnTo>
                  <a:lnTo>
                    <a:pt x="465307" y="0"/>
                  </a:lnTo>
                  <a:close/>
                </a:path>
              </a:pathLst>
            </a:custGeom>
            <a:ln w="14127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37493" y="1501277"/>
              <a:ext cx="921385" cy="920750"/>
            </a:xfrm>
            <a:custGeom>
              <a:avLst/>
              <a:gdLst/>
              <a:ahLst/>
              <a:cxnLst/>
              <a:rect l="l" t="t" r="r" b="b"/>
              <a:pathLst>
                <a:path w="921384" h="920750">
                  <a:moveTo>
                    <a:pt x="460460" y="0"/>
                  </a:moveTo>
                  <a:lnTo>
                    <a:pt x="413354" y="2373"/>
                  </a:lnTo>
                  <a:lnTo>
                    <a:pt x="367615" y="9341"/>
                  </a:lnTo>
                  <a:lnTo>
                    <a:pt x="323474" y="20671"/>
                  </a:lnTo>
                  <a:lnTo>
                    <a:pt x="281160" y="36134"/>
                  </a:lnTo>
                  <a:lnTo>
                    <a:pt x="240906" y="55500"/>
                  </a:lnTo>
                  <a:lnTo>
                    <a:pt x="202942" y="78536"/>
                  </a:lnTo>
                  <a:lnTo>
                    <a:pt x="167498" y="105014"/>
                  </a:lnTo>
                  <a:lnTo>
                    <a:pt x="134805" y="134701"/>
                  </a:lnTo>
                  <a:lnTo>
                    <a:pt x="105095" y="167369"/>
                  </a:lnTo>
                  <a:lnTo>
                    <a:pt x="78597" y="202785"/>
                  </a:lnTo>
                  <a:lnTo>
                    <a:pt x="55542" y="240720"/>
                  </a:lnTo>
                  <a:lnTo>
                    <a:pt x="36162" y="280944"/>
                  </a:lnTo>
                  <a:lnTo>
                    <a:pt x="20687" y="323224"/>
                  </a:lnTo>
                  <a:lnTo>
                    <a:pt x="9348" y="367331"/>
                  </a:lnTo>
                  <a:lnTo>
                    <a:pt x="2492" y="412268"/>
                  </a:lnTo>
                  <a:lnTo>
                    <a:pt x="2375" y="413035"/>
                  </a:lnTo>
                  <a:lnTo>
                    <a:pt x="0" y="460104"/>
                  </a:lnTo>
                  <a:lnTo>
                    <a:pt x="2375" y="507174"/>
                  </a:lnTo>
                  <a:lnTo>
                    <a:pt x="9348" y="552877"/>
                  </a:lnTo>
                  <a:lnTo>
                    <a:pt x="20687" y="596985"/>
                  </a:lnTo>
                  <a:lnTo>
                    <a:pt x="36162" y="639265"/>
                  </a:lnTo>
                  <a:lnTo>
                    <a:pt x="55542" y="679488"/>
                  </a:lnTo>
                  <a:lnTo>
                    <a:pt x="78597" y="717424"/>
                  </a:lnTo>
                  <a:lnTo>
                    <a:pt x="105095" y="752840"/>
                  </a:lnTo>
                  <a:lnTo>
                    <a:pt x="134805" y="785508"/>
                  </a:lnTo>
                  <a:lnTo>
                    <a:pt x="167498" y="815195"/>
                  </a:lnTo>
                  <a:lnTo>
                    <a:pt x="202942" y="841673"/>
                  </a:lnTo>
                  <a:lnTo>
                    <a:pt x="240906" y="864709"/>
                  </a:lnTo>
                  <a:lnTo>
                    <a:pt x="281160" y="884074"/>
                  </a:lnTo>
                  <a:lnTo>
                    <a:pt x="323474" y="899538"/>
                  </a:lnTo>
                  <a:lnTo>
                    <a:pt x="367615" y="910868"/>
                  </a:lnTo>
                  <a:lnTo>
                    <a:pt x="413354" y="917836"/>
                  </a:lnTo>
                  <a:lnTo>
                    <a:pt x="460460" y="920209"/>
                  </a:lnTo>
                  <a:lnTo>
                    <a:pt x="507566" y="917836"/>
                  </a:lnTo>
                  <a:lnTo>
                    <a:pt x="553304" y="910868"/>
                  </a:lnTo>
                  <a:lnTo>
                    <a:pt x="597446" y="899538"/>
                  </a:lnTo>
                  <a:lnTo>
                    <a:pt x="639759" y="884074"/>
                  </a:lnTo>
                  <a:lnTo>
                    <a:pt x="665321" y="871777"/>
                  </a:lnTo>
                  <a:lnTo>
                    <a:pt x="460460" y="871777"/>
                  </a:lnTo>
                  <a:lnTo>
                    <a:pt x="412587" y="868994"/>
                  </a:lnTo>
                  <a:lnTo>
                    <a:pt x="366290" y="860855"/>
                  </a:lnTo>
                  <a:lnTo>
                    <a:pt x="321886" y="847675"/>
                  </a:lnTo>
                  <a:lnTo>
                    <a:pt x="279688" y="829770"/>
                  </a:lnTo>
                  <a:lnTo>
                    <a:pt x="240013" y="807453"/>
                  </a:lnTo>
                  <a:lnTo>
                    <a:pt x="203176" y="781041"/>
                  </a:lnTo>
                  <a:lnTo>
                    <a:pt x="169491" y="750848"/>
                  </a:lnTo>
                  <a:lnTo>
                    <a:pt x="139275" y="717190"/>
                  </a:lnTo>
                  <a:lnTo>
                    <a:pt x="112843" y="680381"/>
                  </a:lnTo>
                  <a:lnTo>
                    <a:pt x="90509" y="640736"/>
                  </a:lnTo>
                  <a:lnTo>
                    <a:pt x="72589" y="598571"/>
                  </a:lnTo>
                  <a:lnTo>
                    <a:pt x="59399" y="554201"/>
                  </a:lnTo>
                  <a:lnTo>
                    <a:pt x="51254" y="507940"/>
                  </a:lnTo>
                  <a:lnTo>
                    <a:pt x="48469" y="460104"/>
                  </a:lnTo>
                  <a:lnTo>
                    <a:pt x="51210" y="413035"/>
                  </a:lnTo>
                  <a:lnTo>
                    <a:pt x="59399" y="366008"/>
                  </a:lnTo>
                  <a:lnTo>
                    <a:pt x="72589" y="321637"/>
                  </a:lnTo>
                  <a:lnTo>
                    <a:pt x="90509" y="279472"/>
                  </a:lnTo>
                  <a:lnTo>
                    <a:pt x="112843" y="239828"/>
                  </a:lnTo>
                  <a:lnTo>
                    <a:pt x="139275" y="203019"/>
                  </a:lnTo>
                  <a:lnTo>
                    <a:pt x="169491" y="169360"/>
                  </a:lnTo>
                  <a:lnTo>
                    <a:pt x="203176" y="139168"/>
                  </a:lnTo>
                  <a:lnTo>
                    <a:pt x="240013" y="112755"/>
                  </a:lnTo>
                  <a:lnTo>
                    <a:pt x="279688" y="90439"/>
                  </a:lnTo>
                  <a:lnTo>
                    <a:pt x="321886" y="72533"/>
                  </a:lnTo>
                  <a:lnTo>
                    <a:pt x="366290" y="59354"/>
                  </a:lnTo>
                  <a:lnTo>
                    <a:pt x="412587" y="51215"/>
                  </a:lnTo>
                  <a:lnTo>
                    <a:pt x="460460" y="48432"/>
                  </a:lnTo>
                  <a:lnTo>
                    <a:pt x="665321" y="48432"/>
                  </a:lnTo>
                  <a:lnTo>
                    <a:pt x="639759" y="36134"/>
                  </a:lnTo>
                  <a:lnTo>
                    <a:pt x="597446" y="20671"/>
                  </a:lnTo>
                  <a:lnTo>
                    <a:pt x="553304" y="9341"/>
                  </a:lnTo>
                  <a:lnTo>
                    <a:pt x="507566" y="2373"/>
                  </a:lnTo>
                  <a:lnTo>
                    <a:pt x="460460" y="0"/>
                  </a:lnTo>
                  <a:close/>
                </a:path>
                <a:path w="921384" h="920750">
                  <a:moveTo>
                    <a:pt x="665321" y="48432"/>
                  </a:moveTo>
                  <a:lnTo>
                    <a:pt x="460460" y="48432"/>
                  </a:lnTo>
                  <a:lnTo>
                    <a:pt x="508333" y="51215"/>
                  </a:lnTo>
                  <a:lnTo>
                    <a:pt x="554629" y="59354"/>
                  </a:lnTo>
                  <a:lnTo>
                    <a:pt x="599034" y="72533"/>
                  </a:lnTo>
                  <a:lnTo>
                    <a:pt x="641231" y="90439"/>
                  </a:lnTo>
                  <a:lnTo>
                    <a:pt x="680906" y="112755"/>
                  </a:lnTo>
                  <a:lnTo>
                    <a:pt x="717744" y="139168"/>
                  </a:lnTo>
                  <a:lnTo>
                    <a:pt x="751428" y="169360"/>
                  </a:lnTo>
                  <a:lnTo>
                    <a:pt x="781644" y="203019"/>
                  </a:lnTo>
                  <a:lnTo>
                    <a:pt x="808077" y="239828"/>
                  </a:lnTo>
                  <a:lnTo>
                    <a:pt x="830411" y="279472"/>
                  </a:lnTo>
                  <a:lnTo>
                    <a:pt x="848330" y="321637"/>
                  </a:lnTo>
                  <a:lnTo>
                    <a:pt x="861520" y="366008"/>
                  </a:lnTo>
                  <a:lnTo>
                    <a:pt x="869665" y="412268"/>
                  </a:lnTo>
                  <a:lnTo>
                    <a:pt x="872451" y="460104"/>
                  </a:lnTo>
                  <a:lnTo>
                    <a:pt x="869710" y="507174"/>
                  </a:lnTo>
                  <a:lnTo>
                    <a:pt x="861520" y="554201"/>
                  </a:lnTo>
                  <a:lnTo>
                    <a:pt x="848330" y="598571"/>
                  </a:lnTo>
                  <a:lnTo>
                    <a:pt x="830411" y="640736"/>
                  </a:lnTo>
                  <a:lnTo>
                    <a:pt x="808077" y="680381"/>
                  </a:lnTo>
                  <a:lnTo>
                    <a:pt x="781644" y="717190"/>
                  </a:lnTo>
                  <a:lnTo>
                    <a:pt x="751428" y="750848"/>
                  </a:lnTo>
                  <a:lnTo>
                    <a:pt x="717744" y="781041"/>
                  </a:lnTo>
                  <a:lnTo>
                    <a:pt x="680906" y="807453"/>
                  </a:lnTo>
                  <a:lnTo>
                    <a:pt x="641231" y="829770"/>
                  </a:lnTo>
                  <a:lnTo>
                    <a:pt x="599034" y="847675"/>
                  </a:lnTo>
                  <a:lnTo>
                    <a:pt x="554629" y="860855"/>
                  </a:lnTo>
                  <a:lnTo>
                    <a:pt x="508333" y="868994"/>
                  </a:lnTo>
                  <a:lnTo>
                    <a:pt x="460460" y="871777"/>
                  </a:lnTo>
                  <a:lnTo>
                    <a:pt x="665321" y="871777"/>
                  </a:lnTo>
                  <a:lnTo>
                    <a:pt x="717978" y="841673"/>
                  </a:lnTo>
                  <a:lnTo>
                    <a:pt x="753422" y="815195"/>
                  </a:lnTo>
                  <a:lnTo>
                    <a:pt x="786114" y="785508"/>
                  </a:lnTo>
                  <a:lnTo>
                    <a:pt x="815825" y="752840"/>
                  </a:lnTo>
                  <a:lnTo>
                    <a:pt x="842323" y="717424"/>
                  </a:lnTo>
                  <a:lnTo>
                    <a:pt x="865377" y="679488"/>
                  </a:lnTo>
                  <a:lnTo>
                    <a:pt x="884757" y="639265"/>
                  </a:lnTo>
                  <a:lnTo>
                    <a:pt x="900232" y="596985"/>
                  </a:lnTo>
                  <a:lnTo>
                    <a:pt x="911572" y="552877"/>
                  </a:lnTo>
                  <a:lnTo>
                    <a:pt x="918428" y="507940"/>
                  </a:lnTo>
                  <a:lnTo>
                    <a:pt x="918545" y="507174"/>
                  </a:lnTo>
                  <a:lnTo>
                    <a:pt x="920920" y="460104"/>
                  </a:lnTo>
                  <a:lnTo>
                    <a:pt x="918545" y="413035"/>
                  </a:lnTo>
                  <a:lnTo>
                    <a:pt x="911572" y="367331"/>
                  </a:lnTo>
                  <a:lnTo>
                    <a:pt x="900232" y="323224"/>
                  </a:lnTo>
                  <a:lnTo>
                    <a:pt x="884757" y="280944"/>
                  </a:lnTo>
                  <a:lnTo>
                    <a:pt x="865377" y="240720"/>
                  </a:lnTo>
                  <a:lnTo>
                    <a:pt x="842323" y="202785"/>
                  </a:lnTo>
                  <a:lnTo>
                    <a:pt x="815825" y="167369"/>
                  </a:lnTo>
                  <a:lnTo>
                    <a:pt x="786114" y="134701"/>
                  </a:lnTo>
                  <a:lnTo>
                    <a:pt x="753422" y="105014"/>
                  </a:lnTo>
                  <a:lnTo>
                    <a:pt x="717978" y="78536"/>
                  </a:lnTo>
                  <a:lnTo>
                    <a:pt x="680013" y="55500"/>
                  </a:lnTo>
                  <a:lnTo>
                    <a:pt x="665321" y="4843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37493" y="1501277"/>
              <a:ext cx="921385" cy="920750"/>
            </a:xfrm>
            <a:custGeom>
              <a:avLst/>
              <a:gdLst/>
              <a:ahLst/>
              <a:cxnLst/>
              <a:rect l="l" t="t" r="r" b="b"/>
              <a:pathLst>
                <a:path w="921384" h="920750">
                  <a:moveTo>
                    <a:pt x="460460" y="48432"/>
                  </a:moveTo>
                  <a:lnTo>
                    <a:pt x="508333" y="51215"/>
                  </a:lnTo>
                  <a:lnTo>
                    <a:pt x="554629" y="59354"/>
                  </a:lnTo>
                  <a:lnTo>
                    <a:pt x="599034" y="72533"/>
                  </a:lnTo>
                  <a:lnTo>
                    <a:pt x="641231" y="90439"/>
                  </a:lnTo>
                  <a:lnTo>
                    <a:pt x="680906" y="112755"/>
                  </a:lnTo>
                  <a:lnTo>
                    <a:pt x="717744" y="139168"/>
                  </a:lnTo>
                  <a:lnTo>
                    <a:pt x="751428" y="169360"/>
                  </a:lnTo>
                  <a:lnTo>
                    <a:pt x="781644" y="203019"/>
                  </a:lnTo>
                  <a:lnTo>
                    <a:pt x="808077" y="239828"/>
                  </a:lnTo>
                  <a:lnTo>
                    <a:pt x="830411" y="279472"/>
                  </a:lnTo>
                  <a:lnTo>
                    <a:pt x="848330" y="321637"/>
                  </a:lnTo>
                  <a:lnTo>
                    <a:pt x="861520" y="366008"/>
                  </a:lnTo>
                  <a:lnTo>
                    <a:pt x="869665" y="412268"/>
                  </a:lnTo>
                  <a:lnTo>
                    <a:pt x="872451" y="460104"/>
                  </a:lnTo>
                  <a:lnTo>
                    <a:pt x="869665" y="507940"/>
                  </a:lnTo>
                  <a:lnTo>
                    <a:pt x="861520" y="554201"/>
                  </a:lnTo>
                  <a:lnTo>
                    <a:pt x="848330" y="598571"/>
                  </a:lnTo>
                  <a:lnTo>
                    <a:pt x="830411" y="640736"/>
                  </a:lnTo>
                  <a:lnTo>
                    <a:pt x="808077" y="680381"/>
                  </a:lnTo>
                  <a:lnTo>
                    <a:pt x="781644" y="717190"/>
                  </a:lnTo>
                  <a:lnTo>
                    <a:pt x="751428" y="750848"/>
                  </a:lnTo>
                  <a:lnTo>
                    <a:pt x="717744" y="781041"/>
                  </a:lnTo>
                  <a:lnTo>
                    <a:pt x="680906" y="807453"/>
                  </a:lnTo>
                  <a:lnTo>
                    <a:pt x="641231" y="829770"/>
                  </a:lnTo>
                  <a:lnTo>
                    <a:pt x="599034" y="847675"/>
                  </a:lnTo>
                  <a:lnTo>
                    <a:pt x="554629" y="860855"/>
                  </a:lnTo>
                  <a:lnTo>
                    <a:pt x="508333" y="868994"/>
                  </a:lnTo>
                  <a:lnTo>
                    <a:pt x="460460" y="871777"/>
                  </a:lnTo>
                  <a:lnTo>
                    <a:pt x="412587" y="868994"/>
                  </a:lnTo>
                  <a:lnTo>
                    <a:pt x="366290" y="860855"/>
                  </a:lnTo>
                  <a:lnTo>
                    <a:pt x="321886" y="847675"/>
                  </a:lnTo>
                  <a:lnTo>
                    <a:pt x="279688" y="829770"/>
                  </a:lnTo>
                  <a:lnTo>
                    <a:pt x="240013" y="807453"/>
                  </a:lnTo>
                  <a:lnTo>
                    <a:pt x="203176" y="781041"/>
                  </a:lnTo>
                  <a:lnTo>
                    <a:pt x="169491" y="750848"/>
                  </a:lnTo>
                  <a:lnTo>
                    <a:pt x="139275" y="717190"/>
                  </a:lnTo>
                  <a:lnTo>
                    <a:pt x="112843" y="680381"/>
                  </a:lnTo>
                  <a:lnTo>
                    <a:pt x="90509" y="640736"/>
                  </a:lnTo>
                  <a:lnTo>
                    <a:pt x="72589" y="598571"/>
                  </a:lnTo>
                  <a:lnTo>
                    <a:pt x="59399" y="554201"/>
                  </a:lnTo>
                  <a:lnTo>
                    <a:pt x="51254" y="507940"/>
                  </a:lnTo>
                  <a:lnTo>
                    <a:pt x="48469" y="460104"/>
                  </a:lnTo>
                  <a:lnTo>
                    <a:pt x="51254" y="412268"/>
                  </a:lnTo>
                  <a:lnTo>
                    <a:pt x="59399" y="366008"/>
                  </a:lnTo>
                  <a:lnTo>
                    <a:pt x="72589" y="321637"/>
                  </a:lnTo>
                  <a:lnTo>
                    <a:pt x="90509" y="279472"/>
                  </a:lnTo>
                  <a:lnTo>
                    <a:pt x="112843" y="239828"/>
                  </a:lnTo>
                  <a:lnTo>
                    <a:pt x="139275" y="203019"/>
                  </a:lnTo>
                  <a:lnTo>
                    <a:pt x="169491" y="169360"/>
                  </a:lnTo>
                  <a:lnTo>
                    <a:pt x="203176" y="139168"/>
                  </a:lnTo>
                  <a:lnTo>
                    <a:pt x="240013" y="112755"/>
                  </a:lnTo>
                  <a:lnTo>
                    <a:pt x="279688" y="90439"/>
                  </a:lnTo>
                  <a:lnTo>
                    <a:pt x="321886" y="72533"/>
                  </a:lnTo>
                  <a:lnTo>
                    <a:pt x="366290" y="59354"/>
                  </a:lnTo>
                  <a:lnTo>
                    <a:pt x="412587" y="51215"/>
                  </a:lnTo>
                  <a:lnTo>
                    <a:pt x="460460" y="48432"/>
                  </a:lnTo>
                </a:path>
                <a:path w="921384" h="920750">
                  <a:moveTo>
                    <a:pt x="460460" y="0"/>
                  </a:moveTo>
                  <a:lnTo>
                    <a:pt x="413354" y="2373"/>
                  </a:lnTo>
                  <a:lnTo>
                    <a:pt x="367615" y="9341"/>
                  </a:lnTo>
                  <a:lnTo>
                    <a:pt x="323474" y="20671"/>
                  </a:lnTo>
                  <a:lnTo>
                    <a:pt x="281160" y="36134"/>
                  </a:lnTo>
                  <a:lnTo>
                    <a:pt x="240906" y="55500"/>
                  </a:lnTo>
                  <a:lnTo>
                    <a:pt x="202942" y="78536"/>
                  </a:lnTo>
                  <a:lnTo>
                    <a:pt x="167498" y="105014"/>
                  </a:lnTo>
                  <a:lnTo>
                    <a:pt x="134805" y="134701"/>
                  </a:lnTo>
                  <a:lnTo>
                    <a:pt x="105095" y="167369"/>
                  </a:lnTo>
                  <a:lnTo>
                    <a:pt x="78597" y="202785"/>
                  </a:lnTo>
                  <a:lnTo>
                    <a:pt x="55542" y="240720"/>
                  </a:lnTo>
                  <a:lnTo>
                    <a:pt x="36162" y="280943"/>
                  </a:lnTo>
                  <a:lnTo>
                    <a:pt x="20687" y="323224"/>
                  </a:lnTo>
                  <a:lnTo>
                    <a:pt x="9348" y="367331"/>
                  </a:lnTo>
                  <a:lnTo>
                    <a:pt x="2375" y="413035"/>
                  </a:lnTo>
                  <a:lnTo>
                    <a:pt x="0" y="460104"/>
                  </a:lnTo>
                  <a:lnTo>
                    <a:pt x="2375" y="507174"/>
                  </a:lnTo>
                  <a:lnTo>
                    <a:pt x="9348" y="552877"/>
                  </a:lnTo>
                  <a:lnTo>
                    <a:pt x="20687" y="596985"/>
                  </a:lnTo>
                  <a:lnTo>
                    <a:pt x="36162" y="639265"/>
                  </a:lnTo>
                  <a:lnTo>
                    <a:pt x="55542" y="679488"/>
                  </a:lnTo>
                  <a:lnTo>
                    <a:pt x="78597" y="717424"/>
                  </a:lnTo>
                  <a:lnTo>
                    <a:pt x="105095" y="752840"/>
                  </a:lnTo>
                  <a:lnTo>
                    <a:pt x="134805" y="785508"/>
                  </a:lnTo>
                  <a:lnTo>
                    <a:pt x="167498" y="815195"/>
                  </a:lnTo>
                  <a:lnTo>
                    <a:pt x="202942" y="841673"/>
                  </a:lnTo>
                  <a:lnTo>
                    <a:pt x="240906" y="864709"/>
                  </a:lnTo>
                  <a:lnTo>
                    <a:pt x="281160" y="884074"/>
                  </a:lnTo>
                  <a:lnTo>
                    <a:pt x="323474" y="899538"/>
                  </a:lnTo>
                  <a:lnTo>
                    <a:pt x="367615" y="910868"/>
                  </a:lnTo>
                  <a:lnTo>
                    <a:pt x="413354" y="917836"/>
                  </a:lnTo>
                  <a:lnTo>
                    <a:pt x="460460" y="920209"/>
                  </a:lnTo>
                  <a:lnTo>
                    <a:pt x="507565" y="917836"/>
                  </a:lnTo>
                  <a:lnTo>
                    <a:pt x="553304" y="910868"/>
                  </a:lnTo>
                  <a:lnTo>
                    <a:pt x="597446" y="899538"/>
                  </a:lnTo>
                  <a:lnTo>
                    <a:pt x="639759" y="884074"/>
                  </a:lnTo>
                  <a:lnTo>
                    <a:pt x="680013" y="864709"/>
                  </a:lnTo>
                  <a:lnTo>
                    <a:pt x="717978" y="841673"/>
                  </a:lnTo>
                  <a:lnTo>
                    <a:pt x="753422" y="815195"/>
                  </a:lnTo>
                  <a:lnTo>
                    <a:pt x="786114" y="785508"/>
                  </a:lnTo>
                  <a:lnTo>
                    <a:pt x="815825" y="752840"/>
                  </a:lnTo>
                  <a:lnTo>
                    <a:pt x="842323" y="717424"/>
                  </a:lnTo>
                  <a:lnTo>
                    <a:pt x="865377" y="679488"/>
                  </a:lnTo>
                  <a:lnTo>
                    <a:pt x="884757" y="639265"/>
                  </a:lnTo>
                  <a:lnTo>
                    <a:pt x="900232" y="596985"/>
                  </a:lnTo>
                  <a:lnTo>
                    <a:pt x="911572" y="552877"/>
                  </a:lnTo>
                  <a:lnTo>
                    <a:pt x="918545" y="507174"/>
                  </a:lnTo>
                  <a:lnTo>
                    <a:pt x="920920" y="460104"/>
                  </a:lnTo>
                  <a:lnTo>
                    <a:pt x="918545" y="413035"/>
                  </a:lnTo>
                  <a:lnTo>
                    <a:pt x="911572" y="367331"/>
                  </a:lnTo>
                  <a:lnTo>
                    <a:pt x="900232" y="323224"/>
                  </a:lnTo>
                  <a:lnTo>
                    <a:pt x="884757" y="280943"/>
                  </a:lnTo>
                  <a:lnTo>
                    <a:pt x="865377" y="240720"/>
                  </a:lnTo>
                  <a:lnTo>
                    <a:pt x="842323" y="202785"/>
                  </a:lnTo>
                  <a:lnTo>
                    <a:pt x="815825" y="167369"/>
                  </a:lnTo>
                  <a:lnTo>
                    <a:pt x="786114" y="134701"/>
                  </a:lnTo>
                  <a:lnTo>
                    <a:pt x="753422" y="105014"/>
                  </a:lnTo>
                  <a:lnTo>
                    <a:pt x="717978" y="78536"/>
                  </a:lnTo>
                  <a:lnTo>
                    <a:pt x="680013" y="55500"/>
                  </a:lnTo>
                  <a:lnTo>
                    <a:pt x="639759" y="36134"/>
                  </a:lnTo>
                  <a:lnTo>
                    <a:pt x="597446" y="20671"/>
                  </a:lnTo>
                  <a:lnTo>
                    <a:pt x="553304" y="9341"/>
                  </a:lnTo>
                  <a:lnTo>
                    <a:pt x="507565" y="2373"/>
                  </a:lnTo>
                  <a:lnTo>
                    <a:pt x="460460" y="0"/>
                  </a:lnTo>
                  <a:close/>
                </a:path>
              </a:pathLst>
            </a:custGeom>
            <a:ln w="14131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6253</Words>
  <Application>Microsoft Office PowerPoint</Application>
  <PresentationFormat>Widescreen</PresentationFormat>
  <Paragraphs>1041</Paragraphs>
  <Slides>92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4" baseType="lpstr">
      <vt:lpstr>Arial</vt:lpstr>
      <vt:lpstr>Arial Black</vt:lpstr>
      <vt:lpstr>Arial MT</vt:lpstr>
      <vt:lpstr>Calibri</vt:lpstr>
      <vt:lpstr>Calibri Light</vt:lpstr>
      <vt:lpstr>Cambria</vt:lpstr>
      <vt:lpstr>Cambria Math</vt:lpstr>
      <vt:lpstr>Segoe UI Symbol</vt:lpstr>
      <vt:lpstr>Symbol</vt:lpstr>
      <vt:lpstr>Times New Roman</vt:lpstr>
      <vt:lpstr>Wingdings</vt:lpstr>
      <vt:lpstr>Office Theme</vt:lpstr>
      <vt:lpstr>Database</vt:lpstr>
      <vt:lpstr>Contents</vt:lpstr>
      <vt:lpstr>Introduction</vt:lpstr>
      <vt:lpstr>Characteristics</vt:lpstr>
      <vt:lpstr>Characteristics contd..</vt:lpstr>
      <vt:lpstr>Attributes</vt:lpstr>
      <vt:lpstr>Tuple/Records</vt:lpstr>
      <vt:lpstr>1.2 Key</vt:lpstr>
      <vt:lpstr>Types of Keys</vt:lpstr>
      <vt:lpstr>Example:</vt:lpstr>
      <vt:lpstr>1.Super Key</vt:lpstr>
      <vt:lpstr>2.Candidate Key</vt:lpstr>
      <vt:lpstr>3. Primary Key</vt:lpstr>
      <vt:lpstr>4. Foreign Key</vt:lpstr>
      <vt:lpstr>5. Secondary key</vt:lpstr>
      <vt:lpstr>Relational Integrity Rules</vt:lpstr>
      <vt:lpstr>Entity Integrity</vt:lpstr>
      <vt:lpstr>Referential Integrity</vt:lpstr>
      <vt:lpstr>PowerPoint Presentation</vt:lpstr>
      <vt:lpstr>The data should be centralised, and the information should be distributed to all the tables to reduce redundancy of data.</vt:lpstr>
      <vt:lpstr>Normalization</vt:lpstr>
      <vt:lpstr>Goals Of Normalization</vt:lpstr>
      <vt:lpstr>Disadvantages Of Normalization</vt:lpstr>
      <vt:lpstr>Normal Forms</vt:lpstr>
      <vt:lpstr>Un Normalized Data</vt:lpstr>
      <vt:lpstr>First Normal Form (1NF)</vt:lpstr>
      <vt:lpstr>PowerPoint Presentation</vt:lpstr>
      <vt:lpstr>Second Normal Form:</vt:lpstr>
      <vt:lpstr>PowerPoint Presentation</vt:lpstr>
      <vt:lpstr>PowerPoint Presentation</vt:lpstr>
      <vt:lpstr>PowerPoint Presentation</vt:lpstr>
      <vt:lpstr>PowerPoint Presentation</vt:lpstr>
      <vt:lpstr>BCNF Normal Form Contd..</vt:lpstr>
      <vt:lpstr>PowerPoint Presentation</vt:lpstr>
      <vt:lpstr>FUNDAMENTAL OPERATIONS</vt:lpstr>
      <vt:lpstr>Select Operation ()</vt:lpstr>
      <vt:lpstr>C) EXAMPLE</vt:lpstr>
      <vt:lpstr>Projection operation (∏)</vt:lpstr>
      <vt:lpstr>C) EXAMPLE</vt:lpstr>
      <vt:lpstr>Rename Operation (ρ)</vt:lpstr>
      <vt:lpstr>C) EXAMPLE</vt:lpstr>
      <vt:lpstr>PowerPoint Presentation</vt:lpstr>
      <vt:lpstr>1. Union operation (υ)</vt:lpstr>
      <vt:lpstr>Borrower( customer_name, loan_number) Depositor(customer_name, account_number) Customer(customer_name, streetno, city)</vt:lpstr>
      <vt:lpstr>2. Intersection Operation</vt:lpstr>
      <vt:lpstr>Example</vt:lpstr>
      <vt:lpstr> 3. Set Difference (-)</vt:lpstr>
      <vt:lpstr>PowerPoint Presentation</vt:lpstr>
      <vt:lpstr>Cartesian product(X) or Cross Join</vt:lpstr>
      <vt:lpstr>Cartesian Product Operation</vt:lpstr>
      <vt:lpstr>Join Operations</vt:lpstr>
      <vt:lpstr>Types of Joins</vt:lpstr>
      <vt:lpstr>2. Inner Join</vt:lpstr>
      <vt:lpstr>PowerPoint Presentation</vt:lpstr>
      <vt:lpstr>PowerPoint Presentation</vt:lpstr>
      <vt:lpstr>Left Outer Join(A B)</vt:lpstr>
      <vt:lpstr>PowerPoint Presentation</vt:lpstr>
      <vt:lpstr>Right Outer Join(A B)</vt:lpstr>
      <vt:lpstr>Full Outer Join(A B)</vt:lpstr>
      <vt:lpstr>Relational Division Operator</vt:lpstr>
      <vt:lpstr>Division Operation – Example</vt:lpstr>
      <vt:lpstr> Extended Relational Algebra operations</vt:lpstr>
      <vt:lpstr>PowerPoint Presentation</vt:lpstr>
      <vt:lpstr>Different Relational Algebra Operations</vt:lpstr>
      <vt:lpstr>Relational Calculus</vt:lpstr>
      <vt:lpstr>PowerPoint Presentation</vt:lpstr>
      <vt:lpstr>Tuple Relational Calculus</vt:lpstr>
      <vt:lpstr>Predicate Calculus Formula</vt:lpstr>
      <vt:lpstr>Banking Example</vt:lpstr>
      <vt:lpstr>Example Queries</vt:lpstr>
      <vt:lpstr>PowerPoint Presentation</vt:lpstr>
      <vt:lpstr>PowerPoint Presentation</vt:lpstr>
      <vt:lpstr>Example Queries</vt:lpstr>
      <vt:lpstr>PowerPoint Presentation</vt:lpstr>
      <vt:lpstr>PowerPoint Presentation</vt:lpstr>
      <vt:lpstr>Queries on Relational Algebra</vt:lpstr>
      <vt:lpstr>Queries on Relational Algebra- Projection</vt:lpstr>
      <vt:lpstr>Queries on Relational Algebra-Projection</vt:lpstr>
      <vt:lpstr>Queries on Relational Algebra- Selection</vt:lpstr>
      <vt:lpstr>Queries on Relational Algebra- Selection</vt:lpstr>
      <vt:lpstr>Queries on Relational Algebra- Joins</vt:lpstr>
      <vt:lpstr>Queries on Relational Algebra-Joins</vt:lpstr>
      <vt:lpstr>Table Details</vt:lpstr>
      <vt:lpstr>Queries on above Table</vt:lpstr>
      <vt:lpstr>Answers of Ques 1 and 2</vt:lpstr>
      <vt:lpstr>Answers of Ques 3 and 4</vt:lpstr>
      <vt:lpstr>Answers of Ques 5</vt:lpstr>
      <vt:lpstr>Ans of Ques 6</vt:lpstr>
      <vt:lpstr>Perform Union between Book IDs of the books borrowed by Charlie and Mike.</vt:lpstr>
      <vt:lpstr>Perform  Intersection  between  Member  IDs  of  the members who have borrowed both the books “Fences” and “Inheritance”</vt:lpstr>
      <vt:lpstr>Perform Set difference between Member IDs of the members who have never borrowed books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 BSc IT- Semester 3 Database Management Systems Lecture -19 (Unit 2 Revision and Class Test)</dc:title>
  <dc:creator>chavanaasha13@gmail.com</dc:creator>
  <cp:lastModifiedBy>admin</cp:lastModifiedBy>
  <cp:revision>1</cp:revision>
  <dcterms:created xsi:type="dcterms:W3CDTF">2026-05-27T07:02:27Z</dcterms:created>
  <dcterms:modified xsi:type="dcterms:W3CDTF">2026-05-27T07:10:56Z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2022-06-27T00:00:00Z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2026-05-27T00:00:00Z</vt:filetime>
  </property>
  <property fmtid="{D5CDD505-2E9C-101B-9397-08002B2CF9AE}" pid="5" name="Producer">
    <vt:lpwstr>Microsoft® PowerPoint® for Microsoft 365</vt:lpwstr>
  </property>
</Properties>
</file>