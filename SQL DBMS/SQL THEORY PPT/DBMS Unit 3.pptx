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jpg" ContentType="image/jp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0" Type="http://schemas.openxmlformats.org/officeDocument/2006/relationships/slide" Target="slides/slide12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68165" y="2554414"/>
            <a:ext cx="3455669" cy="1921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3178" y="320166"/>
            <a:ext cx="10505643" cy="1001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2096" y="1935861"/>
            <a:ext cx="10195560" cy="3435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3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3" Type="http://schemas.openxmlformats.org/officeDocument/2006/relationships/image" Target="../media/image21.jpg"/><Relationship Id="rId4" Type="http://schemas.openxmlformats.org/officeDocument/2006/relationships/image" Target="../media/image22.png"/><Relationship Id="rId5" Type="http://schemas.openxmlformats.org/officeDocument/2006/relationships/image" Target="../media/image23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pn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pn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pn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pn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png"/></Relationships>
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png"/></Relationships>
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2.png"/></Relationships>
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/Relationships>
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/Relationships>
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/Relationships>
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6.jpg"/></Relationships>
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7874" y="-7874"/>
            <a:ext cx="12198540" cy="68722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81529" y="1249121"/>
            <a:ext cx="7764145" cy="2929255"/>
          </a:xfrm>
          <a:prstGeom prst="rect"/>
        </p:spPr>
        <p:txBody>
          <a:bodyPr wrap="square" lIns="0" tIns="128270" rIns="0" bIns="0" rtlCol="0" vert="horz">
            <a:spAutoFit/>
          </a:bodyPr>
          <a:lstStyle/>
          <a:p>
            <a:pPr marL="12700" marR="5080">
              <a:lnSpc>
                <a:spcPts val="7350"/>
              </a:lnSpc>
              <a:spcBef>
                <a:spcPts val="1010"/>
              </a:spcBef>
            </a:pPr>
            <a:r>
              <a:rPr dirty="0" sz="6800" spc="-10">
                <a:solidFill>
                  <a:srgbClr val="FFFFFF"/>
                </a:solidFill>
              </a:rPr>
              <a:t>Database </a:t>
            </a:r>
            <a:r>
              <a:rPr dirty="0" sz="6800">
                <a:solidFill>
                  <a:srgbClr val="FFFFFF"/>
                </a:solidFill>
              </a:rPr>
              <a:t>Management</a:t>
            </a:r>
            <a:r>
              <a:rPr dirty="0" sz="6800" spc="-300">
                <a:solidFill>
                  <a:srgbClr val="FFFFFF"/>
                </a:solidFill>
              </a:rPr>
              <a:t> </a:t>
            </a:r>
            <a:r>
              <a:rPr dirty="0" sz="6800" spc="-30">
                <a:solidFill>
                  <a:srgbClr val="FFFFFF"/>
                </a:solidFill>
              </a:rPr>
              <a:t>Systems </a:t>
            </a:r>
            <a:r>
              <a:rPr dirty="0" sz="6800">
                <a:solidFill>
                  <a:srgbClr val="FFFFFF"/>
                </a:solidFill>
              </a:rPr>
              <a:t>SY</a:t>
            </a:r>
            <a:r>
              <a:rPr dirty="0" sz="6800" spc="-40">
                <a:solidFill>
                  <a:srgbClr val="FFFFFF"/>
                </a:solidFill>
              </a:rPr>
              <a:t> </a:t>
            </a:r>
            <a:r>
              <a:rPr dirty="0" sz="6800">
                <a:solidFill>
                  <a:srgbClr val="FFFFFF"/>
                </a:solidFill>
              </a:rPr>
              <a:t>BSc</a:t>
            </a:r>
            <a:r>
              <a:rPr dirty="0" sz="6800" spc="-30">
                <a:solidFill>
                  <a:srgbClr val="FFFFFF"/>
                </a:solidFill>
              </a:rPr>
              <a:t> </a:t>
            </a:r>
            <a:r>
              <a:rPr dirty="0" sz="6800" spc="-25">
                <a:solidFill>
                  <a:srgbClr val="FFFFFF"/>
                </a:solidFill>
              </a:rPr>
              <a:t>IT</a:t>
            </a:r>
            <a:endParaRPr sz="6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3112007" y="370331"/>
              <a:ext cx="5923915" cy="5923915"/>
            </a:xfrm>
            <a:custGeom>
              <a:avLst/>
              <a:gdLst/>
              <a:ahLst/>
              <a:cxnLst/>
              <a:rect l="l" t="t" r="r" b="b"/>
              <a:pathLst>
                <a:path w="5923915" h="5923915">
                  <a:moveTo>
                    <a:pt x="2961894" y="0"/>
                  </a:moveTo>
                  <a:lnTo>
                    <a:pt x="2913399" y="389"/>
                  </a:lnTo>
                  <a:lnTo>
                    <a:pt x="2865092" y="1552"/>
                  </a:lnTo>
                  <a:lnTo>
                    <a:pt x="2816979" y="3483"/>
                  </a:lnTo>
                  <a:lnTo>
                    <a:pt x="2769066" y="6176"/>
                  </a:lnTo>
                  <a:lnTo>
                    <a:pt x="2721359" y="9626"/>
                  </a:lnTo>
                  <a:lnTo>
                    <a:pt x="2673863" y="13826"/>
                  </a:lnTo>
                  <a:lnTo>
                    <a:pt x="2626585" y="18771"/>
                  </a:lnTo>
                  <a:lnTo>
                    <a:pt x="2579531" y="24454"/>
                  </a:lnTo>
                  <a:lnTo>
                    <a:pt x="2532706" y="30870"/>
                  </a:lnTo>
                  <a:lnTo>
                    <a:pt x="2486117" y="38013"/>
                  </a:lnTo>
                  <a:lnTo>
                    <a:pt x="2439768" y="45876"/>
                  </a:lnTo>
                  <a:lnTo>
                    <a:pt x="2393667" y="54455"/>
                  </a:lnTo>
                  <a:lnTo>
                    <a:pt x="2347820" y="63742"/>
                  </a:lnTo>
                  <a:lnTo>
                    <a:pt x="2302231" y="73732"/>
                  </a:lnTo>
                  <a:lnTo>
                    <a:pt x="2256907" y="84420"/>
                  </a:lnTo>
                  <a:lnTo>
                    <a:pt x="2211855" y="95799"/>
                  </a:lnTo>
                  <a:lnTo>
                    <a:pt x="2167079" y="107863"/>
                  </a:lnTo>
                  <a:lnTo>
                    <a:pt x="2122585" y="120606"/>
                  </a:lnTo>
                  <a:lnTo>
                    <a:pt x="2078381" y="134023"/>
                  </a:lnTo>
                  <a:lnTo>
                    <a:pt x="2034471" y="148107"/>
                  </a:lnTo>
                  <a:lnTo>
                    <a:pt x="1990861" y="162853"/>
                  </a:lnTo>
                  <a:lnTo>
                    <a:pt x="1947558" y="178255"/>
                  </a:lnTo>
                  <a:lnTo>
                    <a:pt x="1904568" y="194306"/>
                  </a:lnTo>
                  <a:lnTo>
                    <a:pt x="1861895" y="211001"/>
                  </a:lnTo>
                  <a:lnTo>
                    <a:pt x="1819547" y="228334"/>
                  </a:lnTo>
                  <a:lnTo>
                    <a:pt x="1777529" y="246300"/>
                  </a:lnTo>
                  <a:lnTo>
                    <a:pt x="1735847" y="264891"/>
                  </a:lnTo>
                  <a:lnTo>
                    <a:pt x="1694507" y="284102"/>
                  </a:lnTo>
                  <a:lnTo>
                    <a:pt x="1653514" y="303928"/>
                  </a:lnTo>
                  <a:lnTo>
                    <a:pt x="1612876" y="324362"/>
                  </a:lnTo>
                  <a:lnTo>
                    <a:pt x="1572597" y="345398"/>
                  </a:lnTo>
                  <a:lnTo>
                    <a:pt x="1532684" y="367031"/>
                  </a:lnTo>
                  <a:lnTo>
                    <a:pt x="1493142" y="389255"/>
                  </a:lnTo>
                  <a:lnTo>
                    <a:pt x="1453978" y="412063"/>
                  </a:lnTo>
                  <a:lnTo>
                    <a:pt x="1415197" y="435450"/>
                  </a:lnTo>
                  <a:lnTo>
                    <a:pt x="1376806" y="459410"/>
                  </a:lnTo>
                  <a:lnTo>
                    <a:pt x="1338810" y="483936"/>
                  </a:lnTo>
                  <a:lnTo>
                    <a:pt x="1301215" y="509024"/>
                  </a:lnTo>
                  <a:lnTo>
                    <a:pt x="1264027" y="534666"/>
                  </a:lnTo>
                  <a:lnTo>
                    <a:pt x="1227252" y="560858"/>
                  </a:lnTo>
                  <a:lnTo>
                    <a:pt x="1190895" y="587593"/>
                  </a:lnTo>
                  <a:lnTo>
                    <a:pt x="1154964" y="614865"/>
                  </a:lnTo>
                  <a:lnTo>
                    <a:pt x="1119463" y="642669"/>
                  </a:lnTo>
                  <a:lnTo>
                    <a:pt x="1084400" y="670998"/>
                  </a:lnTo>
                  <a:lnTo>
                    <a:pt x="1049778" y="699847"/>
                  </a:lnTo>
                  <a:lnTo>
                    <a:pt x="1015605" y="729209"/>
                  </a:lnTo>
                  <a:lnTo>
                    <a:pt x="981887" y="759079"/>
                  </a:lnTo>
                  <a:lnTo>
                    <a:pt x="948629" y="789451"/>
                  </a:lnTo>
                  <a:lnTo>
                    <a:pt x="915837" y="820318"/>
                  </a:lnTo>
                  <a:lnTo>
                    <a:pt x="883517" y="851676"/>
                  </a:lnTo>
                  <a:lnTo>
                    <a:pt x="851676" y="883517"/>
                  </a:lnTo>
                  <a:lnTo>
                    <a:pt x="820318" y="915837"/>
                  </a:lnTo>
                  <a:lnTo>
                    <a:pt x="789451" y="948629"/>
                  </a:lnTo>
                  <a:lnTo>
                    <a:pt x="759079" y="981887"/>
                  </a:lnTo>
                  <a:lnTo>
                    <a:pt x="729209" y="1015605"/>
                  </a:lnTo>
                  <a:lnTo>
                    <a:pt x="699847" y="1049778"/>
                  </a:lnTo>
                  <a:lnTo>
                    <a:pt x="670998" y="1084400"/>
                  </a:lnTo>
                  <a:lnTo>
                    <a:pt x="642669" y="1119463"/>
                  </a:lnTo>
                  <a:lnTo>
                    <a:pt x="614865" y="1154964"/>
                  </a:lnTo>
                  <a:lnTo>
                    <a:pt x="587593" y="1190895"/>
                  </a:lnTo>
                  <a:lnTo>
                    <a:pt x="560858" y="1227252"/>
                  </a:lnTo>
                  <a:lnTo>
                    <a:pt x="534666" y="1264027"/>
                  </a:lnTo>
                  <a:lnTo>
                    <a:pt x="509024" y="1301215"/>
                  </a:lnTo>
                  <a:lnTo>
                    <a:pt x="483936" y="1338810"/>
                  </a:lnTo>
                  <a:lnTo>
                    <a:pt x="459410" y="1376806"/>
                  </a:lnTo>
                  <a:lnTo>
                    <a:pt x="435450" y="1415197"/>
                  </a:lnTo>
                  <a:lnTo>
                    <a:pt x="412063" y="1453978"/>
                  </a:lnTo>
                  <a:lnTo>
                    <a:pt x="389255" y="1493142"/>
                  </a:lnTo>
                  <a:lnTo>
                    <a:pt x="367031" y="1532684"/>
                  </a:lnTo>
                  <a:lnTo>
                    <a:pt x="345398" y="1572597"/>
                  </a:lnTo>
                  <a:lnTo>
                    <a:pt x="324362" y="1612876"/>
                  </a:lnTo>
                  <a:lnTo>
                    <a:pt x="303928" y="1653514"/>
                  </a:lnTo>
                  <a:lnTo>
                    <a:pt x="284102" y="1694507"/>
                  </a:lnTo>
                  <a:lnTo>
                    <a:pt x="264891" y="1735847"/>
                  </a:lnTo>
                  <a:lnTo>
                    <a:pt x="246300" y="1777529"/>
                  </a:lnTo>
                  <a:lnTo>
                    <a:pt x="228334" y="1819547"/>
                  </a:lnTo>
                  <a:lnTo>
                    <a:pt x="211001" y="1861895"/>
                  </a:lnTo>
                  <a:lnTo>
                    <a:pt x="194306" y="1904568"/>
                  </a:lnTo>
                  <a:lnTo>
                    <a:pt x="178255" y="1947558"/>
                  </a:lnTo>
                  <a:lnTo>
                    <a:pt x="162853" y="1990861"/>
                  </a:lnTo>
                  <a:lnTo>
                    <a:pt x="148107" y="2034471"/>
                  </a:lnTo>
                  <a:lnTo>
                    <a:pt x="134023" y="2078381"/>
                  </a:lnTo>
                  <a:lnTo>
                    <a:pt x="120606" y="2122585"/>
                  </a:lnTo>
                  <a:lnTo>
                    <a:pt x="107863" y="2167079"/>
                  </a:lnTo>
                  <a:lnTo>
                    <a:pt x="95799" y="2211855"/>
                  </a:lnTo>
                  <a:lnTo>
                    <a:pt x="84420" y="2256907"/>
                  </a:lnTo>
                  <a:lnTo>
                    <a:pt x="73732" y="2302231"/>
                  </a:lnTo>
                  <a:lnTo>
                    <a:pt x="63742" y="2347820"/>
                  </a:lnTo>
                  <a:lnTo>
                    <a:pt x="54455" y="2393667"/>
                  </a:lnTo>
                  <a:lnTo>
                    <a:pt x="45876" y="2439768"/>
                  </a:lnTo>
                  <a:lnTo>
                    <a:pt x="38013" y="2486117"/>
                  </a:lnTo>
                  <a:lnTo>
                    <a:pt x="30870" y="2532706"/>
                  </a:lnTo>
                  <a:lnTo>
                    <a:pt x="24454" y="2579531"/>
                  </a:lnTo>
                  <a:lnTo>
                    <a:pt x="18771" y="2626585"/>
                  </a:lnTo>
                  <a:lnTo>
                    <a:pt x="13826" y="2673863"/>
                  </a:lnTo>
                  <a:lnTo>
                    <a:pt x="9626" y="2721359"/>
                  </a:lnTo>
                  <a:lnTo>
                    <a:pt x="6176" y="2769066"/>
                  </a:lnTo>
                  <a:lnTo>
                    <a:pt x="3483" y="2816979"/>
                  </a:lnTo>
                  <a:lnTo>
                    <a:pt x="1552" y="2865092"/>
                  </a:lnTo>
                  <a:lnTo>
                    <a:pt x="389" y="2913399"/>
                  </a:lnTo>
                  <a:lnTo>
                    <a:pt x="0" y="2961893"/>
                  </a:lnTo>
                  <a:lnTo>
                    <a:pt x="389" y="3010388"/>
                  </a:lnTo>
                  <a:lnTo>
                    <a:pt x="1552" y="3058695"/>
                  </a:lnTo>
                  <a:lnTo>
                    <a:pt x="3483" y="3106808"/>
                  </a:lnTo>
                  <a:lnTo>
                    <a:pt x="6176" y="3154721"/>
                  </a:lnTo>
                  <a:lnTo>
                    <a:pt x="9626" y="3202428"/>
                  </a:lnTo>
                  <a:lnTo>
                    <a:pt x="13826" y="3249924"/>
                  </a:lnTo>
                  <a:lnTo>
                    <a:pt x="18771" y="3297202"/>
                  </a:lnTo>
                  <a:lnTo>
                    <a:pt x="24454" y="3344256"/>
                  </a:lnTo>
                  <a:lnTo>
                    <a:pt x="30870" y="3391081"/>
                  </a:lnTo>
                  <a:lnTo>
                    <a:pt x="38013" y="3437670"/>
                  </a:lnTo>
                  <a:lnTo>
                    <a:pt x="45876" y="3484019"/>
                  </a:lnTo>
                  <a:lnTo>
                    <a:pt x="54455" y="3530120"/>
                  </a:lnTo>
                  <a:lnTo>
                    <a:pt x="63742" y="3575967"/>
                  </a:lnTo>
                  <a:lnTo>
                    <a:pt x="73732" y="3621556"/>
                  </a:lnTo>
                  <a:lnTo>
                    <a:pt x="84420" y="3666880"/>
                  </a:lnTo>
                  <a:lnTo>
                    <a:pt x="95799" y="3711932"/>
                  </a:lnTo>
                  <a:lnTo>
                    <a:pt x="107863" y="3756708"/>
                  </a:lnTo>
                  <a:lnTo>
                    <a:pt x="120606" y="3801202"/>
                  </a:lnTo>
                  <a:lnTo>
                    <a:pt x="134023" y="3845406"/>
                  </a:lnTo>
                  <a:lnTo>
                    <a:pt x="148107" y="3889316"/>
                  </a:lnTo>
                  <a:lnTo>
                    <a:pt x="162853" y="3932926"/>
                  </a:lnTo>
                  <a:lnTo>
                    <a:pt x="178255" y="3976229"/>
                  </a:lnTo>
                  <a:lnTo>
                    <a:pt x="194306" y="4019219"/>
                  </a:lnTo>
                  <a:lnTo>
                    <a:pt x="211001" y="4061892"/>
                  </a:lnTo>
                  <a:lnTo>
                    <a:pt x="228334" y="4104240"/>
                  </a:lnTo>
                  <a:lnTo>
                    <a:pt x="246300" y="4146258"/>
                  </a:lnTo>
                  <a:lnTo>
                    <a:pt x="264891" y="4187940"/>
                  </a:lnTo>
                  <a:lnTo>
                    <a:pt x="284102" y="4229280"/>
                  </a:lnTo>
                  <a:lnTo>
                    <a:pt x="303928" y="4270273"/>
                  </a:lnTo>
                  <a:lnTo>
                    <a:pt x="324362" y="4310911"/>
                  </a:lnTo>
                  <a:lnTo>
                    <a:pt x="345398" y="4351190"/>
                  </a:lnTo>
                  <a:lnTo>
                    <a:pt x="367031" y="4391103"/>
                  </a:lnTo>
                  <a:lnTo>
                    <a:pt x="389255" y="4430645"/>
                  </a:lnTo>
                  <a:lnTo>
                    <a:pt x="412063" y="4469809"/>
                  </a:lnTo>
                  <a:lnTo>
                    <a:pt x="435450" y="4508590"/>
                  </a:lnTo>
                  <a:lnTo>
                    <a:pt x="459410" y="4546981"/>
                  </a:lnTo>
                  <a:lnTo>
                    <a:pt x="483936" y="4584977"/>
                  </a:lnTo>
                  <a:lnTo>
                    <a:pt x="509024" y="4622572"/>
                  </a:lnTo>
                  <a:lnTo>
                    <a:pt x="534666" y="4659760"/>
                  </a:lnTo>
                  <a:lnTo>
                    <a:pt x="560858" y="4696535"/>
                  </a:lnTo>
                  <a:lnTo>
                    <a:pt x="587593" y="4732892"/>
                  </a:lnTo>
                  <a:lnTo>
                    <a:pt x="614865" y="4768823"/>
                  </a:lnTo>
                  <a:lnTo>
                    <a:pt x="642669" y="4804324"/>
                  </a:lnTo>
                  <a:lnTo>
                    <a:pt x="670998" y="4839387"/>
                  </a:lnTo>
                  <a:lnTo>
                    <a:pt x="699847" y="4874009"/>
                  </a:lnTo>
                  <a:lnTo>
                    <a:pt x="729209" y="4908182"/>
                  </a:lnTo>
                  <a:lnTo>
                    <a:pt x="759079" y="4941900"/>
                  </a:lnTo>
                  <a:lnTo>
                    <a:pt x="789451" y="4975158"/>
                  </a:lnTo>
                  <a:lnTo>
                    <a:pt x="820318" y="5007950"/>
                  </a:lnTo>
                  <a:lnTo>
                    <a:pt x="851676" y="5040270"/>
                  </a:lnTo>
                  <a:lnTo>
                    <a:pt x="883517" y="5072111"/>
                  </a:lnTo>
                  <a:lnTo>
                    <a:pt x="915837" y="5103469"/>
                  </a:lnTo>
                  <a:lnTo>
                    <a:pt x="948629" y="5134336"/>
                  </a:lnTo>
                  <a:lnTo>
                    <a:pt x="981887" y="5164708"/>
                  </a:lnTo>
                  <a:lnTo>
                    <a:pt x="1015605" y="5194578"/>
                  </a:lnTo>
                  <a:lnTo>
                    <a:pt x="1049778" y="5223940"/>
                  </a:lnTo>
                  <a:lnTo>
                    <a:pt x="1084400" y="5252789"/>
                  </a:lnTo>
                  <a:lnTo>
                    <a:pt x="1119463" y="5281118"/>
                  </a:lnTo>
                  <a:lnTo>
                    <a:pt x="1154964" y="5308922"/>
                  </a:lnTo>
                  <a:lnTo>
                    <a:pt x="1190895" y="5336194"/>
                  </a:lnTo>
                  <a:lnTo>
                    <a:pt x="1227252" y="5362929"/>
                  </a:lnTo>
                  <a:lnTo>
                    <a:pt x="1264027" y="5389121"/>
                  </a:lnTo>
                  <a:lnTo>
                    <a:pt x="1301215" y="5414763"/>
                  </a:lnTo>
                  <a:lnTo>
                    <a:pt x="1338810" y="5439851"/>
                  </a:lnTo>
                  <a:lnTo>
                    <a:pt x="1376806" y="5464377"/>
                  </a:lnTo>
                  <a:lnTo>
                    <a:pt x="1415197" y="5488337"/>
                  </a:lnTo>
                  <a:lnTo>
                    <a:pt x="1453978" y="5511724"/>
                  </a:lnTo>
                  <a:lnTo>
                    <a:pt x="1493142" y="5534532"/>
                  </a:lnTo>
                  <a:lnTo>
                    <a:pt x="1532684" y="5556756"/>
                  </a:lnTo>
                  <a:lnTo>
                    <a:pt x="1572597" y="5578389"/>
                  </a:lnTo>
                  <a:lnTo>
                    <a:pt x="1612876" y="5599425"/>
                  </a:lnTo>
                  <a:lnTo>
                    <a:pt x="1653514" y="5619859"/>
                  </a:lnTo>
                  <a:lnTo>
                    <a:pt x="1694507" y="5639685"/>
                  </a:lnTo>
                  <a:lnTo>
                    <a:pt x="1735847" y="5658896"/>
                  </a:lnTo>
                  <a:lnTo>
                    <a:pt x="1777529" y="5677487"/>
                  </a:lnTo>
                  <a:lnTo>
                    <a:pt x="1819547" y="5695453"/>
                  </a:lnTo>
                  <a:lnTo>
                    <a:pt x="1861895" y="5712786"/>
                  </a:lnTo>
                  <a:lnTo>
                    <a:pt x="1904568" y="5729481"/>
                  </a:lnTo>
                  <a:lnTo>
                    <a:pt x="1947558" y="5745532"/>
                  </a:lnTo>
                  <a:lnTo>
                    <a:pt x="1990861" y="5760934"/>
                  </a:lnTo>
                  <a:lnTo>
                    <a:pt x="2034471" y="5775680"/>
                  </a:lnTo>
                  <a:lnTo>
                    <a:pt x="2078381" y="5789764"/>
                  </a:lnTo>
                  <a:lnTo>
                    <a:pt x="2122585" y="5803181"/>
                  </a:lnTo>
                  <a:lnTo>
                    <a:pt x="2167079" y="5815924"/>
                  </a:lnTo>
                  <a:lnTo>
                    <a:pt x="2211855" y="5827988"/>
                  </a:lnTo>
                  <a:lnTo>
                    <a:pt x="2256907" y="5839367"/>
                  </a:lnTo>
                  <a:lnTo>
                    <a:pt x="2302231" y="5850055"/>
                  </a:lnTo>
                  <a:lnTo>
                    <a:pt x="2347820" y="5860045"/>
                  </a:lnTo>
                  <a:lnTo>
                    <a:pt x="2393667" y="5869332"/>
                  </a:lnTo>
                  <a:lnTo>
                    <a:pt x="2439768" y="5877911"/>
                  </a:lnTo>
                  <a:lnTo>
                    <a:pt x="2486117" y="5885774"/>
                  </a:lnTo>
                  <a:lnTo>
                    <a:pt x="2532706" y="5892917"/>
                  </a:lnTo>
                  <a:lnTo>
                    <a:pt x="2579531" y="5899333"/>
                  </a:lnTo>
                  <a:lnTo>
                    <a:pt x="2626585" y="5905016"/>
                  </a:lnTo>
                  <a:lnTo>
                    <a:pt x="2673863" y="5909961"/>
                  </a:lnTo>
                  <a:lnTo>
                    <a:pt x="2721359" y="5914161"/>
                  </a:lnTo>
                  <a:lnTo>
                    <a:pt x="2769066" y="5917611"/>
                  </a:lnTo>
                  <a:lnTo>
                    <a:pt x="2816979" y="5920304"/>
                  </a:lnTo>
                  <a:lnTo>
                    <a:pt x="2865092" y="5922235"/>
                  </a:lnTo>
                  <a:lnTo>
                    <a:pt x="2913399" y="5923398"/>
                  </a:lnTo>
                  <a:lnTo>
                    <a:pt x="2961894" y="5923788"/>
                  </a:lnTo>
                  <a:lnTo>
                    <a:pt x="3010388" y="5923398"/>
                  </a:lnTo>
                  <a:lnTo>
                    <a:pt x="3058695" y="5922235"/>
                  </a:lnTo>
                  <a:lnTo>
                    <a:pt x="3106808" y="5920304"/>
                  </a:lnTo>
                  <a:lnTo>
                    <a:pt x="3154721" y="5917611"/>
                  </a:lnTo>
                  <a:lnTo>
                    <a:pt x="3202428" y="5914161"/>
                  </a:lnTo>
                  <a:lnTo>
                    <a:pt x="3249924" y="5909961"/>
                  </a:lnTo>
                  <a:lnTo>
                    <a:pt x="3297202" y="5905016"/>
                  </a:lnTo>
                  <a:lnTo>
                    <a:pt x="3344256" y="5899333"/>
                  </a:lnTo>
                  <a:lnTo>
                    <a:pt x="3391081" y="5892917"/>
                  </a:lnTo>
                  <a:lnTo>
                    <a:pt x="3437670" y="5885774"/>
                  </a:lnTo>
                  <a:lnTo>
                    <a:pt x="3484019" y="5877911"/>
                  </a:lnTo>
                  <a:lnTo>
                    <a:pt x="3530120" y="5869332"/>
                  </a:lnTo>
                  <a:lnTo>
                    <a:pt x="3575967" y="5860045"/>
                  </a:lnTo>
                  <a:lnTo>
                    <a:pt x="3621556" y="5850055"/>
                  </a:lnTo>
                  <a:lnTo>
                    <a:pt x="3666880" y="5839367"/>
                  </a:lnTo>
                  <a:lnTo>
                    <a:pt x="3711932" y="5827988"/>
                  </a:lnTo>
                  <a:lnTo>
                    <a:pt x="3756708" y="5815924"/>
                  </a:lnTo>
                  <a:lnTo>
                    <a:pt x="3801202" y="5803181"/>
                  </a:lnTo>
                  <a:lnTo>
                    <a:pt x="3845406" y="5789764"/>
                  </a:lnTo>
                  <a:lnTo>
                    <a:pt x="3889316" y="5775680"/>
                  </a:lnTo>
                  <a:lnTo>
                    <a:pt x="3932926" y="5760934"/>
                  </a:lnTo>
                  <a:lnTo>
                    <a:pt x="3976229" y="5745532"/>
                  </a:lnTo>
                  <a:lnTo>
                    <a:pt x="4019219" y="5729481"/>
                  </a:lnTo>
                  <a:lnTo>
                    <a:pt x="4061892" y="5712786"/>
                  </a:lnTo>
                  <a:lnTo>
                    <a:pt x="4104240" y="5695453"/>
                  </a:lnTo>
                  <a:lnTo>
                    <a:pt x="4146258" y="5677487"/>
                  </a:lnTo>
                  <a:lnTo>
                    <a:pt x="4187940" y="5658896"/>
                  </a:lnTo>
                  <a:lnTo>
                    <a:pt x="4229280" y="5639685"/>
                  </a:lnTo>
                  <a:lnTo>
                    <a:pt x="4270273" y="5619859"/>
                  </a:lnTo>
                  <a:lnTo>
                    <a:pt x="4310911" y="5599425"/>
                  </a:lnTo>
                  <a:lnTo>
                    <a:pt x="4351190" y="5578389"/>
                  </a:lnTo>
                  <a:lnTo>
                    <a:pt x="4391103" y="5556756"/>
                  </a:lnTo>
                  <a:lnTo>
                    <a:pt x="4430645" y="5534532"/>
                  </a:lnTo>
                  <a:lnTo>
                    <a:pt x="4469809" y="5511724"/>
                  </a:lnTo>
                  <a:lnTo>
                    <a:pt x="4508590" y="5488337"/>
                  </a:lnTo>
                  <a:lnTo>
                    <a:pt x="4546981" y="5464377"/>
                  </a:lnTo>
                  <a:lnTo>
                    <a:pt x="4584977" y="5439851"/>
                  </a:lnTo>
                  <a:lnTo>
                    <a:pt x="4622572" y="5414763"/>
                  </a:lnTo>
                  <a:lnTo>
                    <a:pt x="4659760" y="5389121"/>
                  </a:lnTo>
                  <a:lnTo>
                    <a:pt x="4696535" y="5362929"/>
                  </a:lnTo>
                  <a:lnTo>
                    <a:pt x="4732892" y="5336194"/>
                  </a:lnTo>
                  <a:lnTo>
                    <a:pt x="4768823" y="5308922"/>
                  </a:lnTo>
                  <a:lnTo>
                    <a:pt x="4804324" y="5281118"/>
                  </a:lnTo>
                  <a:lnTo>
                    <a:pt x="4839387" y="5252789"/>
                  </a:lnTo>
                  <a:lnTo>
                    <a:pt x="4874009" y="5223940"/>
                  </a:lnTo>
                  <a:lnTo>
                    <a:pt x="4908182" y="5194578"/>
                  </a:lnTo>
                  <a:lnTo>
                    <a:pt x="4941900" y="5164708"/>
                  </a:lnTo>
                  <a:lnTo>
                    <a:pt x="4975158" y="5134336"/>
                  </a:lnTo>
                  <a:lnTo>
                    <a:pt x="5007950" y="5103469"/>
                  </a:lnTo>
                  <a:lnTo>
                    <a:pt x="5040270" y="5072111"/>
                  </a:lnTo>
                  <a:lnTo>
                    <a:pt x="5072111" y="5040270"/>
                  </a:lnTo>
                  <a:lnTo>
                    <a:pt x="5103469" y="5007950"/>
                  </a:lnTo>
                  <a:lnTo>
                    <a:pt x="5134336" y="4975158"/>
                  </a:lnTo>
                  <a:lnTo>
                    <a:pt x="5164708" y="4941900"/>
                  </a:lnTo>
                  <a:lnTo>
                    <a:pt x="5194578" y="4908182"/>
                  </a:lnTo>
                  <a:lnTo>
                    <a:pt x="5223940" y="4874009"/>
                  </a:lnTo>
                  <a:lnTo>
                    <a:pt x="5252789" y="4839387"/>
                  </a:lnTo>
                  <a:lnTo>
                    <a:pt x="5281118" y="4804324"/>
                  </a:lnTo>
                  <a:lnTo>
                    <a:pt x="5308922" y="4768823"/>
                  </a:lnTo>
                  <a:lnTo>
                    <a:pt x="5336194" y="4732892"/>
                  </a:lnTo>
                  <a:lnTo>
                    <a:pt x="5362929" y="4696535"/>
                  </a:lnTo>
                  <a:lnTo>
                    <a:pt x="5389121" y="4659760"/>
                  </a:lnTo>
                  <a:lnTo>
                    <a:pt x="5414763" y="4622572"/>
                  </a:lnTo>
                  <a:lnTo>
                    <a:pt x="5439851" y="4584977"/>
                  </a:lnTo>
                  <a:lnTo>
                    <a:pt x="5464377" y="4546981"/>
                  </a:lnTo>
                  <a:lnTo>
                    <a:pt x="5488337" y="4508590"/>
                  </a:lnTo>
                  <a:lnTo>
                    <a:pt x="5511724" y="4469809"/>
                  </a:lnTo>
                  <a:lnTo>
                    <a:pt x="5534532" y="4430645"/>
                  </a:lnTo>
                  <a:lnTo>
                    <a:pt x="5556756" y="4391103"/>
                  </a:lnTo>
                  <a:lnTo>
                    <a:pt x="5578389" y="4351190"/>
                  </a:lnTo>
                  <a:lnTo>
                    <a:pt x="5599425" y="4310911"/>
                  </a:lnTo>
                  <a:lnTo>
                    <a:pt x="5619859" y="4270273"/>
                  </a:lnTo>
                  <a:lnTo>
                    <a:pt x="5639685" y="4229280"/>
                  </a:lnTo>
                  <a:lnTo>
                    <a:pt x="5658896" y="4187940"/>
                  </a:lnTo>
                  <a:lnTo>
                    <a:pt x="5677487" y="4146258"/>
                  </a:lnTo>
                  <a:lnTo>
                    <a:pt x="5695453" y="4104240"/>
                  </a:lnTo>
                  <a:lnTo>
                    <a:pt x="5712786" y="4061892"/>
                  </a:lnTo>
                  <a:lnTo>
                    <a:pt x="5729481" y="4019219"/>
                  </a:lnTo>
                  <a:lnTo>
                    <a:pt x="5745532" y="3976229"/>
                  </a:lnTo>
                  <a:lnTo>
                    <a:pt x="5760934" y="3932926"/>
                  </a:lnTo>
                  <a:lnTo>
                    <a:pt x="5775680" y="3889316"/>
                  </a:lnTo>
                  <a:lnTo>
                    <a:pt x="5789764" y="3845406"/>
                  </a:lnTo>
                  <a:lnTo>
                    <a:pt x="5803181" y="3801202"/>
                  </a:lnTo>
                  <a:lnTo>
                    <a:pt x="5815924" y="3756708"/>
                  </a:lnTo>
                  <a:lnTo>
                    <a:pt x="5827988" y="3711932"/>
                  </a:lnTo>
                  <a:lnTo>
                    <a:pt x="5839367" y="3666880"/>
                  </a:lnTo>
                  <a:lnTo>
                    <a:pt x="5850055" y="3621556"/>
                  </a:lnTo>
                  <a:lnTo>
                    <a:pt x="5860045" y="3575967"/>
                  </a:lnTo>
                  <a:lnTo>
                    <a:pt x="5869332" y="3530120"/>
                  </a:lnTo>
                  <a:lnTo>
                    <a:pt x="5877911" y="3484019"/>
                  </a:lnTo>
                  <a:lnTo>
                    <a:pt x="5885774" y="3437670"/>
                  </a:lnTo>
                  <a:lnTo>
                    <a:pt x="5892917" y="3391081"/>
                  </a:lnTo>
                  <a:lnTo>
                    <a:pt x="5899333" y="3344256"/>
                  </a:lnTo>
                  <a:lnTo>
                    <a:pt x="5905016" y="3297202"/>
                  </a:lnTo>
                  <a:lnTo>
                    <a:pt x="5909961" y="3249924"/>
                  </a:lnTo>
                  <a:lnTo>
                    <a:pt x="5914161" y="3202428"/>
                  </a:lnTo>
                  <a:lnTo>
                    <a:pt x="5917611" y="3154721"/>
                  </a:lnTo>
                  <a:lnTo>
                    <a:pt x="5920304" y="3106808"/>
                  </a:lnTo>
                  <a:lnTo>
                    <a:pt x="5922235" y="3058695"/>
                  </a:lnTo>
                  <a:lnTo>
                    <a:pt x="5923398" y="3010388"/>
                  </a:lnTo>
                  <a:lnTo>
                    <a:pt x="5923788" y="2961893"/>
                  </a:lnTo>
                  <a:lnTo>
                    <a:pt x="5923398" y="2913399"/>
                  </a:lnTo>
                  <a:lnTo>
                    <a:pt x="5922235" y="2865092"/>
                  </a:lnTo>
                  <a:lnTo>
                    <a:pt x="5920304" y="2816979"/>
                  </a:lnTo>
                  <a:lnTo>
                    <a:pt x="5917611" y="2769066"/>
                  </a:lnTo>
                  <a:lnTo>
                    <a:pt x="5914161" y="2721359"/>
                  </a:lnTo>
                  <a:lnTo>
                    <a:pt x="5909961" y="2673863"/>
                  </a:lnTo>
                  <a:lnTo>
                    <a:pt x="5905016" y="2626585"/>
                  </a:lnTo>
                  <a:lnTo>
                    <a:pt x="5899333" y="2579531"/>
                  </a:lnTo>
                  <a:lnTo>
                    <a:pt x="5892917" y="2532706"/>
                  </a:lnTo>
                  <a:lnTo>
                    <a:pt x="5885774" y="2486117"/>
                  </a:lnTo>
                  <a:lnTo>
                    <a:pt x="5877911" y="2439768"/>
                  </a:lnTo>
                  <a:lnTo>
                    <a:pt x="5869332" y="2393667"/>
                  </a:lnTo>
                  <a:lnTo>
                    <a:pt x="5860045" y="2347820"/>
                  </a:lnTo>
                  <a:lnTo>
                    <a:pt x="5850055" y="2302231"/>
                  </a:lnTo>
                  <a:lnTo>
                    <a:pt x="5839367" y="2256907"/>
                  </a:lnTo>
                  <a:lnTo>
                    <a:pt x="5827988" y="2211855"/>
                  </a:lnTo>
                  <a:lnTo>
                    <a:pt x="5815924" y="2167079"/>
                  </a:lnTo>
                  <a:lnTo>
                    <a:pt x="5803181" y="2122585"/>
                  </a:lnTo>
                  <a:lnTo>
                    <a:pt x="5789764" y="2078381"/>
                  </a:lnTo>
                  <a:lnTo>
                    <a:pt x="5775680" y="2034471"/>
                  </a:lnTo>
                  <a:lnTo>
                    <a:pt x="5760934" y="1990861"/>
                  </a:lnTo>
                  <a:lnTo>
                    <a:pt x="5745532" y="1947558"/>
                  </a:lnTo>
                  <a:lnTo>
                    <a:pt x="5729481" y="1904568"/>
                  </a:lnTo>
                  <a:lnTo>
                    <a:pt x="5712786" y="1861895"/>
                  </a:lnTo>
                  <a:lnTo>
                    <a:pt x="5695453" y="1819547"/>
                  </a:lnTo>
                  <a:lnTo>
                    <a:pt x="5677487" y="1777529"/>
                  </a:lnTo>
                  <a:lnTo>
                    <a:pt x="5658896" y="1735847"/>
                  </a:lnTo>
                  <a:lnTo>
                    <a:pt x="5639685" y="1694507"/>
                  </a:lnTo>
                  <a:lnTo>
                    <a:pt x="5619859" y="1653514"/>
                  </a:lnTo>
                  <a:lnTo>
                    <a:pt x="5599425" y="1612876"/>
                  </a:lnTo>
                  <a:lnTo>
                    <a:pt x="5578389" y="1572597"/>
                  </a:lnTo>
                  <a:lnTo>
                    <a:pt x="5556756" y="1532684"/>
                  </a:lnTo>
                  <a:lnTo>
                    <a:pt x="5534532" y="1493142"/>
                  </a:lnTo>
                  <a:lnTo>
                    <a:pt x="5511724" y="1453978"/>
                  </a:lnTo>
                  <a:lnTo>
                    <a:pt x="5488337" y="1415197"/>
                  </a:lnTo>
                  <a:lnTo>
                    <a:pt x="5464377" y="1376806"/>
                  </a:lnTo>
                  <a:lnTo>
                    <a:pt x="5439851" y="1338810"/>
                  </a:lnTo>
                  <a:lnTo>
                    <a:pt x="5414763" y="1301215"/>
                  </a:lnTo>
                  <a:lnTo>
                    <a:pt x="5389121" y="1264027"/>
                  </a:lnTo>
                  <a:lnTo>
                    <a:pt x="5362929" y="1227252"/>
                  </a:lnTo>
                  <a:lnTo>
                    <a:pt x="5336194" y="1190895"/>
                  </a:lnTo>
                  <a:lnTo>
                    <a:pt x="5308922" y="1154964"/>
                  </a:lnTo>
                  <a:lnTo>
                    <a:pt x="5281118" y="1119463"/>
                  </a:lnTo>
                  <a:lnTo>
                    <a:pt x="5252789" y="1084400"/>
                  </a:lnTo>
                  <a:lnTo>
                    <a:pt x="5223940" y="1049778"/>
                  </a:lnTo>
                  <a:lnTo>
                    <a:pt x="5194578" y="1015605"/>
                  </a:lnTo>
                  <a:lnTo>
                    <a:pt x="5164708" y="981887"/>
                  </a:lnTo>
                  <a:lnTo>
                    <a:pt x="5134336" y="948629"/>
                  </a:lnTo>
                  <a:lnTo>
                    <a:pt x="5103469" y="915837"/>
                  </a:lnTo>
                  <a:lnTo>
                    <a:pt x="5072111" y="883517"/>
                  </a:lnTo>
                  <a:lnTo>
                    <a:pt x="5040270" y="851676"/>
                  </a:lnTo>
                  <a:lnTo>
                    <a:pt x="5007950" y="820318"/>
                  </a:lnTo>
                  <a:lnTo>
                    <a:pt x="4975158" y="789451"/>
                  </a:lnTo>
                  <a:lnTo>
                    <a:pt x="4941900" y="759079"/>
                  </a:lnTo>
                  <a:lnTo>
                    <a:pt x="4908182" y="729209"/>
                  </a:lnTo>
                  <a:lnTo>
                    <a:pt x="4874009" y="699847"/>
                  </a:lnTo>
                  <a:lnTo>
                    <a:pt x="4839387" y="670998"/>
                  </a:lnTo>
                  <a:lnTo>
                    <a:pt x="4804324" y="642669"/>
                  </a:lnTo>
                  <a:lnTo>
                    <a:pt x="4768823" y="614865"/>
                  </a:lnTo>
                  <a:lnTo>
                    <a:pt x="4732892" y="587593"/>
                  </a:lnTo>
                  <a:lnTo>
                    <a:pt x="4696535" y="560858"/>
                  </a:lnTo>
                  <a:lnTo>
                    <a:pt x="4659760" y="534666"/>
                  </a:lnTo>
                  <a:lnTo>
                    <a:pt x="4622572" y="509024"/>
                  </a:lnTo>
                  <a:lnTo>
                    <a:pt x="4584977" y="483936"/>
                  </a:lnTo>
                  <a:lnTo>
                    <a:pt x="4546981" y="459410"/>
                  </a:lnTo>
                  <a:lnTo>
                    <a:pt x="4508590" y="435450"/>
                  </a:lnTo>
                  <a:lnTo>
                    <a:pt x="4469809" y="412063"/>
                  </a:lnTo>
                  <a:lnTo>
                    <a:pt x="4430645" y="389255"/>
                  </a:lnTo>
                  <a:lnTo>
                    <a:pt x="4391103" y="367031"/>
                  </a:lnTo>
                  <a:lnTo>
                    <a:pt x="4351190" y="345398"/>
                  </a:lnTo>
                  <a:lnTo>
                    <a:pt x="4310911" y="324362"/>
                  </a:lnTo>
                  <a:lnTo>
                    <a:pt x="4270273" y="303928"/>
                  </a:lnTo>
                  <a:lnTo>
                    <a:pt x="4229280" y="284102"/>
                  </a:lnTo>
                  <a:lnTo>
                    <a:pt x="4187940" y="264891"/>
                  </a:lnTo>
                  <a:lnTo>
                    <a:pt x="4146258" y="246300"/>
                  </a:lnTo>
                  <a:lnTo>
                    <a:pt x="4104240" y="228334"/>
                  </a:lnTo>
                  <a:lnTo>
                    <a:pt x="4061892" y="211001"/>
                  </a:lnTo>
                  <a:lnTo>
                    <a:pt x="4019219" y="194306"/>
                  </a:lnTo>
                  <a:lnTo>
                    <a:pt x="3976229" y="178255"/>
                  </a:lnTo>
                  <a:lnTo>
                    <a:pt x="3932926" y="162853"/>
                  </a:lnTo>
                  <a:lnTo>
                    <a:pt x="3889316" y="148107"/>
                  </a:lnTo>
                  <a:lnTo>
                    <a:pt x="3845406" y="134023"/>
                  </a:lnTo>
                  <a:lnTo>
                    <a:pt x="3801202" y="120606"/>
                  </a:lnTo>
                  <a:lnTo>
                    <a:pt x="3756708" y="107863"/>
                  </a:lnTo>
                  <a:lnTo>
                    <a:pt x="3711932" y="95799"/>
                  </a:lnTo>
                  <a:lnTo>
                    <a:pt x="3666880" y="84420"/>
                  </a:lnTo>
                  <a:lnTo>
                    <a:pt x="3621556" y="73732"/>
                  </a:lnTo>
                  <a:lnTo>
                    <a:pt x="3575967" y="63742"/>
                  </a:lnTo>
                  <a:lnTo>
                    <a:pt x="3530120" y="54455"/>
                  </a:lnTo>
                  <a:lnTo>
                    <a:pt x="3484019" y="45876"/>
                  </a:lnTo>
                  <a:lnTo>
                    <a:pt x="3437670" y="38013"/>
                  </a:lnTo>
                  <a:lnTo>
                    <a:pt x="3391081" y="30870"/>
                  </a:lnTo>
                  <a:lnTo>
                    <a:pt x="3344256" y="24454"/>
                  </a:lnTo>
                  <a:lnTo>
                    <a:pt x="3297202" y="18771"/>
                  </a:lnTo>
                  <a:lnTo>
                    <a:pt x="3249924" y="13826"/>
                  </a:lnTo>
                  <a:lnTo>
                    <a:pt x="3202428" y="9626"/>
                  </a:lnTo>
                  <a:lnTo>
                    <a:pt x="3154721" y="6176"/>
                  </a:lnTo>
                  <a:lnTo>
                    <a:pt x="3106808" y="3483"/>
                  </a:lnTo>
                  <a:lnTo>
                    <a:pt x="3058695" y="1552"/>
                  </a:lnTo>
                  <a:lnTo>
                    <a:pt x="3010388" y="389"/>
                  </a:lnTo>
                  <a:lnTo>
                    <a:pt x="2961894" y="0"/>
                  </a:lnTo>
                  <a:close/>
                </a:path>
              </a:pathLst>
            </a:custGeom>
            <a:solidFill>
              <a:srgbClr val="FFFFFF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452120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3560"/>
              </a:spcBef>
            </a:pPr>
            <a:r>
              <a:rPr dirty="0" sz="6000">
                <a:latin typeface="Calibri Light"/>
                <a:cs typeface="Calibri Light"/>
              </a:rPr>
              <a:t>UNIT</a:t>
            </a:r>
            <a:r>
              <a:rPr dirty="0" sz="6000" spc="-250">
                <a:latin typeface="Calibri Light"/>
                <a:cs typeface="Calibri Light"/>
              </a:rPr>
              <a:t> </a:t>
            </a:r>
            <a:r>
              <a:rPr dirty="0" sz="6000" spc="-50">
                <a:latin typeface="Calibri Light"/>
                <a:cs typeface="Calibri Light"/>
              </a:rPr>
              <a:t>3</a:t>
            </a:r>
            <a:endParaRPr sz="6000">
              <a:latin typeface="Calibri Light"/>
              <a:cs typeface="Calibri Light"/>
            </a:endParaRPr>
          </a:p>
          <a:p>
            <a:pPr algn="ctr">
              <a:lnSpc>
                <a:spcPct val="100000"/>
              </a:lnSpc>
              <a:spcBef>
                <a:spcPts val="1385"/>
              </a:spcBef>
            </a:pPr>
            <a:r>
              <a:rPr dirty="0" sz="2400" spc="-10" b="1">
                <a:latin typeface="Calibri"/>
                <a:cs typeface="Calibri"/>
              </a:rPr>
              <a:t>Constraints,</a:t>
            </a:r>
            <a:r>
              <a:rPr dirty="0" sz="2400" spc="-7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Views</a:t>
            </a:r>
            <a:r>
              <a:rPr dirty="0" sz="2400" spc="-7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and</a:t>
            </a:r>
            <a:r>
              <a:rPr dirty="0" sz="2400" spc="-85" b="1">
                <a:latin typeface="Calibri"/>
                <a:cs typeface="Calibri"/>
              </a:rPr>
              <a:t> </a:t>
            </a:r>
            <a:r>
              <a:rPr dirty="0" sz="2400" spc="-25" b="1">
                <a:latin typeface="Calibri"/>
                <a:cs typeface="Calibri"/>
              </a:rPr>
              <a:t>SQL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2543822" y="236854"/>
            <a:ext cx="6483350" cy="5222240"/>
            <a:chOff x="2543822" y="236854"/>
            <a:chExt cx="6483350" cy="5222240"/>
          </a:xfrm>
        </p:grpSpPr>
        <p:sp>
          <p:nvSpPr>
            <p:cNvPr id="7" name="object 7" descr=""/>
            <p:cNvSpPr/>
            <p:nvPr/>
          </p:nvSpPr>
          <p:spPr>
            <a:xfrm>
              <a:off x="2607322" y="300354"/>
              <a:ext cx="2028189" cy="3348990"/>
            </a:xfrm>
            <a:custGeom>
              <a:avLst/>
              <a:gdLst/>
              <a:ahLst/>
              <a:cxnLst/>
              <a:rect l="l" t="t" r="r" b="b"/>
              <a:pathLst>
                <a:path w="2028189" h="3348990">
                  <a:moveTo>
                    <a:pt x="2028050" y="0"/>
                  </a:moveTo>
                  <a:lnTo>
                    <a:pt x="1983056" y="20312"/>
                  </a:lnTo>
                  <a:lnTo>
                    <a:pt x="1938464" y="41220"/>
                  </a:lnTo>
                  <a:lnTo>
                    <a:pt x="1894278" y="62717"/>
                  </a:lnTo>
                  <a:lnTo>
                    <a:pt x="1850503" y="84796"/>
                  </a:lnTo>
                  <a:lnTo>
                    <a:pt x="1807141" y="107452"/>
                  </a:lnTo>
                  <a:lnTo>
                    <a:pt x="1764196" y="130678"/>
                  </a:lnTo>
                  <a:lnTo>
                    <a:pt x="1721673" y="154469"/>
                  </a:lnTo>
                  <a:lnTo>
                    <a:pt x="1679574" y="178818"/>
                  </a:lnTo>
                  <a:lnTo>
                    <a:pt x="1637903" y="203720"/>
                  </a:lnTo>
                  <a:lnTo>
                    <a:pt x="1596664" y="229168"/>
                  </a:lnTo>
                  <a:lnTo>
                    <a:pt x="1555861" y="255156"/>
                  </a:lnTo>
                  <a:lnTo>
                    <a:pt x="1515497" y="281678"/>
                  </a:lnTo>
                  <a:lnTo>
                    <a:pt x="1475576" y="308728"/>
                  </a:lnTo>
                  <a:lnTo>
                    <a:pt x="1436101" y="336300"/>
                  </a:lnTo>
                  <a:lnTo>
                    <a:pt x="1397077" y="364388"/>
                  </a:lnTo>
                  <a:lnTo>
                    <a:pt x="1358507" y="392986"/>
                  </a:lnTo>
                  <a:lnTo>
                    <a:pt x="1320394" y="422088"/>
                  </a:lnTo>
                  <a:lnTo>
                    <a:pt x="1282742" y="451687"/>
                  </a:lnTo>
                  <a:lnTo>
                    <a:pt x="1245556" y="481778"/>
                  </a:lnTo>
                  <a:lnTo>
                    <a:pt x="1208838" y="512354"/>
                  </a:lnTo>
                  <a:lnTo>
                    <a:pt x="1172592" y="543410"/>
                  </a:lnTo>
                  <a:lnTo>
                    <a:pt x="1136822" y="574939"/>
                  </a:lnTo>
                  <a:lnTo>
                    <a:pt x="1101531" y="606936"/>
                  </a:lnTo>
                  <a:lnTo>
                    <a:pt x="1066724" y="639393"/>
                  </a:lnTo>
                  <a:lnTo>
                    <a:pt x="1032404" y="672306"/>
                  </a:lnTo>
                  <a:lnTo>
                    <a:pt x="998574" y="705668"/>
                  </a:lnTo>
                  <a:lnTo>
                    <a:pt x="965238" y="739473"/>
                  </a:lnTo>
                  <a:lnTo>
                    <a:pt x="932400" y="773715"/>
                  </a:lnTo>
                  <a:lnTo>
                    <a:pt x="900064" y="808387"/>
                  </a:lnTo>
                  <a:lnTo>
                    <a:pt x="868233" y="843485"/>
                  </a:lnTo>
                  <a:lnTo>
                    <a:pt x="836911" y="879001"/>
                  </a:lnTo>
                  <a:lnTo>
                    <a:pt x="806101" y="914930"/>
                  </a:lnTo>
                  <a:lnTo>
                    <a:pt x="775808" y="951265"/>
                  </a:lnTo>
                  <a:lnTo>
                    <a:pt x="746034" y="988001"/>
                  </a:lnTo>
                  <a:lnTo>
                    <a:pt x="716784" y="1025131"/>
                  </a:lnTo>
                  <a:lnTo>
                    <a:pt x="688061" y="1062650"/>
                  </a:lnTo>
                  <a:lnTo>
                    <a:pt x="659868" y="1100551"/>
                  </a:lnTo>
                  <a:lnTo>
                    <a:pt x="632210" y="1138828"/>
                  </a:lnTo>
                  <a:lnTo>
                    <a:pt x="605091" y="1177475"/>
                  </a:lnTo>
                  <a:lnTo>
                    <a:pt x="578513" y="1216486"/>
                  </a:lnTo>
                  <a:lnTo>
                    <a:pt x="552481" y="1255855"/>
                  </a:lnTo>
                  <a:lnTo>
                    <a:pt x="526997" y="1295576"/>
                  </a:lnTo>
                  <a:lnTo>
                    <a:pt x="502067" y="1335643"/>
                  </a:lnTo>
                  <a:lnTo>
                    <a:pt x="477693" y="1376049"/>
                  </a:lnTo>
                  <a:lnTo>
                    <a:pt x="453879" y="1416789"/>
                  </a:lnTo>
                  <a:lnTo>
                    <a:pt x="430629" y="1457857"/>
                  </a:lnTo>
                  <a:lnTo>
                    <a:pt x="407946" y="1499247"/>
                  </a:lnTo>
                  <a:lnTo>
                    <a:pt x="385835" y="1540951"/>
                  </a:lnTo>
                  <a:lnTo>
                    <a:pt x="364298" y="1582965"/>
                  </a:lnTo>
                  <a:lnTo>
                    <a:pt x="343340" y="1625283"/>
                  </a:lnTo>
                  <a:lnTo>
                    <a:pt x="322963" y="1667898"/>
                  </a:lnTo>
                  <a:lnTo>
                    <a:pt x="303173" y="1710803"/>
                  </a:lnTo>
                  <a:lnTo>
                    <a:pt x="283972" y="1753994"/>
                  </a:lnTo>
                  <a:lnTo>
                    <a:pt x="265364" y="1797464"/>
                  </a:lnTo>
                  <a:lnTo>
                    <a:pt x="247352" y="1841207"/>
                  </a:lnTo>
                  <a:lnTo>
                    <a:pt x="229942" y="1885217"/>
                  </a:lnTo>
                  <a:lnTo>
                    <a:pt x="213135" y="1929487"/>
                  </a:lnTo>
                  <a:lnTo>
                    <a:pt x="196936" y="1974012"/>
                  </a:lnTo>
                  <a:lnTo>
                    <a:pt x="181348" y="2018786"/>
                  </a:lnTo>
                  <a:lnTo>
                    <a:pt x="166375" y="2063802"/>
                  </a:lnTo>
                  <a:lnTo>
                    <a:pt x="152022" y="2109055"/>
                  </a:lnTo>
                  <a:lnTo>
                    <a:pt x="138290" y="2154538"/>
                  </a:lnTo>
                  <a:lnTo>
                    <a:pt x="125185" y="2200246"/>
                  </a:lnTo>
                  <a:lnTo>
                    <a:pt x="112709" y="2246172"/>
                  </a:lnTo>
                  <a:lnTo>
                    <a:pt x="100866" y="2292310"/>
                  </a:lnTo>
                  <a:lnTo>
                    <a:pt x="89661" y="2338654"/>
                  </a:lnTo>
                  <a:lnTo>
                    <a:pt x="79096" y="2385198"/>
                  </a:lnTo>
                  <a:lnTo>
                    <a:pt x="69176" y="2431936"/>
                  </a:lnTo>
                  <a:lnTo>
                    <a:pt x="59904" y="2478862"/>
                  </a:lnTo>
                  <a:lnTo>
                    <a:pt x="51283" y="2525970"/>
                  </a:lnTo>
                  <a:lnTo>
                    <a:pt x="43318" y="2573254"/>
                  </a:lnTo>
                  <a:lnTo>
                    <a:pt x="36011" y="2620707"/>
                  </a:lnTo>
                  <a:lnTo>
                    <a:pt x="29368" y="2668324"/>
                  </a:lnTo>
                  <a:lnTo>
                    <a:pt x="23391" y="2716098"/>
                  </a:lnTo>
                  <a:lnTo>
                    <a:pt x="18083" y="2764024"/>
                  </a:lnTo>
                  <a:lnTo>
                    <a:pt x="13450" y="2812095"/>
                  </a:lnTo>
                  <a:lnTo>
                    <a:pt x="9493" y="2860306"/>
                  </a:lnTo>
                  <a:lnTo>
                    <a:pt x="6218" y="2908649"/>
                  </a:lnTo>
                  <a:lnTo>
                    <a:pt x="3627" y="2957120"/>
                  </a:lnTo>
                  <a:lnTo>
                    <a:pt x="1725" y="3005712"/>
                  </a:lnTo>
                  <a:lnTo>
                    <a:pt x="514" y="3054419"/>
                  </a:lnTo>
                  <a:lnTo>
                    <a:pt x="0" y="3103235"/>
                  </a:lnTo>
                  <a:lnTo>
                    <a:pt x="184" y="3152154"/>
                  </a:lnTo>
                  <a:lnTo>
                    <a:pt x="1071" y="3201169"/>
                  </a:lnTo>
                  <a:lnTo>
                    <a:pt x="2665" y="3250275"/>
                  </a:lnTo>
                  <a:lnTo>
                    <a:pt x="4970" y="3299466"/>
                  </a:lnTo>
                  <a:lnTo>
                    <a:pt x="7988" y="3348736"/>
                  </a:lnTo>
                </a:path>
              </a:pathLst>
            </a:custGeom>
            <a:ln w="126999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153399" y="4610100"/>
              <a:ext cx="873760" cy="848994"/>
            </a:xfrm>
            <a:custGeom>
              <a:avLst/>
              <a:gdLst/>
              <a:ahLst/>
              <a:cxnLst/>
              <a:rect l="l" t="t" r="r" b="b"/>
              <a:pathLst>
                <a:path w="873759" h="848995">
                  <a:moveTo>
                    <a:pt x="436625" y="0"/>
                  </a:moveTo>
                  <a:lnTo>
                    <a:pt x="389045" y="2490"/>
                  </a:lnTo>
                  <a:lnTo>
                    <a:pt x="342950" y="9787"/>
                  </a:lnTo>
                  <a:lnTo>
                    <a:pt x="298606" y="21634"/>
                  </a:lnTo>
                  <a:lnTo>
                    <a:pt x="256280" y="37771"/>
                  </a:lnTo>
                  <a:lnTo>
                    <a:pt x="216238" y="57940"/>
                  </a:lnTo>
                  <a:lnTo>
                    <a:pt x="178746" y="81881"/>
                  </a:lnTo>
                  <a:lnTo>
                    <a:pt x="144071" y="109336"/>
                  </a:lnTo>
                  <a:lnTo>
                    <a:pt x="112478" y="140047"/>
                  </a:lnTo>
                  <a:lnTo>
                    <a:pt x="84234" y="173754"/>
                  </a:lnTo>
                  <a:lnTo>
                    <a:pt x="59605" y="210199"/>
                  </a:lnTo>
                  <a:lnTo>
                    <a:pt x="38857" y="249122"/>
                  </a:lnTo>
                  <a:lnTo>
                    <a:pt x="22256" y="290267"/>
                  </a:lnTo>
                  <a:lnTo>
                    <a:pt x="10069" y="333372"/>
                  </a:lnTo>
                  <a:lnTo>
                    <a:pt x="2561" y="378181"/>
                  </a:lnTo>
                  <a:lnTo>
                    <a:pt x="0" y="424433"/>
                  </a:lnTo>
                  <a:lnTo>
                    <a:pt x="2561" y="470686"/>
                  </a:lnTo>
                  <a:lnTo>
                    <a:pt x="10069" y="515495"/>
                  </a:lnTo>
                  <a:lnTo>
                    <a:pt x="22256" y="558600"/>
                  </a:lnTo>
                  <a:lnTo>
                    <a:pt x="38857" y="599745"/>
                  </a:lnTo>
                  <a:lnTo>
                    <a:pt x="59605" y="638668"/>
                  </a:lnTo>
                  <a:lnTo>
                    <a:pt x="84234" y="675113"/>
                  </a:lnTo>
                  <a:lnTo>
                    <a:pt x="112478" y="708820"/>
                  </a:lnTo>
                  <a:lnTo>
                    <a:pt x="144071" y="739531"/>
                  </a:lnTo>
                  <a:lnTo>
                    <a:pt x="178746" y="766986"/>
                  </a:lnTo>
                  <a:lnTo>
                    <a:pt x="216238" y="790927"/>
                  </a:lnTo>
                  <a:lnTo>
                    <a:pt x="256280" y="811096"/>
                  </a:lnTo>
                  <a:lnTo>
                    <a:pt x="298606" y="827233"/>
                  </a:lnTo>
                  <a:lnTo>
                    <a:pt x="342950" y="839080"/>
                  </a:lnTo>
                  <a:lnTo>
                    <a:pt x="389045" y="846377"/>
                  </a:lnTo>
                  <a:lnTo>
                    <a:pt x="436625" y="848868"/>
                  </a:lnTo>
                  <a:lnTo>
                    <a:pt x="484206" y="846377"/>
                  </a:lnTo>
                  <a:lnTo>
                    <a:pt x="530301" y="839080"/>
                  </a:lnTo>
                  <a:lnTo>
                    <a:pt x="574645" y="827233"/>
                  </a:lnTo>
                  <a:lnTo>
                    <a:pt x="616971" y="811096"/>
                  </a:lnTo>
                  <a:lnTo>
                    <a:pt x="657013" y="790927"/>
                  </a:lnTo>
                  <a:lnTo>
                    <a:pt x="694505" y="766986"/>
                  </a:lnTo>
                  <a:lnTo>
                    <a:pt x="729180" y="739531"/>
                  </a:lnTo>
                  <a:lnTo>
                    <a:pt x="760773" y="708820"/>
                  </a:lnTo>
                  <a:lnTo>
                    <a:pt x="789017" y="675113"/>
                  </a:lnTo>
                  <a:lnTo>
                    <a:pt x="813646" y="638668"/>
                  </a:lnTo>
                  <a:lnTo>
                    <a:pt x="834394" y="599745"/>
                  </a:lnTo>
                  <a:lnTo>
                    <a:pt x="850995" y="558600"/>
                  </a:lnTo>
                  <a:lnTo>
                    <a:pt x="863182" y="515495"/>
                  </a:lnTo>
                  <a:lnTo>
                    <a:pt x="870690" y="470686"/>
                  </a:lnTo>
                  <a:lnTo>
                    <a:pt x="873251" y="424433"/>
                  </a:lnTo>
                  <a:lnTo>
                    <a:pt x="870690" y="378181"/>
                  </a:lnTo>
                  <a:lnTo>
                    <a:pt x="863182" y="333372"/>
                  </a:lnTo>
                  <a:lnTo>
                    <a:pt x="850995" y="290267"/>
                  </a:lnTo>
                  <a:lnTo>
                    <a:pt x="834394" y="249122"/>
                  </a:lnTo>
                  <a:lnTo>
                    <a:pt x="813646" y="210199"/>
                  </a:lnTo>
                  <a:lnTo>
                    <a:pt x="789017" y="173754"/>
                  </a:lnTo>
                  <a:lnTo>
                    <a:pt x="760773" y="140047"/>
                  </a:lnTo>
                  <a:lnTo>
                    <a:pt x="729180" y="109336"/>
                  </a:lnTo>
                  <a:lnTo>
                    <a:pt x="694505" y="81881"/>
                  </a:lnTo>
                  <a:lnTo>
                    <a:pt x="657013" y="57940"/>
                  </a:lnTo>
                  <a:lnTo>
                    <a:pt x="616971" y="37771"/>
                  </a:lnTo>
                  <a:lnTo>
                    <a:pt x="574645" y="21634"/>
                  </a:lnTo>
                  <a:lnTo>
                    <a:pt x="530301" y="9787"/>
                  </a:lnTo>
                  <a:lnTo>
                    <a:pt x="484206" y="2490"/>
                  </a:lnTo>
                  <a:lnTo>
                    <a:pt x="43662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1689100"/>
          </a:xfrm>
          <a:custGeom>
            <a:avLst/>
            <a:gdLst/>
            <a:ahLst/>
            <a:cxnLst/>
            <a:rect l="l" t="t" r="r" b="b"/>
            <a:pathLst>
              <a:path w="12192000" h="1689100">
                <a:moveTo>
                  <a:pt x="0" y="1688591"/>
                </a:moveTo>
                <a:lnTo>
                  <a:pt x="12192000" y="1688591"/>
                </a:lnTo>
                <a:lnTo>
                  <a:pt x="12192000" y="0"/>
                </a:lnTo>
                <a:lnTo>
                  <a:pt x="0" y="0"/>
                </a:lnTo>
                <a:lnTo>
                  <a:pt x="0" y="1688591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9875" rIns="0" bIns="0" rtlCol="0" vert="horz">
            <a:spAutoFit/>
          </a:bodyPr>
          <a:lstStyle/>
          <a:p>
            <a:pPr marL="405130">
              <a:lnSpc>
                <a:spcPct val="100000"/>
              </a:lnSpc>
              <a:spcBef>
                <a:spcPts val="95"/>
              </a:spcBef>
            </a:pPr>
            <a:r>
              <a:rPr dirty="0" sz="4000" spc="-40">
                <a:solidFill>
                  <a:srgbClr val="FFFFFF"/>
                </a:solidFill>
                <a:latin typeface="Calibri Light"/>
                <a:cs typeface="Calibri Light"/>
              </a:rPr>
              <a:t>Contents</a:t>
            </a:r>
            <a:r>
              <a:rPr dirty="0" sz="4000" spc="-15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00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dirty="0" sz="4000" spc="-13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000">
                <a:solidFill>
                  <a:srgbClr val="FFFFFF"/>
                </a:solidFill>
                <a:latin typeface="Calibri Light"/>
                <a:cs typeface="Calibri Light"/>
              </a:rPr>
              <a:t>Unit</a:t>
            </a:r>
            <a:r>
              <a:rPr dirty="0" sz="4000" spc="-15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000" spc="-25">
                <a:solidFill>
                  <a:srgbClr val="FFFFFF"/>
                </a:solidFill>
                <a:latin typeface="Calibri Light"/>
                <a:cs typeface="Calibri Light"/>
              </a:rPr>
              <a:t>3:</a:t>
            </a:r>
            <a:endParaRPr sz="4000">
              <a:latin typeface="Calibri Light"/>
              <a:cs typeface="Calibri Ligh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1688591"/>
            <a:ext cx="12192000" cy="5169535"/>
            <a:chOff x="0" y="1688591"/>
            <a:chExt cx="12192000" cy="5169535"/>
          </a:xfrm>
        </p:grpSpPr>
        <p:sp>
          <p:nvSpPr>
            <p:cNvPr id="5" name="object 5" descr=""/>
            <p:cNvSpPr/>
            <p:nvPr/>
          </p:nvSpPr>
          <p:spPr>
            <a:xfrm>
              <a:off x="0" y="1688591"/>
              <a:ext cx="12192000" cy="5169535"/>
            </a:xfrm>
            <a:custGeom>
              <a:avLst/>
              <a:gdLst/>
              <a:ahLst/>
              <a:cxnLst/>
              <a:rect l="l" t="t" r="r" b="b"/>
              <a:pathLst>
                <a:path w="12192000" h="5169534">
                  <a:moveTo>
                    <a:pt x="12192000" y="0"/>
                  </a:moveTo>
                  <a:lnTo>
                    <a:pt x="0" y="0"/>
                  </a:lnTo>
                  <a:lnTo>
                    <a:pt x="0" y="5169408"/>
                  </a:lnTo>
                  <a:lnTo>
                    <a:pt x="12192000" y="516940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156716" y="2010156"/>
              <a:ext cx="457200" cy="45720"/>
            </a:xfrm>
            <a:custGeom>
              <a:avLst/>
              <a:gdLst/>
              <a:ahLst/>
              <a:cxnLst/>
              <a:rect l="l" t="t" r="r" b="b"/>
              <a:pathLst>
                <a:path w="457200" h="45719">
                  <a:moveTo>
                    <a:pt x="457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457200" y="4572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234541" y="2102149"/>
            <a:ext cx="9225915" cy="400812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 spc="-10">
                <a:latin typeface="Calibri"/>
                <a:cs typeface="Calibri"/>
              </a:rPr>
              <a:t>Constraints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 spc="-10">
                <a:latin typeface="Calibri"/>
                <a:cs typeface="Calibri"/>
              </a:rPr>
              <a:t>Types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constraints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Integrity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constraints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Views: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Introduction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views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independence,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security,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 spc="-10">
                <a:latin typeface="Calibri"/>
                <a:cs typeface="Calibri"/>
              </a:rPr>
              <a:t>Updates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views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Comparison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between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tables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views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35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SQL: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definition,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aggregate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function,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Null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Values,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nested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sub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queries,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dirty="0" sz="2400">
                <a:latin typeface="Calibri"/>
                <a:cs typeface="Calibri"/>
              </a:rPr>
              <a:t>Joined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relations.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Triggers.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1689100"/>
          </a:xfrm>
          <a:custGeom>
            <a:avLst/>
            <a:gdLst/>
            <a:ahLst/>
            <a:cxnLst/>
            <a:rect l="l" t="t" r="r" b="b"/>
            <a:pathLst>
              <a:path w="12192000" h="1689100">
                <a:moveTo>
                  <a:pt x="0" y="1688591"/>
                </a:moveTo>
                <a:lnTo>
                  <a:pt x="12192000" y="1688591"/>
                </a:lnTo>
                <a:lnTo>
                  <a:pt x="12192000" y="0"/>
                </a:lnTo>
                <a:lnTo>
                  <a:pt x="0" y="0"/>
                </a:lnTo>
                <a:lnTo>
                  <a:pt x="0" y="1688591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35760" y="577977"/>
            <a:ext cx="2287270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45">
                <a:solidFill>
                  <a:srgbClr val="FFFFFF"/>
                </a:solidFill>
                <a:latin typeface="Calibri Light"/>
                <a:cs typeface="Calibri Light"/>
              </a:rPr>
              <a:t>Constraints</a:t>
            </a:r>
            <a:endParaRPr sz="4000">
              <a:latin typeface="Calibri Light"/>
              <a:cs typeface="Calibri Ligh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1688591"/>
            <a:ext cx="12192000" cy="5169535"/>
            <a:chOff x="0" y="1688591"/>
            <a:chExt cx="12192000" cy="5169535"/>
          </a:xfrm>
        </p:grpSpPr>
        <p:sp>
          <p:nvSpPr>
            <p:cNvPr id="5" name="object 5" descr=""/>
            <p:cNvSpPr/>
            <p:nvPr/>
          </p:nvSpPr>
          <p:spPr>
            <a:xfrm>
              <a:off x="0" y="1688591"/>
              <a:ext cx="12192000" cy="5169535"/>
            </a:xfrm>
            <a:custGeom>
              <a:avLst/>
              <a:gdLst/>
              <a:ahLst/>
              <a:cxnLst/>
              <a:rect l="l" t="t" r="r" b="b"/>
              <a:pathLst>
                <a:path w="12192000" h="5169534">
                  <a:moveTo>
                    <a:pt x="12192000" y="0"/>
                  </a:moveTo>
                  <a:lnTo>
                    <a:pt x="0" y="0"/>
                  </a:lnTo>
                  <a:lnTo>
                    <a:pt x="0" y="5169408"/>
                  </a:lnTo>
                  <a:lnTo>
                    <a:pt x="12192000" y="516940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156716" y="2010156"/>
              <a:ext cx="457200" cy="45720"/>
            </a:xfrm>
            <a:custGeom>
              <a:avLst/>
              <a:gdLst/>
              <a:ahLst/>
              <a:cxnLst/>
              <a:rect l="l" t="t" r="r" b="b"/>
              <a:pathLst>
                <a:path w="457200" h="45719">
                  <a:moveTo>
                    <a:pt x="457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457200" y="4572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234541" y="2651886"/>
            <a:ext cx="9722485" cy="104965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algn="just" marL="12700" marR="5080">
              <a:lnSpc>
                <a:spcPts val="2590"/>
              </a:lnSpc>
              <a:spcBef>
                <a:spcPts val="425"/>
              </a:spcBef>
            </a:pPr>
            <a:r>
              <a:rPr dirty="0" sz="2400" spc="-10">
                <a:latin typeface="Calibri"/>
                <a:cs typeface="Calibri"/>
              </a:rPr>
              <a:t>Constraints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 the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rules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we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apply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type of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table.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That </a:t>
            </a:r>
            <a:r>
              <a:rPr dirty="0" sz="2400">
                <a:latin typeface="Calibri"/>
                <a:cs typeface="Calibri"/>
              </a:rPr>
              <a:t>is,</a:t>
            </a:r>
            <a:r>
              <a:rPr dirty="0" sz="2400" spc="5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we</a:t>
            </a:r>
            <a:r>
              <a:rPr dirty="0" sz="2400" spc="5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5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specify</a:t>
            </a:r>
            <a:r>
              <a:rPr dirty="0" sz="2400" spc="5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5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limit</a:t>
            </a:r>
            <a:r>
              <a:rPr dirty="0" sz="2400" spc="5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5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5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type</a:t>
            </a:r>
            <a:r>
              <a:rPr dirty="0" sz="2400" spc="5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5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5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5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5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5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stored</a:t>
            </a:r>
            <a:r>
              <a:rPr dirty="0" sz="2400" spc="5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550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a </a:t>
            </a:r>
            <a:r>
              <a:rPr dirty="0" sz="2400">
                <a:latin typeface="Calibri"/>
                <a:cs typeface="Calibri"/>
              </a:rPr>
              <a:t>particular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column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using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constraints.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1689100"/>
          </a:xfrm>
          <a:custGeom>
            <a:avLst/>
            <a:gdLst/>
            <a:ahLst/>
            <a:cxnLst/>
            <a:rect l="l" t="t" r="r" b="b"/>
            <a:pathLst>
              <a:path w="12192000" h="1689100">
                <a:moveTo>
                  <a:pt x="0" y="1688591"/>
                </a:moveTo>
                <a:lnTo>
                  <a:pt x="12192000" y="1688591"/>
                </a:lnTo>
                <a:lnTo>
                  <a:pt x="12192000" y="0"/>
                </a:lnTo>
                <a:lnTo>
                  <a:pt x="0" y="0"/>
                </a:lnTo>
                <a:lnTo>
                  <a:pt x="0" y="1688591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7307" rIns="0" bIns="0" rtlCol="0" vert="horz">
            <a:spAutoFit/>
          </a:bodyPr>
          <a:lstStyle/>
          <a:p>
            <a:pPr marL="405130">
              <a:lnSpc>
                <a:spcPct val="100000"/>
              </a:lnSpc>
              <a:spcBef>
                <a:spcPts val="95"/>
              </a:spcBef>
            </a:pPr>
            <a:r>
              <a:rPr dirty="0" sz="2800" spc="-40">
                <a:solidFill>
                  <a:srgbClr val="FFFFFF"/>
                </a:solidFill>
                <a:latin typeface="Calibri Light"/>
                <a:cs typeface="Calibri Light"/>
              </a:rPr>
              <a:t>Types</a:t>
            </a:r>
            <a:r>
              <a:rPr dirty="0" sz="2800" spc="-11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dirty="0" sz="2800" spc="-85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Calibri Light"/>
                <a:cs typeface="Calibri Light"/>
              </a:rPr>
              <a:t>constraints</a:t>
            </a:r>
            <a:endParaRPr sz="2800">
              <a:latin typeface="Calibri Light"/>
              <a:cs typeface="Calibri Ligh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1688591"/>
            <a:ext cx="12192000" cy="5169535"/>
            <a:chOff x="0" y="1688591"/>
            <a:chExt cx="12192000" cy="5169535"/>
          </a:xfrm>
        </p:grpSpPr>
        <p:sp>
          <p:nvSpPr>
            <p:cNvPr id="5" name="object 5" descr=""/>
            <p:cNvSpPr/>
            <p:nvPr/>
          </p:nvSpPr>
          <p:spPr>
            <a:xfrm>
              <a:off x="0" y="1688591"/>
              <a:ext cx="12192000" cy="5169535"/>
            </a:xfrm>
            <a:custGeom>
              <a:avLst/>
              <a:gdLst/>
              <a:ahLst/>
              <a:cxnLst/>
              <a:rect l="l" t="t" r="r" b="b"/>
              <a:pathLst>
                <a:path w="12192000" h="5169534">
                  <a:moveTo>
                    <a:pt x="12192000" y="0"/>
                  </a:moveTo>
                  <a:lnTo>
                    <a:pt x="0" y="0"/>
                  </a:lnTo>
                  <a:lnTo>
                    <a:pt x="0" y="5169408"/>
                  </a:lnTo>
                  <a:lnTo>
                    <a:pt x="12192000" y="516940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156716" y="2010156"/>
              <a:ext cx="457200" cy="45720"/>
            </a:xfrm>
            <a:custGeom>
              <a:avLst/>
              <a:gdLst/>
              <a:ahLst/>
              <a:cxnLst/>
              <a:rect l="l" t="t" r="r" b="b"/>
              <a:pathLst>
                <a:path w="457200" h="45719">
                  <a:moveTo>
                    <a:pt x="457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457200" y="4572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234541" y="2222957"/>
            <a:ext cx="9726295" cy="4102735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algn="just" marL="12700" marR="5080">
              <a:lnSpc>
                <a:spcPct val="80000"/>
              </a:lnSpc>
              <a:spcBef>
                <a:spcPts val="730"/>
              </a:spcBef>
            </a:pPr>
            <a:r>
              <a:rPr dirty="0" sz="2600" b="1">
                <a:latin typeface="Calibri"/>
                <a:cs typeface="Calibri"/>
              </a:rPr>
              <a:t>NOT</a:t>
            </a:r>
            <a:r>
              <a:rPr dirty="0" sz="2600" spc="270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NULL</a:t>
            </a:r>
            <a:r>
              <a:rPr dirty="0" sz="2600">
                <a:latin typeface="Calibri"/>
                <a:cs typeface="Calibri"/>
              </a:rPr>
              <a:t>:</a:t>
            </a:r>
            <a:r>
              <a:rPr dirty="0" sz="2600" spc="2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2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constraint</a:t>
            </a:r>
            <a:r>
              <a:rPr dirty="0" sz="2600" spc="2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tells</a:t>
            </a:r>
            <a:r>
              <a:rPr dirty="0" sz="2600" spc="2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2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we</a:t>
            </a:r>
            <a:r>
              <a:rPr dirty="0" sz="2600" spc="2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cannot</a:t>
            </a:r>
            <a:r>
              <a:rPr dirty="0" sz="2600" spc="2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store</a:t>
            </a:r>
            <a:r>
              <a:rPr dirty="0" sz="2600" spc="2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2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null</a:t>
            </a:r>
            <a:r>
              <a:rPr dirty="0" sz="2600" spc="2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value</a:t>
            </a:r>
            <a:r>
              <a:rPr dirty="0" sz="2600" spc="2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275">
                <a:latin typeface="Calibri"/>
                <a:cs typeface="Calibri"/>
              </a:rPr>
              <a:t> </a:t>
            </a:r>
            <a:r>
              <a:rPr dirty="0" sz="2600" spc="-50">
                <a:latin typeface="Calibri"/>
                <a:cs typeface="Calibri"/>
              </a:rPr>
              <a:t>a </a:t>
            </a:r>
            <a:r>
              <a:rPr dirty="0" sz="2600">
                <a:latin typeface="Calibri"/>
                <a:cs typeface="Calibri"/>
              </a:rPr>
              <a:t>column.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is,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column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specified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as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NOT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NULL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then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we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will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not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be </a:t>
            </a:r>
            <a:r>
              <a:rPr dirty="0" sz="2600">
                <a:latin typeface="Calibri"/>
                <a:cs typeface="Calibri"/>
              </a:rPr>
              <a:t>able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store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null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particular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column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anymore.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2600">
              <a:latin typeface="Calibri"/>
              <a:cs typeface="Calibri"/>
            </a:endParaRPr>
          </a:p>
          <a:p>
            <a:pPr algn="just" marL="12700" marR="6350">
              <a:lnSpc>
                <a:spcPct val="80000"/>
              </a:lnSpc>
            </a:pPr>
            <a:r>
              <a:rPr dirty="0" sz="2600" b="1">
                <a:latin typeface="Calibri"/>
                <a:cs typeface="Calibri"/>
              </a:rPr>
              <a:t>UNIQUE</a:t>
            </a:r>
            <a:r>
              <a:rPr dirty="0" sz="2600">
                <a:latin typeface="Calibri"/>
                <a:cs typeface="Calibri"/>
              </a:rPr>
              <a:t>: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constraint</a:t>
            </a:r>
            <a:r>
              <a:rPr dirty="0" sz="2600" spc="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when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specified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column,</a:t>
            </a:r>
            <a:r>
              <a:rPr dirty="0" sz="2600" spc="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tells</a:t>
            </a:r>
            <a:r>
              <a:rPr dirty="0" sz="2600" spc="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all</a:t>
            </a:r>
            <a:r>
              <a:rPr dirty="0" sz="2600" spc="4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values</a:t>
            </a:r>
            <a:r>
              <a:rPr dirty="0" sz="2600" spc="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column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must</a:t>
            </a:r>
            <a:r>
              <a:rPr dirty="0" sz="2600" spc="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unique.</a:t>
            </a:r>
            <a:r>
              <a:rPr dirty="0" sz="2600" spc="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is,</a:t>
            </a:r>
            <a:r>
              <a:rPr dirty="0" sz="2600" spc="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values</a:t>
            </a:r>
            <a:r>
              <a:rPr dirty="0" sz="2600" spc="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any</a:t>
            </a:r>
            <a:r>
              <a:rPr dirty="0" sz="2600" spc="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row</a:t>
            </a:r>
            <a:r>
              <a:rPr dirty="0" sz="2600" spc="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45">
                <a:latin typeface="Calibri"/>
                <a:cs typeface="Calibri"/>
              </a:rPr>
              <a:t> </a:t>
            </a:r>
            <a:r>
              <a:rPr dirty="0" sz="2600" spc="-50">
                <a:latin typeface="Calibri"/>
                <a:cs typeface="Calibri"/>
              </a:rPr>
              <a:t>a </a:t>
            </a:r>
            <a:r>
              <a:rPr dirty="0" sz="2600">
                <a:latin typeface="Calibri"/>
                <a:cs typeface="Calibri"/>
              </a:rPr>
              <a:t>column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must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not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repeated.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2600">
              <a:latin typeface="Calibri"/>
              <a:cs typeface="Calibri"/>
            </a:endParaRPr>
          </a:p>
          <a:p>
            <a:pPr algn="just" marL="12700" marR="6350">
              <a:lnSpc>
                <a:spcPct val="80000"/>
              </a:lnSpc>
            </a:pPr>
            <a:r>
              <a:rPr dirty="0" sz="2600" b="1">
                <a:latin typeface="Calibri"/>
                <a:cs typeface="Calibri"/>
              </a:rPr>
              <a:t>PRIMARY</a:t>
            </a:r>
            <a:r>
              <a:rPr dirty="0" sz="2600" spc="70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KEY</a:t>
            </a:r>
            <a:r>
              <a:rPr dirty="0" sz="2600">
                <a:latin typeface="Calibri"/>
                <a:cs typeface="Calibri"/>
              </a:rPr>
              <a:t>: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primary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key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field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which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uniquely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identify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each </a:t>
            </a:r>
            <a:r>
              <a:rPr dirty="0" sz="2600">
                <a:latin typeface="Calibri"/>
                <a:cs typeface="Calibri"/>
              </a:rPr>
              <a:t>row</a:t>
            </a:r>
            <a:r>
              <a:rPr dirty="0" sz="2600" spc="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table.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constraint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used</a:t>
            </a:r>
            <a:r>
              <a:rPr dirty="0" sz="2600" spc="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specify</a:t>
            </a:r>
            <a:r>
              <a:rPr dirty="0" sz="2600" spc="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field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table</a:t>
            </a:r>
            <a:r>
              <a:rPr dirty="0" sz="2600" spc="9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as </a:t>
            </a:r>
            <a:r>
              <a:rPr dirty="0" sz="2600">
                <a:latin typeface="Calibri"/>
                <a:cs typeface="Calibri"/>
              </a:rPr>
              <a:t>primary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key.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1689100"/>
          </a:xfrm>
          <a:custGeom>
            <a:avLst/>
            <a:gdLst/>
            <a:ahLst/>
            <a:cxnLst/>
            <a:rect l="l" t="t" r="r" b="b"/>
            <a:pathLst>
              <a:path w="12192000" h="1689100">
                <a:moveTo>
                  <a:pt x="0" y="1688591"/>
                </a:moveTo>
                <a:lnTo>
                  <a:pt x="12192000" y="1688591"/>
                </a:lnTo>
                <a:lnTo>
                  <a:pt x="12192000" y="0"/>
                </a:lnTo>
                <a:lnTo>
                  <a:pt x="0" y="0"/>
                </a:lnTo>
                <a:lnTo>
                  <a:pt x="0" y="1688591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7307" rIns="0" bIns="0" rtlCol="0" vert="horz">
            <a:spAutoFit/>
          </a:bodyPr>
          <a:lstStyle/>
          <a:p>
            <a:pPr marL="405130">
              <a:lnSpc>
                <a:spcPct val="100000"/>
              </a:lnSpc>
              <a:spcBef>
                <a:spcPts val="95"/>
              </a:spcBef>
            </a:pPr>
            <a:r>
              <a:rPr dirty="0" sz="2800" spc="-40">
                <a:solidFill>
                  <a:srgbClr val="FFFFFF"/>
                </a:solidFill>
                <a:latin typeface="Calibri Light"/>
                <a:cs typeface="Calibri Light"/>
              </a:rPr>
              <a:t>Types</a:t>
            </a:r>
            <a:r>
              <a:rPr dirty="0" sz="2800" spc="-95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dirty="0" sz="2800" spc="-6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800" spc="-35">
                <a:solidFill>
                  <a:srgbClr val="FFFFFF"/>
                </a:solidFill>
                <a:latin typeface="Calibri Light"/>
                <a:cs typeface="Calibri Light"/>
              </a:rPr>
              <a:t>constraints</a:t>
            </a:r>
            <a:r>
              <a:rPr dirty="0" sz="2800" spc="-95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 Light"/>
                <a:cs typeface="Calibri Light"/>
              </a:rPr>
              <a:t>Contd..</a:t>
            </a:r>
            <a:endParaRPr sz="2800">
              <a:latin typeface="Calibri Light"/>
              <a:cs typeface="Calibri Ligh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1688591"/>
            <a:ext cx="12192000" cy="5169535"/>
            <a:chOff x="0" y="1688591"/>
            <a:chExt cx="12192000" cy="5169535"/>
          </a:xfrm>
        </p:grpSpPr>
        <p:sp>
          <p:nvSpPr>
            <p:cNvPr id="5" name="object 5" descr=""/>
            <p:cNvSpPr/>
            <p:nvPr/>
          </p:nvSpPr>
          <p:spPr>
            <a:xfrm>
              <a:off x="0" y="1688591"/>
              <a:ext cx="12192000" cy="5169535"/>
            </a:xfrm>
            <a:custGeom>
              <a:avLst/>
              <a:gdLst/>
              <a:ahLst/>
              <a:cxnLst/>
              <a:rect l="l" t="t" r="r" b="b"/>
              <a:pathLst>
                <a:path w="12192000" h="5169534">
                  <a:moveTo>
                    <a:pt x="12192000" y="0"/>
                  </a:moveTo>
                  <a:lnTo>
                    <a:pt x="0" y="0"/>
                  </a:lnTo>
                  <a:lnTo>
                    <a:pt x="0" y="5169408"/>
                  </a:lnTo>
                  <a:lnTo>
                    <a:pt x="12192000" y="516940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156716" y="2010156"/>
              <a:ext cx="457200" cy="45720"/>
            </a:xfrm>
            <a:custGeom>
              <a:avLst/>
              <a:gdLst/>
              <a:ahLst/>
              <a:cxnLst/>
              <a:rect l="l" t="t" r="r" b="b"/>
              <a:pathLst>
                <a:path w="457200" h="45719">
                  <a:moveTo>
                    <a:pt x="457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457200" y="4572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234541" y="2241245"/>
            <a:ext cx="10337165" cy="403479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algn="just" marL="12700" marR="5080">
              <a:lnSpc>
                <a:spcPct val="80000"/>
              </a:lnSpc>
              <a:spcBef>
                <a:spcPts val="770"/>
              </a:spcBef>
            </a:pPr>
            <a:r>
              <a:rPr dirty="0" sz="2800" b="1">
                <a:latin typeface="Calibri"/>
                <a:cs typeface="Calibri"/>
              </a:rPr>
              <a:t>FOREIGN</a:t>
            </a:r>
            <a:r>
              <a:rPr dirty="0" sz="2800" spc="6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KEY</a:t>
            </a:r>
            <a:r>
              <a:rPr dirty="0" sz="2800">
                <a:latin typeface="Calibri"/>
                <a:cs typeface="Calibri"/>
              </a:rPr>
              <a:t>: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Foreign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key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field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which</a:t>
            </a:r>
            <a:r>
              <a:rPr dirty="0" sz="2800" spc="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uniquely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identify</a:t>
            </a:r>
            <a:r>
              <a:rPr dirty="0" sz="2800" spc="5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each </a:t>
            </a:r>
            <a:r>
              <a:rPr dirty="0" sz="2800">
                <a:latin typeface="Calibri"/>
                <a:cs typeface="Calibri"/>
              </a:rPr>
              <a:t>row</a:t>
            </a:r>
            <a:r>
              <a:rPr dirty="0" sz="2800" spc="2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2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another</a:t>
            </a:r>
            <a:r>
              <a:rPr dirty="0" sz="2800" spc="2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table.</a:t>
            </a:r>
            <a:r>
              <a:rPr dirty="0" sz="2800" spc="2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2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2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constraint</a:t>
            </a:r>
            <a:r>
              <a:rPr dirty="0" sz="2800" spc="2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3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used</a:t>
            </a:r>
            <a:r>
              <a:rPr dirty="0" sz="2800" spc="2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2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specify</a:t>
            </a:r>
            <a:r>
              <a:rPr dirty="0" sz="2800" spc="2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2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field</a:t>
            </a:r>
            <a:r>
              <a:rPr dirty="0" sz="2800" spc="28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as </a:t>
            </a:r>
            <a:r>
              <a:rPr dirty="0" sz="2800">
                <a:latin typeface="Calibri"/>
                <a:cs typeface="Calibri"/>
              </a:rPr>
              <a:t>Foreign</a:t>
            </a:r>
            <a:r>
              <a:rPr dirty="0" sz="2800" spc="-14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key.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2800">
              <a:latin typeface="Calibri"/>
              <a:cs typeface="Calibri"/>
            </a:endParaRPr>
          </a:p>
          <a:p>
            <a:pPr algn="just" marL="12700" marR="6350">
              <a:lnSpc>
                <a:spcPts val="2690"/>
              </a:lnSpc>
            </a:pPr>
            <a:r>
              <a:rPr dirty="0" sz="2800" b="1">
                <a:latin typeface="Calibri"/>
                <a:cs typeface="Calibri"/>
              </a:rPr>
              <a:t>CHECK</a:t>
            </a:r>
            <a:r>
              <a:rPr dirty="0" sz="2800">
                <a:latin typeface="Calibri"/>
                <a:cs typeface="Calibri"/>
              </a:rPr>
              <a:t>: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constraint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helps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validate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values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column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meet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1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particular</a:t>
            </a:r>
            <a:r>
              <a:rPr dirty="0" sz="2800" spc="1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condition.</a:t>
            </a:r>
            <a:r>
              <a:rPr dirty="0" sz="2800" spc="1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1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is,</a:t>
            </a:r>
            <a:r>
              <a:rPr dirty="0" sz="2800" spc="1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1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helps</a:t>
            </a:r>
            <a:r>
              <a:rPr dirty="0" sz="2800" spc="1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1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ensure</a:t>
            </a:r>
            <a:r>
              <a:rPr dirty="0" sz="2800" spc="1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1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value</a:t>
            </a:r>
            <a:r>
              <a:rPr dirty="0" sz="2800" spc="1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stored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column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meets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specific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condition.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800">
              <a:latin typeface="Calibri"/>
              <a:cs typeface="Calibri"/>
            </a:endParaRPr>
          </a:p>
          <a:p>
            <a:pPr algn="just" marL="12700" marR="9525">
              <a:lnSpc>
                <a:spcPts val="2690"/>
              </a:lnSpc>
            </a:pPr>
            <a:r>
              <a:rPr dirty="0" sz="2800" spc="-35" b="1">
                <a:latin typeface="Calibri"/>
                <a:cs typeface="Calibri"/>
              </a:rPr>
              <a:t>DEFAULT</a:t>
            </a:r>
            <a:r>
              <a:rPr dirty="0" sz="2800" spc="-35">
                <a:latin typeface="Calibri"/>
                <a:cs typeface="Calibri"/>
              </a:rPr>
              <a:t>: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constraint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specifies a default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value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column </a:t>
            </a:r>
            <a:r>
              <a:rPr dirty="0" sz="2800" spc="-20">
                <a:latin typeface="Calibri"/>
                <a:cs typeface="Calibri"/>
              </a:rPr>
              <a:t>when </a:t>
            </a:r>
            <a:r>
              <a:rPr dirty="0" sz="2800">
                <a:latin typeface="Calibri"/>
                <a:cs typeface="Calibri"/>
              </a:rPr>
              <a:t>no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value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specified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by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user.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5233" y="282651"/>
            <a:ext cx="151511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28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</a:t>
            </a:r>
            <a:r>
              <a:rPr dirty="0" u="sng" sz="2800" spc="-1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80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NULL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75233" y="1065021"/>
            <a:ext cx="11015345" cy="484314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12700" marR="6350">
              <a:lnSpc>
                <a:spcPct val="70000"/>
              </a:lnSpc>
              <a:spcBef>
                <a:spcPts val="825"/>
              </a:spcBef>
            </a:pP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specify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field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NULL.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Then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field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never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accept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null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value.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is,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will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allowed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insert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new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row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without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specifying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value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field.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039"/>
              </a:lnSpc>
              <a:spcBef>
                <a:spcPts val="275"/>
              </a:spcBef>
            </a:pP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example,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below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query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creates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Employee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field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SALARY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NULL.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are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039"/>
              </a:lnSpc>
            </a:pPr>
            <a:r>
              <a:rPr dirty="0" sz="2000">
                <a:latin typeface="Calibri"/>
                <a:cs typeface="Calibri"/>
              </a:rPr>
              <a:t>bound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specify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values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field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every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time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wish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insert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new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row.</a:t>
            </a:r>
            <a:endParaRPr sz="2000">
              <a:latin typeface="Calibri"/>
              <a:cs typeface="Calibri"/>
            </a:endParaRPr>
          </a:p>
          <a:p>
            <a:pPr marL="12700" marR="3308350">
              <a:lnSpc>
                <a:spcPct val="223000"/>
              </a:lnSpc>
              <a:spcBef>
                <a:spcPts val="15"/>
              </a:spcBef>
            </a:pPr>
            <a:r>
              <a:rPr dirty="0" sz="2000" spc="-10">
                <a:latin typeface="Calibri"/>
                <a:cs typeface="Calibri"/>
              </a:rPr>
              <a:t>create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emp(eid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number(10),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esal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number(5)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null,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eadd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char(10)); </a:t>
            </a:r>
            <a:r>
              <a:rPr dirty="0" sz="2000">
                <a:latin typeface="Calibri"/>
                <a:cs typeface="Calibri"/>
              </a:rPr>
              <a:t>insert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emp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values(2,15000,null);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Calibri"/>
                <a:cs typeface="Calibri"/>
              </a:rPr>
              <a:t>insert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emp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values(null,15000,'wadala’);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insert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emp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values(2,null,'vashi’);//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can’t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execute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Select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*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emp;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0" y="5410200"/>
            <a:ext cx="7335011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1751" y="67767"/>
            <a:ext cx="1800225" cy="6515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41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UNIQUE</a:t>
            </a:r>
            <a:endParaRPr sz="41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01751" y="1129029"/>
            <a:ext cx="10935970" cy="5120005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algn="just" marL="12700" marR="6985">
              <a:lnSpc>
                <a:spcPct val="70000"/>
              </a:lnSpc>
              <a:spcBef>
                <a:spcPts val="960"/>
              </a:spcBef>
            </a:pP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3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constraint</a:t>
            </a:r>
            <a:r>
              <a:rPr dirty="0" sz="2400" spc="3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helps</a:t>
            </a:r>
            <a:r>
              <a:rPr dirty="0" sz="2400" spc="3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3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uniquely</a:t>
            </a:r>
            <a:r>
              <a:rPr dirty="0" sz="2400" spc="3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identify</a:t>
            </a:r>
            <a:r>
              <a:rPr dirty="0" sz="2400" spc="3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each</a:t>
            </a:r>
            <a:r>
              <a:rPr dirty="0" sz="2400" spc="3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row</a:t>
            </a:r>
            <a:r>
              <a:rPr dirty="0" sz="2400" spc="3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3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3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table.</a:t>
            </a:r>
            <a:r>
              <a:rPr dirty="0" sz="2400" spc="3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i.e.</a:t>
            </a:r>
            <a:r>
              <a:rPr dirty="0" sz="2400" spc="3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3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3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particular </a:t>
            </a:r>
            <a:r>
              <a:rPr dirty="0" sz="2400">
                <a:latin typeface="Calibri"/>
                <a:cs typeface="Calibri"/>
              </a:rPr>
              <a:t>column,</a:t>
            </a:r>
            <a:r>
              <a:rPr dirty="0" sz="2400" spc="1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1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1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rows</a:t>
            </a:r>
            <a:r>
              <a:rPr dirty="0" sz="2400" spc="1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should</a:t>
            </a:r>
            <a:r>
              <a:rPr dirty="0" sz="2400" spc="1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have</a:t>
            </a:r>
            <a:r>
              <a:rPr dirty="0" sz="2400" spc="1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unique</a:t>
            </a:r>
            <a:r>
              <a:rPr dirty="0" sz="2400" spc="1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values.</a:t>
            </a:r>
            <a:r>
              <a:rPr dirty="0" sz="2400" spc="1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We</a:t>
            </a:r>
            <a:r>
              <a:rPr dirty="0" sz="2400" spc="1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1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have</a:t>
            </a:r>
            <a:r>
              <a:rPr dirty="0" sz="2400" spc="1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more</a:t>
            </a:r>
            <a:r>
              <a:rPr dirty="0" sz="2400" spc="1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than</a:t>
            </a:r>
            <a:r>
              <a:rPr dirty="0" sz="2400" spc="1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one</a:t>
            </a:r>
            <a:r>
              <a:rPr dirty="0" sz="2400" spc="1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UNIQUE </a:t>
            </a:r>
            <a:r>
              <a:rPr dirty="0" sz="2400">
                <a:latin typeface="Calibri"/>
                <a:cs typeface="Calibri"/>
              </a:rPr>
              <a:t>columns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table.</a:t>
            </a:r>
            <a:endParaRPr sz="2400">
              <a:latin typeface="Calibri"/>
              <a:cs typeface="Calibri"/>
            </a:endParaRPr>
          </a:p>
          <a:p>
            <a:pPr algn="just" marL="12700" marR="5080">
              <a:lnSpc>
                <a:spcPct val="70000"/>
              </a:lnSpc>
              <a:spcBef>
                <a:spcPts val="1000"/>
              </a:spcBef>
            </a:pP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1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example,</a:t>
            </a:r>
            <a:r>
              <a:rPr dirty="0" sz="2400" spc="1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1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below</a:t>
            </a:r>
            <a:r>
              <a:rPr dirty="0" sz="2400" spc="1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query</a:t>
            </a:r>
            <a:r>
              <a:rPr dirty="0" sz="2400" spc="1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creates</a:t>
            </a:r>
            <a:r>
              <a:rPr dirty="0" sz="2400" spc="1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1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1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Student</a:t>
            </a:r>
            <a:r>
              <a:rPr dirty="0" sz="2400" spc="1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where</a:t>
            </a:r>
            <a:r>
              <a:rPr dirty="0" sz="2400" spc="1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1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field</a:t>
            </a:r>
            <a:r>
              <a:rPr dirty="0" sz="2400" spc="1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CONTACTNO</a:t>
            </a:r>
            <a:r>
              <a:rPr dirty="0" sz="2400" spc="18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is </a:t>
            </a:r>
            <a:r>
              <a:rPr dirty="0" sz="2400">
                <a:latin typeface="Calibri"/>
                <a:cs typeface="Calibri"/>
              </a:rPr>
              <a:t>specified</a:t>
            </a:r>
            <a:r>
              <a:rPr dirty="0" sz="2400" spc="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UNIQUE.</a:t>
            </a:r>
            <a:r>
              <a:rPr dirty="0" sz="2400" spc="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i.e,</a:t>
            </a:r>
            <a:r>
              <a:rPr dirty="0" sz="2400" spc="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</a:t>
            </a:r>
            <a:r>
              <a:rPr dirty="0" sz="2400" spc="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two</a:t>
            </a:r>
            <a:r>
              <a:rPr dirty="0" sz="2400" spc="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employees</a:t>
            </a:r>
            <a:r>
              <a:rPr dirty="0" sz="2400" spc="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have</a:t>
            </a:r>
            <a:r>
              <a:rPr dirty="0" sz="2400" spc="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same</a:t>
            </a:r>
            <a:r>
              <a:rPr dirty="0" sz="2400" spc="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phone</a:t>
            </a:r>
            <a:r>
              <a:rPr dirty="0" sz="2400" spc="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number.</a:t>
            </a:r>
            <a:r>
              <a:rPr dirty="0" sz="2400" spc="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Unique constraint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detail.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ts val="2450"/>
              </a:lnSpc>
              <a:spcBef>
                <a:spcPts val="5"/>
              </a:spcBef>
            </a:pPr>
            <a:r>
              <a:rPr dirty="0" sz="2400">
                <a:latin typeface="Calibri"/>
                <a:cs typeface="Calibri"/>
              </a:rPr>
              <a:t>create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emp3(eid</a:t>
            </a:r>
            <a:r>
              <a:rPr dirty="0" sz="2400" spc="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number(10)</a:t>
            </a:r>
            <a:r>
              <a:rPr dirty="0" sz="2400" spc="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primary</a:t>
            </a:r>
            <a:r>
              <a:rPr dirty="0" sz="2400" spc="10">
                <a:latin typeface="Calibri"/>
                <a:cs typeface="Calibri"/>
              </a:rPr>
              <a:t> </a:t>
            </a:r>
            <a:r>
              <a:rPr dirty="0" sz="2400" spc="-35">
                <a:latin typeface="Calibri"/>
                <a:cs typeface="Calibri"/>
              </a:rPr>
              <a:t>key,</a:t>
            </a:r>
            <a:r>
              <a:rPr dirty="0" sz="2400">
                <a:latin typeface="Calibri"/>
                <a:cs typeface="Calibri"/>
              </a:rPr>
              <a:t> ename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char(10),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contactno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number(10)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450"/>
              </a:lnSpc>
            </a:pPr>
            <a:r>
              <a:rPr dirty="0" sz="2400" spc="-10">
                <a:latin typeface="Calibri"/>
                <a:cs typeface="Calibri"/>
              </a:rPr>
              <a:t>unique);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Calibri"/>
                <a:cs typeface="Calibri"/>
              </a:rPr>
              <a:t>insert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into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emp3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values(3,'rahul',9773494128);</a:t>
            </a:r>
            <a:endParaRPr sz="2400">
              <a:latin typeface="Calibri"/>
              <a:cs typeface="Calibri"/>
            </a:endParaRPr>
          </a:p>
          <a:p>
            <a:pPr marL="12700" marR="3371215">
              <a:lnSpc>
                <a:spcPct val="209600"/>
              </a:lnSpc>
              <a:spcBef>
                <a:spcPts val="5"/>
              </a:spcBef>
            </a:pPr>
            <a:r>
              <a:rPr dirty="0" sz="2400">
                <a:latin typeface="Calibri"/>
                <a:cs typeface="Calibri"/>
              </a:rPr>
              <a:t>insert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into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emp3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values(4,'nita',9773494128);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//can't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execute </a:t>
            </a:r>
            <a:r>
              <a:rPr dirty="0" sz="2400">
                <a:latin typeface="Calibri"/>
                <a:cs typeface="Calibri"/>
              </a:rPr>
              <a:t>select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*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emp3;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9325" y="5522195"/>
            <a:ext cx="7287359" cy="3140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304" y="122631"/>
            <a:ext cx="2845435" cy="6203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39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PRIMARY</a:t>
            </a:r>
            <a:r>
              <a:rPr dirty="0" u="sng" sz="3900" spc="-2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3900" spc="-2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KEY</a:t>
            </a:r>
            <a:endParaRPr sz="39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35304" y="764793"/>
            <a:ext cx="11095355" cy="543941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algn="just" marL="12700" marR="5080">
              <a:lnSpc>
                <a:spcPct val="80000"/>
              </a:lnSpc>
              <a:spcBef>
                <a:spcPts val="765"/>
              </a:spcBef>
            </a:pPr>
            <a:r>
              <a:rPr dirty="0" sz="2800">
                <a:latin typeface="Calibri"/>
                <a:cs typeface="Calibri"/>
              </a:rPr>
              <a:t>Primary</a:t>
            </a:r>
            <a:r>
              <a:rPr dirty="0" sz="2800" spc="3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Key</a:t>
            </a:r>
            <a:r>
              <a:rPr dirty="0" sz="2800" spc="3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3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3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field</a:t>
            </a:r>
            <a:r>
              <a:rPr dirty="0" sz="2800" spc="3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which</a:t>
            </a:r>
            <a:r>
              <a:rPr dirty="0" sz="2800" spc="3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uniquely</a:t>
            </a:r>
            <a:r>
              <a:rPr dirty="0" sz="2800" spc="3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identifies</a:t>
            </a:r>
            <a:r>
              <a:rPr dirty="0" sz="2800" spc="3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each</a:t>
            </a:r>
            <a:r>
              <a:rPr dirty="0" sz="2800" spc="3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row</a:t>
            </a:r>
            <a:r>
              <a:rPr dirty="0" sz="2800" spc="3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3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3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table.</a:t>
            </a:r>
            <a:r>
              <a:rPr dirty="0" sz="2800" spc="3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If</a:t>
            </a:r>
            <a:r>
              <a:rPr dirty="0" sz="2800" spc="315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a </a:t>
            </a:r>
            <a:r>
              <a:rPr dirty="0" sz="2800">
                <a:latin typeface="Calibri"/>
                <a:cs typeface="Calibri"/>
              </a:rPr>
              <a:t>field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 a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table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 primary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key,</a:t>
            </a:r>
            <a:r>
              <a:rPr dirty="0" sz="2800">
                <a:latin typeface="Calibri"/>
                <a:cs typeface="Calibri"/>
              </a:rPr>
              <a:t> then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 field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will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not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 able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contain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NULL </a:t>
            </a:r>
            <a:r>
              <a:rPr dirty="0" sz="2800">
                <a:latin typeface="Calibri"/>
                <a:cs typeface="Calibri"/>
              </a:rPr>
              <a:t>values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well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all</a:t>
            </a:r>
            <a:r>
              <a:rPr dirty="0" sz="2800" spc="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rows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should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have</a:t>
            </a:r>
            <a:r>
              <a:rPr dirty="0" sz="2800" spc="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unique</a:t>
            </a:r>
            <a:r>
              <a:rPr dirty="0" sz="2800" spc="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values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field.</a:t>
            </a:r>
            <a:r>
              <a:rPr dirty="0" sz="2800" spc="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So,</a:t>
            </a:r>
            <a:r>
              <a:rPr dirty="0" sz="2800" spc="9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in </a:t>
            </a:r>
            <a:r>
              <a:rPr dirty="0" sz="2800">
                <a:latin typeface="Calibri"/>
                <a:cs typeface="Calibri"/>
              </a:rPr>
              <a:t>other</a:t>
            </a:r>
            <a:r>
              <a:rPr dirty="0" sz="2800" spc="1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words</a:t>
            </a:r>
            <a:r>
              <a:rPr dirty="0" sz="2800" spc="1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we</a:t>
            </a:r>
            <a:r>
              <a:rPr dirty="0" sz="2800" spc="1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1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say</a:t>
            </a:r>
            <a:r>
              <a:rPr dirty="0" sz="2800" spc="1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1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1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1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combination</a:t>
            </a:r>
            <a:r>
              <a:rPr dirty="0" sz="2800" spc="1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1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NOT</a:t>
            </a:r>
            <a:r>
              <a:rPr dirty="0" sz="2800" spc="1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NULL</a:t>
            </a:r>
            <a:r>
              <a:rPr dirty="0" sz="2800" spc="1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1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UNIQUE constraints.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2800">
              <a:latin typeface="Calibri"/>
              <a:cs typeface="Calibri"/>
            </a:endParaRPr>
          </a:p>
          <a:p>
            <a:pPr algn="just" marL="12700" marR="5080">
              <a:lnSpc>
                <a:spcPts val="2690"/>
              </a:lnSpc>
            </a:pP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3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table</a:t>
            </a:r>
            <a:r>
              <a:rPr dirty="0" sz="2800" spc="3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3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have</a:t>
            </a:r>
            <a:r>
              <a:rPr dirty="0" sz="2800" spc="3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only</a:t>
            </a:r>
            <a:r>
              <a:rPr dirty="0" sz="2800" spc="3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one</a:t>
            </a:r>
            <a:r>
              <a:rPr dirty="0" sz="2800" spc="3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field</a:t>
            </a:r>
            <a:r>
              <a:rPr dirty="0" sz="2800" spc="3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3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primary</a:t>
            </a:r>
            <a:r>
              <a:rPr dirty="0" sz="2800" spc="3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key.</a:t>
            </a:r>
            <a:r>
              <a:rPr dirty="0" sz="2800" spc="3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Below</a:t>
            </a:r>
            <a:r>
              <a:rPr dirty="0" sz="2800" spc="3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query</a:t>
            </a:r>
            <a:r>
              <a:rPr dirty="0" sz="2800" spc="3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will</a:t>
            </a:r>
            <a:r>
              <a:rPr dirty="0" sz="2800" spc="3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create</a:t>
            </a:r>
            <a:r>
              <a:rPr dirty="0" sz="2800" spc="335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a </a:t>
            </a:r>
            <a:r>
              <a:rPr dirty="0" sz="2800">
                <a:latin typeface="Calibri"/>
                <a:cs typeface="Calibri"/>
              </a:rPr>
              <a:t>table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named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Emp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specifies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field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ID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primary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key.</a:t>
            </a:r>
            <a:endParaRPr sz="2800">
              <a:latin typeface="Calibri"/>
              <a:cs typeface="Calibri"/>
            </a:endParaRPr>
          </a:p>
          <a:p>
            <a:pPr marL="12700" marR="1964055">
              <a:lnSpc>
                <a:spcPct val="219400"/>
              </a:lnSpc>
              <a:spcBef>
                <a:spcPts val="30"/>
              </a:spcBef>
            </a:pPr>
            <a:r>
              <a:rPr dirty="0" sz="2800">
                <a:latin typeface="Calibri"/>
                <a:cs typeface="Calibri"/>
              </a:rPr>
              <a:t>create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table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Emp(eid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number(10)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primary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60">
                <a:latin typeface="Calibri"/>
                <a:cs typeface="Calibri"/>
              </a:rPr>
              <a:t>key,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esal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number(5)); </a:t>
            </a:r>
            <a:r>
              <a:rPr dirty="0" sz="2800">
                <a:latin typeface="Calibri"/>
                <a:cs typeface="Calibri"/>
              </a:rPr>
              <a:t>insert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into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Emp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values(1,25000);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  <a:tabLst>
                <a:tab pos="4671695" algn="l"/>
              </a:tabLst>
            </a:pPr>
            <a:r>
              <a:rPr dirty="0" sz="2800">
                <a:latin typeface="Calibri"/>
                <a:cs typeface="Calibri"/>
              </a:rPr>
              <a:t>insert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into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Emp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values(1,5000);</a:t>
            </a:r>
            <a:r>
              <a:rPr dirty="0" sz="2800">
                <a:latin typeface="Calibri"/>
                <a:cs typeface="Calibri"/>
              </a:rPr>
              <a:t>	//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can’t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execute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9384" y="6344372"/>
            <a:ext cx="7570519" cy="3262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5233" y="406653"/>
            <a:ext cx="25520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36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FOREIGN</a:t>
            </a:r>
            <a:r>
              <a:rPr dirty="0" u="sng" sz="3600" spc="-14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3600" spc="-2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KEY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75233" y="1433830"/>
            <a:ext cx="10816590" cy="2103755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algn="just" marL="12700" marR="5080">
              <a:lnSpc>
                <a:spcPct val="90000"/>
              </a:lnSpc>
              <a:spcBef>
                <a:spcPts val="415"/>
              </a:spcBef>
            </a:pPr>
            <a:r>
              <a:rPr dirty="0" sz="2600">
                <a:latin typeface="Calibri"/>
                <a:cs typeface="Calibri"/>
              </a:rPr>
              <a:t>Foreign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Key</a:t>
            </a:r>
            <a:r>
              <a:rPr dirty="0" sz="2600" spc="11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11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11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field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11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11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table</a:t>
            </a:r>
            <a:r>
              <a:rPr dirty="0" sz="2600" spc="11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which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uniquely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identifies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each</a:t>
            </a:r>
            <a:r>
              <a:rPr dirty="0" sz="2600" spc="11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row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114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another </a:t>
            </a:r>
            <a:r>
              <a:rPr dirty="0" sz="2600">
                <a:latin typeface="Calibri"/>
                <a:cs typeface="Calibri"/>
              </a:rPr>
              <a:t>table.</a:t>
            </a:r>
            <a:r>
              <a:rPr dirty="0" sz="2600" spc="48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4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is,</a:t>
            </a:r>
            <a:r>
              <a:rPr dirty="0" sz="2600" spc="4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48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field</a:t>
            </a:r>
            <a:r>
              <a:rPr dirty="0" sz="2600" spc="5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points</a:t>
            </a:r>
            <a:r>
              <a:rPr dirty="0" sz="2600" spc="5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4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primary</a:t>
            </a:r>
            <a:r>
              <a:rPr dirty="0" sz="2600" spc="4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key</a:t>
            </a:r>
            <a:r>
              <a:rPr dirty="0" sz="2600" spc="4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4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another</a:t>
            </a:r>
            <a:r>
              <a:rPr dirty="0" sz="2600" spc="4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table.</a:t>
            </a:r>
            <a:r>
              <a:rPr dirty="0" sz="2600" spc="4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48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usually creates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kind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link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between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tables.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600" spc="-10">
                <a:latin typeface="Calibri"/>
                <a:cs typeface="Calibri"/>
              </a:rPr>
              <a:t>Syntax: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75233" y="4083177"/>
            <a:ext cx="9698990" cy="17456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latin typeface="Calibri"/>
                <a:cs typeface="Calibri"/>
              </a:rPr>
              <a:t>create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table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dept(deptid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char(10)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primary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60">
                <a:latin typeface="Calibri"/>
                <a:cs typeface="Calibri"/>
              </a:rPr>
              <a:t>key,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deptname</a:t>
            </a:r>
            <a:r>
              <a:rPr dirty="0" sz="2600" spc="-10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char(10));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70"/>
              </a:spcBef>
            </a:pPr>
            <a:endParaRPr sz="2600">
              <a:latin typeface="Calibri"/>
              <a:cs typeface="Calibri"/>
            </a:endParaRPr>
          </a:p>
          <a:p>
            <a:pPr marL="12700" marR="5080">
              <a:lnSpc>
                <a:spcPts val="2810"/>
              </a:lnSpc>
              <a:tabLst>
                <a:tab pos="1104900" algn="l"/>
                <a:tab pos="2033270" algn="l"/>
                <a:tab pos="3395979" algn="l"/>
                <a:tab pos="5243195" algn="l"/>
                <a:tab pos="6546850" algn="l"/>
                <a:tab pos="7306945" algn="l"/>
                <a:tab pos="8480425" algn="l"/>
              </a:tabLst>
            </a:pPr>
            <a:r>
              <a:rPr dirty="0" sz="2600" spc="-10">
                <a:latin typeface="Calibri"/>
                <a:cs typeface="Calibri"/>
              </a:rPr>
              <a:t>create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table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emp(eid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number(10)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primary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key,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ename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char(10), references</a:t>
            </a:r>
            <a:r>
              <a:rPr dirty="0" sz="2600" spc="-1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dept(deptid));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597642" y="5049088"/>
            <a:ext cx="893444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-10">
                <a:latin typeface="Calibri"/>
                <a:cs typeface="Calibri"/>
              </a:rPr>
              <a:t>deptid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9186" rIns="0" bIns="0" rtlCol="0" vert="horz">
            <a:spAutoFit/>
          </a:bodyPr>
          <a:lstStyle/>
          <a:p>
            <a:pPr marL="208915">
              <a:lnSpc>
                <a:spcPct val="100000"/>
              </a:lnSpc>
              <a:spcBef>
                <a:spcPts val="100"/>
              </a:spcBef>
            </a:pPr>
            <a:r>
              <a:rPr dirty="0" u="sng" sz="36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CHECK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39774" y="1698701"/>
            <a:ext cx="10679430" cy="294449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 marR="5080">
              <a:lnSpc>
                <a:spcPts val="2810"/>
              </a:lnSpc>
              <a:spcBef>
                <a:spcPts val="455"/>
              </a:spcBef>
            </a:pPr>
            <a:r>
              <a:rPr dirty="0" sz="2600">
                <a:latin typeface="Calibri"/>
                <a:cs typeface="Calibri"/>
              </a:rPr>
              <a:t>Using</a:t>
            </a:r>
            <a:r>
              <a:rPr dirty="0" sz="2600" spc="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CHECK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constraint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we</a:t>
            </a:r>
            <a:r>
              <a:rPr dirty="0" sz="2600" spc="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specify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condition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field, which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should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satisfied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at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time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entering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values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field.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example,</a:t>
            </a:r>
            <a:endParaRPr sz="2600">
              <a:latin typeface="Calibri"/>
              <a:cs typeface="Calibri"/>
            </a:endParaRPr>
          </a:p>
          <a:p>
            <a:pPr marL="469265" marR="5715" indent="-457200">
              <a:lnSpc>
                <a:spcPts val="2810"/>
              </a:lnSpc>
              <a:spcBef>
                <a:spcPts val="1035"/>
              </a:spcBef>
              <a:buAutoNum type="arabicPeriod"/>
              <a:tabLst>
                <a:tab pos="469265" algn="l"/>
              </a:tabLst>
            </a:pPr>
            <a:r>
              <a:rPr dirty="0" sz="2600">
                <a:latin typeface="Calibri"/>
                <a:cs typeface="Calibri"/>
              </a:rPr>
              <a:t>create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table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e(eid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primary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key,ename </a:t>
            </a:r>
            <a:r>
              <a:rPr dirty="0" sz="2600">
                <a:latin typeface="Calibri"/>
                <a:cs typeface="Calibri"/>
              </a:rPr>
              <a:t>char(20),esal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int,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check(ename</a:t>
            </a:r>
            <a:r>
              <a:rPr dirty="0" sz="2600" spc="-20">
                <a:latin typeface="Calibri"/>
                <a:cs typeface="Calibri"/>
              </a:rPr>
              <a:t> like </a:t>
            </a:r>
            <a:r>
              <a:rPr dirty="0" sz="2600" spc="-10">
                <a:latin typeface="Calibri"/>
                <a:cs typeface="Calibri"/>
              </a:rPr>
              <a:t>'p%’));</a:t>
            </a:r>
            <a:endParaRPr sz="2600">
              <a:latin typeface="Calibri"/>
              <a:cs typeface="Calibri"/>
            </a:endParaRPr>
          </a:p>
          <a:p>
            <a:pPr marL="469265" indent="-456565">
              <a:lnSpc>
                <a:spcPts val="2965"/>
              </a:lnSpc>
              <a:spcBef>
                <a:spcPts val="655"/>
              </a:spcBef>
              <a:buAutoNum type="arabicPeriod"/>
              <a:tabLst>
                <a:tab pos="469265" algn="l"/>
              </a:tabLst>
            </a:pPr>
            <a:r>
              <a:rPr dirty="0" sz="2600">
                <a:latin typeface="Calibri"/>
                <a:cs typeface="Calibri"/>
              </a:rPr>
              <a:t>create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table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stud(rollno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primary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30">
                <a:latin typeface="Calibri"/>
                <a:cs typeface="Calibri"/>
              </a:rPr>
              <a:t>key,sname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char(20),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degree</a:t>
            </a:r>
            <a:endParaRPr sz="2600">
              <a:latin typeface="Calibri"/>
              <a:cs typeface="Calibri"/>
            </a:endParaRPr>
          </a:p>
          <a:p>
            <a:pPr marL="469265">
              <a:lnSpc>
                <a:spcPts val="2965"/>
              </a:lnSpc>
            </a:pPr>
            <a:r>
              <a:rPr dirty="0" sz="2600" spc="-10">
                <a:latin typeface="Calibri"/>
                <a:cs typeface="Calibri"/>
              </a:rPr>
              <a:t>char(10),check(degree</a:t>
            </a:r>
            <a:r>
              <a:rPr dirty="0" sz="2600" spc="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in('MBA','MCA','MSC’)));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7892" y="209499"/>
            <a:ext cx="1675764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3600" spc="-7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DEFAULT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67892" y="1365250"/>
            <a:ext cx="10833100" cy="492569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algn="just" marL="12700" marR="5080">
              <a:lnSpc>
                <a:spcPct val="80000"/>
              </a:lnSpc>
              <a:spcBef>
                <a:spcPts val="725"/>
              </a:spcBef>
            </a:pP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constraint</a:t>
            </a:r>
            <a:r>
              <a:rPr dirty="0" sz="2600" spc="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1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used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provide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default</a:t>
            </a:r>
            <a:r>
              <a:rPr dirty="0" sz="2600" spc="1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value</a:t>
            </a:r>
            <a:r>
              <a:rPr dirty="0" sz="2600" spc="11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fields.</a:t>
            </a:r>
            <a:r>
              <a:rPr dirty="0" sz="2600" spc="1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is,</a:t>
            </a:r>
            <a:r>
              <a:rPr dirty="0" sz="2600" spc="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at</a:t>
            </a:r>
            <a:r>
              <a:rPr dirty="0" sz="2600" spc="12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time</a:t>
            </a:r>
            <a:r>
              <a:rPr dirty="0" sz="2600" spc="11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entering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new</a:t>
            </a:r>
            <a:r>
              <a:rPr dirty="0" sz="2600" spc="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records</a:t>
            </a:r>
            <a:r>
              <a:rPr dirty="0" sz="2600" spc="11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1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table</a:t>
            </a:r>
            <a:r>
              <a:rPr dirty="0" sz="2600" spc="1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user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does</a:t>
            </a:r>
            <a:r>
              <a:rPr dirty="0" sz="2600" spc="11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not</a:t>
            </a:r>
            <a:r>
              <a:rPr dirty="0" sz="2600" spc="11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specify</a:t>
            </a:r>
            <a:r>
              <a:rPr dirty="0" sz="2600" spc="11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any</a:t>
            </a:r>
            <a:r>
              <a:rPr dirty="0" sz="2600" spc="114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value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these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fields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then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default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value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will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assigned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them.</a:t>
            </a:r>
            <a:endParaRPr sz="2600">
              <a:latin typeface="Calibri"/>
              <a:cs typeface="Calibri"/>
            </a:endParaRPr>
          </a:p>
          <a:p>
            <a:pPr algn="just" marL="12700" marR="5080">
              <a:lnSpc>
                <a:spcPct val="80000"/>
              </a:lnSpc>
              <a:spcBef>
                <a:spcPts val="1000"/>
              </a:spcBef>
            </a:pP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example,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below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query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will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create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table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named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Student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specify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default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value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field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AGE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as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18.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2600">
              <a:latin typeface="Calibri"/>
              <a:cs typeface="Calibri"/>
            </a:endParaRPr>
          </a:p>
          <a:p>
            <a:pPr marL="12700" marR="7724775">
              <a:lnSpc>
                <a:spcPct val="111900"/>
              </a:lnSpc>
              <a:tabLst>
                <a:tab pos="2042795" algn="l"/>
              </a:tabLst>
            </a:pPr>
            <a:r>
              <a:rPr dirty="0" sz="2600" spc="-35">
                <a:latin typeface="Calibri"/>
                <a:cs typeface="Calibri"/>
              </a:rPr>
              <a:t>CREATE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TABLE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Student </a:t>
            </a:r>
            <a:r>
              <a:rPr dirty="0" sz="2600" spc="-50">
                <a:latin typeface="Calibri"/>
                <a:cs typeface="Calibri"/>
              </a:rPr>
              <a:t>(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2600">
                <a:latin typeface="Calibri"/>
                <a:cs typeface="Calibri"/>
              </a:rPr>
              <a:t>ID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int(6)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NOT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NULL,</a:t>
            </a:r>
            <a:endParaRPr sz="2600">
              <a:latin typeface="Calibri"/>
              <a:cs typeface="Calibri"/>
            </a:endParaRPr>
          </a:p>
          <a:p>
            <a:pPr marL="12700" marR="6833870">
              <a:lnSpc>
                <a:spcPct val="112000"/>
              </a:lnSpc>
              <a:spcBef>
                <a:spcPts val="10"/>
              </a:spcBef>
            </a:pPr>
            <a:r>
              <a:rPr dirty="0" sz="2600">
                <a:latin typeface="Calibri"/>
                <a:cs typeface="Calibri"/>
              </a:rPr>
              <a:t>NAME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varchar(10)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NOT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NULL, </a:t>
            </a:r>
            <a:r>
              <a:rPr dirty="0" sz="2600">
                <a:latin typeface="Calibri"/>
                <a:cs typeface="Calibri"/>
              </a:rPr>
              <a:t>AGE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60">
                <a:latin typeface="Calibri"/>
                <a:cs typeface="Calibri"/>
              </a:rPr>
              <a:t>DEFAULT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18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2600" spc="-25">
                <a:latin typeface="Calibri"/>
                <a:cs typeface="Calibri"/>
              </a:rPr>
              <a:t>);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61" y="273558"/>
            <a:ext cx="12188825" cy="0"/>
          </a:xfrm>
          <a:custGeom>
            <a:avLst/>
            <a:gdLst/>
            <a:ahLst/>
            <a:cxnLst/>
            <a:rect l="l" t="t" r="r" b="b"/>
            <a:pathLst>
              <a:path w="12188825" h="0">
                <a:moveTo>
                  <a:pt x="0" y="0"/>
                </a:moveTo>
                <a:lnTo>
                  <a:pt x="12188825" y="0"/>
                </a:lnTo>
              </a:path>
            </a:pathLst>
          </a:custGeom>
          <a:ln w="50800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368808"/>
            <a:ext cx="12192000" cy="1736089"/>
          </a:xfrm>
          <a:custGeom>
            <a:avLst/>
            <a:gdLst/>
            <a:ahLst/>
            <a:cxnLst/>
            <a:rect l="l" t="t" r="r" b="b"/>
            <a:pathLst>
              <a:path w="12192000" h="1736089">
                <a:moveTo>
                  <a:pt x="12192000" y="0"/>
                </a:moveTo>
                <a:lnTo>
                  <a:pt x="0" y="0"/>
                </a:lnTo>
                <a:lnTo>
                  <a:pt x="0" y="1735836"/>
                </a:lnTo>
                <a:lnTo>
                  <a:pt x="12192000" y="1735836"/>
                </a:lnTo>
                <a:lnTo>
                  <a:pt x="121920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0314" rIns="0" bIns="0" rtlCol="0" vert="horz">
            <a:spAutoFit/>
          </a:bodyPr>
          <a:lstStyle/>
          <a:p>
            <a:pPr marL="136525">
              <a:lnSpc>
                <a:spcPct val="100000"/>
              </a:lnSpc>
              <a:spcBef>
                <a:spcPts val="100"/>
              </a:spcBef>
            </a:pPr>
            <a:r>
              <a:rPr dirty="0" sz="4200" spc="-20">
                <a:solidFill>
                  <a:srgbClr val="FFFFFF"/>
                </a:solidFill>
                <a:latin typeface="Calibri Light"/>
                <a:cs typeface="Calibri Light"/>
              </a:rPr>
              <a:t>Difference</a:t>
            </a:r>
            <a:r>
              <a:rPr dirty="0" sz="4200" spc="-155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200">
                <a:solidFill>
                  <a:srgbClr val="FFFFFF"/>
                </a:solidFill>
                <a:latin typeface="Calibri Light"/>
                <a:cs typeface="Calibri Light"/>
              </a:rPr>
              <a:t>between</a:t>
            </a:r>
            <a:r>
              <a:rPr dirty="0" sz="4200" spc="-135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200">
                <a:solidFill>
                  <a:srgbClr val="FFFFFF"/>
                </a:solidFill>
                <a:latin typeface="Calibri Light"/>
                <a:cs typeface="Calibri Light"/>
              </a:rPr>
              <a:t>primary</a:t>
            </a:r>
            <a:r>
              <a:rPr dirty="0" sz="4200" spc="-14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200">
                <a:solidFill>
                  <a:srgbClr val="FFFFFF"/>
                </a:solidFill>
                <a:latin typeface="Calibri Light"/>
                <a:cs typeface="Calibri Light"/>
              </a:rPr>
              <a:t>key</a:t>
            </a:r>
            <a:r>
              <a:rPr dirty="0" sz="4200" spc="-135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20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dirty="0" sz="4200" spc="-125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200" spc="-10">
                <a:solidFill>
                  <a:srgbClr val="FFFFFF"/>
                </a:solidFill>
                <a:latin typeface="Calibri Light"/>
                <a:cs typeface="Calibri Light"/>
              </a:rPr>
              <a:t>foreign</a:t>
            </a:r>
            <a:r>
              <a:rPr dirty="0" sz="4200" spc="-135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200" spc="-25">
                <a:solidFill>
                  <a:srgbClr val="FFFFFF"/>
                </a:solidFill>
                <a:latin typeface="Calibri Light"/>
                <a:cs typeface="Calibri Light"/>
              </a:rPr>
              <a:t>key</a:t>
            </a:r>
            <a:endParaRPr sz="4200">
              <a:latin typeface="Calibri Light"/>
              <a:cs typeface="Calibri Light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4725161" y="1480566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 h="0">
                <a:moveTo>
                  <a:pt x="0" y="0"/>
                </a:moveTo>
                <a:lnTo>
                  <a:pt x="2743199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61" y="2201417"/>
            <a:ext cx="12188825" cy="0"/>
          </a:xfrm>
          <a:custGeom>
            <a:avLst/>
            <a:gdLst/>
            <a:ahLst/>
            <a:cxnLst/>
            <a:rect l="l" t="t" r="r" b="b"/>
            <a:pathLst>
              <a:path w="12188825" h="0">
                <a:moveTo>
                  <a:pt x="0" y="0"/>
                </a:moveTo>
                <a:lnTo>
                  <a:pt x="12188825" y="0"/>
                </a:lnTo>
              </a:path>
            </a:pathLst>
          </a:custGeom>
          <a:ln w="50800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320040" y="2541904"/>
          <a:ext cx="11573510" cy="37293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7705"/>
                <a:gridCol w="5729605"/>
              </a:tblGrid>
              <a:tr h="506095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2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Primary</a:t>
                      </a:r>
                      <a:r>
                        <a:rPr dirty="0" sz="22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508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2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Foreign</a:t>
                      </a:r>
                      <a:r>
                        <a:rPr dirty="0" sz="2200" spc="-7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50800">
                    <a:solidFill>
                      <a:srgbClr val="000000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200">
                          <a:latin typeface="Calibri"/>
                          <a:cs typeface="Calibri"/>
                        </a:rPr>
                        <a:t>Primary</a:t>
                      </a:r>
                      <a:r>
                        <a:rPr dirty="0" sz="2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key</a:t>
                      </a:r>
                      <a:r>
                        <a:rPr dirty="0" sz="2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uniquely</a:t>
                      </a:r>
                      <a:r>
                        <a:rPr dirty="0" sz="2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identify</a:t>
                      </a:r>
                      <a:r>
                        <a:rPr dirty="0" sz="2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2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record</a:t>
                      </a:r>
                      <a:r>
                        <a:rPr dirty="0" sz="2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22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2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 spc="-10">
                          <a:latin typeface="Calibri"/>
                          <a:cs typeface="Calibri"/>
                        </a:rPr>
                        <a:t>table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60020" marR="205104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200" spc="-10">
                          <a:latin typeface="Calibri"/>
                          <a:cs typeface="Calibri"/>
                        </a:rPr>
                        <a:t>Foreign</a:t>
                      </a:r>
                      <a:r>
                        <a:rPr dirty="0" sz="22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key</a:t>
                      </a:r>
                      <a:r>
                        <a:rPr dirty="0" sz="2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2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field</a:t>
                      </a:r>
                      <a:r>
                        <a:rPr dirty="0" sz="2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2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2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table</a:t>
                      </a:r>
                      <a:r>
                        <a:rPr dirty="0" sz="2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2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2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 spc="-10">
                          <a:latin typeface="Calibri"/>
                          <a:cs typeface="Calibri"/>
                        </a:rPr>
                        <a:t>primary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key</a:t>
                      </a:r>
                      <a:r>
                        <a:rPr dirty="0" sz="2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22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another</a:t>
                      </a:r>
                      <a:r>
                        <a:rPr dirty="0" sz="22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 spc="-10">
                          <a:latin typeface="Calibri"/>
                          <a:cs typeface="Calibri"/>
                        </a:rPr>
                        <a:t>table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solidFill>
                      <a:srgbClr val="E7E7E7"/>
                    </a:solidFill>
                  </a:tcPr>
                </a:tc>
              </a:tr>
              <a:tr h="480695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200">
                          <a:latin typeface="Calibri"/>
                          <a:cs typeface="Calibri"/>
                        </a:rPr>
                        <a:t>Primary</a:t>
                      </a:r>
                      <a:r>
                        <a:rPr dirty="0" sz="2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key</a:t>
                      </a:r>
                      <a:r>
                        <a:rPr dirty="0" sz="2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can’t</a:t>
                      </a:r>
                      <a:r>
                        <a:rPr dirty="0" sz="2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accept</a:t>
                      </a:r>
                      <a:r>
                        <a:rPr dirty="0" sz="22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null</a:t>
                      </a:r>
                      <a:r>
                        <a:rPr dirty="0" sz="22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 spc="-10">
                          <a:latin typeface="Calibri"/>
                          <a:cs typeface="Calibri"/>
                        </a:rPr>
                        <a:t>values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38100"/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200" spc="-10">
                          <a:latin typeface="Calibri"/>
                          <a:cs typeface="Calibri"/>
                        </a:rPr>
                        <a:t>Foreign</a:t>
                      </a:r>
                      <a:r>
                        <a:rPr dirty="0" sz="22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key</a:t>
                      </a:r>
                      <a:r>
                        <a:rPr dirty="0" sz="2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can</a:t>
                      </a:r>
                      <a:r>
                        <a:rPr dirty="0" sz="2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accept</a:t>
                      </a:r>
                      <a:r>
                        <a:rPr dirty="0" sz="2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null</a:t>
                      </a:r>
                      <a:r>
                        <a:rPr dirty="0" sz="22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 spc="-10">
                          <a:latin typeface="Calibri"/>
                          <a:cs typeface="Calibri"/>
                        </a:rPr>
                        <a:t>values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38100"/>
                </a:tc>
              </a:tr>
              <a:tr h="1137285">
                <a:tc>
                  <a:txBody>
                    <a:bodyPr/>
                    <a:lstStyle/>
                    <a:p>
                      <a:pPr marL="109220" marR="1524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200"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2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default,</a:t>
                      </a:r>
                      <a:r>
                        <a:rPr dirty="0" sz="2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primary</a:t>
                      </a:r>
                      <a:r>
                        <a:rPr dirty="0" sz="22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key</a:t>
                      </a:r>
                      <a:r>
                        <a:rPr dirty="0" sz="22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22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 spc="-10">
                          <a:latin typeface="Calibri"/>
                          <a:cs typeface="Calibri"/>
                        </a:rPr>
                        <a:t>clustered</a:t>
                      </a:r>
                      <a:r>
                        <a:rPr dirty="0" sz="22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index</a:t>
                      </a:r>
                      <a:r>
                        <a:rPr dirty="0" sz="2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 spc="-25">
                          <a:latin typeface="Calibri"/>
                          <a:cs typeface="Calibri"/>
                        </a:rPr>
                        <a:t>and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2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2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2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database</a:t>
                      </a:r>
                      <a:r>
                        <a:rPr dirty="0" sz="22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table</a:t>
                      </a:r>
                      <a:r>
                        <a:rPr dirty="0" sz="2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22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physically</a:t>
                      </a:r>
                      <a:r>
                        <a:rPr dirty="0" sz="2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 spc="-10">
                          <a:latin typeface="Calibri"/>
                          <a:cs typeface="Calibri"/>
                        </a:rPr>
                        <a:t>organized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2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2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sequence</a:t>
                      </a:r>
                      <a:r>
                        <a:rPr dirty="0" sz="2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2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 spc="-10">
                          <a:latin typeface="Calibri"/>
                          <a:cs typeface="Calibri"/>
                        </a:rPr>
                        <a:t>clustered</a:t>
                      </a:r>
                      <a:r>
                        <a:rPr dirty="0" sz="2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 spc="-10">
                          <a:latin typeface="Calibri"/>
                          <a:cs typeface="Calibri"/>
                        </a:rPr>
                        <a:t>index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60020" marR="495934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200" spc="-10">
                          <a:latin typeface="Calibri"/>
                          <a:cs typeface="Calibri"/>
                        </a:rPr>
                        <a:t>Foreign</a:t>
                      </a:r>
                      <a:r>
                        <a:rPr dirty="0" sz="22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key</a:t>
                      </a:r>
                      <a:r>
                        <a:rPr dirty="0" sz="22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does</a:t>
                      </a:r>
                      <a:r>
                        <a:rPr dirty="0" sz="22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22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automatically</a:t>
                      </a:r>
                      <a:r>
                        <a:rPr dirty="0" sz="2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 spc="-10">
                          <a:latin typeface="Calibri"/>
                          <a:cs typeface="Calibri"/>
                        </a:rPr>
                        <a:t>create</a:t>
                      </a:r>
                      <a:r>
                        <a:rPr dirty="0" sz="22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 spc="-25">
                          <a:latin typeface="Calibri"/>
                          <a:cs typeface="Calibri"/>
                        </a:rPr>
                        <a:t>an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index,</a:t>
                      </a:r>
                      <a:r>
                        <a:rPr dirty="0" sz="22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 spc="-10">
                          <a:latin typeface="Calibri"/>
                          <a:cs typeface="Calibri"/>
                        </a:rPr>
                        <a:t>clustered</a:t>
                      </a:r>
                      <a:r>
                        <a:rPr dirty="0" sz="22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2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 spc="-10">
                          <a:latin typeface="Calibri"/>
                          <a:cs typeface="Calibri"/>
                        </a:rPr>
                        <a:t>non-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clustered.</a:t>
                      </a:r>
                      <a:r>
                        <a:rPr dirty="0" sz="2200" spc="3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 spc="-40">
                          <a:latin typeface="Calibri"/>
                          <a:cs typeface="Calibri"/>
                        </a:rPr>
                        <a:t>You</a:t>
                      </a:r>
                      <a:r>
                        <a:rPr dirty="0" sz="2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 spc="-25">
                          <a:latin typeface="Calibri"/>
                          <a:cs typeface="Calibri"/>
                        </a:rPr>
                        <a:t>can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manually</a:t>
                      </a:r>
                      <a:r>
                        <a:rPr dirty="0" sz="2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 spc="-10">
                          <a:latin typeface="Calibri"/>
                          <a:cs typeface="Calibri"/>
                        </a:rPr>
                        <a:t>create</a:t>
                      </a:r>
                      <a:r>
                        <a:rPr dirty="0" sz="2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2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index</a:t>
                      </a:r>
                      <a:r>
                        <a:rPr dirty="0" sz="2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2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 spc="-10">
                          <a:latin typeface="Calibri"/>
                          <a:cs typeface="Calibri"/>
                        </a:rPr>
                        <a:t>foreign</a:t>
                      </a:r>
                      <a:r>
                        <a:rPr dirty="0" sz="2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 spc="-20">
                          <a:latin typeface="Calibri"/>
                          <a:cs typeface="Calibri"/>
                        </a:rPr>
                        <a:t>key.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solidFill>
                      <a:srgbClr val="E7E7E7"/>
                    </a:solidFill>
                  </a:tcPr>
                </a:tc>
              </a:tr>
              <a:tr h="808990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200">
                          <a:latin typeface="Calibri"/>
                          <a:cs typeface="Calibri"/>
                        </a:rPr>
                        <a:t>We</a:t>
                      </a:r>
                      <a:r>
                        <a:rPr dirty="0" sz="2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can</a:t>
                      </a:r>
                      <a:r>
                        <a:rPr dirty="0" sz="2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have</a:t>
                      </a:r>
                      <a:r>
                        <a:rPr dirty="0" sz="2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only</a:t>
                      </a:r>
                      <a:r>
                        <a:rPr dirty="0" sz="22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one</a:t>
                      </a:r>
                      <a:r>
                        <a:rPr dirty="0" sz="2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primary</a:t>
                      </a:r>
                      <a:r>
                        <a:rPr dirty="0" sz="22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key</a:t>
                      </a:r>
                      <a:r>
                        <a:rPr dirty="0" sz="2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22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2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 spc="-10">
                          <a:latin typeface="Calibri"/>
                          <a:cs typeface="Calibri"/>
                        </a:rPr>
                        <a:t>table.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020" marR="5962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200">
                          <a:latin typeface="Calibri"/>
                          <a:cs typeface="Calibri"/>
                        </a:rPr>
                        <a:t>We</a:t>
                      </a:r>
                      <a:r>
                        <a:rPr dirty="0" sz="22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can</a:t>
                      </a:r>
                      <a:r>
                        <a:rPr dirty="0" sz="2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have</a:t>
                      </a:r>
                      <a:r>
                        <a:rPr dirty="0" sz="22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more</a:t>
                      </a:r>
                      <a:r>
                        <a:rPr dirty="0" sz="22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than</a:t>
                      </a:r>
                      <a:r>
                        <a:rPr dirty="0" sz="22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one</a:t>
                      </a:r>
                      <a:r>
                        <a:rPr dirty="0" sz="22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 spc="-10">
                          <a:latin typeface="Calibri"/>
                          <a:cs typeface="Calibri"/>
                        </a:rPr>
                        <a:t>foreign</a:t>
                      </a:r>
                      <a:r>
                        <a:rPr dirty="0" sz="22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key</a:t>
                      </a:r>
                      <a:r>
                        <a:rPr dirty="0" sz="2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22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 spc="-50">
                          <a:latin typeface="Calibri"/>
                          <a:cs typeface="Calibri"/>
                        </a:rPr>
                        <a:t>a </a:t>
                      </a:r>
                      <a:r>
                        <a:rPr dirty="0" sz="2200" spc="-10">
                          <a:latin typeface="Calibri"/>
                          <a:cs typeface="Calibri"/>
                        </a:rPr>
                        <a:t>table.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2359660"/>
          </a:xfrm>
          <a:custGeom>
            <a:avLst/>
            <a:gdLst/>
            <a:ahLst/>
            <a:cxnLst/>
            <a:rect l="l" t="t" r="r" b="b"/>
            <a:pathLst>
              <a:path w="12192000" h="2359660">
                <a:moveTo>
                  <a:pt x="12192000" y="0"/>
                </a:moveTo>
                <a:lnTo>
                  <a:pt x="0" y="0"/>
                </a:lnTo>
                <a:lnTo>
                  <a:pt x="0" y="2359152"/>
                </a:lnTo>
                <a:lnTo>
                  <a:pt x="12192000" y="2359152"/>
                </a:lnTo>
                <a:lnTo>
                  <a:pt x="1219200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5760" y="1072718"/>
            <a:ext cx="3475990" cy="5435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spc="-25">
                <a:solidFill>
                  <a:srgbClr val="FFFFFF"/>
                </a:solidFill>
                <a:latin typeface="Calibri Light"/>
                <a:cs typeface="Calibri Light"/>
              </a:rPr>
              <a:t>Integrity</a:t>
            </a:r>
            <a:r>
              <a:rPr dirty="0" sz="3400" spc="-11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3400" spc="-30">
                <a:solidFill>
                  <a:srgbClr val="FFFFFF"/>
                </a:solidFill>
                <a:latin typeface="Calibri Light"/>
                <a:cs typeface="Calibri Light"/>
              </a:rPr>
              <a:t>Constraints</a:t>
            </a:r>
            <a:endParaRPr sz="3400">
              <a:latin typeface="Calibri Light"/>
              <a:cs typeface="Calibri Ligh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2359151"/>
            <a:ext cx="12192000" cy="4498975"/>
            <a:chOff x="0" y="2359151"/>
            <a:chExt cx="12192000" cy="4498975"/>
          </a:xfrm>
        </p:grpSpPr>
        <p:sp>
          <p:nvSpPr>
            <p:cNvPr id="5" name="object 5" descr=""/>
            <p:cNvSpPr/>
            <p:nvPr/>
          </p:nvSpPr>
          <p:spPr>
            <a:xfrm>
              <a:off x="0" y="2359151"/>
              <a:ext cx="12192000" cy="4498975"/>
            </a:xfrm>
            <a:custGeom>
              <a:avLst/>
              <a:gdLst/>
              <a:ahLst/>
              <a:cxnLst/>
              <a:rect l="l" t="t" r="r" b="b"/>
              <a:pathLst>
                <a:path w="12192000" h="4498975">
                  <a:moveTo>
                    <a:pt x="12192000" y="0"/>
                  </a:moveTo>
                  <a:lnTo>
                    <a:pt x="0" y="0"/>
                  </a:lnTo>
                  <a:lnTo>
                    <a:pt x="0" y="4498847"/>
                  </a:lnTo>
                  <a:lnTo>
                    <a:pt x="12192000" y="449884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156716" y="2894075"/>
              <a:ext cx="457200" cy="45720"/>
            </a:xfrm>
            <a:custGeom>
              <a:avLst/>
              <a:gdLst/>
              <a:ahLst/>
              <a:cxnLst/>
              <a:rect l="l" t="t" r="r" b="b"/>
              <a:pathLst>
                <a:path w="457200" h="45719">
                  <a:moveTo>
                    <a:pt x="457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457200" y="4572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234541" y="3077717"/>
            <a:ext cx="9490710" cy="262128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algn="just" marL="239395" marR="42164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Integrity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constraints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rules.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maintain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quality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of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information.</a:t>
            </a:r>
            <a:endParaRPr sz="2400">
              <a:latin typeface="Calibri"/>
              <a:cs typeface="Calibri"/>
            </a:endParaRPr>
          </a:p>
          <a:p>
            <a:pPr algn="just" marL="239395" marR="486409" indent="-227329">
              <a:lnSpc>
                <a:spcPct val="9000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Integrity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constraints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ensure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insertion,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updating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other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processes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have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performed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such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way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integrity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not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affected.</a:t>
            </a:r>
            <a:endParaRPr sz="2400">
              <a:latin typeface="Calibri"/>
              <a:cs typeface="Calibri"/>
            </a:endParaRPr>
          </a:p>
          <a:p>
            <a:pPr algn="just" marL="239395" marR="5080" indent="-227329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Thus,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integrity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constraint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guard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against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accidental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damage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database.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6191" rIns="0" bIns="0" rtlCol="0" vert="horz">
            <a:spAutoFit/>
          </a:bodyPr>
          <a:lstStyle/>
          <a:p>
            <a:pPr marL="2442210">
              <a:lnSpc>
                <a:spcPct val="100000"/>
              </a:lnSpc>
              <a:spcBef>
                <a:spcPts val="95"/>
              </a:spcBef>
            </a:pPr>
            <a:r>
              <a:rPr dirty="0" sz="4000" spc="-70">
                <a:latin typeface="Calibri Light"/>
                <a:cs typeface="Calibri Light"/>
              </a:rPr>
              <a:t>Types</a:t>
            </a:r>
            <a:r>
              <a:rPr dirty="0" sz="4000" spc="-150">
                <a:latin typeface="Calibri Light"/>
                <a:cs typeface="Calibri Light"/>
              </a:rPr>
              <a:t> </a:t>
            </a:r>
            <a:r>
              <a:rPr dirty="0" sz="4000">
                <a:latin typeface="Calibri Light"/>
                <a:cs typeface="Calibri Light"/>
              </a:rPr>
              <a:t>of</a:t>
            </a:r>
            <a:r>
              <a:rPr dirty="0" sz="4000" spc="-110">
                <a:latin typeface="Calibri Light"/>
                <a:cs typeface="Calibri Light"/>
              </a:rPr>
              <a:t> </a:t>
            </a:r>
            <a:r>
              <a:rPr dirty="0" sz="4000" spc="-30">
                <a:latin typeface="Calibri Light"/>
                <a:cs typeface="Calibri Light"/>
              </a:rPr>
              <a:t>Integrity</a:t>
            </a:r>
            <a:r>
              <a:rPr dirty="0" sz="4000" spc="-160">
                <a:latin typeface="Calibri Light"/>
                <a:cs typeface="Calibri Light"/>
              </a:rPr>
              <a:t> </a:t>
            </a:r>
            <a:r>
              <a:rPr dirty="0" sz="4000" spc="-25">
                <a:latin typeface="Calibri Light"/>
                <a:cs typeface="Calibri Light"/>
              </a:rPr>
              <a:t>Constraint</a:t>
            </a:r>
            <a:endParaRPr sz="4000">
              <a:latin typeface="Calibri Light"/>
              <a:cs typeface="Calibri Ligh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2368295"/>
            <a:ext cx="12192000" cy="4490085"/>
            <a:chOff x="0" y="2368295"/>
            <a:chExt cx="12192000" cy="4490085"/>
          </a:xfrm>
        </p:grpSpPr>
        <p:sp>
          <p:nvSpPr>
            <p:cNvPr id="4" name="object 4" descr=""/>
            <p:cNvSpPr/>
            <p:nvPr/>
          </p:nvSpPr>
          <p:spPr>
            <a:xfrm>
              <a:off x="0" y="2368295"/>
              <a:ext cx="12192000" cy="4490085"/>
            </a:xfrm>
            <a:custGeom>
              <a:avLst/>
              <a:gdLst/>
              <a:ahLst/>
              <a:cxnLst/>
              <a:rect l="l" t="t" r="r" b="b"/>
              <a:pathLst>
                <a:path w="12192000" h="4490084">
                  <a:moveTo>
                    <a:pt x="12192000" y="0"/>
                  </a:moveTo>
                  <a:lnTo>
                    <a:pt x="0" y="0"/>
                  </a:lnTo>
                  <a:lnTo>
                    <a:pt x="0" y="4489704"/>
                  </a:lnTo>
                  <a:lnTo>
                    <a:pt x="12192000" y="448970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7C9C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94916" y="2587751"/>
              <a:ext cx="8197596" cy="367588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2058923" y="2633471"/>
              <a:ext cx="8074659" cy="3550920"/>
            </a:xfrm>
            <a:custGeom>
              <a:avLst/>
              <a:gdLst/>
              <a:ahLst/>
              <a:cxnLst/>
              <a:rect l="l" t="t" r="r" b="b"/>
              <a:pathLst>
                <a:path w="8074659" h="3550920">
                  <a:moveTo>
                    <a:pt x="8074152" y="0"/>
                  </a:moveTo>
                  <a:lnTo>
                    <a:pt x="0" y="0"/>
                  </a:lnTo>
                  <a:lnTo>
                    <a:pt x="0" y="3550920"/>
                  </a:lnTo>
                  <a:lnTo>
                    <a:pt x="8074152" y="3550920"/>
                  </a:lnTo>
                  <a:lnTo>
                    <a:pt x="8074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058923" y="2633471"/>
              <a:ext cx="8074659" cy="3550920"/>
            </a:xfrm>
            <a:custGeom>
              <a:avLst/>
              <a:gdLst/>
              <a:ahLst/>
              <a:cxnLst/>
              <a:rect l="l" t="t" r="r" b="b"/>
              <a:pathLst>
                <a:path w="8074659" h="3550920">
                  <a:moveTo>
                    <a:pt x="0" y="3550920"/>
                  </a:moveTo>
                  <a:lnTo>
                    <a:pt x="8074152" y="3550920"/>
                  </a:lnTo>
                  <a:lnTo>
                    <a:pt x="8074152" y="0"/>
                  </a:lnTo>
                  <a:lnTo>
                    <a:pt x="0" y="0"/>
                  </a:lnTo>
                  <a:lnTo>
                    <a:pt x="0" y="3550920"/>
                  </a:lnTo>
                  <a:close/>
                </a:path>
              </a:pathLst>
            </a:custGeom>
            <a:ln w="9524">
              <a:solidFill>
                <a:srgbClr val="C7C9C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83892" y="2743199"/>
              <a:ext cx="7824216" cy="33421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047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000000">
              <a:alpha val="5294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6196" y="2491485"/>
            <a:ext cx="4122459" cy="367715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075688"/>
            <a:ext cx="4642231" cy="3560343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833119" y="614552"/>
            <a:ext cx="4289425" cy="6965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30">
                <a:solidFill>
                  <a:srgbClr val="FFFFFF"/>
                </a:solidFill>
                <a:latin typeface="Calibri Light"/>
                <a:cs typeface="Calibri Light"/>
              </a:rPr>
              <a:t>Domain</a:t>
            </a:r>
            <a:r>
              <a:rPr dirty="0" sz="4400" spc="-204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400" spc="-45">
                <a:solidFill>
                  <a:srgbClr val="FFFFFF"/>
                </a:solidFill>
                <a:latin typeface="Calibri Light"/>
                <a:cs typeface="Calibri Light"/>
              </a:rPr>
              <a:t>constraints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565394" y="201548"/>
            <a:ext cx="61696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Domain</a:t>
            </a:r>
            <a:r>
              <a:rPr dirty="0" sz="1800" spc="1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constraints</a:t>
            </a:r>
            <a:r>
              <a:rPr dirty="0" sz="1800" spc="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1800" spc="1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dirty="0" sz="1800" spc="1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defined</a:t>
            </a:r>
            <a:r>
              <a:rPr dirty="0" sz="1800" spc="1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1800" spc="1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1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definition</a:t>
            </a:r>
            <a:r>
              <a:rPr dirty="0" sz="1800" spc="1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 spc="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800" spc="1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valid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793994" y="448436"/>
            <a:ext cx="27127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attribute.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565394" y="823340"/>
            <a:ext cx="6172835" cy="54673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241300" marR="5080" indent="-228600">
              <a:lnSpc>
                <a:spcPts val="1939"/>
              </a:lnSpc>
              <a:spcBef>
                <a:spcPts val="345"/>
              </a:spcBef>
              <a:buFont typeface="Arial MT"/>
              <a:buChar char="•"/>
              <a:tabLst>
                <a:tab pos="241300" algn="l"/>
                <a:tab pos="862965" algn="l"/>
                <a:tab pos="1477010" algn="l"/>
                <a:tab pos="2425065" algn="l"/>
                <a:tab pos="2905760" algn="l"/>
                <a:tab pos="3393440" algn="l"/>
                <a:tab pos="4030345" algn="l"/>
                <a:tab pos="4361180" algn="l"/>
                <a:tab pos="5318125" algn="l"/>
                <a:tab pos="5925185" algn="l"/>
              </a:tabLst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4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800" spc="4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type</a:t>
            </a:r>
            <a:r>
              <a:rPr dirty="0" sz="1800" spc="4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 spc="4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domain</a:t>
            </a:r>
            <a:r>
              <a:rPr dirty="0" sz="1800" spc="4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includes</a:t>
            </a:r>
            <a:r>
              <a:rPr dirty="0" sz="1800" spc="409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string,</a:t>
            </a:r>
            <a:r>
              <a:rPr dirty="0" sz="1800" spc="3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character,</a:t>
            </a:r>
            <a:r>
              <a:rPr dirty="0" sz="1800" spc="409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integer, time,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date,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currency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etc.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attribute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565394" y="1217675"/>
            <a:ext cx="6171565" cy="773430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88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available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corresponding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domain.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8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dirty="0" sz="1800" spc="4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1800" spc="4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dirty="0" sz="1800" spc="4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achieved</a:t>
            </a:r>
            <a:r>
              <a:rPr dirty="0" sz="1800" spc="4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1800" spc="4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dirty="0" sz="1800" spc="4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check</a:t>
            </a:r>
            <a:r>
              <a:rPr dirty="0" sz="1800" spc="4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constraint</a:t>
            </a:r>
            <a:r>
              <a:rPr dirty="0" sz="1800" spc="4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dirty="0" sz="1800" spc="4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1800" spc="4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793994" y="1937765"/>
            <a:ext cx="5448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condition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defines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valid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while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adding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updating.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0" y="0"/>
            <a:ext cx="12192000" cy="6859270"/>
            <a:chOff x="0" y="0"/>
            <a:chExt cx="12192000" cy="6859270"/>
          </a:xfrm>
        </p:grpSpPr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44199" y="0"/>
              <a:ext cx="947801" cy="279654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5556630"/>
              <a:ext cx="6096000" cy="1302416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9411" y="2708148"/>
              <a:ext cx="10847832" cy="3497579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412241" y="2916173"/>
              <a:ext cx="429895" cy="304800"/>
            </a:xfrm>
            <a:custGeom>
              <a:avLst/>
              <a:gdLst/>
              <a:ahLst/>
              <a:cxnLst/>
              <a:rect l="l" t="t" r="r" b="b"/>
              <a:pathLst>
                <a:path w="429894" h="304800">
                  <a:moveTo>
                    <a:pt x="0" y="304800"/>
                  </a:moveTo>
                  <a:lnTo>
                    <a:pt x="429767" y="304800"/>
                  </a:lnTo>
                </a:path>
                <a:path w="429894" h="304800">
                  <a:moveTo>
                    <a:pt x="0" y="202691"/>
                  </a:moveTo>
                  <a:lnTo>
                    <a:pt x="429767" y="202691"/>
                  </a:lnTo>
                </a:path>
                <a:path w="429894" h="304800">
                  <a:moveTo>
                    <a:pt x="0" y="102108"/>
                  </a:moveTo>
                  <a:lnTo>
                    <a:pt x="429767" y="102108"/>
                  </a:lnTo>
                </a:path>
                <a:path w="429894" h="304800">
                  <a:moveTo>
                    <a:pt x="0" y="0"/>
                  </a:moveTo>
                  <a:lnTo>
                    <a:pt x="429767" y="0"/>
                  </a:lnTo>
                </a:path>
              </a:pathLst>
            </a:custGeom>
            <a:ln w="25400">
              <a:solidFill>
                <a:srgbClr val="F0EFEF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8275" y="351535"/>
            <a:ext cx="2675890" cy="1068070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347980" marR="5080" indent="-335280">
              <a:lnSpc>
                <a:spcPts val="3890"/>
              </a:lnSpc>
              <a:spcBef>
                <a:spcPts val="585"/>
              </a:spcBef>
            </a:pPr>
            <a:r>
              <a:rPr dirty="0" sz="3600" spc="-25">
                <a:latin typeface="Calibri Light"/>
                <a:cs typeface="Calibri Light"/>
              </a:rPr>
              <a:t>Entity</a:t>
            </a:r>
            <a:r>
              <a:rPr dirty="0" sz="3600" spc="-165">
                <a:latin typeface="Calibri Light"/>
                <a:cs typeface="Calibri Light"/>
              </a:rPr>
              <a:t> </a:t>
            </a:r>
            <a:r>
              <a:rPr dirty="0" sz="3600" spc="-30">
                <a:latin typeface="Calibri Light"/>
                <a:cs typeface="Calibri Light"/>
              </a:rPr>
              <a:t>integrity </a:t>
            </a:r>
            <a:r>
              <a:rPr dirty="0" sz="3600" spc="-10">
                <a:latin typeface="Calibri Light"/>
                <a:cs typeface="Calibri Light"/>
              </a:rPr>
              <a:t>constraints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355972" y="317118"/>
            <a:ext cx="7198995" cy="1583055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241300" marR="340995" indent="-228600">
              <a:lnSpc>
                <a:spcPct val="7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entity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integrity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constraint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states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that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primary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key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value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can't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be </a:t>
            </a:r>
            <a:r>
              <a:rPr dirty="0" sz="1900" spc="-10">
                <a:latin typeface="Calibri"/>
                <a:cs typeface="Calibri"/>
              </a:rPr>
              <a:t>null.</a:t>
            </a:r>
            <a:endParaRPr sz="1900">
              <a:latin typeface="Calibri"/>
              <a:cs typeface="Calibri"/>
            </a:endParaRPr>
          </a:p>
          <a:p>
            <a:pPr algn="just" marL="240029" marR="5080" indent="-227329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900">
                <a:latin typeface="Calibri"/>
                <a:cs typeface="Calibri"/>
              </a:rPr>
              <a:t>This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is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because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primary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key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value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is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used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identify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individual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rows </a:t>
            </a:r>
            <a:r>
              <a:rPr dirty="0" sz="1900" spc="-20">
                <a:latin typeface="Calibri"/>
                <a:cs typeface="Calibri"/>
              </a:rPr>
              <a:t>	</a:t>
            </a:r>
            <a:r>
              <a:rPr dirty="0" sz="1900">
                <a:latin typeface="Calibri"/>
                <a:cs typeface="Calibri"/>
              </a:rPr>
              <a:t>in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relation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if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primary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key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has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null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value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then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we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can't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identify </a:t>
            </a:r>
            <a:r>
              <a:rPr dirty="0" sz="1900" spc="-10">
                <a:latin typeface="Calibri"/>
                <a:cs typeface="Calibri"/>
              </a:rPr>
              <a:t>	</a:t>
            </a:r>
            <a:r>
              <a:rPr dirty="0" sz="1900">
                <a:latin typeface="Calibri"/>
                <a:cs typeface="Calibri"/>
              </a:rPr>
              <a:t>those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rows.</a:t>
            </a:r>
            <a:endParaRPr sz="1900">
              <a:latin typeface="Calibri"/>
              <a:cs typeface="Calibri"/>
            </a:endParaRPr>
          </a:p>
          <a:p>
            <a:pPr algn="just" marL="240029" indent="-227329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table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can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contain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null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value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other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than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primary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key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field.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2368295"/>
            <a:ext cx="12192000" cy="4490085"/>
            <a:chOff x="0" y="2368295"/>
            <a:chExt cx="12192000" cy="4490085"/>
          </a:xfrm>
        </p:grpSpPr>
        <p:sp>
          <p:nvSpPr>
            <p:cNvPr id="5" name="object 5" descr=""/>
            <p:cNvSpPr/>
            <p:nvPr/>
          </p:nvSpPr>
          <p:spPr>
            <a:xfrm>
              <a:off x="0" y="2368295"/>
              <a:ext cx="12192000" cy="4490085"/>
            </a:xfrm>
            <a:custGeom>
              <a:avLst/>
              <a:gdLst/>
              <a:ahLst/>
              <a:cxnLst/>
              <a:rect l="l" t="t" r="r" b="b"/>
              <a:pathLst>
                <a:path w="12192000" h="4490084">
                  <a:moveTo>
                    <a:pt x="12192000" y="0"/>
                  </a:moveTo>
                  <a:lnTo>
                    <a:pt x="0" y="0"/>
                  </a:lnTo>
                  <a:lnTo>
                    <a:pt x="0" y="4489704"/>
                  </a:lnTo>
                  <a:lnTo>
                    <a:pt x="12192000" y="448970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7C9C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94916" y="2587751"/>
              <a:ext cx="8197596" cy="3675888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058923" y="2633471"/>
              <a:ext cx="8074659" cy="3550920"/>
            </a:xfrm>
            <a:custGeom>
              <a:avLst/>
              <a:gdLst/>
              <a:ahLst/>
              <a:cxnLst/>
              <a:rect l="l" t="t" r="r" b="b"/>
              <a:pathLst>
                <a:path w="8074659" h="3550920">
                  <a:moveTo>
                    <a:pt x="8074152" y="0"/>
                  </a:moveTo>
                  <a:lnTo>
                    <a:pt x="0" y="0"/>
                  </a:lnTo>
                  <a:lnTo>
                    <a:pt x="0" y="3550920"/>
                  </a:lnTo>
                  <a:lnTo>
                    <a:pt x="8074152" y="3550920"/>
                  </a:lnTo>
                  <a:lnTo>
                    <a:pt x="8074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058923" y="2633471"/>
              <a:ext cx="8074659" cy="3550920"/>
            </a:xfrm>
            <a:custGeom>
              <a:avLst/>
              <a:gdLst/>
              <a:ahLst/>
              <a:cxnLst/>
              <a:rect l="l" t="t" r="r" b="b"/>
              <a:pathLst>
                <a:path w="8074659" h="3550920">
                  <a:moveTo>
                    <a:pt x="0" y="3550920"/>
                  </a:moveTo>
                  <a:lnTo>
                    <a:pt x="8074152" y="3550920"/>
                  </a:lnTo>
                  <a:lnTo>
                    <a:pt x="8074152" y="0"/>
                  </a:lnTo>
                  <a:lnTo>
                    <a:pt x="0" y="0"/>
                  </a:lnTo>
                  <a:lnTo>
                    <a:pt x="0" y="3550920"/>
                  </a:lnTo>
                  <a:close/>
                </a:path>
              </a:pathLst>
            </a:custGeom>
            <a:ln w="9524">
              <a:solidFill>
                <a:srgbClr val="C7C9C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10383" y="2822447"/>
              <a:ext cx="7571232" cy="317296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11101070" cy="1801495"/>
          </a:xfrm>
          <a:prstGeom prst="rect"/>
          <a:solidFill>
            <a:srgbClr val="404040"/>
          </a:solidFill>
        </p:spPr>
        <p:txBody>
          <a:bodyPr wrap="square" lIns="0" tIns="193675" rIns="0" bIns="0" rtlCol="0" vert="horz">
            <a:spAutoFit/>
          </a:bodyPr>
          <a:lstStyle/>
          <a:p>
            <a:pPr marL="504190">
              <a:lnSpc>
                <a:spcPct val="100000"/>
              </a:lnSpc>
              <a:spcBef>
                <a:spcPts val="1525"/>
              </a:spcBef>
            </a:pPr>
            <a:r>
              <a:rPr dirty="0" spc="-60">
                <a:solidFill>
                  <a:srgbClr val="FFFFFF"/>
                </a:solidFill>
                <a:latin typeface="Calibri Light"/>
                <a:cs typeface="Calibri Light"/>
              </a:rPr>
              <a:t>Referential</a:t>
            </a:r>
            <a:r>
              <a:rPr dirty="0" spc="-175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pc="-30">
                <a:solidFill>
                  <a:srgbClr val="FFFFFF"/>
                </a:solidFill>
                <a:latin typeface="Calibri Light"/>
                <a:cs typeface="Calibri Light"/>
              </a:rPr>
              <a:t>Integrity</a:t>
            </a:r>
            <a:r>
              <a:rPr dirty="0" spc="-175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pc="-10">
                <a:solidFill>
                  <a:srgbClr val="FFFFFF"/>
                </a:solidFill>
                <a:latin typeface="Calibri Light"/>
                <a:cs typeface="Calibri Light"/>
              </a:rPr>
              <a:t>Constraints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5897" y="2516124"/>
            <a:ext cx="6137611" cy="3660647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626477" y="2279396"/>
            <a:ext cx="4171950" cy="348297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algn="just" marL="240029" marR="508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Referential</a:t>
            </a:r>
            <a:r>
              <a:rPr dirty="0" sz="2400" spc="43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integrity</a:t>
            </a:r>
            <a:r>
              <a:rPr dirty="0" sz="2400" spc="4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constraint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350">
                <a:latin typeface="Calibri"/>
                <a:cs typeface="Calibri"/>
              </a:rPr>
              <a:t>   </a:t>
            </a:r>
            <a:r>
              <a:rPr dirty="0" sz="2400">
                <a:latin typeface="Calibri"/>
                <a:cs typeface="Calibri"/>
              </a:rPr>
              <a:t>specified</a:t>
            </a:r>
            <a:r>
              <a:rPr dirty="0" sz="2400" spc="345">
                <a:latin typeface="Calibri"/>
                <a:cs typeface="Calibri"/>
              </a:rPr>
              <a:t>   </a:t>
            </a:r>
            <a:r>
              <a:rPr dirty="0" sz="2400">
                <a:latin typeface="Calibri"/>
                <a:cs typeface="Calibri"/>
              </a:rPr>
              <a:t>between</a:t>
            </a:r>
            <a:r>
              <a:rPr dirty="0" sz="2400" spc="355">
                <a:latin typeface="Calibri"/>
                <a:cs typeface="Calibri"/>
              </a:rPr>
              <a:t>   </a:t>
            </a:r>
            <a:r>
              <a:rPr dirty="0" sz="2400" spc="-25">
                <a:latin typeface="Calibri"/>
                <a:cs typeface="Calibri"/>
              </a:rPr>
              <a:t>two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tables.</a:t>
            </a:r>
            <a:endParaRPr sz="2400">
              <a:latin typeface="Calibri"/>
              <a:cs typeface="Calibri"/>
            </a:endParaRPr>
          </a:p>
          <a:p>
            <a:pPr algn="just" marL="240029" marR="5080" indent="-227329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55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55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Referential</a:t>
            </a:r>
            <a:r>
              <a:rPr dirty="0" sz="2400" spc="560">
                <a:latin typeface="Calibri"/>
                <a:cs typeface="Calibri"/>
              </a:rPr>
              <a:t>  </a:t>
            </a:r>
            <a:r>
              <a:rPr dirty="0" sz="2400" spc="-10">
                <a:latin typeface="Calibri"/>
                <a:cs typeface="Calibri"/>
              </a:rPr>
              <a:t>integrity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constraints,</a:t>
            </a:r>
            <a:r>
              <a:rPr dirty="0" sz="2400" spc="3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if</a:t>
            </a:r>
            <a:r>
              <a:rPr dirty="0" sz="2400" spc="3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3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foreign</a:t>
            </a:r>
            <a:r>
              <a:rPr dirty="0" sz="2400" spc="3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key</a:t>
            </a:r>
            <a:r>
              <a:rPr dirty="0" sz="2400" spc="37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in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5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1</a:t>
            </a:r>
            <a:r>
              <a:rPr dirty="0" sz="2400" spc="5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refers</a:t>
            </a:r>
            <a:r>
              <a:rPr dirty="0" sz="2400" spc="5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5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5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Primary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Key</a:t>
            </a:r>
            <a:r>
              <a:rPr dirty="0" sz="2400" spc="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2</a:t>
            </a:r>
            <a:r>
              <a:rPr dirty="0" sz="2400" spc="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then</a:t>
            </a:r>
            <a:r>
              <a:rPr dirty="0" sz="2400" spc="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every</a:t>
            </a:r>
            <a:r>
              <a:rPr dirty="0" sz="2400" spc="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value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4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4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Foreign</a:t>
            </a:r>
            <a:r>
              <a:rPr dirty="0" sz="2400" spc="4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Key</a:t>
            </a:r>
            <a:r>
              <a:rPr dirty="0" sz="2400" spc="4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4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484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1 </a:t>
            </a:r>
            <a:r>
              <a:rPr dirty="0" sz="2400" spc="-5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must</a:t>
            </a:r>
            <a:r>
              <a:rPr dirty="0" sz="2400" spc="2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2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null</a:t>
            </a:r>
            <a:r>
              <a:rPr dirty="0" sz="2400" spc="2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2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2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available</a:t>
            </a:r>
            <a:r>
              <a:rPr dirty="0" sz="2400" spc="22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in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30">
                <a:latin typeface="Calibri"/>
                <a:cs typeface="Calibri"/>
              </a:rPr>
              <a:t>Table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2.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1014" y="2078610"/>
            <a:ext cx="6507022" cy="2617247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8130540" y="0"/>
            <a:ext cx="4061460" cy="6858000"/>
          </a:xfrm>
          <a:custGeom>
            <a:avLst/>
            <a:gdLst/>
            <a:ahLst/>
            <a:cxnLst/>
            <a:rect l="l" t="t" r="r" b="b"/>
            <a:pathLst>
              <a:path w="4061459" h="6858000">
                <a:moveTo>
                  <a:pt x="4061459" y="0"/>
                </a:moveTo>
                <a:lnTo>
                  <a:pt x="0" y="0"/>
                </a:lnTo>
                <a:lnTo>
                  <a:pt x="0" y="6858000"/>
                </a:lnTo>
                <a:lnTo>
                  <a:pt x="4061459" y="6858000"/>
                </a:lnTo>
                <a:lnTo>
                  <a:pt x="406145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82406" y="1053541"/>
            <a:ext cx="2670175" cy="1416050"/>
          </a:xfrm>
          <a:prstGeom prst="rect"/>
        </p:spPr>
        <p:txBody>
          <a:bodyPr wrap="square" lIns="0" tIns="95250" rIns="0" bIns="0" rtlCol="0" vert="horz">
            <a:spAutoFit/>
          </a:bodyPr>
          <a:lstStyle/>
          <a:p>
            <a:pPr marL="12700" marR="5080" indent="135890">
              <a:lnSpc>
                <a:spcPts val="5190"/>
              </a:lnSpc>
              <a:spcBef>
                <a:spcPts val="750"/>
              </a:spcBef>
            </a:pPr>
            <a:r>
              <a:rPr dirty="0" sz="4800" spc="-25">
                <a:solidFill>
                  <a:srgbClr val="FFFFFF"/>
                </a:solidFill>
                <a:latin typeface="Calibri Light"/>
                <a:cs typeface="Calibri Light"/>
              </a:rPr>
              <a:t>Key </a:t>
            </a:r>
            <a:r>
              <a:rPr dirty="0" sz="4800" spc="-60">
                <a:solidFill>
                  <a:srgbClr val="FFFFFF"/>
                </a:solidFill>
                <a:latin typeface="Calibri Light"/>
                <a:cs typeface="Calibri Light"/>
              </a:rPr>
              <a:t>constraints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582406" y="2828036"/>
            <a:ext cx="3102610" cy="320167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just" marL="238760" marR="6350" indent="-226695">
              <a:lnSpc>
                <a:spcPct val="90000"/>
              </a:lnSpc>
              <a:spcBef>
                <a:spcPts val="3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Keys</a:t>
            </a:r>
            <a:r>
              <a:rPr dirty="0" sz="200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200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entity</a:t>
            </a:r>
            <a:r>
              <a:rPr dirty="0" sz="200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dirty="0" sz="200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that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00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dirty="0" sz="2000" spc="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000" spc="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uniquely</a:t>
            </a:r>
            <a:r>
              <a:rPr dirty="0" sz="2000" spc="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identify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dirty="0" sz="2000" spc="4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entity</a:t>
            </a:r>
            <a:r>
              <a:rPr dirty="0" sz="2000" spc="48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within</a:t>
            </a:r>
            <a:r>
              <a:rPr dirty="0" sz="2000" spc="48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its</a:t>
            </a:r>
            <a:r>
              <a:rPr dirty="0" sz="2000" spc="4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entity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set.</a:t>
            </a:r>
            <a:endParaRPr sz="2000">
              <a:latin typeface="Calibri"/>
              <a:cs typeface="Calibri"/>
            </a:endParaRPr>
          </a:p>
          <a:p>
            <a:pPr algn="just" marL="238760" marR="5080" indent="-226695">
              <a:lnSpc>
                <a:spcPct val="9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dirty="0" sz="2000" spc="32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entity</a:t>
            </a:r>
            <a:r>
              <a:rPr dirty="0" sz="2000" spc="32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dirty="0" sz="2000" spc="32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2000" spc="31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have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dirty="0" sz="2000" spc="24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dirty="0" sz="2000" spc="23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dirty="0" sz="2000" spc="24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out</a:t>
            </a:r>
            <a:r>
              <a:rPr dirty="0" sz="2000" spc="23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dirty="0" sz="2000" spc="38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dirty="0" sz="2000" spc="39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dirty="0" sz="2000" spc="38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dirty="0" sz="2000" spc="38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be 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primary</a:t>
            </a:r>
            <a:r>
              <a:rPr dirty="0" sz="2000" spc="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key.</a:t>
            </a:r>
            <a:r>
              <a:rPr dirty="0" sz="2000" spc="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000" spc="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primary</a:t>
            </a:r>
            <a:r>
              <a:rPr dirty="0" sz="2000" spc="1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key 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2000" spc="254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contain</a:t>
            </a:r>
            <a:r>
              <a:rPr dirty="0" sz="2000" spc="25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dirty="0" sz="2000" spc="25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unique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000" spc="18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null</a:t>
            </a:r>
            <a:r>
              <a:rPr dirty="0" sz="2000" spc="185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dirty="0" sz="2000" spc="18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000" spc="185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relational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table.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22096" y="3045663"/>
            <a:ext cx="1331595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0">
                <a:solidFill>
                  <a:srgbClr val="FFFFFF"/>
                </a:solidFill>
                <a:latin typeface="Calibri Light"/>
                <a:cs typeface="Calibri Light"/>
              </a:rPr>
              <a:t>Views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585977" y="2396489"/>
            <a:ext cx="0" cy="2228850"/>
          </a:xfrm>
          <a:custGeom>
            <a:avLst/>
            <a:gdLst/>
            <a:ahLst/>
            <a:cxnLst/>
            <a:rect l="l" t="t" r="r" b="b"/>
            <a:pathLst>
              <a:path w="0" h="2228850">
                <a:moveTo>
                  <a:pt x="0" y="0"/>
                </a:moveTo>
                <a:lnTo>
                  <a:pt x="0" y="222885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99142" y="6483680"/>
            <a:ext cx="167639" cy="116674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5280659" y="644651"/>
            <a:ext cx="6268720" cy="1172210"/>
            <a:chOff x="5280659" y="644651"/>
            <a:chExt cx="6268720" cy="1172210"/>
          </a:xfrm>
        </p:grpSpPr>
        <p:sp>
          <p:nvSpPr>
            <p:cNvPr id="6" name="object 6" descr=""/>
            <p:cNvSpPr/>
            <p:nvPr/>
          </p:nvSpPr>
          <p:spPr>
            <a:xfrm>
              <a:off x="5280659" y="644651"/>
              <a:ext cx="6268720" cy="1172210"/>
            </a:xfrm>
            <a:custGeom>
              <a:avLst/>
              <a:gdLst/>
              <a:ahLst/>
              <a:cxnLst/>
              <a:rect l="l" t="t" r="r" b="b"/>
              <a:pathLst>
                <a:path w="6268720" h="1172210">
                  <a:moveTo>
                    <a:pt x="6150991" y="0"/>
                  </a:moveTo>
                  <a:lnTo>
                    <a:pt x="117220" y="0"/>
                  </a:lnTo>
                  <a:lnTo>
                    <a:pt x="71580" y="9207"/>
                  </a:lnTo>
                  <a:lnTo>
                    <a:pt x="34321" y="34321"/>
                  </a:lnTo>
                  <a:lnTo>
                    <a:pt x="9207" y="71580"/>
                  </a:lnTo>
                  <a:lnTo>
                    <a:pt x="0" y="117221"/>
                  </a:lnTo>
                  <a:lnTo>
                    <a:pt x="0" y="1054735"/>
                  </a:lnTo>
                  <a:lnTo>
                    <a:pt x="9207" y="1100375"/>
                  </a:lnTo>
                  <a:lnTo>
                    <a:pt x="34321" y="1137634"/>
                  </a:lnTo>
                  <a:lnTo>
                    <a:pt x="71580" y="1162748"/>
                  </a:lnTo>
                  <a:lnTo>
                    <a:pt x="117220" y="1171956"/>
                  </a:lnTo>
                  <a:lnTo>
                    <a:pt x="6150991" y="1171956"/>
                  </a:lnTo>
                  <a:lnTo>
                    <a:pt x="6196631" y="1162748"/>
                  </a:lnTo>
                  <a:lnTo>
                    <a:pt x="6233890" y="1137634"/>
                  </a:lnTo>
                  <a:lnTo>
                    <a:pt x="6259004" y="1100375"/>
                  </a:lnTo>
                  <a:lnTo>
                    <a:pt x="6268212" y="1054735"/>
                  </a:lnTo>
                  <a:lnTo>
                    <a:pt x="6268212" y="117221"/>
                  </a:lnTo>
                  <a:lnTo>
                    <a:pt x="6259004" y="71580"/>
                  </a:lnTo>
                  <a:lnTo>
                    <a:pt x="6233890" y="34321"/>
                  </a:lnTo>
                  <a:lnTo>
                    <a:pt x="6196631" y="9207"/>
                  </a:lnTo>
                  <a:lnTo>
                    <a:pt x="6150991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771705" y="979461"/>
              <a:ext cx="372110" cy="505459"/>
            </a:xfrm>
            <a:custGeom>
              <a:avLst/>
              <a:gdLst/>
              <a:ahLst/>
              <a:cxnLst/>
              <a:rect l="l" t="t" r="r" b="b"/>
              <a:pathLst>
                <a:path w="372110" h="505459">
                  <a:moveTo>
                    <a:pt x="371805" y="345427"/>
                  </a:moveTo>
                  <a:lnTo>
                    <a:pt x="357136" y="366064"/>
                  </a:lnTo>
                  <a:lnTo>
                    <a:pt x="331965" y="376720"/>
                  </a:lnTo>
                  <a:lnTo>
                    <a:pt x="331965" y="430453"/>
                  </a:lnTo>
                  <a:lnTo>
                    <a:pt x="331965" y="446405"/>
                  </a:lnTo>
                  <a:lnTo>
                    <a:pt x="326656" y="451713"/>
                  </a:lnTo>
                  <a:lnTo>
                    <a:pt x="310718" y="451713"/>
                  </a:lnTo>
                  <a:lnTo>
                    <a:pt x="305409" y="446405"/>
                  </a:lnTo>
                  <a:lnTo>
                    <a:pt x="305409" y="430453"/>
                  </a:lnTo>
                  <a:lnTo>
                    <a:pt x="310718" y="425145"/>
                  </a:lnTo>
                  <a:lnTo>
                    <a:pt x="326656" y="425145"/>
                  </a:lnTo>
                  <a:lnTo>
                    <a:pt x="331965" y="430453"/>
                  </a:lnTo>
                  <a:lnTo>
                    <a:pt x="331965" y="376720"/>
                  </a:lnTo>
                  <a:lnTo>
                    <a:pt x="317195" y="382955"/>
                  </a:lnTo>
                  <a:lnTo>
                    <a:pt x="258089" y="394373"/>
                  </a:lnTo>
                  <a:lnTo>
                    <a:pt x="185902" y="398564"/>
                  </a:lnTo>
                  <a:lnTo>
                    <a:pt x="113728" y="394373"/>
                  </a:lnTo>
                  <a:lnTo>
                    <a:pt x="54610" y="382955"/>
                  </a:lnTo>
                  <a:lnTo>
                    <a:pt x="14668" y="366064"/>
                  </a:lnTo>
                  <a:lnTo>
                    <a:pt x="0" y="345427"/>
                  </a:lnTo>
                  <a:lnTo>
                    <a:pt x="0" y="451713"/>
                  </a:lnTo>
                  <a:lnTo>
                    <a:pt x="14668" y="472351"/>
                  </a:lnTo>
                  <a:lnTo>
                    <a:pt x="54610" y="489242"/>
                  </a:lnTo>
                  <a:lnTo>
                    <a:pt x="113728" y="500659"/>
                  </a:lnTo>
                  <a:lnTo>
                    <a:pt x="185902" y="504850"/>
                  </a:lnTo>
                  <a:lnTo>
                    <a:pt x="258089" y="500659"/>
                  </a:lnTo>
                  <a:lnTo>
                    <a:pt x="317195" y="489242"/>
                  </a:lnTo>
                  <a:lnTo>
                    <a:pt x="357136" y="472351"/>
                  </a:lnTo>
                  <a:lnTo>
                    <a:pt x="371805" y="451713"/>
                  </a:lnTo>
                  <a:lnTo>
                    <a:pt x="371805" y="425145"/>
                  </a:lnTo>
                  <a:lnTo>
                    <a:pt x="371805" y="398564"/>
                  </a:lnTo>
                  <a:lnTo>
                    <a:pt x="371805" y="345427"/>
                  </a:lnTo>
                  <a:close/>
                </a:path>
                <a:path w="372110" h="505459">
                  <a:moveTo>
                    <a:pt x="371805" y="212572"/>
                  </a:moveTo>
                  <a:lnTo>
                    <a:pt x="357136" y="233197"/>
                  </a:lnTo>
                  <a:lnTo>
                    <a:pt x="331965" y="243852"/>
                  </a:lnTo>
                  <a:lnTo>
                    <a:pt x="331965" y="297599"/>
                  </a:lnTo>
                  <a:lnTo>
                    <a:pt x="331965" y="313537"/>
                  </a:lnTo>
                  <a:lnTo>
                    <a:pt x="326656" y="318858"/>
                  </a:lnTo>
                  <a:lnTo>
                    <a:pt x="310718" y="318858"/>
                  </a:lnTo>
                  <a:lnTo>
                    <a:pt x="305409" y="313537"/>
                  </a:lnTo>
                  <a:lnTo>
                    <a:pt x="305409" y="297599"/>
                  </a:lnTo>
                  <a:lnTo>
                    <a:pt x="310718" y="292277"/>
                  </a:lnTo>
                  <a:lnTo>
                    <a:pt x="326656" y="292277"/>
                  </a:lnTo>
                  <a:lnTo>
                    <a:pt x="331965" y="297599"/>
                  </a:lnTo>
                  <a:lnTo>
                    <a:pt x="331965" y="243852"/>
                  </a:lnTo>
                  <a:lnTo>
                    <a:pt x="317195" y="250101"/>
                  </a:lnTo>
                  <a:lnTo>
                    <a:pt x="258089" y="261518"/>
                  </a:lnTo>
                  <a:lnTo>
                    <a:pt x="185902" y="265709"/>
                  </a:lnTo>
                  <a:lnTo>
                    <a:pt x="113728" y="261518"/>
                  </a:lnTo>
                  <a:lnTo>
                    <a:pt x="54610" y="250101"/>
                  </a:lnTo>
                  <a:lnTo>
                    <a:pt x="14668" y="233197"/>
                  </a:lnTo>
                  <a:lnTo>
                    <a:pt x="0" y="212572"/>
                  </a:lnTo>
                  <a:lnTo>
                    <a:pt x="0" y="318858"/>
                  </a:lnTo>
                  <a:lnTo>
                    <a:pt x="14668" y="339483"/>
                  </a:lnTo>
                  <a:lnTo>
                    <a:pt x="54610" y="356387"/>
                  </a:lnTo>
                  <a:lnTo>
                    <a:pt x="113728" y="367804"/>
                  </a:lnTo>
                  <a:lnTo>
                    <a:pt x="185902" y="371995"/>
                  </a:lnTo>
                  <a:lnTo>
                    <a:pt x="258089" y="367804"/>
                  </a:lnTo>
                  <a:lnTo>
                    <a:pt x="317195" y="356387"/>
                  </a:lnTo>
                  <a:lnTo>
                    <a:pt x="357136" y="339483"/>
                  </a:lnTo>
                  <a:lnTo>
                    <a:pt x="371805" y="318858"/>
                  </a:lnTo>
                  <a:lnTo>
                    <a:pt x="371805" y="292277"/>
                  </a:lnTo>
                  <a:lnTo>
                    <a:pt x="371805" y="265709"/>
                  </a:lnTo>
                  <a:lnTo>
                    <a:pt x="371805" y="212572"/>
                  </a:lnTo>
                  <a:close/>
                </a:path>
                <a:path w="372110" h="505459">
                  <a:moveTo>
                    <a:pt x="371805" y="79705"/>
                  </a:moveTo>
                  <a:lnTo>
                    <a:pt x="357136" y="100342"/>
                  </a:lnTo>
                  <a:lnTo>
                    <a:pt x="331965" y="110998"/>
                  </a:lnTo>
                  <a:lnTo>
                    <a:pt x="331965" y="164744"/>
                  </a:lnTo>
                  <a:lnTo>
                    <a:pt x="331965" y="180682"/>
                  </a:lnTo>
                  <a:lnTo>
                    <a:pt x="326656" y="185991"/>
                  </a:lnTo>
                  <a:lnTo>
                    <a:pt x="310718" y="185991"/>
                  </a:lnTo>
                  <a:lnTo>
                    <a:pt x="305409" y="180682"/>
                  </a:lnTo>
                  <a:lnTo>
                    <a:pt x="305409" y="164744"/>
                  </a:lnTo>
                  <a:lnTo>
                    <a:pt x="310718" y="159423"/>
                  </a:lnTo>
                  <a:lnTo>
                    <a:pt x="326656" y="159423"/>
                  </a:lnTo>
                  <a:lnTo>
                    <a:pt x="331965" y="164744"/>
                  </a:lnTo>
                  <a:lnTo>
                    <a:pt x="331965" y="110998"/>
                  </a:lnTo>
                  <a:lnTo>
                    <a:pt x="317195" y="117246"/>
                  </a:lnTo>
                  <a:lnTo>
                    <a:pt x="258089" y="128663"/>
                  </a:lnTo>
                  <a:lnTo>
                    <a:pt x="185902" y="132854"/>
                  </a:lnTo>
                  <a:lnTo>
                    <a:pt x="113728" y="128663"/>
                  </a:lnTo>
                  <a:lnTo>
                    <a:pt x="54610" y="117246"/>
                  </a:lnTo>
                  <a:lnTo>
                    <a:pt x="14668" y="100342"/>
                  </a:lnTo>
                  <a:lnTo>
                    <a:pt x="0" y="79705"/>
                  </a:lnTo>
                  <a:lnTo>
                    <a:pt x="0" y="185991"/>
                  </a:lnTo>
                  <a:lnTo>
                    <a:pt x="14668" y="206629"/>
                  </a:lnTo>
                  <a:lnTo>
                    <a:pt x="54610" y="223532"/>
                  </a:lnTo>
                  <a:lnTo>
                    <a:pt x="113728" y="234950"/>
                  </a:lnTo>
                  <a:lnTo>
                    <a:pt x="185902" y="239141"/>
                  </a:lnTo>
                  <a:lnTo>
                    <a:pt x="258089" y="234950"/>
                  </a:lnTo>
                  <a:lnTo>
                    <a:pt x="317195" y="223532"/>
                  </a:lnTo>
                  <a:lnTo>
                    <a:pt x="357136" y="206629"/>
                  </a:lnTo>
                  <a:lnTo>
                    <a:pt x="371805" y="185991"/>
                  </a:lnTo>
                  <a:lnTo>
                    <a:pt x="371805" y="159423"/>
                  </a:lnTo>
                  <a:lnTo>
                    <a:pt x="371805" y="132854"/>
                  </a:lnTo>
                  <a:lnTo>
                    <a:pt x="371805" y="79705"/>
                  </a:lnTo>
                  <a:close/>
                </a:path>
                <a:path w="372110" h="505459">
                  <a:moveTo>
                    <a:pt x="371805" y="53136"/>
                  </a:moveTo>
                  <a:lnTo>
                    <a:pt x="357200" y="32448"/>
                  </a:lnTo>
                  <a:lnTo>
                    <a:pt x="317360" y="15557"/>
                  </a:lnTo>
                  <a:lnTo>
                    <a:pt x="258267" y="4165"/>
                  </a:lnTo>
                  <a:lnTo>
                    <a:pt x="185902" y="0"/>
                  </a:lnTo>
                  <a:lnTo>
                    <a:pt x="113538" y="4165"/>
                  </a:lnTo>
                  <a:lnTo>
                    <a:pt x="54457" y="15557"/>
                  </a:lnTo>
                  <a:lnTo>
                    <a:pt x="14617" y="32448"/>
                  </a:lnTo>
                  <a:lnTo>
                    <a:pt x="0" y="53136"/>
                  </a:lnTo>
                  <a:lnTo>
                    <a:pt x="14617" y="73825"/>
                  </a:lnTo>
                  <a:lnTo>
                    <a:pt x="54457" y="90716"/>
                  </a:lnTo>
                  <a:lnTo>
                    <a:pt x="113538" y="102108"/>
                  </a:lnTo>
                  <a:lnTo>
                    <a:pt x="185902" y="106286"/>
                  </a:lnTo>
                  <a:lnTo>
                    <a:pt x="258267" y="102108"/>
                  </a:lnTo>
                  <a:lnTo>
                    <a:pt x="317360" y="90716"/>
                  </a:lnTo>
                  <a:lnTo>
                    <a:pt x="357200" y="73825"/>
                  </a:lnTo>
                  <a:lnTo>
                    <a:pt x="371805" y="531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745985" y="895603"/>
            <a:ext cx="4326890" cy="611505"/>
          </a:xfrm>
          <a:prstGeom prst="rect"/>
        </p:spPr>
        <p:txBody>
          <a:bodyPr wrap="square" lIns="0" tIns="42545" rIns="0" bIns="0" rtlCol="0" vert="horz">
            <a:spAutoFit/>
          </a:bodyPr>
          <a:lstStyle/>
          <a:p>
            <a:pPr marL="12700" marR="5080">
              <a:lnSpc>
                <a:spcPts val="2210"/>
              </a:lnSpc>
              <a:spcBef>
                <a:spcPts val="335"/>
              </a:spcBef>
            </a:pP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view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like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table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25" b="1">
                <a:latin typeface="Calibri"/>
                <a:cs typeface="Calibri"/>
              </a:rPr>
              <a:t> the </a:t>
            </a:r>
            <a:r>
              <a:rPr dirty="0" sz="2000" spc="-10" b="1">
                <a:latin typeface="Calibri"/>
                <a:cs typeface="Calibri"/>
              </a:rPr>
              <a:t>result-</a:t>
            </a:r>
            <a:r>
              <a:rPr dirty="0" sz="2000" b="1">
                <a:latin typeface="Calibri"/>
                <a:cs typeface="Calibri"/>
              </a:rPr>
              <a:t>set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SQL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statement.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5280659" y="2110739"/>
            <a:ext cx="6268720" cy="1172210"/>
            <a:chOff x="5280659" y="2110739"/>
            <a:chExt cx="6268720" cy="1172210"/>
          </a:xfrm>
        </p:grpSpPr>
        <p:sp>
          <p:nvSpPr>
            <p:cNvPr id="10" name="object 10" descr=""/>
            <p:cNvSpPr/>
            <p:nvPr/>
          </p:nvSpPr>
          <p:spPr>
            <a:xfrm>
              <a:off x="5280659" y="2110739"/>
              <a:ext cx="6268720" cy="1172210"/>
            </a:xfrm>
            <a:custGeom>
              <a:avLst/>
              <a:gdLst/>
              <a:ahLst/>
              <a:cxnLst/>
              <a:rect l="l" t="t" r="r" b="b"/>
              <a:pathLst>
                <a:path w="6268720" h="1172210">
                  <a:moveTo>
                    <a:pt x="6150991" y="0"/>
                  </a:moveTo>
                  <a:lnTo>
                    <a:pt x="117220" y="0"/>
                  </a:lnTo>
                  <a:lnTo>
                    <a:pt x="71580" y="9207"/>
                  </a:lnTo>
                  <a:lnTo>
                    <a:pt x="34321" y="34321"/>
                  </a:lnTo>
                  <a:lnTo>
                    <a:pt x="9207" y="71580"/>
                  </a:lnTo>
                  <a:lnTo>
                    <a:pt x="0" y="117221"/>
                  </a:lnTo>
                  <a:lnTo>
                    <a:pt x="0" y="1054735"/>
                  </a:lnTo>
                  <a:lnTo>
                    <a:pt x="9207" y="1100375"/>
                  </a:lnTo>
                  <a:lnTo>
                    <a:pt x="34321" y="1137634"/>
                  </a:lnTo>
                  <a:lnTo>
                    <a:pt x="71580" y="1162748"/>
                  </a:lnTo>
                  <a:lnTo>
                    <a:pt x="117220" y="1171956"/>
                  </a:lnTo>
                  <a:lnTo>
                    <a:pt x="6150991" y="1171956"/>
                  </a:lnTo>
                  <a:lnTo>
                    <a:pt x="6196631" y="1162748"/>
                  </a:lnTo>
                  <a:lnTo>
                    <a:pt x="6233890" y="1137634"/>
                  </a:lnTo>
                  <a:lnTo>
                    <a:pt x="6259004" y="1100375"/>
                  </a:lnTo>
                  <a:lnTo>
                    <a:pt x="6268212" y="1054735"/>
                  </a:lnTo>
                  <a:lnTo>
                    <a:pt x="6268212" y="117221"/>
                  </a:lnTo>
                  <a:lnTo>
                    <a:pt x="6259004" y="71580"/>
                  </a:lnTo>
                  <a:lnTo>
                    <a:pt x="6233890" y="34321"/>
                  </a:lnTo>
                  <a:lnTo>
                    <a:pt x="6196631" y="9207"/>
                  </a:lnTo>
                  <a:lnTo>
                    <a:pt x="6150991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692038" y="2512186"/>
              <a:ext cx="531495" cy="372745"/>
            </a:xfrm>
            <a:custGeom>
              <a:avLst/>
              <a:gdLst/>
              <a:ahLst/>
              <a:cxnLst/>
              <a:rect l="l" t="t" r="r" b="b"/>
              <a:pathLst>
                <a:path w="531495" h="372744">
                  <a:moveTo>
                    <a:pt x="199174" y="39649"/>
                  </a:moveTo>
                  <a:lnTo>
                    <a:pt x="172618" y="39649"/>
                  </a:lnTo>
                  <a:lnTo>
                    <a:pt x="172618" y="119354"/>
                  </a:lnTo>
                  <a:lnTo>
                    <a:pt x="199174" y="119354"/>
                  </a:lnTo>
                  <a:lnTo>
                    <a:pt x="199174" y="39649"/>
                  </a:lnTo>
                  <a:close/>
                </a:path>
                <a:path w="531495" h="372744">
                  <a:moveTo>
                    <a:pt x="358521" y="39649"/>
                  </a:moveTo>
                  <a:lnTo>
                    <a:pt x="331965" y="39649"/>
                  </a:lnTo>
                  <a:lnTo>
                    <a:pt x="331965" y="119354"/>
                  </a:lnTo>
                  <a:lnTo>
                    <a:pt x="358521" y="119354"/>
                  </a:lnTo>
                  <a:lnTo>
                    <a:pt x="358521" y="39649"/>
                  </a:lnTo>
                  <a:close/>
                </a:path>
                <a:path w="531495" h="372744">
                  <a:moveTo>
                    <a:pt x="531139" y="39649"/>
                  </a:moveTo>
                  <a:lnTo>
                    <a:pt x="491312" y="39649"/>
                  </a:lnTo>
                  <a:lnTo>
                    <a:pt x="491312" y="119354"/>
                  </a:lnTo>
                  <a:lnTo>
                    <a:pt x="531139" y="119354"/>
                  </a:lnTo>
                  <a:lnTo>
                    <a:pt x="531139" y="39649"/>
                  </a:lnTo>
                  <a:close/>
                </a:path>
                <a:path w="531495" h="372744">
                  <a:moveTo>
                    <a:pt x="531139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0" y="119405"/>
                  </a:lnTo>
                  <a:lnTo>
                    <a:pt x="0" y="372211"/>
                  </a:lnTo>
                  <a:lnTo>
                    <a:pt x="531139" y="372211"/>
                  </a:lnTo>
                  <a:lnTo>
                    <a:pt x="531139" y="226110"/>
                  </a:lnTo>
                  <a:lnTo>
                    <a:pt x="491312" y="226110"/>
                  </a:lnTo>
                  <a:lnTo>
                    <a:pt x="491312" y="252793"/>
                  </a:lnTo>
                  <a:lnTo>
                    <a:pt x="491312" y="331558"/>
                  </a:lnTo>
                  <a:lnTo>
                    <a:pt x="358521" y="331558"/>
                  </a:lnTo>
                  <a:lnTo>
                    <a:pt x="358521" y="252793"/>
                  </a:lnTo>
                  <a:lnTo>
                    <a:pt x="491312" y="252793"/>
                  </a:lnTo>
                  <a:lnTo>
                    <a:pt x="491312" y="226110"/>
                  </a:lnTo>
                  <a:lnTo>
                    <a:pt x="331965" y="226110"/>
                  </a:lnTo>
                  <a:lnTo>
                    <a:pt x="331965" y="252793"/>
                  </a:lnTo>
                  <a:lnTo>
                    <a:pt x="331965" y="331558"/>
                  </a:lnTo>
                  <a:lnTo>
                    <a:pt x="199174" y="331558"/>
                  </a:lnTo>
                  <a:lnTo>
                    <a:pt x="199174" y="252793"/>
                  </a:lnTo>
                  <a:lnTo>
                    <a:pt x="331965" y="252793"/>
                  </a:lnTo>
                  <a:lnTo>
                    <a:pt x="331965" y="226110"/>
                  </a:lnTo>
                  <a:lnTo>
                    <a:pt x="172618" y="226110"/>
                  </a:lnTo>
                  <a:lnTo>
                    <a:pt x="172618" y="252793"/>
                  </a:lnTo>
                  <a:lnTo>
                    <a:pt x="172618" y="331558"/>
                  </a:lnTo>
                  <a:lnTo>
                    <a:pt x="39839" y="331558"/>
                  </a:lnTo>
                  <a:lnTo>
                    <a:pt x="39839" y="252793"/>
                  </a:lnTo>
                  <a:lnTo>
                    <a:pt x="172618" y="252793"/>
                  </a:lnTo>
                  <a:lnTo>
                    <a:pt x="172618" y="226110"/>
                  </a:lnTo>
                  <a:lnTo>
                    <a:pt x="39839" y="226110"/>
                  </a:lnTo>
                  <a:lnTo>
                    <a:pt x="39839" y="146088"/>
                  </a:lnTo>
                  <a:lnTo>
                    <a:pt x="172618" y="146088"/>
                  </a:lnTo>
                  <a:lnTo>
                    <a:pt x="172618" y="225640"/>
                  </a:lnTo>
                  <a:lnTo>
                    <a:pt x="199174" y="225640"/>
                  </a:lnTo>
                  <a:lnTo>
                    <a:pt x="199174" y="146088"/>
                  </a:lnTo>
                  <a:lnTo>
                    <a:pt x="331965" y="146088"/>
                  </a:lnTo>
                  <a:lnTo>
                    <a:pt x="331965" y="225640"/>
                  </a:lnTo>
                  <a:lnTo>
                    <a:pt x="358521" y="225640"/>
                  </a:lnTo>
                  <a:lnTo>
                    <a:pt x="358521" y="146088"/>
                  </a:lnTo>
                  <a:lnTo>
                    <a:pt x="491312" y="146088"/>
                  </a:lnTo>
                  <a:lnTo>
                    <a:pt x="491312" y="225640"/>
                  </a:lnTo>
                  <a:lnTo>
                    <a:pt x="531139" y="225640"/>
                  </a:lnTo>
                  <a:lnTo>
                    <a:pt x="531139" y="146088"/>
                  </a:lnTo>
                  <a:lnTo>
                    <a:pt x="531139" y="145935"/>
                  </a:lnTo>
                  <a:lnTo>
                    <a:pt x="531139" y="119405"/>
                  </a:lnTo>
                  <a:lnTo>
                    <a:pt x="39839" y="119405"/>
                  </a:lnTo>
                  <a:lnTo>
                    <a:pt x="39839" y="39370"/>
                  </a:lnTo>
                  <a:lnTo>
                    <a:pt x="531139" y="39370"/>
                  </a:lnTo>
                  <a:lnTo>
                    <a:pt x="5311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6745985" y="2221483"/>
            <a:ext cx="4645025" cy="890269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 marR="5080">
              <a:lnSpc>
                <a:spcPct val="91800"/>
              </a:lnSpc>
              <a:spcBef>
                <a:spcPts val="300"/>
              </a:spcBef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view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more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tables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views.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These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tables/views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called </a:t>
            </a:r>
            <a:r>
              <a:rPr dirty="0" sz="2000" b="1">
                <a:latin typeface="Calibri"/>
                <a:cs typeface="Calibri"/>
              </a:rPr>
              <a:t>base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tables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5280659" y="3575303"/>
            <a:ext cx="6268720" cy="1172210"/>
            <a:chOff x="5280659" y="3575303"/>
            <a:chExt cx="6268720" cy="1172210"/>
          </a:xfrm>
        </p:grpSpPr>
        <p:sp>
          <p:nvSpPr>
            <p:cNvPr id="14" name="object 14" descr=""/>
            <p:cNvSpPr/>
            <p:nvPr/>
          </p:nvSpPr>
          <p:spPr>
            <a:xfrm>
              <a:off x="5280659" y="3575303"/>
              <a:ext cx="6268720" cy="1172210"/>
            </a:xfrm>
            <a:custGeom>
              <a:avLst/>
              <a:gdLst/>
              <a:ahLst/>
              <a:cxnLst/>
              <a:rect l="l" t="t" r="r" b="b"/>
              <a:pathLst>
                <a:path w="6268720" h="1172210">
                  <a:moveTo>
                    <a:pt x="6150991" y="0"/>
                  </a:moveTo>
                  <a:lnTo>
                    <a:pt x="117220" y="0"/>
                  </a:lnTo>
                  <a:lnTo>
                    <a:pt x="71580" y="9207"/>
                  </a:lnTo>
                  <a:lnTo>
                    <a:pt x="34321" y="34321"/>
                  </a:lnTo>
                  <a:lnTo>
                    <a:pt x="9207" y="71580"/>
                  </a:lnTo>
                  <a:lnTo>
                    <a:pt x="0" y="117221"/>
                  </a:lnTo>
                  <a:lnTo>
                    <a:pt x="0" y="1054735"/>
                  </a:lnTo>
                  <a:lnTo>
                    <a:pt x="9207" y="1100375"/>
                  </a:lnTo>
                  <a:lnTo>
                    <a:pt x="34321" y="1137634"/>
                  </a:lnTo>
                  <a:lnTo>
                    <a:pt x="71580" y="1162748"/>
                  </a:lnTo>
                  <a:lnTo>
                    <a:pt x="117220" y="1171956"/>
                  </a:lnTo>
                  <a:lnTo>
                    <a:pt x="6150991" y="1171956"/>
                  </a:lnTo>
                  <a:lnTo>
                    <a:pt x="6196631" y="1162748"/>
                  </a:lnTo>
                  <a:lnTo>
                    <a:pt x="6233890" y="1137634"/>
                  </a:lnTo>
                  <a:lnTo>
                    <a:pt x="6259004" y="1100375"/>
                  </a:lnTo>
                  <a:lnTo>
                    <a:pt x="6268212" y="1054735"/>
                  </a:lnTo>
                  <a:lnTo>
                    <a:pt x="6268212" y="117221"/>
                  </a:lnTo>
                  <a:lnTo>
                    <a:pt x="6259004" y="71580"/>
                  </a:lnTo>
                  <a:lnTo>
                    <a:pt x="6233890" y="34321"/>
                  </a:lnTo>
                  <a:lnTo>
                    <a:pt x="6196631" y="9207"/>
                  </a:lnTo>
                  <a:lnTo>
                    <a:pt x="615099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844748" y="3949959"/>
              <a:ext cx="226060" cy="93345"/>
            </a:xfrm>
            <a:custGeom>
              <a:avLst/>
              <a:gdLst/>
              <a:ahLst/>
              <a:cxnLst/>
              <a:rect l="l" t="t" r="r" b="b"/>
              <a:pathLst>
                <a:path w="226060" h="93345">
                  <a:moveTo>
                    <a:pt x="225735" y="0"/>
                  </a:moveTo>
                  <a:lnTo>
                    <a:pt x="0" y="0"/>
                  </a:lnTo>
                  <a:lnTo>
                    <a:pt x="0" y="93000"/>
                  </a:lnTo>
                  <a:lnTo>
                    <a:pt x="225735" y="93000"/>
                  </a:lnTo>
                  <a:lnTo>
                    <a:pt x="2257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8601" y="4302034"/>
              <a:ext cx="79671" cy="79715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17780" y="4302034"/>
              <a:ext cx="79671" cy="79715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16958" y="4302034"/>
              <a:ext cx="79671" cy="79715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5745159" y="4069532"/>
              <a:ext cx="425450" cy="212725"/>
            </a:xfrm>
            <a:custGeom>
              <a:avLst/>
              <a:gdLst/>
              <a:ahLst/>
              <a:cxnLst/>
              <a:rect l="l" t="t" r="r" b="b"/>
              <a:pathLst>
                <a:path w="425450" h="212725">
                  <a:moveTo>
                    <a:pt x="225735" y="0"/>
                  </a:moveTo>
                  <a:lnTo>
                    <a:pt x="199178" y="0"/>
                  </a:lnTo>
                  <a:lnTo>
                    <a:pt x="199178" y="63107"/>
                  </a:lnTo>
                  <a:lnTo>
                    <a:pt x="169301" y="93000"/>
                  </a:lnTo>
                  <a:lnTo>
                    <a:pt x="0" y="93000"/>
                  </a:lnTo>
                  <a:lnTo>
                    <a:pt x="0" y="212573"/>
                  </a:lnTo>
                  <a:lnTo>
                    <a:pt x="26557" y="212573"/>
                  </a:lnTo>
                  <a:lnTo>
                    <a:pt x="26557" y="119572"/>
                  </a:lnTo>
                  <a:lnTo>
                    <a:pt x="192538" y="119572"/>
                  </a:lnTo>
                  <a:lnTo>
                    <a:pt x="179260" y="106286"/>
                  </a:lnTo>
                  <a:lnTo>
                    <a:pt x="212456" y="73072"/>
                  </a:lnTo>
                  <a:lnTo>
                    <a:pt x="235694" y="73072"/>
                  </a:lnTo>
                  <a:lnTo>
                    <a:pt x="225735" y="63107"/>
                  </a:lnTo>
                  <a:lnTo>
                    <a:pt x="225735" y="0"/>
                  </a:lnTo>
                  <a:close/>
                </a:path>
                <a:path w="425450" h="212725">
                  <a:moveTo>
                    <a:pt x="192538" y="119572"/>
                  </a:moveTo>
                  <a:lnTo>
                    <a:pt x="169301" y="119572"/>
                  </a:lnTo>
                  <a:lnTo>
                    <a:pt x="199178" y="149465"/>
                  </a:lnTo>
                  <a:lnTo>
                    <a:pt x="199178" y="212573"/>
                  </a:lnTo>
                  <a:lnTo>
                    <a:pt x="225735" y="212573"/>
                  </a:lnTo>
                  <a:lnTo>
                    <a:pt x="225735" y="149465"/>
                  </a:lnTo>
                  <a:lnTo>
                    <a:pt x="235694" y="139501"/>
                  </a:lnTo>
                  <a:lnTo>
                    <a:pt x="212456" y="139501"/>
                  </a:lnTo>
                  <a:lnTo>
                    <a:pt x="192538" y="119572"/>
                  </a:lnTo>
                  <a:close/>
                </a:path>
                <a:path w="425450" h="212725">
                  <a:moveTo>
                    <a:pt x="424913" y="119572"/>
                  </a:moveTo>
                  <a:lnTo>
                    <a:pt x="398356" y="119572"/>
                  </a:lnTo>
                  <a:lnTo>
                    <a:pt x="398356" y="212573"/>
                  </a:lnTo>
                  <a:lnTo>
                    <a:pt x="424913" y="212573"/>
                  </a:lnTo>
                  <a:lnTo>
                    <a:pt x="424913" y="119572"/>
                  </a:lnTo>
                  <a:close/>
                </a:path>
                <a:path w="425450" h="212725">
                  <a:moveTo>
                    <a:pt x="235694" y="73072"/>
                  </a:moveTo>
                  <a:lnTo>
                    <a:pt x="212456" y="73072"/>
                  </a:lnTo>
                  <a:lnTo>
                    <a:pt x="245653" y="106286"/>
                  </a:lnTo>
                  <a:lnTo>
                    <a:pt x="212456" y="139501"/>
                  </a:lnTo>
                  <a:lnTo>
                    <a:pt x="235694" y="139501"/>
                  </a:lnTo>
                  <a:lnTo>
                    <a:pt x="255611" y="119572"/>
                  </a:lnTo>
                  <a:lnTo>
                    <a:pt x="424913" y="119572"/>
                  </a:lnTo>
                  <a:lnTo>
                    <a:pt x="424913" y="93000"/>
                  </a:lnTo>
                  <a:lnTo>
                    <a:pt x="255611" y="93000"/>
                  </a:lnTo>
                  <a:lnTo>
                    <a:pt x="235694" y="730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5280659" y="5041391"/>
            <a:ext cx="6268720" cy="1172210"/>
            <a:chOff x="5280659" y="5041391"/>
            <a:chExt cx="6268720" cy="1172210"/>
          </a:xfrm>
        </p:grpSpPr>
        <p:sp>
          <p:nvSpPr>
            <p:cNvPr id="21" name="object 21" descr=""/>
            <p:cNvSpPr/>
            <p:nvPr/>
          </p:nvSpPr>
          <p:spPr>
            <a:xfrm>
              <a:off x="5280659" y="5041391"/>
              <a:ext cx="6268720" cy="1172210"/>
            </a:xfrm>
            <a:custGeom>
              <a:avLst/>
              <a:gdLst/>
              <a:ahLst/>
              <a:cxnLst/>
              <a:rect l="l" t="t" r="r" b="b"/>
              <a:pathLst>
                <a:path w="6268720" h="1172210">
                  <a:moveTo>
                    <a:pt x="6150991" y="0"/>
                  </a:moveTo>
                  <a:lnTo>
                    <a:pt x="117220" y="0"/>
                  </a:lnTo>
                  <a:lnTo>
                    <a:pt x="71580" y="9207"/>
                  </a:lnTo>
                  <a:lnTo>
                    <a:pt x="34321" y="34321"/>
                  </a:lnTo>
                  <a:lnTo>
                    <a:pt x="9207" y="71580"/>
                  </a:lnTo>
                  <a:lnTo>
                    <a:pt x="0" y="117220"/>
                  </a:lnTo>
                  <a:lnTo>
                    <a:pt x="0" y="1054760"/>
                  </a:lnTo>
                  <a:lnTo>
                    <a:pt x="9207" y="1100380"/>
                  </a:lnTo>
                  <a:lnTo>
                    <a:pt x="34321" y="1137632"/>
                  </a:lnTo>
                  <a:lnTo>
                    <a:pt x="71580" y="1162747"/>
                  </a:lnTo>
                  <a:lnTo>
                    <a:pt x="117220" y="1171955"/>
                  </a:lnTo>
                  <a:lnTo>
                    <a:pt x="6150991" y="1171955"/>
                  </a:lnTo>
                  <a:lnTo>
                    <a:pt x="6196631" y="1162747"/>
                  </a:lnTo>
                  <a:lnTo>
                    <a:pt x="6233890" y="1137632"/>
                  </a:lnTo>
                  <a:lnTo>
                    <a:pt x="6259004" y="1100380"/>
                  </a:lnTo>
                  <a:lnTo>
                    <a:pt x="6268212" y="1054760"/>
                  </a:lnTo>
                  <a:lnTo>
                    <a:pt x="6268212" y="117220"/>
                  </a:lnTo>
                  <a:lnTo>
                    <a:pt x="6259004" y="71580"/>
                  </a:lnTo>
                  <a:lnTo>
                    <a:pt x="6233890" y="34321"/>
                  </a:lnTo>
                  <a:lnTo>
                    <a:pt x="6196631" y="9207"/>
                  </a:lnTo>
                  <a:lnTo>
                    <a:pt x="6150991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731878" y="5402770"/>
              <a:ext cx="451484" cy="452120"/>
            </a:xfrm>
            <a:custGeom>
              <a:avLst/>
              <a:gdLst/>
              <a:ahLst/>
              <a:cxnLst/>
              <a:rect l="l" t="t" r="r" b="b"/>
              <a:pathLst>
                <a:path w="451485" h="452120">
                  <a:moveTo>
                    <a:pt x="172618" y="66421"/>
                  </a:moveTo>
                  <a:lnTo>
                    <a:pt x="132778" y="66421"/>
                  </a:lnTo>
                  <a:lnTo>
                    <a:pt x="132778" y="166065"/>
                  </a:lnTo>
                  <a:lnTo>
                    <a:pt x="172618" y="166065"/>
                  </a:lnTo>
                  <a:lnTo>
                    <a:pt x="172618" y="66421"/>
                  </a:lnTo>
                  <a:close/>
                </a:path>
                <a:path w="451485" h="452120">
                  <a:moveTo>
                    <a:pt x="245643" y="279006"/>
                  </a:moveTo>
                  <a:lnTo>
                    <a:pt x="205816" y="279006"/>
                  </a:lnTo>
                  <a:lnTo>
                    <a:pt x="205816" y="318858"/>
                  </a:lnTo>
                  <a:lnTo>
                    <a:pt x="245643" y="318858"/>
                  </a:lnTo>
                  <a:lnTo>
                    <a:pt x="245643" y="279006"/>
                  </a:lnTo>
                  <a:close/>
                </a:path>
                <a:path w="451485" h="452120">
                  <a:moveTo>
                    <a:pt x="451472" y="26568"/>
                  </a:moveTo>
                  <a:lnTo>
                    <a:pt x="449376" y="16256"/>
                  </a:lnTo>
                  <a:lnTo>
                    <a:pt x="443661" y="7797"/>
                  </a:lnTo>
                  <a:lnTo>
                    <a:pt x="435216" y="2095"/>
                  </a:lnTo>
                  <a:lnTo>
                    <a:pt x="424903" y="0"/>
                  </a:lnTo>
                  <a:lnTo>
                    <a:pt x="345236" y="0"/>
                  </a:lnTo>
                  <a:lnTo>
                    <a:pt x="345236" y="39852"/>
                  </a:lnTo>
                  <a:lnTo>
                    <a:pt x="345236" y="192646"/>
                  </a:lnTo>
                  <a:lnTo>
                    <a:pt x="292125" y="192646"/>
                  </a:lnTo>
                  <a:lnTo>
                    <a:pt x="292125" y="298932"/>
                  </a:lnTo>
                  <a:lnTo>
                    <a:pt x="286880" y="324726"/>
                  </a:lnTo>
                  <a:lnTo>
                    <a:pt x="272618" y="345846"/>
                  </a:lnTo>
                  <a:lnTo>
                    <a:pt x="251510" y="360121"/>
                  </a:lnTo>
                  <a:lnTo>
                    <a:pt x="225729" y="365353"/>
                  </a:lnTo>
                  <a:lnTo>
                    <a:pt x="199948" y="360121"/>
                  </a:lnTo>
                  <a:lnTo>
                    <a:pt x="178841" y="345846"/>
                  </a:lnTo>
                  <a:lnTo>
                    <a:pt x="164579" y="324726"/>
                  </a:lnTo>
                  <a:lnTo>
                    <a:pt x="159334" y="298932"/>
                  </a:lnTo>
                  <a:lnTo>
                    <a:pt x="164579" y="273138"/>
                  </a:lnTo>
                  <a:lnTo>
                    <a:pt x="178841" y="252018"/>
                  </a:lnTo>
                  <a:lnTo>
                    <a:pt x="199948" y="237744"/>
                  </a:lnTo>
                  <a:lnTo>
                    <a:pt x="225729" y="232498"/>
                  </a:lnTo>
                  <a:lnTo>
                    <a:pt x="251510" y="237744"/>
                  </a:lnTo>
                  <a:lnTo>
                    <a:pt x="272618" y="252018"/>
                  </a:lnTo>
                  <a:lnTo>
                    <a:pt x="286880" y="273138"/>
                  </a:lnTo>
                  <a:lnTo>
                    <a:pt x="292125" y="298932"/>
                  </a:lnTo>
                  <a:lnTo>
                    <a:pt x="292125" y="192646"/>
                  </a:lnTo>
                  <a:lnTo>
                    <a:pt x="106222" y="192646"/>
                  </a:lnTo>
                  <a:lnTo>
                    <a:pt x="106222" y="39852"/>
                  </a:lnTo>
                  <a:lnTo>
                    <a:pt x="345236" y="39852"/>
                  </a:lnTo>
                  <a:lnTo>
                    <a:pt x="345236" y="0"/>
                  </a:lnTo>
                  <a:lnTo>
                    <a:pt x="66382" y="0"/>
                  </a:lnTo>
                  <a:lnTo>
                    <a:pt x="0" y="66421"/>
                  </a:lnTo>
                  <a:lnTo>
                    <a:pt x="0" y="425145"/>
                  </a:lnTo>
                  <a:lnTo>
                    <a:pt x="2095" y="435457"/>
                  </a:lnTo>
                  <a:lnTo>
                    <a:pt x="7797" y="443915"/>
                  </a:lnTo>
                  <a:lnTo>
                    <a:pt x="16243" y="449618"/>
                  </a:lnTo>
                  <a:lnTo>
                    <a:pt x="26555" y="451713"/>
                  </a:lnTo>
                  <a:lnTo>
                    <a:pt x="424903" y="451713"/>
                  </a:lnTo>
                  <a:lnTo>
                    <a:pt x="435216" y="449618"/>
                  </a:lnTo>
                  <a:lnTo>
                    <a:pt x="443661" y="443915"/>
                  </a:lnTo>
                  <a:lnTo>
                    <a:pt x="449376" y="435457"/>
                  </a:lnTo>
                  <a:lnTo>
                    <a:pt x="451472" y="425145"/>
                  </a:lnTo>
                  <a:lnTo>
                    <a:pt x="451472" y="365353"/>
                  </a:lnTo>
                  <a:lnTo>
                    <a:pt x="451472" y="232498"/>
                  </a:lnTo>
                  <a:lnTo>
                    <a:pt x="451472" y="192646"/>
                  </a:lnTo>
                  <a:lnTo>
                    <a:pt x="451472" y="39852"/>
                  </a:lnTo>
                  <a:lnTo>
                    <a:pt x="451472" y="26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6745985" y="3686936"/>
            <a:ext cx="4639310" cy="235585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algn="just" marL="12700" marR="5080">
              <a:lnSpc>
                <a:spcPct val="91700"/>
              </a:lnSpc>
              <a:spcBef>
                <a:spcPts val="300"/>
              </a:spcBef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view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contains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rows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columns,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just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like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a </a:t>
            </a:r>
            <a:r>
              <a:rPr dirty="0" sz="2000">
                <a:latin typeface="Calibri"/>
                <a:cs typeface="Calibri"/>
              </a:rPr>
              <a:t>real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table.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fields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view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fields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from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real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00">
              <a:latin typeface="Calibri"/>
              <a:cs typeface="Calibri"/>
            </a:endParaRPr>
          </a:p>
          <a:p>
            <a:pPr marL="12700" marR="69215">
              <a:lnSpc>
                <a:spcPct val="91800"/>
              </a:lnSpc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view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takes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up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storage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space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than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definition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view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data </a:t>
            </a:r>
            <a:r>
              <a:rPr dirty="0" sz="2000" spc="-10">
                <a:latin typeface="Calibri"/>
                <a:cs typeface="Calibri"/>
              </a:rPr>
              <a:t>dictionary.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74800" y="3011246"/>
            <a:ext cx="3079115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FFFFFF"/>
                </a:solidFill>
                <a:latin typeface="Calibri Light"/>
                <a:cs typeface="Calibri Light"/>
              </a:rPr>
              <a:t>Views</a:t>
            </a:r>
            <a:r>
              <a:rPr dirty="0" sz="4400" spc="-11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400" spc="-10">
                <a:solidFill>
                  <a:srgbClr val="FFFFFF"/>
                </a:solidFill>
                <a:latin typeface="Calibri Light"/>
                <a:cs typeface="Calibri Light"/>
              </a:rPr>
              <a:t>Contd..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54296" y="2057400"/>
            <a:ext cx="0" cy="2743200"/>
          </a:xfrm>
          <a:custGeom>
            <a:avLst/>
            <a:gdLst/>
            <a:ahLst/>
            <a:cxnLst/>
            <a:rect l="l" t="t" r="r" b="b"/>
            <a:pathLst>
              <a:path w="0"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055489" y="554863"/>
            <a:ext cx="6311900" cy="183642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41300" marR="5080" indent="-231140">
              <a:lnSpc>
                <a:spcPts val="2590"/>
              </a:lnSpc>
              <a:spcBef>
                <a:spcPts val="425"/>
              </a:spcBef>
              <a:buSzPct val="95833"/>
              <a:buFont typeface="Wingdings"/>
              <a:buChar char=""/>
              <a:tabLst>
                <a:tab pos="241300" algn="l"/>
                <a:tab pos="254635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Views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looking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24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are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called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FFFFFF"/>
                </a:solidFill>
                <a:latin typeface="Calibri"/>
                <a:cs typeface="Calibri"/>
              </a:rPr>
              <a:t>Read-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dirty="0" sz="2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Calibri"/>
                <a:cs typeface="Calibri"/>
              </a:rPr>
              <a:t>views.</a:t>
            </a:r>
            <a:endParaRPr sz="2400">
              <a:latin typeface="Calibri"/>
              <a:cs typeface="Calibri"/>
            </a:endParaRPr>
          </a:p>
          <a:p>
            <a:pPr marL="241300" marR="253365" indent="-231140">
              <a:lnSpc>
                <a:spcPts val="2590"/>
              </a:lnSpc>
              <a:spcBef>
                <a:spcPts val="1015"/>
              </a:spcBef>
              <a:buSzPct val="95833"/>
              <a:buFont typeface="Wingdings"/>
              <a:buChar char=""/>
              <a:tabLst>
                <a:tab pos="241300" algn="l"/>
                <a:tab pos="254635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Views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look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as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well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Insert,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Delete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called</a:t>
            </a:r>
            <a:r>
              <a:rPr dirty="0" sz="24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Updateable</a:t>
            </a:r>
            <a:r>
              <a:rPr dirty="0" sz="2400" spc="-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055489" y="2911221"/>
            <a:ext cx="6554470" cy="720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635" indent="-244475">
              <a:lnSpc>
                <a:spcPts val="2735"/>
              </a:lnSpc>
              <a:spcBef>
                <a:spcPts val="100"/>
              </a:spcBef>
              <a:buSzPct val="95833"/>
              <a:buFont typeface="Wingdings"/>
              <a:buChar char=""/>
              <a:tabLst>
                <a:tab pos="254635" algn="l"/>
              </a:tabLst>
            </a:pPr>
            <a:r>
              <a:rPr dirty="0" sz="2400" spc="-30" b="1">
                <a:solidFill>
                  <a:srgbClr val="FFFFFF"/>
                </a:solidFill>
                <a:latin typeface="Calibri"/>
                <a:cs typeface="Calibri"/>
              </a:rPr>
              <a:t>SYNTAX</a:t>
            </a:r>
            <a:r>
              <a:rPr dirty="0" sz="2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3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ViewName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field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1,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field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2….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existing_table_name;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55489" y="4153661"/>
            <a:ext cx="6328410" cy="2089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635" indent="-244475">
              <a:lnSpc>
                <a:spcPts val="2735"/>
              </a:lnSpc>
              <a:spcBef>
                <a:spcPts val="100"/>
              </a:spcBef>
              <a:buSzPct val="95833"/>
              <a:buFont typeface="Wingdings"/>
              <a:buChar char=""/>
              <a:tabLst>
                <a:tab pos="254635" algn="l"/>
              </a:tabLst>
            </a:pP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r>
              <a:rPr dirty="0" sz="240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3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emp_view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emp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empdeptno=20;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80"/>
              </a:spcBef>
            </a:pPr>
            <a:endParaRPr sz="2400">
              <a:latin typeface="Calibri"/>
              <a:cs typeface="Calibri"/>
            </a:endParaRPr>
          </a:p>
          <a:p>
            <a:pPr marL="254635" indent="-244475">
              <a:lnSpc>
                <a:spcPct val="100000"/>
              </a:lnSpc>
              <a:buSzPct val="95833"/>
              <a:buFont typeface="Wingdings"/>
              <a:buChar char=""/>
              <a:tabLst>
                <a:tab pos="254635" algn="l"/>
              </a:tabLst>
            </a:pP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CALL</a:t>
            </a:r>
            <a:r>
              <a:rPr dirty="0" sz="24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ViewName</a:t>
            </a:r>
            <a:endParaRPr sz="2400">
              <a:latin typeface="Calibri"/>
              <a:cs typeface="Calibri"/>
            </a:endParaRPr>
          </a:p>
          <a:p>
            <a:pPr marL="254635" indent="-244475">
              <a:lnSpc>
                <a:spcPct val="100000"/>
              </a:lnSpc>
              <a:spcBef>
                <a:spcPts val="705"/>
              </a:spcBef>
              <a:buSzPct val="95833"/>
              <a:buFont typeface="Wingdings"/>
              <a:buChar char=""/>
              <a:tabLst>
                <a:tab pos="254635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Eg: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dirty="0" sz="2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emp_view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99775" y="6496354"/>
            <a:ext cx="123951" cy="8615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891539"/>
            <a:ext cx="722630" cy="5072380"/>
          </a:xfrm>
          <a:custGeom>
            <a:avLst/>
            <a:gdLst/>
            <a:ahLst/>
            <a:cxnLst/>
            <a:rect l="l" t="t" r="r" b="b"/>
            <a:pathLst>
              <a:path w="722630" h="5072380">
                <a:moveTo>
                  <a:pt x="722376" y="0"/>
                </a:moveTo>
                <a:lnTo>
                  <a:pt x="0" y="0"/>
                </a:lnTo>
                <a:lnTo>
                  <a:pt x="0" y="5071872"/>
                </a:lnTo>
                <a:lnTo>
                  <a:pt x="722376" y="5071872"/>
                </a:lnTo>
                <a:lnTo>
                  <a:pt x="722376" y="0"/>
                </a:lnTo>
                <a:close/>
              </a:path>
            </a:pathLst>
          </a:custGeom>
          <a:solidFill>
            <a:srgbClr val="4B52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276858" y="694435"/>
            <a:ext cx="4204970" cy="482727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 b="1">
                <a:latin typeface="Calibri"/>
                <a:cs typeface="Calibri"/>
              </a:rPr>
              <a:t>Creating</a:t>
            </a:r>
            <a:r>
              <a:rPr dirty="0" sz="2400" spc="-6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the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View</a:t>
            </a:r>
            <a:r>
              <a:rPr dirty="0" sz="2400" spc="-6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from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</a:t>
            </a:r>
            <a:r>
              <a:rPr dirty="0" sz="2400" spc="-7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single 	table.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Syntax: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2400" spc="-30">
                <a:latin typeface="Calibri"/>
                <a:cs typeface="Calibri"/>
              </a:rPr>
              <a:t>CREATE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VIEW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DetailsView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2400">
                <a:latin typeface="Calibri"/>
                <a:cs typeface="Calibri"/>
              </a:rPr>
              <a:t>SELECT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NAME,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ADDRESS</a:t>
            </a:r>
            <a:endParaRPr sz="2400">
              <a:latin typeface="Calibri"/>
              <a:cs typeface="Calibri"/>
            </a:endParaRPr>
          </a:p>
          <a:p>
            <a:pPr marL="12700" marR="1536065">
              <a:lnSpc>
                <a:spcPct val="124600"/>
              </a:lnSpc>
              <a:spcBef>
                <a:spcPts val="10"/>
              </a:spcBef>
            </a:pP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StudentDetails </a:t>
            </a:r>
            <a:r>
              <a:rPr dirty="0" sz="2400">
                <a:latin typeface="Calibri"/>
                <a:cs typeface="Calibri"/>
              </a:rPr>
              <a:t>WHERE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S_ID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&lt;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5;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80"/>
              </a:spcBef>
            </a:pP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dirty="0" sz="2400" spc="-90" b="1">
                <a:latin typeface="Calibri"/>
                <a:cs typeface="Calibri"/>
              </a:rPr>
              <a:t>To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call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view: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Syntax: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SELECT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*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DetailsView;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6205728" y="891539"/>
            <a:ext cx="4836160" cy="5786120"/>
            <a:chOff x="6205728" y="891539"/>
            <a:chExt cx="4836160" cy="578612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98893" y="4081249"/>
              <a:ext cx="4513584" cy="259632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51676" y="3806951"/>
              <a:ext cx="4489704" cy="2334768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05728" y="1078991"/>
              <a:ext cx="4789932" cy="304799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67272" y="891539"/>
              <a:ext cx="4494276" cy="25374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131566" y="3011246"/>
            <a:ext cx="1122045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20">
                <a:solidFill>
                  <a:srgbClr val="FFFFFF"/>
                </a:solidFill>
                <a:latin typeface="Calibri Light"/>
                <a:cs typeface="Calibri Light"/>
              </a:rPr>
              <a:t>View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54296" y="2057400"/>
            <a:ext cx="0" cy="2743200"/>
          </a:xfrm>
          <a:custGeom>
            <a:avLst/>
            <a:gdLst/>
            <a:ahLst/>
            <a:cxnLst/>
            <a:rect l="l" t="t" r="r" b="b"/>
            <a:pathLst>
              <a:path w="0"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009134" y="1250696"/>
            <a:ext cx="31343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4005" indent="-28575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4005" algn="l"/>
              </a:tabLst>
            </a:pPr>
            <a:r>
              <a:rPr dirty="0" sz="2800" b="1">
                <a:solidFill>
                  <a:srgbClr val="FFFFFF"/>
                </a:solidFill>
                <a:latin typeface="Calibri"/>
                <a:cs typeface="Calibri"/>
              </a:rPr>
              <a:t>consider</a:t>
            </a:r>
            <a:r>
              <a:rPr dirty="0" sz="2800" spc="-1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2800" spc="-1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FFFFFF"/>
                </a:solidFill>
                <a:latin typeface="Calibri"/>
                <a:cs typeface="Calibri"/>
              </a:rPr>
              <a:t>emp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009134" y="2189124"/>
            <a:ext cx="2633345" cy="1046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9600"/>
              </a:lnSpc>
              <a:spcBef>
                <a:spcPts val="100"/>
              </a:spcBef>
            </a:pP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emp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output: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5070855" y="3397402"/>
          <a:ext cx="4057015" cy="2398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0560"/>
                <a:gridCol w="1585594"/>
                <a:gridCol w="1107439"/>
                <a:gridCol w="617220"/>
              </a:tblGrid>
              <a:tr h="433070">
                <a:tc>
                  <a:txBody>
                    <a:bodyPr/>
                    <a:lstStyle/>
                    <a:p>
                      <a:pPr algn="ctr" marR="154940">
                        <a:lnSpc>
                          <a:spcPts val="2660"/>
                        </a:lnSpc>
                      </a:pPr>
                      <a:r>
                        <a:rPr dirty="0" sz="2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eid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34670">
                        <a:lnSpc>
                          <a:spcPts val="2660"/>
                        </a:lnSpc>
                      </a:pPr>
                      <a:r>
                        <a:rPr dirty="0" sz="2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ename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47980">
                        <a:lnSpc>
                          <a:spcPts val="2660"/>
                        </a:lnSpc>
                      </a:pPr>
                      <a:r>
                        <a:rPr dirty="0" sz="2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esal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ts val="2660"/>
                        </a:lnSpc>
                      </a:pPr>
                      <a:r>
                        <a:rPr dirty="0" sz="2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did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510540">
                <a:tc>
                  <a:txBody>
                    <a:bodyPr/>
                    <a:lstStyle/>
                    <a:p>
                      <a:pPr algn="ctr" marR="96520">
                        <a:lnSpc>
                          <a:spcPts val="3270"/>
                        </a:lnSpc>
                      </a:pPr>
                      <a:r>
                        <a:rPr dirty="0" sz="2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ts val="3270"/>
                        </a:lnSpc>
                      </a:pPr>
                      <a:r>
                        <a:rPr dirty="0" sz="2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neha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3270"/>
                        </a:lnSpc>
                      </a:pPr>
                      <a:r>
                        <a:rPr dirty="0" sz="2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20000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3270"/>
                        </a:lnSpc>
                      </a:pPr>
                      <a:r>
                        <a:rPr dirty="0" sz="2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511175">
                <a:tc>
                  <a:txBody>
                    <a:bodyPr/>
                    <a:lstStyle/>
                    <a:p>
                      <a:pPr algn="ctr" marR="96520">
                        <a:lnSpc>
                          <a:spcPts val="3270"/>
                        </a:lnSpc>
                      </a:pPr>
                      <a:r>
                        <a:rPr dirty="0" sz="2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ts val="3270"/>
                        </a:lnSpc>
                      </a:pPr>
                      <a:r>
                        <a:rPr dirty="0" sz="2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neeta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ts val="3270"/>
                        </a:lnSpc>
                      </a:pPr>
                      <a:r>
                        <a:rPr dirty="0" sz="2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25000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ts val="3270"/>
                        </a:lnSpc>
                      </a:pPr>
                      <a:r>
                        <a:rPr dirty="0" sz="2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511175">
                <a:tc>
                  <a:txBody>
                    <a:bodyPr/>
                    <a:lstStyle/>
                    <a:p>
                      <a:pPr algn="ctr" marR="95885">
                        <a:lnSpc>
                          <a:spcPts val="3275"/>
                        </a:lnSpc>
                      </a:pPr>
                      <a:r>
                        <a:rPr dirty="0" sz="2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ts val="3275"/>
                        </a:lnSpc>
                      </a:pPr>
                      <a:r>
                        <a:rPr dirty="0" sz="2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priya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ts val="3275"/>
                        </a:lnSpc>
                      </a:pPr>
                      <a:r>
                        <a:rPr dirty="0" sz="2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30000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3275"/>
                        </a:lnSpc>
                      </a:pPr>
                      <a:r>
                        <a:rPr dirty="0" sz="2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432434">
                <a:tc>
                  <a:txBody>
                    <a:bodyPr/>
                    <a:lstStyle/>
                    <a:p>
                      <a:pPr algn="ctr" marR="96520">
                        <a:lnSpc>
                          <a:spcPts val="3270"/>
                        </a:lnSpc>
                      </a:pPr>
                      <a:r>
                        <a:rPr dirty="0" sz="2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ts val="3270"/>
                        </a:lnSpc>
                      </a:pPr>
                      <a:r>
                        <a:rPr dirty="0" sz="2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raj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3270"/>
                        </a:lnSpc>
                      </a:pPr>
                      <a:r>
                        <a:rPr dirty="0" sz="2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35000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ts val="3270"/>
                        </a:lnSpc>
                      </a:pPr>
                      <a:r>
                        <a:rPr dirty="0" sz="2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131566" y="3011246"/>
            <a:ext cx="1122045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20">
                <a:solidFill>
                  <a:srgbClr val="FFFFFF"/>
                </a:solidFill>
                <a:latin typeface="Calibri Light"/>
                <a:cs typeface="Calibri Light"/>
              </a:rPr>
              <a:t>View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54296" y="2057400"/>
            <a:ext cx="0" cy="2743200"/>
          </a:xfrm>
          <a:custGeom>
            <a:avLst/>
            <a:gdLst/>
            <a:ahLst/>
            <a:cxnLst/>
            <a:rect l="l" t="t" r="r" b="b"/>
            <a:pathLst>
              <a:path w="0"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055489" y="-40007"/>
            <a:ext cx="6447790" cy="111061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264795" indent="-255270">
              <a:lnSpc>
                <a:spcPct val="100000"/>
              </a:lnSpc>
              <a:spcBef>
                <a:spcPts val="605"/>
              </a:spcBef>
              <a:buSzPct val="96000"/>
              <a:buFont typeface="Wingdings"/>
              <a:buChar char=""/>
              <a:tabLst>
                <a:tab pos="264795" algn="l"/>
              </a:tabLst>
            </a:pPr>
            <a:r>
              <a:rPr dirty="0" sz="2500" b="1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dirty="0" sz="25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500" spc="-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b="1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5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b="1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500" spc="-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b="1">
                <a:solidFill>
                  <a:srgbClr val="FFFFFF"/>
                </a:solidFill>
                <a:latin typeface="Calibri"/>
                <a:cs typeface="Calibri"/>
              </a:rPr>
              <a:t>display</a:t>
            </a:r>
            <a:r>
              <a:rPr dirty="0" sz="250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b="1">
                <a:solidFill>
                  <a:srgbClr val="FFFFFF"/>
                </a:solidFill>
                <a:latin typeface="Calibri"/>
                <a:cs typeface="Calibri"/>
              </a:rPr>
              <a:t>employee</a:t>
            </a:r>
            <a:r>
              <a:rPr dirty="0" sz="25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b="1">
                <a:solidFill>
                  <a:srgbClr val="FFFFFF"/>
                </a:solidFill>
                <a:latin typeface="Calibri"/>
                <a:cs typeface="Calibri"/>
              </a:rPr>
              <a:t>id</a:t>
            </a:r>
            <a:r>
              <a:rPr dirty="0" sz="2500" spc="-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b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500" spc="-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20" b="1">
                <a:solidFill>
                  <a:srgbClr val="FFFFFF"/>
                </a:solidFill>
                <a:latin typeface="Calibri"/>
                <a:cs typeface="Calibri"/>
              </a:rPr>
              <a:t>name</a:t>
            </a:r>
            <a:endParaRPr sz="2500">
              <a:latin typeface="Calibri"/>
              <a:cs typeface="Calibri"/>
            </a:endParaRPr>
          </a:p>
          <a:p>
            <a:pPr marL="12700" marR="1584960">
              <a:lnSpc>
                <a:spcPct val="116100"/>
              </a:lnSpc>
              <a:spcBef>
                <a:spcPts val="2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empdet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as(select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eid,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ename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emp)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empdet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055489" y="1364742"/>
            <a:ext cx="311785" cy="1619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eid 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969889" y="1364742"/>
            <a:ext cx="719455" cy="1619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3340">
              <a:lnSpc>
                <a:spcPct val="116300"/>
              </a:lnSpc>
              <a:spcBef>
                <a:spcPts val="95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ename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neha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neeta priya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Raj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055489" y="2915391"/>
            <a:ext cx="3373754" cy="141097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323215" indent="-310515">
              <a:lnSpc>
                <a:spcPct val="100000"/>
              </a:lnSpc>
              <a:spcBef>
                <a:spcPts val="575"/>
              </a:spcBef>
              <a:buFont typeface="Wingdings"/>
              <a:buChar char=""/>
              <a:tabLst>
                <a:tab pos="323215" algn="l"/>
              </a:tabLst>
            </a:pP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Insert</a:t>
            </a:r>
            <a:r>
              <a:rPr dirty="0" sz="2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2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16399"/>
              </a:lnSpc>
              <a:spcBef>
                <a:spcPts val="5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insert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empdet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values(5,'ankita')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empdet</a:t>
            </a:r>
            <a:r>
              <a:rPr dirty="0" sz="1800" spc="3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//from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view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output: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055489" y="4300474"/>
            <a:ext cx="1163320" cy="193992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  <a:tabLst>
                <a:tab pos="509270" algn="l"/>
              </a:tabLst>
            </a:pP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eid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ename</a:t>
            </a:r>
            <a:endParaRPr sz="1800">
              <a:latin typeface="Calibri"/>
              <a:cs typeface="Calibri"/>
            </a:endParaRPr>
          </a:p>
          <a:p>
            <a:pPr marL="495300" indent="-482600">
              <a:lnSpc>
                <a:spcPct val="100000"/>
              </a:lnSpc>
              <a:spcBef>
                <a:spcPts val="350"/>
              </a:spcBef>
              <a:buAutoNum type="arabicPlain"/>
              <a:tabLst>
                <a:tab pos="495300" algn="l"/>
              </a:tabLst>
            </a:pP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neha</a:t>
            </a:r>
            <a:endParaRPr sz="1800">
              <a:latin typeface="Calibri"/>
              <a:cs typeface="Calibri"/>
            </a:endParaRPr>
          </a:p>
          <a:p>
            <a:pPr marL="495300" indent="-482600">
              <a:lnSpc>
                <a:spcPct val="100000"/>
              </a:lnSpc>
              <a:spcBef>
                <a:spcPts val="360"/>
              </a:spcBef>
              <a:buAutoNum type="arabicPlain"/>
              <a:tabLst>
                <a:tab pos="495300" algn="l"/>
              </a:tabLst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neeta</a:t>
            </a:r>
            <a:endParaRPr sz="1800">
              <a:latin typeface="Calibri"/>
              <a:cs typeface="Calibri"/>
            </a:endParaRPr>
          </a:p>
          <a:p>
            <a:pPr marL="495300" indent="-482600">
              <a:lnSpc>
                <a:spcPct val="100000"/>
              </a:lnSpc>
              <a:spcBef>
                <a:spcPts val="350"/>
              </a:spcBef>
              <a:buAutoNum type="arabicPlain"/>
              <a:tabLst>
                <a:tab pos="495300" algn="l"/>
              </a:tabLst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priya</a:t>
            </a:r>
            <a:endParaRPr sz="1800">
              <a:latin typeface="Calibri"/>
              <a:cs typeface="Calibri"/>
            </a:endParaRPr>
          </a:p>
          <a:p>
            <a:pPr marL="495300" indent="-482600">
              <a:lnSpc>
                <a:spcPct val="100000"/>
              </a:lnSpc>
              <a:spcBef>
                <a:spcPts val="350"/>
              </a:spcBef>
              <a:buAutoNum type="arabicPlain"/>
              <a:tabLst>
                <a:tab pos="495300" algn="l"/>
              </a:tabLst>
            </a:pP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raj</a:t>
            </a:r>
            <a:endParaRPr sz="1800">
              <a:latin typeface="Calibri"/>
              <a:cs typeface="Calibri"/>
            </a:endParaRPr>
          </a:p>
          <a:p>
            <a:pPr marL="495300" indent="-482600">
              <a:lnSpc>
                <a:spcPct val="100000"/>
              </a:lnSpc>
              <a:spcBef>
                <a:spcPts val="359"/>
              </a:spcBef>
              <a:buAutoNum type="arabicPlain"/>
              <a:tabLst>
                <a:tab pos="495300" algn="l"/>
              </a:tabLst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ankita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36641" y="239648"/>
            <a:ext cx="1921510" cy="8178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200" spc="-10">
                <a:latin typeface="Calibri Light"/>
                <a:cs typeface="Calibri Light"/>
              </a:rPr>
              <a:t>Output</a:t>
            </a:r>
            <a:endParaRPr sz="5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38200" y="182880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 h="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1270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32180" y="1864232"/>
            <a:ext cx="45789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81935" algn="l"/>
              </a:tabLst>
            </a:pPr>
            <a:r>
              <a:rPr dirty="0" sz="2800">
                <a:latin typeface="Calibri"/>
                <a:cs typeface="Calibri"/>
              </a:rPr>
              <a:t>select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*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from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emp</a:t>
            </a:r>
            <a:r>
              <a:rPr dirty="0" sz="2800">
                <a:latin typeface="Calibri"/>
                <a:cs typeface="Calibri"/>
              </a:rPr>
              <a:t>	//from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table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838200" y="2450592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 h="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1270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838200" y="2587498"/>
          <a:ext cx="10591800" cy="34626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2510"/>
                <a:gridCol w="1590040"/>
                <a:gridCol w="1819275"/>
                <a:gridCol w="6073140"/>
              </a:tblGrid>
              <a:tr h="484505">
                <a:tc>
                  <a:txBody>
                    <a:bodyPr/>
                    <a:lstStyle/>
                    <a:p>
                      <a:pPr marL="106680">
                        <a:lnSpc>
                          <a:spcPts val="2655"/>
                        </a:lnSpc>
                      </a:pPr>
                      <a:r>
                        <a:rPr dirty="0" sz="2800" spc="-20">
                          <a:latin typeface="Calibri"/>
                          <a:cs typeface="Calibri"/>
                        </a:rPr>
                        <a:t>o/p: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21665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800" spc="-50"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800" spc="-20">
                          <a:latin typeface="Calibri"/>
                          <a:cs typeface="Calibri"/>
                        </a:rPr>
                        <a:t>neha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46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800" spc="-10">
                          <a:latin typeface="Calibri"/>
                          <a:cs typeface="Calibri"/>
                        </a:rPr>
                        <a:t>20000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45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800" spc="-50"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621665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800" spc="-50">
                          <a:latin typeface="Calibri"/>
                          <a:cs typeface="Calibri"/>
                        </a:rPr>
                        <a:t>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800" spc="-10">
                          <a:latin typeface="Calibri"/>
                          <a:cs typeface="Calibri"/>
                        </a:rPr>
                        <a:t>neeta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751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800" spc="-10">
                          <a:latin typeface="Calibri"/>
                          <a:cs typeface="Calibri"/>
                        </a:rPr>
                        <a:t>25000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45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800" spc="-50">
                          <a:latin typeface="Calibri"/>
                          <a:cs typeface="Calibri"/>
                        </a:rPr>
                        <a:t>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621665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800" spc="-50">
                          <a:latin typeface="Calibri"/>
                          <a:cs typeface="Calibri"/>
                        </a:rPr>
                        <a:t>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800" spc="-10">
                          <a:latin typeface="Calibri"/>
                          <a:cs typeface="Calibri"/>
                        </a:rPr>
                        <a:t>priya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800" spc="-10">
                          <a:latin typeface="Calibri"/>
                          <a:cs typeface="Calibri"/>
                        </a:rPr>
                        <a:t>30000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040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800" spc="-50">
                          <a:latin typeface="Calibri"/>
                          <a:cs typeface="Calibri"/>
                        </a:rPr>
                        <a:t>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621665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800" spc="-50">
                          <a:latin typeface="Calibri"/>
                          <a:cs typeface="Calibri"/>
                        </a:rPr>
                        <a:t>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800" spc="-25">
                          <a:latin typeface="Calibri"/>
                          <a:cs typeface="Calibri"/>
                        </a:rPr>
                        <a:t>raj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800" spc="-10">
                          <a:latin typeface="Calibri"/>
                          <a:cs typeface="Calibri"/>
                        </a:rPr>
                        <a:t>35000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56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800" spc="-50">
                          <a:latin typeface="Calibri"/>
                          <a:cs typeface="Calibri"/>
                        </a:rPr>
                        <a:t>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800" spc="-50">
                          <a:latin typeface="Calibri"/>
                          <a:cs typeface="Calibri"/>
                        </a:rPr>
                        <a:t>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5B9BD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800" spc="-10">
                          <a:latin typeface="Calibri"/>
                          <a:cs typeface="Calibri"/>
                        </a:rPr>
                        <a:t>ankita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5B9BD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1910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800" spc="-20">
                          <a:latin typeface="Calibri"/>
                          <a:cs typeface="Calibri"/>
                        </a:rPr>
                        <a:t>NULL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5B9BD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8196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800" spc="-20">
                          <a:latin typeface="Calibri"/>
                          <a:cs typeface="Calibri"/>
                        </a:rPr>
                        <a:t>NULL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5B9BD4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786870" cy="6858000"/>
          </a:xfrm>
          <a:custGeom>
            <a:avLst/>
            <a:gdLst/>
            <a:ahLst/>
            <a:cxnLst/>
            <a:rect l="l" t="t" r="r" b="b"/>
            <a:pathLst>
              <a:path w="11786870" h="6858000">
                <a:moveTo>
                  <a:pt x="11786616" y="6858000"/>
                </a:moveTo>
                <a:lnTo>
                  <a:pt x="8610473" y="0"/>
                </a:lnTo>
                <a:lnTo>
                  <a:pt x="3034157" y="0"/>
                </a:lnTo>
                <a:lnTo>
                  <a:pt x="0" y="0"/>
                </a:lnTo>
                <a:lnTo>
                  <a:pt x="0" y="6858000"/>
                </a:lnTo>
                <a:lnTo>
                  <a:pt x="6210300" y="6858000"/>
                </a:lnTo>
                <a:lnTo>
                  <a:pt x="11786616" y="6858000"/>
                </a:lnTo>
                <a:close/>
              </a:path>
            </a:pathLst>
          </a:custGeom>
          <a:solidFill>
            <a:srgbClr val="000000">
              <a:alpha val="2980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11758" y="2853689"/>
            <a:ext cx="3361690" cy="6965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FFFFFF"/>
                </a:solidFill>
                <a:latin typeface="Calibri Light"/>
                <a:cs typeface="Calibri Light"/>
              </a:rPr>
              <a:t>Delete</a:t>
            </a:r>
            <a:r>
              <a:rPr dirty="0" sz="4400" spc="-105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400">
                <a:solidFill>
                  <a:srgbClr val="FFFFFF"/>
                </a:solidFill>
                <a:latin typeface="Calibri Light"/>
                <a:cs typeface="Calibri Light"/>
              </a:rPr>
              <a:t>on</a:t>
            </a:r>
            <a:r>
              <a:rPr dirty="0" sz="4400" spc="-12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400" spc="-20">
                <a:solidFill>
                  <a:srgbClr val="FFFFFF"/>
                </a:solidFill>
                <a:latin typeface="Calibri Light"/>
                <a:cs typeface="Calibri Light"/>
              </a:rPr>
              <a:t>view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436489" y="60451"/>
            <a:ext cx="4532630" cy="128460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323215" indent="-310515">
              <a:lnSpc>
                <a:spcPct val="100000"/>
              </a:lnSpc>
              <a:spcBef>
                <a:spcPts val="520"/>
              </a:spcBef>
              <a:buFont typeface="Wingdings"/>
              <a:buChar char=""/>
              <a:tabLst>
                <a:tab pos="323215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delete</a:t>
            </a:r>
            <a:r>
              <a:rPr dirty="0" sz="24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4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empdet</a:t>
            </a:r>
            <a:r>
              <a:rPr dirty="0" sz="24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4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eid=5</a:t>
            </a:r>
            <a:endParaRPr sz="2400">
              <a:latin typeface="Calibri"/>
              <a:cs typeface="Calibri"/>
            </a:endParaRPr>
          </a:p>
          <a:p>
            <a:pPr marL="323215" indent="-310515">
              <a:lnSpc>
                <a:spcPct val="100000"/>
              </a:lnSpc>
              <a:spcBef>
                <a:spcPts val="420"/>
              </a:spcBef>
              <a:buFont typeface="Wingdings"/>
              <a:buChar char=""/>
              <a:tabLst>
                <a:tab pos="323215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empdet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//from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endParaRPr sz="2400">
              <a:latin typeface="Calibri"/>
              <a:cs typeface="Calibri"/>
            </a:endParaRPr>
          </a:p>
          <a:p>
            <a:pPr marL="323215" indent="-310515">
              <a:lnSpc>
                <a:spcPct val="100000"/>
              </a:lnSpc>
              <a:spcBef>
                <a:spcPts val="430"/>
              </a:spcBef>
              <a:buFont typeface="Wingdings"/>
              <a:buChar char=""/>
              <a:tabLst>
                <a:tab pos="323215" algn="l"/>
              </a:tabLst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output: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5417439" y="1461769"/>
          <a:ext cx="1922145" cy="1982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9450"/>
                <a:gridCol w="1165860"/>
              </a:tblGrid>
              <a:tr h="361950">
                <a:tc>
                  <a:txBody>
                    <a:bodyPr/>
                    <a:lstStyle/>
                    <a:p>
                      <a:pPr marL="31750">
                        <a:lnSpc>
                          <a:spcPts val="2280"/>
                        </a:lnSpc>
                      </a:pPr>
                      <a:r>
                        <a:rPr dirty="0" sz="24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eid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ts val="2280"/>
                        </a:lnSpc>
                      </a:pPr>
                      <a:r>
                        <a:rPr dirty="0" sz="2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ename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419734">
                <a:tc>
                  <a:txBody>
                    <a:bodyPr/>
                    <a:lstStyle/>
                    <a:p>
                      <a:pPr marL="31750">
                        <a:lnSpc>
                          <a:spcPts val="2730"/>
                        </a:lnSpc>
                      </a:pPr>
                      <a:r>
                        <a:rPr dirty="0" sz="2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ts val="2730"/>
                        </a:lnSpc>
                      </a:pPr>
                      <a:r>
                        <a:rPr dirty="0" sz="24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neha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419734">
                <a:tc>
                  <a:txBody>
                    <a:bodyPr/>
                    <a:lstStyle/>
                    <a:p>
                      <a:pPr marL="31750">
                        <a:lnSpc>
                          <a:spcPts val="2735"/>
                        </a:lnSpc>
                      </a:pPr>
                      <a:r>
                        <a:rPr dirty="0" sz="2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ts val="2735"/>
                        </a:lnSpc>
                      </a:pPr>
                      <a:r>
                        <a:rPr dirty="0" sz="2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neeta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419100">
                <a:tc>
                  <a:txBody>
                    <a:bodyPr/>
                    <a:lstStyle/>
                    <a:p>
                      <a:pPr marL="31750">
                        <a:lnSpc>
                          <a:spcPts val="2730"/>
                        </a:lnSpc>
                      </a:pPr>
                      <a:r>
                        <a:rPr dirty="0" sz="2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ts val="2730"/>
                        </a:lnSpc>
                      </a:pPr>
                      <a:r>
                        <a:rPr dirty="0" sz="2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priya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61950">
                <a:tc>
                  <a:txBody>
                    <a:bodyPr/>
                    <a:lstStyle/>
                    <a:p>
                      <a:pPr marL="31750">
                        <a:lnSpc>
                          <a:spcPts val="2730"/>
                        </a:lnSpc>
                      </a:pPr>
                      <a:r>
                        <a:rPr dirty="0" sz="2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ts val="2730"/>
                        </a:lnSpc>
                      </a:pPr>
                      <a:r>
                        <a:rPr dirty="0" sz="24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raj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5436489" y="3418458"/>
            <a:ext cx="4238625" cy="86360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323215" indent="-310515">
              <a:lnSpc>
                <a:spcPct val="100000"/>
              </a:lnSpc>
              <a:spcBef>
                <a:spcPts val="520"/>
              </a:spcBef>
              <a:buFont typeface="Wingdings"/>
              <a:buChar char=""/>
              <a:tabLst>
                <a:tab pos="323215" algn="l"/>
                <a:tab pos="2694940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emp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//from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endParaRPr sz="2400">
              <a:latin typeface="Calibri"/>
              <a:cs typeface="Calibri"/>
            </a:endParaRPr>
          </a:p>
          <a:p>
            <a:pPr marL="323215" indent="-310515">
              <a:lnSpc>
                <a:spcPct val="100000"/>
              </a:lnSpc>
              <a:spcBef>
                <a:spcPts val="420"/>
              </a:spcBef>
              <a:buFont typeface="Wingdings"/>
              <a:buChar char=""/>
              <a:tabLst>
                <a:tab pos="323215" algn="l"/>
              </a:tabLst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output: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5417439" y="4398670"/>
          <a:ext cx="4303395" cy="19837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6435"/>
                <a:gridCol w="1462405"/>
                <a:gridCol w="1402080"/>
                <a:gridCol w="675639"/>
              </a:tblGrid>
              <a:tr h="362585">
                <a:tc>
                  <a:txBody>
                    <a:bodyPr/>
                    <a:lstStyle/>
                    <a:p>
                      <a:pPr marL="31750">
                        <a:lnSpc>
                          <a:spcPts val="2280"/>
                        </a:lnSpc>
                      </a:pPr>
                      <a:r>
                        <a:rPr dirty="0" sz="24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eid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3050">
                        <a:lnSpc>
                          <a:spcPts val="2280"/>
                        </a:lnSpc>
                      </a:pPr>
                      <a:r>
                        <a:rPr dirty="0" sz="2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ename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3870">
                        <a:lnSpc>
                          <a:spcPts val="2280"/>
                        </a:lnSpc>
                      </a:pPr>
                      <a:r>
                        <a:rPr dirty="0" sz="24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esal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ts val="2280"/>
                        </a:lnSpc>
                      </a:pPr>
                      <a:r>
                        <a:rPr dirty="0" sz="24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419734">
                <a:tc>
                  <a:txBody>
                    <a:bodyPr/>
                    <a:lstStyle/>
                    <a:p>
                      <a:pPr marL="31750">
                        <a:lnSpc>
                          <a:spcPts val="2735"/>
                        </a:lnSpc>
                      </a:pPr>
                      <a:r>
                        <a:rPr dirty="0" sz="2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ts val="2735"/>
                        </a:lnSpc>
                      </a:pPr>
                      <a:r>
                        <a:rPr dirty="0" sz="24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neha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2255">
                        <a:lnSpc>
                          <a:spcPts val="2735"/>
                        </a:lnSpc>
                      </a:pPr>
                      <a:r>
                        <a:rPr dirty="0" sz="2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20000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2384">
                        <a:lnSpc>
                          <a:spcPts val="2735"/>
                        </a:lnSpc>
                      </a:pPr>
                      <a:r>
                        <a:rPr dirty="0" sz="2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419100">
                <a:tc>
                  <a:txBody>
                    <a:bodyPr/>
                    <a:lstStyle/>
                    <a:p>
                      <a:pPr marL="31750">
                        <a:lnSpc>
                          <a:spcPts val="2730"/>
                        </a:lnSpc>
                      </a:pPr>
                      <a:r>
                        <a:rPr dirty="0" sz="2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ts val="2730"/>
                        </a:lnSpc>
                      </a:pPr>
                      <a:r>
                        <a:rPr dirty="0" sz="2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neeta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935">
                        <a:lnSpc>
                          <a:spcPts val="2730"/>
                        </a:lnSpc>
                      </a:pPr>
                      <a:r>
                        <a:rPr dirty="0" sz="2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25000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ts val="2730"/>
                        </a:lnSpc>
                      </a:pPr>
                      <a:r>
                        <a:rPr dirty="0" sz="2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419734">
                <a:tc>
                  <a:txBody>
                    <a:bodyPr/>
                    <a:lstStyle/>
                    <a:p>
                      <a:pPr marL="31750">
                        <a:lnSpc>
                          <a:spcPts val="2730"/>
                        </a:lnSpc>
                      </a:pPr>
                      <a:r>
                        <a:rPr dirty="0" sz="2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ts val="2730"/>
                        </a:lnSpc>
                      </a:pPr>
                      <a:r>
                        <a:rPr dirty="0" sz="2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priya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5430">
                        <a:lnSpc>
                          <a:spcPts val="2730"/>
                        </a:lnSpc>
                      </a:pPr>
                      <a:r>
                        <a:rPr dirty="0" sz="2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30000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2730"/>
                        </a:lnSpc>
                      </a:pPr>
                      <a:r>
                        <a:rPr dirty="0" sz="2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62585">
                <a:tc>
                  <a:txBody>
                    <a:bodyPr/>
                    <a:lstStyle/>
                    <a:p>
                      <a:pPr marL="31750">
                        <a:lnSpc>
                          <a:spcPts val="2735"/>
                        </a:lnSpc>
                      </a:pPr>
                      <a:r>
                        <a:rPr dirty="0" sz="2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ts val="2735"/>
                        </a:lnSpc>
                      </a:pPr>
                      <a:r>
                        <a:rPr dirty="0" sz="24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raj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89560">
                        <a:lnSpc>
                          <a:spcPts val="2735"/>
                        </a:lnSpc>
                      </a:pPr>
                      <a:r>
                        <a:rPr dirty="0" sz="2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35000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3970">
                        <a:lnSpc>
                          <a:spcPts val="2735"/>
                        </a:lnSpc>
                      </a:pPr>
                      <a:r>
                        <a:rPr dirty="0" sz="2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786870" cy="6858000"/>
          </a:xfrm>
          <a:custGeom>
            <a:avLst/>
            <a:gdLst/>
            <a:ahLst/>
            <a:cxnLst/>
            <a:rect l="l" t="t" r="r" b="b"/>
            <a:pathLst>
              <a:path w="11786870" h="6858000">
                <a:moveTo>
                  <a:pt x="11786616" y="6858000"/>
                </a:moveTo>
                <a:lnTo>
                  <a:pt x="8610473" y="0"/>
                </a:lnTo>
                <a:lnTo>
                  <a:pt x="3034157" y="0"/>
                </a:lnTo>
                <a:lnTo>
                  <a:pt x="0" y="0"/>
                </a:lnTo>
                <a:lnTo>
                  <a:pt x="0" y="6858000"/>
                </a:lnTo>
                <a:lnTo>
                  <a:pt x="6210300" y="6858000"/>
                </a:lnTo>
                <a:lnTo>
                  <a:pt x="11786616" y="6858000"/>
                </a:lnTo>
                <a:close/>
              </a:path>
            </a:pathLst>
          </a:custGeom>
          <a:solidFill>
            <a:srgbClr val="000000">
              <a:alpha val="2980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11758" y="2551938"/>
            <a:ext cx="2296160" cy="130048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 sz="4400">
                <a:solidFill>
                  <a:srgbClr val="FFFFFF"/>
                </a:solidFill>
                <a:latin typeface="Calibri Light"/>
                <a:cs typeface="Calibri Light"/>
              </a:rPr>
              <a:t>Read</a:t>
            </a:r>
            <a:r>
              <a:rPr dirty="0" sz="4400" spc="-17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400" spc="-20">
                <a:solidFill>
                  <a:srgbClr val="FFFFFF"/>
                </a:solidFill>
                <a:latin typeface="Calibri Light"/>
                <a:cs typeface="Calibri Light"/>
              </a:rPr>
              <a:t>Only View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510532" y="575894"/>
            <a:ext cx="7193280" cy="51441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ts val="2160"/>
              </a:lnSpc>
              <a:spcBef>
                <a:spcPts val="105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read-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option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restrict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to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160"/>
              </a:lnSpc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view.</a:t>
            </a:r>
            <a:endParaRPr sz="2000">
              <a:latin typeface="Calibri"/>
              <a:cs typeface="Calibri"/>
            </a:endParaRPr>
          </a:p>
          <a:p>
            <a:pPr marL="240029" indent="-227965">
              <a:lnSpc>
                <a:spcPct val="100000"/>
              </a:lnSpc>
              <a:spcBef>
                <a:spcPts val="515"/>
              </a:spcBef>
              <a:buFont typeface="Wingdings"/>
              <a:buChar char=""/>
              <a:tabLst>
                <a:tab pos="240029" algn="l"/>
                <a:tab pos="927100" algn="l"/>
              </a:tabLst>
            </a:pP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Syntax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Read-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endParaRPr sz="2000">
              <a:latin typeface="Calibri"/>
              <a:cs typeface="Calibri"/>
            </a:endParaRPr>
          </a:p>
          <a:p>
            <a:pPr marL="927100" marR="2138045">
              <a:lnSpc>
                <a:spcPct val="121500"/>
              </a:lnSpc>
              <a:spcBef>
                <a:spcPts val="15"/>
              </a:spcBef>
            </a:pP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dirty="0" sz="20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REPLACE</a:t>
            </a:r>
            <a:r>
              <a:rPr dirty="0" sz="20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view_name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AS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0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column_name(s)</a:t>
            </a:r>
            <a:endParaRPr sz="2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515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table_name</a:t>
            </a:r>
            <a:endParaRPr sz="2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530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0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condition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read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endParaRPr sz="2000">
              <a:latin typeface="Calibri"/>
              <a:cs typeface="Calibri"/>
            </a:endParaRPr>
          </a:p>
          <a:p>
            <a:pPr marL="241300" marR="5080" indent="-228600">
              <a:lnSpc>
                <a:spcPts val="1920"/>
              </a:lnSpc>
              <a:spcBef>
                <a:spcPts val="980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above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syntax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read-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purpose,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cannot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Insert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read-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view.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throw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error.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ts val="2160"/>
              </a:lnSpc>
              <a:spcBef>
                <a:spcPts val="530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emp_det2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as(select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eid,ename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emp2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read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160"/>
              </a:lnSpc>
            </a:pP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30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emp_det2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15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insert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emp_det2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values(7,'Nita')</a:t>
            </a:r>
            <a:r>
              <a:rPr dirty="0" sz="20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//can't</a:t>
            </a:r>
            <a:r>
              <a:rPr dirty="0" sz="20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execute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15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emp_det2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ename='rahul'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eid=6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//can't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execute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30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delete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emp_det2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0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eid=6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//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//can't</a:t>
            </a:r>
            <a:r>
              <a:rPr dirty="0" sz="20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execute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39800" y="2709799"/>
            <a:ext cx="3314065" cy="6965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FFFFFF"/>
                </a:solidFill>
                <a:latin typeface="Calibri Light"/>
                <a:cs typeface="Calibri Light"/>
              </a:rPr>
              <a:t>Types</a:t>
            </a:r>
            <a:r>
              <a:rPr dirty="0" sz="4400" spc="-125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40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dirty="0" sz="4400" spc="-12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400" spc="-10">
                <a:solidFill>
                  <a:srgbClr val="FFFFFF"/>
                </a:solidFill>
                <a:latin typeface="Calibri Light"/>
                <a:cs typeface="Calibri Light"/>
              </a:rPr>
              <a:t>Views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54296" y="2057400"/>
            <a:ext cx="0" cy="2743200"/>
          </a:xfrm>
          <a:custGeom>
            <a:avLst/>
            <a:gdLst/>
            <a:ahLst/>
            <a:cxnLst/>
            <a:rect l="l" t="t" r="r" b="b"/>
            <a:pathLst>
              <a:path w="0"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055489" y="969391"/>
            <a:ext cx="33883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Consider</a:t>
            </a:r>
            <a:r>
              <a:rPr dirty="0" sz="280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faculty</a:t>
            </a:r>
            <a:r>
              <a:rPr dirty="0" sz="280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055489" y="1904771"/>
            <a:ext cx="3184525" cy="156019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faculty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o/p: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5441822" y="3059665"/>
          <a:ext cx="2783205" cy="2964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0205"/>
                <a:gridCol w="1220470"/>
                <a:gridCol w="1115695"/>
              </a:tblGrid>
              <a:tr h="487680">
                <a:tc gridSpan="3">
                  <a:txBody>
                    <a:bodyPr/>
                    <a:lstStyle/>
                    <a:p>
                      <a:pPr marL="17780">
                        <a:lnSpc>
                          <a:spcPts val="3090"/>
                        </a:lnSpc>
                        <a:tabLst>
                          <a:tab pos="528320" algn="l"/>
                          <a:tab pos="1671955" algn="l"/>
                        </a:tabLst>
                      </a:pPr>
                      <a:r>
                        <a:rPr dirty="0" sz="2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Fname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Branch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11175">
                <a:tc>
                  <a:txBody>
                    <a:bodyPr/>
                    <a:lstStyle/>
                    <a:p>
                      <a:pPr marL="31750">
                        <a:lnSpc>
                          <a:spcPts val="3270"/>
                        </a:lnSpc>
                      </a:pPr>
                      <a:r>
                        <a:rPr dirty="0" sz="2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5945">
                        <a:lnSpc>
                          <a:spcPts val="3270"/>
                        </a:lnSpc>
                      </a:pPr>
                      <a:r>
                        <a:rPr dirty="0" sz="2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3270"/>
                        </a:lnSpc>
                      </a:pPr>
                      <a:r>
                        <a:rPr dirty="0" sz="2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IT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511175">
                <a:tc>
                  <a:txBody>
                    <a:bodyPr/>
                    <a:lstStyle/>
                    <a:p>
                      <a:pPr marL="31750">
                        <a:lnSpc>
                          <a:spcPts val="3275"/>
                        </a:lnSpc>
                      </a:pPr>
                      <a:r>
                        <a:rPr dirty="0" sz="2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5945">
                        <a:lnSpc>
                          <a:spcPts val="3275"/>
                        </a:lnSpc>
                      </a:pPr>
                      <a:r>
                        <a:rPr dirty="0" sz="2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3275"/>
                        </a:lnSpc>
                      </a:pPr>
                      <a:r>
                        <a:rPr dirty="0" sz="2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IT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510540">
                <a:tc>
                  <a:txBody>
                    <a:bodyPr/>
                    <a:lstStyle/>
                    <a:p>
                      <a:pPr marL="31750">
                        <a:lnSpc>
                          <a:spcPts val="3270"/>
                        </a:lnSpc>
                      </a:pPr>
                      <a:r>
                        <a:rPr dirty="0" sz="2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5945">
                        <a:lnSpc>
                          <a:spcPts val="3270"/>
                        </a:lnSpc>
                      </a:pPr>
                      <a:r>
                        <a:rPr dirty="0" sz="2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3270"/>
                        </a:lnSpc>
                      </a:pPr>
                      <a:r>
                        <a:rPr dirty="0" sz="2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511175">
                <a:tc>
                  <a:txBody>
                    <a:bodyPr/>
                    <a:lstStyle/>
                    <a:p>
                      <a:pPr marL="31750">
                        <a:lnSpc>
                          <a:spcPts val="3270"/>
                        </a:lnSpc>
                      </a:pPr>
                      <a:r>
                        <a:rPr dirty="0" sz="2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5945">
                        <a:lnSpc>
                          <a:spcPts val="3270"/>
                        </a:lnSpc>
                      </a:pPr>
                      <a:r>
                        <a:rPr dirty="0" sz="2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3270"/>
                        </a:lnSpc>
                      </a:pPr>
                      <a:r>
                        <a:rPr dirty="0" sz="2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433070">
                <a:tc>
                  <a:txBody>
                    <a:bodyPr/>
                    <a:lstStyle/>
                    <a:p>
                      <a:pPr marL="31750">
                        <a:lnSpc>
                          <a:spcPts val="3275"/>
                        </a:lnSpc>
                      </a:pPr>
                      <a:r>
                        <a:rPr dirty="0" sz="2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5945">
                        <a:lnSpc>
                          <a:spcPts val="3275"/>
                        </a:lnSpc>
                      </a:pPr>
                      <a:r>
                        <a:rPr dirty="0" sz="2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3275"/>
                        </a:lnSpc>
                      </a:pPr>
                      <a:r>
                        <a:rPr dirty="0" sz="2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27605" y="2709799"/>
            <a:ext cx="2327275" cy="13004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ts val="5015"/>
              </a:lnSpc>
              <a:spcBef>
                <a:spcPts val="105"/>
              </a:spcBef>
            </a:pPr>
            <a:r>
              <a:rPr dirty="0" sz="4400" spc="-25">
                <a:solidFill>
                  <a:srgbClr val="FFFFFF"/>
                </a:solidFill>
                <a:latin typeface="Calibri Light"/>
                <a:cs typeface="Calibri Light"/>
              </a:rPr>
              <a:t>Horizontal</a:t>
            </a:r>
            <a:endParaRPr sz="4400">
              <a:latin typeface="Calibri Light"/>
              <a:cs typeface="Calibri Light"/>
            </a:endParaRPr>
          </a:p>
          <a:p>
            <a:pPr algn="r" marR="6350">
              <a:lnSpc>
                <a:spcPts val="5015"/>
              </a:lnSpc>
            </a:pPr>
            <a:r>
              <a:rPr dirty="0" sz="4400" spc="-20">
                <a:solidFill>
                  <a:srgbClr val="FFFFFF"/>
                </a:solidFill>
                <a:latin typeface="Calibri Light"/>
                <a:cs typeface="Calibri Light"/>
              </a:rPr>
              <a:t>view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54296" y="2057400"/>
            <a:ext cx="0" cy="2743200"/>
          </a:xfrm>
          <a:custGeom>
            <a:avLst/>
            <a:gdLst/>
            <a:ahLst/>
            <a:cxnLst/>
            <a:rect l="l" t="t" r="r" b="b"/>
            <a:pathLst>
              <a:path w="0"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946650" y="321944"/>
            <a:ext cx="6383020" cy="211645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240029" marR="21590" indent="-227329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horizontal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cuts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source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tables 	horizontally</a:t>
            </a:r>
            <a:r>
              <a:rPr dirty="0" sz="2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dirty="0" sz="28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view.</a:t>
            </a:r>
            <a:r>
              <a:rPr dirty="0" sz="2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28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creates</a:t>
            </a:r>
            <a:r>
              <a:rPr dirty="0" sz="2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horizontal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source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tables.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2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dirty="0" sz="2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dirty="0" sz="2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names</a:t>
            </a:r>
            <a:r>
              <a:rPr dirty="0" sz="2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dirty="0" sz="2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be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displayed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view.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946650" y="3007867"/>
            <a:ext cx="6599555" cy="134810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dirty="0" sz="280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IT_faculty</a:t>
            </a:r>
            <a:r>
              <a:rPr dirty="0" sz="2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as(select</a:t>
            </a:r>
            <a:r>
              <a:rPr dirty="0" sz="28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dirty="0" sz="2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faculty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80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branch='IT')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o/p: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108194" y="4330344"/>
            <a:ext cx="2924810" cy="1558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3345" marR="5080" indent="-81280">
              <a:lnSpc>
                <a:spcPct val="119600"/>
              </a:lnSpc>
              <a:spcBef>
                <a:spcPts val="100"/>
              </a:spcBef>
              <a:tabLst>
                <a:tab pos="765810" algn="l"/>
                <a:tab pos="1908175" algn="l"/>
              </a:tabLst>
            </a:pP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Fid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Fname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Branch 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marL="93345">
              <a:lnSpc>
                <a:spcPct val="100000"/>
              </a:lnSpc>
              <a:spcBef>
                <a:spcPts val="675"/>
              </a:spcBef>
            </a:pP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184519" y="4839687"/>
            <a:ext cx="301625" cy="104965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  <a:p>
            <a:pPr marL="94615">
              <a:lnSpc>
                <a:spcPct val="100000"/>
              </a:lnSpc>
              <a:spcBef>
                <a:spcPts val="670"/>
              </a:spcBef>
            </a:pP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261986" y="4839687"/>
            <a:ext cx="288925" cy="10496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IT IT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89633" y="3011246"/>
            <a:ext cx="2863215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20">
                <a:solidFill>
                  <a:srgbClr val="FFFFFF"/>
                </a:solidFill>
                <a:latin typeface="Calibri Light"/>
                <a:cs typeface="Calibri Light"/>
              </a:rPr>
              <a:t>Vertical</a:t>
            </a:r>
            <a:r>
              <a:rPr dirty="0" sz="4400" spc="-17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400" spc="-20">
                <a:solidFill>
                  <a:srgbClr val="FFFFFF"/>
                </a:solidFill>
                <a:latin typeface="Calibri Light"/>
                <a:cs typeface="Calibri Light"/>
              </a:rPr>
              <a:t>view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54296" y="2057400"/>
            <a:ext cx="0" cy="2743200"/>
          </a:xfrm>
          <a:custGeom>
            <a:avLst/>
            <a:gdLst/>
            <a:ahLst/>
            <a:cxnLst/>
            <a:rect l="l" t="t" r="r" b="b"/>
            <a:pathLst>
              <a:path w="0"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946650" y="601725"/>
            <a:ext cx="6966584" cy="224282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0029" marR="5080" indent="-227329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vertical</a:t>
            </a:r>
            <a:r>
              <a:rPr dirty="0" sz="2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cuts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source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r>
              <a:rPr dirty="0" sz="2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vertically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dirty="0" sz="28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view.</a:t>
            </a:r>
            <a:endParaRPr sz="2800">
              <a:latin typeface="Calibri"/>
              <a:cs typeface="Calibri"/>
            </a:endParaRPr>
          </a:p>
          <a:p>
            <a:pPr marL="240029" marR="515620" indent="-227329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dirty="0" sz="28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info</a:t>
            </a:r>
            <a:r>
              <a:rPr dirty="0" sz="2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(select</a:t>
            </a:r>
            <a:r>
              <a:rPr dirty="0" sz="2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Fid,</a:t>
            </a:r>
            <a:r>
              <a:rPr dirty="0" sz="2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FName</a:t>
            </a:r>
            <a:r>
              <a:rPr dirty="0" sz="2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from 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faculty)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o/p: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108194" y="2817647"/>
            <a:ext cx="456565" cy="3093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3990" marR="5080" indent="-161925">
              <a:lnSpc>
                <a:spcPct val="120000"/>
              </a:lnSpc>
              <a:spcBef>
                <a:spcPts val="100"/>
              </a:spcBef>
            </a:pP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Fid 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marL="173990">
              <a:lnSpc>
                <a:spcPct val="100000"/>
              </a:lnSpc>
              <a:spcBef>
                <a:spcPts val="660"/>
              </a:spcBef>
            </a:pP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  <a:p>
            <a:pPr marL="173990">
              <a:lnSpc>
                <a:spcPct val="100000"/>
              </a:lnSpc>
              <a:spcBef>
                <a:spcPts val="660"/>
              </a:spcBef>
            </a:pP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  <a:p>
            <a:pPr marL="173990">
              <a:lnSpc>
                <a:spcPct val="100000"/>
              </a:lnSpc>
              <a:spcBef>
                <a:spcPts val="675"/>
              </a:spcBef>
            </a:pP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  <a:p>
            <a:pPr marL="173990">
              <a:lnSpc>
                <a:spcPct val="100000"/>
              </a:lnSpc>
              <a:spcBef>
                <a:spcPts val="660"/>
              </a:spcBef>
            </a:pP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266924" y="2817647"/>
            <a:ext cx="1049020" cy="309372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FName</a:t>
            </a:r>
            <a:endParaRPr sz="2800">
              <a:latin typeface="Calibri"/>
              <a:cs typeface="Calibri"/>
            </a:endParaRPr>
          </a:p>
          <a:p>
            <a:pPr algn="just" marL="497205" marR="325120">
              <a:lnSpc>
                <a:spcPct val="119800"/>
              </a:lnSpc>
              <a:spcBef>
                <a:spcPts val="10"/>
              </a:spcBef>
            </a:pP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A B C D 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372614" y="2709799"/>
            <a:ext cx="1880870" cy="130048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323215" marR="5080" indent="-311150">
              <a:lnSpc>
                <a:spcPts val="4750"/>
              </a:lnSpc>
              <a:spcBef>
                <a:spcPts val="705"/>
              </a:spcBef>
            </a:pPr>
            <a:r>
              <a:rPr dirty="0" sz="4400">
                <a:solidFill>
                  <a:srgbClr val="FFFFFF"/>
                </a:solidFill>
                <a:latin typeface="Calibri Light"/>
                <a:cs typeface="Calibri Light"/>
              </a:rPr>
              <a:t>Types</a:t>
            </a:r>
            <a:r>
              <a:rPr dirty="0" sz="4400" spc="-245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400" spc="-25">
                <a:solidFill>
                  <a:srgbClr val="FFFFFF"/>
                </a:solidFill>
                <a:latin typeface="Calibri Light"/>
                <a:cs typeface="Calibri Light"/>
              </a:rPr>
              <a:t>of </a:t>
            </a:r>
            <a:r>
              <a:rPr dirty="0" sz="4400" spc="-50">
                <a:solidFill>
                  <a:srgbClr val="FFFFFF"/>
                </a:solidFill>
                <a:latin typeface="Calibri Light"/>
                <a:cs typeface="Calibri Light"/>
              </a:rPr>
              <a:t>view....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54296" y="2057400"/>
            <a:ext cx="0" cy="2743200"/>
          </a:xfrm>
          <a:custGeom>
            <a:avLst/>
            <a:gdLst/>
            <a:ahLst/>
            <a:cxnLst/>
            <a:rect l="l" t="t" r="r" b="b"/>
            <a:pathLst>
              <a:path w="0"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055489" y="183007"/>
            <a:ext cx="6867525" cy="198247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algn="just" marL="241300" marR="5080" indent="-231140">
              <a:lnSpc>
                <a:spcPct val="80000"/>
              </a:lnSpc>
              <a:spcBef>
                <a:spcPts val="675"/>
              </a:spcBef>
              <a:buSzPct val="95833"/>
              <a:buFont typeface="Wingdings"/>
              <a:buChar char=""/>
              <a:tabLst>
                <a:tab pos="241300" algn="l"/>
                <a:tab pos="254635" algn="l"/>
              </a:tabLst>
            </a:pP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Row/Column</a:t>
            </a:r>
            <a:r>
              <a:rPr dirty="0" sz="2400" spc="280" b="1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Subset</a:t>
            </a:r>
            <a:r>
              <a:rPr dirty="0" sz="2400" spc="280" b="1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400" spc="285" b="1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2400" spc="285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28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row/column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subset</a:t>
            </a:r>
            <a:r>
              <a:rPr dirty="0" sz="2400" spc="31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400" spc="3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slices</a:t>
            </a:r>
            <a:r>
              <a:rPr dirty="0" sz="2400" spc="3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3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2400" spc="3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horizontally</a:t>
            </a:r>
            <a:r>
              <a:rPr dirty="0" sz="2400" spc="3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400" spc="3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well</a:t>
            </a:r>
            <a:r>
              <a:rPr dirty="0" sz="2400" spc="3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as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vertically</a:t>
            </a:r>
            <a:r>
              <a:rPr dirty="0" sz="2400" spc="3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00" spc="2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dirty="0" sz="2400" spc="3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2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view.</a:t>
            </a:r>
            <a:r>
              <a:rPr dirty="0" sz="2400" spc="2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dirty="0" sz="2400" spc="3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dirty="0" sz="2400" spc="3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columns</a:t>
            </a:r>
            <a:r>
              <a:rPr dirty="0" sz="2400" spc="2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rows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source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endParaRPr sz="2400">
              <a:latin typeface="Calibri"/>
              <a:cs typeface="Calibri"/>
            </a:endParaRPr>
          </a:p>
          <a:p>
            <a:pPr marL="254000" indent="-244475">
              <a:lnSpc>
                <a:spcPts val="2595"/>
              </a:lnSpc>
              <a:spcBef>
                <a:spcPts val="430"/>
              </a:spcBef>
              <a:buSzPct val="95833"/>
              <a:buFont typeface="Wingdings"/>
              <a:buChar char=""/>
              <a:tabLst>
                <a:tab pos="254000" algn="l"/>
                <a:tab pos="1614170" algn="l"/>
                <a:tab pos="1945005" algn="l"/>
                <a:tab pos="3046730" algn="l"/>
                <a:tab pos="3894454" algn="l"/>
                <a:tab pos="5612130" algn="l"/>
                <a:tab pos="6107430" algn="l"/>
              </a:tabLst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RowColView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595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EmpNo,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EmpName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Emp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DeptNo=10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055489" y="2612516"/>
            <a:ext cx="6868795" cy="683895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241300" marR="5080" indent="-231140">
              <a:lnSpc>
                <a:spcPts val="2300"/>
              </a:lnSpc>
              <a:spcBef>
                <a:spcPts val="660"/>
              </a:spcBef>
              <a:buSzPct val="95833"/>
              <a:buFont typeface="Wingdings"/>
              <a:buChar char=""/>
              <a:tabLst>
                <a:tab pos="241300" algn="l"/>
                <a:tab pos="254635" algn="l"/>
              </a:tabLst>
            </a:pP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Grouped</a:t>
            </a:r>
            <a:r>
              <a:rPr dirty="0" sz="2400" spc="2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400" spc="2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2400" spc="2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2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dirty="0" sz="2400" spc="2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specified</a:t>
            </a:r>
            <a:r>
              <a:rPr dirty="0" sz="2400" spc="2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400" spc="2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2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400" spc="25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400" spc="2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clause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called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grouped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55489" y="3326129"/>
            <a:ext cx="6868795" cy="97663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241300" marR="5080" indent="-231140">
              <a:lnSpc>
                <a:spcPts val="2300"/>
              </a:lnSpc>
              <a:spcBef>
                <a:spcPts val="660"/>
              </a:spcBef>
              <a:buSzPct val="95833"/>
              <a:buFont typeface="Wingdings"/>
              <a:buChar char=""/>
              <a:tabLst>
                <a:tab pos="241300" algn="l"/>
                <a:tab pos="254635" algn="l"/>
                <a:tab pos="1691639" algn="l"/>
                <a:tab pos="1769745" algn="l"/>
                <a:tab pos="2101850" algn="l"/>
                <a:tab pos="3282950" algn="l"/>
                <a:tab pos="3671570" algn="l"/>
                <a:tab pos="4210050" algn="l"/>
                <a:tab pos="4648835" algn="l"/>
                <a:tab pos="5427980" algn="l"/>
                <a:tab pos="5537200" algn="l"/>
                <a:tab pos="6110605" algn="l"/>
                <a:tab pos="6549390" algn="l"/>
              </a:tabLst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GrpView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	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Select COUNT(*),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	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SUM(EmpSal)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EMP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330"/>
              </a:lnSpc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DeptNo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055489" y="4330445"/>
            <a:ext cx="6868159" cy="198120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algn="just" marL="241300" marR="5080" indent="-231140">
              <a:lnSpc>
                <a:spcPts val="2310"/>
              </a:lnSpc>
              <a:spcBef>
                <a:spcPts val="650"/>
              </a:spcBef>
              <a:buSzPct val="95833"/>
              <a:buFont typeface="Wingdings"/>
              <a:buChar char=""/>
              <a:tabLst>
                <a:tab pos="241300" algn="l"/>
                <a:tab pos="254635" algn="l"/>
              </a:tabLst>
            </a:pP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Joined</a:t>
            </a:r>
            <a:r>
              <a:rPr dirty="0" sz="24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40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24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Joined</a:t>
            </a:r>
            <a:r>
              <a:rPr dirty="0" sz="24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views</a:t>
            </a:r>
            <a:r>
              <a:rPr dirty="0" sz="24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24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created</a:t>
            </a:r>
            <a:r>
              <a:rPr dirty="0" sz="24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4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specifying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multi</a:t>
            </a:r>
            <a:r>
              <a:rPr dirty="0" sz="2400" spc="9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2400" spc="10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dirty="0" sz="2400" spc="9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2400" spc="10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draws</a:t>
            </a:r>
            <a:r>
              <a:rPr dirty="0" sz="2400" spc="10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400" spc="10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400" spc="10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multiple tables.</a:t>
            </a:r>
            <a:endParaRPr sz="2400">
              <a:latin typeface="Calibri"/>
              <a:cs typeface="Calibri"/>
            </a:endParaRPr>
          </a:p>
          <a:p>
            <a:pPr algn="just" marL="241300" marR="5715" indent="-231140">
              <a:lnSpc>
                <a:spcPct val="80000"/>
              </a:lnSpc>
              <a:spcBef>
                <a:spcPts val="1005"/>
              </a:spcBef>
              <a:buSzPct val="95833"/>
              <a:buFont typeface="Wingdings"/>
              <a:buChar char=""/>
              <a:tabLst>
                <a:tab pos="241300" algn="l"/>
                <a:tab pos="254635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r>
              <a:rPr dirty="0" sz="2400" spc="40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2400" spc="40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dirty="0" sz="2400" spc="40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400" spc="40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JoinView</a:t>
            </a:r>
            <a:r>
              <a:rPr dirty="0" sz="2400" spc="39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400" spc="40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Select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D.Dname,</a:t>
            </a:r>
            <a:r>
              <a:rPr dirty="0" sz="2400" spc="2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E.EmpName</a:t>
            </a:r>
            <a:r>
              <a:rPr dirty="0" sz="2400" spc="2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400" spc="2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Dept</a:t>
            </a:r>
            <a:r>
              <a:rPr dirty="0" sz="2400" spc="2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D,</a:t>
            </a:r>
            <a:r>
              <a:rPr dirty="0" sz="2400" spc="2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Emp</a:t>
            </a:r>
            <a:r>
              <a:rPr dirty="0" sz="2400" spc="2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2400" spc="2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WHERE D.DeptNo=E.EmpDeptNo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6061" y="2709799"/>
            <a:ext cx="2488565" cy="130048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ts val="5015"/>
              </a:lnSpc>
              <a:spcBef>
                <a:spcPts val="105"/>
              </a:spcBef>
            </a:pPr>
            <a:r>
              <a:rPr dirty="0">
                <a:solidFill>
                  <a:srgbClr val="FFFFFF"/>
                </a:solidFill>
                <a:latin typeface="Calibri Light"/>
                <a:cs typeface="Calibri Light"/>
              </a:rPr>
              <a:t>Dropping</a:t>
            </a:r>
            <a:r>
              <a:rPr dirty="0" spc="-20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pc="-5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</a:p>
          <a:p>
            <a:pPr algn="r" marR="5715">
              <a:lnSpc>
                <a:spcPts val="5015"/>
              </a:lnSpc>
            </a:pPr>
            <a:r>
              <a:rPr dirty="0" spc="-20">
                <a:solidFill>
                  <a:srgbClr val="FFFFFF"/>
                </a:solidFill>
                <a:latin typeface="Calibri Light"/>
                <a:cs typeface="Calibri Light"/>
              </a:rPr>
              <a:t>view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4654296" y="2057400"/>
            <a:ext cx="0" cy="2743200"/>
          </a:xfrm>
          <a:custGeom>
            <a:avLst/>
            <a:gdLst/>
            <a:ahLst/>
            <a:cxnLst/>
            <a:rect l="l" t="t" r="r" b="b"/>
            <a:pathLst>
              <a:path w="0"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055489" y="1772412"/>
            <a:ext cx="4113529" cy="126682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3600" spc="-10">
                <a:solidFill>
                  <a:srgbClr val="FFFFFF"/>
                </a:solidFill>
                <a:latin typeface="Calibri"/>
                <a:cs typeface="Calibri"/>
              </a:rPr>
              <a:t>Syntax: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 sz="3600">
                <a:solidFill>
                  <a:srgbClr val="FFFFFF"/>
                </a:solidFill>
                <a:latin typeface="Calibri"/>
                <a:cs typeface="Calibri"/>
              </a:rPr>
              <a:t>drop</a:t>
            </a:r>
            <a:r>
              <a:rPr dirty="0" sz="36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36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alibri"/>
                <a:cs typeface="Calibri"/>
              </a:rPr>
              <a:t>view_name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055489" y="3706825"/>
            <a:ext cx="364744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FFFFFF"/>
                </a:solidFill>
                <a:latin typeface="Calibri"/>
                <a:cs typeface="Calibri"/>
              </a:rPr>
              <a:t>drop</a:t>
            </a:r>
            <a:r>
              <a:rPr dirty="0" sz="36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36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alibri"/>
                <a:cs typeface="Calibri"/>
              </a:rPr>
              <a:t>emp_det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779777" y="2374519"/>
            <a:ext cx="2473960" cy="1367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7620">
              <a:lnSpc>
                <a:spcPct val="100000"/>
              </a:lnSpc>
              <a:spcBef>
                <a:spcPts val="105"/>
              </a:spcBef>
            </a:pPr>
            <a:r>
              <a:rPr dirty="0" sz="4400" spc="-55" b="1">
                <a:solidFill>
                  <a:srgbClr val="FFFFFF"/>
                </a:solidFill>
                <a:latin typeface="Calibri"/>
                <a:cs typeface="Calibri"/>
              </a:rPr>
              <a:t>UPDATING</a:t>
            </a:r>
            <a:endParaRPr sz="44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</a:pPr>
            <a:r>
              <a:rPr dirty="0" sz="4400" spc="-10" b="1">
                <a:solidFill>
                  <a:srgbClr val="FFFFFF"/>
                </a:solidFill>
                <a:latin typeface="Calibri"/>
                <a:cs typeface="Calibri"/>
              </a:rPr>
              <a:t>VIEWS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54296" y="2057400"/>
            <a:ext cx="0" cy="2743200"/>
          </a:xfrm>
          <a:custGeom>
            <a:avLst/>
            <a:gdLst/>
            <a:ahLst/>
            <a:cxnLst/>
            <a:rect l="l" t="t" r="r" b="b"/>
            <a:pathLst>
              <a:path w="0"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055489" y="305816"/>
            <a:ext cx="6360795" cy="96393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 marR="5080">
              <a:lnSpc>
                <a:spcPts val="2380"/>
              </a:lnSpc>
              <a:spcBef>
                <a:spcPts val="390"/>
              </a:spcBef>
            </a:pP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There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22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certain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conditions</a:t>
            </a:r>
            <a:r>
              <a:rPr dirty="0" sz="2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needed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dirty="0" sz="2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satisfied</a:t>
            </a:r>
            <a:r>
              <a:rPr dirty="0" sz="2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20">
                <a:solidFill>
                  <a:srgbClr val="FFFFFF"/>
                </a:solidFill>
                <a:latin typeface="Calibri"/>
                <a:cs typeface="Calibri"/>
              </a:rPr>
              <a:t>view.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dirty="0" sz="2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these</a:t>
            </a:r>
            <a:r>
              <a:rPr dirty="0" sz="2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conditions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dirty="0" sz="22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20">
                <a:solidFill>
                  <a:srgbClr val="FFFFFF"/>
                </a:solidFill>
                <a:latin typeface="Calibri"/>
                <a:cs typeface="Calibri"/>
              </a:rPr>
              <a:t>met,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then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dirty="0" sz="2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allowed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view.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055489" y="1647189"/>
            <a:ext cx="6781165" cy="468630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355600" marR="221615" indent="-342900">
              <a:lnSpc>
                <a:spcPts val="2380"/>
              </a:lnSpc>
              <a:spcBef>
                <a:spcPts val="39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r>
              <a:rPr dirty="0" sz="2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dirty="0" sz="22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dirty="0" sz="2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dirty="0" sz="2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20">
                <a:solidFill>
                  <a:srgbClr val="FFFFFF"/>
                </a:solidFill>
                <a:latin typeface="Calibri"/>
                <a:cs typeface="Calibri"/>
              </a:rPr>
              <a:t>view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should</a:t>
            </a:r>
            <a:r>
              <a:rPr dirty="0" sz="2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include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clause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dirty="0" sz="2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Calibri"/>
                <a:cs typeface="Calibri"/>
              </a:rPr>
              <a:t>BY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clause.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ts val="2510"/>
              </a:lnSpc>
              <a:spcBef>
                <a:spcPts val="2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r>
              <a:rPr dirty="0" sz="2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should</a:t>
            </a:r>
            <a:r>
              <a:rPr dirty="0" sz="22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dirty="0" sz="2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dirty="0" sz="22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DISTINCT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ts val="2510"/>
              </a:lnSpc>
            </a:pP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keyword.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should</a:t>
            </a:r>
            <a:r>
              <a:rPr dirty="0" sz="2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dirty="0" sz="2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2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NULL</a:t>
            </a:r>
            <a:r>
              <a:rPr dirty="0" sz="2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values.</a:t>
            </a:r>
            <a:endParaRPr sz="2200">
              <a:latin typeface="Calibri"/>
              <a:cs typeface="Calibri"/>
            </a:endParaRPr>
          </a:p>
          <a:p>
            <a:pPr marL="355600" marR="157480" indent="-342900">
              <a:lnSpc>
                <a:spcPts val="2380"/>
              </a:lnSpc>
              <a:spcBef>
                <a:spcPts val="56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should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created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nested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queries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Calibri"/>
                <a:cs typeface="Calibri"/>
              </a:rPr>
              <a:t>or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complex</a:t>
            </a:r>
            <a:r>
              <a:rPr dirty="0" sz="2200" spc="-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queries.</a:t>
            </a:r>
            <a:endParaRPr sz="2200">
              <a:latin typeface="Calibri"/>
              <a:cs typeface="Calibri"/>
            </a:endParaRPr>
          </a:p>
          <a:p>
            <a:pPr marL="355600" marR="83185" indent="-342900">
              <a:lnSpc>
                <a:spcPct val="90000"/>
              </a:lnSpc>
              <a:spcBef>
                <a:spcPts val="49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should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created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table.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created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then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dirty="0" sz="2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Calibri"/>
                <a:cs typeface="Calibri"/>
              </a:rPr>
              <a:t>be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allowed</a:t>
            </a:r>
            <a:r>
              <a:rPr dirty="0" sz="2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20">
                <a:solidFill>
                  <a:srgbClr val="FFFFFF"/>
                </a:solidFill>
                <a:latin typeface="Calibri"/>
                <a:cs typeface="Calibri"/>
              </a:rPr>
              <a:t>view.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35" b="1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r>
              <a:rPr dirty="0" sz="22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record</a:t>
            </a:r>
            <a:r>
              <a:rPr dirty="0" sz="2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view.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ts val="2510"/>
              </a:lnSpc>
              <a:spcBef>
                <a:spcPts val="26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 spc="-25">
                <a:solidFill>
                  <a:srgbClr val="FFFFFF"/>
                </a:solidFill>
                <a:latin typeface="Calibri"/>
                <a:cs typeface="Calibri"/>
              </a:rPr>
              <a:t>SYNTAX: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r>
              <a:rPr dirty="0" sz="2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view_name</a:t>
            </a:r>
            <a:r>
              <a:rPr dirty="0" sz="22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dirty="0" sz="2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field_name=new_value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ts val="2510"/>
              </a:lnSpc>
            </a:pP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2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condition;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99268" y="6496354"/>
            <a:ext cx="125093" cy="8775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0655" y="2374519"/>
            <a:ext cx="3322954" cy="13677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pc="-10" b="1">
                <a:solidFill>
                  <a:srgbClr val="FFFFFF"/>
                </a:solidFill>
                <a:latin typeface="Calibri"/>
                <a:cs typeface="Calibri"/>
              </a:rPr>
              <a:t>Advantages</a:t>
            </a:r>
            <a:r>
              <a:rPr dirty="0" spc="-2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pc="-25" b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</a:p>
          <a:p>
            <a:pPr algn="r" marR="5080">
              <a:lnSpc>
                <a:spcPct val="100000"/>
              </a:lnSpc>
            </a:pPr>
            <a:r>
              <a:rPr dirty="0" spc="-10" b="1">
                <a:solidFill>
                  <a:srgbClr val="FFFFFF"/>
                </a:solidFill>
                <a:latin typeface="Calibri"/>
                <a:cs typeface="Calibri"/>
              </a:rPr>
              <a:t>views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4654296" y="2057400"/>
            <a:ext cx="0" cy="2743200"/>
          </a:xfrm>
          <a:custGeom>
            <a:avLst/>
            <a:gdLst/>
            <a:ahLst/>
            <a:cxnLst/>
            <a:rect l="l" t="t" r="r" b="b"/>
            <a:pathLst>
              <a:path w="0"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055489" y="620014"/>
            <a:ext cx="6670675" cy="4927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3060" marR="5715" indent="-34036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Security</a:t>
            </a:r>
            <a:r>
              <a:rPr dirty="0" sz="2400" spc="459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2400" spc="4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dirty="0" sz="2400" spc="4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dirty="0" sz="2400" spc="4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2400" spc="4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dirty="0" sz="2400" spc="4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given</a:t>
            </a:r>
            <a:r>
              <a:rPr dirty="0" sz="2400" spc="4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permission</a:t>
            </a:r>
            <a:r>
              <a:rPr dirty="0" sz="2400" spc="4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dirty="0" sz="2400" spc="4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4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dirty="0" sz="2400" spc="4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dirty="0" sz="2400" spc="4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through</a:t>
            </a:r>
            <a:r>
              <a:rPr dirty="0" sz="2400" spc="4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4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small</a:t>
            </a:r>
            <a:r>
              <a:rPr dirty="0" sz="2400" spc="4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dirty="0" sz="2400" spc="4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views</a:t>
            </a:r>
            <a:r>
              <a:rPr dirty="0" sz="2400" spc="5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2400" spc="5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contain</a:t>
            </a:r>
            <a:r>
              <a:rPr dirty="0" sz="2400" spc="5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5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specific</a:t>
            </a:r>
            <a:r>
              <a:rPr dirty="0" sz="2400" spc="5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400" spc="5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5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dirty="0" sz="2400" spc="5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authorized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see,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thus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restricting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user's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access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stored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algn="just" marL="353060" marR="5080" indent="-34036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dirty="0" sz="2400" spc="7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Simplicity</a:t>
            </a:r>
            <a:r>
              <a:rPr dirty="0" sz="2400" spc="7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2400" spc="7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7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400" spc="7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2400" spc="7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draw</a:t>
            </a:r>
            <a:r>
              <a:rPr dirty="0" sz="2400" spc="7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400" spc="6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from 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several</a:t>
            </a:r>
            <a:r>
              <a:rPr dirty="0" sz="2400" spc="25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dirty="0" sz="2400" spc="2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r>
              <a:rPr dirty="0" sz="2400" spc="2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400" spc="25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present</a:t>
            </a:r>
            <a:r>
              <a:rPr dirty="0" sz="2400" spc="2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2400" spc="25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400" spc="2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2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single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table,</a:t>
            </a:r>
            <a:r>
              <a:rPr dirty="0" sz="2400" spc="1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turning</a:t>
            </a:r>
            <a:r>
              <a:rPr dirty="0" sz="2400" spc="1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multi-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2400" spc="1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queries</a:t>
            </a:r>
            <a:r>
              <a:rPr dirty="0" sz="2400" spc="1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2400" spc="1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single-table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queries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against</a:t>
            </a:r>
            <a:r>
              <a:rPr dirty="0" sz="24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view.</a:t>
            </a:r>
            <a:endParaRPr sz="2400">
              <a:latin typeface="Calibri"/>
              <a:cs typeface="Calibri"/>
            </a:endParaRPr>
          </a:p>
          <a:p>
            <a:pPr algn="just" marL="353060" marR="5080" indent="-34036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Structural</a:t>
            </a:r>
            <a:r>
              <a:rPr dirty="0" sz="2400" spc="8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simplicity</a:t>
            </a:r>
            <a:r>
              <a:rPr dirty="0" sz="2400" spc="9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2400" spc="9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Views</a:t>
            </a:r>
            <a:r>
              <a:rPr dirty="0" sz="2400" spc="9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2400" spc="10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give</a:t>
            </a:r>
            <a:r>
              <a:rPr dirty="0" sz="2400" spc="9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9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dirty="0" sz="2400" spc="10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"personalized"</a:t>
            </a:r>
            <a:r>
              <a:rPr dirty="0" sz="2400" spc="13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400" spc="14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400" spc="14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14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dirty="0" sz="2400" spc="14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structure,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presenting</a:t>
            </a:r>
            <a:r>
              <a:rPr dirty="0" sz="2400" spc="2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2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dirty="0" sz="2400" spc="2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400" spc="2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2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dirty="0" sz="2400" spc="2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400" spc="2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virtual</a:t>
            </a:r>
            <a:r>
              <a:rPr dirty="0" sz="2400" spc="2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tables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make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sense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user.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99268" y="6496354"/>
            <a:ext cx="128141" cy="8775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06270" y="2561970"/>
            <a:ext cx="2346325" cy="828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6350">
              <a:lnSpc>
                <a:spcPts val="3160"/>
              </a:lnSpc>
              <a:spcBef>
                <a:spcPts val="95"/>
              </a:spcBef>
            </a:pPr>
            <a:r>
              <a:rPr dirty="0" sz="3100" spc="-10" b="1">
                <a:solidFill>
                  <a:srgbClr val="FFFFFF"/>
                </a:solidFill>
                <a:latin typeface="Calibri"/>
                <a:cs typeface="Calibri"/>
              </a:rPr>
              <a:t>Advantages</a:t>
            </a:r>
            <a:r>
              <a:rPr dirty="0" sz="3100" spc="-1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100" spc="-25" b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endParaRPr sz="3100">
              <a:latin typeface="Calibri"/>
              <a:cs typeface="Calibri"/>
            </a:endParaRPr>
          </a:p>
          <a:p>
            <a:pPr algn="r" marR="5080">
              <a:lnSpc>
                <a:spcPts val="3160"/>
              </a:lnSpc>
            </a:pPr>
            <a:r>
              <a:rPr dirty="0" sz="3100" spc="-10" b="1">
                <a:solidFill>
                  <a:srgbClr val="FFFFFF"/>
                </a:solidFill>
                <a:latin typeface="Calibri"/>
                <a:cs typeface="Calibri"/>
              </a:rPr>
              <a:t>views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54296" y="2057400"/>
            <a:ext cx="0" cy="2743200"/>
          </a:xfrm>
          <a:custGeom>
            <a:avLst/>
            <a:gdLst/>
            <a:ahLst/>
            <a:cxnLst/>
            <a:rect l="l" t="t" r="r" b="b"/>
            <a:pathLst>
              <a:path w="0"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030851" y="466471"/>
            <a:ext cx="20027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  <a:tab pos="1896110" algn="l"/>
              </a:tabLst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Consistency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198232" y="466471"/>
            <a:ext cx="45961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9730" algn="l"/>
                <a:tab pos="1147445" algn="l"/>
                <a:tab pos="1771014" algn="l"/>
                <a:tab pos="2908300" algn="l"/>
                <a:tab pos="3244850" algn="l"/>
              </a:tabLst>
            </a:pP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present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consistent,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259451" y="795654"/>
            <a:ext cx="6536055" cy="104965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algn="just" marL="12700" marR="5080">
              <a:lnSpc>
                <a:spcPts val="2590"/>
              </a:lnSpc>
              <a:spcBef>
                <a:spcPts val="425"/>
              </a:spcBef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unchanged</a:t>
            </a:r>
            <a:r>
              <a:rPr dirty="0" sz="2400" spc="2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r>
              <a:rPr dirty="0" sz="2400" spc="2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400" spc="2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2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structure</a:t>
            </a:r>
            <a:r>
              <a:rPr dirty="0" sz="2400" spc="2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400" spc="2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2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database,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even</a:t>
            </a:r>
            <a:r>
              <a:rPr dirty="0" sz="2400" spc="23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dirty="0" sz="2400" spc="24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23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underlying</a:t>
            </a:r>
            <a:r>
              <a:rPr dirty="0" sz="2400" spc="23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source</a:t>
            </a:r>
            <a:r>
              <a:rPr dirty="0" sz="2400" spc="23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r>
              <a:rPr dirty="0" sz="2400" spc="23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2400" spc="229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split, restructured,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renamed.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030851" y="2258948"/>
            <a:ext cx="6763384" cy="72072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  <a:tab pos="984885" algn="l"/>
                <a:tab pos="2195195" algn="l"/>
                <a:tab pos="2455545" algn="l"/>
                <a:tab pos="2792095" algn="l"/>
                <a:tab pos="3508375" algn="l"/>
                <a:tab pos="3865245" algn="l"/>
                <a:tab pos="5139690" algn="l"/>
                <a:tab pos="5773420" algn="l"/>
              </a:tabLst>
            </a:pP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Integrity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accessed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entered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through</a:t>
            </a:r>
            <a:r>
              <a:rPr dirty="0" sz="2400" spc="229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2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view,</a:t>
            </a:r>
            <a:r>
              <a:rPr dirty="0" sz="2400" spc="2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2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DBMS</a:t>
            </a:r>
            <a:r>
              <a:rPr dirty="0" sz="2400" spc="2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2400" spc="2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automatically</a:t>
            </a:r>
            <a:r>
              <a:rPr dirty="0" sz="2400" spc="229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check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259451" y="2917012"/>
            <a:ext cx="6534784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1505" algn="l"/>
                <a:tab pos="1344295" algn="l"/>
                <a:tab pos="1786255" algn="l"/>
                <a:tab pos="2816860" algn="l"/>
                <a:tab pos="3510279" algn="l"/>
                <a:tab pos="3866515" algn="l"/>
                <a:tab pos="4818380" algn="l"/>
                <a:tab pos="5417185" algn="l"/>
              </a:tabLst>
            </a:pP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ensure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meets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specified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259451" y="3246882"/>
            <a:ext cx="25673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integrity</a:t>
            </a:r>
            <a:r>
              <a:rPr dirty="0" sz="24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constraints.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030851" y="4051554"/>
            <a:ext cx="6765290" cy="236664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algn="just" marL="240029" marR="508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Logical</a:t>
            </a:r>
            <a:r>
              <a:rPr dirty="0" sz="2400" spc="5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400" spc="4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independence</a:t>
            </a:r>
            <a:r>
              <a:rPr dirty="0" sz="2400" spc="5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2400" spc="50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4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2400" spc="4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make</a:t>
            </a:r>
            <a:r>
              <a:rPr dirty="0" sz="2400" spc="5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2400" spc="2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400" spc="229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dirty="0" sz="2400" spc="229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r>
              <a:rPr dirty="0" sz="2400" spc="2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00" spc="2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2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certain</a:t>
            </a:r>
            <a:r>
              <a:rPr dirty="0" sz="2400" spc="2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extent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independent.</a:t>
            </a:r>
            <a:r>
              <a:rPr dirty="0" sz="2400" spc="5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dirty="0" sz="2400" spc="5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there</a:t>
            </a:r>
            <a:r>
              <a:rPr dirty="0" sz="2400" spc="3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400" spc="5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dirty="0" sz="2400" spc="5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view,</a:t>
            </a:r>
            <a:r>
              <a:rPr dirty="0" sz="2400" spc="3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5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application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dirty="0" sz="2400" spc="12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dirty="0" sz="2400" spc="13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dirty="0" sz="2400" spc="13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2400" spc="12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12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table.</a:t>
            </a:r>
            <a:r>
              <a:rPr dirty="0" sz="2400" spc="12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400" spc="13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13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view,</a:t>
            </a:r>
            <a:r>
              <a:rPr dirty="0" sz="2400" spc="12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program</a:t>
            </a:r>
            <a:r>
              <a:rPr dirty="0" sz="2400" spc="5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2400" spc="5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dirty="0" sz="2400" spc="5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established</a:t>
            </a:r>
            <a:r>
              <a:rPr dirty="0" sz="2400" spc="5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400" spc="5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400" spc="5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400" spc="5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above,</a:t>
            </a:r>
            <a:r>
              <a:rPr dirty="0" sz="2400" spc="5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400" spc="13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13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program</a:t>
            </a:r>
            <a:r>
              <a:rPr dirty="0" sz="2400" spc="13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400" spc="13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13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dirty="0" sz="2400" spc="13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2400" spc="13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00" spc="12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be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separated.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30408" y="6496354"/>
            <a:ext cx="124712" cy="8775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7744" y="2446147"/>
            <a:ext cx="3145155" cy="1276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z="4100" spc="-10" b="1">
                <a:solidFill>
                  <a:srgbClr val="FFFFFF"/>
                </a:solidFill>
                <a:latin typeface="Calibri"/>
                <a:cs typeface="Calibri"/>
              </a:rPr>
              <a:t>Disadvantages</a:t>
            </a:r>
            <a:endParaRPr sz="41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</a:pPr>
            <a:r>
              <a:rPr dirty="0" sz="4100" b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4100" spc="-10" b="1">
                <a:solidFill>
                  <a:srgbClr val="FFFFFF"/>
                </a:solidFill>
                <a:latin typeface="Calibri"/>
                <a:cs typeface="Calibri"/>
              </a:rPr>
              <a:t> views</a:t>
            </a:r>
            <a:endParaRPr sz="41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54296" y="2057400"/>
            <a:ext cx="0" cy="2743200"/>
          </a:xfrm>
          <a:custGeom>
            <a:avLst/>
            <a:gdLst/>
            <a:ahLst/>
            <a:cxnLst/>
            <a:rect l="l" t="t" r="r" b="b"/>
            <a:pathLst>
              <a:path w="0"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946650" y="548386"/>
            <a:ext cx="6978015" cy="1809750"/>
          </a:xfrm>
          <a:prstGeom prst="rect">
            <a:avLst/>
          </a:prstGeom>
        </p:spPr>
        <p:txBody>
          <a:bodyPr wrap="square" lIns="0" tIns="132080" rIns="0" bIns="0" rtlCol="0" vert="horz">
            <a:spAutoFit/>
          </a:bodyPr>
          <a:lstStyle/>
          <a:p>
            <a:pPr marL="355600" marR="5080" indent="-343535">
              <a:lnSpc>
                <a:spcPct val="70000"/>
              </a:lnSpc>
              <a:spcBef>
                <a:spcPts val="104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 spc="-10" b="1">
                <a:solidFill>
                  <a:srgbClr val="FFFFFF"/>
                </a:solidFill>
                <a:latin typeface="Calibri"/>
                <a:cs typeface="Calibri"/>
              </a:rPr>
              <a:t>Performance</a:t>
            </a:r>
            <a:r>
              <a:rPr dirty="0" sz="26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26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Views</a:t>
            </a:r>
            <a:r>
              <a:rPr dirty="0" sz="26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dirty="0" sz="26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6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appearance</a:t>
            </a:r>
            <a:r>
              <a:rPr dirty="0" sz="26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6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table,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dirty="0" sz="2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DBMS</a:t>
            </a:r>
            <a:r>
              <a:rPr dirty="0" sz="26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still</a:t>
            </a:r>
            <a:r>
              <a:rPr dirty="0" sz="26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translate</a:t>
            </a:r>
            <a:r>
              <a:rPr dirty="0" sz="26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queries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against</a:t>
            </a:r>
            <a:r>
              <a:rPr dirty="0" sz="26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6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6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26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queries</a:t>
            </a:r>
            <a:r>
              <a:rPr dirty="0" sz="26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against</a:t>
            </a:r>
            <a:r>
              <a:rPr dirty="0" sz="26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underlying</a:t>
            </a:r>
            <a:r>
              <a:rPr dirty="0" sz="26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source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tables.</a:t>
            </a:r>
            <a:r>
              <a:rPr dirty="0" sz="26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dirty="0" sz="26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6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6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defined</a:t>
            </a:r>
            <a:r>
              <a:rPr dirty="0" sz="26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Calibri"/>
                <a:cs typeface="Calibri"/>
              </a:rPr>
              <a:t>by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6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complex,</a:t>
            </a:r>
            <a:r>
              <a:rPr dirty="0" sz="26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multi-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2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dirty="0" sz="26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then</a:t>
            </a:r>
            <a:r>
              <a:rPr dirty="0" sz="26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simple</a:t>
            </a:r>
            <a:r>
              <a:rPr dirty="0" sz="26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queries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26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6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views</a:t>
            </a:r>
            <a:r>
              <a:rPr dirty="0" sz="26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may</a:t>
            </a:r>
            <a:r>
              <a:rPr dirty="0" sz="26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take</a:t>
            </a:r>
            <a:r>
              <a:rPr dirty="0" sz="26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considerable</a:t>
            </a:r>
            <a:r>
              <a:rPr dirty="0" sz="26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time.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946650" y="2648838"/>
            <a:ext cx="7141209" cy="1809750"/>
          </a:xfrm>
          <a:prstGeom prst="rect">
            <a:avLst/>
          </a:prstGeom>
        </p:spPr>
        <p:txBody>
          <a:bodyPr wrap="square" lIns="0" tIns="132080" rIns="0" bIns="0" rtlCol="0" vert="horz">
            <a:spAutoFit/>
          </a:bodyPr>
          <a:lstStyle/>
          <a:p>
            <a:pPr marL="355600" marR="5080" indent="-343535">
              <a:lnSpc>
                <a:spcPct val="70000"/>
              </a:lnSpc>
              <a:spcBef>
                <a:spcPts val="104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 b="1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r>
              <a:rPr dirty="0" sz="26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FFFFFF"/>
                </a:solidFill>
                <a:latin typeface="Calibri"/>
                <a:cs typeface="Calibri"/>
              </a:rPr>
              <a:t>restrictions</a:t>
            </a:r>
            <a:r>
              <a:rPr dirty="0" sz="26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26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dirty="0" sz="26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6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dirty="0" sz="26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tries</a:t>
            </a:r>
            <a:r>
              <a:rPr dirty="0" sz="26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6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update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rows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30">
                <a:solidFill>
                  <a:srgbClr val="FFFFFF"/>
                </a:solidFill>
                <a:latin typeface="Calibri"/>
                <a:cs typeface="Calibri"/>
              </a:rPr>
              <a:t>view,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6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DBMS</a:t>
            </a:r>
            <a:r>
              <a:rPr dirty="0" sz="26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dirty="0" sz="26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translate</a:t>
            </a:r>
            <a:r>
              <a:rPr dirty="0" sz="26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request</a:t>
            </a:r>
            <a:r>
              <a:rPr dirty="0" sz="26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26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dirty="0" sz="26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r>
              <a:rPr dirty="0" sz="26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26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rows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6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underlying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source</a:t>
            </a:r>
            <a:r>
              <a:rPr dirty="0" sz="26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tables.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dirty="0" sz="26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6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possible</a:t>
            </a:r>
            <a:r>
              <a:rPr dirty="0" sz="26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26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simple</a:t>
            </a:r>
            <a:r>
              <a:rPr dirty="0" sz="26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views,</a:t>
            </a:r>
            <a:r>
              <a:rPr dirty="0" sz="26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Calibri"/>
                <a:cs typeface="Calibri"/>
              </a:rPr>
              <a:t>but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dirty="0" sz="26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complex</a:t>
            </a:r>
            <a:r>
              <a:rPr dirty="0" sz="26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views</a:t>
            </a:r>
            <a:r>
              <a:rPr dirty="0" sz="26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26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often</a:t>
            </a:r>
            <a:r>
              <a:rPr dirty="0" sz="26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restricted</a:t>
            </a:r>
            <a:r>
              <a:rPr dirty="0" sz="26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6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read- only.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946650" y="4749546"/>
            <a:ext cx="6961505" cy="1532255"/>
          </a:xfrm>
          <a:prstGeom prst="rect">
            <a:avLst/>
          </a:prstGeom>
        </p:spPr>
        <p:txBody>
          <a:bodyPr wrap="square" lIns="0" tIns="132080" rIns="0" bIns="0" rtlCol="0" vert="horz">
            <a:spAutoFit/>
          </a:bodyPr>
          <a:lstStyle/>
          <a:p>
            <a:pPr marL="355600" marR="5080" indent="-343535">
              <a:lnSpc>
                <a:spcPct val="70000"/>
              </a:lnSpc>
              <a:spcBef>
                <a:spcPts val="104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 spc="-20" b="1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r>
              <a:rPr dirty="0" sz="260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FFFFFF"/>
                </a:solidFill>
                <a:latin typeface="Calibri"/>
                <a:cs typeface="Calibri"/>
              </a:rPr>
              <a:t>dependency</a:t>
            </a:r>
            <a:r>
              <a:rPr dirty="0" sz="26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260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dirty="0" sz="26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dirty="0" sz="26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6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6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dirty="0" sz="26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Calibri"/>
                <a:cs typeface="Calibri"/>
              </a:rPr>
              <a:t>on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underlying</a:t>
            </a:r>
            <a:r>
              <a:rPr dirty="0" sz="26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r>
              <a:rPr dirty="0" sz="26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6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database.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Whenever</a:t>
            </a:r>
            <a:r>
              <a:rPr dirty="0" sz="26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Calibri"/>
                <a:cs typeface="Calibri"/>
              </a:rPr>
              <a:t>you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change</a:t>
            </a:r>
            <a:r>
              <a:rPr dirty="0" sz="26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6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structure</a:t>
            </a:r>
            <a:r>
              <a:rPr dirty="0" sz="26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these</a:t>
            </a:r>
            <a:r>
              <a:rPr dirty="0" sz="26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2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view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associated</a:t>
            </a:r>
            <a:r>
              <a:rPr dirty="0" sz="26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with,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dirty="0" sz="26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dirty="0" sz="26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6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change</a:t>
            </a:r>
            <a:r>
              <a:rPr dirty="0" sz="26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6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6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Calibri"/>
                <a:cs typeface="Calibri"/>
              </a:rPr>
              <a:t>as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well.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99268" y="6496354"/>
            <a:ext cx="126744" cy="8775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74066" y="248157"/>
            <a:ext cx="4460240" cy="6306820"/>
          </a:xfrm>
          <a:custGeom>
            <a:avLst/>
            <a:gdLst/>
            <a:ahLst/>
            <a:cxnLst/>
            <a:rect l="l" t="t" r="r" b="b"/>
            <a:pathLst>
              <a:path w="4460240" h="6306820">
                <a:moveTo>
                  <a:pt x="4408932" y="56515"/>
                </a:moveTo>
                <a:lnTo>
                  <a:pt x="4403217" y="50800"/>
                </a:lnTo>
                <a:lnTo>
                  <a:pt x="56489" y="50800"/>
                </a:lnTo>
                <a:lnTo>
                  <a:pt x="50800" y="56515"/>
                </a:lnTo>
                <a:lnTo>
                  <a:pt x="50800" y="6250330"/>
                </a:lnTo>
                <a:lnTo>
                  <a:pt x="56489" y="6256020"/>
                </a:lnTo>
                <a:lnTo>
                  <a:pt x="4403217" y="6256020"/>
                </a:lnTo>
                <a:lnTo>
                  <a:pt x="4408932" y="6250330"/>
                </a:lnTo>
                <a:lnTo>
                  <a:pt x="4408932" y="6179820"/>
                </a:lnTo>
                <a:lnTo>
                  <a:pt x="4408932" y="127000"/>
                </a:lnTo>
                <a:lnTo>
                  <a:pt x="4408932" y="56515"/>
                </a:lnTo>
                <a:close/>
              </a:path>
              <a:path w="4460240" h="6306820">
                <a:moveTo>
                  <a:pt x="4459732" y="63500"/>
                </a:moveTo>
                <a:lnTo>
                  <a:pt x="4454728" y="38798"/>
                </a:lnTo>
                <a:lnTo>
                  <a:pt x="4445698" y="25400"/>
                </a:lnTo>
                <a:lnTo>
                  <a:pt x="4441126" y="18605"/>
                </a:lnTo>
                <a:lnTo>
                  <a:pt x="4434332" y="14033"/>
                </a:lnTo>
                <a:lnTo>
                  <a:pt x="4434332" y="63500"/>
                </a:lnTo>
                <a:lnTo>
                  <a:pt x="4434332" y="6243320"/>
                </a:lnTo>
                <a:lnTo>
                  <a:pt x="4431335" y="6258153"/>
                </a:lnTo>
                <a:lnTo>
                  <a:pt x="4423181" y="6270269"/>
                </a:lnTo>
                <a:lnTo>
                  <a:pt x="4411078" y="6278435"/>
                </a:lnTo>
                <a:lnTo>
                  <a:pt x="4396232" y="6281420"/>
                </a:lnTo>
                <a:lnTo>
                  <a:pt x="63500" y="6281420"/>
                </a:lnTo>
                <a:lnTo>
                  <a:pt x="48666" y="6278435"/>
                </a:lnTo>
                <a:lnTo>
                  <a:pt x="36550" y="6270269"/>
                </a:lnTo>
                <a:lnTo>
                  <a:pt x="28384" y="6258153"/>
                </a:lnTo>
                <a:lnTo>
                  <a:pt x="25400" y="6243320"/>
                </a:lnTo>
                <a:lnTo>
                  <a:pt x="25400" y="63500"/>
                </a:lnTo>
                <a:lnTo>
                  <a:pt x="28384" y="48653"/>
                </a:lnTo>
                <a:lnTo>
                  <a:pt x="36550" y="36550"/>
                </a:lnTo>
                <a:lnTo>
                  <a:pt x="48666" y="28397"/>
                </a:lnTo>
                <a:lnTo>
                  <a:pt x="63500" y="25400"/>
                </a:lnTo>
                <a:lnTo>
                  <a:pt x="4396232" y="25400"/>
                </a:lnTo>
                <a:lnTo>
                  <a:pt x="4411078" y="28397"/>
                </a:lnTo>
                <a:lnTo>
                  <a:pt x="4423181" y="36550"/>
                </a:lnTo>
                <a:lnTo>
                  <a:pt x="4431335" y="48653"/>
                </a:lnTo>
                <a:lnTo>
                  <a:pt x="4434332" y="63500"/>
                </a:lnTo>
                <a:lnTo>
                  <a:pt x="4434332" y="14033"/>
                </a:lnTo>
                <a:lnTo>
                  <a:pt x="4420933" y="5003"/>
                </a:lnTo>
                <a:lnTo>
                  <a:pt x="4396232" y="0"/>
                </a:lnTo>
                <a:lnTo>
                  <a:pt x="63500" y="0"/>
                </a:lnTo>
                <a:lnTo>
                  <a:pt x="38773" y="5003"/>
                </a:lnTo>
                <a:lnTo>
                  <a:pt x="18592" y="18605"/>
                </a:lnTo>
                <a:lnTo>
                  <a:pt x="4978" y="38798"/>
                </a:lnTo>
                <a:lnTo>
                  <a:pt x="0" y="63500"/>
                </a:lnTo>
                <a:lnTo>
                  <a:pt x="0" y="6243320"/>
                </a:lnTo>
                <a:lnTo>
                  <a:pt x="4978" y="6268047"/>
                </a:lnTo>
                <a:lnTo>
                  <a:pt x="18592" y="6288227"/>
                </a:lnTo>
                <a:lnTo>
                  <a:pt x="38773" y="6301841"/>
                </a:lnTo>
                <a:lnTo>
                  <a:pt x="63500" y="6306820"/>
                </a:lnTo>
                <a:lnTo>
                  <a:pt x="4396232" y="6306820"/>
                </a:lnTo>
                <a:lnTo>
                  <a:pt x="4420933" y="6301841"/>
                </a:lnTo>
                <a:lnTo>
                  <a:pt x="4441126" y="6288227"/>
                </a:lnTo>
                <a:lnTo>
                  <a:pt x="4445711" y="6281420"/>
                </a:lnTo>
                <a:lnTo>
                  <a:pt x="4454728" y="6268047"/>
                </a:lnTo>
                <a:lnTo>
                  <a:pt x="4459732" y="6243320"/>
                </a:lnTo>
                <a:lnTo>
                  <a:pt x="4459732" y="6350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189736" y="1782571"/>
            <a:ext cx="2584450" cy="273240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algn="ctr" marL="12700" marR="5080">
              <a:lnSpc>
                <a:spcPct val="90000"/>
              </a:lnSpc>
              <a:spcBef>
                <a:spcPts val="675"/>
              </a:spcBef>
            </a:pPr>
            <a:r>
              <a:rPr dirty="0" sz="4800" spc="-35">
                <a:solidFill>
                  <a:srgbClr val="FFFFFF"/>
                </a:solidFill>
                <a:latin typeface="Calibri"/>
                <a:cs typeface="Calibri"/>
              </a:rPr>
              <a:t>Difference </a:t>
            </a:r>
            <a:r>
              <a:rPr dirty="0" sz="4800" spc="-10">
                <a:solidFill>
                  <a:srgbClr val="FFFFFF"/>
                </a:solidFill>
                <a:latin typeface="Calibri"/>
                <a:cs typeface="Calibri"/>
              </a:rPr>
              <a:t>between </a:t>
            </a:r>
            <a:r>
              <a:rPr dirty="0" sz="480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4800" spc="-1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800" spc="-25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dirty="0" sz="4800" spc="-2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endParaRPr sz="4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5153786" y="487832"/>
          <a:ext cx="6630034" cy="6145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99130"/>
                <a:gridCol w="3354070"/>
              </a:tblGrid>
              <a:tr h="523240">
                <a:tc>
                  <a:txBody>
                    <a:bodyPr/>
                    <a:lstStyle/>
                    <a:p>
                      <a:pPr marL="221615">
                        <a:lnSpc>
                          <a:spcPts val="2660"/>
                        </a:lnSpc>
                      </a:pPr>
                      <a:r>
                        <a:rPr dirty="0" sz="2800" spc="-10" b="1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Tables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9525">
                      <a:solidFill>
                        <a:srgbClr val="C6C5C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ts val="2660"/>
                        </a:lnSpc>
                      </a:pPr>
                      <a:r>
                        <a:rPr dirty="0" sz="2800" spc="-10" b="1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Views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9525">
                      <a:solidFill>
                        <a:srgbClr val="C6C5C1"/>
                      </a:solidFill>
                      <a:prstDash val="solid"/>
                    </a:lnB>
                  </a:tcPr>
                </a:tc>
              </a:tr>
              <a:tr h="1226185">
                <a:tc>
                  <a:txBody>
                    <a:bodyPr/>
                    <a:lstStyle/>
                    <a:p>
                      <a:pPr marL="22161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Hold</a:t>
                      </a:r>
                      <a:r>
                        <a:rPr dirty="0" sz="20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actual</a:t>
                      </a:r>
                      <a:r>
                        <a:rPr dirty="0" sz="20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data.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93980">
                    <a:lnT w="9525">
                      <a:solidFill>
                        <a:srgbClr val="C6C5C1"/>
                      </a:solidFill>
                      <a:prstDash val="solid"/>
                    </a:lnT>
                    <a:lnB w="9525">
                      <a:solidFill>
                        <a:srgbClr val="C6C5C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9390" marR="27876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Contains</a:t>
                      </a:r>
                      <a:r>
                        <a:rPr dirty="0" sz="2000" spc="-7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columns</a:t>
                      </a:r>
                      <a:r>
                        <a:rPr dirty="0" sz="2000" spc="-8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which </a:t>
                      </a:r>
                      <a:r>
                        <a:rPr dirty="0" sz="20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reference</a:t>
                      </a:r>
                      <a:r>
                        <a:rPr dirty="0" sz="20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20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base</a:t>
                      </a:r>
                      <a:r>
                        <a:rPr dirty="0" sz="2000" spc="-3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table</a:t>
                      </a:r>
                      <a:r>
                        <a:rPr dirty="0" sz="20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for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20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data.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93980">
                    <a:lnT w="9525">
                      <a:solidFill>
                        <a:srgbClr val="C6C5C1"/>
                      </a:solidFill>
                      <a:prstDash val="solid"/>
                    </a:lnT>
                    <a:lnB w="9525">
                      <a:solidFill>
                        <a:srgbClr val="C6C5C1"/>
                      </a:solidFill>
                      <a:prstDash val="solid"/>
                    </a:lnB>
                  </a:tcPr>
                </a:tc>
              </a:tr>
              <a:tr h="1226185">
                <a:tc>
                  <a:txBody>
                    <a:bodyPr/>
                    <a:lstStyle/>
                    <a:p>
                      <a:pPr marL="22161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It</a:t>
                      </a:r>
                      <a:r>
                        <a:rPr dirty="0" sz="2000" spc="-3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occupies</a:t>
                      </a:r>
                      <a:r>
                        <a:rPr dirty="0" sz="20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memory</a:t>
                      </a:r>
                      <a:r>
                        <a:rPr dirty="0" sz="20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space.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94615">
                    <a:lnT w="9525">
                      <a:solidFill>
                        <a:srgbClr val="C6C5C1"/>
                      </a:solidFill>
                      <a:prstDash val="solid"/>
                    </a:lnT>
                    <a:lnB w="9525">
                      <a:solidFill>
                        <a:srgbClr val="C6C5C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9390" marR="32385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It</a:t>
                      </a:r>
                      <a:r>
                        <a:rPr dirty="0" sz="20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does</a:t>
                      </a:r>
                      <a:r>
                        <a:rPr dirty="0" sz="20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20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occupy</a:t>
                      </a:r>
                      <a:r>
                        <a:rPr dirty="0" sz="2000" spc="-4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memory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space</a:t>
                      </a:r>
                      <a:r>
                        <a:rPr dirty="0" sz="2000" spc="-4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except</a:t>
                      </a:r>
                      <a:r>
                        <a:rPr dirty="0" sz="20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000" spc="-5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data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dictionary</a:t>
                      </a:r>
                      <a:r>
                        <a:rPr dirty="0" sz="2000" spc="-6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entry.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94615">
                    <a:lnT w="9525">
                      <a:solidFill>
                        <a:srgbClr val="C6C5C1"/>
                      </a:solidFill>
                      <a:prstDash val="solid"/>
                    </a:lnT>
                    <a:lnB w="9525">
                      <a:solidFill>
                        <a:srgbClr val="C6C5C1"/>
                      </a:solidFill>
                      <a:prstDash val="solid"/>
                    </a:lnB>
                  </a:tcPr>
                </a:tc>
              </a:tr>
              <a:tr h="897255">
                <a:tc>
                  <a:txBody>
                    <a:bodyPr/>
                    <a:lstStyle/>
                    <a:p>
                      <a:pPr marL="221615" marR="19177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0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table</a:t>
                      </a:r>
                      <a:r>
                        <a:rPr dirty="0" sz="20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can</a:t>
                      </a:r>
                      <a:r>
                        <a:rPr dirty="0" sz="2000" spc="-5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contain</a:t>
                      </a:r>
                      <a:r>
                        <a:rPr dirty="0" sz="2000" spc="-4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its</a:t>
                      </a:r>
                      <a:r>
                        <a:rPr dirty="0" sz="2000" spc="-3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own </a:t>
                      </a:r>
                      <a:r>
                        <a:rPr dirty="0" sz="20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data.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95250">
                    <a:lnT w="9525">
                      <a:solidFill>
                        <a:srgbClr val="C6C5C1"/>
                      </a:solidFill>
                      <a:prstDash val="solid"/>
                    </a:lnT>
                    <a:lnB w="9525">
                      <a:solidFill>
                        <a:srgbClr val="C6C5C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9390" marR="64325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Views</a:t>
                      </a:r>
                      <a:r>
                        <a:rPr dirty="0" sz="2000" spc="-6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contain</a:t>
                      </a:r>
                      <a:r>
                        <a:rPr dirty="0" sz="2000" spc="-6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2000" spc="-6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from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multiple</a:t>
                      </a:r>
                      <a:r>
                        <a:rPr dirty="0" sz="20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tables.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95250">
                    <a:lnT w="9525">
                      <a:solidFill>
                        <a:srgbClr val="C6C5C1"/>
                      </a:solidFill>
                      <a:prstDash val="solid"/>
                    </a:lnT>
                    <a:lnB w="9525">
                      <a:solidFill>
                        <a:srgbClr val="C6C5C1"/>
                      </a:solidFill>
                      <a:prstDash val="solid"/>
                    </a:lnB>
                  </a:tcPr>
                </a:tc>
              </a:tr>
              <a:tr h="1555115">
                <a:tc>
                  <a:txBody>
                    <a:bodyPr/>
                    <a:lstStyle/>
                    <a:p>
                      <a:pPr marL="221615" marR="32702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0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record</a:t>
                      </a:r>
                      <a:r>
                        <a:rPr dirty="0" sz="2000" spc="-3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2000" spc="-5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000" spc="-3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table</a:t>
                      </a:r>
                      <a:r>
                        <a:rPr dirty="0" sz="2000" spc="-3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can</a:t>
                      </a:r>
                      <a:r>
                        <a:rPr dirty="0" sz="2000" spc="-3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be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inserted,</a:t>
                      </a:r>
                      <a:r>
                        <a:rPr dirty="0" sz="2000" spc="-6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updated</a:t>
                      </a:r>
                      <a:r>
                        <a:rPr dirty="0" sz="2000" spc="-8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and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deleted</a:t>
                      </a:r>
                      <a:r>
                        <a:rPr dirty="0" sz="2000" spc="-4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unless</a:t>
                      </a:r>
                      <a:r>
                        <a:rPr dirty="0" sz="2000" spc="-5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it</a:t>
                      </a:r>
                      <a:r>
                        <a:rPr dirty="0" sz="20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violates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any</a:t>
                      </a:r>
                      <a:r>
                        <a:rPr dirty="0" sz="2000" spc="-8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integrity</a:t>
                      </a:r>
                      <a:r>
                        <a:rPr dirty="0" sz="2000" spc="-6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constraints.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95250">
                    <a:lnT w="9525">
                      <a:solidFill>
                        <a:srgbClr val="C6C5C1"/>
                      </a:solidFill>
                      <a:prstDash val="solid"/>
                    </a:lnT>
                    <a:lnB w="9525">
                      <a:solidFill>
                        <a:srgbClr val="C6C5C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9390" marR="47879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There</a:t>
                      </a:r>
                      <a:r>
                        <a:rPr dirty="0" sz="2000" spc="-5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are</a:t>
                      </a:r>
                      <a:r>
                        <a:rPr dirty="0" sz="2000" spc="-5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limitations</a:t>
                      </a:r>
                      <a:r>
                        <a:rPr dirty="0" sz="20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and </a:t>
                      </a:r>
                      <a:r>
                        <a:rPr dirty="0" sz="20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restrictions</a:t>
                      </a:r>
                      <a:r>
                        <a:rPr dirty="0" sz="20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000" spc="-6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update</a:t>
                      </a:r>
                      <a:r>
                        <a:rPr dirty="0" sz="2000" spc="-7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and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delete</a:t>
                      </a:r>
                      <a:r>
                        <a:rPr dirty="0" sz="2000" spc="-7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2000" spc="-7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views.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95250">
                    <a:lnT w="9525">
                      <a:solidFill>
                        <a:srgbClr val="C6C5C1"/>
                      </a:solidFill>
                      <a:prstDash val="solid"/>
                    </a:lnT>
                    <a:lnB w="9525">
                      <a:solidFill>
                        <a:srgbClr val="C6C5C1"/>
                      </a:solidFill>
                      <a:prstDash val="solid"/>
                    </a:lnB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221615" marR="73596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20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You</a:t>
                      </a:r>
                      <a:r>
                        <a:rPr dirty="0" sz="2000" spc="-4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can</a:t>
                      </a:r>
                      <a:r>
                        <a:rPr dirty="0" sz="20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add</a:t>
                      </a:r>
                      <a:r>
                        <a:rPr dirty="0" sz="20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integrity constraints</a:t>
                      </a:r>
                      <a:r>
                        <a:rPr dirty="0" sz="20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0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0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table.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95250">
                    <a:lnT w="9525">
                      <a:solidFill>
                        <a:srgbClr val="C6C5C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9390" marR="93345">
                        <a:lnSpc>
                          <a:spcPct val="100000"/>
                        </a:lnSpc>
                        <a:spcBef>
                          <a:spcPts val="750"/>
                        </a:spcBef>
                        <a:tabLst>
                          <a:tab pos="3096895" algn="l"/>
                        </a:tabLst>
                      </a:pPr>
                      <a:r>
                        <a:rPr dirty="0" sz="20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You</a:t>
                      </a:r>
                      <a:r>
                        <a:rPr dirty="0" sz="2000" spc="-4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cannot</a:t>
                      </a:r>
                      <a:r>
                        <a:rPr dirty="0" sz="20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add</a:t>
                      </a:r>
                      <a:r>
                        <a:rPr dirty="0" sz="20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integrity constraints</a:t>
                      </a:r>
                      <a:r>
                        <a:rPr dirty="0" sz="20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0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0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view.</a:t>
                      </a:r>
                      <a:r>
                        <a:rPr dirty="0" sz="20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32407" sz="1800" spc="-37" b="1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37</a:t>
                      </a:r>
                      <a:endParaRPr baseline="-32407" sz="1800">
                        <a:latin typeface="Calibri"/>
                        <a:cs typeface="Calibri"/>
                      </a:endParaRPr>
                    </a:p>
                  </a:txBody>
                  <a:tcPr marL="0" marR="0" marB="0" marT="95250">
                    <a:lnT w="9525">
                      <a:solidFill>
                        <a:srgbClr val="C6C5C1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47368" y="2824098"/>
            <a:ext cx="3105785" cy="1153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sz="3700" spc="-10" b="1">
                <a:solidFill>
                  <a:srgbClr val="FFFFFF"/>
                </a:solidFill>
                <a:latin typeface="Calibri"/>
                <a:cs typeface="Calibri"/>
              </a:rPr>
              <a:t>INTRODUCTION</a:t>
            </a:r>
            <a:endParaRPr sz="37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</a:pPr>
            <a:r>
              <a:rPr dirty="0" sz="3700" b="1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3700" spc="-1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700" spc="-25" b="1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54296" y="2057400"/>
            <a:ext cx="0" cy="2743200"/>
          </a:xfrm>
          <a:custGeom>
            <a:avLst/>
            <a:gdLst/>
            <a:ahLst/>
            <a:cxnLst/>
            <a:rect l="l" t="t" r="r" b="b"/>
            <a:pathLst>
              <a:path w="0"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055489" y="1018692"/>
            <a:ext cx="6784340" cy="472059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2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stands</a:t>
            </a:r>
            <a:r>
              <a:rPr dirty="0" sz="2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2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structured</a:t>
            </a:r>
            <a:r>
              <a:rPr dirty="0" sz="2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dirty="0" sz="2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language.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communicate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database.</a:t>
            </a:r>
            <a:endParaRPr sz="2200">
              <a:latin typeface="Calibri"/>
              <a:cs typeface="Calibri"/>
            </a:endParaRPr>
          </a:p>
          <a:p>
            <a:pPr marL="355600" marR="812165" indent="-342900">
              <a:lnSpc>
                <a:spcPts val="2380"/>
              </a:lnSpc>
              <a:spcBef>
                <a:spcPts val="56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standard</a:t>
            </a:r>
            <a:r>
              <a:rPr dirty="0" sz="22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language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relational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database management</a:t>
            </a:r>
            <a:r>
              <a:rPr dirty="0" sz="2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systems.</a:t>
            </a:r>
            <a:endParaRPr sz="2200">
              <a:latin typeface="Calibri"/>
              <a:cs typeface="Calibri"/>
            </a:endParaRPr>
          </a:p>
          <a:p>
            <a:pPr marL="355600" marR="5080" indent="-342900">
              <a:lnSpc>
                <a:spcPts val="2380"/>
              </a:lnSpc>
              <a:spcBef>
                <a:spcPts val="5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22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statements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22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dirty="0" sz="22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perform</a:t>
            </a:r>
            <a:r>
              <a:rPr dirty="0" sz="22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operations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22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dirty="0" sz="22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dirty="0" sz="22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retrieval,</a:t>
            </a:r>
            <a:r>
              <a:rPr dirty="0" sz="2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insertion,</a:t>
            </a:r>
            <a:r>
              <a:rPr dirty="0" sz="2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Updation</a:t>
            </a:r>
            <a:r>
              <a:rPr dirty="0" sz="22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deletion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data.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ts val="2510"/>
              </a:lnSpc>
              <a:spcBef>
                <a:spcPts val="2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was</a:t>
            </a:r>
            <a:r>
              <a:rPr dirty="0" sz="2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developed</a:t>
            </a:r>
            <a:r>
              <a:rPr dirty="0" sz="2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IBM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part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system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2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ts val="2510"/>
              </a:lnSpc>
            </a:pP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 1970.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Initially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was</a:t>
            </a:r>
            <a:r>
              <a:rPr dirty="0" sz="2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called</a:t>
            </a:r>
            <a:r>
              <a:rPr dirty="0" sz="2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Sequel.</a:t>
            </a:r>
            <a:endParaRPr sz="2200">
              <a:latin typeface="Calibri"/>
              <a:cs typeface="Calibri"/>
            </a:endParaRPr>
          </a:p>
          <a:p>
            <a:pPr marL="355600" marR="38100" indent="-342900">
              <a:lnSpc>
                <a:spcPct val="90000"/>
              </a:lnSpc>
              <a:spcBef>
                <a:spcPts val="525"/>
              </a:spcBef>
              <a:buChar char="•"/>
              <a:tabLst>
                <a:tab pos="355600" algn="l"/>
                <a:tab pos="419100" algn="l"/>
              </a:tabLst>
            </a:pPr>
            <a:r>
              <a:rPr dirty="0" sz="22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various</a:t>
            </a:r>
            <a:r>
              <a:rPr dirty="0" sz="2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Relational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Management Systems(RDBMS).</a:t>
            </a:r>
            <a:r>
              <a:rPr dirty="0" sz="2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dirty="0" sz="2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common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RDBMS</a:t>
            </a:r>
            <a:r>
              <a:rPr dirty="0" sz="2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2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dirty="0" sz="2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Calibri"/>
                <a:cs typeface="Calibri"/>
              </a:rPr>
              <a:t>SQL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are:</a:t>
            </a:r>
            <a:r>
              <a:rPr dirty="0" sz="22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MySQL,</a:t>
            </a:r>
            <a:r>
              <a:rPr dirty="0" sz="22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Oracle,</a:t>
            </a:r>
            <a:r>
              <a:rPr dirty="0" sz="22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Microsoft</a:t>
            </a:r>
            <a:r>
              <a:rPr dirty="0" sz="22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Access,</a:t>
            </a:r>
            <a:r>
              <a:rPr dirty="0" sz="2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Microsoft</a:t>
            </a:r>
            <a:r>
              <a:rPr dirty="0" sz="22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Calibri"/>
                <a:cs typeface="Calibri"/>
              </a:rPr>
              <a:t>SQL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20">
                <a:solidFill>
                  <a:srgbClr val="FFFFFF"/>
                </a:solidFill>
                <a:latin typeface="Calibri"/>
                <a:cs typeface="Calibri"/>
              </a:rPr>
              <a:t>etc.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99268" y="6496354"/>
            <a:ext cx="126744" cy="8775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57404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477012" y="480059"/>
            <a:ext cx="11238230" cy="5897880"/>
            <a:chOff x="477012" y="480059"/>
            <a:chExt cx="11238230" cy="5897880"/>
          </a:xfrm>
        </p:grpSpPr>
        <p:sp>
          <p:nvSpPr>
            <p:cNvPr id="4" name="object 4" descr=""/>
            <p:cNvSpPr/>
            <p:nvPr/>
          </p:nvSpPr>
          <p:spPr>
            <a:xfrm>
              <a:off x="477012" y="480059"/>
              <a:ext cx="11238230" cy="5897880"/>
            </a:xfrm>
            <a:custGeom>
              <a:avLst/>
              <a:gdLst/>
              <a:ahLst/>
              <a:cxnLst/>
              <a:rect l="l" t="t" r="r" b="b"/>
              <a:pathLst>
                <a:path w="11238230" h="5897880">
                  <a:moveTo>
                    <a:pt x="11237976" y="0"/>
                  </a:moveTo>
                  <a:lnTo>
                    <a:pt x="0" y="0"/>
                  </a:lnTo>
                  <a:lnTo>
                    <a:pt x="0" y="5897880"/>
                  </a:lnTo>
                  <a:lnTo>
                    <a:pt x="11237976" y="5897880"/>
                  </a:lnTo>
                  <a:lnTo>
                    <a:pt x="112379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3128" y="1245108"/>
              <a:ext cx="10871962" cy="436778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8839962" y="5410962"/>
              <a:ext cx="2209800" cy="449580"/>
            </a:xfrm>
            <a:custGeom>
              <a:avLst/>
              <a:gdLst/>
              <a:ahLst/>
              <a:cxnLst/>
              <a:rect l="l" t="t" r="r" b="b"/>
              <a:pathLst>
                <a:path w="2209800" h="449579">
                  <a:moveTo>
                    <a:pt x="2209800" y="0"/>
                  </a:moveTo>
                  <a:lnTo>
                    <a:pt x="0" y="0"/>
                  </a:lnTo>
                  <a:lnTo>
                    <a:pt x="0" y="449579"/>
                  </a:lnTo>
                  <a:lnTo>
                    <a:pt x="2209800" y="449579"/>
                  </a:lnTo>
                  <a:lnTo>
                    <a:pt x="2209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839962" y="5410962"/>
              <a:ext cx="2209800" cy="449580"/>
            </a:xfrm>
            <a:custGeom>
              <a:avLst/>
              <a:gdLst/>
              <a:ahLst/>
              <a:cxnLst/>
              <a:rect l="l" t="t" r="r" b="b"/>
              <a:pathLst>
                <a:path w="2209800" h="449579">
                  <a:moveTo>
                    <a:pt x="0" y="449579"/>
                  </a:moveTo>
                  <a:lnTo>
                    <a:pt x="2209800" y="449579"/>
                  </a:lnTo>
                  <a:lnTo>
                    <a:pt x="2209800" y="0"/>
                  </a:lnTo>
                  <a:lnTo>
                    <a:pt x="0" y="0"/>
                  </a:lnTo>
                  <a:lnTo>
                    <a:pt x="0" y="44957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237726" y="4956809"/>
              <a:ext cx="2289175" cy="556260"/>
            </a:xfrm>
            <a:custGeom>
              <a:avLst/>
              <a:gdLst/>
              <a:ahLst/>
              <a:cxnLst/>
              <a:rect l="l" t="t" r="r" b="b"/>
              <a:pathLst>
                <a:path w="2289175" h="556260">
                  <a:moveTo>
                    <a:pt x="2289048" y="0"/>
                  </a:moveTo>
                  <a:lnTo>
                    <a:pt x="0" y="0"/>
                  </a:lnTo>
                  <a:lnTo>
                    <a:pt x="0" y="556259"/>
                  </a:lnTo>
                  <a:lnTo>
                    <a:pt x="2289048" y="556259"/>
                  </a:lnTo>
                  <a:lnTo>
                    <a:pt x="22890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237726" y="4956809"/>
              <a:ext cx="2289175" cy="556260"/>
            </a:xfrm>
            <a:custGeom>
              <a:avLst/>
              <a:gdLst/>
              <a:ahLst/>
              <a:cxnLst/>
              <a:rect l="l" t="t" r="r" b="b"/>
              <a:pathLst>
                <a:path w="2289175" h="556260">
                  <a:moveTo>
                    <a:pt x="0" y="556259"/>
                  </a:moveTo>
                  <a:lnTo>
                    <a:pt x="2289048" y="556259"/>
                  </a:lnTo>
                  <a:lnTo>
                    <a:pt x="2289048" y="0"/>
                  </a:lnTo>
                  <a:lnTo>
                    <a:pt x="0" y="0"/>
                  </a:lnTo>
                  <a:lnTo>
                    <a:pt x="0" y="55625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1094211" y="6426809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39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6313" rIns="0" bIns="0" rtlCol="0" vert="horz">
            <a:spAutoFit/>
          </a:bodyPr>
          <a:lstStyle/>
          <a:p>
            <a:pPr marL="2280285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Calibri"/>
                <a:cs typeface="Calibri"/>
              </a:rPr>
              <a:t>DDL</a:t>
            </a:r>
            <a:r>
              <a:rPr dirty="0" sz="3600" spc="-120" b="1">
                <a:latin typeface="Calibri"/>
                <a:cs typeface="Calibri"/>
              </a:rPr>
              <a:t> </a:t>
            </a:r>
            <a:r>
              <a:rPr dirty="0" sz="3600" b="1">
                <a:latin typeface="Calibri"/>
                <a:cs typeface="Calibri"/>
              </a:rPr>
              <a:t>(Data</a:t>
            </a:r>
            <a:r>
              <a:rPr dirty="0" sz="3600" spc="-125" b="1">
                <a:latin typeface="Calibri"/>
                <a:cs typeface="Calibri"/>
              </a:rPr>
              <a:t> </a:t>
            </a:r>
            <a:r>
              <a:rPr dirty="0" sz="3600" b="1">
                <a:latin typeface="Calibri"/>
                <a:cs typeface="Calibri"/>
              </a:rPr>
              <a:t>Definition</a:t>
            </a:r>
            <a:r>
              <a:rPr dirty="0" sz="3600" spc="-105" b="1">
                <a:latin typeface="Calibri"/>
                <a:cs typeface="Calibri"/>
              </a:rPr>
              <a:t> </a:t>
            </a:r>
            <a:r>
              <a:rPr dirty="0" sz="3600" spc="-10" b="1">
                <a:latin typeface="Calibri"/>
                <a:cs typeface="Calibri"/>
              </a:rPr>
              <a:t>Language)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38961" y="1828038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 h="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5400">
            <a:solidFill>
              <a:srgbClr val="C0504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01700" y="1846580"/>
            <a:ext cx="10380980" cy="89090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algn="just" marL="12700" marR="5080">
              <a:lnSpc>
                <a:spcPct val="91800"/>
              </a:lnSpc>
              <a:spcBef>
                <a:spcPts val="300"/>
              </a:spcBef>
            </a:pP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Definition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Language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define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structure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schema.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DDL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also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specify </a:t>
            </a:r>
            <a:r>
              <a:rPr dirty="0" sz="2000">
                <a:latin typeface="Calibri"/>
                <a:cs typeface="Calibri"/>
              </a:rPr>
              <a:t>additional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properties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data.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storage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structure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methods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 </a:t>
            </a:r>
            <a:r>
              <a:rPr dirty="0" sz="2000" spc="-20">
                <a:latin typeface="Calibri"/>
                <a:cs typeface="Calibri"/>
              </a:rPr>
              <a:t>system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statements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special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DDL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called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storage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definition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language.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838961" y="2882645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 h="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5400">
            <a:solidFill>
              <a:srgbClr val="9BBA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38961" y="3542538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 h="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38961" y="4200905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 h="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5400">
            <a:solidFill>
              <a:srgbClr val="4AACC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38961" y="4859273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 h="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5400">
            <a:solidFill>
              <a:srgbClr val="F795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38961" y="5517641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 h="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5400">
            <a:solidFill>
              <a:srgbClr val="C0504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939800" y="2719324"/>
            <a:ext cx="6852284" cy="33191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768350">
              <a:lnSpc>
                <a:spcPct val="144100"/>
              </a:lnSpc>
              <a:spcBef>
                <a:spcPts val="95"/>
              </a:spcBef>
            </a:pPr>
            <a:r>
              <a:rPr dirty="0" sz="3000" spc="-35">
                <a:latin typeface="Calibri"/>
                <a:cs typeface="Calibri"/>
              </a:rPr>
              <a:t>CREATE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: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to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create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objects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database </a:t>
            </a:r>
            <a:r>
              <a:rPr dirty="0" sz="3000" spc="-30">
                <a:latin typeface="Calibri"/>
                <a:cs typeface="Calibri"/>
              </a:rPr>
              <a:t>ALTER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: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alters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structure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of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database </a:t>
            </a:r>
            <a:r>
              <a:rPr dirty="0" sz="3000">
                <a:latin typeface="Calibri"/>
                <a:cs typeface="Calibri"/>
              </a:rPr>
              <a:t>DROP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: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delete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objects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from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database </a:t>
            </a:r>
            <a:r>
              <a:rPr dirty="0" sz="3000">
                <a:latin typeface="Calibri"/>
                <a:cs typeface="Calibri"/>
              </a:rPr>
              <a:t>RENAME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: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rename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objects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3000" spc="-20">
                <a:latin typeface="Calibri"/>
                <a:cs typeface="Calibri"/>
              </a:rPr>
              <a:t>TRUNCATE: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Delete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all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objects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from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database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047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000000">
              <a:alpha val="5294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6196" y="0"/>
            <a:ext cx="4265803" cy="6168643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2075688"/>
            <a:ext cx="6096000" cy="4783455"/>
            <a:chOff x="0" y="2075688"/>
            <a:chExt cx="6096000" cy="478345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075688"/>
              <a:ext cx="4642231" cy="3560330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31242" y="4723638"/>
              <a:ext cx="429895" cy="304800"/>
            </a:xfrm>
            <a:custGeom>
              <a:avLst/>
              <a:gdLst/>
              <a:ahLst/>
              <a:cxnLst/>
              <a:rect l="l" t="t" r="r" b="b"/>
              <a:pathLst>
                <a:path w="429895" h="304800">
                  <a:moveTo>
                    <a:pt x="0" y="304800"/>
                  </a:moveTo>
                  <a:lnTo>
                    <a:pt x="429767" y="304800"/>
                  </a:lnTo>
                </a:path>
                <a:path w="429895" h="304800">
                  <a:moveTo>
                    <a:pt x="0" y="202692"/>
                  </a:moveTo>
                  <a:lnTo>
                    <a:pt x="429767" y="202692"/>
                  </a:lnTo>
                </a:path>
                <a:path w="429895" h="304800">
                  <a:moveTo>
                    <a:pt x="0" y="100584"/>
                  </a:moveTo>
                  <a:lnTo>
                    <a:pt x="429767" y="100584"/>
                  </a:lnTo>
                </a:path>
                <a:path w="429895" h="304800">
                  <a:moveTo>
                    <a:pt x="0" y="0"/>
                  </a:moveTo>
                  <a:lnTo>
                    <a:pt x="429767" y="0"/>
                  </a:lnTo>
                </a:path>
              </a:pathLst>
            </a:custGeom>
            <a:ln w="25400">
              <a:solidFill>
                <a:srgbClr val="F5F4EC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5556630"/>
              <a:ext cx="6096000" cy="1302416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709676" y="4510532"/>
            <a:ext cx="900112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FFFF"/>
                </a:solidFill>
                <a:latin typeface="Calibri"/>
                <a:cs typeface="Calibri"/>
              </a:rPr>
              <a:t>DML</a:t>
            </a:r>
            <a:r>
              <a:rPr dirty="0" sz="4800" spc="-1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800" b="1">
                <a:solidFill>
                  <a:srgbClr val="FFFFFF"/>
                </a:solidFill>
                <a:latin typeface="Calibri"/>
                <a:cs typeface="Calibri"/>
              </a:rPr>
              <a:t>(Data</a:t>
            </a:r>
            <a:r>
              <a:rPr dirty="0" sz="4800" spc="-1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800" b="1">
                <a:solidFill>
                  <a:srgbClr val="FFFFFF"/>
                </a:solidFill>
                <a:latin typeface="Calibri"/>
                <a:cs typeface="Calibri"/>
              </a:rPr>
              <a:t>Manipulation</a:t>
            </a:r>
            <a:r>
              <a:rPr dirty="0" sz="4800" spc="-1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800" spc="-10" b="1">
                <a:solidFill>
                  <a:srgbClr val="FFFFFF"/>
                </a:solidFill>
                <a:latin typeface="Calibri"/>
                <a:cs typeface="Calibri"/>
              </a:rPr>
              <a:t>Language)</a:t>
            </a:r>
            <a:endParaRPr sz="480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618998" y="465073"/>
            <a:ext cx="8376920" cy="661035"/>
            <a:chOff x="618998" y="465073"/>
            <a:chExt cx="8376920" cy="661035"/>
          </a:xfrm>
        </p:grpSpPr>
        <p:sp>
          <p:nvSpPr>
            <p:cNvPr id="11" name="object 11" descr=""/>
            <p:cNvSpPr/>
            <p:nvPr/>
          </p:nvSpPr>
          <p:spPr>
            <a:xfrm>
              <a:off x="631698" y="477773"/>
              <a:ext cx="8351520" cy="635635"/>
            </a:xfrm>
            <a:custGeom>
              <a:avLst/>
              <a:gdLst/>
              <a:ahLst/>
              <a:cxnLst/>
              <a:rect l="l" t="t" r="r" b="b"/>
              <a:pathLst>
                <a:path w="8351520" h="635635">
                  <a:moveTo>
                    <a:pt x="8288020" y="0"/>
                  </a:moveTo>
                  <a:lnTo>
                    <a:pt x="63550" y="0"/>
                  </a:lnTo>
                  <a:lnTo>
                    <a:pt x="38811" y="4992"/>
                  </a:lnTo>
                  <a:lnTo>
                    <a:pt x="18611" y="18605"/>
                  </a:lnTo>
                  <a:lnTo>
                    <a:pt x="4993" y="38790"/>
                  </a:lnTo>
                  <a:lnTo>
                    <a:pt x="0" y="63500"/>
                  </a:lnTo>
                  <a:lnTo>
                    <a:pt x="0" y="572008"/>
                  </a:lnTo>
                  <a:lnTo>
                    <a:pt x="4993" y="596717"/>
                  </a:lnTo>
                  <a:lnTo>
                    <a:pt x="18611" y="616902"/>
                  </a:lnTo>
                  <a:lnTo>
                    <a:pt x="38811" y="630515"/>
                  </a:lnTo>
                  <a:lnTo>
                    <a:pt x="63550" y="635508"/>
                  </a:lnTo>
                  <a:lnTo>
                    <a:pt x="8288020" y="635508"/>
                  </a:lnTo>
                  <a:lnTo>
                    <a:pt x="8312729" y="630515"/>
                  </a:lnTo>
                  <a:lnTo>
                    <a:pt x="8332914" y="616902"/>
                  </a:lnTo>
                  <a:lnTo>
                    <a:pt x="8346527" y="596717"/>
                  </a:lnTo>
                  <a:lnTo>
                    <a:pt x="8351520" y="572008"/>
                  </a:lnTo>
                  <a:lnTo>
                    <a:pt x="8351520" y="63500"/>
                  </a:lnTo>
                  <a:lnTo>
                    <a:pt x="8346527" y="38790"/>
                  </a:lnTo>
                  <a:lnTo>
                    <a:pt x="8332914" y="18605"/>
                  </a:lnTo>
                  <a:lnTo>
                    <a:pt x="8312729" y="4992"/>
                  </a:lnTo>
                  <a:lnTo>
                    <a:pt x="8288020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31698" y="477773"/>
              <a:ext cx="8351520" cy="635635"/>
            </a:xfrm>
            <a:custGeom>
              <a:avLst/>
              <a:gdLst/>
              <a:ahLst/>
              <a:cxnLst/>
              <a:rect l="l" t="t" r="r" b="b"/>
              <a:pathLst>
                <a:path w="8351520" h="635635">
                  <a:moveTo>
                    <a:pt x="0" y="63500"/>
                  </a:moveTo>
                  <a:lnTo>
                    <a:pt x="4993" y="38790"/>
                  </a:lnTo>
                  <a:lnTo>
                    <a:pt x="18611" y="18605"/>
                  </a:lnTo>
                  <a:lnTo>
                    <a:pt x="38811" y="4992"/>
                  </a:lnTo>
                  <a:lnTo>
                    <a:pt x="63550" y="0"/>
                  </a:lnTo>
                  <a:lnTo>
                    <a:pt x="8288020" y="0"/>
                  </a:lnTo>
                  <a:lnTo>
                    <a:pt x="8312729" y="4992"/>
                  </a:lnTo>
                  <a:lnTo>
                    <a:pt x="8332914" y="18605"/>
                  </a:lnTo>
                  <a:lnTo>
                    <a:pt x="8346527" y="38790"/>
                  </a:lnTo>
                  <a:lnTo>
                    <a:pt x="8351520" y="63500"/>
                  </a:lnTo>
                  <a:lnTo>
                    <a:pt x="8351520" y="572008"/>
                  </a:lnTo>
                  <a:lnTo>
                    <a:pt x="8346527" y="596717"/>
                  </a:lnTo>
                  <a:lnTo>
                    <a:pt x="8332914" y="616902"/>
                  </a:lnTo>
                  <a:lnTo>
                    <a:pt x="8312729" y="630515"/>
                  </a:lnTo>
                  <a:lnTo>
                    <a:pt x="8288020" y="635508"/>
                  </a:lnTo>
                  <a:lnTo>
                    <a:pt x="63550" y="635508"/>
                  </a:lnTo>
                  <a:lnTo>
                    <a:pt x="38811" y="630515"/>
                  </a:lnTo>
                  <a:lnTo>
                    <a:pt x="18611" y="616902"/>
                  </a:lnTo>
                  <a:lnTo>
                    <a:pt x="4993" y="596717"/>
                  </a:lnTo>
                  <a:lnTo>
                    <a:pt x="0" y="572008"/>
                  </a:lnTo>
                  <a:lnTo>
                    <a:pt x="0" y="6350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716991" y="590169"/>
            <a:ext cx="735965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FFFFFF"/>
                </a:solidFill>
              </a:rPr>
              <a:t>DML</a:t>
            </a:r>
            <a:r>
              <a:rPr dirty="0" sz="2100" spc="-50">
                <a:solidFill>
                  <a:srgbClr val="FFFFFF"/>
                </a:solidFill>
              </a:rPr>
              <a:t> </a:t>
            </a:r>
            <a:r>
              <a:rPr dirty="0" sz="2100" spc="-20">
                <a:solidFill>
                  <a:srgbClr val="FFFFFF"/>
                </a:solidFill>
              </a:rPr>
              <a:t>statements</a:t>
            </a:r>
            <a:r>
              <a:rPr dirty="0" sz="2100" spc="-40">
                <a:solidFill>
                  <a:srgbClr val="FFFFFF"/>
                </a:solidFill>
              </a:rPr>
              <a:t> </a:t>
            </a:r>
            <a:r>
              <a:rPr dirty="0" sz="2100">
                <a:solidFill>
                  <a:srgbClr val="FFFFFF"/>
                </a:solidFill>
              </a:rPr>
              <a:t>are</a:t>
            </a:r>
            <a:r>
              <a:rPr dirty="0" sz="2100" spc="-35">
                <a:solidFill>
                  <a:srgbClr val="FFFFFF"/>
                </a:solidFill>
              </a:rPr>
              <a:t> </a:t>
            </a:r>
            <a:r>
              <a:rPr dirty="0" sz="2100">
                <a:solidFill>
                  <a:srgbClr val="FFFFFF"/>
                </a:solidFill>
              </a:rPr>
              <a:t>used</a:t>
            </a:r>
            <a:r>
              <a:rPr dirty="0" sz="2100" spc="-40">
                <a:solidFill>
                  <a:srgbClr val="FFFFFF"/>
                </a:solidFill>
              </a:rPr>
              <a:t> </a:t>
            </a:r>
            <a:r>
              <a:rPr dirty="0" sz="2100">
                <a:solidFill>
                  <a:srgbClr val="FFFFFF"/>
                </a:solidFill>
              </a:rPr>
              <a:t>for</a:t>
            </a:r>
            <a:r>
              <a:rPr dirty="0" sz="2100" spc="-35">
                <a:solidFill>
                  <a:srgbClr val="FFFFFF"/>
                </a:solidFill>
              </a:rPr>
              <a:t> </a:t>
            </a:r>
            <a:r>
              <a:rPr dirty="0" sz="2100">
                <a:solidFill>
                  <a:srgbClr val="FFFFFF"/>
                </a:solidFill>
              </a:rPr>
              <a:t>managing</a:t>
            </a:r>
            <a:r>
              <a:rPr dirty="0" sz="2100" spc="-45">
                <a:solidFill>
                  <a:srgbClr val="FFFFFF"/>
                </a:solidFill>
              </a:rPr>
              <a:t> </a:t>
            </a:r>
            <a:r>
              <a:rPr dirty="0" sz="2100">
                <a:solidFill>
                  <a:srgbClr val="FFFFFF"/>
                </a:solidFill>
              </a:rPr>
              <a:t>data</a:t>
            </a:r>
            <a:r>
              <a:rPr dirty="0" sz="2100" spc="-35">
                <a:solidFill>
                  <a:srgbClr val="FFFFFF"/>
                </a:solidFill>
              </a:rPr>
              <a:t> </a:t>
            </a:r>
            <a:r>
              <a:rPr dirty="0" sz="2100">
                <a:solidFill>
                  <a:srgbClr val="FFFFFF"/>
                </a:solidFill>
              </a:rPr>
              <a:t>within</a:t>
            </a:r>
            <a:r>
              <a:rPr dirty="0" sz="2100" spc="-30">
                <a:solidFill>
                  <a:srgbClr val="FFFFFF"/>
                </a:solidFill>
              </a:rPr>
              <a:t> </a:t>
            </a:r>
            <a:r>
              <a:rPr dirty="0" sz="2100">
                <a:solidFill>
                  <a:srgbClr val="FFFFFF"/>
                </a:solidFill>
              </a:rPr>
              <a:t>schema</a:t>
            </a:r>
            <a:r>
              <a:rPr dirty="0" sz="2100" spc="-45">
                <a:solidFill>
                  <a:srgbClr val="FFFFFF"/>
                </a:solidFill>
              </a:rPr>
              <a:t> </a:t>
            </a:r>
            <a:r>
              <a:rPr dirty="0" sz="2100" spc="-10">
                <a:solidFill>
                  <a:srgbClr val="FFFFFF"/>
                </a:solidFill>
              </a:rPr>
              <a:t>objects.</a:t>
            </a:r>
            <a:endParaRPr sz="2100"/>
          </a:p>
        </p:txBody>
      </p:sp>
      <p:grpSp>
        <p:nvGrpSpPr>
          <p:cNvPr id="14" name="object 14" descr=""/>
          <p:cNvGrpSpPr/>
          <p:nvPr/>
        </p:nvGrpSpPr>
        <p:grpSpPr>
          <a:xfrm>
            <a:off x="1242313" y="1188974"/>
            <a:ext cx="10248900" cy="2828290"/>
            <a:chOff x="1242313" y="1188974"/>
            <a:chExt cx="10248900" cy="2828290"/>
          </a:xfrm>
        </p:grpSpPr>
        <p:sp>
          <p:nvSpPr>
            <p:cNvPr id="15" name="object 15" descr=""/>
            <p:cNvSpPr/>
            <p:nvPr/>
          </p:nvSpPr>
          <p:spPr>
            <a:xfrm>
              <a:off x="1255013" y="1201674"/>
              <a:ext cx="8353425" cy="634365"/>
            </a:xfrm>
            <a:custGeom>
              <a:avLst/>
              <a:gdLst/>
              <a:ahLst/>
              <a:cxnLst/>
              <a:rect l="l" t="t" r="r" b="b"/>
              <a:pathLst>
                <a:path w="8353425" h="634364">
                  <a:moveTo>
                    <a:pt x="8289671" y="0"/>
                  </a:moveTo>
                  <a:lnTo>
                    <a:pt x="63373" y="0"/>
                  </a:lnTo>
                  <a:lnTo>
                    <a:pt x="38683" y="4972"/>
                  </a:lnTo>
                  <a:lnTo>
                    <a:pt x="18542" y="18542"/>
                  </a:lnTo>
                  <a:lnTo>
                    <a:pt x="4972" y="38683"/>
                  </a:lnTo>
                  <a:lnTo>
                    <a:pt x="0" y="63373"/>
                  </a:lnTo>
                  <a:lnTo>
                    <a:pt x="0" y="570611"/>
                  </a:lnTo>
                  <a:lnTo>
                    <a:pt x="4972" y="595300"/>
                  </a:lnTo>
                  <a:lnTo>
                    <a:pt x="18542" y="615441"/>
                  </a:lnTo>
                  <a:lnTo>
                    <a:pt x="38683" y="629011"/>
                  </a:lnTo>
                  <a:lnTo>
                    <a:pt x="63373" y="633984"/>
                  </a:lnTo>
                  <a:lnTo>
                    <a:pt x="8289671" y="633984"/>
                  </a:lnTo>
                  <a:lnTo>
                    <a:pt x="8314307" y="629011"/>
                  </a:lnTo>
                  <a:lnTo>
                    <a:pt x="8334454" y="615441"/>
                  </a:lnTo>
                  <a:lnTo>
                    <a:pt x="8348053" y="595300"/>
                  </a:lnTo>
                  <a:lnTo>
                    <a:pt x="8353044" y="570611"/>
                  </a:lnTo>
                  <a:lnTo>
                    <a:pt x="8353044" y="63373"/>
                  </a:lnTo>
                  <a:lnTo>
                    <a:pt x="8348053" y="38683"/>
                  </a:lnTo>
                  <a:lnTo>
                    <a:pt x="8334454" y="18542"/>
                  </a:lnTo>
                  <a:lnTo>
                    <a:pt x="8314307" y="4972"/>
                  </a:lnTo>
                  <a:lnTo>
                    <a:pt x="8289671" y="0"/>
                  </a:lnTo>
                  <a:close/>
                </a:path>
              </a:pathLst>
            </a:custGeom>
            <a:solidFill>
              <a:srgbClr val="47D3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255013" y="1201674"/>
              <a:ext cx="8353425" cy="634365"/>
            </a:xfrm>
            <a:custGeom>
              <a:avLst/>
              <a:gdLst/>
              <a:ahLst/>
              <a:cxnLst/>
              <a:rect l="l" t="t" r="r" b="b"/>
              <a:pathLst>
                <a:path w="8353425" h="634364">
                  <a:moveTo>
                    <a:pt x="0" y="63373"/>
                  </a:moveTo>
                  <a:lnTo>
                    <a:pt x="4972" y="38683"/>
                  </a:lnTo>
                  <a:lnTo>
                    <a:pt x="18542" y="18542"/>
                  </a:lnTo>
                  <a:lnTo>
                    <a:pt x="38683" y="4972"/>
                  </a:lnTo>
                  <a:lnTo>
                    <a:pt x="63373" y="0"/>
                  </a:lnTo>
                  <a:lnTo>
                    <a:pt x="8289671" y="0"/>
                  </a:lnTo>
                  <a:lnTo>
                    <a:pt x="8314307" y="4972"/>
                  </a:lnTo>
                  <a:lnTo>
                    <a:pt x="8334454" y="18542"/>
                  </a:lnTo>
                  <a:lnTo>
                    <a:pt x="8348053" y="38683"/>
                  </a:lnTo>
                  <a:lnTo>
                    <a:pt x="8353044" y="63373"/>
                  </a:lnTo>
                  <a:lnTo>
                    <a:pt x="8353044" y="570611"/>
                  </a:lnTo>
                  <a:lnTo>
                    <a:pt x="8348053" y="595300"/>
                  </a:lnTo>
                  <a:lnTo>
                    <a:pt x="8334454" y="615441"/>
                  </a:lnTo>
                  <a:lnTo>
                    <a:pt x="8314307" y="629011"/>
                  </a:lnTo>
                  <a:lnTo>
                    <a:pt x="8289671" y="633984"/>
                  </a:lnTo>
                  <a:lnTo>
                    <a:pt x="63373" y="633984"/>
                  </a:lnTo>
                  <a:lnTo>
                    <a:pt x="38683" y="629011"/>
                  </a:lnTo>
                  <a:lnTo>
                    <a:pt x="18542" y="615441"/>
                  </a:lnTo>
                  <a:lnTo>
                    <a:pt x="4972" y="595300"/>
                  </a:lnTo>
                  <a:lnTo>
                    <a:pt x="0" y="570611"/>
                  </a:lnTo>
                  <a:lnTo>
                    <a:pt x="0" y="63373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878330" y="1924050"/>
              <a:ext cx="8353425" cy="635635"/>
            </a:xfrm>
            <a:custGeom>
              <a:avLst/>
              <a:gdLst/>
              <a:ahLst/>
              <a:cxnLst/>
              <a:rect l="l" t="t" r="r" b="b"/>
              <a:pathLst>
                <a:path w="8353425" h="635635">
                  <a:moveTo>
                    <a:pt x="8289544" y="0"/>
                  </a:moveTo>
                  <a:lnTo>
                    <a:pt x="63500" y="0"/>
                  </a:lnTo>
                  <a:lnTo>
                    <a:pt x="38790" y="4992"/>
                  </a:lnTo>
                  <a:lnTo>
                    <a:pt x="18605" y="18605"/>
                  </a:lnTo>
                  <a:lnTo>
                    <a:pt x="4992" y="38790"/>
                  </a:lnTo>
                  <a:lnTo>
                    <a:pt x="0" y="63500"/>
                  </a:lnTo>
                  <a:lnTo>
                    <a:pt x="0" y="572008"/>
                  </a:lnTo>
                  <a:lnTo>
                    <a:pt x="4992" y="596717"/>
                  </a:lnTo>
                  <a:lnTo>
                    <a:pt x="18605" y="616902"/>
                  </a:lnTo>
                  <a:lnTo>
                    <a:pt x="38790" y="630515"/>
                  </a:lnTo>
                  <a:lnTo>
                    <a:pt x="63500" y="635508"/>
                  </a:lnTo>
                  <a:lnTo>
                    <a:pt x="8289544" y="635508"/>
                  </a:lnTo>
                  <a:lnTo>
                    <a:pt x="8314253" y="630515"/>
                  </a:lnTo>
                  <a:lnTo>
                    <a:pt x="8334438" y="616902"/>
                  </a:lnTo>
                  <a:lnTo>
                    <a:pt x="8348051" y="596717"/>
                  </a:lnTo>
                  <a:lnTo>
                    <a:pt x="8353044" y="572008"/>
                  </a:lnTo>
                  <a:lnTo>
                    <a:pt x="8353044" y="63500"/>
                  </a:lnTo>
                  <a:lnTo>
                    <a:pt x="8348051" y="38790"/>
                  </a:lnTo>
                  <a:lnTo>
                    <a:pt x="8334438" y="18605"/>
                  </a:lnTo>
                  <a:lnTo>
                    <a:pt x="8314253" y="4992"/>
                  </a:lnTo>
                  <a:lnTo>
                    <a:pt x="8289544" y="0"/>
                  </a:lnTo>
                  <a:close/>
                </a:path>
              </a:pathLst>
            </a:custGeom>
            <a:solidFill>
              <a:srgbClr val="5FE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878330" y="1924050"/>
              <a:ext cx="8353425" cy="635635"/>
            </a:xfrm>
            <a:custGeom>
              <a:avLst/>
              <a:gdLst/>
              <a:ahLst/>
              <a:cxnLst/>
              <a:rect l="l" t="t" r="r" b="b"/>
              <a:pathLst>
                <a:path w="8353425" h="635635">
                  <a:moveTo>
                    <a:pt x="0" y="63500"/>
                  </a:moveTo>
                  <a:lnTo>
                    <a:pt x="4992" y="38790"/>
                  </a:lnTo>
                  <a:lnTo>
                    <a:pt x="18605" y="18605"/>
                  </a:lnTo>
                  <a:lnTo>
                    <a:pt x="38790" y="4992"/>
                  </a:lnTo>
                  <a:lnTo>
                    <a:pt x="63500" y="0"/>
                  </a:lnTo>
                  <a:lnTo>
                    <a:pt x="8289544" y="0"/>
                  </a:lnTo>
                  <a:lnTo>
                    <a:pt x="8314253" y="4992"/>
                  </a:lnTo>
                  <a:lnTo>
                    <a:pt x="8334438" y="18605"/>
                  </a:lnTo>
                  <a:lnTo>
                    <a:pt x="8348051" y="38790"/>
                  </a:lnTo>
                  <a:lnTo>
                    <a:pt x="8353044" y="63500"/>
                  </a:lnTo>
                  <a:lnTo>
                    <a:pt x="8353044" y="572008"/>
                  </a:lnTo>
                  <a:lnTo>
                    <a:pt x="8348051" y="596717"/>
                  </a:lnTo>
                  <a:lnTo>
                    <a:pt x="8334438" y="616902"/>
                  </a:lnTo>
                  <a:lnTo>
                    <a:pt x="8314253" y="630515"/>
                  </a:lnTo>
                  <a:lnTo>
                    <a:pt x="8289544" y="635508"/>
                  </a:lnTo>
                  <a:lnTo>
                    <a:pt x="63500" y="635508"/>
                  </a:lnTo>
                  <a:lnTo>
                    <a:pt x="38790" y="630515"/>
                  </a:lnTo>
                  <a:lnTo>
                    <a:pt x="18605" y="616902"/>
                  </a:lnTo>
                  <a:lnTo>
                    <a:pt x="4992" y="596717"/>
                  </a:lnTo>
                  <a:lnTo>
                    <a:pt x="0" y="572008"/>
                  </a:lnTo>
                  <a:lnTo>
                    <a:pt x="0" y="63500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503169" y="2646426"/>
              <a:ext cx="8351520" cy="635635"/>
            </a:xfrm>
            <a:custGeom>
              <a:avLst/>
              <a:gdLst/>
              <a:ahLst/>
              <a:cxnLst/>
              <a:rect l="l" t="t" r="r" b="b"/>
              <a:pathLst>
                <a:path w="8351520" h="635635">
                  <a:moveTo>
                    <a:pt x="8288020" y="0"/>
                  </a:moveTo>
                  <a:lnTo>
                    <a:pt x="63500" y="0"/>
                  </a:lnTo>
                  <a:lnTo>
                    <a:pt x="38790" y="4992"/>
                  </a:lnTo>
                  <a:lnTo>
                    <a:pt x="18605" y="18605"/>
                  </a:lnTo>
                  <a:lnTo>
                    <a:pt x="4992" y="38790"/>
                  </a:lnTo>
                  <a:lnTo>
                    <a:pt x="0" y="63500"/>
                  </a:lnTo>
                  <a:lnTo>
                    <a:pt x="0" y="572008"/>
                  </a:lnTo>
                  <a:lnTo>
                    <a:pt x="4992" y="596717"/>
                  </a:lnTo>
                  <a:lnTo>
                    <a:pt x="18605" y="616902"/>
                  </a:lnTo>
                  <a:lnTo>
                    <a:pt x="38790" y="630515"/>
                  </a:lnTo>
                  <a:lnTo>
                    <a:pt x="63500" y="635508"/>
                  </a:lnTo>
                  <a:lnTo>
                    <a:pt x="8288020" y="635508"/>
                  </a:lnTo>
                  <a:lnTo>
                    <a:pt x="8312729" y="630515"/>
                  </a:lnTo>
                  <a:lnTo>
                    <a:pt x="8332914" y="616902"/>
                  </a:lnTo>
                  <a:lnTo>
                    <a:pt x="8346527" y="596717"/>
                  </a:lnTo>
                  <a:lnTo>
                    <a:pt x="8351520" y="572008"/>
                  </a:lnTo>
                  <a:lnTo>
                    <a:pt x="8351520" y="63500"/>
                  </a:lnTo>
                  <a:lnTo>
                    <a:pt x="8346527" y="38790"/>
                  </a:lnTo>
                  <a:lnTo>
                    <a:pt x="8332914" y="18605"/>
                  </a:lnTo>
                  <a:lnTo>
                    <a:pt x="8312729" y="4992"/>
                  </a:lnTo>
                  <a:lnTo>
                    <a:pt x="8288020" y="0"/>
                  </a:lnTo>
                  <a:close/>
                </a:path>
              </a:pathLst>
            </a:custGeom>
            <a:solidFill>
              <a:srgbClr val="D4EB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503169" y="2646426"/>
              <a:ext cx="8351520" cy="635635"/>
            </a:xfrm>
            <a:custGeom>
              <a:avLst/>
              <a:gdLst/>
              <a:ahLst/>
              <a:cxnLst/>
              <a:rect l="l" t="t" r="r" b="b"/>
              <a:pathLst>
                <a:path w="8351520" h="635635">
                  <a:moveTo>
                    <a:pt x="0" y="63500"/>
                  </a:moveTo>
                  <a:lnTo>
                    <a:pt x="4992" y="38790"/>
                  </a:lnTo>
                  <a:lnTo>
                    <a:pt x="18605" y="18605"/>
                  </a:lnTo>
                  <a:lnTo>
                    <a:pt x="38790" y="4992"/>
                  </a:lnTo>
                  <a:lnTo>
                    <a:pt x="63500" y="0"/>
                  </a:lnTo>
                  <a:lnTo>
                    <a:pt x="8288020" y="0"/>
                  </a:lnTo>
                  <a:lnTo>
                    <a:pt x="8312729" y="4992"/>
                  </a:lnTo>
                  <a:lnTo>
                    <a:pt x="8332914" y="18605"/>
                  </a:lnTo>
                  <a:lnTo>
                    <a:pt x="8346527" y="38790"/>
                  </a:lnTo>
                  <a:lnTo>
                    <a:pt x="8351520" y="63500"/>
                  </a:lnTo>
                  <a:lnTo>
                    <a:pt x="8351520" y="572008"/>
                  </a:lnTo>
                  <a:lnTo>
                    <a:pt x="8346527" y="596717"/>
                  </a:lnTo>
                  <a:lnTo>
                    <a:pt x="8332914" y="616902"/>
                  </a:lnTo>
                  <a:lnTo>
                    <a:pt x="8312729" y="630515"/>
                  </a:lnTo>
                  <a:lnTo>
                    <a:pt x="8288020" y="635508"/>
                  </a:lnTo>
                  <a:lnTo>
                    <a:pt x="63500" y="635508"/>
                  </a:lnTo>
                  <a:lnTo>
                    <a:pt x="38790" y="630515"/>
                  </a:lnTo>
                  <a:lnTo>
                    <a:pt x="18605" y="616902"/>
                  </a:lnTo>
                  <a:lnTo>
                    <a:pt x="4992" y="596717"/>
                  </a:lnTo>
                  <a:lnTo>
                    <a:pt x="0" y="572008"/>
                  </a:lnTo>
                  <a:lnTo>
                    <a:pt x="0" y="6350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126486" y="3370325"/>
              <a:ext cx="8351520" cy="634365"/>
            </a:xfrm>
            <a:custGeom>
              <a:avLst/>
              <a:gdLst/>
              <a:ahLst/>
              <a:cxnLst/>
              <a:rect l="l" t="t" r="r" b="b"/>
              <a:pathLst>
                <a:path w="8351520" h="634364">
                  <a:moveTo>
                    <a:pt x="8288146" y="0"/>
                  </a:moveTo>
                  <a:lnTo>
                    <a:pt x="63372" y="0"/>
                  </a:lnTo>
                  <a:lnTo>
                    <a:pt x="38683" y="4972"/>
                  </a:lnTo>
                  <a:lnTo>
                    <a:pt x="18541" y="18542"/>
                  </a:lnTo>
                  <a:lnTo>
                    <a:pt x="4972" y="38683"/>
                  </a:lnTo>
                  <a:lnTo>
                    <a:pt x="0" y="63373"/>
                  </a:lnTo>
                  <a:lnTo>
                    <a:pt x="0" y="570611"/>
                  </a:lnTo>
                  <a:lnTo>
                    <a:pt x="4972" y="595300"/>
                  </a:lnTo>
                  <a:lnTo>
                    <a:pt x="18541" y="615442"/>
                  </a:lnTo>
                  <a:lnTo>
                    <a:pt x="38683" y="629011"/>
                  </a:lnTo>
                  <a:lnTo>
                    <a:pt x="63372" y="633984"/>
                  </a:lnTo>
                  <a:lnTo>
                    <a:pt x="8288146" y="633984"/>
                  </a:lnTo>
                  <a:lnTo>
                    <a:pt x="8312836" y="629011"/>
                  </a:lnTo>
                  <a:lnTo>
                    <a:pt x="8332978" y="615442"/>
                  </a:lnTo>
                  <a:lnTo>
                    <a:pt x="8346547" y="595300"/>
                  </a:lnTo>
                  <a:lnTo>
                    <a:pt x="8351519" y="570611"/>
                  </a:lnTo>
                  <a:lnTo>
                    <a:pt x="8351519" y="63373"/>
                  </a:lnTo>
                  <a:lnTo>
                    <a:pt x="8346547" y="38683"/>
                  </a:lnTo>
                  <a:lnTo>
                    <a:pt x="8332977" y="18542"/>
                  </a:lnTo>
                  <a:lnTo>
                    <a:pt x="8312836" y="4972"/>
                  </a:lnTo>
                  <a:lnTo>
                    <a:pt x="8288146" y="0"/>
                  </a:lnTo>
                  <a:close/>
                </a:path>
              </a:pathLst>
            </a:custGeom>
            <a:solidFill>
              <a:srgbClr val="F795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126486" y="3370325"/>
              <a:ext cx="8351520" cy="634365"/>
            </a:xfrm>
            <a:custGeom>
              <a:avLst/>
              <a:gdLst/>
              <a:ahLst/>
              <a:cxnLst/>
              <a:rect l="l" t="t" r="r" b="b"/>
              <a:pathLst>
                <a:path w="8351520" h="634364">
                  <a:moveTo>
                    <a:pt x="0" y="63373"/>
                  </a:moveTo>
                  <a:lnTo>
                    <a:pt x="4972" y="38683"/>
                  </a:lnTo>
                  <a:lnTo>
                    <a:pt x="18541" y="18542"/>
                  </a:lnTo>
                  <a:lnTo>
                    <a:pt x="38683" y="4972"/>
                  </a:lnTo>
                  <a:lnTo>
                    <a:pt x="63372" y="0"/>
                  </a:lnTo>
                  <a:lnTo>
                    <a:pt x="8288146" y="0"/>
                  </a:lnTo>
                  <a:lnTo>
                    <a:pt x="8312836" y="4972"/>
                  </a:lnTo>
                  <a:lnTo>
                    <a:pt x="8332977" y="18542"/>
                  </a:lnTo>
                  <a:lnTo>
                    <a:pt x="8346547" y="38683"/>
                  </a:lnTo>
                  <a:lnTo>
                    <a:pt x="8351519" y="63373"/>
                  </a:lnTo>
                  <a:lnTo>
                    <a:pt x="8351519" y="570611"/>
                  </a:lnTo>
                  <a:lnTo>
                    <a:pt x="8346547" y="595300"/>
                  </a:lnTo>
                  <a:lnTo>
                    <a:pt x="8332978" y="615442"/>
                  </a:lnTo>
                  <a:lnTo>
                    <a:pt x="8312836" y="629011"/>
                  </a:lnTo>
                  <a:lnTo>
                    <a:pt x="8288146" y="633984"/>
                  </a:lnTo>
                  <a:lnTo>
                    <a:pt x="63372" y="633984"/>
                  </a:lnTo>
                  <a:lnTo>
                    <a:pt x="38683" y="629011"/>
                  </a:lnTo>
                  <a:lnTo>
                    <a:pt x="18541" y="615442"/>
                  </a:lnTo>
                  <a:lnTo>
                    <a:pt x="4972" y="595300"/>
                  </a:lnTo>
                  <a:lnTo>
                    <a:pt x="0" y="570611"/>
                  </a:lnTo>
                  <a:lnTo>
                    <a:pt x="0" y="63373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340611" y="1313179"/>
            <a:ext cx="6300470" cy="251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dirty="0" sz="2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retrieve</a:t>
            </a:r>
            <a:r>
              <a:rPr dirty="0" sz="2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database.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2100">
              <a:latin typeface="Calibri"/>
              <a:cs typeface="Calibri"/>
            </a:endParaRPr>
          </a:p>
          <a:p>
            <a:pPr marL="63627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INSERT</a:t>
            </a:r>
            <a:r>
              <a:rPr dirty="0" sz="2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dirty="0" sz="2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insert</a:t>
            </a:r>
            <a:r>
              <a:rPr dirty="0" sz="2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2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table.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2100">
              <a:latin typeface="Calibri"/>
              <a:cs typeface="Calibri"/>
            </a:endParaRPr>
          </a:p>
          <a:p>
            <a:pPr marL="1259840">
              <a:lnSpc>
                <a:spcPct val="100000"/>
              </a:lnSpc>
              <a:spcBef>
                <a:spcPts val="5"/>
              </a:spcBef>
            </a:pPr>
            <a:r>
              <a:rPr dirty="0" sz="2100" spc="-3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r>
              <a:rPr dirty="0" sz="2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dirty="0" sz="2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r>
              <a:rPr dirty="0" sz="2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existing</a:t>
            </a:r>
            <a:r>
              <a:rPr dirty="0" sz="2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within</a:t>
            </a:r>
            <a:r>
              <a:rPr dirty="0" sz="2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table.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2100">
              <a:latin typeface="Calibri"/>
              <a:cs typeface="Calibri"/>
            </a:endParaRPr>
          </a:p>
          <a:p>
            <a:pPr marL="1884045">
              <a:lnSpc>
                <a:spcPct val="100000"/>
              </a:lnSpc>
            </a:pP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DELETE</a:t>
            </a:r>
            <a:r>
              <a:rPr dirty="0" sz="21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dirty="0" sz="21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deletes</a:t>
            </a:r>
            <a:r>
              <a:rPr dirty="0" sz="21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2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records</a:t>
            </a:r>
            <a:r>
              <a:rPr dirty="0" sz="21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table.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8559038" y="929894"/>
            <a:ext cx="2308860" cy="2602865"/>
            <a:chOff x="8559038" y="929894"/>
            <a:chExt cx="2308860" cy="2602865"/>
          </a:xfrm>
        </p:grpSpPr>
        <p:sp>
          <p:nvSpPr>
            <p:cNvPr id="25" name="object 25" descr=""/>
            <p:cNvSpPr/>
            <p:nvPr/>
          </p:nvSpPr>
          <p:spPr>
            <a:xfrm>
              <a:off x="8571738" y="942594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79" h="411480">
                  <a:moveTo>
                    <a:pt x="318896" y="0"/>
                  </a:moveTo>
                  <a:lnTo>
                    <a:pt x="92582" y="0"/>
                  </a:lnTo>
                  <a:lnTo>
                    <a:pt x="92582" y="226313"/>
                  </a:lnTo>
                  <a:lnTo>
                    <a:pt x="0" y="226313"/>
                  </a:lnTo>
                  <a:lnTo>
                    <a:pt x="205739" y="411479"/>
                  </a:lnTo>
                  <a:lnTo>
                    <a:pt x="411479" y="226313"/>
                  </a:lnTo>
                  <a:lnTo>
                    <a:pt x="318896" y="226313"/>
                  </a:lnTo>
                  <a:lnTo>
                    <a:pt x="318896" y="0"/>
                  </a:lnTo>
                  <a:close/>
                </a:path>
              </a:pathLst>
            </a:custGeom>
            <a:solidFill>
              <a:srgbClr val="D0E2EA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8571738" y="942594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79" h="411480">
                  <a:moveTo>
                    <a:pt x="0" y="226313"/>
                  </a:moveTo>
                  <a:lnTo>
                    <a:pt x="92582" y="226313"/>
                  </a:lnTo>
                  <a:lnTo>
                    <a:pt x="92582" y="0"/>
                  </a:lnTo>
                  <a:lnTo>
                    <a:pt x="318896" y="0"/>
                  </a:lnTo>
                  <a:lnTo>
                    <a:pt x="318896" y="226313"/>
                  </a:lnTo>
                  <a:lnTo>
                    <a:pt x="411479" y="226313"/>
                  </a:lnTo>
                  <a:lnTo>
                    <a:pt x="205739" y="411479"/>
                  </a:lnTo>
                  <a:lnTo>
                    <a:pt x="0" y="226313"/>
                  </a:lnTo>
                  <a:close/>
                </a:path>
              </a:pathLst>
            </a:custGeom>
            <a:ln w="25400">
              <a:solidFill>
                <a:srgbClr val="D0E2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9195054" y="1664970"/>
              <a:ext cx="413384" cy="413384"/>
            </a:xfrm>
            <a:custGeom>
              <a:avLst/>
              <a:gdLst/>
              <a:ahLst/>
              <a:cxnLst/>
              <a:rect l="l" t="t" r="r" b="b"/>
              <a:pathLst>
                <a:path w="413384" h="413385">
                  <a:moveTo>
                    <a:pt x="320040" y="0"/>
                  </a:moveTo>
                  <a:lnTo>
                    <a:pt x="92964" y="0"/>
                  </a:lnTo>
                  <a:lnTo>
                    <a:pt x="92964" y="227202"/>
                  </a:lnTo>
                  <a:lnTo>
                    <a:pt x="0" y="227202"/>
                  </a:lnTo>
                  <a:lnTo>
                    <a:pt x="206501" y="413003"/>
                  </a:lnTo>
                  <a:lnTo>
                    <a:pt x="413003" y="227202"/>
                  </a:lnTo>
                  <a:lnTo>
                    <a:pt x="320040" y="227202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CFF0D9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9195054" y="1664970"/>
              <a:ext cx="413384" cy="413384"/>
            </a:xfrm>
            <a:custGeom>
              <a:avLst/>
              <a:gdLst/>
              <a:ahLst/>
              <a:cxnLst/>
              <a:rect l="l" t="t" r="r" b="b"/>
              <a:pathLst>
                <a:path w="413384" h="413385">
                  <a:moveTo>
                    <a:pt x="0" y="227202"/>
                  </a:moveTo>
                  <a:lnTo>
                    <a:pt x="92964" y="227202"/>
                  </a:lnTo>
                  <a:lnTo>
                    <a:pt x="92964" y="0"/>
                  </a:lnTo>
                  <a:lnTo>
                    <a:pt x="320040" y="0"/>
                  </a:lnTo>
                  <a:lnTo>
                    <a:pt x="320040" y="227202"/>
                  </a:lnTo>
                  <a:lnTo>
                    <a:pt x="413003" y="227202"/>
                  </a:lnTo>
                  <a:lnTo>
                    <a:pt x="206501" y="413003"/>
                  </a:lnTo>
                  <a:lnTo>
                    <a:pt x="0" y="227202"/>
                  </a:lnTo>
                  <a:close/>
                </a:path>
              </a:pathLst>
            </a:custGeom>
            <a:ln w="25400">
              <a:solidFill>
                <a:srgbClr val="D0E2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818370" y="2376677"/>
              <a:ext cx="413384" cy="413384"/>
            </a:xfrm>
            <a:custGeom>
              <a:avLst/>
              <a:gdLst/>
              <a:ahLst/>
              <a:cxnLst/>
              <a:rect l="l" t="t" r="r" b="b"/>
              <a:pathLst>
                <a:path w="413384" h="413385">
                  <a:moveTo>
                    <a:pt x="320039" y="0"/>
                  </a:moveTo>
                  <a:lnTo>
                    <a:pt x="92963" y="0"/>
                  </a:lnTo>
                  <a:lnTo>
                    <a:pt x="92963" y="227202"/>
                  </a:lnTo>
                  <a:lnTo>
                    <a:pt x="0" y="227202"/>
                  </a:lnTo>
                  <a:lnTo>
                    <a:pt x="206501" y="413004"/>
                  </a:lnTo>
                  <a:lnTo>
                    <a:pt x="413003" y="227202"/>
                  </a:lnTo>
                  <a:lnTo>
                    <a:pt x="320039" y="227202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EBF7CE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9818370" y="2376677"/>
              <a:ext cx="413384" cy="413384"/>
            </a:xfrm>
            <a:custGeom>
              <a:avLst/>
              <a:gdLst/>
              <a:ahLst/>
              <a:cxnLst/>
              <a:rect l="l" t="t" r="r" b="b"/>
              <a:pathLst>
                <a:path w="413384" h="413385">
                  <a:moveTo>
                    <a:pt x="0" y="227202"/>
                  </a:moveTo>
                  <a:lnTo>
                    <a:pt x="92963" y="227202"/>
                  </a:lnTo>
                  <a:lnTo>
                    <a:pt x="92963" y="0"/>
                  </a:lnTo>
                  <a:lnTo>
                    <a:pt x="320039" y="0"/>
                  </a:lnTo>
                  <a:lnTo>
                    <a:pt x="320039" y="227202"/>
                  </a:lnTo>
                  <a:lnTo>
                    <a:pt x="413003" y="227202"/>
                  </a:lnTo>
                  <a:lnTo>
                    <a:pt x="206501" y="413004"/>
                  </a:lnTo>
                  <a:lnTo>
                    <a:pt x="0" y="227202"/>
                  </a:lnTo>
                  <a:close/>
                </a:path>
              </a:pathLst>
            </a:custGeom>
            <a:ln w="25400">
              <a:solidFill>
                <a:srgbClr val="D0E2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0441686" y="3106673"/>
              <a:ext cx="413384" cy="413384"/>
            </a:xfrm>
            <a:custGeom>
              <a:avLst/>
              <a:gdLst/>
              <a:ahLst/>
              <a:cxnLst/>
              <a:rect l="l" t="t" r="r" b="b"/>
              <a:pathLst>
                <a:path w="413384" h="413385">
                  <a:moveTo>
                    <a:pt x="320040" y="0"/>
                  </a:moveTo>
                  <a:lnTo>
                    <a:pt x="92964" y="0"/>
                  </a:lnTo>
                  <a:lnTo>
                    <a:pt x="92964" y="227202"/>
                  </a:lnTo>
                  <a:lnTo>
                    <a:pt x="0" y="227202"/>
                  </a:lnTo>
                  <a:lnTo>
                    <a:pt x="206502" y="413003"/>
                  </a:lnTo>
                  <a:lnTo>
                    <a:pt x="413004" y="227202"/>
                  </a:lnTo>
                  <a:lnTo>
                    <a:pt x="320040" y="227202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FBDDC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0441686" y="3106673"/>
              <a:ext cx="413384" cy="413384"/>
            </a:xfrm>
            <a:custGeom>
              <a:avLst/>
              <a:gdLst/>
              <a:ahLst/>
              <a:cxnLst/>
              <a:rect l="l" t="t" r="r" b="b"/>
              <a:pathLst>
                <a:path w="413384" h="413385">
                  <a:moveTo>
                    <a:pt x="0" y="227202"/>
                  </a:moveTo>
                  <a:lnTo>
                    <a:pt x="92964" y="227202"/>
                  </a:lnTo>
                  <a:lnTo>
                    <a:pt x="92964" y="0"/>
                  </a:lnTo>
                  <a:lnTo>
                    <a:pt x="320040" y="0"/>
                  </a:lnTo>
                  <a:lnTo>
                    <a:pt x="320040" y="227202"/>
                  </a:lnTo>
                  <a:lnTo>
                    <a:pt x="413004" y="227202"/>
                  </a:lnTo>
                  <a:lnTo>
                    <a:pt x="206502" y="413003"/>
                  </a:lnTo>
                  <a:lnTo>
                    <a:pt x="0" y="227202"/>
                  </a:lnTo>
                  <a:close/>
                </a:path>
              </a:pathLst>
            </a:custGeom>
            <a:ln w="25400">
              <a:solidFill>
                <a:srgbClr val="D0E2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91564" y="2073656"/>
            <a:ext cx="2875280" cy="27089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400" spc="-25" b="1">
                <a:solidFill>
                  <a:srgbClr val="FFFFFF"/>
                </a:solidFill>
                <a:latin typeface="Calibri"/>
                <a:cs typeface="Calibri"/>
              </a:rPr>
              <a:t>TCL</a:t>
            </a:r>
            <a:endParaRPr sz="4400">
              <a:latin typeface="Calibri"/>
              <a:cs typeface="Calibri"/>
            </a:endParaRPr>
          </a:p>
          <a:p>
            <a:pPr algn="ctr" marL="12700" marR="5080">
              <a:lnSpc>
                <a:spcPct val="100000"/>
              </a:lnSpc>
            </a:pPr>
            <a:r>
              <a:rPr dirty="0" sz="4400" spc="-35" b="1">
                <a:solidFill>
                  <a:srgbClr val="FFFFFF"/>
                </a:solidFill>
                <a:latin typeface="Calibri"/>
                <a:cs typeface="Calibri"/>
              </a:rPr>
              <a:t>(Transaction </a:t>
            </a:r>
            <a:r>
              <a:rPr dirty="0" sz="4400" spc="-10" b="1">
                <a:solidFill>
                  <a:srgbClr val="FFFFFF"/>
                </a:solidFill>
                <a:latin typeface="Calibri"/>
                <a:cs typeface="Calibri"/>
              </a:rPr>
              <a:t>Control Language)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585977" y="2396489"/>
            <a:ext cx="0" cy="2228850"/>
          </a:xfrm>
          <a:custGeom>
            <a:avLst/>
            <a:gdLst/>
            <a:ahLst/>
            <a:cxnLst/>
            <a:rect l="l" t="t" r="r" b="b"/>
            <a:pathLst>
              <a:path w="0" h="2228850">
                <a:moveTo>
                  <a:pt x="0" y="0"/>
                </a:moveTo>
                <a:lnTo>
                  <a:pt x="0" y="222885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5077967" y="251459"/>
            <a:ext cx="6795770" cy="1388745"/>
            <a:chOff x="5077967" y="251459"/>
            <a:chExt cx="6795770" cy="1388745"/>
          </a:xfrm>
        </p:grpSpPr>
        <p:sp>
          <p:nvSpPr>
            <p:cNvPr id="5" name="object 5" descr=""/>
            <p:cNvSpPr/>
            <p:nvPr/>
          </p:nvSpPr>
          <p:spPr>
            <a:xfrm>
              <a:off x="5077967" y="251459"/>
              <a:ext cx="6795770" cy="1388745"/>
            </a:xfrm>
            <a:custGeom>
              <a:avLst/>
              <a:gdLst/>
              <a:ahLst/>
              <a:cxnLst/>
              <a:rect l="l" t="t" r="r" b="b"/>
              <a:pathLst>
                <a:path w="6795770" h="1388745">
                  <a:moveTo>
                    <a:pt x="6656705" y="0"/>
                  </a:moveTo>
                  <a:lnTo>
                    <a:pt x="138811" y="0"/>
                  </a:lnTo>
                  <a:lnTo>
                    <a:pt x="94918" y="7072"/>
                  </a:lnTo>
                  <a:lnTo>
                    <a:pt x="56811" y="26769"/>
                  </a:lnTo>
                  <a:lnTo>
                    <a:pt x="26769" y="56811"/>
                  </a:lnTo>
                  <a:lnTo>
                    <a:pt x="7072" y="94918"/>
                  </a:lnTo>
                  <a:lnTo>
                    <a:pt x="0" y="138811"/>
                  </a:lnTo>
                  <a:lnTo>
                    <a:pt x="0" y="1249553"/>
                  </a:lnTo>
                  <a:lnTo>
                    <a:pt x="7072" y="1293445"/>
                  </a:lnTo>
                  <a:lnTo>
                    <a:pt x="26769" y="1331552"/>
                  </a:lnTo>
                  <a:lnTo>
                    <a:pt x="56811" y="1361594"/>
                  </a:lnTo>
                  <a:lnTo>
                    <a:pt x="94918" y="1381291"/>
                  </a:lnTo>
                  <a:lnTo>
                    <a:pt x="138811" y="1388364"/>
                  </a:lnTo>
                  <a:lnTo>
                    <a:pt x="6656705" y="1388364"/>
                  </a:lnTo>
                  <a:lnTo>
                    <a:pt x="6700597" y="1381291"/>
                  </a:lnTo>
                  <a:lnTo>
                    <a:pt x="6738704" y="1361594"/>
                  </a:lnTo>
                  <a:lnTo>
                    <a:pt x="6768746" y="1331552"/>
                  </a:lnTo>
                  <a:lnTo>
                    <a:pt x="6788443" y="1293445"/>
                  </a:lnTo>
                  <a:lnTo>
                    <a:pt x="6795515" y="1249553"/>
                  </a:lnTo>
                  <a:lnTo>
                    <a:pt x="6795515" y="138811"/>
                  </a:lnTo>
                  <a:lnTo>
                    <a:pt x="6788443" y="94918"/>
                  </a:lnTo>
                  <a:lnTo>
                    <a:pt x="6768746" y="56811"/>
                  </a:lnTo>
                  <a:lnTo>
                    <a:pt x="6738704" y="26769"/>
                  </a:lnTo>
                  <a:lnTo>
                    <a:pt x="6700597" y="7072"/>
                  </a:lnTo>
                  <a:lnTo>
                    <a:pt x="665670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372570" y="808240"/>
              <a:ext cx="349885" cy="349885"/>
            </a:xfrm>
            <a:custGeom>
              <a:avLst/>
              <a:gdLst/>
              <a:ahLst/>
              <a:cxnLst/>
              <a:rect l="l" t="t" r="r" b="b"/>
              <a:pathLst>
                <a:path w="349885" h="349884">
                  <a:moveTo>
                    <a:pt x="32194" y="257670"/>
                  </a:moveTo>
                  <a:lnTo>
                    <a:pt x="0" y="257670"/>
                  </a:lnTo>
                  <a:lnTo>
                    <a:pt x="0" y="276085"/>
                  </a:lnTo>
                  <a:lnTo>
                    <a:pt x="32194" y="276085"/>
                  </a:lnTo>
                  <a:lnTo>
                    <a:pt x="32194" y="257670"/>
                  </a:lnTo>
                  <a:close/>
                </a:path>
                <a:path w="349885" h="349884">
                  <a:moveTo>
                    <a:pt x="32194" y="220865"/>
                  </a:moveTo>
                  <a:lnTo>
                    <a:pt x="0" y="220865"/>
                  </a:lnTo>
                  <a:lnTo>
                    <a:pt x="0" y="239268"/>
                  </a:lnTo>
                  <a:lnTo>
                    <a:pt x="32194" y="239268"/>
                  </a:lnTo>
                  <a:lnTo>
                    <a:pt x="32194" y="220865"/>
                  </a:lnTo>
                  <a:close/>
                </a:path>
                <a:path w="349885" h="349884">
                  <a:moveTo>
                    <a:pt x="32194" y="184048"/>
                  </a:moveTo>
                  <a:lnTo>
                    <a:pt x="0" y="184048"/>
                  </a:lnTo>
                  <a:lnTo>
                    <a:pt x="0" y="202463"/>
                  </a:lnTo>
                  <a:lnTo>
                    <a:pt x="32194" y="202463"/>
                  </a:lnTo>
                  <a:lnTo>
                    <a:pt x="32194" y="184048"/>
                  </a:lnTo>
                  <a:close/>
                </a:path>
                <a:path w="349885" h="349884">
                  <a:moveTo>
                    <a:pt x="32194" y="147243"/>
                  </a:moveTo>
                  <a:lnTo>
                    <a:pt x="0" y="147243"/>
                  </a:lnTo>
                  <a:lnTo>
                    <a:pt x="0" y="165646"/>
                  </a:lnTo>
                  <a:lnTo>
                    <a:pt x="32194" y="165646"/>
                  </a:lnTo>
                  <a:lnTo>
                    <a:pt x="32194" y="147243"/>
                  </a:lnTo>
                  <a:close/>
                </a:path>
                <a:path w="349885" h="349884">
                  <a:moveTo>
                    <a:pt x="32194" y="110439"/>
                  </a:moveTo>
                  <a:lnTo>
                    <a:pt x="0" y="110439"/>
                  </a:lnTo>
                  <a:lnTo>
                    <a:pt x="0" y="128841"/>
                  </a:lnTo>
                  <a:lnTo>
                    <a:pt x="32194" y="128841"/>
                  </a:lnTo>
                  <a:lnTo>
                    <a:pt x="32194" y="110439"/>
                  </a:lnTo>
                  <a:close/>
                </a:path>
                <a:path w="349885" h="349884">
                  <a:moveTo>
                    <a:pt x="32194" y="73621"/>
                  </a:moveTo>
                  <a:lnTo>
                    <a:pt x="0" y="73621"/>
                  </a:lnTo>
                  <a:lnTo>
                    <a:pt x="0" y="92024"/>
                  </a:lnTo>
                  <a:lnTo>
                    <a:pt x="32194" y="92024"/>
                  </a:lnTo>
                  <a:lnTo>
                    <a:pt x="32194" y="73621"/>
                  </a:lnTo>
                  <a:close/>
                </a:path>
                <a:path w="349885" h="349884">
                  <a:moveTo>
                    <a:pt x="91973" y="317487"/>
                  </a:moveTo>
                  <a:lnTo>
                    <a:pt x="73583" y="317487"/>
                  </a:lnTo>
                  <a:lnTo>
                    <a:pt x="73583" y="349707"/>
                  </a:lnTo>
                  <a:lnTo>
                    <a:pt x="91973" y="349707"/>
                  </a:lnTo>
                  <a:lnTo>
                    <a:pt x="91973" y="317487"/>
                  </a:lnTo>
                  <a:close/>
                </a:path>
                <a:path w="349885" h="349884">
                  <a:moveTo>
                    <a:pt x="91973" y="0"/>
                  </a:moveTo>
                  <a:lnTo>
                    <a:pt x="73583" y="0"/>
                  </a:lnTo>
                  <a:lnTo>
                    <a:pt x="73583" y="32207"/>
                  </a:lnTo>
                  <a:lnTo>
                    <a:pt x="91973" y="32207"/>
                  </a:lnTo>
                  <a:lnTo>
                    <a:pt x="91973" y="0"/>
                  </a:lnTo>
                  <a:close/>
                </a:path>
                <a:path w="349885" h="349884">
                  <a:moveTo>
                    <a:pt x="128765" y="317487"/>
                  </a:moveTo>
                  <a:lnTo>
                    <a:pt x="110375" y="317487"/>
                  </a:lnTo>
                  <a:lnTo>
                    <a:pt x="110375" y="349707"/>
                  </a:lnTo>
                  <a:lnTo>
                    <a:pt x="128765" y="349707"/>
                  </a:lnTo>
                  <a:lnTo>
                    <a:pt x="128765" y="317487"/>
                  </a:lnTo>
                  <a:close/>
                </a:path>
                <a:path w="349885" h="349884">
                  <a:moveTo>
                    <a:pt x="128765" y="0"/>
                  </a:moveTo>
                  <a:lnTo>
                    <a:pt x="110375" y="0"/>
                  </a:lnTo>
                  <a:lnTo>
                    <a:pt x="110375" y="32207"/>
                  </a:lnTo>
                  <a:lnTo>
                    <a:pt x="128765" y="32207"/>
                  </a:lnTo>
                  <a:lnTo>
                    <a:pt x="128765" y="0"/>
                  </a:lnTo>
                  <a:close/>
                </a:path>
                <a:path w="349885" h="349884">
                  <a:moveTo>
                    <a:pt x="165557" y="317487"/>
                  </a:moveTo>
                  <a:lnTo>
                    <a:pt x="147167" y="317487"/>
                  </a:lnTo>
                  <a:lnTo>
                    <a:pt x="147167" y="349707"/>
                  </a:lnTo>
                  <a:lnTo>
                    <a:pt x="165557" y="349707"/>
                  </a:lnTo>
                  <a:lnTo>
                    <a:pt x="165557" y="317487"/>
                  </a:lnTo>
                  <a:close/>
                </a:path>
                <a:path w="349885" h="349884">
                  <a:moveTo>
                    <a:pt x="165557" y="0"/>
                  </a:moveTo>
                  <a:lnTo>
                    <a:pt x="147167" y="0"/>
                  </a:lnTo>
                  <a:lnTo>
                    <a:pt x="147167" y="32207"/>
                  </a:lnTo>
                  <a:lnTo>
                    <a:pt x="165557" y="32207"/>
                  </a:lnTo>
                  <a:lnTo>
                    <a:pt x="165557" y="0"/>
                  </a:lnTo>
                  <a:close/>
                </a:path>
                <a:path w="349885" h="349884">
                  <a:moveTo>
                    <a:pt x="202349" y="317487"/>
                  </a:moveTo>
                  <a:lnTo>
                    <a:pt x="183959" y="317487"/>
                  </a:lnTo>
                  <a:lnTo>
                    <a:pt x="183959" y="349707"/>
                  </a:lnTo>
                  <a:lnTo>
                    <a:pt x="202349" y="349707"/>
                  </a:lnTo>
                  <a:lnTo>
                    <a:pt x="202349" y="317487"/>
                  </a:lnTo>
                  <a:close/>
                </a:path>
                <a:path w="349885" h="349884">
                  <a:moveTo>
                    <a:pt x="202349" y="0"/>
                  </a:moveTo>
                  <a:lnTo>
                    <a:pt x="183959" y="0"/>
                  </a:lnTo>
                  <a:lnTo>
                    <a:pt x="183959" y="32207"/>
                  </a:lnTo>
                  <a:lnTo>
                    <a:pt x="202349" y="32207"/>
                  </a:lnTo>
                  <a:lnTo>
                    <a:pt x="202349" y="0"/>
                  </a:lnTo>
                  <a:close/>
                </a:path>
                <a:path w="349885" h="349884">
                  <a:moveTo>
                    <a:pt x="239141" y="317487"/>
                  </a:moveTo>
                  <a:lnTo>
                    <a:pt x="220738" y="317487"/>
                  </a:lnTo>
                  <a:lnTo>
                    <a:pt x="220738" y="349707"/>
                  </a:lnTo>
                  <a:lnTo>
                    <a:pt x="239141" y="349707"/>
                  </a:lnTo>
                  <a:lnTo>
                    <a:pt x="239141" y="317487"/>
                  </a:lnTo>
                  <a:close/>
                </a:path>
                <a:path w="349885" h="349884">
                  <a:moveTo>
                    <a:pt x="239141" y="0"/>
                  </a:moveTo>
                  <a:lnTo>
                    <a:pt x="220738" y="0"/>
                  </a:lnTo>
                  <a:lnTo>
                    <a:pt x="220738" y="32207"/>
                  </a:lnTo>
                  <a:lnTo>
                    <a:pt x="239141" y="32207"/>
                  </a:lnTo>
                  <a:lnTo>
                    <a:pt x="239141" y="0"/>
                  </a:lnTo>
                  <a:close/>
                </a:path>
                <a:path w="349885" h="349884">
                  <a:moveTo>
                    <a:pt x="275932" y="317487"/>
                  </a:moveTo>
                  <a:lnTo>
                    <a:pt x="257530" y="317487"/>
                  </a:lnTo>
                  <a:lnTo>
                    <a:pt x="257530" y="349707"/>
                  </a:lnTo>
                  <a:lnTo>
                    <a:pt x="275932" y="349707"/>
                  </a:lnTo>
                  <a:lnTo>
                    <a:pt x="275932" y="317487"/>
                  </a:lnTo>
                  <a:close/>
                </a:path>
                <a:path w="349885" h="349884">
                  <a:moveTo>
                    <a:pt x="275932" y="0"/>
                  </a:moveTo>
                  <a:lnTo>
                    <a:pt x="257530" y="0"/>
                  </a:lnTo>
                  <a:lnTo>
                    <a:pt x="257530" y="32207"/>
                  </a:lnTo>
                  <a:lnTo>
                    <a:pt x="275932" y="32207"/>
                  </a:lnTo>
                  <a:lnTo>
                    <a:pt x="275932" y="0"/>
                  </a:lnTo>
                  <a:close/>
                </a:path>
                <a:path w="349885" h="349884">
                  <a:moveTo>
                    <a:pt x="298919" y="69024"/>
                  </a:moveTo>
                  <a:lnTo>
                    <a:pt x="297472" y="61861"/>
                  </a:lnTo>
                  <a:lnTo>
                    <a:pt x="293535" y="56007"/>
                  </a:lnTo>
                  <a:lnTo>
                    <a:pt x="287693" y="52057"/>
                  </a:lnTo>
                  <a:lnTo>
                    <a:pt x="280530" y="50622"/>
                  </a:lnTo>
                  <a:lnTo>
                    <a:pt x="252933" y="50622"/>
                  </a:lnTo>
                  <a:lnTo>
                    <a:pt x="252933" y="96634"/>
                  </a:lnTo>
                  <a:lnTo>
                    <a:pt x="252933" y="253072"/>
                  </a:lnTo>
                  <a:lnTo>
                    <a:pt x="96570" y="253072"/>
                  </a:lnTo>
                  <a:lnTo>
                    <a:pt x="96570" y="96634"/>
                  </a:lnTo>
                  <a:lnTo>
                    <a:pt x="252933" y="96634"/>
                  </a:lnTo>
                  <a:lnTo>
                    <a:pt x="252933" y="50622"/>
                  </a:lnTo>
                  <a:lnTo>
                    <a:pt x="68986" y="50622"/>
                  </a:lnTo>
                  <a:lnTo>
                    <a:pt x="61823" y="52057"/>
                  </a:lnTo>
                  <a:lnTo>
                    <a:pt x="55981" y="56007"/>
                  </a:lnTo>
                  <a:lnTo>
                    <a:pt x="52031" y="61861"/>
                  </a:lnTo>
                  <a:lnTo>
                    <a:pt x="50584" y="69024"/>
                  </a:lnTo>
                  <a:lnTo>
                    <a:pt x="50584" y="280682"/>
                  </a:lnTo>
                  <a:lnTo>
                    <a:pt x="52031" y="287845"/>
                  </a:lnTo>
                  <a:lnTo>
                    <a:pt x="55981" y="293700"/>
                  </a:lnTo>
                  <a:lnTo>
                    <a:pt x="61823" y="297637"/>
                  </a:lnTo>
                  <a:lnTo>
                    <a:pt x="68986" y="299085"/>
                  </a:lnTo>
                  <a:lnTo>
                    <a:pt x="280530" y="299085"/>
                  </a:lnTo>
                  <a:lnTo>
                    <a:pt x="287693" y="297637"/>
                  </a:lnTo>
                  <a:lnTo>
                    <a:pt x="293535" y="293700"/>
                  </a:lnTo>
                  <a:lnTo>
                    <a:pt x="297472" y="287845"/>
                  </a:lnTo>
                  <a:lnTo>
                    <a:pt x="298919" y="280682"/>
                  </a:lnTo>
                  <a:lnTo>
                    <a:pt x="298919" y="253072"/>
                  </a:lnTo>
                  <a:lnTo>
                    <a:pt x="298919" y="96634"/>
                  </a:lnTo>
                  <a:lnTo>
                    <a:pt x="298919" y="69024"/>
                  </a:lnTo>
                  <a:close/>
                </a:path>
                <a:path w="349885" h="349884">
                  <a:moveTo>
                    <a:pt x="349504" y="257670"/>
                  </a:moveTo>
                  <a:lnTo>
                    <a:pt x="317322" y="257670"/>
                  </a:lnTo>
                  <a:lnTo>
                    <a:pt x="317322" y="276085"/>
                  </a:lnTo>
                  <a:lnTo>
                    <a:pt x="349504" y="276085"/>
                  </a:lnTo>
                  <a:lnTo>
                    <a:pt x="349504" y="257670"/>
                  </a:lnTo>
                  <a:close/>
                </a:path>
                <a:path w="349885" h="349884">
                  <a:moveTo>
                    <a:pt x="349504" y="220865"/>
                  </a:moveTo>
                  <a:lnTo>
                    <a:pt x="317322" y="220865"/>
                  </a:lnTo>
                  <a:lnTo>
                    <a:pt x="317322" y="239268"/>
                  </a:lnTo>
                  <a:lnTo>
                    <a:pt x="349504" y="239268"/>
                  </a:lnTo>
                  <a:lnTo>
                    <a:pt x="349504" y="220865"/>
                  </a:lnTo>
                  <a:close/>
                </a:path>
                <a:path w="349885" h="349884">
                  <a:moveTo>
                    <a:pt x="349504" y="184048"/>
                  </a:moveTo>
                  <a:lnTo>
                    <a:pt x="317322" y="184048"/>
                  </a:lnTo>
                  <a:lnTo>
                    <a:pt x="317322" y="202463"/>
                  </a:lnTo>
                  <a:lnTo>
                    <a:pt x="349504" y="202463"/>
                  </a:lnTo>
                  <a:lnTo>
                    <a:pt x="349504" y="184048"/>
                  </a:lnTo>
                  <a:close/>
                </a:path>
                <a:path w="349885" h="349884">
                  <a:moveTo>
                    <a:pt x="349504" y="147243"/>
                  </a:moveTo>
                  <a:lnTo>
                    <a:pt x="317322" y="147243"/>
                  </a:lnTo>
                  <a:lnTo>
                    <a:pt x="317322" y="165646"/>
                  </a:lnTo>
                  <a:lnTo>
                    <a:pt x="349504" y="165646"/>
                  </a:lnTo>
                  <a:lnTo>
                    <a:pt x="349504" y="147243"/>
                  </a:lnTo>
                  <a:close/>
                </a:path>
                <a:path w="349885" h="349884">
                  <a:moveTo>
                    <a:pt x="349504" y="110439"/>
                  </a:moveTo>
                  <a:lnTo>
                    <a:pt x="317322" y="110439"/>
                  </a:lnTo>
                  <a:lnTo>
                    <a:pt x="317322" y="128841"/>
                  </a:lnTo>
                  <a:lnTo>
                    <a:pt x="349504" y="128841"/>
                  </a:lnTo>
                  <a:lnTo>
                    <a:pt x="349504" y="110439"/>
                  </a:lnTo>
                  <a:close/>
                </a:path>
                <a:path w="349885" h="349884">
                  <a:moveTo>
                    <a:pt x="349504" y="73621"/>
                  </a:moveTo>
                  <a:lnTo>
                    <a:pt x="317322" y="73621"/>
                  </a:lnTo>
                  <a:lnTo>
                    <a:pt x="317322" y="92024"/>
                  </a:lnTo>
                  <a:lnTo>
                    <a:pt x="349504" y="92024"/>
                  </a:lnTo>
                  <a:lnTo>
                    <a:pt x="349504" y="736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5487547" y="923269"/>
            <a:ext cx="120014" cy="120014"/>
          </a:xfrm>
          <a:custGeom>
            <a:avLst/>
            <a:gdLst/>
            <a:ahLst/>
            <a:cxnLst/>
            <a:rect l="l" t="t" r="r" b="b"/>
            <a:pathLst>
              <a:path w="120014" h="120015">
                <a:moveTo>
                  <a:pt x="119568" y="0"/>
                </a:moveTo>
                <a:lnTo>
                  <a:pt x="0" y="0"/>
                </a:lnTo>
                <a:lnTo>
                  <a:pt x="0" y="119634"/>
                </a:lnTo>
                <a:lnTo>
                  <a:pt x="119568" y="119634"/>
                </a:lnTo>
                <a:lnTo>
                  <a:pt x="1195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6105525" y="566166"/>
            <a:ext cx="5484495" cy="938530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 marR="5080">
              <a:lnSpc>
                <a:spcPct val="91500"/>
              </a:lnSpc>
              <a:spcBef>
                <a:spcPts val="259"/>
              </a:spcBef>
            </a:pPr>
            <a:r>
              <a:rPr dirty="0" sz="1600" spc="-20">
                <a:latin typeface="Calibri"/>
                <a:cs typeface="Calibri"/>
              </a:rPr>
              <a:t>Transaction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Control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Language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commands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are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manage transactions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database.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These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are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manage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changes </a:t>
            </a:r>
            <a:r>
              <a:rPr dirty="0" sz="1600">
                <a:latin typeface="Calibri"/>
                <a:cs typeface="Calibri"/>
              </a:rPr>
              <a:t>made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by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DML-statements.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also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allows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statements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grouped together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into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logical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transactions.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5077967" y="2020823"/>
            <a:ext cx="6795770" cy="603885"/>
            <a:chOff x="5077967" y="2020823"/>
            <a:chExt cx="6795770" cy="603885"/>
          </a:xfrm>
        </p:grpSpPr>
        <p:sp>
          <p:nvSpPr>
            <p:cNvPr id="10" name="object 10" descr=""/>
            <p:cNvSpPr/>
            <p:nvPr/>
          </p:nvSpPr>
          <p:spPr>
            <a:xfrm>
              <a:off x="5077967" y="2020823"/>
              <a:ext cx="6795770" cy="603885"/>
            </a:xfrm>
            <a:custGeom>
              <a:avLst/>
              <a:gdLst/>
              <a:ahLst/>
              <a:cxnLst/>
              <a:rect l="l" t="t" r="r" b="b"/>
              <a:pathLst>
                <a:path w="6795770" h="603885">
                  <a:moveTo>
                    <a:pt x="6735190" y="0"/>
                  </a:moveTo>
                  <a:lnTo>
                    <a:pt x="60325" y="0"/>
                  </a:lnTo>
                  <a:lnTo>
                    <a:pt x="36861" y="4746"/>
                  </a:lnTo>
                  <a:lnTo>
                    <a:pt x="17684" y="17684"/>
                  </a:lnTo>
                  <a:lnTo>
                    <a:pt x="4746" y="36861"/>
                  </a:lnTo>
                  <a:lnTo>
                    <a:pt x="0" y="60325"/>
                  </a:lnTo>
                  <a:lnTo>
                    <a:pt x="0" y="543178"/>
                  </a:lnTo>
                  <a:lnTo>
                    <a:pt x="4746" y="566642"/>
                  </a:lnTo>
                  <a:lnTo>
                    <a:pt x="17684" y="585819"/>
                  </a:lnTo>
                  <a:lnTo>
                    <a:pt x="36861" y="598757"/>
                  </a:lnTo>
                  <a:lnTo>
                    <a:pt x="60325" y="603503"/>
                  </a:lnTo>
                  <a:lnTo>
                    <a:pt x="6735190" y="603503"/>
                  </a:lnTo>
                  <a:lnTo>
                    <a:pt x="6758654" y="598757"/>
                  </a:lnTo>
                  <a:lnTo>
                    <a:pt x="6777831" y="585819"/>
                  </a:lnTo>
                  <a:lnTo>
                    <a:pt x="6790769" y="566642"/>
                  </a:lnTo>
                  <a:lnTo>
                    <a:pt x="6795515" y="543178"/>
                  </a:lnTo>
                  <a:lnTo>
                    <a:pt x="6795515" y="60325"/>
                  </a:lnTo>
                  <a:lnTo>
                    <a:pt x="6790769" y="36861"/>
                  </a:lnTo>
                  <a:lnTo>
                    <a:pt x="6777831" y="17684"/>
                  </a:lnTo>
                  <a:lnTo>
                    <a:pt x="6758654" y="4746"/>
                  </a:lnTo>
                  <a:lnTo>
                    <a:pt x="6735190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335778" y="2195042"/>
              <a:ext cx="423545" cy="257175"/>
            </a:xfrm>
            <a:custGeom>
              <a:avLst/>
              <a:gdLst/>
              <a:ahLst/>
              <a:cxnLst/>
              <a:rect l="l" t="t" r="r" b="b"/>
              <a:pathLst>
                <a:path w="423545" h="257175">
                  <a:moveTo>
                    <a:pt x="275932" y="18351"/>
                  </a:moveTo>
                  <a:lnTo>
                    <a:pt x="274485" y="11226"/>
                  </a:lnTo>
                  <a:lnTo>
                    <a:pt x="270522" y="5384"/>
                  </a:lnTo>
                  <a:lnTo>
                    <a:pt x="264680" y="1447"/>
                  </a:lnTo>
                  <a:lnTo>
                    <a:pt x="257530" y="0"/>
                  </a:lnTo>
                  <a:lnTo>
                    <a:pt x="248335" y="0"/>
                  </a:lnTo>
                  <a:lnTo>
                    <a:pt x="248335" y="27520"/>
                  </a:lnTo>
                  <a:lnTo>
                    <a:pt x="248335" y="174256"/>
                  </a:lnTo>
                  <a:lnTo>
                    <a:pt x="27597" y="174256"/>
                  </a:lnTo>
                  <a:lnTo>
                    <a:pt x="27597" y="27520"/>
                  </a:lnTo>
                  <a:lnTo>
                    <a:pt x="248335" y="27520"/>
                  </a:lnTo>
                  <a:lnTo>
                    <a:pt x="248335" y="0"/>
                  </a:lnTo>
                  <a:lnTo>
                    <a:pt x="18402" y="0"/>
                  </a:lnTo>
                  <a:lnTo>
                    <a:pt x="11252" y="1447"/>
                  </a:lnTo>
                  <a:lnTo>
                    <a:pt x="5410" y="5384"/>
                  </a:lnTo>
                  <a:lnTo>
                    <a:pt x="1460" y="11226"/>
                  </a:lnTo>
                  <a:lnTo>
                    <a:pt x="0" y="18351"/>
                  </a:lnTo>
                  <a:lnTo>
                    <a:pt x="0" y="183426"/>
                  </a:lnTo>
                  <a:lnTo>
                    <a:pt x="1460" y="190550"/>
                  </a:lnTo>
                  <a:lnTo>
                    <a:pt x="5410" y="196380"/>
                  </a:lnTo>
                  <a:lnTo>
                    <a:pt x="11252" y="200329"/>
                  </a:lnTo>
                  <a:lnTo>
                    <a:pt x="18402" y="201777"/>
                  </a:lnTo>
                  <a:lnTo>
                    <a:pt x="110375" y="201777"/>
                  </a:lnTo>
                  <a:lnTo>
                    <a:pt x="110375" y="229285"/>
                  </a:lnTo>
                  <a:lnTo>
                    <a:pt x="68986" y="229285"/>
                  </a:lnTo>
                  <a:lnTo>
                    <a:pt x="68986" y="256806"/>
                  </a:lnTo>
                  <a:lnTo>
                    <a:pt x="206946" y="256806"/>
                  </a:lnTo>
                  <a:lnTo>
                    <a:pt x="206946" y="229285"/>
                  </a:lnTo>
                  <a:lnTo>
                    <a:pt x="165557" y="229285"/>
                  </a:lnTo>
                  <a:lnTo>
                    <a:pt x="165557" y="201777"/>
                  </a:lnTo>
                  <a:lnTo>
                    <a:pt x="257530" y="201777"/>
                  </a:lnTo>
                  <a:lnTo>
                    <a:pt x="264680" y="200329"/>
                  </a:lnTo>
                  <a:lnTo>
                    <a:pt x="270522" y="196380"/>
                  </a:lnTo>
                  <a:lnTo>
                    <a:pt x="274485" y="190550"/>
                  </a:lnTo>
                  <a:lnTo>
                    <a:pt x="275932" y="183426"/>
                  </a:lnTo>
                  <a:lnTo>
                    <a:pt x="275932" y="174256"/>
                  </a:lnTo>
                  <a:lnTo>
                    <a:pt x="275932" y="27520"/>
                  </a:lnTo>
                  <a:lnTo>
                    <a:pt x="275932" y="18351"/>
                  </a:lnTo>
                  <a:close/>
                </a:path>
                <a:path w="423545" h="257175">
                  <a:moveTo>
                    <a:pt x="423087" y="18351"/>
                  </a:moveTo>
                  <a:lnTo>
                    <a:pt x="421640" y="11226"/>
                  </a:lnTo>
                  <a:lnTo>
                    <a:pt x="417690" y="5384"/>
                  </a:lnTo>
                  <a:lnTo>
                    <a:pt x="411835" y="1447"/>
                  </a:lnTo>
                  <a:lnTo>
                    <a:pt x="404698" y="0"/>
                  </a:lnTo>
                  <a:lnTo>
                    <a:pt x="404698" y="18351"/>
                  </a:lnTo>
                  <a:lnTo>
                    <a:pt x="404698" y="45859"/>
                  </a:lnTo>
                  <a:lnTo>
                    <a:pt x="404698" y="64198"/>
                  </a:lnTo>
                  <a:lnTo>
                    <a:pt x="404698" y="91719"/>
                  </a:lnTo>
                  <a:lnTo>
                    <a:pt x="372503" y="91719"/>
                  </a:lnTo>
                  <a:lnTo>
                    <a:pt x="372503" y="207733"/>
                  </a:lnTo>
                  <a:lnTo>
                    <a:pt x="372503" y="223329"/>
                  </a:lnTo>
                  <a:lnTo>
                    <a:pt x="366522" y="229285"/>
                  </a:lnTo>
                  <a:lnTo>
                    <a:pt x="350888" y="229285"/>
                  </a:lnTo>
                  <a:lnTo>
                    <a:pt x="344906" y="223329"/>
                  </a:lnTo>
                  <a:lnTo>
                    <a:pt x="344906" y="207733"/>
                  </a:lnTo>
                  <a:lnTo>
                    <a:pt x="350888" y="201777"/>
                  </a:lnTo>
                  <a:lnTo>
                    <a:pt x="366522" y="201777"/>
                  </a:lnTo>
                  <a:lnTo>
                    <a:pt x="372503" y="207733"/>
                  </a:lnTo>
                  <a:lnTo>
                    <a:pt x="372503" y="91719"/>
                  </a:lnTo>
                  <a:lnTo>
                    <a:pt x="312724" y="91719"/>
                  </a:lnTo>
                  <a:lnTo>
                    <a:pt x="312724" y="64198"/>
                  </a:lnTo>
                  <a:lnTo>
                    <a:pt x="404698" y="64198"/>
                  </a:lnTo>
                  <a:lnTo>
                    <a:pt x="404698" y="45859"/>
                  </a:lnTo>
                  <a:lnTo>
                    <a:pt x="312724" y="45859"/>
                  </a:lnTo>
                  <a:lnTo>
                    <a:pt x="312724" y="18351"/>
                  </a:lnTo>
                  <a:lnTo>
                    <a:pt x="404698" y="18351"/>
                  </a:lnTo>
                  <a:lnTo>
                    <a:pt x="404698" y="0"/>
                  </a:lnTo>
                  <a:lnTo>
                    <a:pt x="312724" y="0"/>
                  </a:lnTo>
                  <a:lnTo>
                    <a:pt x="305574" y="1447"/>
                  </a:lnTo>
                  <a:lnTo>
                    <a:pt x="299732" y="5384"/>
                  </a:lnTo>
                  <a:lnTo>
                    <a:pt x="295783" y="11226"/>
                  </a:lnTo>
                  <a:lnTo>
                    <a:pt x="294322" y="18351"/>
                  </a:lnTo>
                  <a:lnTo>
                    <a:pt x="294322" y="238455"/>
                  </a:lnTo>
                  <a:lnTo>
                    <a:pt x="295783" y="245579"/>
                  </a:lnTo>
                  <a:lnTo>
                    <a:pt x="299732" y="251409"/>
                  </a:lnTo>
                  <a:lnTo>
                    <a:pt x="305574" y="255358"/>
                  </a:lnTo>
                  <a:lnTo>
                    <a:pt x="312724" y="256806"/>
                  </a:lnTo>
                  <a:lnTo>
                    <a:pt x="404698" y="256806"/>
                  </a:lnTo>
                  <a:lnTo>
                    <a:pt x="411835" y="255358"/>
                  </a:lnTo>
                  <a:lnTo>
                    <a:pt x="417690" y="251409"/>
                  </a:lnTo>
                  <a:lnTo>
                    <a:pt x="421640" y="245579"/>
                  </a:lnTo>
                  <a:lnTo>
                    <a:pt x="423087" y="238455"/>
                  </a:lnTo>
                  <a:lnTo>
                    <a:pt x="423087" y="229285"/>
                  </a:lnTo>
                  <a:lnTo>
                    <a:pt x="423087" y="201777"/>
                  </a:lnTo>
                  <a:lnTo>
                    <a:pt x="423087" y="91719"/>
                  </a:lnTo>
                  <a:lnTo>
                    <a:pt x="423087" y="64198"/>
                  </a:lnTo>
                  <a:lnTo>
                    <a:pt x="423087" y="45859"/>
                  </a:lnTo>
                  <a:lnTo>
                    <a:pt x="423087" y="183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6105525" y="2241295"/>
            <a:ext cx="24523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Examples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TCL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commands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50">
                <a:latin typeface="Calibri"/>
                <a:cs typeface="Calibri"/>
              </a:rPr>
              <a:t>–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5077967" y="3121151"/>
            <a:ext cx="6795770" cy="810895"/>
            <a:chOff x="5077967" y="3121151"/>
            <a:chExt cx="6795770" cy="810895"/>
          </a:xfrm>
        </p:grpSpPr>
        <p:sp>
          <p:nvSpPr>
            <p:cNvPr id="14" name="object 14" descr=""/>
            <p:cNvSpPr/>
            <p:nvPr/>
          </p:nvSpPr>
          <p:spPr>
            <a:xfrm>
              <a:off x="5077967" y="3121151"/>
              <a:ext cx="6795770" cy="810895"/>
            </a:xfrm>
            <a:custGeom>
              <a:avLst/>
              <a:gdLst/>
              <a:ahLst/>
              <a:cxnLst/>
              <a:rect l="l" t="t" r="r" b="b"/>
              <a:pathLst>
                <a:path w="6795770" h="810895">
                  <a:moveTo>
                    <a:pt x="6714490" y="0"/>
                  </a:moveTo>
                  <a:lnTo>
                    <a:pt x="81026" y="0"/>
                  </a:lnTo>
                  <a:lnTo>
                    <a:pt x="49506" y="6373"/>
                  </a:lnTo>
                  <a:lnTo>
                    <a:pt x="23749" y="23749"/>
                  </a:lnTo>
                  <a:lnTo>
                    <a:pt x="6373" y="49506"/>
                  </a:lnTo>
                  <a:lnTo>
                    <a:pt x="0" y="81025"/>
                  </a:lnTo>
                  <a:lnTo>
                    <a:pt x="0" y="729742"/>
                  </a:lnTo>
                  <a:lnTo>
                    <a:pt x="6373" y="761261"/>
                  </a:lnTo>
                  <a:lnTo>
                    <a:pt x="23749" y="787019"/>
                  </a:lnTo>
                  <a:lnTo>
                    <a:pt x="49506" y="804394"/>
                  </a:lnTo>
                  <a:lnTo>
                    <a:pt x="81026" y="810768"/>
                  </a:lnTo>
                  <a:lnTo>
                    <a:pt x="6714490" y="810768"/>
                  </a:lnTo>
                  <a:lnTo>
                    <a:pt x="6746009" y="804394"/>
                  </a:lnTo>
                  <a:lnTo>
                    <a:pt x="6771767" y="787019"/>
                  </a:lnTo>
                  <a:lnTo>
                    <a:pt x="6789142" y="761261"/>
                  </a:lnTo>
                  <a:lnTo>
                    <a:pt x="6795515" y="729742"/>
                  </a:lnTo>
                  <a:lnTo>
                    <a:pt x="6795515" y="81025"/>
                  </a:lnTo>
                  <a:lnTo>
                    <a:pt x="6789142" y="49506"/>
                  </a:lnTo>
                  <a:lnTo>
                    <a:pt x="6771767" y="23749"/>
                  </a:lnTo>
                  <a:lnTo>
                    <a:pt x="6746009" y="6373"/>
                  </a:lnTo>
                  <a:lnTo>
                    <a:pt x="671449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381764" y="3357740"/>
              <a:ext cx="331470" cy="339725"/>
            </a:xfrm>
            <a:custGeom>
              <a:avLst/>
              <a:gdLst/>
              <a:ahLst/>
              <a:cxnLst/>
              <a:rect l="l" t="t" r="r" b="b"/>
              <a:pathLst>
                <a:path w="331470" h="339725">
                  <a:moveTo>
                    <a:pt x="133375" y="311823"/>
                  </a:moveTo>
                  <a:lnTo>
                    <a:pt x="0" y="311823"/>
                  </a:lnTo>
                  <a:lnTo>
                    <a:pt x="0" y="339331"/>
                  </a:lnTo>
                  <a:lnTo>
                    <a:pt x="133375" y="339331"/>
                  </a:lnTo>
                  <a:lnTo>
                    <a:pt x="133375" y="311823"/>
                  </a:lnTo>
                  <a:close/>
                </a:path>
                <a:path w="331470" h="339725">
                  <a:moveTo>
                    <a:pt x="179362" y="311823"/>
                  </a:moveTo>
                  <a:lnTo>
                    <a:pt x="151765" y="311823"/>
                  </a:lnTo>
                  <a:lnTo>
                    <a:pt x="151765" y="339331"/>
                  </a:lnTo>
                  <a:lnTo>
                    <a:pt x="179362" y="339331"/>
                  </a:lnTo>
                  <a:lnTo>
                    <a:pt x="179362" y="311823"/>
                  </a:lnTo>
                  <a:close/>
                </a:path>
                <a:path w="331470" h="339725">
                  <a:moveTo>
                    <a:pt x="312724" y="190766"/>
                  </a:moveTo>
                  <a:lnTo>
                    <a:pt x="305358" y="183426"/>
                  </a:lnTo>
                  <a:lnTo>
                    <a:pt x="165557" y="183426"/>
                  </a:lnTo>
                  <a:lnTo>
                    <a:pt x="165557" y="215049"/>
                  </a:lnTo>
                  <a:lnTo>
                    <a:pt x="165557" y="225171"/>
                  </a:lnTo>
                  <a:lnTo>
                    <a:pt x="161442" y="229273"/>
                  </a:lnTo>
                  <a:lnTo>
                    <a:pt x="151282" y="229273"/>
                  </a:lnTo>
                  <a:lnTo>
                    <a:pt x="147167" y="225171"/>
                  </a:lnTo>
                  <a:lnTo>
                    <a:pt x="147167" y="215049"/>
                  </a:lnTo>
                  <a:lnTo>
                    <a:pt x="151282" y="210934"/>
                  </a:lnTo>
                  <a:lnTo>
                    <a:pt x="161442" y="210934"/>
                  </a:lnTo>
                  <a:lnTo>
                    <a:pt x="165557" y="215049"/>
                  </a:lnTo>
                  <a:lnTo>
                    <a:pt x="165557" y="183426"/>
                  </a:lnTo>
                  <a:lnTo>
                    <a:pt x="119570" y="183426"/>
                  </a:lnTo>
                  <a:lnTo>
                    <a:pt x="119570" y="215049"/>
                  </a:lnTo>
                  <a:lnTo>
                    <a:pt x="119570" y="225171"/>
                  </a:lnTo>
                  <a:lnTo>
                    <a:pt x="115455" y="229273"/>
                  </a:lnTo>
                  <a:lnTo>
                    <a:pt x="105295" y="229273"/>
                  </a:lnTo>
                  <a:lnTo>
                    <a:pt x="101180" y="225171"/>
                  </a:lnTo>
                  <a:lnTo>
                    <a:pt x="101180" y="215049"/>
                  </a:lnTo>
                  <a:lnTo>
                    <a:pt x="105295" y="210934"/>
                  </a:lnTo>
                  <a:lnTo>
                    <a:pt x="115455" y="210934"/>
                  </a:lnTo>
                  <a:lnTo>
                    <a:pt x="119570" y="215049"/>
                  </a:lnTo>
                  <a:lnTo>
                    <a:pt x="119570" y="183426"/>
                  </a:lnTo>
                  <a:lnTo>
                    <a:pt x="73583" y="183426"/>
                  </a:lnTo>
                  <a:lnTo>
                    <a:pt x="73583" y="215049"/>
                  </a:lnTo>
                  <a:lnTo>
                    <a:pt x="73583" y="225171"/>
                  </a:lnTo>
                  <a:lnTo>
                    <a:pt x="69469" y="229273"/>
                  </a:lnTo>
                  <a:lnTo>
                    <a:pt x="59309" y="229273"/>
                  </a:lnTo>
                  <a:lnTo>
                    <a:pt x="55194" y="225171"/>
                  </a:lnTo>
                  <a:lnTo>
                    <a:pt x="55194" y="215049"/>
                  </a:lnTo>
                  <a:lnTo>
                    <a:pt x="59309" y="210934"/>
                  </a:lnTo>
                  <a:lnTo>
                    <a:pt x="69469" y="210934"/>
                  </a:lnTo>
                  <a:lnTo>
                    <a:pt x="73583" y="215049"/>
                  </a:lnTo>
                  <a:lnTo>
                    <a:pt x="73583" y="183426"/>
                  </a:lnTo>
                  <a:lnTo>
                    <a:pt x="25768" y="183426"/>
                  </a:lnTo>
                  <a:lnTo>
                    <a:pt x="18402" y="190766"/>
                  </a:lnTo>
                  <a:lnTo>
                    <a:pt x="18402" y="249440"/>
                  </a:lnTo>
                  <a:lnTo>
                    <a:pt x="25768" y="256794"/>
                  </a:lnTo>
                  <a:lnTo>
                    <a:pt x="151765" y="256794"/>
                  </a:lnTo>
                  <a:lnTo>
                    <a:pt x="151765" y="293484"/>
                  </a:lnTo>
                  <a:lnTo>
                    <a:pt x="179362" y="293484"/>
                  </a:lnTo>
                  <a:lnTo>
                    <a:pt x="179362" y="256794"/>
                  </a:lnTo>
                  <a:lnTo>
                    <a:pt x="305358" y="256794"/>
                  </a:lnTo>
                  <a:lnTo>
                    <a:pt x="312724" y="249440"/>
                  </a:lnTo>
                  <a:lnTo>
                    <a:pt x="312724" y="229273"/>
                  </a:lnTo>
                  <a:lnTo>
                    <a:pt x="312724" y="210934"/>
                  </a:lnTo>
                  <a:lnTo>
                    <a:pt x="312724" y="190766"/>
                  </a:lnTo>
                  <a:close/>
                </a:path>
                <a:path w="331470" h="339725">
                  <a:moveTo>
                    <a:pt x="312724" y="99060"/>
                  </a:moveTo>
                  <a:lnTo>
                    <a:pt x="305358" y="91706"/>
                  </a:lnTo>
                  <a:lnTo>
                    <a:pt x="165557" y="91706"/>
                  </a:lnTo>
                  <a:lnTo>
                    <a:pt x="165557" y="123329"/>
                  </a:lnTo>
                  <a:lnTo>
                    <a:pt x="165557" y="133464"/>
                  </a:lnTo>
                  <a:lnTo>
                    <a:pt x="161442" y="137566"/>
                  </a:lnTo>
                  <a:lnTo>
                    <a:pt x="151282" y="137566"/>
                  </a:lnTo>
                  <a:lnTo>
                    <a:pt x="147167" y="133464"/>
                  </a:lnTo>
                  <a:lnTo>
                    <a:pt x="147167" y="123329"/>
                  </a:lnTo>
                  <a:lnTo>
                    <a:pt x="151282" y="119227"/>
                  </a:lnTo>
                  <a:lnTo>
                    <a:pt x="161442" y="119227"/>
                  </a:lnTo>
                  <a:lnTo>
                    <a:pt x="165557" y="123329"/>
                  </a:lnTo>
                  <a:lnTo>
                    <a:pt x="165557" y="91706"/>
                  </a:lnTo>
                  <a:lnTo>
                    <a:pt x="119570" y="91706"/>
                  </a:lnTo>
                  <a:lnTo>
                    <a:pt x="119570" y="123329"/>
                  </a:lnTo>
                  <a:lnTo>
                    <a:pt x="119570" y="133464"/>
                  </a:lnTo>
                  <a:lnTo>
                    <a:pt x="115455" y="137566"/>
                  </a:lnTo>
                  <a:lnTo>
                    <a:pt x="105295" y="137566"/>
                  </a:lnTo>
                  <a:lnTo>
                    <a:pt x="101180" y="133464"/>
                  </a:lnTo>
                  <a:lnTo>
                    <a:pt x="101180" y="123329"/>
                  </a:lnTo>
                  <a:lnTo>
                    <a:pt x="105295" y="119227"/>
                  </a:lnTo>
                  <a:lnTo>
                    <a:pt x="115455" y="119227"/>
                  </a:lnTo>
                  <a:lnTo>
                    <a:pt x="119570" y="123329"/>
                  </a:lnTo>
                  <a:lnTo>
                    <a:pt x="119570" y="91706"/>
                  </a:lnTo>
                  <a:lnTo>
                    <a:pt x="73583" y="91706"/>
                  </a:lnTo>
                  <a:lnTo>
                    <a:pt x="73583" y="123329"/>
                  </a:lnTo>
                  <a:lnTo>
                    <a:pt x="73583" y="133464"/>
                  </a:lnTo>
                  <a:lnTo>
                    <a:pt x="69469" y="137566"/>
                  </a:lnTo>
                  <a:lnTo>
                    <a:pt x="59309" y="137566"/>
                  </a:lnTo>
                  <a:lnTo>
                    <a:pt x="55194" y="133464"/>
                  </a:lnTo>
                  <a:lnTo>
                    <a:pt x="55194" y="123329"/>
                  </a:lnTo>
                  <a:lnTo>
                    <a:pt x="59309" y="119227"/>
                  </a:lnTo>
                  <a:lnTo>
                    <a:pt x="69469" y="119227"/>
                  </a:lnTo>
                  <a:lnTo>
                    <a:pt x="73583" y="123329"/>
                  </a:lnTo>
                  <a:lnTo>
                    <a:pt x="73583" y="91706"/>
                  </a:lnTo>
                  <a:lnTo>
                    <a:pt x="25768" y="91706"/>
                  </a:lnTo>
                  <a:lnTo>
                    <a:pt x="18402" y="99060"/>
                  </a:lnTo>
                  <a:lnTo>
                    <a:pt x="18402" y="157734"/>
                  </a:lnTo>
                  <a:lnTo>
                    <a:pt x="25768" y="165074"/>
                  </a:lnTo>
                  <a:lnTo>
                    <a:pt x="305358" y="165074"/>
                  </a:lnTo>
                  <a:lnTo>
                    <a:pt x="312724" y="157734"/>
                  </a:lnTo>
                  <a:lnTo>
                    <a:pt x="312724" y="137566"/>
                  </a:lnTo>
                  <a:lnTo>
                    <a:pt x="312724" y="119227"/>
                  </a:lnTo>
                  <a:lnTo>
                    <a:pt x="312724" y="99060"/>
                  </a:lnTo>
                  <a:close/>
                </a:path>
                <a:path w="331470" h="339725">
                  <a:moveTo>
                    <a:pt x="312724" y="7327"/>
                  </a:moveTo>
                  <a:lnTo>
                    <a:pt x="305358" y="0"/>
                  </a:lnTo>
                  <a:lnTo>
                    <a:pt x="165557" y="0"/>
                  </a:lnTo>
                  <a:lnTo>
                    <a:pt x="165557" y="31610"/>
                  </a:lnTo>
                  <a:lnTo>
                    <a:pt x="165557" y="41744"/>
                  </a:lnTo>
                  <a:lnTo>
                    <a:pt x="161442" y="45847"/>
                  </a:lnTo>
                  <a:lnTo>
                    <a:pt x="151282" y="45847"/>
                  </a:lnTo>
                  <a:lnTo>
                    <a:pt x="147167" y="41744"/>
                  </a:lnTo>
                  <a:lnTo>
                    <a:pt x="147167" y="31610"/>
                  </a:lnTo>
                  <a:lnTo>
                    <a:pt x="151282" y="27508"/>
                  </a:lnTo>
                  <a:lnTo>
                    <a:pt x="161442" y="27508"/>
                  </a:lnTo>
                  <a:lnTo>
                    <a:pt x="165557" y="31610"/>
                  </a:lnTo>
                  <a:lnTo>
                    <a:pt x="165557" y="0"/>
                  </a:lnTo>
                  <a:lnTo>
                    <a:pt x="119570" y="0"/>
                  </a:lnTo>
                  <a:lnTo>
                    <a:pt x="119570" y="31610"/>
                  </a:lnTo>
                  <a:lnTo>
                    <a:pt x="119570" y="41744"/>
                  </a:lnTo>
                  <a:lnTo>
                    <a:pt x="115455" y="45847"/>
                  </a:lnTo>
                  <a:lnTo>
                    <a:pt x="105295" y="45847"/>
                  </a:lnTo>
                  <a:lnTo>
                    <a:pt x="101180" y="41744"/>
                  </a:lnTo>
                  <a:lnTo>
                    <a:pt x="101180" y="31610"/>
                  </a:lnTo>
                  <a:lnTo>
                    <a:pt x="105295" y="27508"/>
                  </a:lnTo>
                  <a:lnTo>
                    <a:pt x="115455" y="27508"/>
                  </a:lnTo>
                  <a:lnTo>
                    <a:pt x="119570" y="31610"/>
                  </a:lnTo>
                  <a:lnTo>
                    <a:pt x="119570" y="0"/>
                  </a:lnTo>
                  <a:lnTo>
                    <a:pt x="73583" y="0"/>
                  </a:lnTo>
                  <a:lnTo>
                    <a:pt x="73583" y="31610"/>
                  </a:lnTo>
                  <a:lnTo>
                    <a:pt x="73583" y="41744"/>
                  </a:lnTo>
                  <a:lnTo>
                    <a:pt x="69469" y="45847"/>
                  </a:lnTo>
                  <a:lnTo>
                    <a:pt x="59309" y="45847"/>
                  </a:lnTo>
                  <a:lnTo>
                    <a:pt x="55194" y="41744"/>
                  </a:lnTo>
                  <a:lnTo>
                    <a:pt x="55194" y="31610"/>
                  </a:lnTo>
                  <a:lnTo>
                    <a:pt x="59309" y="27508"/>
                  </a:lnTo>
                  <a:lnTo>
                    <a:pt x="69469" y="27508"/>
                  </a:lnTo>
                  <a:lnTo>
                    <a:pt x="73583" y="31610"/>
                  </a:lnTo>
                  <a:lnTo>
                    <a:pt x="73583" y="0"/>
                  </a:lnTo>
                  <a:lnTo>
                    <a:pt x="25768" y="0"/>
                  </a:lnTo>
                  <a:lnTo>
                    <a:pt x="18402" y="7327"/>
                  </a:lnTo>
                  <a:lnTo>
                    <a:pt x="18402" y="66014"/>
                  </a:lnTo>
                  <a:lnTo>
                    <a:pt x="25768" y="73367"/>
                  </a:lnTo>
                  <a:lnTo>
                    <a:pt x="305358" y="73367"/>
                  </a:lnTo>
                  <a:lnTo>
                    <a:pt x="312724" y="66014"/>
                  </a:lnTo>
                  <a:lnTo>
                    <a:pt x="312724" y="45847"/>
                  </a:lnTo>
                  <a:lnTo>
                    <a:pt x="312724" y="27508"/>
                  </a:lnTo>
                  <a:lnTo>
                    <a:pt x="312724" y="7327"/>
                  </a:lnTo>
                  <a:close/>
                </a:path>
                <a:path w="331470" h="339725">
                  <a:moveTo>
                    <a:pt x="331114" y="311823"/>
                  </a:moveTo>
                  <a:lnTo>
                    <a:pt x="197751" y="311823"/>
                  </a:lnTo>
                  <a:lnTo>
                    <a:pt x="197751" y="339331"/>
                  </a:lnTo>
                  <a:lnTo>
                    <a:pt x="331114" y="339331"/>
                  </a:lnTo>
                  <a:lnTo>
                    <a:pt x="331114" y="3118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105525" y="3333750"/>
            <a:ext cx="5256530" cy="49149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295"/>
              </a:spcBef>
              <a:tabLst>
                <a:tab pos="1034415" algn="l"/>
              </a:tabLst>
            </a:pPr>
            <a:r>
              <a:rPr dirty="0" sz="1600">
                <a:latin typeface="Calibri"/>
                <a:cs typeface="Calibri"/>
              </a:rPr>
              <a:t>COMMIT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50">
                <a:latin typeface="Calibri"/>
                <a:cs typeface="Calibri"/>
              </a:rPr>
              <a:t>:</a:t>
            </a:r>
            <a:r>
              <a:rPr dirty="0" sz="1600">
                <a:latin typeface="Calibri"/>
                <a:cs typeface="Calibri"/>
              </a:rPr>
              <a:t>	Commit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command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permanently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save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any </a:t>
            </a:r>
            <a:r>
              <a:rPr dirty="0" sz="1600" spc="-10">
                <a:latin typeface="Calibri"/>
                <a:cs typeface="Calibri"/>
              </a:rPr>
              <a:t>transaction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into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database.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5077967" y="4325111"/>
            <a:ext cx="6795770" cy="810895"/>
            <a:chOff x="5077967" y="4325111"/>
            <a:chExt cx="6795770" cy="810895"/>
          </a:xfrm>
        </p:grpSpPr>
        <p:sp>
          <p:nvSpPr>
            <p:cNvPr id="18" name="object 18" descr=""/>
            <p:cNvSpPr/>
            <p:nvPr/>
          </p:nvSpPr>
          <p:spPr>
            <a:xfrm>
              <a:off x="5077967" y="4325111"/>
              <a:ext cx="6795770" cy="810895"/>
            </a:xfrm>
            <a:custGeom>
              <a:avLst/>
              <a:gdLst/>
              <a:ahLst/>
              <a:cxnLst/>
              <a:rect l="l" t="t" r="r" b="b"/>
              <a:pathLst>
                <a:path w="6795770" h="810895">
                  <a:moveTo>
                    <a:pt x="6714490" y="0"/>
                  </a:moveTo>
                  <a:lnTo>
                    <a:pt x="81026" y="0"/>
                  </a:lnTo>
                  <a:lnTo>
                    <a:pt x="49506" y="6373"/>
                  </a:lnTo>
                  <a:lnTo>
                    <a:pt x="23749" y="23749"/>
                  </a:lnTo>
                  <a:lnTo>
                    <a:pt x="6373" y="49506"/>
                  </a:lnTo>
                  <a:lnTo>
                    <a:pt x="0" y="81025"/>
                  </a:lnTo>
                  <a:lnTo>
                    <a:pt x="0" y="729742"/>
                  </a:lnTo>
                  <a:lnTo>
                    <a:pt x="6373" y="761261"/>
                  </a:lnTo>
                  <a:lnTo>
                    <a:pt x="23749" y="787019"/>
                  </a:lnTo>
                  <a:lnTo>
                    <a:pt x="49506" y="804394"/>
                  </a:lnTo>
                  <a:lnTo>
                    <a:pt x="81026" y="810768"/>
                  </a:lnTo>
                  <a:lnTo>
                    <a:pt x="6714490" y="810768"/>
                  </a:lnTo>
                  <a:lnTo>
                    <a:pt x="6746009" y="804394"/>
                  </a:lnTo>
                  <a:lnTo>
                    <a:pt x="6771767" y="787019"/>
                  </a:lnTo>
                  <a:lnTo>
                    <a:pt x="6789142" y="761261"/>
                  </a:lnTo>
                  <a:lnTo>
                    <a:pt x="6795515" y="729742"/>
                  </a:lnTo>
                  <a:lnTo>
                    <a:pt x="6795515" y="81025"/>
                  </a:lnTo>
                  <a:lnTo>
                    <a:pt x="6789142" y="49506"/>
                  </a:lnTo>
                  <a:lnTo>
                    <a:pt x="6771767" y="23748"/>
                  </a:lnTo>
                  <a:lnTo>
                    <a:pt x="6746009" y="6373"/>
                  </a:lnTo>
                  <a:lnTo>
                    <a:pt x="6714490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381764" y="4584623"/>
              <a:ext cx="331470" cy="298450"/>
            </a:xfrm>
            <a:custGeom>
              <a:avLst/>
              <a:gdLst/>
              <a:ahLst/>
              <a:cxnLst/>
              <a:rect l="l" t="t" r="r" b="b"/>
              <a:pathLst>
                <a:path w="331470" h="298450">
                  <a:moveTo>
                    <a:pt x="55194" y="270560"/>
                  </a:moveTo>
                  <a:lnTo>
                    <a:pt x="53022" y="259842"/>
                  </a:lnTo>
                  <a:lnTo>
                    <a:pt x="47104" y="251104"/>
                  </a:lnTo>
                  <a:lnTo>
                    <a:pt x="38341" y="245198"/>
                  </a:lnTo>
                  <a:lnTo>
                    <a:pt x="27597" y="243039"/>
                  </a:lnTo>
                  <a:lnTo>
                    <a:pt x="16852" y="245198"/>
                  </a:lnTo>
                  <a:lnTo>
                    <a:pt x="8089" y="251104"/>
                  </a:lnTo>
                  <a:lnTo>
                    <a:pt x="2171" y="259842"/>
                  </a:lnTo>
                  <a:lnTo>
                    <a:pt x="0" y="270560"/>
                  </a:lnTo>
                  <a:lnTo>
                    <a:pt x="2171" y="281266"/>
                  </a:lnTo>
                  <a:lnTo>
                    <a:pt x="8089" y="290004"/>
                  </a:lnTo>
                  <a:lnTo>
                    <a:pt x="16852" y="295910"/>
                  </a:lnTo>
                  <a:lnTo>
                    <a:pt x="27597" y="298069"/>
                  </a:lnTo>
                  <a:lnTo>
                    <a:pt x="38341" y="295910"/>
                  </a:lnTo>
                  <a:lnTo>
                    <a:pt x="47104" y="290004"/>
                  </a:lnTo>
                  <a:lnTo>
                    <a:pt x="53022" y="281266"/>
                  </a:lnTo>
                  <a:lnTo>
                    <a:pt x="55194" y="270560"/>
                  </a:lnTo>
                  <a:close/>
                </a:path>
                <a:path w="331470" h="298450">
                  <a:moveTo>
                    <a:pt x="193154" y="270560"/>
                  </a:moveTo>
                  <a:lnTo>
                    <a:pt x="190982" y="259842"/>
                  </a:lnTo>
                  <a:lnTo>
                    <a:pt x="185077" y="251104"/>
                  </a:lnTo>
                  <a:lnTo>
                    <a:pt x="176301" y="245198"/>
                  </a:lnTo>
                  <a:lnTo>
                    <a:pt x="165557" y="243039"/>
                  </a:lnTo>
                  <a:lnTo>
                    <a:pt x="154825" y="245198"/>
                  </a:lnTo>
                  <a:lnTo>
                    <a:pt x="146050" y="251104"/>
                  </a:lnTo>
                  <a:lnTo>
                    <a:pt x="140131" y="259842"/>
                  </a:lnTo>
                  <a:lnTo>
                    <a:pt x="137972" y="270560"/>
                  </a:lnTo>
                  <a:lnTo>
                    <a:pt x="140131" y="281266"/>
                  </a:lnTo>
                  <a:lnTo>
                    <a:pt x="146050" y="290004"/>
                  </a:lnTo>
                  <a:lnTo>
                    <a:pt x="154825" y="295910"/>
                  </a:lnTo>
                  <a:lnTo>
                    <a:pt x="165557" y="298069"/>
                  </a:lnTo>
                  <a:lnTo>
                    <a:pt x="176301" y="295910"/>
                  </a:lnTo>
                  <a:lnTo>
                    <a:pt x="185077" y="290004"/>
                  </a:lnTo>
                  <a:lnTo>
                    <a:pt x="190982" y="281266"/>
                  </a:lnTo>
                  <a:lnTo>
                    <a:pt x="193154" y="270560"/>
                  </a:lnTo>
                  <a:close/>
                </a:path>
                <a:path w="331470" h="298450">
                  <a:moveTo>
                    <a:pt x="243738" y="0"/>
                  </a:moveTo>
                  <a:lnTo>
                    <a:pt x="87376" y="0"/>
                  </a:lnTo>
                  <a:lnTo>
                    <a:pt x="87376" y="64198"/>
                  </a:lnTo>
                  <a:lnTo>
                    <a:pt x="243738" y="64198"/>
                  </a:lnTo>
                  <a:lnTo>
                    <a:pt x="243738" y="0"/>
                  </a:lnTo>
                  <a:close/>
                </a:path>
                <a:path w="331470" h="298450">
                  <a:moveTo>
                    <a:pt x="312724" y="146735"/>
                  </a:moveTo>
                  <a:lnTo>
                    <a:pt x="195453" y="146735"/>
                  </a:lnTo>
                  <a:lnTo>
                    <a:pt x="188556" y="139865"/>
                  </a:lnTo>
                  <a:lnTo>
                    <a:pt x="188556" y="155917"/>
                  </a:lnTo>
                  <a:lnTo>
                    <a:pt x="165557" y="178841"/>
                  </a:lnTo>
                  <a:lnTo>
                    <a:pt x="151765" y="165087"/>
                  </a:lnTo>
                  <a:lnTo>
                    <a:pt x="142570" y="155917"/>
                  </a:lnTo>
                  <a:lnTo>
                    <a:pt x="165557" y="132981"/>
                  </a:lnTo>
                  <a:lnTo>
                    <a:pt x="188556" y="155917"/>
                  </a:lnTo>
                  <a:lnTo>
                    <a:pt x="188556" y="139865"/>
                  </a:lnTo>
                  <a:lnTo>
                    <a:pt x="181660" y="132981"/>
                  </a:lnTo>
                  <a:lnTo>
                    <a:pt x="174764" y="126111"/>
                  </a:lnTo>
                  <a:lnTo>
                    <a:pt x="174764" y="82537"/>
                  </a:lnTo>
                  <a:lnTo>
                    <a:pt x="156362" y="82537"/>
                  </a:lnTo>
                  <a:lnTo>
                    <a:pt x="156362" y="126111"/>
                  </a:lnTo>
                  <a:lnTo>
                    <a:pt x="135674" y="146735"/>
                  </a:lnTo>
                  <a:lnTo>
                    <a:pt x="18402" y="146735"/>
                  </a:lnTo>
                  <a:lnTo>
                    <a:pt x="18402" y="229285"/>
                  </a:lnTo>
                  <a:lnTo>
                    <a:pt x="36791" y="229285"/>
                  </a:lnTo>
                  <a:lnTo>
                    <a:pt x="36791" y="165087"/>
                  </a:lnTo>
                  <a:lnTo>
                    <a:pt x="135674" y="165087"/>
                  </a:lnTo>
                  <a:lnTo>
                    <a:pt x="156362" y="185724"/>
                  </a:lnTo>
                  <a:lnTo>
                    <a:pt x="156362" y="229285"/>
                  </a:lnTo>
                  <a:lnTo>
                    <a:pt x="174764" y="229285"/>
                  </a:lnTo>
                  <a:lnTo>
                    <a:pt x="174764" y="185724"/>
                  </a:lnTo>
                  <a:lnTo>
                    <a:pt x="181660" y="178841"/>
                  </a:lnTo>
                  <a:lnTo>
                    <a:pt x="195453" y="165087"/>
                  </a:lnTo>
                  <a:lnTo>
                    <a:pt x="294322" y="165087"/>
                  </a:lnTo>
                  <a:lnTo>
                    <a:pt x="294322" y="229285"/>
                  </a:lnTo>
                  <a:lnTo>
                    <a:pt x="312724" y="229285"/>
                  </a:lnTo>
                  <a:lnTo>
                    <a:pt x="312724" y="165087"/>
                  </a:lnTo>
                  <a:lnTo>
                    <a:pt x="312724" y="146735"/>
                  </a:lnTo>
                  <a:close/>
                </a:path>
                <a:path w="331470" h="298450">
                  <a:moveTo>
                    <a:pt x="331114" y="270560"/>
                  </a:moveTo>
                  <a:lnTo>
                    <a:pt x="328955" y="259842"/>
                  </a:lnTo>
                  <a:lnTo>
                    <a:pt x="323037" y="251104"/>
                  </a:lnTo>
                  <a:lnTo>
                    <a:pt x="314261" y="245198"/>
                  </a:lnTo>
                  <a:lnTo>
                    <a:pt x="303530" y="243039"/>
                  </a:lnTo>
                  <a:lnTo>
                    <a:pt x="292785" y="245198"/>
                  </a:lnTo>
                  <a:lnTo>
                    <a:pt x="284010" y="251104"/>
                  </a:lnTo>
                  <a:lnTo>
                    <a:pt x="278104" y="259842"/>
                  </a:lnTo>
                  <a:lnTo>
                    <a:pt x="275932" y="270560"/>
                  </a:lnTo>
                  <a:lnTo>
                    <a:pt x="278104" y="281266"/>
                  </a:lnTo>
                  <a:lnTo>
                    <a:pt x="284010" y="290004"/>
                  </a:lnTo>
                  <a:lnTo>
                    <a:pt x="292785" y="295910"/>
                  </a:lnTo>
                  <a:lnTo>
                    <a:pt x="303530" y="298069"/>
                  </a:lnTo>
                  <a:lnTo>
                    <a:pt x="314261" y="295910"/>
                  </a:lnTo>
                  <a:lnTo>
                    <a:pt x="323037" y="290004"/>
                  </a:lnTo>
                  <a:lnTo>
                    <a:pt x="328955" y="281266"/>
                  </a:lnTo>
                  <a:lnTo>
                    <a:pt x="331114" y="2705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6105525" y="4425772"/>
            <a:ext cx="5396865" cy="716280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 marR="5080">
              <a:lnSpc>
                <a:spcPct val="91600"/>
              </a:lnSpc>
              <a:spcBef>
                <a:spcPts val="259"/>
              </a:spcBef>
            </a:pPr>
            <a:r>
              <a:rPr dirty="0" sz="1600" spc="-10">
                <a:latin typeface="Calibri"/>
                <a:cs typeface="Calibri"/>
              </a:rPr>
              <a:t>ROLLBACK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:</a:t>
            </a:r>
            <a:r>
              <a:rPr dirty="0" sz="1600" spc="30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This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command</a:t>
            </a:r>
            <a:r>
              <a:rPr dirty="0" sz="1600" spc="-10">
                <a:latin typeface="Calibri"/>
                <a:cs typeface="Calibri"/>
              </a:rPr>
              <a:t> restores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database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last </a:t>
            </a:r>
            <a:r>
              <a:rPr dirty="0" sz="1600" spc="-10">
                <a:latin typeface="Calibri"/>
                <a:cs typeface="Calibri"/>
              </a:rPr>
              <a:t>committed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state.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also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with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savepoint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command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jump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savepoint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5077967" y="5529071"/>
            <a:ext cx="6795770" cy="810895"/>
            <a:chOff x="5077967" y="5529071"/>
            <a:chExt cx="6795770" cy="810895"/>
          </a:xfrm>
        </p:grpSpPr>
        <p:sp>
          <p:nvSpPr>
            <p:cNvPr id="22" name="object 22" descr=""/>
            <p:cNvSpPr/>
            <p:nvPr/>
          </p:nvSpPr>
          <p:spPr>
            <a:xfrm>
              <a:off x="5077967" y="5529071"/>
              <a:ext cx="6795770" cy="810895"/>
            </a:xfrm>
            <a:custGeom>
              <a:avLst/>
              <a:gdLst/>
              <a:ahLst/>
              <a:cxnLst/>
              <a:rect l="l" t="t" r="r" b="b"/>
              <a:pathLst>
                <a:path w="6795770" h="810895">
                  <a:moveTo>
                    <a:pt x="6714490" y="0"/>
                  </a:moveTo>
                  <a:lnTo>
                    <a:pt x="81026" y="0"/>
                  </a:lnTo>
                  <a:lnTo>
                    <a:pt x="49506" y="6374"/>
                  </a:lnTo>
                  <a:lnTo>
                    <a:pt x="23749" y="23755"/>
                  </a:lnTo>
                  <a:lnTo>
                    <a:pt x="6373" y="49527"/>
                  </a:lnTo>
                  <a:lnTo>
                    <a:pt x="0" y="81076"/>
                  </a:lnTo>
                  <a:lnTo>
                    <a:pt x="0" y="729691"/>
                  </a:lnTo>
                  <a:lnTo>
                    <a:pt x="6373" y="761251"/>
                  </a:lnTo>
                  <a:lnTo>
                    <a:pt x="23749" y="787022"/>
                  </a:lnTo>
                  <a:lnTo>
                    <a:pt x="49506" y="804396"/>
                  </a:lnTo>
                  <a:lnTo>
                    <a:pt x="81026" y="810767"/>
                  </a:lnTo>
                  <a:lnTo>
                    <a:pt x="6714490" y="810767"/>
                  </a:lnTo>
                  <a:lnTo>
                    <a:pt x="6746009" y="804396"/>
                  </a:lnTo>
                  <a:lnTo>
                    <a:pt x="6771767" y="787022"/>
                  </a:lnTo>
                  <a:lnTo>
                    <a:pt x="6789142" y="761251"/>
                  </a:lnTo>
                  <a:lnTo>
                    <a:pt x="6795515" y="729691"/>
                  </a:lnTo>
                  <a:lnTo>
                    <a:pt x="6795515" y="81076"/>
                  </a:lnTo>
                  <a:lnTo>
                    <a:pt x="6789142" y="49527"/>
                  </a:lnTo>
                  <a:lnTo>
                    <a:pt x="6771767" y="23755"/>
                  </a:lnTo>
                  <a:lnTo>
                    <a:pt x="6746009" y="6374"/>
                  </a:lnTo>
                  <a:lnTo>
                    <a:pt x="6714490" y="0"/>
                  </a:lnTo>
                  <a:close/>
                </a:path>
              </a:pathLst>
            </a:custGeom>
            <a:solidFill>
              <a:srgbClr val="F795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354182" y="5806005"/>
              <a:ext cx="386715" cy="257810"/>
            </a:xfrm>
            <a:custGeom>
              <a:avLst/>
              <a:gdLst/>
              <a:ahLst/>
              <a:cxnLst/>
              <a:rect l="l" t="t" r="r" b="b"/>
              <a:pathLst>
                <a:path w="386714" h="257810">
                  <a:moveTo>
                    <a:pt x="219786" y="0"/>
                  </a:moveTo>
                  <a:lnTo>
                    <a:pt x="210625" y="179"/>
                  </a:lnTo>
                  <a:lnTo>
                    <a:pt x="81858" y="29168"/>
                  </a:lnTo>
                  <a:lnTo>
                    <a:pt x="77259" y="31928"/>
                  </a:lnTo>
                  <a:lnTo>
                    <a:pt x="34491" y="87144"/>
                  </a:lnTo>
                  <a:lnTo>
                    <a:pt x="0" y="87144"/>
                  </a:lnTo>
                  <a:lnTo>
                    <a:pt x="0" y="220583"/>
                  </a:lnTo>
                  <a:lnTo>
                    <a:pt x="22994" y="220583"/>
                  </a:lnTo>
                  <a:lnTo>
                    <a:pt x="43192" y="226335"/>
                  </a:lnTo>
                  <a:lnTo>
                    <a:pt x="60416" y="238988"/>
                  </a:lnTo>
                  <a:lnTo>
                    <a:pt x="83073" y="251642"/>
                  </a:lnTo>
                  <a:lnTo>
                    <a:pt x="119568" y="257394"/>
                  </a:lnTo>
                  <a:lnTo>
                    <a:pt x="202347" y="257394"/>
                  </a:lnTo>
                  <a:lnTo>
                    <a:pt x="213061" y="255215"/>
                  </a:lnTo>
                  <a:lnTo>
                    <a:pt x="221834" y="249284"/>
                  </a:lnTo>
                  <a:lnTo>
                    <a:pt x="227762" y="240505"/>
                  </a:lnTo>
                  <a:lnTo>
                    <a:pt x="229940" y="229786"/>
                  </a:lnTo>
                  <a:lnTo>
                    <a:pt x="229940" y="222424"/>
                  </a:lnTo>
                  <a:lnTo>
                    <a:pt x="227180" y="215982"/>
                  </a:lnTo>
                  <a:lnTo>
                    <a:pt x="222582" y="211380"/>
                  </a:lnTo>
                  <a:lnTo>
                    <a:pt x="225341" y="211380"/>
                  </a:lnTo>
                  <a:lnTo>
                    <a:pt x="236055" y="209202"/>
                  </a:lnTo>
                  <a:lnTo>
                    <a:pt x="244828" y="203271"/>
                  </a:lnTo>
                  <a:lnTo>
                    <a:pt x="250756" y="194492"/>
                  </a:lnTo>
                  <a:lnTo>
                    <a:pt x="252934" y="183772"/>
                  </a:lnTo>
                  <a:lnTo>
                    <a:pt x="252934" y="176410"/>
                  </a:lnTo>
                  <a:lnTo>
                    <a:pt x="250174" y="169508"/>
                  </a:lnTo>
                  <a:lnTo>
                    <a:pt x="245116" y="164447"/>
                  </a:lnTo>
                  <a:lnTo>
                    <a:pt x="253731" y="160924"/>
                  </a:lnTo>
                  <a:lnTo>
                    <a:pt x="260579" y="154899"/>
                  </a:lnTo>
                  <a:lnTo>
                    <a:pt x="265099" y="146976"/>
                  </a:lnTo>
                  <a:lnTo>
                    <a:pt x="266730" y="137759"/>
                  </a:lnTo>
                  <a:lnTo>
                    <a:pt x="264553" y="127039"/>
                  </a:lnTo>
                  <a:lnTo>
                    <a:pt x="258625" y="118261"/>
                  </a:lnTo>
                  <a:lnTo>
                    <a:pt x="249851" y="112330"/>
                  </a:lnTo>
                  <a:lnTo>
                    <a:pt x="239137" y="110151"/>
                  </a:lnTo>
                  <a:lnTo>
                    <a:pt x="363305" y="110151"/>
                  </a:lnTo>
                  <a:lnTo>
                    <a:pt x="372330" y="108368"/>
                  </a:lnTo>
                  <a:lnTo>
                    <a:pt x="379631" y="103479"/>
                  </a:lnTo>
                  <a:lnTo>
                    <a:pt x="384517" y="96175"/>
                  </a:lnTo>
                  <a:lnTo>
                    <a:pt x="386299" y="87144"/>
                  </a:lnTo>
                  <a:lnTo>
                    <a:pt x="384517" y="78114"/>
                  </a:lnTo>
                  <a:lnTo>
                    <a:pt x="379631" y="70810"/>
                  </a:lnTo>
                  <a:lnTo>
                    <a:pt x="372330" y="65921"/>
                  </a:lnTo>
                  <a:lnTo>
                    <a:pt x="363305" y="64138"/>
                  </a:lnTo>
                  <a:lnTo>
                    <a:pt x="135664" y="64138"/>
                  </a:lnTo>
                  <a:lnTo>
                    <a:pt x="220742" y="45272"/>
                  </a:lnTo>
                  <a:lnTo>
                    <a:pt x="229099" y="41541"/>
                  </a:lnTo>
                  <a:lnTo>
                    <a:pt x="235171" y="35092"/>
                  </a:lnTo>
                  <a:lnTo>
                    <a:pt x="238397" y="26831"/>
                  </a:lnTo>
                  <a:lnTo>
                    <a:pt x="238217" y="17664"/>
                  </a:lnTo>
                  <a:lnTo>
                    <a:pt x="234488" y="9303"/>
                  </a:lnTo>
                  <a:lnTo>
                    <a:pt x="228043" y="3228"/>
                  </a:lnTo>
                  <a:lnTo>
                    <a:pt x="2197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6105525" y="5630367"/>
            <a:ext cx="5184140" cy="71564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5080">
              <a:lnSpc>
                <a:spcPct val="91600"/>
              </a:lnSpc>
              <a:spcBef>
                <a:spcPts val="254"/>
              </a:spcBef>
            </a:pPr>
            <a:r>
              <a:rPr dirty="0" sz="1600" spc="-10">
                <a:latin typeface="Calibri"/>
                <a:cs typeface="Calibri"/>
              </a:rPr>
              <a:t>SAVEPOINT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: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Savepoint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command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temporarily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save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50">
                <a:latin typeface="Calibri"/>
                <a:cs typeface="Calibri"/>
              </a:rPr>
              <a:t>a </a:t>
            </a:r>
            <a:r>
              <a:rPr dirty="0" sz="1600" spc="-10">
                <a:latin typeface="Calibri"/>
                <a:cs typeface="Calibri"/>
              </a:rPr>
              <a:t>transaction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so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you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rollback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point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whenever necessary.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30020" y="2905760"/>
            <a:ext cx="3199130" cy="100965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684530" marR="5080" indent="-672465">
              <a:lnSpc>
                <a:spcPts val="3670"/>
              </a:lnSpc>
              <a:spcBef>
                <a:spcPts val="560"/>
              </a:spcBef>
            </a:pPr>
            <a:r>
              <a:rPr dirty="0" sz="3400" b="1">
                <a:solidFill>
                  <a:srgbClr val="FFFFFF"/>
                </a:solidFill>
                <a:latin typeface="Calibri"/>
                <a:cs typeface="Calibri"/>
              </a:rPr>
              <a:t>DCL</a:t>
            </a:r>
            <a:r>
              <a:rPr dirty="0" sz="3400" spc="-8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FFFFFF"/>
                </a:solidFill>
                <a:latin typeface="Calibri"/>
                <a:cs typeface="Calibri"/>
              </a:rPr>
              <a:t>(Data</a:t>
            </a:r>
            <a:r>
              <a:rPr dirty="0" sz="3400" spc="-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400" spc="-10" b="1">
                <a:solidFill>
                  <a:srgbClr val="FFFFFF"/>
                </a:solidFill>
                <a:latin typeface="Calibri"/>
                <a:cs typeface="Calibri"/>
              </a:rPr>
              <a:t>Control Language)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585977" y="2396489"/>
            <a:ext cx="0" cy="2228850"/>
          </a:xfrm>
          <a:custGeom>
            <a:avLst/>
            <a:gdLst/>
            <a:ahLst/>
            <a:cxnLst/>
            <a:rect l="l" t="t" r="r" b="b"/>
            <a:pathLst>
              <a:path w="0" h="2228850">
                <a:moveTo>
                  <a:pt x="0" y="0"/>
                </a:moveTo>
                <a:lnTo>
                  <a:pt x="0" y="222885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4672584" y="228600"/>
            <a:ext cx="7373620" cy="1348740"/>
            <a:chOff x="4672584" y="228600"/>
            <a:chExt cx="7373620" cy="1348740"/>
          </a:xfrm>
        </p:grpSpPr>
        <p:sp>
          <p:nvSpPr>
            <p:cNvPr id="5" name="object 5" descr=""/>
            <p:cNvSpPr/>
            <p:nvPr/>
          </p:nvSpPr>
          <p:spPr>
            <a:xfrm>
              <a:off x="4672584" y="228600"/>
              <a:ext cx="7373620" cy="1348740"/>
            </a:xfrm>
            <a:custGeom>
              <a:avLst/>
              <a:gdLst/>
              <a:ahLst/>
              <a:cxnLst/>
              <a:rect l="l" t="t" r="r" b="b"/>
              <a:pathLst>
                <a:path w="7373620" h="1348740">
                  <a:moveTo>
                    <a:pt x="7238238" y="0"/>
                  </a:moveTo>
                  <a:lnTo>
                    <a:pt x="134874" y="0"/>
                  </a:lnTo>
                  <a:lnTo>
                    <a:pt x="92220" y="6870"/>
                  </a:lnTo>
                  <a:lnTo>
                    <a:pt x="55193" y="26005"/>
                  </a:lnTo>
                  <a:lnTo>
                    <a:pt x="26005" y="55193"/>
                  </a:lnTo>
                  <a:lnTo>
                    <a:pt x="6870" y="92220"/>
                  </a:lnTo>
                  <a:lnTo>
                    <a:pt x="0" y="134874"/>
                  </a:lnTo>
                  <a:lnTo>
                    <a:pt x="0" y="1213865"/>
                  </a:lnTo>
                  <a:lnTo>
                    <a:pt x="6870" y="1256519"/>
                  </a:lnTo>
                  <a:lnTo>
                    <a:pt x="26005" y="1293546"/>
                  </a:lnTo>
                  <a:lnTo>
                    <a:pt x="55193" y="1322734"/>
                  </a:lnTo>
                  <a:lnTo>
                    <a:pt x="92220" y="1341869"/>
                  </a:lnTo>
                  <a:lnTo>
                    <a:pt x="134874" y="1348739"/>
                  </a:lnTo>
                  <a:lnTo>
                    <a:pt x="7238238" y="1348739"/>
                  </a:lnTo>
                  <a:lnTo>
                    <a:pt x="7280891" y="1341869"/>
                  </a:lnTo>
                  <a:lnTo>
                    <a:pt x="7317918" y="1322734"/>
                  </a:lnTo>
                  <a:lnTo>
                    <a:pt x="7347106" y="1293546"/>
                  </a:lnTo>
                  <a:lnTo>
                    <a:pt x="7366241" y="1256519"/>
                  </a:lnTo>
                  <a:lnTo>
                    <a:pt x="7373111" y="1213865"/>
                  </a:lnTo>
                  <a:lnTo>
                    <a:pt x="7373111" y="134874"/>
                  </a:lnTo>
                  <a:lnTo>
                    <a:pt x="7366241" y="92220"/>
                  </a:lnTo>
                  <a:lnTo>
                    <a:pt x="7347106" y="55193"/>
                  </a:lnTo>
                  <a:lnTo>
                    <a:pt x="7317918" y="26005"/>
                  </a:lnTo>
                  <a:lnTo>
                    <a:pt x="7280891" y="6870"/>
                  </a:lnTo>
                  <a:lnTo>
                    <a:pt x="723823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1032" y="644376"/>
              <a:ext cx="244602" cy="24473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5208727" y="889190"/>
              <a:ext cx="490220" cy="340360"/>
            </a:xfrm>
            <a:custGeom>
              <a:avLst/>
              <a:gdLst/>
              <a:ahLst/>
              <a:cxnLst/>
              <a:rect l="l" t="t" r="r" b="b"/>
              <a:pathLst>
                <a:path w="490220" h="340359">
                  <a:moveTo>
                    <a:pt x="467728" y="310972"/>
                  </a:moveTo>
                  <a:lnTo>
                    <a:pt x="409473" y="310972"/>
                  </a:lnTo>
                  <a:lnTo>
                    <a:pt x="409473" y="263245"/>
                  </a:lnTo>
                  <a:lnTo>
                    <a:pt x="409473" y="257898"/>
                  </a:lnTo>
                  <a:lnTo>
                    <a:pt x="409473" y="172085"/>
                  </a:lnTo>
                  <a:lnTo>
                    <a:pt x="409473" y="170789"/>
                  </a:lnTo>
                  <a:lnTo>
                    <a:pt x="409473" y="120383"/>
                  </a:lnTo>
                  <a:lnTo>
                    <a:pt x="407949" y="112826"/>
                  </a:lnTo>
                  <a:lnTo>
                    <a:pt x="403796" y="106654"/>
                  </a:lnTo>
                  <a:lnTo>
                    <a:pt x="397624" y="102489"/>
                  </a:lnTo>
                  <a:lnTo>
                    <a:pt x="390067" y="100965"/>
                  </a:lnTo>
                  <a:lnTo>
                    <a:pt x="337553" y="100965"/>
                  </a:lnTo>
                  <a:lnTo>
                    <a:pt x="337553" y="214985"/>
                  </a:lnTo>
                  <a:lnTo>
                    <a:pt x="294665" y="257898"/>
                  </a:lnTo>
                  <a:lnTo>
                    <a:pt x="283895" y="247116"/>
                  </a:lnTo>
                  <a:lnTo>
                    <a:pt x="315912" y="214985"/>
                  </a:lnTo>
                  <a:lnTo>
                    <a:pt x="283895" y="182867"/>
                  </a:lnTo>
                  <a:lnTo>
                    <a:pt x="294665" y="172085"/>
                  </a:lnTo>
                  <a:lnTo>
                    <a:pt x="337553" y="214985"/>
                  </a:lnTo>
                  <a:lnTo>
                    <a:pt x="337553" y="100965"/>
                  </a:lnTo>
                  <a:lnTo>
                    <a:pt x="269290" y="100965"/>
                  </a:lnTo>
                  <a:lnTo>
                    <a:pt x="269290" y="176669"/>
                  </a:lnTo>
                  <a:lnTo>
                    <a:pt x="233514" y="263245"/>
                  </a:lnTo>
                  <a:lnTo>
                    <a:pt x="220662" y="257898"/>
                  </a:lnTo>
                  <a:lnTo>
                    <a:pt x="219379" y="257365"/>
                  </a:lnTo>
                  <a:lnTo>
                    <a:pt x="254685" y="172085"/>
                  </a:lnTo>
                  <a:lnTo>
                    <a:pt x="255219" y="170789"/>
                  </a:lnTo>
                  <a:lnTo>
                    <a:pt x="269290" y="176669"/>
                  </a:lnTo>
                  <a:lnTo>
                    <a:pt x="269290" y="100965"/>
                  </a:lnTo>
                  <a:lnTo>
                    <a:pt x="205003" y="100965"/>
                  </a:lnTo>
                  <a:lnTo>
                    <a:pt x="205003" y="182867"/>
                  </a:lnTo>
                  <a:lnTo>
                    <a:pt x="172974" y="214985"/>
                  </a:lnTo>
                  <a:lnTo>
                    <a:pt x="205003" y="247116"/>
                  </a:lnTo>
                  <a:lnTo>
                    <a:pt x="194233" y="257898"/>
                  </a:lnTo>
                  <a:lnTo>
                    <a:pt x="151345" y="214985"/>
                  </a:lnTo>
                  <a:lnTo>
                    <a:pt x="194233" y="172085"/>
                  </a:lnTo>
                  <a:lnTo>
                    <a:pt x="205003" y="182867"/>
                  </a:lnTo>
                  <a:lnTo>
                    <a:pt x="205003" y="100965"/>
                  </a:lnTo>
                  <a:lnTo>
                    <a:pt x="99364" y="100965"/>
                  </a:lnTo>
                  <a:lnTo>
                    <a:pt x="91808" y="102489"/>
                  </a:lnTo>
                  <a:lnTo>
                    <a:pt x="85636" y="106654"/>
                  </a:lnTo>
                  <a:lnTo>
                    <a:pt x="81483" y="112826"/>
                  </a:lnTo>
                  <a:lnTo>
                    <a:pt x="79946" y="120383"/>
                  </a:lnTo>
                  <a:lnTo>
                    <a:pt x="79946" y="310972"/>
                  </a:lnTo>
                  <a:lnTo>
                    <a:pt x="21475" y="310972"/>
                  </a:lnTo>
                  <a:lnTo>
                    <a:pt x="21475" y="320687"/>
                  </a:lnTo>
                  <a:lnTo>
                    <a:pt x="23025" y="328231"/>
                  </a:lnTo>
                  <a:lnTo>
                    <a:pt x="27190" y="334403"/>
                  </a:lnTo>
                  <a:lnTo>
                    <a:pt x="33350" y="338569"/>
                  </a:lnTo>
                  <a:lnTo>
                    <a:pt x="40894" y="340118"/>
                  </a:lnTo>
                  <a:lnTo>
                    <a:pt x="448310" y="340118"/>
                  </a:lnTo>
                  <a:lnTo>
                    <a:pt x="455853" y="338569"/>
                  </a:lnTo>
                  <a:lnTo>
                    <a:pt x="462013" y="334403"/>
                  </a:lnTo>
                  <a:lnTo>
                    <a:pt x="466178" y="328231"/>
                  </a:lnTo>
                  <a:lnTo>
                    <a:pt x="467728" y="320687"/>
                  </a:lnTo>
                  <a:lnTo>
                    <a:pt x="467728" y="310972"/>
                  </a:lnTo>
                  <a:close/>
                </a:path>
                <a:path w="490220" h="340359">
                  <a:moveTo>
                    <a:pt x="489889" y="235089"/>
                  </a:moveTo>
                  <a:lnTo>
                    <a:pt x="466267" y="91020"/>
                  </a:lnTo>
                  <a:lnTo>
                    <a:pt x="444106" y="50025"/>
                  </a:lnTo>
                  <a:lnTo>
                    <a:pt x="392430" y="21297"/>
                  </a:lnTo>
                  <a:lnTo>
                    <a:pt x="322795" y="0"/>
                  </a:lnTo>
                  <a:lnTo>
                    <a:pt x="285153" y="17094"/>
                  </a:lnTo>
                  <a:lnTo>
                    <a:pt x="245021" y="22796"/>
                  </a:lnTo>
                  <a:lnTo>
                    <a:pt x="204876" y="17094"/>
                  </a:lnTo>
                  <a:lnTo>
                    <a:pt x="167246" y="0"/>
                  </a:lnTo>
                  <a:lnTo>
                    <a:pt x="153492" y="2527"/>
                  </a:lnTo>
                  <a:lnTo>
                    <a:pt x="97231" y="21577"/>
                  </a:lnTo>
                  <a:lnTo>
                    <a:pt x="45097" y="50025"/>
                  </a:lnTo>
                  <a:lnTo>
                    <a:pt x="22923" y="91020"/>
                  </a:lnTo>
                  <a:lnTo>
                    <a:pt x="0" y="222491"/>
                  </a:lnTo>
                  <a:lnTo>
                    <a:pt x="63" y="230720"/>
                  </a:lnTo>
                  <a:lnTo>
                    <a:pt x="2197" y="238544"/>
                  </a:lnTo>
                  <a:lnTo>
                    <a:pt x="6261" y="245567"/>
                  </a:lnTo>
                  <a:lnTo>
                    <a:pt x="12077" y="251396"/>
                  </a:lnTo>
                  <a:lnTo>
                    <a:pt x="64439" y="285965"/>
                  </a:lnTo>
                  <a:lnTo>
                    <a:pt x="64439" y="120383"/>
                  </a:lnTo>
                  <a:lnTo>
                    <a:pt x="67157" y="106870"/>
                  </a:lnTo>
                  <a:lnTo>
                    <a:pt x="74599" y="95834"/>
                  </a:lnTo>
                  <a:lnTo>
                    <a:pt x="85636" y="88392"/>
                  </a:lnTo>
                  <a:lnTo>
                    <a:pt x="99364" y="85661"/>
                  </a:lnTo>
                  <a:lnTo>
                    <a:pt x="389839" y="85661"/>
                  </a:lnTo>
                  <a:lnTo>
                    <a:pt x="403339" y="88392"/>
                  </a:lnTo>
                  <a:lnTo>
                    <a:pt x="414375" y="95834"/>
                  </a:lnTo>
                  <a:lnTo>
                    <a:pt x="421805" y="106870"/>
                  </a:lnTo>
                  <a:lnTo>
                    <a:pt x="424535" y="120383"/>
                  </a:lnTo>
                  <a:lnTo>
                    <a:pt x="424535" y="281762"/>
                  </a:lnTo>
                  <a:lnTo>
                    <a:pt x="486257" y="242697"/>
                  </a:lnTo>
                  <a:lnTo>
                    <a:pt x="489889" y="2350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361557" y="318642"/>
            <a:ext cx="5347335" cy="1109980"/>
          </a:xfrm>
          <a:prstGeom prst="rect"/>
        </p:spPr>
        <p:txBody>
          <a:bodyPr wrap="square" lIns="0" tIns="412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325"/>
              </a:spcBef>
            </a:pPr>
            <a:r>
              <a:rPr dirty="0" sz="1900"/>
              <a:t>A</a:t>
            </a:r>
            <a:r>
              <a:rPr dirty="0" sz="1900" spc="-60"/>
              <a:t> </a:t>
            </a:r>
            <a:r>
              <a:rPr dirty="0" sz="1900"/>
              <a:t>Data</a:t>
            </a:r>
            <a:r>
              <a:rPr dirty="0" sz="1900" spc="-45"/>
              <a:t> </a:t>
            </a:r>
            <a:r>
              <a:rPr dirty="0" sz="1900" spc="-10"/>
              <a:t>Control</a:t>
            </a:r>
            <a:r>
              <a:rPr dirty="0" sz="1900" spc="-35"/>
              <a:t> </a:t>
            </a:r>
            <a:r>
              <a:rPr dirty="0" sz="1900"/>
              <a:t>Language</a:t>
            </a:r>
            <a:r>
              <a:rPr dirty="0" sz="1900" spc="-30"/>
              <a:t> </a:t>
            </a:r>
            <a:r>
              <a:rPr dirty="0" sz="1900"/>
              <a:t>is</a:t>
            </a:r>
            <a:r>
              <a:rPr dirty="0" sz="1900" spc="-55"/>
              <a:t> </a:t>
            </a:r>
            <a:r>
              <a:rPr dirty="0" sz="1900"/>
              <a:t>a</a:t>
            </a:r>
            <a:r>
              <a:rPr dirty="0" sz="1900" spc="-45"/>
              <a:t> </a:t>
            </a:r>
            <a:r>
              <a:rPr dirty="0" sz="1900" spc="-10"/>
              <a:t>syntax</a:t>
            </a:r>
            <a:r>
              <a:rPr dirty="0" sz="1900" spc="-60"/>
              <a:t> </a:t>
            </a:r>
            <a:r>
              <a:rPr dirty="0" sz="1900"/>
              <a:t>like</a:t>
            </a:r>
            <a:r>
              <a:rPr dirty="0" sz="1900" spc="-40"/>
              <a:t> </a:t>
            </a:r>
            <a:r>
              <a:rPr dirty="0" sz="1900"/>
              <a:t>a</a:t>
            </a:r>
            <a:r>
              <a:rPr dirty="0" sz="1900" spc="-50"/>
              <a:t> </a:t>
            </a:r>
            <a:r>
              <a:rPr dirty="0" sz="1900" spc="-10"/>
              <a:t>computer programming</a:t>
            </a:r>
            <a:r>
              <a:rPr dirty="0" sz="1900" spc="-30"/>
              <a:t> </a:t>
            </a:r>
            <a:r>
              <a:rPr dirty="0" sz="1900"/>
              <a:t>language</a:t>
            </a:r>
            <a:r>
              <a:rPr dirty="0" sz="1900" spc="-40"/>
              <a:t> </a:t>
            </a:r>
            <a:r>
              <a:rPr dirty="0" sz="1900"/>
              <a:t>used</a:t>
            </a:r>
            <a:r>
              <a:rPr dirty="0" sz="1900" spc="-60"/>
              <a:t> </a:t>
            </a:r>
            <a:r>
              <a:rPr dirty="0" sz="1900"/>
              <a:t>to</a:t>
            </a:r>
            <a:r>
              <a:rPr dirty="0" sz="1900" spc="-50"/>
              <a:t> </a:t>
            </a:r>
            <a:r>
              <a:rPr dirty="0" sz="1900" spc="-10"/>
              <a:t>control</a:t>
            </a:r>
            <a:r>
              <a:rPr dirty="0" sz="1900" spc="-50"/>
              <a:t> </a:t>
            </a:r>
            <a:r>
              <a:rPr dirty="0" sz="1900"/>
              <a:t>access</a:t>
            </a:r>
            <a:r>
              <a:rPr dirty="0" sz="1900" spc="-60"/>
              <a:t> </a:t>
            </a:r>
            <a:r>
              <a:rPr dirty="0" sz="1900"/>
              <a:t>to</a:t>
            </a:r>
            <a:r>
              <a:rPr dirty="0" sz="1900" spc="-50"/>
              <a:t> </a:t>
            </a:r>
            <a:r>
              <a:rPr dirty="0" sz="1900" spc="-20"/>
              <a:t>data </a:t>
            </a:r>
            <a:r>
              <a:rPr dirty="0" sz="1900" spc="-10"/>
              <a:t>stored</a:t>
            </a:r>
            <a:r>
              <a:rPr dirty="0" sz="1900" spc="-20"/>
              <a:t> </a:t>
            </a:r>
            <a:r>
              <a:rPr dirty="0" sz="1900"/>
              <a:t>in</a:t>
            </a:r>
            <a:r>
              <a:rPr dirty="0" sz="1900" spc="-40"/>
              <a:t> </a:t>
            </a:r>
            <a:r>
              <a:rPr dirty="0" sz="1900"/>
              <a:t>a</a:t>
            </a:r>
            <a:r>
              <a:rPr dirty="0" sz="1900" spc="-35"/>
              <a:t> </a:t>
            </a:r>
            <a:r>
              <a:rPr dirty="0" sz="1900"/>
              <a:t>database</a:t>
            </a:r>
            <a:r>
              <a:rPr dirty="0" sz="1900" spc="-40"/>
              <a:t> </a:t>
            </a:r>
            <a:r>
              <a:rPr dirty="0" sz="1900" spc="-10"/>
              <a:t>(Authorization).</a:t>
            </a:r>
            <a:r>
              <a:rPr dirty="0" sz="1900"/>
              <a:t> It</a:t>
            </a:r>
            <a:r>
              <a:rPr dirty="0" sz="1900" spc="-35"/>
              <a:t> </a:t>
            </a:r>
            <a:r>
              <a:rPr dirty="0" sz="1900"/>
              <a:t>is</a:t>
            </a:r>
            <a:r>
              <a:rPr dirty="0" sz="1900" spc="-35"/>
              <a:t> </a:t>
            </a:r>
            <a:r>
              <a:rPr dirty="0" sz="1900"/>
              <a:t>a</a:t>
            </a:r>
            <a:r>
              <a:rPr dirty="0" sz="1900" spc="-40"/>
              <a:t> </a:t>
            </a:r>
            <a:r>
              <a:rPr dirty="0" sz="1900" spc="-10"/>
              <a:t>component </a:t>
            </a:r>
            <a:r>
              <a:rPr dirty="0" sz="1900"/>
              <a:t>of</a:t>
            </a:r>
            <a:r>
              <a:rPr dirty="0" sz="1900" spc="-40"/>
              <a:t> </a:t>
            </a:r>
            <a:r>
              <a:rPr dirty="0" sz="1900" spc="-10"/>
              <a:t>Structured</a:t>
            </a:r>
            <a:r>
              <a:rPr dirty="0" sz="1900" spc="-45"/>
              <a:t> </a:t>
            </a:r>
            <a:r>
              <a:rPr dirty="0" sz="1900"/>
              <a:t>Query</a:t>
            </a:r>
            <a:r>
              <a:rPr dirty="0" sz="1900" spc="-35"/>
              <a:t> </a:t>
            </a:r>
            <a:r>
              <a:rPr dirty="0" sz="1900"/>
              <a:t>Language</a:t>
            </a:r>
            <a:r>
              <a:rPr dirty="0" sz="1900" spc="-25"/>
              <a:t> </a:t>
            </a:r>
            <a:r>
              <a:rPr dirty="0" sz="1900" spc="-10"/>
              <a:t>(SQL).</a:t>
            </a:r>
            <a:endParaRPr sz="1900"/>
          </a:p>
        </p:txBody>
      </p:sp>
      <p:grpSp>
        <p:nvGrpSpPr>
          <p:cNvPr id="9" name="object 9" descr=""/>
          <p:cNvGrpSpPr/>
          <p:nvPr/>
        </p:nvGrpSpPr>
        <p:grpSpPr>
          <a:xfrm>
            <a:off x="4672584" y="1914144"/>
            <a:ext cx="7373620" cy="1350645"/>
            <a:chOff x="4672584" y="1914144"/>
            <a:chExt cx="7373620" cy="1350645"/>
          </a:xfrm>
        </p:grpSpPr>
        <p:sp>
          <p:nvSpPr>
            <p:cNvPr id="10" name="object 10" descr=""/>
            <p:cNvSpPr/>
            <p:nvPr/>
          </p:nvSpPr>
          <p:spPr>
            <a:xfrm>
              <a:off x="4672584" y="1914144"/>
              <a:ext cx="7373620" cy="1350645"/>
            </a:xfrm>
            <a:custGeom>
              <a:avLst/>
              <a:gdLst/>
              <a:ahLst/>
              <a:cxnLst/>
              <a:rect l="l" t="t" r="r" b="b"/>
              <a:pathLst>
                <a:path w="7373620" h="1350645">
                  <a:moveTo>
                    <a:pt x="7238111" y="0"/>
                  </a:moveTo>
                  <a:lnTo>
                    <a:pt x="135000" y="0"/>
                  </a:lnTo>
                  <a:lnTo>
                    <a:pt x="92334" y="6883"/>
                  </a:lnTo>
                  <a:lnTo>
                    <a:pt x="55275" y="26050"/>
                  </a:lnTo>
                  <a:lnTo>
                    <a:pt x="26050" y="55275"/>
                  </a:lnTo>
                  <a:lnTo>
                    <a:pt x="6883" y="92334"/>
                  </a:lnTo>
                  <a:lnTo>
                    <a:pt x="0" y="135000"/>
                  </a:lnTo>
                  <a:lnTo>
                    <a:pt x="0" y="1215263"/>
                  </a:lnTo>
                  <a:lnTo>
                    <a:pt x="6883" y="1257929"/>
                  </a:lnTo>
                  <a:lnTo>
                    <a:pt x="26050" y="1294988"/>
                  </a:lnTo>
                  <a:lnTo>
                    <a:pt x="55275" y="1324213"/>
                  </a:lnTo>
                  <a:lnTo>
                    <a:pt x="92334" y="1343380"/>
                  </a:lnTo>
                  <a:lnTo>
                    <a:pt x="135000" y="1350264"/>
                  </a:lnTo>
                  <a:lnTo>
                    <a:pt x="7238111" y="1350264"/>
                  </a:lnTo>
                  <a:lnTo>
                    <a:pt x="7280777" y="1343380"/>
                  </a:lnTo>
                  <a:lnTo>
                    <a:pt x="7317836" y="1324213"/>
                  </a:lnTo>
                  <a:lnTo>
                    <a:pt x="7347061" y="1294988"/>
                  </a:lnTo>
                  <a:lnTo>
                    <a:pt x="7366228" y="1257929"/>
                  </a:lnTo>
                  <a:lnTo>
                    <a:pt x="7373111" y="1215263"/>
                  </a:lnTo>
                  <a:lnTo>
                    <a:pt x="7373111" y="135000"/>
                  </a:lnTo>
                  <a:lnTo>
                    <a:pt x="7366228" y="92334"/>
                  </a:lnTo>
                  <a:lnTo>
                    <a:pt x="7347061" y="55275"/>
                  </a:lnTo>
                  <a:lnTo>
                    <a:pt x="7317836" y="26050"/>
                  </a:lnTo>
                  <a:lnTo>
                    <a:pt x="7280777" y="6883"/>
                  </a:lnTo>
                  <a:lnTo>
                    <a:pt x="7238111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101717" y="2375814"/>
              <a:ext cx="703580" cy="428625"/>
            </a:xfrm>
            <a:custGeom>
              <a:avLst/>
              <a:gdLst/>
              <a:ahLst/>
              <a:cxnLst/>
              <a:rect l="l" t="t" r="r" b="b"/>
              <a:pathLst>
                <a:path w="703579" h="428625">
                  <a:moveTo>
                    <a:pt x="458622" y="30594"/>
                  </a:moveTo>
                  <a:lnTo>
                    <a:pt x="456209" y="18719"/>
                  </a:lnTo>
                  <a:lnTo>
                    <a:pt x="449643" y="8991"/>
                  </a:lnTo>
                  <a:lnTo>
                    <a:pt x="439915" y="2413"/>
                  </a:lnTo>
                  <a:lnTo>
                    <a:pt x="428053" y="0"/>
                  </a:lnTo>
                  <a:lnTo>
                    <a:pt x="412762" y="0"/>
                  </a:lnTo>
                  <a:lnTo>
                    <a:pt x="412762" y="45885"/>
                  </a:lnTo>
                  <a:lnTo>
                    <a:pt x="412762" y="290626"/>
                  </a:lnTo>
                  <a:lnTo>
                    <a:pt x="45859" y="290626"/>
                  </a:lnTo>
                  <a:lnTo>
                    <a:pt x="45859" y="45885"/>
                  </a:lnTo>
                  <a:lnTo>
                    <a:pt x="412762" y="45885"/>
                  </a:lnTo>
                  <a:lnTo>
                    <a:pt x="412762" y="0"/>
                  </a:lnTo>
                  <a:lnTo>
                    <a:pt x="30568" y="0"/>
                  </a:lnTo>
                  <a:lnTo>
                    <a:pt x="18694" y="2413"/>
                  </a:lnTo>
                  <a:lnTo>
                    <a:pt x="8978" y="8991"/>
                  </a:lnTo>
                  <a:lnTo>
                    <a:pt x="2413" y="18719"/>
                  </a:lnTo>
                  <a:lnTo>
                    <a:pt x="0" y="30594"/>
                  </a:lnTo>
                  <a:lnTo>
                    <a:pt x="0" y="305917"/>
                  </a:lnTo>
                  <a:lnTo>
                    <a:pt x="2413" y="317804"/>
                  </a:lnTo>
                  <a:lnTo>
                    <a:pt x="8978" y="327533"/>
                  </a:lnTo>
                  <a:lnTo>
                    <a:pt x="18694" y="334098"/>
                  </a:lnTo>
                  <a:lnTo>
                    <a:pt x="30568" y="336511"/>
                  </a:lnTo>
                  <a:lnTo>
                    <a:pt x="183451" y="336511"/>
                  </a:lnTo>
                  <a:lnTo>
                    <a:pt x="183451" y="382397"/>
                  </a:lnTo>
                  <a:lnTo>
                    <a:pt x="114655" y="382397"/>
                  </a:lnTo>
                  <a:lnTo>
                    <a:pt x="114655" y="428294"/>
                  </a:lnTo>
                  <a:lnTo>
                    <a:pt x="343966" y="428294"/>
                  </a:lnTo>
                  <a:lnTo>
                    <a:pt x="343966" y="382397"/>
                  </a:lnTo>
                  <a:lnTo>
                    <a:pt x="275170" y="382397"/>
                  </a:lnTo>
                  <a:lnTo>
                    <a:pt x="275170" y="336511"/>
                  </a:lnTo>
                  <a:lnTo>
                    <a:pt x="428053" y="336511"/>
                  </a:lnTo>
                  <a:lnTo>
                    <a:pt x="439915" y="334098"/>
                  </a:lnTo>
                  <a:lnTo>
                    <a:pt x="449643" y="327533"/>
                  </a:lnTo>
                  <a:lnTo>
                    <a:pt x="456209" y="317804"/>
                  </a:lnTo>
                  <a:lnTo>
                    <a:pt x="458622" y="305917"/>
                  </a:lnTo>
                  <a:lnTo>
                    <a:pt x="458622" y="290626"/>
                  </a:lnTo>
                  <a:lnTo>
                    <a:pt x="458622" y="45885"/>
                  </a:lnTo>
                  <a:lnTo>
                    <a:pt x="458622" y="30594"/>
                  </a:lnTo>
                  <a:close/>
                </a:path>
                <a:path w="703579" h="428625">
                  <a:moveTo>
                    <a:pt x="703224" y="30594"/>
                  </a:moveTo>
                  <a:lnTo>
                    <a:pt x="700811" y="18719"/>
                  </a:lnTo>
                  <a:lnTo>
                    <a:pt x="694245" y="8991"/>
                  </a:lnTo>
                  <a:lnTo>
                    <a:pt x="684517" y="2413"/>
                  </a:lnTo>
                  <a:lnTo>
                    <a:pt x="672655" y="0"/>
                  </a:lnTo>
                  <a:lnTo>
                    <a:pt x="672655" y="30594"/>
                  </a:lnTo>
                  <a:lnTo>
                    <a:pt x="672655" y="76479"/>
                  </a:lnTo>
                  <a:lnTo>
                    <a:pt x="672655" y="107073"/>
                  </a:lnTo>
                  <a:lnTo>
                    <a:pt x="672655" y="152958"/>
                  </a:lnTo>
                  <a:lnTo>
                    <a:pt x="619150" y="152958"/>
                  </a:lnTo>
                  <a:lnTo>
                    <a:pt x="619150" y="359460"/>
                  </a:lnTo>
                  <a:lnTo>
                    <a:pt x="617385" y="368528"/>
                  </a:lnTo>
                  <a:lnTo>
                    <a:pt x="612546" y="375805"/>
                  </a:lnTo>
                  <a:lnTo>
                    <a:pt x="605282" y="380644"/>
                  </a:lnTo>
                  <a:lnTo>
                    <a:pt x="596214" y="382397"/>
                  </a:lnTo>
                  <a:lnTo>
                    <a:pt x="587146" y="380644"/>
                  </a:lnTo>
                  <a:lnTo>
                    <a:pt x="579869" y="375805"/>
                  </a:lnTo>
                  <a:lnTo>
                    <a:pt x="575043" y="368528"/>
                  </a:lnTo>
                  <a:lnTo>
                    <a:pt x="573278" y="359460"/>
                  </a:lnTo>
                  <a:lnTo>
                    <a:pt x="575043" y="350393"/>
                  </a:lnTo>
                  <a:lnTo>
                    <a:pt x="612546" y="343115"/>
                  </a:lnTo>
                  <a:lnTo>
                    <a:pt x="619150" y="359460"/>
                  </a:lnTo>
                  <a:lnTo>
                    <a:pt x="619150" y="152958"/>
                  </a:lnTo>
                  <a:lnTo>
                    <a:pt x="519772" y="152958"/>
                  </a:lnTo>
                  <a:lnTo>
                    <a:pt x="519772" y="107073"/>
                  </a:lnTo>
                  <a:lnTo>
                    <a:pt x="672655" y="107073"/>
                  </a:lnTo>
                  <a:lnTo>
                    <a:pt x="672655" y="76479"/>
                  </a:lnTo>
                  <a:lnTo>
                    <a:pt x="519772" y="76479"/>
                  </a:lnTo>
                  <a:lnTo>
                    <a:pt x="519772" y="30594"/>
                  </a:lnTo>
                  <a:lnTo>
                    <a:pt x="672655" y="30594"/>
                  </a:lnTo>
                  <a:lnTo>
                    <a:pt x="672655" y="0"/>
                  </a:lnTo>
                  <a:lnTo>
                    <a:pt x="519772" y="0"/>
                  </a:lnTo>
                  <a:lnTo>
                    <a:pt x="507898" y="2413"/>
                  </a:lnTo>
                  <a:lnTo>
                    <a:pt x="498182" y="8991"/>
                  </a:lnTo>
                  <a:lnTo>
                    <a:pt x="491617" y="18719"/>
                  </a:lnTo>
                  <a:lnTo>
                    <a:pt x="489204" y="30594"/>
                  </a:lnTo>
                  <a:lnTo>
                    <a:pt x="489204" y="397700"/>
                  </a:lnTo>
                  <a:lnTo>
                    <a:pt x="491617" y="409575"/>
                  </a:lnTo>
                  <a:lnTo>
                    <a:pt x="498182" y="419303"/>
                  </a:lnTo>
                  <a:lnTo>
                    <a:pt x="507898" y="425881"/>
                  </a:lnTo>
                  <a:lnTo>
                    <a:pt x="519772" y="428294"/>
                  </a:lnTo>
                  <a:lnTo>
                    <a:pt x="672655" y="428294"/>
                  </a:lnTo>
                  <a:lnTo>
                    <a:pt x="684517" y="425881"/>
                  </a:lnTo>
                  <a:lnTo>
                    <a:pt x="694245" y="419303"/>
                  </a:lnTo>
                  <a:lnTo>
                    <a:pt x="700811" y="409575"/>
                  </a:lnTo>
                  <a:lnTo>
                    <a:pt x="703224" y="397700"/>
                  </a:lnTo>
                  <a:lnTo>
                    <a:pt x="703224" y="382397"/>
                  </a:lnTo>
                  <a:lnTo>
                    <a:pt x="703224" y="336511"/>
                  </a:lnTo>
                  <a:lnTo>
                    <a:pt x="703224" y="152958"/>
                  </a:lnTo>
                  <a:lnTo>
                    <a:pt x="703224" y="107073"/>
                  </a:lnTo>
                  <a:lnTo>
                    <a:pt x="703224" y="76479"/>
                  </a:lnTo>
                  <a:lnTo>
                    <a:pt x="703224" y="305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6361557" y="2403093"/>
            <a:ext cx="28854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0">
                <a:latin typeface="Calibri"/>
                <a:cs typeface="Calibri"/>
              </a:rPr>
              <a:t>Examples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of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DCL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commands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 spc="-50">
                <a:latin typeface="Calibri"/>
                <a:cs typeface="Calibri"/>
              </a:rPr>
              <a:t>: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4672584" y="3601211"/>
            <a:ext cx="7373620" cy="1348740"/>
            <a:chOff x="4672584" y="3601211"/>
            <a:chExt cx="7373620" cy="1348740"/>
          </a:xfrm>
        </p:grpSpPr>
        <p:sp>
          <p:nvSpPr>
            <p:cNvPr id="14" name="object 14" descr=""/>
            <p:cNvSpPr/>
            <p:nvPr/>
          </p:nvSpPr>
          <p:spPr>
            <a:xfrm>
              <a:off x="4672584" y="3601211"/>
              <a:ext cx="7373620" cy="1348740"/>
            </a:xfrm>
            <a:custGeom>
              <a:avLst/>
              <a:gdLst/>
              <a:ahLst/>
              <a:cxnLst/>
              <a:rect l="l" t="t" r="r" b="b"/>
              <a:pathLst>
                <a:path w="7373620" h="1348739">
                  <a:moveTo>
                    <a:pt x="7238238" y="0"/>
                  </a:moveTo>
                  <a:lnTo>
                    <a:pt x="134874" y="0"/>
                  </a:lnTo>
                  <a:lnTo>
                    <a:pt x="92220" y="6870"/>
                  </a:lnTo>
                  <a:lnTo>
                    <a:pt x="55193" y="26005"/>
                  </a:lnTo>
                  <a:lnTo>
                    <a:pt x="26005" y="55193"/>
                  </a:lnTo>
                  <a:lnTo>
                    <a:pt x="6870" y="92220"/>
                  </a:lnTo>
                  <a:lnTo>
                    <a:pt x="0" y="134874"/>
                  </a:lnTo>
                  <a:lnTo>
                    <a:pt x="0" y="1213865"/>
                  </a:lnTo>
                  <a:lnTo>
                    <a:pt x="6870" y="1256519"/>
                  </a:lnTo>
                  <a:lnTo>
                    <a:pt x="26005" y="1293546"/>
                  </a:lnTo>
                  <a:lnTo>
                    <a:pt x="55193" y="1322734"/>
                  </a:lnTo>
                  <a:lnTo>
                    <a:pt x="92220" y="1341869"/>
                  </a:lnTo>
                  <a:lnTo>
                    <a:pt x="134874" y="1348739"/>
                  </a:lnTo>
                  <a:lnTo>
                    <a:pt x="7238238" y="1348739"/>
                  </a:lnTo>
                  <a:lnTo>
                    <a:pt x="7280891" y="1341869"/>
                  </a:lnTo>
                  <a:lnTo>
                    <a:pt x="7317918" y="1322734"/>
                  </a:lnTo>
                  <a:lnTo>
                    <a:pt x="7347106" y="1293546"/>
                  </a:lnTo>
                  <a:lnTo>
                    <a:pt x="7366241" y="1256519"/>
                  </a:lnTo>
                  <a:lnTo>
                    <a:pt x="7373111" y="1213865"/>
                  </a:lnTo>
                  <a:lnTo>
                    <a:pt x="7373111" y="134874"/>
                  </a:lnTo>
                  <a:lnTo>
                    <a:pt x="7366241" y="92220"/>
                  </a:lnTo>
                  <a:lnTo>
                    <a:pt x="7347106" y="55193"/>
                  </a:lnTo>
                  <a:lnTo>
                    <a:pt x="7317918" y="26005"/>
                  </a:lnTo>
                  <a:lnTo>
                    <a:pt x="7280891" y="6870"/>
                  </a:lnTo>
                  <a:lnTo>
                    <a:pt x="7238238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323389" y="4032284"/>
              <a:ext cx="260350" cy="107314"/>
            </a:xfrm>
            <a:custGeom>
              <a:avLst/>
              <a:gdLst/>
              <a:ahLst/>
              <a:cxnLst/>
              <a:rect l="l" t="t" r="r" b="b"/>
              <a:pathLst>
                <a:path w="260350" h="107314">
                  <a:moveTo>
                    <a:pt x="259890" y="0"/>
                  </a:moveTo>
                  <a:lnTo>
                    <a:pt x="0" y="0"/>
                  </a:lnTo>
                  <a:lnTo>
                    <a:pt x="0" y="107072"/>
                  </a:lnTo>
                  <a:lnTo>
                    <a:pt x="259890" y="107072"/>
                  </a:lnTo>
                  <a:lnTo>
                    <a:pt x="2598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78156" y="4437629"/>
              <a:ext cx="91725" cy="91776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36785" y="4437629"/>
              <a:ext cx="91725" cy="91776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07471" y="4437629"/>
              <a:ext cx="91725" cy="91776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5208731" y="4169948"/>
              <a:ext cx="489584" cy="245110"/>
            </a:xfrm>
            <a:custGeom>
              <a:avLst/>
              <a:gdLst/>
              <a:ahLst/>
              <a:cxnLst/>
              <a:rect l="l" t="t" r="r" b="b"/>
              <a:pathLst>
                <a:path w="489585" h="245110">
                  <a:moveTo>
                    <a:pt x="259890" y="0"/>
                  </a:moveTo>
                  <a:lnTo>
                    <a:pt x="229314" y="0"/>
                  </a:lnTo>
                  <a:lnTo>
                    <a:pt x="229314" y="72656"/>
                  </a:lnTo>
                  <a:lnTo>
                    <a:pt x="194917" y="107072"/>
                  </a:lnTo>
                  <a:lnTo>
                    <a:pt x="0" y="107072"/>
                  </a:lnTo>
                  <a:lnTo>
                    <a:pt x="0" y="244736"/>
                  </a:lnTo>
                  <a:lnTo>
                    <a:pt x="30575" y="244736"/>
                  </a:lnTo>
                  <a:lnTo>
                    <a:pt x="30575" y="137664"/>
                  </a:lnTo>
                  <a:lnTo>
                    <a:pt x="221670" y="137664"/>
                  </a:lnTo>
                  <a:lnTo>
                    <a:pt x="206383" y="122368"/>
                  </a:lnTo>
                  <a:lnTo>
                    <a:pt x="244602" y="84128"/>
                  </a:lnTo>
                  <a:lnTo>
                    <a:pt x="271355" y="84128"/>
                  </a:lnTo>
                  <a:lnTo>
                    <a:pt x="259890" y="72656"/>
                  </a:lnTo>
                  <a:lnTo>
                    <a:pt x="259890" y="0"/>
                  </a:lnTo>
                  <a:close/>
                </a:path>
                <a:path w="489585" h="245110">
                  <a:moveTo>
                    <a:pt x="221670" y="137664"/>
                  </a:moveTo>
                  <a:lnTo>
                    <a:pt x="194917" y="137664"/>
                  </a:lnTo>
                  <a:lnTo>
                    <a:pt x="229314" y="172080"/>
                  </a:lnTo>
                  <a:lnTo>
                    <a:pt x="229314" y="244736"/>
                  </a:lnTo>
                  <a:lnTo>
                    <a:pt x="259890" y="244736"/>
                  </a:lnTo>
                  <a:lnTo>
                    <a:pt x="259890" y="172080"/>
                  </a:lnTo>
                  <a:lnTo>
                    <a:pt x="271355" y="160608"/>
                  </a:lnTo>
                  <a:lnTo>
                    <a:pt x="244602" y="160608"/>
                  </a:lnTo>
                  <a:lnTo>
                    <a:pt x="221670" y="137664"/>
                  </a:lnTo>
                  <a:close/>
                </a:path>
                <a:path w="489585" h="245110">
                  <a:moveTo>
                    <a:pt x="489204" y="137664"/>
                  </a:moveTo>
                  <a:lnTo>
                    <a:pt x="458629" y="137664"/>
                  </a:lnTo>
                  <a:lnTo>
                    <a:pt x="458629" y="244736"/>
                  </a:lnTo>
                  <a:lnTo>
                    <a:pt x="489204" y="244736"/>
                  </a:lnTo>
                  <a:lnTo>
                    <a:pt x="489204" y="137664"/>
                  </a:lnTo>
                  <a:close/>
                </a:path>
                <a:path w="489585" h="245110">
                  <a:moveTo>
                    <a:pt x="271355" y="84128"/>
                  </a:moveTo>
                  <a:lnTo>
                    <a:pt x="244602" y="84128"/>
                  </a:lnTo>
                  <a:lnTo>
                    <a:pt x="282821" y="122368"/>
                  </a:lnTo>
                  <a:lnTo>
                    <a:pt x="244602" y="160608"/>
                  </a:lnTo>
                  <a:lnTo>
                    <a:pt x="271355" y="160608"/>
                  </a:lnTo>
                  <a:lnTo>
                    <a:pt x="294287" y="137664"/>
                  </a:lnTo>
                  <a:lnTo>
                    <a:pt x="489204" y="137664"/>
                  </a:lnTo>
                  <a:lnTo>
                    <a:pt x="489204" y="107072"/>
                  </a:lnTo>
                  <a:lnTo>
                    <a:pt x="294287" y="107072"/>
                  </a:lnTo>
                  <a:lnTo>
                    <a:pt x="271355" y="841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6361557" y="3957015"/>
            <a:ext cx="4966970" cy="5803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185"/>
              </a:lnSpc>
              <a:spcBef>
                <a:spcPts val="95"/>
              </a:spcBef>
            </a:pPr>
            <a:r>
              <a:rPr dirty="0" sz="1900">
                <a:latin typeface="Calibri"/>
                <a:cs typeface="Calibri"/>
              </a:rPr>
              <a:t>GRANT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: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allow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specified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users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perform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specified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ts val="2185"/>
              </a:lnSpc>
            </a:pPr>
            <a:r>
              <a:rPr dirty="0" sz="1900" spc="-10">
                <a:latin typeface="Calibri"/>
                <a:cs typeface="Calibri"/>
              </a:rPr>
              <a:t>tasks.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4672584" y="5286755"/>
            <a:ext cx="7373620" cy="1350645"/>
            <a:chOff x="4672584" y="5286755"/>
            <a:chExt cx="7373620" cy="1350645"/>
          </a:xfrm>
        </p:grpSpPr>
        <p:sp>
          <p:nvSpPr>
            <p:cNvPr id="22" name="object 22" descr=""/>
            <p:cNvSpPr/>
            <p:nvPr/>
          </p:nvSpPr>
          <p:spPr>
            <a:xfrm>
              <a:off x="4672584" y="5286755"/>
              <a:ext cx="7373620" cy="1350645"/>
            </a:xfrm>
            <a:custGeom>
              <a:avLst/>
              <a:gdLst/>
              <a:ahLst/>
              <a:cxnLst/>
              <a:rect l="l" t="t" r="r" b="b"/>
              <a:pathLst>
                <a:path w="7373620" h="1350645">
                  <a:moveTo>
                    <a:pt x="7238111" y="0"/>
                  </a:moveTo>
                  <a:lnTo>
                    <a:pt x="135000" y="0"/>
                  </a:lnTo>
                  <a:lnTo>
                    <a:pt x="92334" y="6883"/>
                  </a:lnTo>
                  <a:lnTo>
                    <a:pt x="55275" y="26050"/>
                  </a:lnTo>
                  <a:lnTo>
                    <a:pt x="26050" y="55275"/>
                  </a:lnTo>
                  <a:lnTo>
                    <a:pt x="6883" y="92334"/>
                  </a:lnTo>
                  <a:lnTo>
                    <a:pt x="0" y="135001"/>
                  </a:lnTo>
                  <a:lnTo>
                    <a:pt x="0" y="1215237"/>
                  </a:lnTo>
                  <a:lnTo>
                    <a:pt x="6883" y="1257916"/>
                  </a:lnTo>
                  <a:lnTo>
                    <a:pt x="26050" y="1294983"/>
                  </a:lnTo>
                  <a:lnTo>
                    <a:pt x="55275" y="1324212"/>
                  </a:lnTo>
                  <a:lnTo>
                    <a:pt x="92334" y="1343380"/>
                  </a:lnTo>
                  <a:lnTo>
                    <a:pt x="135000" y="1350264"/>
                  </a:lnTo>
                  <a:lnTo>
                    <a:pt x="7238111" y="1350264"/>
                  </a:lnTo>
                  <a:lnTo>
                    <a:pt x="7280777" y="1343380"/>
                  </a:lnTo>
                  <a:lnTo>
                    <a:pt x="7317836" y="1324212"/>
                  </a:lnTo>
                  <a:lnTo>
                    <a:pt x="7347061" y="1294983"/>
                  </a:lnTo>
                  <a:lnTo>
                    <a:pt x="7366228" y="1257916"/>
                  </a:lnTo>
                  <a:lnTo>
                    <a:pt x="7373111" y="1215237"/>
                  </a:lnTo>
                  <a:lnTo>
                    <a:pt x="7373111" y="135001"/>
                  </a:lnTo>
                  <a:lnTo>
                    <a:pt x="7366228" y="92334"/>
                  </a:lnTo>
                  <a:lnTo>
                    <a:pt x="7347061" y="55275"/>
                  </a:lnTo>
                  <a:lnTo>
                    <a:pt x="7317836" y="26050"/>
                  </a:lnTo>
                  <a:lnTo>
                    <a:pt x="7280777" y="6883"/>
                  </a:lnTo>
                  <a:lnTo>
                    <a:pt x="7238111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162868" y="5673463"/>
              <a:ext cx="581025" cy="581660"/>
            </a:xfrm>
            <a:custGeom>
              <a:avLst/>
              <a:gdLst/>
              <a:ahLst/>
              <a:cxnLst/>
              <a:rect l="l" t="t" r="r" b="b"/>
              <a:pathLst>
                <a:path w="581025" h="581660">
                  <a:moveTo>
                    <a:pt x="290465" y="0"/>
                  </a:moveTo>
                  <a:lnTo>
                    <a:pt x="243325" y="3801"/>
                  </a:lnTo>
                  <a:lnTo>
                    <a:pt x="198617" y="14806"/>
                  </a:lnTo>
                  <a:lnTo>
                    <a:pt x="156935" y="32420"/>
                  </a:lnTo>
                  <a:lnTo>
                    <a:pt x="118876" y="56044"/>
                  </a:lnTo>
                  <a:lnTo>
                    <a:pt x="85037" y="85084"/>
                  </a:lnTo>
                  <a:lnTo>
                    <a:pt x="56013" y="118942"/>
                  </a:lnTo>
                  <a:lnTo>
                    <a:pt x="32402" y="157021"/>
                  </a:lnTo>
                  <a:lnTo>
                    <a:pt x="14798" y="198726"/>
                  </a:lnTo>
                  <a:lnTo>
                    <a:pt x="3798" y="243459"/>
                  </a:lnTo>
                  <a:lnTo>
                    <a:pt x="0" y="290625"/>
                  </a:lnTo>
                  <a:lnTo>
                    <a:pt x="3798" y="337790"/>
                  </a:lnTo>
                  <a:lnTo>
                    <a:pt x="14798" y="382523"/>
                  </a:lnTo>
                  <a:lnTo>
                    <a:pt x="32402" y="424228"/>
                  </a:lnTo>
                  <a:lnTo>
                    <a:pt x="56013" y="462308"/>
                  </a:lnTo>
                  <a:lnTo>
                    <a:pt x="85037" y="496165"/>
                  </a:lnTo>
                  <a:lnTo>
                    <a:pt x="118876" y="525205"/>
                  </a:lnTo>
                  <a:lnTo>
                    <a:pt x="156935" y="548830"/>
                  </a:lnTo>
                  <a:lnTo>
                    <a:pt x="198617" y="566443"/>
                  </a:lnTo>
                  <a:lnTo>
                    <a:pt x="243325" y="577449"/>
                  </a:lnTo>
                  <a:lnTo>
                    <a:pt x="290465" y="581250"/>
                  </a:lnTo>
                  <a:lnTo>
                    <a:pt x="337604" y="577449"/>
                  </a:lnTo>
                  <a:lnTo>
                    <a:pt x="382313" y="566443"/>
                  </a:lnTo>
                  <a:lnTo>
                    <a:pt x="423995" y="548830"/>
                  </a:lnTo>
                  <a:lnTo>
                    <a:pt x="462053" y="525205"/>
                  </a:lnTo>
                  <a:lnTo>
                    <a:pt x="495893" y="496165"/>
                  </a:lnTo>
                  <a:lnTo>
                    <a:pt x="501629" y="489473"/>
                  </a:lnTo>
                  <a:lnTo>
                    <a:pt x="290465" y="489473"/>
                  </a:lnTo>
                  <a:lnTo>
                    <a:pt x="245039" y="484198"/>
                  </a:lnTo>
                  <a:lnTo>
                    <a:pt x="203263" y="469183"/>
                  </a:lnTo>
                  <a:lnTo>
                    <a:pt x="166354" y="445646"/>
                  </a:lnTo>
                  <a:lnTo>
                    <a:pt x="135529" y="414804"/>
                  </a:lnTo>
                  <a:lnTo>
                    <a:pt x="112005" y="377875"/>
                  </a:lnTo>
                  <a:lnTo>
                    <a:pt x="96998" y="336076"/>
                  </a:lnTo>
                  <a:lnTo>
                    <a:pt x="91725" y="290625"/>
                  </a:lnTo>
                  <a:lnTo>
                    <a:pt x="93696" y="262435"/>
                  </a:lnTo>
                  <a:lnTo>
                    <a:pt x="99465" y="235463"/>
                  </a:lnTo>
                  <a:lnTo>
                    <a:pt x="108817" y="210069"/>
                  </a:lnTo>
                  <a:lnTo>
                    <a:pt x="121536" y="186611"/>
                  </a:lnTo>
                  <a:lnTo>
                    <a:pt x="251481" y="186611"/>
                  </a:lnTo>
                  <a:lnTo>
                    <a:pt x="186509" y="121603"/>
                  </a:lnTo>
                  <a:lnTo>
                    <a:pt x="209954" y="108876"/>
                  </a:lnTo>
                  <a:lnTo>
                    <a:pt x="235334" y="99520"/>
                  </a:lnTo>
                  <a:lnTo>
                    <a:pt x="262290" y="93748"/>
                  </a:lnTo>
                  <a:lnTo>
                    <a:pt x="290465" y="91776"/>
                  </a:lnTo>
                  <a:lnTo>
                    <a:pt x="501629" y="91776"/>
                  </a:lnTo>
                  <a:lnTo>
                    <a:pt x="495893" y="85084"/>
                  </a:lnTo>
                  <a:lnTo>
                    <a:pt x="462053" y="56044"/>
                  </a:lnTo>
                  <a:lnTo>
                    <a:pt x="423995" y="32420"/>
                  </a:lnTo>
                  <a:lnTo>
                    <a:pt x="382313" y="14806"/>
                  </a:lnTo>
                  <a:lnTo>
                    <a:pt x="337604" y="3801"/>
                  </a:lnTo>
                  <a:lnTo>
                    <a:pt x="290465" y="0"/>
                  </a:lnTo>
                  <a:close/>
                </a:path>
                <a:path w="581025" h="581660">
                  <a:moveTo>
                    <a:pt x="251481" y="186611"/>
                  </a:moveTo>
                  <a:lnTo>
                    <a:pt x="121536" y="186611"/>
                  </a:lnTo>
                  <a:lnTo>
                    <a:pt x="395185" y="460411"/>
                  </a:lnTo>
                  <a:lnTo>
                    <a:pt x="371298" y="472696"/>
                  </a:lnTo>
                  <a:lnTo>
                    <a:pt x="345692" y="481825"/>
                  </a:lnTo>
                  <a:lnTo>
                    <a:pt x="318651" y="487514"/>
                  </a:lnTo>
                  <a:lnTo>
                    <a:pt x="290465" y="489473"/>
                  </a:lnTo>
                  <a:lnTo>
                    <a:pt x="501629" y="489473"/>
                  </a:lnTo>
                  <a:lnTo>
                    <a:pt x="524916" y="462308"/>
                  </a:lnTo>
                  <a:lnTo>
                    <a:pt x="548528" y="424228"/>
                  </a:lnTo>
                  <a:lnTo>
                    <a:pt x="561018" y="394638"/>
                  </a:lnTo>
                  <a:lnTo>
                    <a:pt x="459393" y="394638"/>
                  </a:lnTo>
                  <a:lnTo>
                    <a:pt x="251481" y="186611"/>
                  </a:lnTo>
                  <a:close/>
                </a:path>
                <a:path w="581025" h="581660">
                  <a:moveTo>
                    <a:pt x="501629" y="91776"/>
                  </a:moveTo>
                  <a:lnTo>
                    <a:pt x="290465" y="91776"/>
                  </a:lnTo>
                  <a:lnTo>
                    <a:pt x="335891" y="97051"/>
                  </a:lnTo>
                  <a:lnTo>
                    <a:pt x="377667" y="112067"/>
                  </a:lnTo>
                  <a:lnTo>
                    <a:pt x="414576" y="135604"/>
                  </a:lnTo>
                  <a:lnTo>
                    <a:pt x="445401" y="166446"/>
                  </a:lnTo>
                  <a:lnTo>
                    <a:pt x="468925" y="203375"/>
                  </a:lnTo>
                  <a:lnTo>
                    <a:pt x="483932" y="245174"/>
                  </a:lnTo>
                  <a:lnTo>
                    <a:pt x="489204" y="290625"/>
                  </a:lnTo>
                  <a:lnTo>
                    <a:pt x="487234" y="318815"/>
                  </a:lnTo>
                  <a:lnTo>
                    <a:pt x="481465" y="345786"/>
                  </a:lnTo>
                  <a:lnTo>
                    <a:pt x="472113" y="371180"/>
                  </a:lnTo>
                  <a:lnTo>
                    <a:pt x="459393" y="394638"/>
                  </a:lnTo>
                  <a:lnTo>
                    <a:pt x="561018" y="394638"/>
                  </a:lnTo>
                  <a:lnTo>
                    <a:pt x="566132" y="382523"/>
                  </a:lnTo>
                  <a:lnTo>
                    <a:pt x="577131" y="337790"/>
                  </a:lnTo>
                  <a:lnTo>
                    <a:pt x="580930" y="290625"/>
                  </a:lnTo>
                  <a:lnTo>
                    <a:pt x="577131" y="243459"/>
                  </a:lnTo>
                  <a:lnTo>
                    <a:pt x="566132" y="198726"/>
                  </a:lnTo>
                  <a:lnTo>
                    <a:pt x="548528" y="157021"/>
                  </a:lnTo>
                  <a:lnTo>
                    <a:pt x="524916" y="118942"/>
                  </a:lnTo>
                  <a:lnTo>
                    <a:pt x="501629" y="917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6361557" y="5644388"/>
            <a:ext cx="4470400" cy="57975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325"/>
              </a:spcBef>
            </a:pPr>
            <a:r>
              <a:rPr dirty="0" sz="1900" spc="-10">
                <a:latin typeface="Calibri"/>
                <a:cs typeface="Calibri"/>
              </a:rPr>
              <a:t>REVOKE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: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cancel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previously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granted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or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denied permissions.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55266" y="2709799"/>
            <a:ext cx="1999614" cy="1367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519430">
              <a:lnSpc>
                <a:spcPct val="100000"/>
              </a:lnSpc>
              <a:spcBef>
                <a:spcPts val="105"/>
              </a:spcBef>
            </a:pPr>
            <a:r>
              <a:rPr dirty="0" sz="4400" spc="-65" b="1">
                <a:solidFill>
                  <a:srgbClr val="FFFFFF"/>
                </a:solidFill>
                <a:latin typeface="Calibri"/>
                <a:cs typeface="Calibri"/>
              </a:rPr>
              <a:t>Tables </a:t>
            </a:r>
            <a:r>
              <a:rPr dirty="0" sz="4400" spc="-20" b="1">
                <a:solidFill>
                  <a:srgbClr val="FFFFFF"/>
                </a:solidFill>
                <a:latin typeface="Calibri"/>
                <a:cs typeface="Calibri"/>
              </a:rPr>
              <a:t>Creation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54296" y="2057400"/>
            <a:ext cx="0" cy="2743200"/>
          </a:xfrm>
          <a:custGeom>
            <a:avLst/>
            <a:gdLst/>
            <a:ahLst/>
            <a:cxnLst/>
            <a:rect l="l" t="t" r="r" b="b"/>
            <a:pathLst>
              <a:path w="0"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055489" y="392937"/>
            <a:ext cx="21209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dirty="0" sz="2800" spc="-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055489" y="862024"/>
            <a:ext cx="6898005" cy="1220470"/>
          </a:xfrm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34"/>
              </a:spcBef>
            </a:pPr>
            <a:r>
              <a:rPr dirty="0" sz="2800" spc="-10">
                <a:solidFill>
                  <a:srgbClr val="FFFFFF"/>
                </a:solidFill>
              </a:rPr>
              <a:t>Syntax:</a:t>
            </a:r>
            <a:r>
              <a:rPr dirty="0" sz="2800" spc="-10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create</a:t>
            </a:r>
            <a:r>
              <a:rPr dirty="0" sz="2800" spc="-13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table</a:t>
            </a:r>
            <a:r>
              <a:rPr dirty="0" sz="2800" spc="-11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table_name(</a:t>
            </a:r>
            <a:r>
              <a:rPr dirty="0" sz="2800" spc="-10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column</a:t>
            </a:r>
            <a:r>
              <a:rPr dirty="0" sz="2800" spc="-95">
                <a:solidFill>
                  <a:srgbClr val="FFFFFF"/>
                </a:solidFill>
              </a:rPr>
              <a:t> </a:t>
            </a:r>
            <a:r>
              <a:rPr dirty="0" sz="2800" spc="-50">
                <a:solidFill>
                  <a:srgbClr val="FFFFFF"/>
                </a:solidFill>
              </a:rPr>
              <a:t>1 </a:t>
            </a:r>
            <a:r>
              <a:rPr dirty="0" sz="2800" spc="-10">
                <a:solidFill>
                  <a:srgbClr val="FFFFFF"/>
                </a:solidFill>
              </a:rPr>
              <a:t>datatype(size),</a:t>
            </a:r>
            <a:r>
              <a:rPr dirty="0" sz="2800" spc="-10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column</a:t>
            </a:r>
            <a:r>
              <a:rPr dirty="0" sz="2800" spc="-9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2</a:t>
            </a:r>
            <a:r>
              <a:rPr dirty="0" sz="2800" spc="-10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datatype(size),</a:t>
            </a:r>
            <a:r>
              <a:rPr dirty="0" sz="2800" spc="-10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column </a:t>
            </a:r>
            <a:r>
              <a:rPr dirty="0" sz="2800">
                <a:solidFill>
                  <a:srgbClr val="FFFFFF"/>
                </a:solidFill>
              </a:rPr>
              <a:t>3</a:t>
            </a:r>
            <a:r>
              <a:rPr dirty="0" sz="2800" spc="-75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datatype(size),</a:t>
            </a:r>
            <a:r>
              <a:rPr dirty="0" sz="2800" spc="-70">
                <a:solidFill>
                  <a:srgbClr val="FFFFFF"/>
                </a:solidFill>
              </a:rPr>
              <a:t> </a:t>
            </a:r>
            <a:r>
              <a:rPr dirty="0" sz="2800" spc="-25">
                <a:solidFill>
                  <a:srgbClr val="FFFFFF"/>
                </a:solidFill>
              </a:rPr>
              <a:t>……)</a:t>
            </a:r>
            <a:endParaRPr sz="2800"/>
          </a:p>
        </p:txBody>
      </p:sp>
      <p:sp>
        <p:nvSpPr>
          <p:cNvPr id="6" name="object 6" descr=""/>
          <p:cNvSpPr txBox="1"/>
          <p:nvPr/>
        </p:nvSpPr>
        <p:spPr>
          <a:xfrm>
            <a:off x="5055489" y="2525774"/>
            <a:ext cx="6732270" cy="3526154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dirty="0" sz="280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dirty="0" sz="2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28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Existing</a:t>
            </a:r>
            <a:r>
              <a:rPr dirty="0" sz="2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endParaRPr sz="2800">
              <a:latin typeface="Calibri"/>
              <a:cs typeface="Calibri"/>
            </a:endParaRPr>
          </a:p>
          <a:p>
            <a:pPr marL="12700" marR="506095">
              <a:lnSpc>
                <a:spcPts val="3020"/>
              </a:lnSpc>
              <a:spcBef>
                <a:spcPts val="720"/>
              </a:spcBef>
            </a:pP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Syntax:</a:t>
            </a:r>
            <a:r>
              <a:rPr dirty="0" sz="2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dirty="0" sz="2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28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table_name</a:t>
            </a:r>
            <a:r>
              <a:rPr dirty="0" sz="2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8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*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8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existing_table_name;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2800">
              <a:latin typeface="Calibri"/>
              <a:cs typeface="Calibri"/>
            </a:endParaRPr>
          </a:p>
          <a:p>
            <a:pPr marL="355600" marR="5080" indent="-342900">
              <a:lnSpc>
                <a:spcPts val="302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dirty="0" sz="280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dirty="0" sz="2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28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having</a:t>
            </a:r>
            <a:r>
              <a:rPr dirty="0" sz="28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specific</a:t>
            </a:r>
            <a:r>
              <a:rPr dirty="0" sz="2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records</a:t>
            </a:r>
            <a:r>
              <a:rPr dirty="0" sz="28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but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2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fields</a:t>
            </a:r>
            <a:r>
              <a:rPr dirty="0" sz="2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existing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table.</a:t>
            </a:r>
            <a:endParaRPr sz="2800">
              <a:latin typeface="Calibri"/>
              <a:cs typeface="Calibri"/>
            </a:endParaRPr>
          </a:p>
          <a:p>
            <a:pPr marL="12700" marR="403860">
              <a:lnSpc>
                <a:spcPts val="3020"/>
              </a:lnSpc>
              <a:spcBef>
                <a:spcPts val="680"/>
              </a:spcBef>
            </a:pP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Syntax:</a:t>
            </a:r>
            <a:r>
              <a:rPr dirty="0" sz="2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dirty="0" sz="2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28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table_name</a:t>
            </a:r>
            <a:r>
              <a:rPr dirty="0" sz="2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8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*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8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existing_table_name</a:t>
            </a:r>
            <a:r>
              <a:rPr dirty="0" sz="2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8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condition;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96472" y="6497916"/>
            <a:ext cx="130936" cy="84797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700529" y="2369947"/>
            <a:ext cx="2552700" cy="130048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593090" marR="5080" indent="-581025">
              <a:lnSpc>
                <a:spcPts val="4750"/>
              </a:lnSpc>
              <a:spcBef>
                <a:spcPts val="705"/>
              </a:spcBef>
            </a:pPr>
            <a:r>
              <a:rPr dirty="0" sz="4400" spc="-10" b="1">
                <a:solidFill>
                  <a:srgbClr val="FFFFFF"/>
                </a:solidFill>
                <a:latin typeface="Calibri"/>
                <a:cs typeface="Calibri"/>
              </a:rPr>
              <a:t>Modifying, Deleting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4655058" y="139445"/>
            <a:ext cx="7534909" cy="0"/>
          </a:xfrm>
          <a:custGeom>
            <a:avLst/>
            <a:gdLst/>
            <a:ahLst/>
            <a:cxnLst/>
            <a:rect l="l" t="t" r="r" b="b"/>
            <a:pathLst>
              <a:path w="7534909" h="0">
                <a:moveTo>
                  <a:pt x="0" y="0"/>
                </a:moveTo>
                <a:lnTo>
                  <a:pt x="7534656" y="0"/>
                </a:lnTo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655058" y="797813"/>
            <a:ext cx="7534909" cy="0"/>
          </a:xfrm>
          <a:custGeom>
            <a:avLst/>
            <a:gdLst/>
            <a:ahLst/>
            <a:cxnLst/>
            <a:rect l="l" t="t" r="r" b="b"/>
            <a:pathLst>
              <a:path w="7534909" h="0">
                <a:moveTo>
                  <a:pt x="0" y="0"/>
                </a:moveTo>
                <a:lnTo>
                  <a:pt x="7534656" y="0"/>
                </a:lnTo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655058" y="1456182"/>
            <a:ext cx="7534909" cy="0"/>
          </a:xfrm>
          <a:custGeom>
            <a:avLst/>
            <a:gdLst/>
            <a:ahLst/>
            <a:cxnLst/>
            <a:rect l="l" t="t" r="r" b="b"/>
            <a:pathLst>
              <a:path w="7534909" h="0">
                <a:moveTo>
                  <a:pt x="0" y="0"/>
                </a:moveTo>
                <a:lnTo>
                  <a:pt x="7534656" y="0"/>
                </a:lnTo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655058" y="2113026"/>
            <a:ext cx="7534909" cy="0"/>
          </a:xfrm>
          <a:custGeom>
            <a:avLst/>
            <a:gdLst/>
            <a:ahLst/>
            <a:cxnLst/>
            <a:rect l="l" t="t" r="r" b="b"/>
            <a:pathLst>
              <a:path w="7534909" h="0">
                <a:moveTo>
                  <a:pt x="0" y="0"/>
                </a:moveTo>
                <a:lnTo>
                  <a:pt x="7534656" y="0"/>
                </a:lnTo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722367" y="160401"/>
            <a:ext cx="7387590" cy="2320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Adding</a:t>
            </a:r>
            <a:r>
              <a:rPr dirty="0" sz="2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dirty="0" sz="2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dirty="0" sz="2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1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Syntax:</a:t>
            </a:r>
            <a:r>
              <a:rPr dirty="0" sz="2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Calibri"/>
                <a:cs typeface="Calibri"/>
              </a:rPr>
              <a:t>ALTER</a:t>
            </a:r>
            <a:r>
              <a:rPr dirty="0" sz="2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21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table_name</a:t>
            </a:r>
            <a:r>
              <a:rPr dirty="0" sz="2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ADD</a:t>
            </a:r>
            <a:r>
              <a:rPr dirty="0" sz="2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column_name</a:t>
            </a:r>
            <a:r>
              <a:rPr dirty="0" sz="2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datatype(size);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Dropping</a:t>
            </a:r>
            <a:r>
              <a:rPr dirty="0" sz="21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dirty="0" sz="21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Syntax:</a:t>
            </a:r>
            <a:r>
              <a:rPr dirty="0" sz="21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Calibri"/>
                <a:cs typeface="Calibri"/>
              </a:rPr>
              <a:t>ALTER</a:t>
            </a:r>
            <a:r>
              <a:rPr dirty="0" sz="21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2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table_name</a:t>
            </a:r>
            <a:r>
              <a:rPr dirty="0" sz="21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DROP</a:t>
            </a:r>
            <a:r>
              <a:rPr dirty="0" sz="21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dirty="0" sz="21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coulmn_name;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4655058" y="2771394"/>
            <a:ext cx="7534909" cy="0"/>
          </a:xfrm>
          <a:custGeom>
            <a:avLst/>
            <a:gdLst/>
            <a:ahLst/>
            <a:cxnLst/>
            <a:rect l="l" t="t" r="r" b="b"/>
            <a:pathLst>
              <a:path w="7534909" h="0">
                <a:moveTo>
                  <a:pt x="0" y="0"/>
                </a:moveTo>
                <a:lnTo>
                  <a:pt x="7534656" y="0"/>
                </a:lnTo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4722367" y="2792679"/>
            <a:ext cx="307340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Modifying</a:t>
            </a:r>
            <a:r>
              <a:rPr dirty="0" sz="21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dirty="0" sz="2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 table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4655058" y="3429761"/>
            <a:ext cx="7534909" cy="0"/>
          </a:xfrm>
          <a:custGeom>
            <a:avLst/>
            <a:gdLst/>
            <a:ahLst/>
            <a:cxnLst/>
            <a:rect l="l" t="t" r="r" b="b"/>
            <a:pathLst>
              <a:path w="7534909" h="0">
                <a:moveTo>
                  <a:pt x="0" y="0"/>
                </a:moveTo>
                <a:lnTo>
                  <a:pt x="7534656" y="0"/>
                </a:lnTo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4722367" y="3451352"/>
            <a:ext cx="7197725" cy="64008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 marR="5080">
              <a:lnSpc>
                <a:spcPts val="2320"/>
              </a:lnSpc>
              <a:spcBef>
                <a:spcPts val="340"/>
              </a:spcBef>
            </a:pP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Syntax:</a:t>
            </a:r>
            <a:r>
              <a:rPr dirty="0" sz="21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Calibri"/>
                <a:cs typeface="Calibri"/>
              </a:rPr>
              <a:t>ALTER</a:t>
            </a:r>
            <a:r>
              <a:rPr dirty="0" sz="21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2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table_name</a:t>
            </a:r>
            <a:r>
              <a:rPr dirty="0" sz="21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MODIFY</a:t>
            </a:r>
            <a:r>
              <a:rPr dirty="0" sz="21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dirty="0" sz="21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column_name datatype(size);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4655058" y="4088129"/>
            <a:ext cx="7534909" cy="0"/>
          </a:xfrm>
          <a:custGeom>
            <a:avLst/>
            <a:gdLst/>
            <a:ahLst/>
            <a:cxnLst/>
            <a:rect l="l" t="t" r="r" b="b"/>
            <a:pathLst>
              <a:path w="7534909" h="0">
                <a:moveTo>
                  <a:pt x="0" y="0"/>
                </a:moveTo>
                <a:lnTo>
                  <a:pt x="7534656" y="0"/>
                </a:lnTo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4655058" y="4746497"/>
            <a:ext cx="7534909" cy="0"/>
          </a:xfrm>
          <a:custGeom>
            <a:avLst/>
            <a:gdLst/>
            <a:ahLst/>
            <a:cxnLst/>
            <a:rect l="l" t="t" r="r" b="b"/>
            <a:pathLst>
              <a:path w="7534909" h="0">
                <a:moveTo>
                  <a:pt x="0" y="0"/>
                </a:moveTo>
                <a:lnTo>
                  <a:pt x="7534656" y="0"/>
                </a:lnTo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4655058" y="5403341"/>
            <a:ext cx="7534909" cy="0"/>
          </a:xfrm>
          <a:custGeom>
            <a:avLst/>
            <a:gdLst/>
            <a:ahLst/>
            <a:cxnLst/>
            <a:rect l="l" t="t" r="r" b="b"/>
            <a:pathLst>
              <a:path w="7534909" h="0">
                <a:moveTo>
                  <a:pt x="0" y="0"/>
                </a:moveTo>
                <a:lnTo>
                  <a:pt x="7534656" y="0"/>
                </a:lnTo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4655058" y="6061709"/>
            <a:ext cx="7534909" cy="0"/>
          </a:xfrm>
          <a:custGeom>
            <a:avLst/>
            <a:gdLst/>
            <a:ahLst/>
            <a:cxnLst/>
            <a:rect l="l" t="t" r="r" b="b"/>
            <a:pathLst>
              <a:path w="7534909" h="0">
                <a:moveTo>
                  <a:pt x="0" y="0"/>
                </a:moveTo>
                <a:lnTo>
                  <a:pt x="7534656" y="0"/>
                </a:lnTo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722367" y="4109161"/>
            <a:ext cx="4021454" cy="2320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Deleting</a:t>
            </a:r>
            <a:r>
              <a:rPr dirty="0" sz="2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21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records</a:t>
            </a:r>
            <a:r>
              <a:rPr dirty="0" sz="2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table.</a:t>
            </a:r>
            <a:endParaRPr sz="2100">
              <a:latin typeface="Calibri"/>
              <a:cs typeface="Calibri"/>
            </a:endParaRPr>
          </a:p>
          <a:p>
            <a:pPr marL="12700" marR="5080">
              <a:lnSpc>
                <a:spcPct val="205600"/>
              </a:lnSpc>
              <a:spcBef>
                <a:spcPts val="5"/>
              </a:spcBef>
            </a:pP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Syntax:</a:t>
            </a:r>
            <a:r>
              <a:rPr dirty="0" sz="21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Calibri"/>
                <a:cs typeface="Calibri"/>
              </a:rPr>
              <a:t>TRUNCATE</a:t>
            </a:r>
            <a:r>
              <a:rPr dirty="0" sz="21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3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21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tablename;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Deleting</a:t>
            </a:r>
            <a:r>
              <a:rPr dirty="0" sz="21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Syntax:</a:t>
            </a:r>
            <a:r>
              <a:rPr dirty="0" sz="21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drop</a:t>
            </a:r>
            <a:r>
              <a:rPr dirty="0" sz="21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21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tablename;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27485" y="6497916"/>
            <a:ext cx="127635" cy="8619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403350" y="2106295"/>
            <a:ext cx="2851150" cy="25076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49935">
              <a:lnSpc>
                <a:spcPts val="5015"/>
              </a:lnSpc>
              <a:spcBef>
                <a:spcPts val="105"/>
              </a:spcBef>
            </a:pPr>
            <a:r>
              <a:rPr dirty="0" sz="4400" b="1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4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400" spc="-25" b="1">
                <a:solidFill>
                  <a:srgbClr val="FFFFFF"/>
                </a:solidFill>
                <a:latin typeface="Calibri"/>
                <a:cs typeface="Calibri"/>
              </a:rPr>
              <a:t>DML</a:t>
            </a:r>
            <a:endParaRPr sz="4400">
              <a:latin typeface="Calibri"/>
              <a:cs typeface="Calibri"/>
            </a:endParaRPr>
          </a:p>
          <a:p>
            <a:pPr algn="just" marL="12700" marR="5080" indent="847090">
              <a:lnSpc>
                <a:spcPts val="4750"/>
              </a:lnSpc>
              <a:spcBef>
                <a:spcPts val="334"/>
              </a:spcBef>
            </a:pPr>
            <a:r>
              <a:rPr dirty="0" sz="4400" spc="-10" b="1">
                <a:solidFill>
                  <a:srgbClr val="FFFFFF"/>
                </a:solidFill>
                <a:latin typeface="Calibri"/>
                <a:cs typeface="Calibri"/>
              </a:rPr>
              <a:t>Queries- </a:t>
            </a:r>
            <a:r>
              <a:rPr dirty="0" sz="4400" b="1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4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400" spc="-10" b="1">
                <a:solidFill>
                  <a:srgbClr val="FFFFFF"/>
                </a:solidFill>
                <a:latin typeface="Calibri"/>
                <a:cs typeface="Calibri"/>
              </a:rPr>
              <a:t>query </a:t>
            </a:r>
            <a:r>
              <a:rPr dirty="0" sz="4400" b="1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dirty="0" sz="4400" spc="-10" b="1">
                <a:solidFill>
                  <a:srgbClr val="FFFFFF"/>
                </a:solidFill>
                <a:latin typeface="Calibri"/>
                <a:cs typeface="Calibri"/>
              </a:rPr>
              <a:t>clauses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54296" y="2057400"/>
            <a:ext cx="0" cy="2743200"/>
          </a:xfrm>
          <a:custGeom>
            <a:avLst/>
            <a:gdLst/>
            <a:ahLst/>
            <a:cxnLst/>
            <a:rect l="l" t="t" r="r" b="b"/>
            <a:pathLst>
              <a:path w="0"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834254" y="390906"/>
            <a:ext cx="7141845" cy="597725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240029" marR="214629" indent="-227329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3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dirty="0" sz="3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dirty="0" sz="3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3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3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dirty="0" sz="3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3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retrieve</a:t>
            </a:r>
            <a:r>
              <a:rPr dirty="0" sz="32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-2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dirty="0" sz="3200" spc="-2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320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Calibri"/>
                <a:cs typeface="Calibri"/>
              </a:rPr>
              <a:t>database.</a:t>
            </a:r>
            <a:endParaRPr sz="3200">
              <a:latin typeface="Calibri"/>
              <a:cs typeface="Calibri"/>
            </a:endParaRPr>
          </a:p>
          <a:p>
            <a:pPr marL="240029" marR="511809" indent="-227329">
              <a:lnSpc>
                <a:spcPts val="346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3200" spc="-10">
                <a:solidFill>
                  <a:srgbClr val="FFFFFF"/>
                </a:solidFill>
                <a:latin typeface="Calibri"/>
                <a:cs typeface="Calibri"/>
              </a:rPr>
              <a:t>Syntax:</a:t>
            </a:r>
            <a:r>
              <a:rPr dirty="0" sz="320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320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column1,</a:t>
            </a:r>
            <a:r>
              <a:rPr dirty="0" sz="32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dirty="0" sz="32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dirty="0" sz="32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-20">
                <a:solidFill>
                  <a:srgbClr val="FFFFFF"/>
                </a:solidFill>
                <a:latin typeface="Calibri"/>
                <a:cs typeface="Calibri"/>
              </a:rPr>
              <a:t>from </a:t>
            </a:r>
            <a:r>
              <a:rPr dirty="0" sz="3200" spc="-2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320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Calibri"/>
                <a:cs typeface="Calibri"/>
              </a:rPr>
              <a:t>name;</a:t>
            </a:r>
            <a:endParaRPr sz="3200">
              <a:latin typeface="Calibri"/>
              <a:cs typeface="Calibri"/>
            </a:endParaRPr>
          </a:p>
          <a:p>
            <a:pPr marL="240029" marR="304165" indent="-227329">
              <a:lnSpc>
                <a:spcPts val="346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32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3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FFFFFF"/>
                </a:solidFill>
                <a:latin typeface="Calibri"/>
                <a:cs typeface="Calibri"/>
              </a:rPr>
              <a:t>DISTINCT</a:t>
            </a:r>
            <a:r>
              <a:rPr dirty="0" sz="32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r>
              <a:rPr dirty="0" sz="32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32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-20">
                <a:solidFill>
                  <a:srgbClr val="FFFFFF"/>
                </a:solidFill>
                <a:latin typeface="Calibri"/>
                <a:cs typeface="Calibri"/>
              </a:rPr>
              <a:t>used </a:t>
            </a:r>
            <a:r>
              <a:rPr dirty="0" sz="3200" spc="-2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32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return</a:t>
            </a:r>
            <a:r>
              <a:rPr dirty="0" sz="32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dirty="0" sz="32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distinct</a:t>
            </a:r>
            <a:r>
              <a:rPr dirty="0" sz="3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-20">
                <a:solidFill>
                  <a:srgbClr val="FFFFFF"/>
                </a:solidFill>
                <a:latin typeface="Calibri"/>
                <a:cs typeface="Calibri"/>
              </a:rPr>
              <a:t>(different)</a:t>
            </a:r>
            <a:r>
              <a:rPr dirty="0" sz="32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Calibri"/>
                <a:cs typeface="Calibri"/>
              </a:rPr>
              <a:t>values.</a:t>
            </a:r>
            <a:endParaRPr sz="3200">
              <a:latin typeface="Calibri"/>
              <a:cs typeface="Calibri"/>
            </a:endParaRPr>
          </a:p>
          <a:p>
            <a:pPr marL="240029" marR="5080" indent="-227329">
              <a:lnSpc>
                <a:spcPts val="346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32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FFFFFF"/>
                </a:solidFill>
                <a:latin typeface="Calibri"/>
                <a:cs typeface="Calibri"/>
              </a:rPr>
              <a:t>DISTINCT</a:t>
            </a:r>
            <a:r>
              <a:rPr dirty="0" sz="3200" spc="-1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Country</a:t>
            </a:r>
            <a:r>
              <a:rPr dirty="0" sz="32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3200" spc="-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Calibri"/>
                <a:cs typeface="Calibri"/>
              </a:rPr>
              <a:t>Custome </a:t>
            </a:r>
            <a:r>
              <a:rPr dirty="0" sz="3200" spc="-1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3200" spc="-25">
                <a:solidFill>
                  <a:srgbClr val="FFFFFF"/>
                </a:solidFill>
                <a:latin typeface="Calibri"/>
                <a:cs typeface="Calibri"/>
              </a:rPr>
              <a:t>rs;</a:t>
            </a:r>
            <a:endParaRPr sz="3200">
              <a:latin typeface="Calibri"/>
              <a:cs typeface="Calibri"/>
            </a:endParaRPr>
          </a:p>
          <a:p>
            <a:pPr marL="241300" marR="1266190" indent="-228600">
              <a:lnSpc>
                <a:spcPts val="346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3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32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clause</a:t>
            </a:r>
            <a:r>
              <a:rPr dirty="0" sz="3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3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dirty="0" sz="3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3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Calibri"/>
                <a:cs typeface="Calibri"/>
              </a:rPr>
              <a:t>filter records.</a:t>
            </a:r>
            <a:endParaRPr sz="3200">
              <a:latin typeface="Calibri"/>
              <a:cs typeface="Calibri"/>
            </a:endParaRPr>
          </a:p>
          <a:p>
            <a:pPr marL="240029" indent="-227329">
              <a:lnSpc>
                <a:spcPts val="3650"/>
              </a:lnSpc>
              <a:spcBef>
                <a:spcPts val="5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3200" spc="-10">
                <a:solidFill>
                  <a:srgbClr val="FFFFFF"/>
                </a:solidFill>
                <a:latin typeface="Calibri"/>
                <a:cs typeface="Calibri"/>
              </a:rPr>
              <a:t>Syntax:</a:t>
            </a:r>
            <a:r>
              <a:rPr dirty="0" sz="32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320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dirty="0" sz="32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1,</a:t>
            </a:r>
            <a:r>
              <a:rPr dirty="0" sz="32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dirty="0" sz="32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2…</a:t>
            </a:r>
            <a:r>
              <a:rPr dirty="0" sz="32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-2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endParaRPr sz="3200">
              <a:latin typeface="Calibri"/>
              <a:cs typeface="Calibri"/>
            </a:endParaRPr>
          </a:p>
          <a:p>
            <a:pPr marL="241300">
              <a:lnSpc>
                <a:spcPts val="3650"/>
              </a:lnSpc>
            </a:pP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table_name</a:t>
            </a:r>
            <a:r>
              <a:rPr dirty="0" sz="320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32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Calibri"/>
                <a:cs typeface="Calibri"/>
              </a:rPr>
              <a:t>condition;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96472" y="6496519"/>
            <a:ext cx="129540" cy="8759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883410" y="2709799"/>
            <a:ext cx="2369185" cy="13004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5015"/>
              </a:lnSpc>
              <a:spcBef>
                <a:spcPts val="105"/>
              </a:spcBef>
            </a:pPr>
            <a:r>
              <a:rPr dirty="0" sz="4400" b="1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dirty="0" sz="440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400" spc="-55" b="1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endParaRPr sz="4400">
              <a:latin typeface="Calibri"/>
              <a:cs typeface="Calibri"/>
            </a:endParaRPr>
          </a:p>
          <a:p>
            <a:pPr marL="842644">
              <a:lnSpc>
                <a:spcPts val="5015"/>
              </a:lnSpc>
            </a:pPr>
            <a:r>
              <a:rPr dirty="0" sz="4400" spc="-10" b="1">
                <a:solidFill>
                  <a:srgbClr val="FFFFFF"/>
                </a:solidFill>
                <a:latin typeface="Calibri"/>
                <a:cs typeface="Calibri"/>
              </a:rPr>
              <a:t>Clause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54296" y="2057400"/>
            <a:ext cx="0" cy="2743200"/>
          </a:xfrm>
          <a:custGeom>
            <a:avLst/>
            <a:gdLst/>
            <a:ahLst/>
            <a:cxnLst/>
            <a:rect l="l" t="t" r="r" b="b"/>
            <a:pathLst>
              <a:path w="0"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055489" y="773429"/>
            <a:ext cx="6538595" cy="250063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0029" marR="5080" indent="-227329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dirty="0" sz="28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8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keyword</a:t>
            </a:r>
            <a:r>
              <a:rPr dirty="0" sz="2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sort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the 	result-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ascending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2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descending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order.</a:t>
            </a:r>
            <a:endParaRPr sz="2800">
              <a:latin typeface="Calibri"/>
              <a:cs typeface="Calibri"/>
            </a:endParaRPr>
          </a:p>
          <a:p>
            <a:pPr marL="240029" marR="47625" indent="-227329">
              <a:lnSpc>
                <a:spcPct val="90000"/>
              </a:lnSpc>
              <a:spcBef>
                <a:spcPts val="96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dirty="0" sz="2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8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keyword</a:t>
            </a:r>
            <a:r>
              <a:rPr dirty="0" sz="28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sorts</a:t>
            </a:r>
            <a:r>
              <a:rPr dirty="0" sz="2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records</a:t>
            </a:r>
            <a:r>
              <a:rPr dirty="0" sz="2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ascending</a:t>
            </a:r>
            <a:r>
              <a:rPr dirty="0" sz="28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dirty="0" sz="2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default.</a:t>
            </a:r>
            <a:r>
              <a:rPr dirty="0" sz="2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14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sort</a:t>
            </a:r>
            <a:r>
              <a:rPr dirty="0" sz="2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records</a:t>
            </a:r>
            <a:r>
              <a:rPr dirty="0" sz="28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descending</a:t>
            </a:r>
            <a:r>
              <a:rPr dirty="0" sz="2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order,</a:t>
            </a:r>
            <a:r>
              <a:rPr dirty="0" sz="2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dirty="0" sz="2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DESC 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keyword.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055489" y="3843273"/>
            <a:ext cx="4115435" cy="8356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0029" marR="5080" indent="-227329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Customers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dirty="0" sz="2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8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Country;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55489" y="5250281"/>
            <a:ext cx="4115435" cy="8356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0029" marR="5080" indent="-227329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Customers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dirty="0" sz="2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8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Country</a:t>
            </a:r>
            <a:r>
              <a:rPr dirty="0" sz="2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DESC;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96472" y="6497916"/>
            <a:ext cx="128143" cy="85001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4060"/>
            <a:ext cx="2976880" cy="8178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200">
                <a:latin typeface="Calibri Light"/>
                <a:cs typeface="Calibri Light"/>
              </a:rPr>
              <a:t>NULL</a:t>
            </a:r>
            <a:r>
              <a:rPr dirty="0" sz="5200" spc="-235">
                <a:latin typeface="Calibri Light"/>
                <a:cs typeface="Calibri Light"/>
              </a:rPr>
              <a:t> </a:t>
            </a:r>
            <a:r>
              <a:rPr dirty="0" sz="5200" spc="-75">
                <a:latin typeface="Calibri Light"/>
                <a:cs typeface="Calibri Light"/>
              </a:rPr>
              <a:t>Value</a:t>
            </a:r>
            <a:endParaRPr sz="5200">
              <a:latin typeface="Calibri Light"/>
              <a:cs typeface="Calibri Ligh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838200" y="1827276"/>
            <a:ext cx="10515600" cy="916305"/>
            <a:chOff x="838200" y="1827276"/>
            <a:chExt cx="10515600" cy="916305"/>
          </a:xfrm>
        </p:grpSpPr>
        <p:sp>
          <p:nvSpPr>
            <p:cNvPr id="4" name="object 4" descr=""/>
            <p:cNvSpPr/>
            <p:nvPr/>
          </p:nvSpPr>
          <p:spPr>
            <a:xfrm>
              <a:off x="838200" y="1827276"/>
              <a:ext cx="10515600" cy="916305"/>
            </a:xfrm>
            <a:custGeom>
              <a:avLst/>
              <a:gdLst/>
              <a:ahLst/>
              <a:cxnLst/>
              <a:rect l="l" t="t" r="r" b="b"/>
              <a:pathLst>
                <a:path w="10515600" h="916305">
                  <a:moveTo>
                    <a:pt x="10424033" y="0"/>
                  </a:moveTo>
                  <a:lnTo>
                    <a:pt x="91592" y="0"/>
                  </a:lnTo>
                  <a:lnTo>
                    <a:pt x="55940" y="7199"/>
                  </a:lnTo>
                  <a:lnTo>
                    <a:pt x="26827" y="26828"/>
                  </a:lnTo>
                  <a:lnTo>
                    <a:pt x="7197" y="55935"/>
                  </a:lnTo>
                  <a:lnTo>
                    <a:pt x="0" y="91566"/>
                  </a:lnTo>
                  <a:lnTo>
                    <a:pt x="0" y="824357"/>
                  </a:lnTo>
                  <a:lnTo>
                    <a:pt x="7197" y="859988"/>
                  </a:lnTo>
                  <a:lnTo>
                    <a:pt x="26827" y="889095"/>
                  </a:lnTo>
                  <a:lnTo>
                    <a:pt x="55940" y="908724"/>
                  </a:lnTo>
                  <a:lnTo>
                    <a:pt x="91592" y="915924"/>
                  </a:lnTo>
                  <a:lnTo>
                    <a:pt x="10424033" y="915924"/>
                  </a:lnTo>
                  <a:lnTo>
                    <a:pt x="10459664" y="908724"/>
                  </a:lnTo>
                  <a:lnTo>
                    <a:pt x="10488771" y="889095"/>
                  </a:lnTo>
                  <a:lnTo>
                    <a:pt x="10508400" y="859988"/>
                  </a:lnTo>
                  <a:lnTo>
                    <a:pt x="10515600" y="824357"/>
                  </a:lnTo>
                  <a:lnTo>
                    <a:pt x="10515600" y="91566"/>
                  </a:lnTo>
                  <a:lnTo>
                    <a:pt x="10508400" y="55935"/>
                  </a:lnTo>
                  <a:lnTo>
                    <a:pt x="10488771" y="26828"/>
                  </a:lnTo>
                  <a:lnTo>
                    <a:pt x="10459664" y="7199"/>
                  </a:lnTo>
                  <a:lnTo>
                    <a:pt x="10424033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22819" y="2088692"/>
              <a:ext cx="290195" cy="395605"/>
            </a:xfrm>
            <a:custGeom>
              <a:avLst/>
              <a:gdLst/>
              <a:ahLst/>
              <a:cxnLst/>
              <a:rect l="l" t="t" r="r" b="b"/>
              <a:pathLst>
                <a:path w="290194" h="395605">
                  <a:moveTo>
                    <a:pt x="290055" y="270306"/>
                  </a:moveTo>
                  <a:lnTo>
                    <a:pt x="278612" y="286448"/>
                  </a:lnTo>
                  <a:lnTo>
                    <a:pt x="258978" y="294792"/>
                  </a:lnTo>
                  <a:lnTo>
                    <a:pt x="258978" y="336842"/>
                  </a:lnTo>
                  <a:lnTo>
                    <a:pt x="258978" y="349313"/>
                  </a:lnTo>
                  <a:lnTo>
                    <a:pt x="254838" y="353479"/>
                  </a:lnTo>
                  <a:lnTo>
                    <a:pt x="242404" y="353479"/>
                  </a:lnTo>
                  <a:lnTo>
                    <a:pt x="238264" y="349313"/>
                  </a:lnTo>
                  <a:lnTo>
                    <a:pt x="238264" y="336842"/>
                  </a:lnTo>
                  <a:lnTo>
                    <a:pt x="242404" y="332676"/>
                  </a:lnTo>
                  <a:lnTo>
                    <a:pt x="254838" y="332676"/>
                  </a:lnTo>
                  <a:lnTo>
                    <a:pt x="258978" y="336842"/>
                  </a:lnTo>
                  <a:lnTo>
                    <a:pt x="258978" y="294792"/>
                  </a:lnTo>
                  <a:lnTo>
                    <a:pt x="247459" y="299669"/>
                  </a:lnTo>
                  <a:lnTo>
                    <a:pt x="201345" y="308610"/>
                  </a:lnTo>
                  <a:lnTo>
                    <a:pt x="145034" y="311886"/>
                  </a:lnTo>
                  <a:lnTo>
                    <a:pt x="88722" y="308610"/>
                  </a:lnTo>
                  <a:lnTo>
                    <a:pt x="42608" y="299669"/>
                  </a:lnTo>
                  <a:lnTo>
                    <a:pt x="11442" y="286448"/>
                  </a:lnTo>
                  <a:lnTo>
                    <a:pt x="0" y="270306"/>
                  </a:lnTo>
                  <a:lnTo>
                    <a:pt x="0" y="353479"/>
                  </a:lnTo>
                  <a:lnTo>
                    <a:pt x="11442" y="369620"/>
                  </a:lnTo>
                  <a:lnTo>
                    <a:pt x="42608" y="382841"/>
                  </a:lnTo>
                  <a:lnTo>
                    <a:pt x="88722" y="391782"/>
                  </a:lnTo>
                  <a:lnTo>
                    <a:pt x="145034" y="395058"/>
                  </a:lnTo>
                  <a:lnTo>
                    <a:pt x="201345" y="391782"/>
                  </a:lnTo>
                  <a:lnTo>
                    <a:pt x="247459" y="382841"/>
                  </a:lnTo>
                  <a:lnTo>
                    <a:pt x="278612" y="369620"/>
                  </a:lnTo>
                  <a:lnTo>
                    <a:pt x="290055" y="353479"/>
                  </a:lnTo>
                  <a:lnTo>
                    <a:pt x="290055" y="332676"/>
                  </a:lnTo>
                  <a:lnTo>
                    <a:pt x="290055" y="311886"/>
                  </a:lnTo>
                  <a:lnTo>
                    <a:pt x="290055" y="270306"/>
                  </a:lnTo>
                  <a:close/>
                </a:path>
                <a:path w="290194" h="395605">
                  <a:moveTo>
                    <a:pt x="290055" y="166344"/>
                  </a:moveTo>
                  <a:lnTo>
                    <a:pt x="278612" y="182486"/>
                  </a:lnTo>
                  <a:lnTo>
                    <a:pt x="258978" y="190830"/>
                  </a:lnTo>
                  <a:lnTo>
                    <a:pt x="258978" y="232879"/>
                  </a:lnTo>
                  <a:lnTo>
                    <a:pt x="258978" y="245351"/>
                  </a:lnTo>
                  <a:lnTo>
                    <a:pt x="254838" y="249516"/>
                  </a:lnTo>
                  <a:lnTo>
                    <a:pt x="242404" y="249516"/>
                  </a:lnTo>
                  <a:lnTo>
                    <a:pt x="238264" y="245351"/>
                  </a:lnTo>
                  <a:lnTo>
                    <a:pt x="238264" y="232879"/>
                  </a:lnTo>
                  <a:lnTo>
                    <a:pt x="242404" y="228714"/>
                  </a:lnTo>
                  <a:lnTo>
                    <a:pt x="254838" y="228714"/>
                  </a:lnTo>
                  <a:lnTo>
                    <a:pt x="258978" y="232879"/>
                  </a:lnTo>
                  <a:lnTo>
                    <a:pt x="258978" y="190830"/>
                  </a:lnTo>
                  <a:lnTo>
                    <a:pt x="247459" y="195707"/>
                  </a:lnTo>
                  <a:lnTo>
                    <a:pt x="201345" y="204647"/>
                  </a:lnTo>
                  <a:lnTo>
                    <a:pt x="145034" y="207924"/>
                  </a:lnTo>
                  <a:lnTo>
                    <a:pt x="88722" y="204647"/>
                  </a:lnTo>
                  <a:lnTo>
                    <a:pt x="42608" y="195707"/>
                  </a:lnTo>
                  <a:lnTo>
                    <a:pt x="11442" y="182486"/>
                  </a:lnTo>
                  <a:lnTo>
                    <a:pt x="0" y="166344"/>
                  </a:lnTo>
                  <a:lnTo>
                    <a:pt x="0" y="249516"/>
                  </a:lnTo>
                  <a:lnTo>
                    <a:pt x="11442" y="265658"/>
                  </a:lnTo>
                  <a:lnTo>
                    <a:pt x="42608" y="278879"/>
                  </a:lnTo>
                  <a:lnTo>
                    <a:pt x="88722" y="287820"/>
                  </a:lnTo>
                  <a:lnTo>
                    <a:pt x="145034" y="291096"/>
                  </a:lnTo>
                  <a:lnTo>
                    <a:pt x="201345" y="287820"/>
                  </a:lnTo>
                  <a:lnTo>
                    <a:pt x="247459" y="278879"/>
                  </a:lnTo>
                  <a:lnTo>
                    <a:pt x="278612" y="265658"/>
                  </a:lnTo>
                  <a:lnTo>
                    <a:pt x="290055" y="249516"/>
                  </a:lnTo>
                  <a:lnTo>
                    <a:pt x="290055" y="228714"/>
                  </a:lnTo>
                  <a:lnTo>
                    <a:pt x="290055" y="207924"/>
                  </a:lnTo>
                  <a:lnTo>
                    <a:pt x="290055" y="166344"/>
                  </a:lnTo>
                  <a:close/>
                </a:path>
                <a:path w="290194" h="395605">
                  <a:moveTo>
                    <a:pt x="290055" y="62382"/>
                  </a:moveTo>
                  <a:lnTo>
                    <a:pt x="278612" y="78524"/>
                  </a:lnTo>
                  <a:lnTo>
                    <a:pt x="258978" y="86868"/>
                  </a:lnTo>
                  <a:lnTo>
                    <a:pt x="258978" y="128917"/>
                  </a:lnTo>
                  <a:lnTo>
                    <a:pt x="258978" y="141389"/>
                  </a:lnTo>
                  <a:lnTo>
                    <a:pt x="254838" y="145542"/>
                  </a:lnTo>
                  <a:lnTo>
                    <a:pt x="242404" y="145542"/>
                  </a:lnTo>
                  <a:lnTo>
                    <a:pt x="238264" y="141389"/>
                  </a:lnTo>
                  <a:lnTo>
                    <a:pt x="238264" y="128917"/>
                  </a:lnTo>
                  <a:lnTo>
                    <a:pt x="242404" y="124752"/>
                  </a:lnTo>
                  <a:lnTo>
                    <a:pt x="254838" y="124752"/>
                  </a:lnTo>
                  <a:lnTo>
                    <a:pt x="258978" y="128917"/>
                  </a:lnTo>
                  <a:lnTo>
                    <a:pt x="258978" y="86868"/>
                  </a:lnTo>
                  <a:lnTo>
                    <a:pt x="247459" y="91744"/>
                  </a:lnTo>
                  <a:lnTo>
                    <a:pt x="201345" y="100685"/>
                  </a:lnTo>
                  <a:lnTo>
                    <a:pt x="145034" y="103962"/>
                  </a:lnTo>
                  <a:lnTo>
                    <a:pt x="88722" y="100685"/>
                  </a:lnTo>
                  <a:lnTo>
                    <a:pt x="42608" y="91744"/>
                  </a:lnTo>
                  <a:lnTo>
                    <a:pt x="11442" y="78524"/>
                  </a:lnTo>
                  <a:lnTo>
                    <a:pt x="0" y="62382"/>
                  </a:lnTo>
                  <a:lnTo>
                    <a:pt x="0" y="145542"/>
                  </a:lnTo>
                  <a:lnTo>
                    <a:pt x="11442" y="161696"/>
                  </a:lnTo>
                  <a:lnTo>
                    <a:pt x="42608" y="174917"/>
                  </a:lnTo>
                  <a:lnTo>
                    <a:pt x="88722" y="183857"/>
                  </a:lnTo>
                  <a:lnTo>
                    <a:pt x="145034" y="187134"/>
                  </a:lnTo>
                  <a:lnTo>
                    <a:pt x="201345" y="183857"/>
                  </a:lnTo>
                  <a:lnTo>
                    <a:pt x="247459" y="174917"/>
                  </a:lnTo>
                  <a:lnTo>
                    <a:pt x="278612" y="161696"/>
                  </a:lnTo>
                  <a:lnTo>
                    <a:pt x="290055" y="145542"/>
                  </a:lnTo>
                  <a:lnTo>
                    <a:pt x="290055" y="124752"/>
                  </a:lnTo>
                  <a:lnTo>
                    <a:pt x="290055" y="103962"/>
                  </a:lnTo>
                  <a:lnTo>
                    <a:pt x="290055" y="62382"/>
                  </a:lnTo>
                  <a:close/>
                </a:path>
                <a:path w="290194" h="395605">
                  <a:moveTo>
                    <a:pt x="290055" y="41579"/>
                  </a:moveTo>
                  <a:lnTo>
                    <a:pt x="278663" y="25400"/>
                  </a:lnTo>
                  <a:lnTo>
                    <a:pt x="247586" y="12179"/>
                  </a:lnTo>
                  <a:lnTo>
                    <a:pt x="201485" y="3263"/>
                  </a:lnTo>
                  <a:lnTo>
                    <a:pt x="145034" y="0"/>
                  </a:lnTo>
                  <a:lnTo>
                    <a:pt x="88582" y="3263"/>
                  </a:lnTo>
                  <a:lnTo>
                    <a:pt x="42481" y="12179"/>
                  </a:lnTo>
                  <a:lnTo>
                    <a:pt x="11404" y="25400"/>
                  </a:lnTo>
                  <a:lnTo>
                    <a:pt x="0" y="41579"/>
                  </a:lnTo>
                  <a:lnTo>
                    <a:pt x="11404" y="57772"/>
                  </a:lnTo>
                  <a:lnTo>
                    <a:pt x="42481" y="70993"/>
                  </a:lnTo>
                  <a:lnTo>
                    <a:pt x="88582" y="79895"/>
                  </a:lnTo>
                  <a:lnTo>
                    <a:pt x="145034" y="83172"/>
                  </a:lnTo>
                  <a:lnTo>
                    <a:pt x="201485" y="79895"/>
                  </a:lnTo>
                  <a:lnTo>
                    <a:pt x="247586" y="70993"/>
                  </a:lnTo>
                  <a:lnTo>
                    <a:pt x="278663" y="57772"/>
                  </a:lnTo>
                  <a:lnTo>
                    <a:pt x="290055" y="415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838200" y="2971800"/>
            <a:ext cx="10515600" cy="914400"/>
            <a:chOff x="838200" y="2971800"/>
            <a:chExt cx="10515600" cy="914400"/>
          </a:xfrm>
        </p:grpSpPr>
        <p:sp>
          <p:nvSpPr>
            <p:cNvPr id="7" name="object 7" descr=""/>
            <p:cNvSpPr/>
            <p:nvPr/>
          </p:nvSpPr>
          <p:spPr>
            <a:xfrm>
              <a:off x="838200" y="2971800"/>
              <a:ext cx="10515600" cy="914400"/>
            </a:xfrm>
            <a:custGeom>
              <a:avLst/>
              <a:gdLst/>
              <a:ahLst/>
              <a:cxnLst/>
              <a:rect l="l" t="t" r="r" b="b"/>
              <a:pathLst>
                <a:path w="10515600" h="914400">
                  <a:moveTo>
                    <a:pt x="10424160" y="0"/>
                  </a:moveTo>
                  <a:lnTo>
                    <a:pt x="91440" y="0"/>
                  </a:lnTo>
                  <a:lnTo>
                    <a:pt x="55844" y="7179"/>
                  </a:lnTo>
                  <a:lnTo>
                    <a:pt x="26779" y="26765"/>
                  </a:lnTo>
                  <a:lnTo>
                    <a:pt x="7184" y="55828"/>
                  </a:lnTo>
                  <a:lnTo>
                    <a:pt x="0" y="91439"/>
                  </a:lnTo>
                  <a:lnTo>
                    <a:pt x="0" y="822960"/>
                  </a:lnTo>
                  <a:lnTo>
                    <a:pt x="7184" y="858571"/>
                  </a:lnTo>
                  <a:lnTo>
                    <a:pt x="26779" y="887634"/>
                  </a:lnTo>
                  <a:lnTo>
                    <a:pt x="55844" y="907220"/>
                  </a:lnTo>
                  <a:lnTo>
                    <a:pt x="91440" y="914400"/>
                  </a:lnTo>
                  <a:lnTo>
                    <a:pt x="10424160" y="914400"/>
                  </a:lnTo>
                  <a:lnTo>
                    <a:pt x="10459771" y="907220"/>
                  </a:lnTo>
                  <a:lnTo>
                    <a:pt x="10488834" y="887634"/>
                  </a:lnTo>
                  <a:lnTo>
                    <a:pt x="10508420" y="858571"/>
                  </a:lnTo>
                  <a:lnTo>
                    <a:pt x="10515600" y="822960"/>
                  </a:lnTo>
                  <a:lnTo>
                    <a:pt x="10515600" y="91439"/>
                  </a:lnTo>
                  <a:lnTo>
                    <a:pt x="10508420" y="55828"/>
                  </a:lnTo>
                  <a:lnTo>
                    <a:pt x="10488834" y="26765"/>
                  </a:lnTo>
                  <a:lnTo>
                    <a:pt x="10459771" y="7179"/>
                  </a:lnTo>
                  <a:lnTo>
                    <a:pt x="10424160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176210" y="3238233"/>
              <a:ext cx="383540" cy="383540"/>
            </a:xfrm>
            <a:custGeom>
              <a:avLst/>
              <a:gdLst/>
              <a:ahLst/>
              <a:cxnLst/>
              <a:rect l="l" t="t" r="r" b="b"/>
              <a:pathLst>
                <a:path w="383540" h="383539">
                  <a:moveTo>
                    <a:pt x="383286" y="290220"/>
                  </a:moveTo>
                  <a:lnTo>
                    <a:pt x="0" y="290220"/>
                  </a:lnTo>
                  <a:lnTo>
                    <a:pt x="0" y="383501"/>
                  </a:lnTo>
                  <a:lnTo>
                    <a:pt x="383286" y="383501"/>
                  </a:lnTo>
                  <a:lnTo>
                    <a:pt x="383286" y="290220"/>
                  </a:lnTo>
                  <a:close/>
                </a:path>
                <a:path w="383540" h="383539">
                  <a:moveTo>
                    <a:pt x="383286" y="202107"/>
                  </a:moveTo>
                  <a:lnTo>
                    <a:pt x="191643" y="0"/>
                  </a:lnTo>
                  <a:lnTo>
                    <a:pt x="0" y="202107"/>
                  </a:lnTo>
                  <a:lnTo>
                    <a:pt x="383286" y="2021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838200" y="4116323"/>
            <a:ext cx="10515600" cy="914400"/>
            <a:chOff x="838200" y="4116323"/>
            <a:chExt cx="10515600" cy="914400"/>
          </a:xfrm>
        </p:grpSpPr>
        <p:sp>
          <p:nvSpPr>
            <p:cNvPr id="10" name="object 10" descr=""/>
            <p:cNvSpPr/>
            <p:nvPr/>
          </p:nvSpPr>
          <p:spPr>
            <a:xfrm>
              <a:off x="838200" y="4116323"/>
              <a:ext cx="10515600" cy="914400"/>
            </a:xfrm>
            <a:custGeom>
              <a:avLst/>
              <a:gdLst/>
              <a:ahLst/>
              <a:cxnLst/>
              <a:rect l="l" t="t" r="r" b="b"/>
              <a:pathLst>
                <a:path w="10515600" h="914400">
                  <a:moveTo>
                    <a:pt x="10424160" y="0"/>
                  </a:moveTo>
                  <a:lnTo>
                    <a:pt x="91440" y="0"/>
                  </a:lnTo>
                  <a:lnTo>
                    <a:pt x="55844" y="7179"/>
                  </a:lnTo>
                  <a:lnTo>
                    <a:pt x="26779" y="26765"/>
                  </a:lnTo>
                  <a:lnTo>
                    <a:pt x="7184" y="55828"/>
                  </a:lnTo>
                  <a:lnTo>
                    <a:pt x="0" y="91439"/>
                  </a:lnTo>
                  <a:lnTo>
                    <a:pt x="0" y="822959"/>
                  </a:lnTo>
                  <a:lnTo>
                    <a:pt x="7184" y="858571"/>
                  </a:lnTo>
                  <a:lnTo>
                    <a:pt x="26779" y="887634"/>
                  </a:lnTo>
                  <a:lnTo>
                    <a:pt x="55844" y="907220"/>
                  </a:lnTo>
                  <a:lnTo>
                    <a:pt x="91440" y="914400"/>
                  </a:lnTo>
                  <a:lnTo>
                    <a:pt x="10424160" y="914400"/>
                  </a:lnTo>
                  <a:lnTo>
                    <a:pt x="10459771" y="907220"/>
                  </a:lnTo>
                  <a:lnTo>
                    <a:pt x="10488834" y="887634"/>
                  </a:lnTo>
                  <a:lnTo>
                    <a:pt x="10508420" y="858571"/>
                  </a:lnTo>
                  <a:lnTo>
                    <a:pt x="10515600" y="822959"/>
                  </a:lnTo>
                  <a:lnTo>
                    <a:pt x="10515600" y="91439"/>
                  </a:lnTo>
                  <a:lnTo>
                    <a:pt x="10508420" y="55828"/>
                  </a:lnTo>
                  <a:lnTo>
                    <a:pt x="10488834" y="26765"/>
                  </a:lnTo>
                  <a:lnTo>
                    <a:pt x="10459771" y="7179"/>
                  </a:lnTo>
                  <a:lnTo>
                    <a:pt x="10424160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8367" y="4476034"/>
              <a:ext cx="103591" cy="205638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3754" y="4476034"/>
              <a:ext cx="103591" cy="205638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1979802" y="2097481"/>
            <a:ext cx="9105265" cy="2617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field</a:t>
            </a:r>
            <a:r>
              <a:rPr dirty="0" sz="21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NULL</a:t>
            </a:r>
            <a:r>
              <a:rPr dirty="0" sz="2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dirty="0" sz="2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1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field</a:t>
            </a:r>
            <a:r>
              <a:rPr dirty="0" sz="21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dirty="0" sz="2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value.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00">
              <a:latin typeface="Calibri"/>
              <a:cs typeface="Calibri"/>
            </a:endParaRPr>
          </a:p>
          <a:p>
            <a:pPr marL="12700" marR="5080">
              <a:lnSpc>
                <a:spcPct val="101400"/>
              </a:lnSpc>
            </a:pP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dirty="0" sz="2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field</a:t>
            </a:r>
            <a:r>
              <a:rPr dirty="0" sz="2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2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optional,</a:t>
            </a:r>
            <a:r>
              <a:rPr dirty="0" sz="21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21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possible</a:t>
            </a:r>
            <a:r>
              <a:rPr dirty="0" sz="2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insert</a:t>
            </a:r>
            <a:r>
              <a:rPr dirty="0" sz="2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dirty="0" sz="2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record</a:t>
            </a:r>
            <a:r>
              <a:rPr dirty="0" sz="2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2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r>
              <a:rPr dirty="0" sz="21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record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without</a:t>
            </a:r>
            <a:r>
              <a:rPr dirty="0" sz="2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adding</a:t>
            </a:r>
            <a:r>
              <a:rPr dirty="0" sz="2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dirty="0" sz="2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dirty="0" sz="2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field.</a:t>
            </a:r>
            <a:r>
              <a:rPr dirty="0" sz="2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Then,</a:t>
            </a:r>
            <a:r>
              <a:rPr dirty="0" sz="21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field</a:t>
            </a:r>
            <a:r>
              <a:rPr dirty="0" sz="21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dirty="0" sz="2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dirty="0" sz="21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saved</a:t>
            </a:r>
            <a:r>
              <a:rPr dirty="0" sz="2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NULL</a:t>
            </a:r>
            <a:r>
              <a:rPr dirty="0" sz="2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value.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15"/>
              </a:spcBef>
            </a:pP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LastName,</a:t>
            </a:r>
            <a:r>
              <a:rPr dirty="0" sz="21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FirstName,</a:t>
            </a:r>
            <a:r>
              <a:rPr dirty="0" sz="2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Address</a:t>
            </a:r>
            <a:r>
              <a:rPr dirty="0" sz="21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Persons</a:t>
            </a:r>
            <a:r>
              <a:rPr dirty="0" sz="2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1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Address</a:t>
            </a:r>
            <a:r>
              <a:rPr dirty="0" sz="2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1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NULL;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838200" y="5259323"/>
            <a:ext cx="10515600" cy="916305"/>
            <a:chOff x="838200" y="5259323"/>
            <a:chExt cx="10515600" cy="916305"/>
          </a:xfrm>
        </p:grpSpPr>
        <p:sp>
          <p:nvSpPr>
            <p:cNvPr id="15" name="object 15" descr=""/>
            <p:cNvSpPr/>
            <p:nvPr/>
          </p:nvSpPr>
          <p:spPr>
            <a:xfrm>
              <a:off x="838200" y="5259323"/>
              <a:ext cx="10515600" cy="916305"/>
            </a:xfrm>
            <a:custGeom>
              <a:avLst/>
              <a:gdLst/>
              <a:ahLst/>
              <a:cxnLst/>
              <a:rect l="l" t="t" r="r" b="b"/>
              <a:pathLst>
                <a:path w="10515600" h="916304">
                  <a:moveTo>
                    <a:pt x="10424033" y="0"/>
                  </a:moveTo>
                  <a:lnTo>
                    <a:pt x="91592" y="0"/>
                  </a:lnTo>
                  <a:lnTo>
                    <a:pt x="55940" y="7199"/>
                  </a:lnTo>
                  <a:lnTo>
                    <a:pt x="26827" y="26828"/>
                  </a:lnTo>
                  <a:lnTo>
                    <a:pt x="7197" y="55935"/>
                  </a:lnTo>
                  <a:lnTo>
                    <a:pt x="0" y="91566"/>
                  </a:lnTo>
                  <a:lnTo>
                    <a:pt x="0" y="824318"/>
                  </a:lnTo>
                  <a:lnTo>
                    <a:pt x="26827" y="889095"/>
                  </a:lnTo>
                  <a:lnTo>
                    <a:pt x="91592" y="915924"/>
                  </a:lnTo>
                  <a:lnTo>
                    <a:pt x="10424033" y="915936"/>
                  </a:lnTo>
                  <a:lnTo>
                    <a:pt x="10459664" y="908738"/>
                  </a:lnTo>
                  <a:lnTo>
                    <a:pt x="10488771" y="889107"/>
                  </a:lnTo>
                  <a:lnTo>
                    <a:pt x="10508400" y="859990"/>
                  </a:lnTo>
                  <a:lnTo>
                    <a:pt x="10515600" y="824331"/>
                  </a:lnTo>
                  <a:lnTo>
                    <a:pt x="10515600" y="91566"/>
                  </a:lnTo>
                  <a:lnTo>
                    <a:pt x="10508400" y="55935"/>
                  </a:lnTo>
                  <a:lnTo>
                    <a:pt x="10488771" y="26828"/>
                  </a:lnTo>
                  <a:lnTo>
                    <a:pt x="10459664" y="7199"/>
                  </a:lnTo>
                  <a:lnTo>
                    <a:pt x="10424033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3567" y="5842083"/>
              <a:ext cx="68577" cy="68823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1251315" y="5525628"/>
              <a:ext cx="233679" cy="291465"/>
            </a:xfrm>
            <a:custGeom>
              <a:avLst/>
              <a:gdLst/>
              <a:ahLst/>
              <a:cxnLst/>
              <a:rect l="l" t="t" r="r" b="b"/>
              <a:pathLst>
                <a:path w="233680" h="291464">
                  <a:moveTo>
                    <a:pt x="116540" y="0"/>
                  </a:moveTo>
                  <a:lnTo>
                    <a:pt x="68831" y="8889"/>
                  </a:lnTo>
                  <a:lnTo>
                    <a:pt x="32048" y="33692"/>
                  </a:lnTo>
                  <a:lnTo>
                    <a:pt x="8376" y="71615"/>
                  </a:lnTo>
                  <a:lnTo>
                    <a:pt x="0" y="119860"/>
                  </a:lnTo>
                  <a:lnTo>
                    <a:pt x="41125" y="119860"/>
                  </a:lnTo>
                  <a:lnTo>
                    <a:pt x="46266" y="87580"/>
                  </a:lnTo>
                  <a:lnTo>
                    <a:pt x="61118" y="62785"/>
                  </a:lnTo>
                  <a:lnTo>
                    <a:pt x="84828" y="46878"/>
                  </a:lnTo>
                  <a:lnTo>
                    <a:pt x="116540" y="41264"/>
                  </a:lnTo>
                  <a:lnTo>
                    <a:pt x="148464" y="47736"/>
                  </a:lnTo>
                  <a:lnTo>
                    <a:pt x="171544" y="64130"/>
                  </a:lnTo>
                  <a:lnTo>
                    <a:pt x="186813" y="88012"/>
                  </a:lnTo>
                  <a:lnTo>
                    <a:pt x="191954" y="116949"/>
                  </a:lnTo>
                  <a:lnTo>
                    <a:pt x="186610" y="145335"/>
                  </a:lnTo>
                  <a:lnTo>
                    <a:pt x="171417" y="167034"/>
                  </a:lnTo>
                  <a:lnTo>
                    <a:pt x="147640" y="180896"/>
                  </a:lnTo>
                  <a:lnTo>
                    <a:pt x="116540" y="185773"/>
                  </a:lnTo>
                  <a:lnTo>
                    <a:pt x="95822" y="185773"/>
                  </a:lnTo>
                  <a:lnTo>
                    <a:pt x="95822" y="291400"/>
                  </a:lnTo>
                  <a:lnTo>
                    <a:pt x="137258" y="291400"/>
                  </a:lnTo>
                  <a:lnTo>
                    <a:pt x="137258" y="225643"/>
                  </a:lnTo>
                  <a:lnTo>
                    <a:pt x="176485" y="213418"/>
                  </a:lnTo>
                  <a:lnTo>
                    <a:pt x="206729" y="190068"/>
                  </a:lnTo>
                  <a:lnTo>
                    <a:pt x="226193" y="157332"/>
                  </a:lnTo>
                  <a:lnTo>
                    <a:pt x="233080" y="116949"/>
                  </a:lnTo>
                  <a:lnTo>
                    <a:pt x="223534" y="69503"/>
                  </a:lnTo>
                  <a:lnTo>
                    <a:pt x="198429" y="32997"/>
                  </a:lnTo>
                  <a:lnTo>
                    <a:pt x="161515" y="8602"/>
                  </a:lnTo>
                  <a:lnTo>
                    <a:pt x="1165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1979802" y="5513628"/>
            <a:ext cx="906589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LastName,</a:t>
            </a:r>
            <a:r>
              <a:rPr dirty="0" sz="21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FirstName,</a:t>
            </a:r>
            <a:r>
              <a:rPr dirty="0" sz="21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Address</a:t>
            </a:r>
            <a:r>
              <a:rPr dirty="0" sz="21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1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Persons</a:t>
            </a:r>
            <a:r>
              <a:rPr dirty="0" sz="2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1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Address</a:t>
            </a:r>
            <a:r>
              <a:rPr dirty="0" sz="2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1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dirty="0" sz="21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NULL;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73327" y="2709799"/>
            <a:ext cx="3283585" cy="13004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5015"/>
              </a:lnSpc>
              <a:spcBef>
                <a:spcPts val="105"/>
              </a:spcBef>
            </a:pPr>
            <a:r>
              <a:rPr dirty="0" sz="4400">
                <a:solidFill>
                  <a:srgbClr val="FFFFFF"/>
                </a:solidFill>
                <a:latin typeface="Calibri Light"/>
                <a:cs typeface="Calibri Light"/>
              </a:rPr>
              <a:t>SQL</a:t>
            </a:r>
            <a:r>
              <a:rPr dirty="0" sz="4400" spc="-155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400">
                <a:solidFill>
                  <a:srgbClr val="FFFFFF"/>
                </a:solidFill>
                <a:latin typeface="Calibri Light"/>
                <a:cs typeface="Calibri Light"/>
              </a:rPr>
              <a:t>–</a:t>
            </a:r>
            <a:r>
              <a:rPr dirty="0" sz="4400" spc="-12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400" spc="-50">
                <a:solidFill>
                  <a:srgbClr val="FFFFFF"/>
                </a:solidFill>
                <a:latin typeface="Calibri Light"/>
                <a:cs typeface="Calibri Light"/>
              </a:rPr>
              <a:t>AND,</a:t>
            </a:r>
            <a:r>
              <a:rPr dirty="0" sz="4400" spc="-13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400" spc="-35">
                <a:solidFill>
                  <a:srgbClr val="FFFFFF"/>
                </a:solidFill>
                <a:latin typeface="Calibri Light"/>
                <a:cs typeface="Calibri Light"/>
              </a:rPr>
              <a:t>OR</a:t>
            </a:r>
            <a:endParaRPr sz="4400">
              <a:latin typeface="Calibri Light"/>
              <a:cs typeface="Calibri Light"/>
            </a:endParaRPr>
          </a:p>
          <a:p>
            <a:pPr marL="1265555">
              <a:lnSpc>
                <a:spcPts val="5015"/>
              </a:lnSpc>
            </a:pPr>
            <a:r>
              <a:rPr dirty="0" sz="4400" spc="-50">
                <a:solidFill>
                  <a:srgbClr val="FFFFFF"/>
                </a:solidFill>
                <a:latin typeface="Calibri Light"/>
                <a:cs typeface="Calibri Light"/>
              </a:rPr>
              <a:t>Operator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54296" y="2057400"/>
            <a:ext cx="0" cy="2743200"/>
          </a:xfrm>
          <a:custGeom>
            <a:avLst/>
            <a:gdLst/>
            <a:ahLst/>
            <a:cxnLst/>
            <a:rect l="l" t="t" r="r" b="b"/>
            <a:pathLst>
              <a:path w="0"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049139" y="303021"/>
            <a:ext cx="6249670" cy="196278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AND,</a:t>
            </a:r>
            <a:r>
              <a:rPr dirty="0" sz="24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24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operators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filter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records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than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condition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75"/>
              </a:spcBef>
              <a:buClr>
                <a:srgbClr val="FFFFFF"/>
              </a:buClr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marL="240029" marR="562610" indent="-227329">
              <a:lnSpc>
                <a:spcPts val="2590"/>
              </a:lnSpc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operator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displays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record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conditions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separated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TRUE.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049139" y="2787777"/>
            <a:ext cx="5974715" cy="72072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operator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displays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record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conditions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separated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TRUE.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49139" y="4028008"/>
            <a:ext cx="5927725" cy="1963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ts val="2735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4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Country='Germany'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City='Berlin’;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80"/>
              </a:spcBef>
            </a:pP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35"/>
              </a:lnSpc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Country='Germany’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City='Berlin’;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96472" y="6496354"/>
            <a:ext cx="128524" cy="87757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1322" y="2106295"/>
            <a:ext cx="2312670" cy="1904364"/>
          </a:xfrm>
          <a:prstGeom prst="rect"/>
        </p:spPr>
        <p:txBody>
          <a:bodyPr wrap="square" lIns="0" tIns="89535" rIns="0" bIns="0" rtlCol="0" vert="horz">
            <a:spAutoFit/>
          </a:bodyPr>
          <a:lstStyle/>
          <a:p>
            <a:pPr marL="12700" marR="5080" indent="417195">
              <a:lnSpc>
                <a:spcPts val="4750"/>
              </a:lnSpc>
              <a:spcBef>
                <a:spcPts val="705"/>
              </a:spcBef>
            </a:pP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pc="-25" b="1">
                <a:solidFill>
                  <a:srgbClr val="FFFFFF"/>
                </a:solidFill>
                <a:latin typeface="Calibri"/>
                <a:cs typeface="Calibri"/>
              </a:rPr>
              <a:t>SQL </a:t>
            </a:r>
            <a:r>
              <a:rPr dirty="0" spc="-10" b="1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</a:p>
          <a:p>
            <a:pPr marL="194945">
              <a:lnSpc>
                <a:spcPts val="4685"/>
              </a:lnSpc>
            </a:pPr>
            <a:r>
              <a:rPr dirty="0" spc="-20" b="1">
                <a:solidFill>
                  <a:srgbClr val="FFFFFF"/>
                </a:solidFill>
                <a:latin typeface="Calibri"/>
                <a:cs typeface="Calibri"/>
              </a:rPr>
              <a:t>Operator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4654296" y="2057400"/>
            <a:ext cx="0" cy="2743200"/>
          </a:xfrm>
          <a:custGeom>
            <a:avLst/>
            <a:gdLst/>
            <a:ahLst/>
            <a:cxnLst/>
            <a:rect l="l" t="t" r="r" b="b"/>
            <a:pathLst>
              <a:path w="0"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055489" y="1561591"/>
            <a:ext cx="6485255" cy="72072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operator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selects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within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given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range.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numbers,</a:t>
            </a:r>
            <a:r>
              <a:rPr dirty="0" sz="24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text,</a:t>
            </a:r>
            <a:r>
              <a:rPr dirty="0" sz="24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dates.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055489" y="2803347"/>
            <a:ext cx="6238240" cy="721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operator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inclusive: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begin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end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735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dirty="0" sz="240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24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included.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55489" y="4045966"/>
            <a:ext cx="4394200" cy="720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Products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735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Price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20;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0364" y="6496354"/>
            <a:ext cx="126029" cy="87757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602994" y="2709799"/>
            <a:ext cx="2651760" cy="6965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b="1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4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400" spc="-10" b="1">
                <a:solidFill>
                  <a:srgbClr val="FFFFFF"/>
                </a:solidFill>
                <a:latin typeface="Calibri"/>
                <a:cs typeface="Calibri"/>
              </a:rPr>
              <a:t>Aliases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54296" y="2057400"/>
            <a:ext cx="0" cy="2743200"/>
          </a:xfrm>
          <a:custGeom>
            <a:avLst/>
            <a:gdLst/>
            <a:ahLst/>
            <a:cxnLst/>
            <a:rect l="l" t="t" r="r" b="b"/>
            <a:pathLst>
              <a:path w="0"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055489" y="1004061"/>
            <a:ext cx="5936615" cy="72072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aliases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dirty="0" sz="2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give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table,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column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table,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temporary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name.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055489" y="1790141"/>
            <a:ext cx="5683250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</a:rPr>
              <a:t>Aliases</a:t>
            </a:r>
            <a:r>
              <a:rPr dirty="0" sz="2400" spc="-75">
                <a:solidFill>
                  <a:srgbClr val="FFFFFF"/>
                </a:solidFill>
              </a:rPr>
              <a:t> </a:t>
            </a:r>
            <a:r>
              <a:rPr dirty="0" sz="2400">
                <a:solidFill>
                  <a:srgbClr val="FFFFFF"/>
                </a:solidFill>
              </a:rPr>
              <a:t>are</a:t>
            </a:r>
            <a:r>
              <a:rPr dirty="0" sz="2400" spc="-55">
                <a:solidFill>
                  <a:srgbClr val="FFFFFF"/>
                </a:solidFill>
              </a:rPr>
              <a:t> </a:t>
            </a:r>
            <a:r>
              <a:rPr dirty="0" sz="2400">
                <a:solidFill>
                  <a:srgbClr val="FFFFFF"/>
                </a:solidFill>
              </a:rPr>
              <a:t>often</a:t>
            </a:r>
            <a:r>
              <a:rPr dirty="0" sz="2400" spc="-55">
                <a:solidFill>
                  <a:srgbClr val="FFFFFF"/>
                </a:solidFill>
              </a:rPr>
              <a:t> </a:t>
            </a:r>
            <a:r>
              <a:rPr dirty="0" sz="2400">
                <a:solidFill>
                  <a:srgbClr val="FFFFFF"/>
                </a:solidFill>
              </a:rPr>
              <a:t>used</a:t>
            </a:r>
            <a:r>
              <a:rPr dirty="0" sz="2400" spc="-60">
                <a:solidFill>
                  <a:srgbClr val="FFFFFF"/>
                </a:solidFill>
              </a:rPr>
              <a:t> </a:t>
            </a:r>
            <a:r>
              <a:rPr dirty="0" sz="2400">
                <a:solidFill>
                  <a:srgbClr val="FFFFFF"/>
                </a:solidFill>
              </a:rPr>
              <a:t>to</a:t>
            </a:r>
            <a:r>
              <a:rPr dirty="0" sz="2400" spc="-70">
                <a:solidFill>
                  <a:srgbClr val="FFFFFF"/>
                </a:solidFill>
              </a:rPr>
              <a:t> </a:t>
            </a:r>
            <a:r>
              <a:rPr dirty="0" sz="2400">
                <a:solidFill>
                  <a:srgbClr val="FFFFFF"/>
                </a:solidFill>
              </a:rPr>
              <a:t>make</a:t>
            </a:r>
            <a:r>
              <a:rPr dirty="0" sz="2400" spc="-75">
                <a:solidFill>
                  <a:srgbClr val="FFFFFF"/>
                </a:solidFill>
              </a:rPr>
              <a:t> </a:t>
            </a:r>
            <a:r>
              <a:rPr dirty="0" sz="2400">
                <a:solidFill>
                  <a:srgbClr val="FFFFFF"/>
                </a:solidFill>
              </a:rPr>
              <a:t>column</a:t>
            </a:r>
            <a:r>
              <a:rPr dirty="0" sz="2400" spc="-60">
                <a:solidFill>
                  <a:srgbClr val="FFFFFF"/>
                </a:solidFill>
              </a:rPr>
              <a:t> </a:t>
            </a:r>
            <a:r>
              <a:rPr dirty="0" sz="2400" spc="-10">
                <a:solidFill>
                  <a:srgbClr val="FFFFFF"/>
                </a:solidFill>
              </a:rPr>
              <a:t>names</a:t>
            </a:r>
            <a:endParaRPr sz="2400"/>
          </a:p>
        </p:txBody>
      </p:sp>
      <p:sp>
        <p:nvSpPr>
          <p:cNvPr id="6" name="object 6" descr=""/>
          <p:cNvSpPr txBox="1"/>
          <p:nvPr/>
        </p:nvSpPr>
        <p:spPr>
          <a:xfrm>
            <a:off x="5055489" y="2030094"/>
            <a:ext cx="6011545" cy="93726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readable.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alias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exists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duration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query.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055489" y="3488258"/>
            <a:ext cx="4609465" cy="2291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column_name</a:t>
            </a:r>
            <a:r>
              <a:rPr dirty="0" sz="24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alias_name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735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table_name;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5"/>
              </a:spcBef>
            </a:pPr>
            <a:endParaRPr sz="2400">
              <a:latin typeface="Calibri"/>
              <a:cs typeface="Calibri"/>
            </a:endParaRPr>
          </a:p>
          <a:p>
            <a:pPr marL="12700" marR="996950">
              <a:lnSpc>
                <a:spcPct val="90000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CustomerID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ID,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CustomerName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Customer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Customers;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0364" y="6497853"/>
            <a:ext cx="123362" cy="8625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883410" y="2709799"/>
            <a:ext cx="2371090" cy="130048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90500" marR="5080" indent="-178435">
              <a:lnSpc>
                <a:spcPts val="4750"/>
              </a:lnSpc>
              <a:spcBef>
                <a:spcPts val="705"/>
              </a:spcBef>
            </a:pPr>
            <a:r>
              <a:rPr dirty="0" sz="4400" spc="-25" b="1">
                <a:solidFill>
                  <a:srgbClr val="FFFFFF"/>
                </a:solidFill>
                <a:latin typeface="Calibri"/>
                <a:cs typeface="Calibri"/>
              </a:rPr>
              <a:t>Aggregate </a:t>
            </a:r>
            <a:r>
              <a:rPr dirty="0" sz="4400" spc="-10" b="1">
                <a:solidFill>
                  <a:srgbClr val="FFFFFF"/>
                </a:solidFill>
                <a:latin typeface="Calibri"/>
                <a:cs typeface="Calibri"/>
              </a:rPr>
              <a:t>functions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54296" y="2057400"/>
            <a:ext cx="0" cy="2743200"/>
          </a:xfrm>
          <a:custGeom>
            <a:avLst/>
            <a:gdLst/>
            <a:ahLst/>
            <a:cxnLst/>
            <a:rect l="l" t="t" r="r" b="b"/>
            <a:pathLst>
              <a:path w="0"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142357" y="625855"/>
            <a:ext cx="5770245" cy="137922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382905" marR="5080" indent="-370840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382905" algn="l"/>
                <a:tab pos="2294255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Functions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	act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are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called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dirty="0" sz="24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Functions</a:t>
            </a:r>
            <a:r>
              <a:rPr dirty="0" sz="2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24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Calibri"/>
                <a:cs typeface="Calibri"/>
              </a:rPr>
              <a:t>Aggregate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functions.</a:t>
            </a:r>
            <a:r>
              <a:rPr dirty="0" sz="2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returns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single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result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row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queried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rows.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142357" y="2436622"/>
            <a:ext cx="5372735" cy="2762885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382905" indent="-37020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382905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They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follows:</a:t>
            </a:r>
            <a:endParaRPr sz="2400">
              <a:latin typeface="Calibri"/>
              <a:cs typeface="Calibri"/>
            </a:endParaRPr>
          </a:p>
          <a:p>
            <a:pPr marL="382905" indent="-370205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382905" algn="l"/>
              </a:tabLst>
            </a:pPr>
            <a:r>
              <a:rPr dirty="0" sz="2400" spc="-20" b="1">
                <a:solidFill>
                  <a:srgbClr val="FFFFFF"/>
                </a:solidFill>
                <a:latin typeface="Calibri"/>
                <a:cs typeface="Calibri"/>
              </a:rPr>
              <a:t>AVG()</a:t>
            </a:r>
            <a:r>
              <a:rPr dirty="0" sz="240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2400" spc="-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Returns</a:t>
            </a:r>
            <a:r>
              <a:rPr dirty="0" sz="240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FFFFFF"/>
                </a:solidFill>
                <a:latin typeface="Calibri"/>
                <a:cs typeface="Calibri"/>
              </a:rPr>
              <a:t>average</a:t>
            </a:r>
            <a:r>
              <a:rPr dirty="0" sz="2400" spc="-8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Calibri"/>
                <a:cs typeface="Calibri"/>
              </a:rPr>
              <a:t>value.</a:t>
            </a:r>
            <a:endParaRPr sz="2400">
              <a:latin typeface="Calibri"/>
              <a:cs typeface="Calibri"/>
            </a:endParaRPr>
          </a:p>
          <a:p>
            <a:pPr marL="382905" indent="-37020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82905" algn="l"/>
              </a:tabLst>
            </a:pP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MAX()</a:t>
            </a:r>
            <a:r>
              <a:rPr dirty="0" sz="24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2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Returns</a:t>
            </a:r>
            <a:r>
              <a:rPr dirty="0" sz="2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Calibri"/>
                <a:cs typeface="Calibri"/>
              </a:rPr>
              <a:t>largest</a:t>
            </a:r>
            <a:r>
              <a:rPr dirty="0" sz="24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Calibri"/>
                <a:cs typeface="Calibri"/>
              </a:rPr>
              <a:t>value.</a:t>
            </a:r>
            <a:endParaRPr sz="2400">
              <a:latin typeface="Calibri"/>
              <a:cs typeface="Calibri"/>
            </a:endParaRPr>
          </a:p>
          <a:p>
            <a:pPr marL="382905" indent="-370205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382905" algn="l"/>
              </a:tabLst>
            </a:pP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MIN()</a:t>
            </a:r>
            <a:r>
              <a:rPr dirty="0" sz="240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24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Returns</a:t>
            </a:r>
            <a:r>
              <a:rPr dirty="0" sz="24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smallest</a:t>
            </a:r>
            <a:r>
              <a:rPr dirty="0" sz="24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Calibri"/>
                <a:cs typeface="Calibri"/>
              </a:rPr>
              <a:t>value.</a:t>
            </a:r>
            <a:endParaRPr sz="2400">
              <a:latin typeface="Calibri"/>
              <a:cs typeface="Calibri"/>
            </a:endParaRPr>
          </a:p>
          <a:p>
            <a:pPr marL="382905" indent="-370205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382905" algn="l"/>
              </a:tabLst>
            </a:pP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SUM()</a:t>
            </a:r>
            <a:r>
              <a:rPr dirty="0" sz="24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24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Returns</a:t>
            </a:r>
            <a:r>
              <a:rPr dirty="0" sz="2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FFFFFF"/>
                </a:solidFill>
                <a:latin typeface="Calibri"/>
                <a:cs typeface="Calibri"/>
              </a:rPr>
              <a:t>sum.</a:t>
            </a:r>
            <a:endParaRPr sz="2400">
              <a:latin typeface="Calibri"/>
              <a:cs typeface="Calibri"/>
            </a:endParaRPr>
          </a:p>
          <a:p>
            <a:pPr marL="382905" indent="-37020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82905" algn="l"/>
              </a:tabLst>
            </a:pP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COUNT()</a:t>
            </a:r>
            <a:r>
              <a:rPr dirty="0" sz="2400" spc="-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2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Returns</a:t>
            </a:r>
            <a:r>
              <a:rPr dirty="0" sz="2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dirty="0" sz="2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Calibri"/>
                <a:cs typeface="Calibri"/>
              </a:rPr>
              <a:t>rows.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0364" y="6496354"/>
            <a:ext cx="124251" cy="87757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2701" rIns="0" bIns="0" rtlCol="0" vert="horz">
            <a:spAutoFit/>
          </a:bodyPr>
          <a:lstStyle/>
          <a:p>
            <a:pPr marL="317500">
              <a:lnSpc>
                <a:spcPct val="100000"/>
              </a:lnSpc>
              <a:spcBef>
                <a:spcPts val="105"/>
              </a:spcBef>
            </a:pP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Aggregate</a:t>
            </a:r>
            <a:r>
              <a:rPr dirty="0" spc="-1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functions</a:t>
            </a:r>
            <a:r>
              <a:rPr dirty="0" spc="-1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FFFFFF"/>
                </a:solidFill>
                <a:latin typeface="Calibri"/>
                <a:cs typeface="Calibri"/>
              </a:rPr>
              <a:t>examples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62762" y="826769"/>
            <a:ext cx="0" cy="914400"/>
          </a:xfrm>
          <a:custGeom>
            <a:avLst/>
            <a:gdLst/>
            <a:ahLst/>
            <a:cxnLst/>
            <a:rect l="l" t="t" r="r" b="b"/>
            <a:pathLst>
              <a:path w="0"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22096" y="2036445"/>
            <a:ext cx="21971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936750" y="1941042"/>
            <a:ext cx="6685915" cy="40392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764790">
              <a:lnSpc>
                <a:spcPct val="131700"/>
              </a:lnSpc>
              <a:spcBef>
                <a:spcPts val="95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Display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minimum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salary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employee. Syntax:</a:t>
            </a:r>
            <a:r>
              <a:rPr dirty="0" sz="20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min(sal)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Empl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Display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maximum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salary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employee. Syntax:</a:t>
            </a:r>
            <a:r>
              <a:rPr dirty="0" sz="20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max(sal)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0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Empl</a:t>
            </a:r>
            <a:endParaRPr sz="2000">
              <a:latin typeface="Calibri"/>
              <a:cs typeface="Calibri"/>
            </a:endParaRPr>
          </a:p>
          <a:p>
            <a:pPr marL="12700" marR="290830">
              <a:lnSpc>
                <a:spcPts val="3170"/>
              </a:lnSpc>
              <a:spcBef>
                <a:spcPts val="219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Display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average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salary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employee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who</a:t>
            </a:r>
            <a:r>
              <a:rPr dirty="0" sz="20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working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Analyst. Syntax: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avg(sal)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Empl</a:t>
            </a:r>
            <a:r>
              <a:rPr dirty="0" sz="20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job='Analyst'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Calculates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sum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salary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salary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greater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than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equal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to10000.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Syntax: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sum(sal)</a:t>
            </a:r>
            <a:r>
              <a:rPr dirty="0" sz="20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Empl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000" spc="3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salary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&gt;=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10000</a:t>
            </a:r>
            <a:endParaRPr sz="2000">
              <a:latin typeface="Calibri"/>
              <a:cs typeface="Calibri"/>
            </a:endParaRPr>
          </a:p>
          <a:p>
            <a:pPr marL="12700" marR="794385">
              <a:lnSpc>
                <a:spcPct val="131500"/>
              </a:lnSpc>
              <a:spcBef>
                <a:spcPts val="15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Display</a:t>
            </a:r>
            <a:r>
              <a:rPr dirty="0" sz="20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employees</a:t>
            </a:r>
            <a:r>
              <a:rPr dirty="0" sz="20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Employee</a:t>
            </a:r>
            <a:r>
              <a:rPr dirty="0" sz="20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table. Syntax: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count(empno)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Empl;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22096" y="2839593"/>
            <a:ext cx="21971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2.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22096" y="3641597"/>
            <a:ext cx="2197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3.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22096" y="4444441"/>
            <a:ext cx="21971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4.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22096" y="5248147"/>
            <a:ext cx="2197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5.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2096" y="891286"/>
            <a:ext cx="7322184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 b="1">
                <a:solidFill>
                  <a:srgbClr val="FFFFFF"/>
                </a:solidFill>
                <a:latin typeface="Calibri"/>
                <a:cs typeface="Calibri"/>
              </a:rPr>
              <a:t>Pattern</a:t>
            </a:r>
            <a:r>
              <a:rPr dirty="0" spc="-2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matching(like</a:t>
            </a:r>
            <a:r>
              <a:rPr dirty="0" spc="-2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FFFFFF"/>
                </a:solidFill>
                <a:latin typeface="Calibri"/>
                <a:cs typeface="Calibri"/>
              </a:rPr>
              <a:t>operator)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62762" y="826769"/>
            <a:ext cx="0" cy="914400"/>
          </a:xfrm>
          <a:custGeom>
            <a:avLst/>
            <a:gdLst/>
            <a:ahLst/>
            <a:cxnLst/>
            <a:rect l="l" t="t" r="r" b="b"/>
            <a:pathLst>
              <a:path w="0"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414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The</a:t>
            </a:r>
            <a:r>
              <a:rPr dirty="0" spc="-30"/>
              <a:t> </a:t>
            </a:r>
            <a:r>
              <a:rPr dirty="0"/>
              <a:t>SQL</a:t>
            </a:r>
            <a:r>
              <a:rPr dirty="0" spc="-50"/>
              <a:t> </a:t>
            </a:r>
            <a:r>
              <a:rPr dirty="0"/>
              <a:t>LIKE</a:t>
            </a:r>
            <a:r>
              <a:rPr dirty="0" spc="-40"/>
              <a:t> </a:t>
            </a:r>
            <a:r>
              <a:rPr dirty="0" spc="-10"/>
              <a:t>Operator</a:t>
            </a:r>
          </a:p>
          <a:p>
            <a:pPr marL="240029" marR="5080" indent="-227329">
              <a:lnSpc>
                <a:spcPts val="259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dirty="0" spc="-45"/>
              <a:t> </a:t>
            </a:r>
            <a:r>
              <a:rPr dirty="0"/>
              <a:t>LIKE</a:t>
            </a:r>
            <a:r>
              <a:rPr dirty="0" spc="-45"/>
              <a:t> </a:t>
            </a:r>
            <a:r>
              <a:rPr dirty="0" spc="-10"/>
              <a:t>operator</a:t>
            </a:r>
            <a:r>
              <a:rPr dirty="0" spc="-45"/>
              <a:t> </a:t>
            </a:r>
            <a:r>
              <a:rPr dirty="0"/>
              <a:t>is</a:t>
            </a:r>
            <a:r>
              <a:rPr dirty="0" spc="-55"/>
              <a:t> </a:t>
            </a:r>
            <a:r>
              <a:rPr dirty="0"/>
              <a:t>used</a:t>
            </a:r>
            <a:r>
              <a:rPr dirty="0" spc="-50"/>
              <a:t> </a:t>
            </a:r>
            <a:r>
              <a:rPr dirty="0"/>
              <a:t>in</a:t>
            </a:r>
            <a:r>
              <a:rPr dirty="0" spc="-50"/>
              <a:t> </a:t>
            </a:r>
            <a:r>
              <a:rPr dirty="0"/>
              <a:t>a</a:t>
            </a:r>
            <a:r>
              <a:rPr dirty="0" spc="-65"/>
              <a:t> </a:t>
            </a:r>
            <a:r>
              <a:rPr dirty="0"/>
              <a:t>WHERE</a:t>
            </a:r>
            <a:r>
              <a:rPr dirty="0" spc="-50"/>
              <a:t> </a:t>
            </a:r>
            <a:r>
              <a:rPr dirty="0"/>
              <a:t>clause</a:t>
            </a:r>
            <a:r>
              <a:rPr dirty="0" spc="-45"/>
              <a:t> </a:t>
            </a:r>
            <a:r>
              <a:rPr dirty="0"/>
              <a:t>to</a:t>
            </a:r>
            <a:r>
              <a:rPr dirty="0" spc="-70"/>
              <a:t> </a:t>
            </a:r>
            <a:r>
              <a:rPr dirty="0"/>
              <a:t>search</a:t>
            </a:r>
            <a:r>
              <a:rPr dirty="0" spc="-60"/>
              <a:t> </a:t>
            </a:r>
            <a:r>
              <a:rPr dirty="0"/>
              <a:t>for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55"/>
              <a:t> </a:t>
            </a:r>
            <a:r>
              <a:rPr dirty="0"/>
              <a:t>specified</a:t>
            </a:r>
            <a:r>
              <a:rPr dirty="0" spc="-50"/>
              <a:t> </a:t>
            </a:r>
            <a:r>
              <a:rPr dirty="0" spc="-10"/>
              <a:t>pattern</a:t>
            </a:r>
            <a:r>
              <a:rPr dirty="0" spc="-65"/>
              <a:t> </a:t>
            </a:r>
            <a:r>
              <a:rPr dirty="0"/>
              <a:t>in</a:t>
            </a:r>
            <a:r>
              <a:rPr dirty="0" spc="-50"/>
              <a:t> a </a:t>
            </a:r>
            <a:r>
              <a:rPr dirty="0" spc="-50"/>
              <a:t>	</a:t>
            </a:r>
            <a:r>
              <a:rPr dirty="0" spc="-10"/>
              <a:t>column.</a:t>
            </a: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There</a:t>
            </a:r>
            <a:r>
              <a:rPr dirty="0" spc="-50"/>
              <a:t> </a:t>
            </a:r>
            <a:r>
              <a:rPr dirty="0"/>
              <a:t>are</a:t>
            </a:r>
            <a:r>
              <a:rPr dirty="0" spc="-55"/>
              <a:t> </a:t>
            </a:r>
            <a:r>
              <a:rPr dirty="0"/>
              <a:t>two</a:t>
            </a:r>
            <a:r>
              <a:rPr dirty="0" spc="-75"/>
              <a:t> </a:t>
            </a:r>
            <a:r>
              <a:rPr dirty="0"/>
              <a:t>wildcards</a:t>
            </a:r>
            <a:r>
              <a:rPr dirty="0" spc="-60"/>
              <a:t> </a:t>
            </a:r>
            <a:r>
              <a:rPr dirty="0"/>
              <a:t>used</a:t>
            </a:r>
            <a:r>
              <a:rPr dirty="0" spc="-60"/>
              <a:t> </a:t>
            </a:r>
            <a:r>
              <a:rPr dirty="0"/>
              <a:t>in</a:t>
            </a:r>
            <a:r>
              <a:rPr dirty="0" spc="-60"/>
              <a:t> </a:t>
            </a:r>
            <a:r>
              <a:rPr dirty="0"/>
              <a:t>conjunction</a:t>
            </a:r>
            <a:r>
              <a:rPr dirty="0" spc="-70"/>
              <a:t> </a:t>
            </a:r>
            <a:r>
              <a:rPr dirty="0"/>
              <a:t>with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/>
              <a:t>LIKE</a:t>
            </a:r>
            <a:r>
              <a:rPr dirty="0" spc="-50"/>
              <a:t> </a:t>
            </a:r>
            <a:r>
              <a:rPr dirty="0" spc="-10"/>
              <a:t>operator:</a:t>
            </a: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%</a:t>
            </a:r>
            <a:r>
              <a:rPr dirty="0" spc="-60"/>
              <a:t> </a:t>
            </a:r>
            <a:r>
              <a:rPr dirty="0"/>
              <a:t>-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percent</a:t>
            </a:r>
            <a:r>
              <a:rPr dirty="0" spc="-55"/>
              <a:t> </a:t>
            </a:r>
            <a:r>
              <a:rPr dirty="0"/>
              <a:t>sign</a:t>
            </a:r>
            <a:r>
              <a:rPr dirty="0" spc="-50"/>
              <a:t> </a:t>
            </a:r>
            <a:r>
              <a:rPr dirty="0" spc="-10"/>
              <a:t>represents</a:t>
            </a:r>
            <a:r>
              <a:rPr dirty="0" spc="-45"/>
              <a:t> </a:t>
            </a:r>
            <a:r>
              <a:rPr dirty="0" spc="-20"/>
              <a:t>zero,</a:t>
            </a:r>
            <a:r>
              <a:rPr dirty="0" spc="-40"/>
              <a:t> </a:t>
            </a:r>
            <a:r>
              <a:rPr dirty="0"/>
              <a:t>one,</a:t>
            </a:r>
            <a:r>
              <a:rPr dirty="0" spc="-40"/>
              <a:t> </a:t>
            </a:r>
            <a:r>
              <a:rPr dirty="0"/>
              <a:t>or</a:t>
            </a:r>
            <a:r>
              <a:rPr dirty="0" spc="-40"/>
              <a:t> </a:t>
            </a:r>
            <a:r>
              <a:rPr dirty="0"/>
              <a:t>multiple</a:t>
            </a:r>
            <a:r>
              <a:rPr dirty="0" spc="-55"/>
              <a:t> </a:t>
            </a:r>
            <a:r>
              <a:rPr dirty="0" spc="-10"/>
              <a:t>characters</a:t>
            </a: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_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 spc="-10"/>
              <a:t>underscore</a:t>
            </a:r>
            <a:r>
              <a:rPr dirty="0" spc="-30"/>
              <a:t> </a:t>
            </a:r>
            <a:r>
              <a:rPr dirty="0" spc="-10"/>
              <a:t>represents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/>
              <a:t>single</a:t>
            </a:r>
            <a:r>
              <a:rPr dirty="0" spc="-30"/>
              <a:t> </a:t>
            </a:r>
            <a:r>
              <a:rPr dirty="0" spc="-10"/>
              <a:t>character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0284" y="6485242"/>
            <a:ext cx="167767" cy="11511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2286000"/>
            <a:chOff x="0" y="0"/>
            <a:chExt cx="12192000" cy="2286000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12192000" cy="2286000"/>
            </a:xfrm>
            <a:custGeom>
              <a:avLst/>
              <a:gdLst/>
              <a:ahLst/>
              <a:cxnLst/>
              <a:rect l="l" t="t" r="r" b="b"/>
              <a:pathLst>
                <a:path w="12192000" h="2286000">
                  <a:moveTo>
                    <a:pt x="12192000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12192000" y="22860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639817" y="686562"/>
              <a:ext cx="0" cy="914400"/>
            </a:xfrm>
            <a:custGeom>
              <a:avLst/>
              <a:gdLst/>
              <a:ahLst/>
              <a:cxnLst/>
              <a:rect l="l" t="t" r="r" b="b"/>
              <a:pathLst>
                <a:path w="0" h="914400">
                  <a:moveTo>
                    <a:pt x="0" y="91440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58334" y="724915"/>
            <a:ext cx="4046854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 b="1">
                <a:solidFill>
                  <a:srgbClr val="FFFFFF"/>
                </a:solidFill>
                <a:latin typeface="Calibri"/>
                <a:cs typeface="Calibri"/>
              </a:rPr>
              <a:t>Pattern</a:t>
            </a:r>
            <a:r>
              <a:rPr dirty="0" spc="-19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FFFFFF"/>
                </a:solidFill>
                <a:latin typeface="Calibri"/>
                <a:cs typeface="Calibri"/>
              </a:rPr>
              <a:t>Matching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1107546" y="6477609"/>
            <a:ext cx="155575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25" b="1">
                <a:solidFill>
                  <a:srgbClr val="888888"/>
                </a:solidFill>
                <a:latin typeface="Calibri"/>
                <a:cs typeface="Calibri"/>
              </a:rPr>
              <a:t>55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5620765" y="6153568"/>
            <a:ext cx="6435725" cy="568325"/>
          </a:xfrm>
          <a:custGeom>
            <a:avLst/>
            <a:gdLst/>
            <a:ahLst/>
            <a:cxnLst/>
            <a:rect l="l" t="t" r="r" b="b"/>
            <a:pathLst>
              <a:path w="6435725" h="568325">
                <a:moveTo>
                  <a:pt x="6435217" y="0"/>
                </a:moveTo>
                <a:lnTo>
                  <a:pt x="0" y="0"/>
                </a:lnTo>
                <a:lnTo>
                  <a:pt x="0" y="567905"/>
                </a:lnTo>
                <a:lnTo>
                  <a:pt x="6435217" y="567905"/>
                </a:lnTo>
                <a:lnTo>
                  <a:pt x="64352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515747" y="2400871"/>
          <a:ext cx="11621770" cy="4314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00320"/>
                <a:gridCol w="6435089"/>
              </a:tblGrid>
              <a:tr h="567690"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600">
                          <a:latin typeface="Calibri"/>
                          <a:cs typeface="Calibri"/>
                        </a:rPr>
                        <a:t>LIKE</a:t>
                      </a:r>
                      <a:r>
                        <a:rPr dirty="0" sz="16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Operator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055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600" spc="-10">
                          <a:latin typeface="Calibri"/>
                          <a:cs typeface="Calibri"/>
                        </a:rPr>
                        <a:t>Description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055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567690"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600">
                          <a:latin typeface="Calibri"/>
                          <a:cs typeface="Calibri"/>
                        </a:rPr>
                        <a:t>WHERE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 CustomerName</a:t>
                      </a:r>
                      <a:r>
                        <a:rPr dirty="0" sz="16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LIKE</a:t>
                      </a:r>
                      <a:r>
                        <a:rPr dirty="0" sz="16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latin typeface="Calibri"/>
                          <a:cs typeface="Calibri"/>
                        </a:rPr>
                        <a:t>'a%'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055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600">
                          <a:latin typeface="Calibri"/>
                          <a:cs typeface="Calibri"/>
                        </a:rPr>
                        <a:t>Finds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any</a:t>
                      </a:r>
                      <a:r>
                        <a:rPr dirty="0" sz="16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values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16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start</a:t>
                      </a:r>
                      <a:r>
                        <a:rPr dirty="0" sz="16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5">
                          <a:latin typeface="Calibri"/>
                          <a:cs typeface="Calibri"/>
                        </a:rPr>
                        <a:t>"a"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055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567690"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600">
                          <a:latin typeface="Calibri"/>
                          <a:cs typeface="Calibri"/>
                        </a:rPr>
                        <a:t>WHERE</a:t>
                      </a:r>
                      <a:r>
                        <a:rPr dirty="0" sz="16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CustomerName</a:t>
                      </a:r>
                      <a:r>
                        <a:rPr dirty="0" sz="16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LIKE</a:t>
                      </a:r>
                      <a:r>
                        <a:rPr dirty="0" sz="16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latin typeface="Calibri"/>
                          <a:cs typeface="Calibri"/>
                        </a:rPr>
                        <a:t>'%a'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055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600">
                          <a:latin typeface="Calibri"/>
                          <a:cs typeface="Calibri"/>
                        </a:rPr>
                        <a:t>Finds</a:t>
                      </a:r>
                      <a:r>
                        <a:rPr dirty="0" sz="16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any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values</a:t>
                      </a:r>
                      <a:r>
                        <a:rPr dirty="0" sz="16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16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end</a:t>
                      </a:r>
                      <a:r>
                        <a:rPr dirty="0" sz="16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6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5">
                          <a:latin typeface="Calibri"/>
                          <a:cs typeface="Calibri"/>
                        </a:rPr>
                        <a:t>"a"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055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567690"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600">
                          <a:latin typeface="Calibri"/>
                          <a:cs typeface="Calibri"/>
                        </a:rPr>
                        <a:t>WHERE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 CustomerName</a:t>
                      </a:r>
                      <a:r>
                        <a:rPr dirty="0" sz="16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LIKE</a:t>
                      </a:r>
                      <a:r>
                        <a:rPr dirty="0" sz="16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'%or%'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055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600">
                          <a:latin typeface="Calibri"/>
                          <a:cs typeface="Calibri"/>
                        </a:rPr>
                        <a:t>Finds</a:t>
                      </a:r>
                      <a:r>
                        <a:rPr dirty="0" sz="16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any</a:t>
                      </a:r>
                      <a:r>
                        <a:rPr dirty="0" sz="16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values</a:t>
                      </a:r>
                      <a:r>
                        <a:rPr dirty="0" sz="16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16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have</a:t>
                      </a:r>
                      <a:r>
                        <a:rPr dirty="0" sz="16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"or"</a:t>
                      </a:r>
                      <a:r>
                        <a:rPr dirty="0" sz="16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any</a:t>
                      </a:r>
                      <a:r>
                        <a:rPr dirty="0" sz="16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position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055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567690"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600">
                          <a:latin typeface="Calibri"/>
                          <a:cs typeface="Calibri"/>
                        </a:rPr>
                        <a:t>WHERE</a:t>
                      </a:r>
                      <a:r>
                        <a:rPr dirty="0" sz="16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CustomerName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LIKE</a:t>
                      </a:r>
                      <a:r>
                        <a:rPr dirty="0" sz="16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latin typeface="Calibri"/>
                          <a:cs typeface="Calibri"/>
                        </a:rPr>
                        <a:t>'_r%'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69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600">
                          <a:latin typeface="Calibri"/>
                          <a:cs typeface="Calibri"/>
                        </a:rPr>
                        <a:t>Finds</a:t>
                      </a:r>
                      <a:r>
                        <a:rPr dirty="0" sz="16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any</a:t>
                      </a:r>
                      <a:r>
                        <a:rPr dirty="0" sz="16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values</a:t>
                      </a:r>
                      <a:r>
                        <a:rPr dirty="0" sz="16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16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have</a:t>
                      </a:r>
                      <a:r>
                        <a:rPr dirty="0" sz="16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"r"</a:t>
                      </a:r>
                      <a:r>
                        <a:rPr dirty="0" sz="16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6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6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second</a:t>
                      </a:r>
                      <a:r>
                        <a:rPr dirty="0" sz="16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position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69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908050"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600">
                          <a:latin typeface="Calibri"/>
                          <a:cs typeface="Calibri"/>
                        </a:rPr>
                        <a:t>WHERE</a:t>
                      </a:r>
                      <a:r>
                        <a:rPr dirty="0" sz="16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CustomerName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LIKE</a:t>
                      </a:r>
                      <a:r>
                        <a:rPr dirty="0" sz="16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'a_%_%'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69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600">
                          <a:latin typeface="Calibri"/>
                          <a:cs typeface="Calibri"/>
                        </a:rPr>
                        <a:t>Finds</a:t>
                      </a:r>
                      <a:r>
                        <a:rPr dirty="0" sz="16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any</a:t>
                      </a:r>
                      <a:r>
                        <a:rPr dirty="0" sz="16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values</a:t>
                      </a:r>
                      <a:r>
                        <a:rPr dirty="0" sz="16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start</a:t>
                      </a:r>
                      <a:r>
                        <a:rPr dirty="0" sz="16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6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"a"</a:t>
                      </a:r>
                      <a:r>
                        <a:rPr dirty="0" sz="16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6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are</a:t>
                      </a:r>
                      <a:r>
                        <a:rPr dirty="0" sz="16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at</a:t>
                      </a:r>
                      <a:r>
                        <a:rPr dirty="0" sz="16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least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16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characters</a:t>
                      </a:r>
                      <a:r>
                        <a:rPr dirty="0" sz="16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6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length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69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567690"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600">
                          <a:latin typeface="Calibri"/>
                          <a:cs typeface="Calibri"/>
                        </a:rPr>
                        <a:t>WHERE</a:t>
                      </a:r>
                      <a:r>
                        <a:rPr dirty="0" sz="16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ContactName</a:t>
                      </a:r>
                      <a:r>
                        <a:rPr dirty="0" sz="16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LIKE</a:t>
                      </a:r>
                      <a:r>
                        <a:rPr dirty="0" sz="16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'a%o'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69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600">
                          <a:latin typeface="Calibri"/>
                          <a:cs typeface="Calibri"/>
                        </a:rPr>
                        <a:t>Finds</a:t>
                      </a:r>
                      <a:r>
                        <a:rPr dirty="0" sz="16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any</a:t>
                      </a:r>
                      <a:r>
                        <a:rPr dirty="0" sz="16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values</a:t>
                      </a:r>
                      <a:r>
                        <a:rPr dirty="0" sz="16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start</a:t>
                      </a:r>
                      <a:r>
                        <a:rPr dirty="0" sz="16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6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"a"</a:t>
                      </a:r>
                      <a:r>
                        <a:rPr dirty="0" sz="16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6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ends</a:t>
                      </a:r>
                      <a:r>
                        <a:rPr dirty="0" sz="16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6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5">
                          <a:latin typeface="Calibri"/>
                          <a:cs typeface="Calibri"/>
                        </a:rPr>
                        <a:t>"o"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69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2096" y="891286"/>
            <a:ext cx="183197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 b="1">
                <a:solidFill>
                  <a:srgbClr val="FFFFFF"/>
                </a:solidFill>
                <a:latin typeface="Calibri"/>
                <a:cs typeface="Calibri"/>
              </a:rPr>
              <a:t>Queries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62762" y="826769"/>
            <a:ext cx="0" cy="914400"/>
          </a:xfrm>
          <a:custGeom>
            <a:avLst/>
            <a:gdLst/>
            <a:ahLst/>
            <a:cxnLst/>
            <a:rect l="l" t="t" r="r" b="b"/>
            <a:pathLst>
              <a:path w="0"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22096" y="1941042"/>
            <a:ext cx="7975600" cy="4058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337945" indent="248920">
              <a:lnSpc>
                <a:spcPct val="131500"/>
              </a:lnSpc>
              <a:spcBef>
                <a:spcPts val="100"/>
              </a:spcBef>
              <a:buAutoNum type="arabicPeriod"/>
              <a:tabLst>
                <a:tab pos="261620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selects</a:t>
            </a:r>
            <a:r>
              <a:rPr dirty="0" sz="2000" spc="3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CustomerName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starting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"a":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CustomerName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'a%’;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2000">
              <a:latin typeface="Calibri"/>
              <a:cs typeface="Calibri"/>
            </a:endParaRPr>
          </a:p>
          <a:p>
            <a:pPr marL="12700" marR="1476375" indent="248920">
              <a:lnSpc>
                <a:spcPct val="131500"/>
              </a:lnSpc>
              <a:buAutoNum type="arabicPeriod" startAt="2"/>
              <a:tabLst>
                <a:tab pos="261620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selects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CustomerName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ending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"a":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CustomerName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'%a’;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2000">
              <a:latin typeface="Calibri"/>
              <a:cs typeface="Calibri"/>
            </a:endParaRPr>
          </a:p>
          <a:p>
            <a:pPr marL="12700" marR="5080" indent="304800">
              <a:lnSpc>
                <a:spcPct val="131500"/>
              </a:lnSpc>
              <a:buAutoNum type="arabicPeriod" startAt="3"/>
              <a:tabLst>
                <a:tab pos="317500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selects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CustomerName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"or"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position: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CustomerName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'%or%';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0284" y="6483896"/>
            <a:ext cx="165989" cy="116459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2096" y="766952"/>
            <a:ext cx="569023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pc="-8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Wildcard</a:t>
            </a:r>
            <a:r>
              <a:rPr dirty="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FFFFFF"/>
                </a:solidFill>
                <a:latin typeface="Calibri"/>
                <a:cs typeface="Calibri"/>
              </a:rPr>
              <a:t>Characters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62762" y="826769"/>
            <a:ext cx="0" cy="914400"/>
          </a:xfrm>
          <a:custGeom>
            <a:avLst/>
            <a:gdLst/>
            <a:ahLst/>
            <a:cxnLst/>
            <a:rect l="l" t="t" r="r" b="b"/>
            <a:pathLst>
              <a:path w="0"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41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dirty="0"/>
              <a:t>A</a:t>
            </a:r>
            <a:r>
              <a:rPr dirty="0" spc="-65"/>
              <a:t> </a:t>
            </a:r>
            <a:r>
              <a:rPr dirty="0"/>
              <a:t>wildcard</a:t>
            </a:r>
            <a:r>
              <a:rPr dirty="0" spc="-55"/>
              <a:t> </a:t>
            </a:r>
            <a:r>
              <a:rPr dirty="0"/>
              <a:t>character</a:t>
            </a:r>
            <a:r>
              <a:rPr dirty="0" spc="-80"/>
              <a:t> </a:t>
            </a:r>
            <a:r>
              <a:rPr dirty="0"/>
              <a:t>is</a:t>
            </a:r>
            <a:r>
              <a:rPr dirty="0" spc="-55"/>
              <a:t> </a:t>
            </a:r>
            <a:r>
              <a:rPr dirty="0"/>
              <a:t>used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60"/>
              <a:t> </a:t>
            </a:r>
            <a:r>
              <a:rPr dirty="0" spc="-10"/>
              <a:t>substitute</a:t>
            </a:r>
            <a:r>
              <a:rPr dirty="0" spc="-55"/>
              <a:t> </a:t>
            </a:r>
            <a:r>
              <a:rPr dirty="0"/>
              <a:t>any</a:t>
            </a:r>
            <a:r>
              <a:rPr dirty="0" spc="-50"/>
              <a:t> </a:t>
            </a:r>
            <a:r>
              <a:rPr dirty="0"/>
              <a:t>other</a:t>
            </a:r>
            <a:r>
              <a:rPr dirty="0" spc="-60"/>
              <a:t> </a:t>
            </a:r>
            <a:r>
              <a:rPr dirty="0"/>
              <a:t>character(s)</a:t>
            </a:r>
            <a:r>
              <a:rPr dirty="0" spc="-80"/>
              <a:t> </a:t>
            </a:r>
            <a:r>
              <a:rPr dirty="0"/>
              <a:t>in</a:t>
            </a:r>
            <a:r>
              <a:rPr dirty="0" spc="-55"/>
              <a:t> </a:t>
            </a:r>
            <a:r>
              <a:rPr dirty="0"/>
              <a:t>a</a:t>
            </a:r>
            <a:r>
              <a:rPr dirty="0" spc="-60"/>
              <a:t> </a:t>
            </a:r>
            <a:r>
              <a:rPr dirty="0" spc="-10"/>
              <a:t>string.</a:t>
            </a:r>
          </a:p>
          <a:p>
            <a:pPr marL="12700" marR="5080">
              <a:lnSpc>
                <a:spcPts val="2590"/>
              </a:lnSpc>
              <a:spcBef>
                <a:spcPts val="1045"/>
              </a:spcBef>
            </a:pPr>
            <a:r>
              <a:rPr dirty="0"/>
              <a:t>Wildcard</a:t>
            </a:r>
            <a:r>
              <a:rPr dirty="0" spc="-55"/>
              <a:t> </a:t>
            </a:r>
            <a:r>
              <a:rPr dirty="0" spc="-10"/>
              <a:t>characters</a:t>
            </a:r>
            <a:r>
              <a:rPr dirty="0" spc="-85"/>
              <a:t> </a:t>
            </a:r>
            <a:r>
              <a:rPr dirty="0"/>
              <a:t>are</a:t>
            </a:r>
            <a:r>
              <a:rPr dirty="0" spc="-45"/>
              <a:t> </a:t>
            </a:r>
            <a:r>
              <a:rPr dirty="0"/>
              <a:t>used</a:t>
            </a:r>
            <a:r>
              <a:rPr dirty="0" spc="-55"/>
              <a:t> </a:t>
            </a:r>
            <a:r>
              <a:rPr dirty="0"/>
              <a:t>with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/>
              <a:t>SQL</a:t>
            </a:r>
            <a:r>
              <a:rPr dirty="0" spc="-65"/>
              <a:t> </a:t>
            </a:r>
            <a:r>
              <a:rPr dirty="0"/>
              <a:t>LIKE</a:t>
            </a:r>
            <a:r>
              <a:rPr dirty="0" spc="-50"/>
              <a:t> </a:t>
            </a:r>
            <a:r>
              <a:rPr dirty="0" spc="-35"/>
              <a:t>operator.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/>
              <a:t>LIKE</a:t>
            </a:r>
            <a:r>
              <a:rPr dirty="0" spc="-50"/>
              <a:t> </a:t>
            </a:r>
            <a:r>
              <a:rPr dirty="0" spc="-10"/>
              <a:t>operator</a:t>
            </a:r>
            <a:r>
              <a:rPr dirty="0" spc="-65"/>
              <a:t> </a:t>
            </a:r>
            <a:r>
              <a:rPr dirty="0"/>
              <a:t>is</a:t>
            </a:r>
            <a:r>
              <a:rPr dirty="0" spc="-50"/>
              <a:t> </a:t>
            </a:r>
            <a:r>
              <a:rPr dirty="0" spc="-20"/>
              <a:t>used </a:t>
            </a:r>
            <a:r>
              <a:rPr dirty="0"/>
              <a:t>in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55"/>
              <a:t> </a:t>
            </a:r>
            <a:r>
              <a:rPr dirty="0"/>
              <a:t>WHERE</a:t>
            </a:r>
            <a:r>
              <a:rPr dirty="0" spc="-40"/>
              <a:t> </a:t>
            </a:r>
            <a:r>
              <a:rPr dirty="0"/>
              <a:t>clause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60"/>
              <a:t> </a:t>
            </a:r>
            <a:r>
              <a:rPr dirty="0"/>
              <a:t>search</a:t>
            </a:r>
            <a:r>
              <a:rPr dirty="0" spc="-40"/>
              <a:t> </a:t>
            </a:r>
            <a:r>
              <a:rPr dirty="0"/>
              <a:t>for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50"/>
              <a:t> </a:t>
            </a:r>
            <a:r>
              <a:rPr dirty="0"/>
              <a:t>specified</a:t>
            </a:r>
            <a:r>
              <a:rPr dirty="0" spc="-45"/>
              <a:t> </a:t>
            </a:r>
            <a:r>
              <a:rPr dirty="0" spc="-10"/>
              <a:t>pattern</a:t>
            </a:r>
            <a:r>
              <a:rPr dirty="0" spc="-50"/>
              <a:t> </a:t>
            </a:r>
            <a:r>
              <a:rPr dirty="0"/>
              <a:t>in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40"/>
              <a:t> </a:t>
            </a:r>
            <a:r>
              <a:rPr dirty="0" spc="-10"/>
              <a:t>column.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/>
              <a:t>There</a:t>
            </a:r>
            <a:r>
              <a:rPr dirty="0" spc="-50"/>
              <a:t> </a:t>
            </a:r>
            <a:r>
              <a:rPr dirty="0"/>
              <a:t>are</a:t>
            </a:r>
            <a:r>
              <a:rPr dirty="0" spc="-55"/>
              <a:t> </a:t>
            </a:r>
            <a:r>
              <a:rPr dirty="0"/>
              <a:t>two</a:t>
            </a:r>
            <a:r>
              <a:rPr dirty="0" spc="-75"/>
              <a:t> </a:t>
            </a:r>
            <a:r>
              <a:rPr dirty="0"/>
              <a:t>wildcards</a:t>
            </a:r>
            <a:r>
              <a:rPr dirty="0" spc="-60"/>
              <a:t> </a:t>
            </a:r>
            <a:r>
              <a:rPr dirty="0"/>
              <a:t>used</a:t>
            </a:r>
            <a:r>
              <a:rPr dirty="0" spc="-60"/>
              <a:t> </a:t>
            </a:r>
            <a:r>
              <a:rPr dirty="0"/>
              <a:t>in</a:t>
            </a:r>
            <a:r>
              <a:rPr dirty="0" spc="-60"/>
              <a:t> </a:t>
            </a:r>
            <a:r>
              <a:rPr dirty="0"/>
              <a:t>conjunction</a:t>
            </a:r>
            <a:r>
              <a:rPr dirty="0" spc="-70"/>
              <a:t> </a:t>
            </a:r>
            <a:r>
              <a:rPr dirty="0"/>
              <a:t>with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/>
              <a:t>LIKE</a:t>
            </a:r>
            <a:r>
              <a:rPr dirty="0" spc="-50"/>
              <a:t> </a:t>
            </a:r>
            <a:r>
              <a:rPr dirty="0" spc="-10"/>
              <a:t>operator:</a:t>
            </a: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/>
              <a:t>%</a:t>
            </a:r>
            <a:r>
              <a:rPr dirty="0" spc="-5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/>
              <a:t>percent</a:t>
            </a:r>
            <a:r>
              <a:rPr dirty="0" spc="-50"/>
              <a:t> </a:t>
            </a:r>
            <a:r>
              <a:rPr dirty="0"/>
              <a:t>sign</a:t>
            </a:r>
            <a:r>
              <a:rPr dirty="0" spc="-45"/>
              <a:t> </a:t>
            </a:r>
            <a:r>
              <a:rPr dirty="0" spc="-10"/>
              <a:t>represents</a:t>
            </a:r>
            <a:r>
              <a:rPr dirty="0" spc="-40"/>
              <a:t> </a:t>
            </a:r>
            <a:r>
              <a:rPr dirty="0" spc="-20"/>
              <a:t>zero,</a:t>
            </a:r>
            <a:r>
              <a:rPr dirty="0" spc="-40"/>
              <a:t> </a:t>
            </a:r>
            <a:r>
              <a:rPr dirty="0"/>
              <a:t>one,</a:t>
            </a:r>
            <a:r>
              <a:rPr dirty="0" spc="-40"/>
              <a:t> </a:t>
            </a:r>
            <a:r>
              <a:rPr dirty="0"/>
              <a:t>or</a:t>
            </a:r>
            <a:r>
              <a:rPr dirty="0" spc="-35"/>
              <a:t> </a:t>
            </a:r>
            <a:r>
              <a:rPr dirty="0"/>
              <a:t>multiple</a:t>
            </a:r>
            <a:r>
              <a:rPr dirty="0" spc="-50"/>
              <a:t> </a:t>
            </a:r>
            <a:r>
              <a:rPr dirty="0" spc="-10"/>
              <a:t>characters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/>
              <a:t>_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 spc="-10"/>
              <a:t>underscore</a:t>
            </a:r>
            <a:r>
              <a:rPr dirty="0" spc="-30"/>
              <a:t> </a:t>
            </a:r>
            <a:r>
              <a:rPr dirty="0" spc="-10"/>
              <a:t>represents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40"/>
              <a:t> </a:t>
            </a:r>
            <a:r>
              <a:rPr dirty="0"/>
              <a:t>single</a:t>
            </a:r>
            <a:r>
              <a:rPr dirty="0" spc="-30"/>
              <a:t> </a:t>
            </a:r>
            <a:r>
              <a:rPr dirty="0" spc="-10"/>
              <a:t>character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0284" y="6485686"/>
            <a:ext cx="164029" cy="114668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2701" rIns="0" bIns="0" rtlCol="0" vert="horz">
            <a:spAutoFit/>
          </a:bodyPr>
          <a:lstStyle/>
          <a:p>
            <a:pPr marL="191135">
              <a:lnSpc>
                <a:spcPct val="100000"/>
              </a:lnSpc>
              <a:spcBef>
                <a:spcPts val="105"/>
              </a:spcBef>
            </a:pP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dirty="0" spc="-20" b="1">
                <a:solidFill>
                  <a:srgbClr val="FFFFFF"/>
                </a:solidFill>
                <a:latin typeface="Calibri"/>
                <a:cs typeface="Calibri"/>
              </a:rPr>
              <a:t>Operator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62762" y="826769"/>
            <a:ext cx="0" cy="914400"/>
          </a:xfrm>
          <a:custGeom>
            <a:avLst/>
            <a:gdLst/>
            <a:ahLst/>
            <a:cxnLst/>
            <a:rect l="l" t="t" r="r" b="b"/>
            <a:pathLst>
              <a:path w="0"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22096" y="1935861"/>
            <a:ext cx="9209405" cy="3891279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operator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allows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specify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clause.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operator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shorthand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conditions.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Syntax: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ts val="2735"/>
              </a:lnSpc>
              <a:spcBef>
                <a:spcPts val="220"/>
              </a:spcBef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4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column_name(s)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ts val="2590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table_name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ts val="2735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column_name</a:t>
            </a:r>
            <a:r>
              <a:rPr dirty="0" sz="24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value1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value2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...);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04"/>
              </a:spcBef>
            </a:pP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ts val="2735"/>
              </a:lnSpc>
              <a:spcBef>
                <a:spcPts val="219"/>
              </a:spcBef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4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column_name(s)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ts val="2590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table_name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ts val="2735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column_name</a:t>
            </a:r>
            <a:r>
              <a:rPr dirty="0" sz="24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400" spc="-7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);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0284" y="6483680"/>
            <a:ext cx="165989" cy="116674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2096" y="720597"/>
            <a:ext cx="509333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pc="-1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Operator</a:t>
            </a:r>
            <a:r>
              <a:rPr dirty="0" spc="-1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FFFFFF"/>
                </a:solidFill>
                <a:latin typeface="Calibri"/>
                <a:cs typeface="Calibri"/>
              </a:rPr>
              <a:t>Examples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62762" y="826769"/>
            <a:ext cx="0" cy="914400"/>
          </a:xfrm>
          <a:custGeom>
            <a:avLst/>
            <a:gdLst/>
            <a:ahLst/>
            <a:cxnLst/>
            <a:rect l="l" t="t" r="r" b="b"/>
            <a:pathLst>
              <a:path w="0"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22096" y="1939823"/>
            <a:ext cx="10053955" cy="417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99794" indent="234315">
              <a:lnSpc>
                <a:spcPct val="134200"/>
              </a:lnSpc>
              <a:spcBef>
                <a:spcPts val="100"/>
              </a:spcBef>
              <a:buAutoNum type="arabicPeriod"/>
              <a:tabLst>
                <a:tab pos="247015" algn="l"/>
              </a:tabLst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following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r>
              <a:rPr dirty="0" sz="19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selects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"Germany",</a:t>
            </a:r>
            <a:r>
              <a:rPr dirty="0" sz="1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"France"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"UK":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dirty="0" sz="19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ts val="2050"/>
              </a:lnSpc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Country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9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('Germany',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'France',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'UK’)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60"/>
              </a:spcBef>
            </a:pPr>
            <a:endParaRPr sz="1900">
              <a:latin typeface="Calibri"/>
              <a:cs typeface="Calibri"/>
            </a:endParaRPr>
          </a:p>
          <a:p>
            <a:pPr marL="12700" marR="234950" indent="234315">
              <a:lnSpc>
                <a:spcPts val="2050"/>
              </a:lnSpc>
              <a:buAutoNum type="arabicPeriod" startAt="2"/>
              <a:tabLst>
                <a:tab pos="247015" algn="l"/>
              </a:tabLst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following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selects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located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"Germany",</a:t>
            </a:r>
            <a:r>
              <a:rPr dirty="0" sz="1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"France"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FFFFFF"/>
                </a:solidFill>
                <a:latin typeface="Calibri"/>
                <a:cs typeface="Calibri"/>
              </a:rPr>
              <a:t>or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"UK":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ts val="2165"/>
              </a:lnSpc>
              <a:spcBef>
                <a:spcPts val="750"/>
              </a:spcBef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dirty="0" sz="19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ts val="2165"/>
              </a:lnSpc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Country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dirty="0" sz="19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9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('Germany',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'France',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'UK’);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900">
              <a:latin typeface="Calibri"/>
              <a:cs typeface="Calibri"/>
            </a:endParaRPr>
          </a:p>
          <a:p>
            <a:pPr marL="12700" marR="5080" indent="234315">
              <a:lnSpc>
                <a:spcPct val="134200"/>
              </a:lnSpc>
              <a:buAutoNum type="arabicPeriod" startAt="3"/>
              <a:tabLst>
                <a:tab pos="247015" algn="l"/>
              </a:tabLst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following SQL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selects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same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countries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suppliers: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dirty="0" sz="19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ts val="2050"/>
              </a:lnSpc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19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Country</a:t>
            </a:r>
            <a:r>
              <a:rPr dirty="0" sz="19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9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(SELECT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Country</a:t>
            </a:r>
            <a:r>
              <a:rPr dirty="0" sz="19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Suppliers);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2701" rIns="0" bIns="0" rtlCol="0" vert="horz">
            <a:spAutoFit/>
          </a:bodyPr>
          <a:lstStyle/>
          <a:p>
            <a:pPr marL="191135">
              <a:lnSpc>
                <a:spcPct val="100000"/>
              </a:lnSpc>
              <a:spcBef>
                <a:spcPts val="105"/>
              </a:spcBef>
            </a:pP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pc="-10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dirty="0" spc="-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62762" y="826769"/>
            <a:ext cx="0" cy="914400"/>
          </a:xfrm>
          <a:custGeom>
            <a:avLst/>
            <a:gdLst/>
            <a:ahLst/>
            <a:cxnLst/>
            <a:rect l="l" t="t" r="r" b="b"/>
            <a:pathLst>
              <a:path w="0"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22096" y="2027301"/>
            <a:ext cx="10045700" cy="367347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algn="just" marL="240029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r>
              <a:rPr dirty="0" sz="24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groups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rows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same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summary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rows,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"find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dirty="0" sz="24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country".</a:t>
            </a:r>
            <a:endParaRPr sz="2400">
              <a:latin typeface="Calibri"/>
              <a:cs typeface="Calibri"/>
            </a:endParaRPr>
          </a:p>
          <a:p>
            <a:pPr algn="just" marL="240029" indent="-227329">
              <a:lnSpc>
                <a:spcPts val="2740"/>
              </a:lnSpc>
              <a:spcBef>
                <a:spcPts val="68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often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aggregate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functions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(COUNT,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MAX,</a:t>
            </a:r>
            <a:endParaRPr sz="2400">
              <a:latin typeface="Calibri"/>
              <a:cs typeface="Calibri"/>
            </a:endParaRPr>
          </a:p>
          <a:p>
            <a:pPr algn="just" marL="241300">
              <a:lnSpc>
                <a:spcPts val="2740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MIN,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SUM,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AVG)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result-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dirty="0" sz="2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dirty="0" sz="2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columns.</a:t>
            </a:r>
            <a:endParaRPr sz="2400">
              <a:latin typeface="Calibri"/>
              <a:cs typeface="Calibri"/>
            </a:endParaRPr>
          </a:p>
          <a:p>
            <a:pPr algn="just" marL="240029" marR="6497955" indent="-227329">
              <a:lnSpc>
                <a:spcPct val="98700"/>
              </a:lnSpc>
              <a:spcBef>
                <a:spcPts val="745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Syntax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Clause: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4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column_name(s)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table_name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ts val="2450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condition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ts val="2590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column_name(s)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ts val="2735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column_name(s);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2096" y="713994"/>
            <a:ext cx="6671309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Examples</a:t>
            </a:r>
            <a:r>
              <a:rPr dirty="0" spc="-9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dirty="0" spc="-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FFFFFF"/>
                </a:solidFill>
                <a:latin typeface="Calibri"/>
                <a:cs typeface="Calibri"/>
              </a:rPr>
              <a:t>clause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62762" y="826769"/>
            <a:ext cx="0" cy="914400"/>
          </a:xfrm>
          <a:custGeom>
            <a:avLst/>
            <a:gdLst/>
            <a:ahLst/>
            <a:cxnLst/>
            <a:rect l="l" t="t" r="r" b="b"/>
            <a:pathLst>
              <a:path w="0"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22096" y="1941042"/>
            <a:ext cx="10048875" cy="367792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525780" indent="-513080">
              <a:lnSpc>
                <a:spcPct val="100000"/>
              </a:lnSpc>
              <a:spcBef>
                <a:spcPts val="855"/>
              </a:spcBef>
              <a:buAutoNum type="arabicPeriod"/>
              <a:tabLst>
                <a:tab pos="525780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statement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lists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country: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Syntax: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ts val="2280"/>
              </a:lnSpc>
              <a:spcBef>
                <a:spcPts val="265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0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COUNT(CustomerID),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Country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ts val="2160"/>
              </a:lnSpc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ts val="2280"/>
              </a:lnSpc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Country;</a:t>
            </a:r>
            <a:endParaRPr sz="2000">
              <a:latin typeface="Calibri"/>
              <a:cs typeface="Calibri"/>
            </a:endParaRPr>
          </a:p>
          <a:p>
            <a:pPr marL="12700" marR="5080" indent="248920">
              <a:lnSpc>
                <a:spcPts val="3170"/>
              </a:lnSpc>
              <a:spcBef>
                <a:spcPts val="220"/>
              </a:spcBef>
              <a:buAutoNum type="arabicPeriod" startAt="2"/>
              <a:tabLst>
                <a:tab pos="261620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following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r>
              <a:rPr dirty="0" sz="20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lists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country,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sorted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low: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Syntax: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ts val="2280"/>
              </a:lnSpc>
              <a:spcBef>
                <a:spcPts val="15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COUNT(CustomerID),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Country</a:t>
            </a:r>
            <a:endParaRPr sz="2000">
              <a:latin typeface="Calibri"/>
              <a:cs typeface="Calibri"/>
            </a:endParaRPr>
          </a:p>
          <a:p>
            <a:pPr marL="469900" marR="7616190">
              <a:lnSpc>
                <a:spcPts val="2160"/>
              </a:lnSpc>
              <a:spcBef>
                <a:spcPts val="155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Customers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Country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ts val="2130"/>
              </a:lnSpc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0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COUNT(CustomerID) DESC;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2701" rIns="0" bIns="0" rtlCol="0" vert="horz">
            <a:spAutoFit/>
          </a:bodyPr>
          <a:lstStyle/>
          <a:p>
            <a:pPr marL="191135">
              <a:lnSpc>
                <a:spcPct val="100000"/>
              </a:lnSpc>
              <a:spcBef>
                <a:spcPts val="105"/>
              </a:spcBef>
            </a:pP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pc="-1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HAVING</a:t>
            </a:r>
            <a:r>
              <a:rPr dirty="0" spc="-1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FFFFFF"/>
                </a:solidFill>
                <a:latin typeface="Calibri"/>
                <a:cs typeface="Calibri"/>
              </a:rPr>
              <a:t>Clause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62762" y="826769"/>
            <a:ext cx="0" cy="914400"/>
          </a:xfrm>
          <a:custGeom>
            <a:avLst/>
            <a:gdLst/>
            <a:ahLst/>
            <a:cxnLst/>
            <a:rect l="l" t="t" r="r" b="b"/>
            <a:pathLst>
              <a:path w="0"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22096" y="2027301"/>
            <a:ext cx="10186670" cy="321627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HAVING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clause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was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added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because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keyword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could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be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aggregate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functions.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Having</a:t>
            </a:r>
            <a:r>
              <a:rPr dirty="0" sz="240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Syntax:</a:t>
            </a:r>
            <a:endParaRPr sz="2400">
              <a:latin typeface="Calibri"/>
              <a:cs typeface="Calibri"/>
            </a:endParaRPr>
          </a:p>
          <a:p>
            <a:pPr marL="469900" marR="6703695">
              <a:lnSpc>
                <a:spcPts val="2590"/>
              </a:lnSpc>
              <a:spcBef>
                <a:spcPts val="535"/>
              </a:spcBef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4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column_name(s)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table_name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condition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ts val="2415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column_name(s)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ts val="2595"/>
              </a:lnSpc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HAVING</a:t>
            </a:r>
            <a:r>
              <a:rPr dirty="0" sz="24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condition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ts val="2735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column_name(s);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1" rIns="0" bIns="0" rtlCol="0" vert="horz">
            <a:spAutoFit/>
          </a:bodyPr>
          <a:lstStyle/>
          <a:p>
            <a:pPr marL="191135">
              <a:lnSpc>
                <a:spcPct val="100000"/>
              </a:lnSpc>
              <a:spcBef>
                <a:spcPts val="105"/>
              </a:spcBef>
            </a:pP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Having</a:t>
            </a:r>
            <a:r>
              <a:rPr dirty="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FFFFFF"/>
                </a:solidFill>
                <a:latin typeface="Calibri"/>
                <a:cs typeface="Calibri"/>
              </a:rPr>
              <a:t>Examples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62762" y="826769"/>
            <a:ext cx="0" cy="914400"/>
          </a:xfrm>
          <a:custGeom>
            <a:avLst/>
            <a:gdLst/>
            <a:ahLst/>
            <a:cxnLst/>
            <a:rect l="l" t="t" r="r" b="b"/>
            <a:pathLst>
              <a:path w="0"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22096" y="2044064"/>
            <a:ext cx="9799320" cy="187515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 marR="5080">
              <a:lnSpc>
                <a:spcPts val="1839"/>
              </a:lnSpc>
              <a:spcBef>
                <a:spcPts val="330"/>
              </a:spcBef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7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following</a:t>
            </a:r>
            <a:r>
              <a:rPr dirty="0" sz="17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1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r>
              <a:rPr dirty="0" sz="17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lists</a:t>
            </a:r>
            <a:r>
              <a:rPr dirty="0" sz="17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7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dirty="0" sz="17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dirty="0" sz="17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7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dirty="0" sz="17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Calibri"/>
                <a:cs typeface="Calibri"/>
              </a:rPr>
              <a:t>country.</a:t>
            </a:r>
            <a:r>
              <a:rPr dirty="0" sz="17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dirty="0" sz="17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include</a:t>
            </a:r>
            <a:r>
              <a:rPr dirty="0" sz="17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countries</a:t>
            </a: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17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Calibri"/>
                <a:cs typeface="Calibri"/>
              </a:rPr>
              <a:t>more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than</a:t>
            </a:r>
            <a:r>
              <a:rPr dirty="0" sz="17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customers: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Syntax:</a:t>
            </a:r>
            <a:endParaRPr sz="1700">
              <a:latin typeface="Calibri"/>
              <a:cs typeface="Calibri"/>
            </a:endParaRPr>
          </a:p>
          <a:p>
            <a:pPr marL="469900">
              <a:lnSpc>
                <a:spcPts val="1939"/>
              </a:lnSpc>
              <a:spcBef>
                <a:spcPts val="300"/>
              </a:spcBef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COUNT(CustomerID),</a:t>
            </a:r>
            <a:r>
              <a:rPr dirty="0" sz="1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Country</a:t>
            </a:r>
            <a:endParaRPr sz="1700">
              <a:latin typeface="Calibri"/>
              <a:cs typeface="Calibri"/>
            </a:endParaRPr>
          </a:p>
          <a:p>
            <a:pPr marL="469900" marR="7658734">
              <a:lnSpc>
                <a:spcPts val="1839"/>
              </a:lnSpc>
              <a:spcBef>
                <a:spcPts val="130"/>
              </a:spcBef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7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Customers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dirty="0" sz="17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17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Country</a:t>
            </a:r>
            <a:endParaRPr sz="1700">
              <a:latin typeface="Calibri"/>
              <a:cs typeface="Calibri"/>
            </a:endParaRPr>
          </a:p>
          <a:p>
            <a:pPr marL="469900">
              <a:lnSpc>
                <a:spcPts val="1805"/>
              </a:lnSpc>
            </a:pP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HAVING COUNT(CustomerID)</a:t>
            </a:r>
            <a:r>
              <a:rPr dirty="0" sz="17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dirty="0" sz="17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5;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22096" y="3993641"/>
            <a:ext cx="7933690" cy="210820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 marR="5080">
              <a:lnSpc>
                <a:spcPts val="1839"/>
              </a:lnSpc>
              <a:spcBef>
                <a:spcPts val="330"/>
              </a:spcBef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2.</a:t>
            </a:r>
            <a:r>
              <a:rPr dirty="0" sz="1700" spc="3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following</a:t>
            </a:r>
            <a:r>
              <a:rPr dirty="0" sz="17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17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r>
              <a:rPr dirty="0" sz="17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lists</a:t>
            </a:r>
            <a:r>
              <a:rPr dirty="0" sz="17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7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dirty="0" sz="1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7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7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Calibri"/>
                <a:cs typeface="Calibri"/>
              </a:rPr>
              <a:t>country,</a:t>
            </a:r>
            <a:r>
              <a:rPr dirty="0" sz="17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sorted</a:t>
            </a:r>
            <a:r>
              <a:rPr dirty="0" sz="17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Calibri"/>
                <a:cs typeface="Calibri"/>
              </a:rPr>
              <a:t>high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countries</a:t>
            </a:r>
            <a:r>
              <a:rPr dirty="0" sz="17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17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than</a:t>
            </a:r>
            <a:r>
              <a:rPr dirty="0" sz="17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dirty="0" sz="1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customers):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Syntax:</a:t>
            </a:r>
            <a:endParaRPr sz="1700">
              <a:latin typeface="Calibri"/>
              <a:cs typeface="Calibri"/>
            </a:endParaRPr>
          </a:p>
          <a:p>
            <a:pPr marL="469900" marR="4174490">
              <a:lnSpc>
                <a:spcPts val="1839"/>
              </a:lnSpc>
              <a:spcBef>
                <a:spcPts val="530"/>
              </a:spcBef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SELECT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COUNT(CustomerID),</a:t>
            </a:r>
            <a:r>
              <a:rPr dirty="0" sz="1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Country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7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endParaRPr sz="1700">
              <a:latin typeface="Calibri"/>
              <a:cs typeface="Calibri"/>
            </a:endParaRPr>
          </a:p>
          <a:p>
            <a:pPr marL="469900">
              <a:lnSpc>
                <a:spcPts val="1700"/>
              </a:lnSpc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dirty="0" sz="17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17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Country</a:t>
            </a:r>
            <a:endParaRPr sz="1700">
              <a:latin typeface="Calibri"/>
              <a:cs typeface="Calibri"/>
            </a:endParaRPr>
          </a:p>
          <a:p>
            <a:pPr marL="469900" marR="4157979">
              <a:lnSpc>
                <a:spcPts val="1839"/>
              </a:lnSpc>
              <a:spcBef>
                <a:spcPts val="125"/>
              </a:spcBef>
            </a:pP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HAVING COUNT(CustomerID)</a:t>
            </a: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dirty="0" sz="17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50">
                <a:solidFill>
                  <a:srgbClr val="FFFFFF"/>
                </a:solidFill>
                <a:latin typeface="Calibri"/>
                <a:cs typeface="Calibri"/>
              </a:rPr>
              <a:t>5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1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COUNT(CustomerID)</a:t>
            </a:r>
            <a:r>
              <a:rPr dirty="0" sz="17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DESC;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171428" y="3993641"/>
            <a:ext cx="178308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low</a:t>
            </a: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(Only</a:t>
            </a:r>
            <a:r>
              <a:rPr dirty="0" sz="17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include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2096" y="727328"/>
            <a:ext cx="479107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EXISTS</a:t>
            </a:r>
            <a:r>
              <a:rPr dirty="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pc="-20" b="1">
                <a:solidFill>
                  <a:srgbClr val="FFFFFF"/>
                </a:solidFill>
                <a:latin typeface="Calibri"/>
                <a:cs typeface="Calibri"/>
              </a:rPr>
              <a:t>Operator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62762" y="826769"/>
            <a:ext cx="0" cy="914400"/>
          </a:xfrm>
          <a:custGeom>
            <a:avLst/>
            <a:gdLst/>
            <a:ahLst/>
            <a:cxnLst/>
            <a:rect l="l" t="t" r="r" b="b"/>
            <a:pathLst>
              <a:path w="0"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22096" y="1939823"/>
            <a:ext cx="9882505" cy="417766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8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EXISTS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operator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test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existence</a:t>
            </a:r>
            <a:r>
              <a:rPr dirty="0" sz="19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record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subquery.</a:t>
            </a:r>
            <a:endParaRPr sz="19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EXISTS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operator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returns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true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subquery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returns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records.</a:t>
            </a:r>
            <a:endParaRPr sz="19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EXISTS</a:t>
            </a:r>
            <a:r>
              <a:rPr dirty="0" sz="190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Syntax</a:t>
            </a:r>
            <a:endParaRPr sz="1900">
              <a:latin typeface="Calibri"/>
              <a:cs typeface="Calibri"/>
            </a:endParaRPr>
          </a:p>
          <a:p>
            <a:pPr marL="469900" marR="7030084">
              <a:lnSpc>
                <a:spcPts val="2050"/>
              </a:lnSpc>
              <a:spcBef>
                <a:spcPts val="540"/>
              </a:spcBef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19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FFFFFF"/>
                </a:solidFill>
                <a:latin typeface="Calibri"/>
                <a:cs typeface="Calibri"/>
              </a:rPr>
              <a:t>column_name(s)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FFFFFF"/>
                </a:solidFill>
                <a:latin typeface="Calibri"/>
                <a:cs typeface="Calibri"/>
              </a:rPr>
              <a:t>table_name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19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EXISTS</a:t>
            </a:r>
            <a:endParaRPr sz="1900">
              <a:latin typeface="Calibri"/>
              <a:cs typeface="Calibri"/>
            </a:endParaRPr>
          </a:p>
          <a:p>
            <a:pPr marL="469900">
              <a:lnSpc>
                <a:spcPts val="2025"/>
              </a:lnSpc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(SELECT</a:t>
            </a:r>
            <a:r>
              <a:rPr dirty="0" sz="19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FFFFFF"/>
                </a:solidFill>
                <a:latin typeface="Calibri"/>
                <a:cs typeface="Calibri"/>
              </a:rPr>
              <a:t>column_name</a:t>
            </a:r>
            <a:r>
              <a:rPr dirty="0" sz="1900" spc="-5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FFFFFF"/>
                </a:solidFill>
                <a:latin typeface="Calibri"/>
                <a:cs typeface="Calibri"/>
              </a:rPr>
              <a:t>table_name</a:t>
            </a:r>
            <a:r>
              <a:rPr dirty="0" sz="1900" spc="-4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FFFFFF"/>
                </a:solidFill>
                <a:latin typeface="Calibri"/>
                <a:cs typeface="Calibri"/>
              </a:rPr>
              <a:t>condition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);</a:t>
            </a:r>
            <a:endParaRPr sz="19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following</a:t>
            </a:r>
            <a:r>
              <a:rPr dirty="0" sz="19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r>
              <a:rPr dirty="0" sz="19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returns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TRUE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lists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suppliers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price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less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than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FFFFFF"/>
                </a:solidFill>
                <a:latin typeface="Calibri"/>
                <a:cs typeface="Calibri"/>
              </a:rPr>
              <a:t>20:</a:t>
            </a:r>
            <a:endParaRPr sz="19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Syntax:</a:t>
            </a:r>
            <a:endParaRPr sz="1900">
              <a:latin typeface="Calibri"/>
              <a:cs typeface="Calibri"/>
            </a:endParaRPr>
          </a:p>
          <a:p>
            <a:pPr marL="469900" marR="7268845">
              <a:lnSpc>
                <a:spcPts val="2050"/>
              </a:lnSpc>
              <a:spcBef>
                <a:spcPts val="535"/>
              </a:spcBef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19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SupplierName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Suppliers</a:t>
            </a:r>
            <a:endParaRPr sz="1900">
              <a:latin typeface="Calibri"/>
              <a:cs typeface="Calibri"/>
            </a:endParaRPr>
          </a:p>
          <a:p>
            <a:pPr marL="469900" marR="1219200">
              <a:lnSpc>
                <a:spcPts val="2050"/>
              </a:lnSpc>
              <a:spcBef>
                <a:spcPts val="5"/>
              </a:spcBef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EXISTS</a:t>
            </a:r>
            <a:r>
              <a:rPr dirty="0" sz="19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(SELECT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ProductName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Products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19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Products.SupplierID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=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Suppliers.supplierID</a:t>
            </a:r>
            <a:r>
              <a:rPr dirty="0" sz="19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Price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&lt;</a:t>
            </a:r>
            <a:r>
              <a:rPr dirty="0" sz="19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FFFFFF"/>
                </a:solidFill>
                <a:latin typeface="Calibri"/>
                <a:cs typeface="Calibri"/>
              </a:rPr>
              <a:t>20);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2701" rIns="0" bIns="0" rtlCol="0" vert="horz">
            <a:spAutoFit/>
          </a:bodyPr>
          <a:lstStyle/>
          <a:p>
            <a:pPr marL="191135">
              <a:lnSpc>
                <a:spcPct val="100000"/>
              </a:lnSpc>
              <a:spcBef>
                <a:spcPts val="105"/>
              </a:spcBef>
            </a:pP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dirty="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and ALL</a:t>
            </a:r>
            <a:r>
              <a:rPr dirty="0" spc="-20" b="1">
                <a:solidFill>
                  <a:srgbClr val="FFFFFF"/>
                </a:solidFill>
                <a:latin typeface="Calibri"/>
                <a:cs typeface="Calibri"/>
              </a:rPr>
              <a:t> Operators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62762" y="826769"/>
            <a:ext cx="0" cy="914400"/>
          </a:xfrm>
          <a:custGeom>
            <a:avLst/>
            <a:gdLst/>
            <a:ahLst/>
            <a:cxnLst/>
            <a:rect l="l" t="t" r="r" b="b"/>
            <a:pathLst>
              <a:path w="0"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22096" y="1939823"/>
            <a:ext cx="8083550" cy="417766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8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19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FFFFFF"/>
                </a:solidFill>
                <a:latin typeface="Calibri"/>
                <a:cs typeface="Calibri"/>
              </a:rPr>
              <a:t>operators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1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1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HAVING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clause.</a:t>
            </a:r>
            <a:endParaRPr sz="19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operator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returns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true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dirty="0" sz="19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subquery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meet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condition.</a:t>
            </a:r>
            <a:endParaRPr sz="19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operator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returns</a:t>
            </a:r>
            <a:r>
              <a:rPr dirty="0" sz="1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true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subquery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meet</a:t>
            </a:r>
            <a:r>
              <a:rPr dirty="0" sz="1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condition.</a:t>
            </a:r>
            <a:endParaRPr sz="19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Syntax:</a:t>
            </a:r>
            <a:endParaRPr sz="1900">
              <a:latin typeface="Calibri"/>
              <a:cs typeface="Calibri"/>
            </a:endParaRPr>
          </a:p>
          <a:p>
            <a:pPr marL="469900">
              <a:lnSpc>
                <a:spcPts val="2165"/>
              </a:lnSpc>
              <a:spcBef>
                <a:spcPts val="275"/>
              </a:spcBef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19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FFFFFF"/>
                </a:solidFill>
                <a:latin typeface="Calibri"/>
                <a:cs typeface="Calibri"/>
              </a:rPr>
              <a:t>column_name(s)</a:t>
            </a:r>
            <a:endParaRPr sz="1900">
              <a:latin typeface="Calibri"/>
              <a:cs typeface="Calibri"/>
            </a:endParaRPr>
          </a:p>
          <a:p>
            <a:pPr marL="469900">
              <a:lnSpc>
                <a:spcPts val="2050"/>
              </a:lnSpc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FFFFFF"/>
                </a:solidFill>
                <a:latin typeface="Calibri"/>
                <a:cs typeface="Calibri"/>
              </a:rPr>
              <a:t>table_name</a:t>
            </a:r>
            <a:endParaRPr sz="1900">
              <a:latin typeface="Calibri"/>
              <a:cs typeface="Calibri"/>
            </a:endParaRPr>
          </a:p>
          <a:p>
            <a:pPr marL="469900">
              <a:lnSpc>
                <a:spcPts val="2050"/>
              </a:lnSpc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FFFFFF"/>
                </a:solidFill>
                <a:latin typeface="Calibri"/>
                <a:cs typeface="Calibri"/>
              </a:rPr>
              <a:t>column_name</a:t>
            </a:r>
            <a:r>
              <a:rPr dirty="0" sz="1900" spc="-7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FFFFFF"/>
                </a:solidFill>
                <a:latin typeface="Calibri"/>
                <a:cs typeface="Calibri"/>
              </a:rPr>
              <a:t>operator</a:t>
            </a:r>
            <a:r>
              <a:rPr dirty="0" sz="1900" spc="-5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endParaRPr sz="1900">
              <a:latin typeface="Calibri"/>
              <a:cs typeface="Calibri"/>
            </a:endParaRPr>
          </a:p>
          <a:p>
            <a:pPr marL="469900">
              <a:lnSpc>
                <a:spcPts val="2165"/>
              </a:lnSpc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(SELECT</a:t>
            </a:r>
            <a:r>
              <a:rPr dirty="0" sz="19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FFFFFF"/>
                </a:solidFill>
                <a:latin typeface="Calibri"/>
                <a:cs typeface="Calibri"/>
              </a:rPr>
              <a:t>column_name</a:t>
            </a:r>
            <a:r>
              <a:rPr dirty="0" sz="1900" spc="-5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FFFFFF"/>
                </a:solidFill>
                <a:latin typeface="Calibri"/>
                <a:cs typeface="Calibri"/>
              </a:rPr>
              <a:t>table_name</a:t>
            </a:r>
            <a:r>
              <a:rPr dirty="0" sz="1900" spc="-4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FFFFFF"/>
                </a:solidFill>
                <a:latin typeface="Calibri"/>
                <a:cs typeface="Calibri"/>
              </a:rPr>
              <a:t>condition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);</a:t>
            </a:r>
            <a:endParaRPr sz="19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1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Syntax:</a:t>
            </a:r>
            <a:endParaRPr sz="1900">
              <a:latin typeface="Calibri"/>
              <a:cs typeface="Calibri"/>
            </a:endParaRPr>
          </a:p>
          <a:p>
            <a:pPr marL="469900">
              <a:lnSpc>
                <a:spcPts val="2165"/>
              </a:lnSpc>
              <a:spcBef>
                <a:spcPts val="275"/>
              </a:spcBef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19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FFFFFF"/>
                </a:solidFill>
                <a:latin typeface="Calibri"/>
                <a:cs typeface="Calibri"/>
              </a:rPr>
              <a:t>column_name(s)</a:t>
            </a:r>
            <a:endParaRPr sz="1900">
              <a:latin typeface="Calibri"/>
              <a:cs typeface="Calibri"/>
            </a:endParaRPr>
          </a:p>
          <a:p>
            <a:pPr marL="469900">
              <a:lnSpc>
                <a:spcPts val="2050"/>
              </a:lnSpc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FFFFFF"/>
                </a:solidFill>
                <a:latin typeface="Calibri"/>
                <a:cs typeface="Calibri"/>
              </a:rPr>
              <a:t>table_name</a:t>
            </a:r>
            <a:endParaRPr sz="1900">
              <a:latin typeface="Calibri"/>
              <a:cs typeface="Calibri"/>
            </a:endParaRPr>
          </a:p>
          <a:p>
            <a:pPr marL="469900">
              <a:lnSpc>
                <a:spcPts val="2050"/>
              </a:lnSpc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19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FFFFFF"/>
                </a:solidFill>
                <a:latin typeface="Calibri"/>
                <a:cs typeface="Calibri"/>
              </a:rPr>
              <a:t>column_name</a:t>
            </a:r>
            <a:r>
              <a:rPr dirty="0" sz="1900" spc="-7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FFFFFF"/>
                </a:solidFill>
                <a:latin typeface="Calibri"/>
                <a:cs typeface="Calibri"/>
              </a:rPr>
              <a:t>operator</a:t>
            </a:r>
            <a:r>
              <a:rPr dirty="0" sz="1900" spc="-5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endParaRPr sz="1900">
              <a:latin typeface="Calibri"/>
              <a:cs typeface="Calibri"/>
            </a:endParaRPr>
          </a:p>
          <a:p>
            <a:pPr marL="469900">
              <a:lnSpc>
                <a:spcPts val="2165"/>
              </a:lnSpc>
            </a:pP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(SELECT</a:t>
            </a:r>
            <a:r>
              <a:rPr dirty="0" sz="19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FFFFFF"/>
                </a:solidFill>
                <a:latin typeface="Calibri"/>
                <a:cs typeface="Calibri"/>
              </a:rPr>
              <a:t>column_name</a:t>
            </a:r>
            <a:r>
              <a:rPr dirty="0" sz="1900" spc="-5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FFFFFF"/>
                </a:solidFill>
                <a:latin typeface="Calibri"/>
                <a:cs typeface="Calibri"/>
              </a:rPr>
              <a:t>table_name</a:t>
            </a:r>
            <a:r>
              <a:rPr dirty="0" sz="1900" spc="-4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1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FFFFFF"/>
                </a:solidFill>
                <a:latin typeface="Calibri"/>
                <a:cs typeface="Calibri"/>
              </a:rPr>
              <a:t>condition</a:t>
            </a:r>
            <a:r>
              <a:rPr dirty="0" sz="1900" spc="-10">
                <a:solidFill>
                  <a:srgbClr val="FFFFFF"/>
                </a:solidFill>
                <a:latin typeface="Calibri"/>
                <a:cs typeface="Calibri"/>
              </a:rPr>
              <a:t>);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2701" rIns="0" bIns="0" rtlCol="0" vert="horz">
            <a:spAutoFit/>
          </a:bodyPr>
          <a:lstStyle/>
          <a:p>
            <a:pPr marL="191135">
              <a:lnSpc>
                <a:spcPct val="100000"/>
              </a:lnSpc>
              <a:spcBef>
                <a:spcPts val="105"/>
              </a:spcBef>
            </a:pP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ANY </a:t>
            </a:r>
            <a:r>
              <a:rPr dirty="0" spc="-10" b="1">
                <a:solidFill>
                  <a:srgbClr val="FFFFFF"/>
                </a:solidFill>
                <a:latin typeface="Calibri"/>
                <a:cs typeface="Calibri"/>
              </a:rPr>
              <a:t>Examples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62762" y="826769"/>
            <a:ext cx="0" cy="914400"/>
          </a:xfrm>
          <a:custGeom>
            <a:avLst/>
            <a:gdLst/>
            <a:ahLst/>
            <a:cxnLst/>
            <a:rect l="l" t="t" r="r" b="b"/>
            <a:pathLst>
              <a:path w="0"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22096" y="1941042"/>
            <a:ext cx="10067290" cy="395224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operator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returns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TRUE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subquery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meet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condition.</a:t>
            </a:r>
            <a:endParaRPr sz="2000">
              <a:latin typeface="Calibri"/>
              <a:cs typeface="Calibri"/>
            </a:endParaRPr>
          </a:p>
          <a:p>
            <a:pPr marL="241300" marR="5080" indent="-228600">
              <a:lnSpc>
                <a:spcPts val="2160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following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r>
              <a:rPr dirty="0" sz="20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returns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TRUE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lists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names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finds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records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OrderDetails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quantity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10: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Syntax:</a:t>
            </a:r>
            <a:endParaRPr sz="2000">
              <a:latin typeface="Calibri"/>
              <a:cs typeface="Calibri"/>
            </a:endParaRPr>
          </a:p>
          <a:p>
            <a:pPr marL="469900" marR="7375525">
              <a:lnSpc>
                <a:spcPts val="2160"/>
              </a:lnSpc>
              <a:spcBef>
                <a:spcPts val="525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ProductName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Products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ts val="2130"/>
              </a:lnSpc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ProductID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(SELECT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ProductID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OrderDetails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Quantity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10);</a:t>
            </a:r>
            <a:endParaRPr sz="2000">
              <a:latin typeface="Calibri"/>
              <a:cs typeface="Calibri"/>
            </a:endParaRPr>
          </a:p>
          <a:p>
            <a:pPr marL="241300" marR="5080" indent="-228600">
              <a:lnSpc>
                <a:spcPts val="216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following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r>
              <a:rPr dirty="0" sz="20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returns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TRUE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lists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names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finds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records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OrderDetails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quantity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99:</a:t>
            </a:r>
            <a:endParaRPr sz="2000">
              <a:latin typeface="Calibri"/>
              <a:cs typeface="Calibri"/>
            </a:endParaRPr>
          </a:p>
          <a:p>
            <a:pPr marL="469900" marR="7375525">
              <a:lnSpc>
                <a:spcPts val="2160"/>
              </a:lnSpc>
              <a:spcBef>
                <a:spcPts val="495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ProductName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Products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ts val="2130"/>
              </a:lnSpc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ProductID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(SELECT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ProductID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OrderDetails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Quantity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99);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2701" rIns="0" bIns="0" rtlCol="0" vert="horz">
            <a:spAutoFit/>
          </a:bodyPr>
          <a:lstStyle/>
          <a:p>
            <a:pPr marL="191135">
              <a:lnSpc>
                <a:spcPct val="100000"/>
              </a:lnSpc>
              <a:spcBef>
                <a:spcPts val="105"/>
              </a:spcBef>
            </a:pP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ALL </a:t>
            </a:r>
            <a:r>
              <a:rPr dirty="0" spc="-10" b="1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62762" y="826769"/>
            <a:ext cx="0" cy="914400"/>
          </a:xfrm>
          <a:custGeom>
            <a:avLst/>
            <a:gdLst/>
            <a:ahLst/>
            <a:cxnLst/>
            <a:rect l="l" t="t" r="r" b="b"/>
            <a:pathLst>
              <a:path w="0"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414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The</a:t>
            </a:r>
            <a:r>
              <a:rPr dirty="0" spc="-50"/>
              <a:t> </a:t>
            </a:r>
            <a:r>
              <a:rPr dirty="0"/>
              <a:t>ALL</a:t>
            </a:r>
            <a:r>
              <a:rPr dirty="0" spc="-55"/>
              <a:t> </a:t>
            </a:r>
            <a:r>
              <a:rPr dirty="0" spc="-10"/>
              <a:t>operator</a:t>
            </a:r>
            <a:r>
              <a:rPr dirty="0" spc="-50"/>
              <a:t> </a:t>
            </a:r>
            <a:r>
              <a:rPr dirty="0" spc="-10"/>
              <a:t>returns</a:t>
            </a:r>
            <a:r>
              <a:rPr dirty="0" spc="-55"/>
              <a:t> </a:t>
            </a:r>
            <a:r>
              <a:rPr dirty="0"/>
              <a:t>TRUE</a:t>
            </a:r>
            <a:r>
              <a:rPr dirty="0" spc="-55"/>
              <a:t> </a:t>
            </a:r>
            <a:r>
              <a:rPr dirty="0"/>
              <a:t>if</a:t>
            </a:r>
            <a:r>
              <a:rPr dirty="0" spc="-55"/>
              <a:t> </a:t>
            </a:r>
            <a:r>
              <a:rPr dirty="0"/>
              <a:t>all</a:t>
            </a:r>
            <a:r>
              <a:rPr dirty="0" spc="-6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/>
              <a:t>subquery</a:t>
            </a:r>
            <a:r>
              <a:rPr dirty="0" spc="-50"/>
              <a:t> </a:t>
            </a:r>
            <a:r>
              <a:rPr dirty="0"/>
              <a:t>values</a:t>
            </a:r>
            <a:r>
              <a:rPr dirty="0" spc="-40"/>
              <a:t> </a:t>
            </a:r>
            <a:r>
              <a:rPr dirty="0"/>
              <a:t>meet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 spc="-10"/>
              <a:t>condition.</a:t>
            </a:r>
          </a:p>
          <a:p>
            <a:pPr marL="240029" marR="5080" indent="-227329">
              <a:lnSpc>
                <a:spcPct val="9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dirty="0" spc="-45"/>
              <a:t> </a:t>
            </a:r>
            <a:r>
              <a:rPr dirty="0"/>
              <a:t>following</a:t>
            </a:r>
            <a:r>
              <a:rPr dirty="0" spc="-50"/>
              <a:t> </a:t>
            </a:r>
            <a:r>
              <a:rPr dirty="0"/>
              <a:t>SQL</a:t>
            </a:r>
            <a:r>
              <a:rPr dirty="0" spc="-60"/>
              <a:t> </a:t>
            </a:r>
            <a:r>
              <a:rPr dirty="0" spc="-20"/>
              <a:t>statement</a:t>
            </a:r>
            <a:r>
              <a:rPr dirty="0" spc="-75"/>
              <a:t> </a:t>
            </a:r>
            <a:r>
              <a:rPr dirty="0" spc="-10"/>
              <a:t>returns</a:t>
            </a:r>
            <a:r>
              <a:rPr dirty="0" spc="-55"/>
              <a:t> </a:t>
            </a:r>
            <a:r>
              <a:rPr dirty="0"/>
              <a:t>TRUE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55"/>
              <a:t> </a:t>
            </a:r>
            <a:r>
              <a:rPr dirty="0"/>
              <a:t>lists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/>
              <a:t>product</a:t>
            </a:r>
            <a:r>
              <a:rPr dirty="0" spc="-50"/>
              <a:t> </a:t>
            </a:r>
            <a:r>
              <a:rPr dirty="0"/>
              <a:t>names</a:t>
            </a:r>
            <a:r>
              <a:rPr dirty="0" spc="-65"/>
              <a:t> </a:t>
            </a:r>
            <a:r>
              <a:rPr dirty="0"/>
              <a:t>if</a:t>
            </a:r>
            <a:r>
              <a:rPr dirty="0" spc="-50"/>
              <a:t> </a:t>
            </a:r>
            <a:r>
              <a:rPr dirty="0"/>
              <a:t>ALL</a:t>
            </a:r>
            <a:r>
              <a:rPr dirty="0" spc="-55"/>
              <a:t> </a:t>
            </a:r>
            <a:r>
              <a:rPr dirty="0" spc="-25"/>
              <a:t>the </a:t>
            </a:r>
            <a:r>
              <a:rPr dirty="0" spc="-25"/>
              <a:t>	</a:t>
            </a:r>
            <a:r>
              <a:rPr dirty="0"/>
              <a:t>records</a:t>
            </a:r>
            <a:r>
              <a:rPr dirty="0" spc="-50"/>
              <a:t> </a:t>
            </a:r>
            <a:r>
              <a:rPr dirty="0"/>
              <a:t>in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 spc="-10"/>
              <a:t>OrderDetails</a:t>
            </a:r>
            <a:r>
              <a:rPr dirty="0" spc="-60"/>
              <a:t> </a:t>
            </a:r>
            <a:r>
              <a:rPr dirty="0"/>
              <a:t>table</a:t>
            </a:r>
            <a:r>
              <a:rPr dirty="0" spc="-65"/>
              <a:t> </a:t>
            </a:r>
            <a:r>
              <a:rPr dirty="0"/>
              <a:t>has</a:t>
            </a:r>
            <a:r>
              <a:rPr dirty="0" spc="-40"/>
              <a:t> </a:t>
            </a:r>
            <a:r>
              <a:rPr dirty="0"/>
              <a:t>quantity</a:t>
            </a:r>
            <a:r>
              <a:rPr dirty="0" spc="-40"/>
              <a:t> </a:t>
            </a:r>
            <a:r>
              <a:rPr dirty="0"/>
              <a:t>=</a:t>
            </a:r>
            <a:r>
              <a:rPr dirty="0" spc="-50"/>
              <a:t> </a:t>
            </a:r>
            <a:r>
              <a:rPr dirty="0"/>
              <a:t>10</a:t>
            </a:r>
            <a:r>
              <a:rPr dirty="0" spc="-55"/>
              <a:t> </a:t>
            </a:r>
            <a:r>
              <a:rPr dirty="0"/>
              <a:t>(so,</a:t>
            </a:r>
            <a:r>
              <a:rPr dirty="0" spc="-40"/>
              <a:t> </a:t>
            </a:r>
            <a:r>
              <a:rPr dirty="0"/>
              <a:t>this</a:t>
            </a:r>
            <a:r>
              <a:rPr dirty="0" spc="-50"/>
              <a:t> </a:t>
            </a:r>
            <a:r>
              <a:rPr dirty="0"/>
              <a:t>example</a:t>
            </a:r>
            <a:r>
              <a:rPr dirty="0" spc="-55"/>
              <a:t> </a:t>
            </a:r>
            <a:r>
              <a:rPr dirty="0"/>
              <a:t>will</a:t>
            </a:r>
            <a:r>
              <a:rPr dirty="0" spc="-55"/>
              <a:t> </a:t>
            </a:r>
            <a:r>
              <a:rPr dirty="0" spc="-10"/>
              <a:t>return </a:t>
            </a:r>
            <a:r>
              <a:rPr dirty="0" spc="-10"/>
              <a:t>	</a:t>
            </a:r>
            <a:r>
              <a:rPr dirty="0" spc="-20"/>
              <a:t>FALSE,</a:t>
            </a:r>
            <a:r>
              <a:rPr dirty="0" spc="-65"/>
              <a:t> </a:t>
            </a:r>
            <a:r>
              <a:rPr dirty="0"/>
              <a:t>because</a:t>
            </a:r>
            <a:r>
              <a:rPr dirty="0" spc="-50"/>
              <a:t> </a:t>
            </a:r>
            <a:r>
              <a:rPr dirty="0"/>
              <a:t>not</a:t>
            </a:r>
            <a:r>
              <a:rPr dirty="0" spc="-50"/>
              <a:t> </a:t>
            </a:r>
            <a:r>
              <a:rPr dirty="0"/>
              <a:t>ALL</a:t>
            </a:r>
            <a:r>
              <a:rPr dirty="0" spc="-55"/>
              <a:t> </a:t>
            </a:r>
            <a:r>
              <a:rPr dirty="0" spc="-10"/>
              <a:t>records</a:t>
            </a:r>
            <a:r>
              <a:rPr dirty="0" spc="-55"/>
              <a:t> </a:t>
            </a:r>
            <a:r>
              <a:rPr dirty="0"/>
              <a:t>in</a:t>
            </a:r>
            <a:r>
              <a:rPr dirty="0" spc="-55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 spc="-10"/>
              <a:t>OrderDetails</a:t>
            </a:r>
            <a:r>
              <a:rPr dirty="0" spc="-60"/>
              <a:t> </a:t>
            </a:r>
            <a:r>
              <a:rPr dirty="0"/>
              <a:t>table</a:t>
            </a:r>
            <a:r>
              <a:rPr dirty="0" spc="-60"/>
              <a:t> </a:t>
            </a:r>
            <a:r>
              <a:rPr dirty="0"/>
              <a:t>has</a:t>
            </a:r>
            <a:r>
              <a:rPr dirty="0" spc="-55"/>
              <a:t> </a:t>
            </a:r>
            <a:r>
              <a:rPr dirty="0"/>
              <a:t>quantity</a:t>
            </a:r>
            <a:r>
              <a:rPr dirty="0" spc="-55"/>
              <a:t> </a:t>
            </a:r>
            <a:r>
              <a:rPr dirty="0"/>
              <a:t>=</a:t>
            </a:r>
            <a:r>
              <a:rPr dirty="0" spc="-55"/>
              <a:t> </a:t>
            </a:r>
            <a:r>
              <a:rPr dirty="0" spc="-20"/>
              <a:t>10):</a:t>
            </a: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pc="-10"/>
              <a:t>Syntax:</a:t>
            </a:r>
          </a:p>
          <a:p>
            <a:pPr marL="469900" marR="7063740">
              <a:lnSpc>
                <a:spcPct val="90000"/>
              </a:lnSpc>
              <a:spcBef>
                <a:spcPts val="505"/>
              </a:spcBef>
            </a:pPr>
            <a:r>
              <a:rPr dirty="0"/>
              <a:t>SELECT</a:t>
            </a:r>
            <a:r>
              <a:rPr dirty="0" spc="-95"/>
              <a:t> </a:t>
            </a:r>
            <a:r>
              <a:rPr dirty="0" spc="-10"/>
              <a:t>ProductName </a:t>
            </a:r>
            <a:r>
              <a:rPr dirty="0"/>
              <a:t>FROM</a:t>
            </a:r>
            <a:r>
              <a:rPr dirty="0" spc="-45"/>
              <a:t> </a:t>
            </a:r>
            <a:r>
              <a:rPr dirty="0" spc="-10"/>
              <a:t>Products </a:t>
            </a:r>
            <a:r>
              <a:rPr dirty="0"/>
              <a:t>WHERE</a:t>
            </a:r>
            <a:r>
              <a:rPr dirty="0" spc="-60"/>
              <a:t> </a:t>
            </a:r>
            <a:r>
              <a:rPr dirty="0" spc="-10"/>
              <a:t>ProductID</a:t>
            </a:r>
          </a:p>
          <a:p>
            <a:pPr marL="469900">
              <a:lnSpc>
                <a:spcPts val="2590"/>
              </a:lnSpc>
            </a:pPr>
            <a:r>
              <a:rPr dirty="0"/>
              <a:t>=</a:t>
            </a:r>
            <a:r>
              <a:rPr dirty="0" spc="-40"/>
              <a:t> </a:t>
            </a:r>
            <a:r>
              <a:rPr dirty="0"/>
              <a:t>ALL</a:t>
            </a:r>
            <a:r>
              <a:rPr dirty="0" spc="-40"/>
              <a:t> </a:t>
            </a:r>
            <a:r>
              <a:rPr dirty="0"/>
              <a:t>(SELECT</a:t>
            </a:r>
            <a:r>
              <a:rPr dirty="0" spc="-55"/>
              <a:t> </a:t>
            </a:r>
            <a:r>
              <a:rPr dirty="0"/>
              <a:t>ProductID</a:t>
            </a:r>
            <a:r>
              <a:rPr dirty="0" spc="-60"/>
              <a:t> </a:t>
            </a:r>
            <a:r>
              <a:rPr dirty="0"/>
              <a:t>FROM</a:t>
            </a:r>
            <a:r>
              <a:rPr dirty="0" spc="-60"/>
              <a:t> </a:t>
            </a:r>
            <a:r>
              <a:rPr dirty="0" spc="-10"/>
              <a:t>OrderDetails</a:t>
            </a:r>
            <a:r>
              <a:rPr dirty="0" spc="-55"/>
              <a:t> </a:t>
            </a:r>
            <a:r>
              <a:rPr dirty="0"/>
              <a:t>WHERE</a:t>
            </a:r>
            <a:r>
              <a:rPr dirty="0" spc="-45"/>
              <a:t> </a:t>
            </a:r>
            <a:r>
              <a:rPr dirty="0"/>
              <a:t>Quantity</a:t>
            </a:r>
            <a:r>
              <a:rPr dirty="0" spc="-60"/>
              <a:t> </a:t>
            </a:r>
            <a:r>
              <a:rPr dirty="0"/>
              <a:t>=</a:t>
            </a:r>
            <a:r>
              <a:rPr dirty="0" spc="-35"/>
              <a:t> </a:t>
            </a:r>
            <a:r>
              <a:rPr dirty="0" spc="-20"/>
              <a:t>10);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2701" rIns="0" bIns="0" rtlCol="0" vert="horz">
            <a:spAutoFit/>
          </a:bodyPr>
          <a:lstStyle/>
          <a:p>
            <a:pPr marL="191135">
              <a:lnSpc>
                <a:spcPct val="100000"/>
              </a:lnSpc>
              <a:spcBef>
                <a:spcPts val="105"/>
              </a:spcBef>
            </a:pP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62762" y="826769"/>
            <a:ext cx="0" cy="914400"/>
          </a:xfrm>
          <a:custGeom>
            <a:avLst/>
            <a:gdLst/>
            <a:ahLst/>
            <a:cxnLst/>
            <a:rect l="l" t="t" r="r" b="b"/>
            <a:pathLst>
              <a:path w="0"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22096" y="1935861"/>
            <a:ext cx="9186545" cy="4156075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4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r>
              <a:rPr dirty="0" sz="24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copies</a:t>
            </a:r>
            <a:r>
              <a:rPr dirty="0" sz="24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table.</a:t>
            </a:r>
            <a:endParaRPr sz="2400">
              <a:latin typeface="Calibri"/>
              <a:cs typeface="Calibri"/>
            </a:endParaRPr>
          </a:p>
          <a:p>
            <a:pPr marL="240029" marR="4712970" indent="-227329">
              <a:lnSpc>
                <a:spcPct val="107100"/>
              </a:lnSpc>
              <a:spcBef>
                <a:spcPts val="515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Copy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columns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table: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40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endParaRPr sz="2400">
              <a:latin typeface="Calibri"/>
              <a:cs typeface="Calibri"/>
            </a:endParaRPr>
          </a:p>
          <a:p>
            <a:pPr marL="469900" marR="4958080">
              <a:lnSpc>
                <a:spcPts val="2590"/>
              </a:lnSpc>
              <a:spcBef>
                <a:spcPts val="40"/>
              </a:spcBef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newtable</a:t>
            </a:r>
            <a:r>
              <a:rPr dirty="0" sz="2400" spc="-7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[IN</a:t>
            </a:r>
            <a:r>
              <a:rPr dirty="0" sz="24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externaldb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]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oldtable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ts val="2555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condition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;</a:t>
            </a:r>
            <a:endParaRPr sz="2400">
              <a:latin typeface="Calibri"/>
              <a:cs typeface="Calibri"/>
            </a:endParaRPr>
          </a:p>
          <a:p>
            <a:pPr marL="240029" marR="3727450" indent="-227329">
              <a:lnSpc>
                <a:spcPct val="98600"/>
              </a:lnSpc>
              <a:spcBef>
                <a:spcPts val="760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Copy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columns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table: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400" spc="-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column1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dirty="0" sz="240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column2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dirty="0" sz="24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column3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dirty="0" sz="240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...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24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newtable</a:t>
            </a:r>
            <a:r>
              <a:rPr dirty="0" sz="2400" spc="-7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[IN</a:t>
            </a:r>
            <a:r>
              <a:rPr dirty="0" sz="24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externaldb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]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ts val="2450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oldtable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ts val="2735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condition;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2096" y="727328"/>
            <a:ext cx="625221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pc="-9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FFFFFF"/>
                </a:solidFill>
                <a:latin typeface="Calibri"/>
                <a:cs typeface="Calibri"/>
              </a:rPr>
              <a:t>Examples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62762" y="826769"/>
            <a:ext cx="0" cy="914400"/>
          </a:xfrm>
          <a:custGeom>
            <a:avLst/>
            <a:gdLst/>
            <a:ahLst/>
            <a:cxnLst/>
            <a:rect l="l" t="t" r="r" b="b"/>
            <a:pathLst>
              <a:path w="0"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22096" y="2008098"/>
            <a:ext cx="9246870" cy="3754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marR="3235960" indent="-227965">
              <a:lnSpc>
                <a:spcPct val="1141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7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following</a:t>
            </a:r>
            <a:r>
              <a:rPr dirty="0" sz="17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17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r>
              <a:rPr dirty="0" sz="17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creates</a:t>
            </a:r>
            <a:r>
              <a:rPr dirty="0" sz="17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backup</a:t>
            </a:r>
            <a:r>
              <a:rPr dirty="0" sz="17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copy</a:t>
            </a:r>
            <a:r>
              <a:rPr dirty="0" sz="17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 Customers: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17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dirty="0" sz="17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17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CustomersBackup2017</a:t>
            </a:r>
            <a:endParaRPr sz="1700">
              <a:latin typeface="Calibri"/>
              <a:cs typeface="Calibri"/>
            </a:endParaRPr>
          </a:p>
          <a:p>
            <a:pPr marL="469900">
              <a:lnSpc>
                <a:spcPts val="1835"/>
              </a:lnSpc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7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Customers;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following</a:t>
            </a:r>
            <a:r>
              <a:rPr dirty="0" sz="17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1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uses</a:t>
            </a:r>
            <a:r>
              <a:rPr dirty="0" sz="17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clause</a:t>
            </a:r>
            <a:r>
              <a:rPr dirty="0" sz="17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copy</a:t>
            </a:r>
            <a:r>
              <a:rPr dirty="0" sz="1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1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17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dirty="0" sz="1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17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another</a:t>
            </a:r>
            <a:r>
              <a:rPr dirty="0" sz="17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database:</a:t>
            </a:r>
            <a:endParaRPr sz="1700">
              <a:latin typeface="Calibri"/>
              <a:cs typeface="Calibri"/>
            </a:endParaRPr>
          </a:p>
          <a:p>
            <a:pPr marL="469900" marR="3977004">
              <a:lnSpc>
                <a:spcPts val="1839"/>
              </a:lnSpc>
              <a:spcBef>
                <a:spcPts val="520"/>
              </a:spcBef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1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CustomersBackup2017</a:t>
            </a:r>
            <a:r>
              <a:rPr dirty="0" sz="17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'Backup.mdb'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7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Customers;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7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following</a:t>
            </a:r>
            <a:r>
              <a:rPr dirty="0" sz="17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17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r>
              <a:rPr dirty="0" sz="17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copies</a:t>
            </a:r>
            <a:r>
              <a:rPr dirty="0" sz="17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few</a:t>
            </a: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columns</a:t>
            </a:r>
            <a:r>
              <a:rPr dirty="0" sz="17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17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dirty="0" sz="17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table:</a:t>
            </a:r>
            <a:endParaRPr sz="1700">
              <a:latin typeface="Calibri"/>
              <a:cs typeface="Calibri"/>
            </a:endParaRPr>
          </a:p>
          <a:p>
            <a:pPr marL="469900" marR="2878455">
              <a:lnSpc>
                <a:spcPts val="1839"/>
              </a:lnSpc>
              <a:spcBef>
                <a:spcPts val="515"/>
              </a:spcBef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17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CustomerName,</a:t>
            </a:r>
            <a:r>
              <a:rPr dirty="0" sz="17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ContactName</a:t>
            </a:r>
            <a:r>
              <a:rPr dirty="0" sz="17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17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CustomersBackup2017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7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Customers.</a:t>
            </a:r>
            <a:endParaRPr sz="1700">
              <a:latin typeface="Calibri"/>
              <a:cs typeface="Calibri"/>
            </a:endParaRPr>
          </a:p>
          <a:p>
            <a:pPr marL="240665" marR="1878964" indent="-227965">
              <a:lnSpc>
                <a:spcPct val="114100"/>
              </a:lnSpc>
              <a:spcBef>
                <a:spcPts val="484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7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following</a:t>
            </a:r>
            <a:r>
              <a:rPr dirty="0" sz="17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17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r>
              <a:rPr dirty="0" sz="17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copies</a:t>
            </a:r>
            <a:r>
              <a:rPr dirty="0" sz="17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7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German</a:t>
            </a:r>
            <a:r>
              <a:rPr dirty="0" sz="17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dirty="0" sz="17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17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dirty="0" sz="17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table: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17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dirty="0" sz="17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17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CustomersGermany</a:t>
            </a:r>
            <a:endParaRPr sz="1700">
              <a:latin typeface="Calibri"/>
              <a:cs typeface="Calibri"/>
            </a:endParaRPr>
          </a:p>
          <a:p>
            <a:pPr marL="469900">
              <a:lnSpc>
                <a:spcPts val="1735"/>
              </a:lnSpc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7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endParaRPr sz="1700">
              <a:latin typeface="Calibri"/>
              <a:cs typeface="Calibri"/>
            </a:endParaRPr>
          </a:p>
          <a:p>
            <a:pPr marL="469900">
              <a:lnSpc>
                <a:spcPts val="1939"/>
              </a:lnSpc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17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Country</a:t>
            </a:r>
            <a:r>
              <a:rPr dirty="0" sz="17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 'Germany';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2701" rIns="0" bIns="0" rtlCol="0" vert="horz">
            <a:spAutoFit/>
          </a:bodyPr>
          <a:lstStyle/>
          <a:p>
            <a:pPr marL="191135">
              <a:lnSpc>
                <a:spcPct val="100000"/>
              </a:lnSpc>
              <a:spcBef>
                <a:spcPts val="105"/>
              </a:spcBef>
            </a:pP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pc="-9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INSERT</a:t>
            </a:r>
            <a:r>
              <a:rPr dirty="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62762" y="826769"/>
            <a:ext cx="0" cy="914400"/>
          </a:xfrm>
          <a:custGeom>
            <a:avLst/>
            <a:gdLst/>
            <a:ahLst/>
            <a:cxnLst/>
            <a:rect l="l" t="t" r="r" b="b"/>
            <a:pathLst>
              <a:path w="0"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22096" y="1944090"/>
            <a:ext cx="8607425" cy="394589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9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7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INSERT</a:t>
            </a:r>
            <a:r>
              <a:rPr dirty="0" sz="17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17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17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r>
              <a:rPr dirty="0" sz="17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copies</a:t>
            </a:r>
            <a:r>
              <a:rPr dirty="0" sz="17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7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dirty="0" sz="17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17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7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inserts</a:t>
            </a:r>
            <a:r>
              <a:rPr dirty="0" sz="17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17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17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another</a:t>
            </a:r>
            <a:r>
              <a:rPr dirty="0" sz="17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table.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INSERT</a:t>
            </a:r>
            <a:r>
              <a:rPr dirty="0" sz="17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17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17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requires</a:t>
            </a:r>
            <a:r>
              <a:rPr dirty="0" sz="17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17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7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types</a:t>
            </a:r>
            <a:r>
              <a:rPr dirty="0" sz="17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7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source</a:t>
            </a:r>
            <a:r>
              <a:rPr dirty="0" sz="17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7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target</a:t>
            </a:r>
            <a:r>
              <a:rPr dirty="0" sz="17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r>
              <a:rPr dirty="0" sz="17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match.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7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existing</a:t>
            </a:r>
            <a:r>
              <a:rPr dirty="0" sz="17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records</a:t>
            </a:r>
            <a:r>
              <a:rPr dirty="0" sz="17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7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7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target</a:t>
            </a:r>
            <a:r>
              <a:rPr dirty="0" sz="17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17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17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unaffected.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INSERT</a:t>
            </a:r>
            <a:r>
              <a:rPr dirty="0" sz="17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17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17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Syntax</a:t>
            </a:r>
            <a:endParaRPr sz="1700">
              <a:latin typeface="Calibri"/>
              <a:cs typeface="Calibri"/>
            </a:endParaRPr>
          </a:p>
          <a:p>
            <a:pPr marL="240665" marR="3998595" indent="-227965">
              <a:lnSpc>
                <a:spcPct val="114700"/>
              </a:lnSpc>
              <a:spcBef>
                <a:spcPts val="495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Copy</a:t>
            </a:r>
            <a:r>
              <a:rPr dirty="0" sz="17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17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columns</a:t>
            </a:r>
            <a:r>
              <a:rPr dirty="0" sz="17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dirty="0" sz="17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17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7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another</a:t>
            </a:r>
            <a:r>
              <a:rPr dirty="0" sz="17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table: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INSERT</a:t>
            </a:r>
            <a:r>
              <a:rPr dirty="0" sz="17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17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FFFFFF"/>
                </a:solidFill>
                <a:latin typeface="Calibri"/>
                <a:cs typeface="Calibri"/>
              </a:rPr>
              <a:t>table2</a:t>
            </a:r>
            <a:endParaRPr sz="1700">
              <a:latin typeface="Calibri"/>
              <a:cs typeface="Calibri"/>
            </a:endParaRPr>
          </a:p>
          <a:p>
            <a:pPr marL="469900">
              <a:lnSpc>
                <a:spcPts val="1735"/>
              </a:lnSpc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17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7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FFFFFF"/>
                </a:solidFill>
                <a:latin typeface="Calibri"/>
                <a:cs typeface="Calibri"/>
              </a:rPr>
              <a:t>table1</a:t>
            </a:r>
            <a:endParaRPr sz="1700">
              <a:latin typeface="Calibri"/>
              <a:cs typeface="Calibri"/>
            </a:endParaRPr>
          </a:p>
          <a:p>
            <a:pPr marL="469900">
              <a:lnSpc>
                <a:spcPts val="1939"/>
              </a:lnSpc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17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FFFFFF"/>
                </a:solidFill>
                <a:latin typeface="Calibri"/>
                <a:cs typeface="Calibri"/>
              </a:rPr>
              <a:t>condition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;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Copy</a:t>
            </a:r>
            <a:r>
              <a:rPr dirty="0" sz="17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dirty="0" sz="17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dirty="0" sz="1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columns</a:t>
            </a:r>
            <a:r>
              <a:rPr dirty="0" sz="17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dirty="0" sz="17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17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another</a:t>
            </a:r>
            <a:r>
              <a:rPr dirty="0" sz="1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table:</a:t>
            </a:r>
            <a:endParaRPr sz="1700">
              <a:latin typeface="Calibri"/>
              <a:cs typeface="Calibri"/>
            </a:endParaRPr>
          </a:p>
          <a:p>
            <a:pPr marL="469900" marR="3513454">
              <a:lnSpc>
                <a:spcPts val="1839"/>
              </a:lnSpc>
              <a:spcBef>
                <a:spcPts val="530"/>
              </a:spcBef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INSERT</a:t>
            </a:r>
            <a:r>
              <a:rPr dirty="0" sz="17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17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FFFFFF"/>
                </a:solidFill>
                <a:latin typeface="Calibri"/>
                <a:cs typeface="Calibri"/>
              </a:rPr>
              <a:t>table2</a:t>
            </a:r>
            <a:r>
              <a:rPr dirty="0" sz="1700" spc="-4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dirty="0" sz="1700" i="1">
                <a:solidFill>
                  <a:srgbClr val="FFFFFF"/>
                </a:solidFill>
                <a:latin typeface="Calibri"/>
                <a:cs typeface="Calibri"/>
              </a:rPr>
              <a:t>column1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dirty="0" sz="17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FFFFFF"/>
                </a:solidFill>
                <a:latin typeface="Calibri"/>
                <a:cs typeface="Calibri"/>
              </a:rPr>
              <a:t>column2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dirty="0" sz="17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FFFFFF"/>
                </a:solidFill>
                <a:latin typeface="Calibri"/>
                <a:cs typeface="Calibri"/>
              </a:rPr>
              <a:t>column3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dirty="0" sz="17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Calibri"/>
                <a:cs typeface="Calibri"/>
              </a:rPr>
              <a:t>...)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17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FFFFFF"/>
                </a:solidFill>
                <a:latin typeface="Calibri"/>
                <a:cs typeface="Calibri"/>
              </a:rPr>
              <a:t>column1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dirty="0" sz="17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FFFFFF"/>
                </a:solidFill>
                <a:latin typeface="Calibri"/>
                <a:cs typeface="Calibri"/>
              </a:rPr>
              <a:t>column2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dirty="0" sz="17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FFFFFF"/>
                </a:solidFill>
                <a:latin typeface="Calibri"/>
                <a:cs typeface="Calibri"/>
              </a:rPr>
              <a:t>column3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dirty="0" sz="17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...</a:t>
            </a:r>
            <a:endParaRPr sz="1700">
              <a:latin typeface="Calibri"/>
              <a:cs typeface="Calibri"/>
            </a:endParaRPr>
          </a:p>
          <a:p>
            <a:pPr marL="469900">
              <a:lnSpc>
                <a:spcPts val="1700"/>
              </a:lnSpc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7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FFFFFF"/>
                </a:solidFill>
                <a:latin typeface="Calibri"/>
                <a:cs typeface="Calibri"/>
              </a:rPr>
              <a:t>table1</a:t>
            </a:r>
            <a:endParaRPr sz="1700">
              <a:latin typeface="Calibri"/>
              <a:cs typeface="Calibri"/>
            </a:endParaRPr>
          </a:p>
          <a:p>
            <a:pPr marL="469900">
              <a:lnSpc>
                <a:spcPts val="1939"/>
              </a:lnSpc>
            </a:pP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17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FFFFFF"/>
                </a:solidFill>
                <a:latin typeface="Calibri"/>
                <a:cs typeface="Calibri"/>
              </a:rPr>
              <a:t>condition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;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2096" y="706958"/>
            <a:ext cx="8017509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pc="-10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INSERT</a:t>
            </a:r>
            <a:r>
              <a:rPr dirty="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pc="-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pc="-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FFFFFF"/>
                </a:solidFill>
                <a:latin typeface="Calibri"/>
                <a:cs typeface="Calibri"/>
              </a:rPr>
              <a:t>Examples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62762" y="826769"/>
            <a:ext cx="0" cy="914400"/>
          </a:xfrm>
          <a:custGeom>
            <a:avLst/>
            <a:gdLst/>
            <a:ahLst/>
            <a:cxnLst/>
            <a:rect l="l" t="t" r="r" b="b"/>
            <a:pathLst>
              <a:path w="0"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22096" y="2036445"/>
            <a:ext cx="10208895" cy="3519804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41300" marR="5080" indent="-228600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following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copies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"Suppliers"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"Customers"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(the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columns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dirty="0" sz="20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filled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data,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contain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NULL):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ts val="2280"/>
              </a:lnSpc>
              <a:spcBef>
                <a:spcPts val="229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INSERT</a:t>
            </a:r>
            <a:r>
              <a:rPr dirty="0" sz="200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20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dirty="0" sz="20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(CustomerName,</a:t>
            </a:r>
            <a:r>
              <a:rPr dirty="0" sz="20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City,</a:t>
            </a:r>
            <a:r>
              <a:rPr dirty="0" sz="20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Country)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ts val="2280"/>
              </a:lnSpc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0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SupplierName,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City,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Country</a:t>
            </a:r>
            <a:r>
              <a:rPr dirty="0" sz="20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Suppliers;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following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copies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"Suppliers"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"Customers"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(fill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columns):</a:t>
            </a:r>
            <a:endParaRPr sz="2000">
              <a:latin typeface="Calibri"/>
              <a:cs typeface="Calibri"/>
            </a:endParaRPr>
          </a:p>
          <a:p>
            <a:pPr marL="469900" marR="254635">
              <a:lnSpc>
                <a:spcPts val="2160"/>
              </a:lnSpc>
              <a:spcBef>
                <a:spcPts val="535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INSERT</a:t>
            </a:r>
            <a:r>
              <a:rPr dirty="0" sz="200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20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(CustomerName,</a:t>
            </a:r>
            <a:r>
              <a:rPr dirty="0" sz="20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ContactName,</a:t>
            </a:r>
            <a:r>
              <a:rPr dirty="0" sz="20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Address,</a:t>
            </a:r>
            <a:r>
              <a:rPr dirty="0" sz="20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City,</a:t>
            </a:r>
            <a:r>
              <a:rPr dirty="0" sz="20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PostalCode,</a:t>
            </a:r>
            <a:r>
              <a:rPr dirty="0" sz="20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Country)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0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SupplierName,</a:t>
            </a:r>
            <a:r>
              <a:rPr dirty="0" sz="20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ContactName,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Address,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City,</a:t>
            </a:r>
            <a:r>
              <a:rPr dirty="0" sz="20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PostalCode,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Country</a:t>
            </a:r>
            <a:r>
              <a:rPr dirty="0" sz="20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Suppliers;</a:t>
            </a:r>
            <a:endParaRPr sz="2000">
              <a:latin typeface="Calibri"/>
              <a:cs typeface="Calibri"/>
            </a:endParaRPr>
          </a:p>
          <a:p>
            <a:pPr marL="240665" marR="1623695" indent="-227965">
              <a:lnSpc>
                <a:spcPct val="111100"/>
              </a:lnSpc>
              <a:spcBef>
                <a:spcPts val="459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following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copies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dirty="0" sz="20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German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suppliers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"Customers":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INSERT</a:t>
            </a:r>
            <a:r>
              <a:rPr dirty="0" sz="200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20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dirty="0" sz="20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(CustomerName,</a:t>
            </a:r>
            <a:r>
              <a:rPr dirty="0" sz="20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City,</a:t>
            </a:r>
            <a:r>
              <a:rPr dirty="0" sz="20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Country)</a:t>
            </a:r>
            <a:endParaRPr sz="2000">
              <a:latin typeface="Calibri"/>
              <a:cs typeface="Calibri"/>
            </a:endParaRPr>
          </a:p>
          <a:p>
            <a:pPr marL="469900" marR="4339590">
              <a:lnSpc>
                <a:spcPts val="2160"/>
              </a:lnSpc>
              <a:spcBef>
                <a:spcPts val="30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dirty="0" sz="20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SupplierName,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City,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Country</a:t>
            </a:r>
            <a:r>
              <a:rPr dirty="0" sz="20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Suppliers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Country='Germany';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527680" y="775966"/>
            <a:ext cx="1569085" cy="2356485"/>
          </a:xfrm>
          <a:custGeom>
            <a:avLst/>
            <a:gdLst/>
            <a:ahLst/>
            <a:cxnLst/>
            <a:rect l="l" t="t" r="r" b="b"/>
            <a:pathLst>
              <a:path w="1569085" h="2356485">
                <a:moveTo>
                  <a:pt x="0" y="1781"/>
                </a:moveTo>
                <a:lnTo>
                  <a:pt x="48323" y="121"/>
                </a:lnTo>
                <a:lnTo>
                  <a:pt x="96341" y="0"/>
                </a:lnTo>
                <a:lnTo>
                  <a:pt x="144027" y="1393"/>
                </a:lnTo>
                <a:lnTo>
                  <a:pt x="191357" y="4280"/>
                </a:lnTo>
                <a:lnTo>
                  <a:pt x="238308" y="8638"/>
                </a:lnTo>
                <a:lnTo>
                  <a:pt x="284855" y="14446"/>
                </a:lnTo>
                <a:lnTo>
                  <a:pt x="330974" y="21681"/>
                </a:lnTo>
                <a:lnTo>
                  <a:pt x="376640" y="30321"/>
                </a:lnTo>
                <a:lnTo>
                  <a:pt x="421828" y="40345"/>
                </a:lnTo>
                <a:lnTo>
                  <a:pt x="466516" y="51730"/>
                </a:lnTo>
                <a:lnTo>
                  <a:pt x="510678" y="64455"/>
                </a:lnTo>
                <a:lnTo>
                  <a:pt x="554289" y="78497"/>
                </a:lnTo>
                <a:lnTo>
                  <a:pt x="597327" y="93834"/>
                </a:lnTo>
                <a:lnTo>
                  <a:pt x="639765" y="110444"/>
                </a:lnTo>
                <a:lnTo>
                  <a:pt x="681581" y="128306"/>
                </a:lnTo>
                <a:lnTo>
                  <a:pt x="722749" y="147396"/>
                </a:lnTo>
                <a:lnTo>
                  <a:pt x="763246" y="167695"/>
                </a:lnTo>
                <a:lnTo>
                  <a:pt x="803047" y="189178"/>
                </a:lnTo>
                <a:lnTo>
                  <a:pt x="842127" y="211824"/>
                </a:lnTo>
                <a:lnTo>
                  <a:pt x="880463" y="235612"/>
                </a:lnTo>
                <a:lnTo>
                  <a:pt x="918030" y="260519"/>
                </a:lnTo>
                <a:lnTo>
                  <a:pt x="954803" y="286523"/>
                </a:lnTo>
                <a:lnTo>
                  <a:pt x="990759" y="313603"/>
                </a:lnTo>
                <a:lnTo>
                  <a:pt x="1025873" y="341735"/>
                </a:lnTo>
                <a:lnTo>
                  <a:pt x="1060121" y="370899"/>
                </a:lnTo>
                <a:lnTo>
                  <a:pt x="1093478" y="401072"/>
                </a:lnTo>
                <a:lnTo>
                  <a:pt x="1125920" y="432232"/>
                </a:lnTo>
                <a:lnTo>
                  <a:pt x="1157422" y="464357"/>
                </a:lnTo>
                <a:lnTo>
                  <a:pt x="1187962" y="497425"/>
                </a:lnTo>
                <a:lnTo>
                  <a:pt x="1217513" y="531414"/>
                </a:lnTo>
                <a:lnTo>
                  <a:pt x="1246052" y="566302"/>
                </a:lnTo>
                <a:lnTo>
                  <a:pt x="1273555" y="602068"/>
                </a:lnTo>
                <a:lnTo>
                  <a:pt x="1299996" y="638688"/>
                </a:lnTo>
                <a:lnTo>
                  <a:pt x="1325353" y="676141"/>
                </a:lnTo>
                <a:lnTo>
                  <a:pt x="1349600" y="714406"/>
                </a:lnTo>
                <a:lnTo>
                  <a:pt x="1372712" y="753459"/>
                </a:lnTo>
                <a:lnTo>
                  <a:pt x="1394667" y="793280"/>
                </a:lnTo>
                <a:lnTo>
                  <a:pt x="1415439" y="833845"/>
                </a:lnTo>
                <a:lnTo>
                  <a:pt x="1435005" y="875134"/>
                </a:lnTo>
                <a:lnTo>
                  <a:pt x="1453339" y="917123"/>
                </a:lnTo>
                <a:lnTo>
                  <a:pt x="1470418" y="959791"/>
                </a:lnTo>
                <a:lnTo>
                  <a:pt x="1486216" y="1003117"/>
                </a:lnTo>
                <a:lnTo>
                  <a:pt x="1500711" y="1047077"/>
                </a:lnTo>
                <a:lnTo>
                  <a:pt x="1513877" y="1091650"/>
                </a:lnTo>
                <a:lnTo>
                  <a:pt x="1525690" y="1136814"/>
                </a:lnTo>
                <a:lnTo>
                  <a:pt x="1536127" y="1182547"/>
                </a:lnTo>
                <a:lnTo>
                  <a:pt x="1545161" y="1228826"/>
                </a:lnTo>
                <a:lnTo>
                  <a:pt x="1552770" y="1275631"/>
                </a:lnTo>
                <a:lnTo>
                  <a:pt x="1558929" y="1322938"/>
                </a:lnTo>
                <a:lnTo>
                  <a:pt x="1563613" y="1370727"/>
                </a:lnTo>
                <a:lnTo>
                  <a:pt x="1566798" y="1418974"/>
                </a:lnTo>
                <a:lnTo>
                  <a:pt x="1568471" y="1469038"/>
                </a:lnTo>
                <a:lnTo>
                  <a:pt x="1568467" y="1519002"/>
                </a:lnTo>
                <a:lnTo>
                  <a:pt x="1566799" y="1568826"/>
                </a:lnTo>
                <a:lnTo>
                  <a:pt x="1563476" y="1618470"/>
                </a:lnTo>
                <a:lnTo>
                  <a:pt x="1558512" y="1667896"/>
                </a:lnTo>
                <a:lnTo>
                  <a:pt x="1551917" y="1717062"/>
                </a:lnTo>
                <a:lnTo>
                  <a:pt x="1543702" y="1765931"/>
                </a:lnTo>
                <a:lnTo>
                  <a:pt x="1533880" y="1814462"/>
                </a:lnTo>
                <a:lnTo>
                  <a:pt x="1522462" y="1862616"/>
                </a:lnTo>
                <a:lnTo>
                  <a:pt x="1509458" y="1910353"/>
                </a:lnTo>
                <a:lnTo>
                  <a:pt x="1494881" y="1957633"/>
                </a:lnTo>
                <a:lnTo>
                  <a:pt x="1478742" y="2004418"/>
                </a:lnTo>
                <a:lnTo>
                  <a:pt x="1461052" y="2050668"/>
                </a:lnTo>
                <a:lnTo>
                  <a:pt x="1441823" y="2096343"/>
                </a:lnTo>
                <a:lnTo>
                  <a:pt x="1421066" y="2141403"/>
                </a:lnTo>
                <a:lnTo>
                  <a:pt x="1398793" y="2185810"/>
                </a:lnTo>
                <a:lnTo>
                  <a:pt x="1375015" y="2229523"/>
                </a:lnTo>
                <a:lnTo>
                  <a:pt x="1349743" y="2272503"/>
                </a:lnTo>
                <a:lnTo>
                  <a:pt x="1322989" y="2314711"/>
                </a:lnTo>
                <a:lnTo>
                  <a:pt x="1294765" y="2356107"/>
                </a:lnTo>
              </a:path>
            </a:pathLst>
          </a:custGeom>
          <a:ln w="127000">
            <a:solidFill>
              <a:srgbClr val="8063A1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61060" y="5649467"/>
            <a:ext cx="546100" cy="546100"/>
          </a:xfrm>
          <a:custGeom>
            <a:avLst/>
            <a:gdLst/>
            <a:ahLst/>
            <a:cxnLst/>
            <a:rect l="l" t="t" r="r" b="b"/>
            <a:pathLst>
              <a:path w="546100" h="546100">
                <a:moveTo>
                  <a:pt x="272796" y="0"/>
                </a:moveTo>
                <a:lnTo>
                  <a:pt x="223760" y="4395"/>
                </a:lnTo>
                <a:lnTo>
                  <a:pt x="177609" y="17066"/>
                </a:lnTo>
                <a:lnTo>
                  <a:pt x="135111" y="37244"/>
                </a:lnTo>
                <a:lnTo>
                  <a:pt x="97037" y="64158"/>
                </a:lnTo>
                <a:lnTo>
                  <a:pt x="64158" y="97037"/>
                </a:lnTo>
                <a:lnTo>
                  <a:pt x="37244" y="135111"/>
                </a:lnTo>
                <a:lnTo>
                  <a:pt x="17066" y="177609"/>
                </a:lnTo>
                <a:lnTo>
                  <a:pt x="4395" y="223760"/>
                </a:lnTo>
                <a:lnTo>
                  <a:pt x="0" y="272795"/>
                </a:lnTo>
                <a:lnTo>
                  <a:pt x="4395" y="321831"/>
                </a:lnTo>
                <a:lnTo>
                  <a:pt x="17066" y="367982"/>
                </a:lnTo>
                <a:lnTo>
                  <a:pt x="37244" y="410480"/>
                </a:lnTo>
                <a:lnTo>
                  <a:pt x="64158" y="448554"/>
                </a:lnTo>
                <a:lnTo>
                  <a:pt x="97037" y="481433"/>
                </a:lnTo>
                <a:lnTo>
                  <a:pt x="135111" y="508347"/>
                </a:lnTo>
                <a:lnTo>
                  <a:pt x="177609" y="528525"/>
                </a:lnTo>
                <a:lnTo>
                  <a:pt x="223760" y="541196"/>
                </a:lnTo>
                <a:lnTo>
                  <a:pt x="272796" y="545591"/>
                </a:lnTo>
                <a:lnTo>
                  <a:pt x="321821" y="541196"/>
                </a:lnTo>
                <a:lnTo>
                  <a:pt x="367967" y="528525"/>
                </a:lnTo>
                <a:lnTo>
                  <a:pt x="410464" y="508347"/>
                </a:lnTo>
                <a:lnTo>
                  <a:pt x="448538" y="481433"/>
                </a:lnTo>
                <a:lnTo>
                  <a:pt x="481420" y="448554"/>
                </a:lnTo>
                <a:lnTo>
                  <a:pt x="508338" y="410480"/>
                </a:lnTo>
                <a:lnTo>
                  <a:pt x="528520" y="367982"/>
                </a:lnTo>
                <a:lnTo>
                  <a:pt x="541195" y="321831"/>
                </a:lnTo>
                <a:lnTo>
                  <a:pt x="545592" y="272795"/>
                </a:lnTo>
                <a:lnTo>
                  <a:pt x="541195" y="223760"/>
                </a:lnTo>
                <a:lnTo>
                  <a:pt x="528520" y="177609"/>
                </a:lnTo>
                <a:lnTo>
                  <a:pt x="508338" y="135111"/>
                </a:lnTo>
                <a:lnTo>
                  <a:pt x="481420" y="97037"/>
                </a:lnTo>
                <a:lnTo>
                  <a:pt x="448538" y="64158"/>
                </a:lnTo>
                <a:lnTo>
                  <a:pt x="410463" y="37244"/>
                </a:lnTo>
                <a:lnTo>
                  <a:pt x="367967" y="17066"/>
                </a:lnTo>
                <a:lnTo>
                  <a:pt x="321821" y="4395"/>
                </a:lnTo>
                <a:lnTo>
                  <a:pt x="272796" y="0"/>
                </a:lnTo>
                <a:close/>
              </a:path>
            </a:pathLst>
          </a:custGeom>
          <a:solidFill>
            <a:srgbClr val="4AAC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410080" y="3213303"/>
            <a:ext cx="217170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25">
                <a:latin typeface="Calibri"/>
                <a:cs typeface="Calibri"/>
              </a:rPr>
              <a:t>contents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5168646" y="2234945"/>
            <a:ext cx="3130550" cy="2034539"/>
          </a:xfrm>
          <a:custGeom>
            <a:avLst/>
            <a:gdLst/>
            <a:ahLst/>
            <a:cxnLst/>
            <a:rect l="l" t="t" r="r" b="b"/>
            <a:pathLst>
              <a:path w="3130550" h="2034539">
                <a:moveTo>
                  <a:pt x="2791205" y="0"/>
                </a:moveTo>
                <a:lnTo>
                  <a:pt x="339089" y="0"/>
                </a:lnTo>
                <a:lnTo>
                  <a:pt x="293066" y="3094"/>
                </a:lnTo>
                <a:lnTo>
                  <a:pt x="248928" y="12109"/>
                </a:lnTo>
                <a:lnTo>
                  <a:pt x="207079" y="26640"/>
                </a:lnTo>
                <a:lnTo>
                  <a:pt x="167922" y="46284"/>
                </a:lnTo>
                <a:lnTo>
                  <a:pt x="131860" y="70638"/>
                </a:lnTo>
                <a:lnTo>
                  <a:pt x="99298" y="99298"/>
                </a:lnTo>
                <a:lnTo>
                  <a:pt x="70638" y="131860"/>
                </a:lnTo>
                <a:lnTo>
                  <a:pt x="46284" y="167922"/>
                </a:lnTo>
                <a:lnTo>
                  <a:pt x="26640" y="207079"/>
                </a:lnTo>
                <a:lnTo>
                  <a:pt x="12109" y="248928"/>
                </a:lnTo>
                <a:lnTo>
                  <a:pt x="3094" y="293066"/>
                </a:lnTo>
                <a:lnTo>
                  <a:pt x="0" y="339089"/>
                </a:lnTo>
                <a:lnTo>
                  <a:pt x="0" y="1695449"/>
                </a:lnTo>
                <a:lnTo>
                  <a:pt x="3094" y="1741473"/>
                </a:lnTo>
                <a:lnTo>
                  <a:pt x="12109" y="1785611"/>
                </a:lnTo>
                <a:lnTo>
                  <a:pt x="26640" y="1827460"/>
                </a:lnTo>
                <a:lnTo>
                  <a:pt x="46284" y="1866617"/>
                </a:lnTo>
                <a:lnTo>
                  <a:pt x="70638" y="1902679"/>
                </a:lnTo>
                <a:lnTo>
                  <a:pt x="99298" y="1935241"/>
                </a:lnTo>
                <a:lnTo>
                  <a:pt x="131860" y="1963901"/>
                </a:lnTo>
                <a:lnTo>
                  <a:pt x="167922" y="1988255"/>
                </a:lnTo>
                <a:lnTo>
                  <a:pt x="207079" y="2007899"/>
                </a:lnTo>
                <a:lnTo>
                  <a:pt x="248928" y="2022430"/>
                </a:lnTo>
                <a:lnTo>
                  <a:pt x="293066" y="2031445"/>
                </a:lnTo>
                <a:lnTo>
                  <a:pt x="339089" y="2034539"/>
                </a:lnTo>
                <a:lnTo>
                  <a:pt x="2791205" y="2034539"/>
                </a:lnTo>
                <a:lnTo>
                  <a:pt x="2837229" y="2031445"/>
                </a:lnTo>
                <a:lnTo>
                  <a:pt x="2881367" y="2022430"/>
                </a:lnTo>
                <a:lnTo>
                  <a:pt x="2923216" y="2007899"/>
                </a:lnTo>
                <a:lnTo>
                  <a:pt x="2962373" y="1988255"/>
                </a:lnTo>
                <a:lnTo>
                  <a:pt x="2998435" y="1963901"/>
                </a:lnTo>
                <a:lnTo>
                  <a:pt x="3030997" y="1935241"/>
                </a:lnTo>
                <a:lnTo>
                  <a:pt x="3059657" y="1902679"/>
                </a:lnTo>
                <a:lnTo>
                  <a:pt x="3084011" y="1866617"/>
                </a:lnTo>
                <a:lnTo>
                  <a:pt x="3103655" y="1827460"/>
                </a:lnTo>
                <a:lnTo>
                  <a:pt x="3118186" y="1785611"/>
                </a:lnTo>
                <a:lnTo>
                  <a:pt x="3127201" y="1741473"/>
                </a:lnTo>
                <a:lnTo>
                  <a:pt x="3130296" y="1695449"/>
                </a:lnTo>
                <a:lnTo>
                  <a:pt x="3130296" y="339089"/>
                </a:lnTo>
                <a:lnTo>
                  <a:pt x="3127201" y="293066"/>
                </a:lnTo>
                <a:lnTo>
                  <a:pt x="3118186" y="248928"/>
                </a:lnTo>
                <a:lnTo>
                  <a:pt x="3103655" y="207079"/>
                </a:lnTo>
                <a:lnTo>
                  <a:pt x="3084011" y="167922"/>
                </a:lnTo>
                <a:lnTo>
                  <a:pt x="3059657" y="131860"/>
                </a:lnTo>
                <a:lnTo>
                  <a:pt x="3030997" y="99298"/>
                </a:lnTo>
                <a:lnTo>
                  <a:pt x="2998435" y="70638"/>
                </a:lnTo>
                <a:lnTo>
                  <a:pt x="2962373" y="46284"/>
                </a:lnTo>
                <a:lnTo>
                  <a:pt x="2923216" y="26640"/>
                </a:lnTo>
                <a:lnTo>
                  <a:pt x="2881367" y="12109"/>
                </a:lnTo>
                <a:lnTo>
                  <a:pt x="2837229" y="3094"/>
                </a:lnTo>
                <a:lnTo>
                  <a:pt x="2791205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076569" y="2774441"/>
            <a:ext cx="1315720" cy="802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100" spc="-10">
                <a:solidFill>
                  <a:srgbClr val="FFFFFF"/>
                </a:solidFill>
                <a:latin typeface="Calibri"/>
                <a:cs typeface="Calibri"/>
              </a:rPr>
              <a:t>Joins</a:t>
            </a:r>
            <a:endParaRPr sz="51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7076249" y="1519148"/>
            <a:ext cx="4679315" cy="2750820"/>
            <a:chOff x="7076249" y="1519148"/>
            <a:chExt cx="4679315" cy="2750820"/>
          </a:xfrm>
        </p:grpSpPr>
        <p:sp>
          <p:nvSpPr>
            <p:cNvPr id="8" name="object 8" descr=""/>
            <p:cNvSpPr/>
            <p:nvPr/>
          </p:nvSpPr>
          <p:spPr>
            <a:xfrm>
              <a:off x="7081011" y="1523910"/>
              <a:ext cx="2759710" cy="688340"/>
            </a:xfrm>
            <a:custGeom>
              <a:avLst/>
              <a:gdLst/>
              <a:ahLst/>
              <a:cxnLst/>
              <a:rect l="l" t="t" r="r" b="b"/>
              <a:pathLst>
                <a:path w="2759709" h="688339">
                  <a:moveTo>
                    <a:pt x="0" y="687921"/>
                  </a:moveTo>
                  <a:lnTo>
                    <a:pt x="29629" y="649701"/>
                  </a:lnTo>
                  <a:lnTo>
                    <a:pt x="60112" y="612536"/>
                  </a:lnTo>
                  <a:lnTo>
                    <a:pt x="91424" y="576429"/>
                  </a:lnTo>
                  <a:lnTo>
                    <a:pt x="123541" y="541383"/>
                  </a:lnTo>
                  <a:lnTo>
                    <a:pt x="156438" y="507403"/>
                  </a:lnTo>
                  <a:lnTo>
                    <a:pt x="190092" y="474490"/>
                  </a:lnTo>
                  <a:lnTo>
                    <a:pt x="224478" y="442649"/>
                  </a:lnTo>
                  <a:lnTo>
                    <a:pt x="259571" y="411883"/>
                  </a:lnTo>
                  <a:lnTo>
                    <a:pt x="295348" y="382195"/>
                  </a:lnTo>
                  <a:lnTo>
                    <a:pt x="331784" y="353589"/>
                  </a:lnTo>
                  <a:lnTo>
                    <a:pt x="368855" y="326069"/>
                  </a:lnTo>
                  <a:lnTo>
                    <a:pt x="406536" y="299637"/>
                  </a:lnTo>
                  <a:lnTo>
                    <a:pt x="444804" y="274297"/>
                  </a:lnTo>
                  <a:lnTo>
                    <a:pt x="483634" y="250052"/>
                  </a:lnTo>
                  <a:lnTo>
                    <a:pt x="523002" y="226907"/>
                  </a:lnTo>
                  <a:lnTo>
                    <a:pt x="562884" y="204864"/>
                  </a:lnTo>
                  <a:lnTo>
                    <a:pt x="603255" y="183926"/>
                  </a:lnTo>
                  <a:lnTo>
                    <a:pt x="644091" y="164097"/>
                  </a:lnTo>
                  <a:lnTo>
                    <a:pt x="685368" y="145381"/>
                  </a:lnTo>
                  <a:lnTo>
                    <a:pt x="727061" y="127781"/>
                  </a:lnTo>
                  <a:lnTo>
                    <a:pt x="769147" y="111300"/>
                  </a:lnTo>
                  <a:lnTo>
                    <a:pt x="811601" y="95942"/>
                  </a:lnTo>
                  <a:lnTo>
                    <a:pt x="854398" y="81710"/>
                  </a:lnTo>
                  <a:lnTo>
                    <a:pt x="897515" y="68607"/>
                  </a:lnTo>
                  <a:lnTo>
                    <a:pt x="940927" y="56637"/>
                  </a:lnTo>
                  <a:lnTo>
                    <a:pt x="984610" y="45804"/>
                  </a:lnTo>
                  <a:lnTo>
                    <a:pt x="1028540" y="36110"/>
                  </a:lnTo>
                  <a:lnTo>
                    <a:pt x="1072692" y="27560"/>
                  </a:lnTo>
                  <a:lnTo>
                    <a:pt x="1117043" y="20156"/>
                  </a:lnTo>
                  <a:lnTo>
                    <a:pt x="1161567" y="13901"/>
                  </a:lnTo>
                  <a:lnTo>
                    <a:pt x="1206241" y="8801"/>
                  </a:lnTo>
                  <a:lnTo>
                    <a:pt x="1251040" y="4857"/>
                  </a:lnTo>
                  <a:lnTo>
                    <a:pt x="1295941" y="2073"/>
                  </a:lnTo>
                  <a:lnTo>
                    <a:pt x="1340918" y="453"/>
                  </a:lnTo>
                  <a:lnTo>
                    <a:pt x="1385948" y="0"/>
                  </a:lnTo>
                  <a:lnTo>
                    <a:pt x="1431006" y="717"/>
                  </a:lnTo>
                  <a:lnTo>
                    <a:pt x="1476068" y="2608"/>
                  </a:lnTo>
                  <a:lnTo>
                    <a:pt x="1521110" y="5676"/>
                  </a:lnTo>
                  <a:lnTo>
                    <a:pt x="1566108" y="9924"/>
                  </a:lnTo>
                  <a:lnTo>
                    <a:pt x="1611037" y="15357"/>
                  </a:lnTo>
                  <a:lnTo>
                    <a:pt x="1655873" y="21977"/>
                  </a:lnTo>
                  <a:lnTo>
                    <a:pt x="1700591" y="29788"/>
                  </a:lnTo>
                  <a:lnTo>
                    <a:pt x="1745168" y="38793"/>
                  </a:lnTo>
                  <a:lnTo>
                    <a:pt x="1789579" y="48996"/>
                  </a:lnTo>
                  <a:lnTo>
                    <a:pt x="1833800" y="60400"/>
                  </a:lnTo>
                  <a:lnTo>
                    <a:pt x="1877807" y="73008"/>
                  </a:lnTo>
                  <a:lnTo>
                    <a:pt x="1921575" y="86824"/>
                  </a:lnTo>
                  <a:lnTo>
                    <a:pt x="1965080" y="101851"/>
                  </a:lnTo>
                  <a:lnTo>
                    <a:pt x="2008298" y="118093"/>
                  </a:lnTo>
                  <a:lnTo>
                    <a:pt x="2051205" y="135553"/>
                  </a:lnTo>
                  <a:lnTo>
                    <a:pt x="2093776" y="154235"/>
                  </a:lnTo>
                  <a:lnTo>
                    <a:pt x="2135987" y="174141"/>
                  </a:lnTo>
                  <a:lnTo>
                    <a:pt x="2177814" y="195276"/>
                  </a:lnTo>
                  <a:lnTo>
                    <a:pt x="2219233" y="217642"/>
                  </a:lnTo>
                  <a:lnTo>
                    <a:pt x="2260219" y="241244"/>
                  </a:lnTo>
                  <a:lnTo>
                    <a:pt x="2300748" y="266084"/>
                  </a:lnTo>
                  <a:lnTo>
                    <a:pt x="2340795" y="292166"/>
                  </a:lnTo>
                  <a:lnTo>
                    <a:pt x="2380337" y="319493"/>
                  </a:lnTo>
                  <a:lnTo>
                    <a:pt x="2419350" y="348069"/>
                  </a:lnTo>
                  <a:lnTo>
                    <a:pt x="2457515" y="377661"/>
                  </a:lnTo>
                  <a:lnTo>
                    <a:pt x="2494807" y="408285"/>
                  </a:lnTo>
                  <a:lnTo>
                    <a:pt x="2531206" y="439919"/>
                  </a:lnTo>
                  <a:lnTo>
                    <a:pt x="2566692" y="472543"/>
                  </a:lnTo>
                  <a:lnTo>
                    <a:pt x="2601245" y="506136"/>
                  </a:lnTo>
                  <a:lnTo>
                    <a:pt x="2634846" y="540678"/>
                  </a:lnTo>
                  <a:lnTo>
                    <a:pt x="2667475" y="576148"/>
                  </a:lnTo>
                  <a:lnTo>
                    <a:pt x="2699111" y="612525"/>
                  </a:lnTo>
                  <a:lnTo>
                    <a:pt x="2729736" y="649790"/>
                  </a:lnTo>
                  <a:lnTo>
                    <a:pt x="2759329" y="687921"/>
                  </a:lnTo>
                </a:path>
              </a:pathLst>
            </a:custGeom>
            <a:ln w="9524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625077" y="2234945"/>
              <a:ext cx="3130550" cy="2034539"/>
            </a:xfrm>
            <a:custGeom>
              <a:avLst/>
              <a:gdLst/>
              <a:ahLst/>
              <a:cxnLst/>
              <a:rect l="l" t="t" r="r" b="b"/>
              <a:pathLst>
                <a:path w="3130550" h="2034539">
                  <a:moveTo>
                    <a:pt x="2791205" y="0"/>
                  </a:moveTo>
                  <a:lnTo>
                    <a:pt x="339090" y="0"/>
                  </a:lnTo>
                  <a:lnTo>
                    <a:pt x="293066" y="3094"/>
                  </a:lnTo>
                  <a:lnTo>
                    <a:pt x="248928" y="12109"/>
                  </a:lnTo>
                  <a:lnTo>
                    <a:pt x="207079" y="26640"/>
                  </a:lnTo>
                  <a:lnTo>
                    <a:pt x="167922" y="46284"/>
                  </a:lnTo>
                  <a:lnTo>
                    <a:pt x="131860" y="70638"/>
                  </a:lnTo>
                  <a:lnTo>
                    <a:pt x="99298" y="99298"/>
                  </a:lnTo>
                  <a:lnTo>
                    <a:pt x="70638" y="131860"/>
                  </a:lnTo>
                  <a:lnTo>
                    <a:pt x="46284" y="167922"/>
                  </a:lnTo>
                  <a:lnTo>
                    <a:pt x="26640" y="207079"/>
                  </a:lnTo>
                  <a:lnTo>
                    <a:pt x="12109" y="248928"/>
                  </a:lnTo>
                  <a:lnTo>
                    <a:pt x="3094" y="293066"/>
                  </a:lnTo>
                  <a:lnTo>
                    <a:pt x="0" y="339089"/>
                  </a:lnTo>
                  <a:lnTo>
                    <a:pt x="0" y="1695449"/>
                  </a:lnTo>
                  <a:lnTo>
                    <a:pt x="3094" y="1741473"/>
                  </a:lnTo>
                  <a:lnTo>
                    <a:pt x="12109" y="1785611"/>
                  </a:lnTo>
                  <a:lnTo>
                    <a:pt x="26640" y="1827460"/>
                  </a:lnTo>
                  <a:lnTo>
                    <a:pt x="46284" y="1866617"/>
                  </a:lnTo>
                  <a:lnTo>
                    <a:pt x="70638" y="1902679"/>
                  </a:lnTo>
                  <a:lnTo>
                    <a:pt x="99298" y="1935241"/>
                  </a:lnTo>
                  <a:lnTo>
                    <a:pt x="131860" y="1963901"/>
                  </a:lnTo>
                  <a:lnTo>
                    <a:pt x="167922" y="1988255"/>
                  </a:lnTo>
                  <a:lnTo>
                    <a:pt x="207079" y="2007899"/>
                  </a:lnTo>
                  <a:lnTo>
                    <a:pt x="248928" y="2022430"/>
                  </a:lnTo>
                  <a:lnTo>
                    <a:pt x="293066" y="2031445"/>
                  </a:lnTo>
                  <a:lnTo>
                    <a:pt x="339090" y="2034539"/>
                  </a:lnTo>
                  <a:lnTo>
                    <a:pt x="2791205" y="2034539"/>
                  </a:lnTo>
                  <a:lnTo>
                    <a:pt x="2837229" y="2031445"/>
                  </a:lnTo>
                  <a:lnTo>
                    <a:pt x="2881367" y="2022430"/>
                  </a:lnTo>
                  <a:lnTo>
                    <a:pt x="2923216" y="2007899"/>
                  </a:lnTo>
                  <a:lnTo>
                    <a:pt x="2962373" y="1988255"/>
                  </a:lnTo>
                  <a:lnTo>
                    <a:pt x="2998435" y="1963901"/>
                  </a:lnTo>
                  <a:lnTo>
                    <a:pt x="3030997" y="1935241"/>
                  </a:lnTo>
                  <a:lnTo>
                    <a:pt x="3059657" y="1902679"/>
                  </a:lnTo>
                  <a:lnTo>
                    <a:pt x="3084011" y="1866617"/>
                  </a:lnTo>
                  <a:lnTo>
                    <a:pt x="3103655" y="1827460"/>
                  </a:lnTo>
                  <a:lnTo>
                    <a:pt x="3118186" y="1785611"/>
                  </a:lnTo>
                  <a:lnTo>
                    <a:pt x="3127201" y="1741473"/>
                  </a:lnTo>
                  <a:lnTo>
                    <a:pt x="3130296" y="1695449"/>
                  </a:lnTo>
                  <a:lnTo>
                    <a:pt x="3130296" y="339089"/>
                  </a:lnTo>
                  <a:lnTo>
                    <a:pt x="3127201" y="293066"/>
                  </a:lnTo>
                  <a:lnTo>
                    <a:pt x="3118186" y="248928"/>
                  </a:lnTo>
                  <a:lnTo>
                    <a:pt x="3103655" y="207079"/>
                  </a:lnTo>
                  <a:lnTo>
                    <a:pt x="3084011" y="167922"/>
                  </a:lnTo>
                  <a:lnTo>
                    <a:pt x="3059657" y="131860"/>
                  </a:lnTo>
                  <a:lnTo>
                    <a:pt x="3030997" y="99298"/>
                  </a:lnTo>
                  <a:lnTo>
                    <a:pt x="2998435" y="70638"/>
                  </a:lnTo>
                  <a:lnTo>
                    <a:pt x="2962373" y="46284"/>
                  </a:lnTo>
                  <a:lnTo>
                    <a:pt x="2923216" y="26640"/>
                  </a:lnTo>
                  <a:lnTo>
                    <a:pt x="2881367" y="12109"/>
                  </a:lnTo>
                  <a:lnTo>
                    <a:pt x="2837229" y="3094"/>
                  </a:lnTo>
                  <a:lnTo>
                    <a:pt x="2791205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087357" y="2418715"/>
            <a:ext cx="2205355" cy="1514475"/>
          </a:xfrm>
          <a:prstGeom prst="rect"/>
        </p:spPr>
        <p:txBody>
          <a:bodyPr wrap="square" lIns="0" tIns="91440" rIns="0" bIns="0" rtlCol="0" vert="horz">
            <a:spAutoFit/>
          </a:bodyPr>
          <a:lstStyle/>
          <a:p>
            <a:pPr marL="457200" marR="5080" indent="-445134">
              <a:lnSpc>
                <a:spcPts val="5600"/>
              </a:lnSpc>
              <a:spcBef>
                <a:spcPts val="720"/>
              </a:spcBef>
            </a:pPr>
            <a:r>
              <a:rPr dirty="0" sz="5100" spc="-10">
                <a:solidFill>
                  <a:srgbClr val="FFFFFF"/>
                </a:solidFill>
              </a:rPr>
              <a:t>Types</a:t>
            </a:r>
            <a:r>
              <a:rPr dirty="0" sz="5100" spc="-275">
                <a:solidFill>
                  <a:srgbClr val="FFFFFF"/>
                </a:solidFill>
              </a:rPr>
              <a:t> </a:t>
            </a:r>
            <a:r>
              <a:rPr dirty="0" sz="5100" spc="-25">
                <a:solidFill>
                  <a:srgbClr val="FFFFFF"/>
                </a:solidFill>
              </a:rPr>
              <a:t>of </a:t>
            </a:r>
            <a:r>
              <a:rPr dirty="0" sz="5100" spc="-10">
                <a:solidFill>
                  <a:srgbClr val="FFFFFF"/>
                </a:solidFill>
              </a:rPr>
              <a:t>Joins</a:t>
            </a:r>
            <a:endParaRPr sz="5100"/>
          </a:p>
        </p:txBody>
      </p:sp>
      <p:sp>
        <p:nvSpPr>
          <p:cNvPr id="11" name="object 11" descr=""/>
          <p:cNvSpPr/>
          <p:nvPr/>
        </p:nvSpPr>
        <p:spPr>
          <a:xfrm>
            <a:off x="7081011" y="4291329"/>
            <a:ext cx="2759710" cy="688340"/>
          </a:xfrm>
          <a:custGeom>
            <a:avLst/>
            <a:gdLst/>
            <a:ahLst/>
            <a:cxnLst/>
            <a:rect l="l" t="t" r="r" b="b"/>
            <a:pathLst>
              <a:path w="2759709" h="688339">
                <a:moveTo>
                  <a:pt x="2759329" y="0"/>
                </a:moveTo>
                <a:lnTo>
                  <a:pt x="2729693" y="38219"/>
                </a:lnTo>
                <a:lnTo>
                  <a:pt x="2699204" y="75384"/>
                </a:lnTo>
                <a:lnTo>
                  <a:pt x="2667886" y="111491"/>
                </a:lnTo>
                <a:lnTo>
                  <a:pt x="2635764" y="146537"/>
                </a:lnTo>
                <a:lnTo>
                  <a:pt x="2602862" y="180518"/>
                </a:lnTo>
                <a:lnTo>
                  <a:pt x="2569205" y="213431"/>
                </a:lnTo>
                <a:lnTo>
                  <a:pt x="2534815" y="245272"/>
                </a:lnTo>
                <a:lnTo>
                  <a:pt x="2499718" y="276038"/>
                </a:lnTo>
                <a:lnTo>
                  <a:pt x="2463938" y="305726"/>
                </a:lnTo>
                <a:lnTo>
                  <a:pt x="2427499" y="334332"/>
                </a:lnTo>
                <a:lnTo>
                  <a:pt x="2390426" y="361852"/>
                </a:lnTo>
                <a:lnTo>
                  <a:pt x="2352742" y="388285"/>
                </a:lnTo>
                <a:lnTo>
                  <a:pt x="2314471" y="413625"/>
                </a:lnTo>
                <a:lnTo>
                  <a:pt x="2275639" y="437870"/>
                </a:lnTo>
                <a:lnTo>
                  <a:pt x="2236270" y="461016"/>
                </a:lnTo>
                <a:lnTo>
                  <a:pt x="2196387" y="483059"/>
                </a:lnTo>
                <a:lnTo>
                  <a:pt x="2156014" y="503997"/>
                </a:lnTo>
                <a:lnTo>
                  <a:pt x="2115177" y="523827"/>
                </a:lnTo>
                <a:lnTo>
                  <a:pt x="2073900" y="542543"/>
                </a:lnTo>
                <a:lnTo>
                  <a:pt x="2032205" y="560144"/>
                </a:lnTo>
                <a:lnTo>
                  <a:pt x="1990119" y="576626"/>
                </a:lnTo>
                <a:lnTo>
                  <a:pt x="1947665" y="591985"/>
                </a:lnTo>
                <a:lnTo>
                  <a:pt x="1904867" y="606218"/>
                </a:lnTo>
                <a:lnTo>
                  <a:pt x="1861750" y="619322"/>
                </a:lnTo>
                <a:lnTo>
                  <a:pt x="1818338" y="631293"/>
                </a:lnTo>
                <a:lnTo>
                  <a:pt x="1774654" y="642127"/>
                </a:lnTo>
                <a:lnTo>
                  <a:pt x="1730724" y="651822"/>
                </a:lnTo>
                <a:lnTo>
                  <a:pt x="1686572" y="660374"/>
                </a:lnTo>
                <a:lnTo>
                  <a:pt x="1642222" y="667780"/>
                </a:lnTo>
                <a:lnTo>
                  <a:pt x="1597697" y="674036"/>
                </a:lnTo>
                <a:lnTo>
                  <a:pt x="1553023" y="679138"/>
                </a:lnTo>
                <a:lnTo>
                  <a:pt x="1508224" y="683084"/>
                </a:lnTo>
                <a:lnTo>
                  <a:pt x="1463324" y="685870"/>
                </a:lnTo>
                <a:lnTo>
                  <a:pt x="1418346" y="687492"/>
                </a:lnTo>
                <a:lnTo>
                  <a:pt x="1373316" y="687947"/>
                </a:lnTo>
                <a:lnTo>
                  <a:pt x="1328258" y="687233"/>
                </a:lnTo>
                <a:lnTo>
                  <a:pt x="1283195" y="685344"/>
                </a:lnTo>
                <a:lnTo>
                  <a:pt x="1238153" y="682279"/>
                </a:lnTo>
                <a:lnTo>
                  <a:pt x="1193154" y="678033"/>
                </a:lnTo>
                <a:lnTo>
                  <a:pt x="1148225" y="672603"/>
                </a:lnTo>
                <a:lnTo>
                  <a:pt x="1103388" y="665986"/>
                </a:lnTo>
                <a:lnTo>
                  <a:pt x="1058669" y="658178"/>
                </a:lnTo>
                <a:lnTo>
                  <a:pt x="1014090" y="649176"/>
                </a:lnTo>
                <a:lnTo>
                  <a:pt x="969678" y="638977"/>
                </a:lnTo>
                <a:lnTo>
                  <a:pt x="925455" y="627577"/>
                </a:lnTo>
                <a:lnTo>
                  <a:pt x="881446" y="614973"/>
                </a:lnTo>
                <a:lnTo>
                  <a:pt x="837676" y="601160"/>
                </a:lnTo>
                <a:lnTo>
                  <a:pt x="794169" y="586137"/>
                </a:lnTo>
                <a:lnTo>
                  <a:pt x="750948" y="569900"/>
                </a:lnTo>
                <a:lnTo>
                  <a:pt x="708038" y="552444"/>
                </a:lnTo>
                <a:lnTo>
                  <a:pt x="665464" y="533767"/>
                </a:lnTo>
                <a:lnTo>
                  <a:pt x="623249" y="513866"/>
                </a:lnTo>
                <a:lnTo>
                  <a:pt x="581418" y="492736"/>
                </a:lnTo>
                <a:lnTo>
                  <a:pt x="539995" y="470375"/>
                </a:lnTo>
                <a:lnTo>
                  <a:pt x="499005" y="446779"/>
                </a:lnTo>
                <a:lnTo>
                  <a:pt x="458471" y="421945"/>
                </a:lnTo>
                <a:lnTo>
                  <a:pt x="418418" y="395869"/>
                </a:lnTo>
                <a:lnTo>
                  <a:pt x="378870" y="368548"/>
                </a:lnTo>
                <a:lnTo>
                  <a:pt x="339852" y="339979"/>
                </a:lnTo>
                <a:lnTo>
                  <a:pt x="301721" y="310386"/>
                </a:lnTo>
                <a:lnTo>
                  <a:pt x="264456" y="279761"/>
                </a:lnTo>
                <a:lnTo>
                  <a:pt x="228079" y="248125"/>
                </a:lnTo>
                <a:lnTo>
                  <a:pt x="192609" y="215496"/>
                </a:lnTo>
                <a:lnTo>
                  <a:pt x="158067" y="181895"/>
                </a:lnTo>
                <a:lnTo>
                  <a:pt x="124474" y="147342"/>
                </a:lnTo>
                <a:lnTo>
                  <a:pt x="91850" y="111856"/>
                </a:lnTo>
                <a:lnTo>
                  <a:pt x="60216" y="75457"/>
                </a:lnTo>
                <a:lnTo>
                  <a:pt x="29592" y="38165"/>
                </a:lnTo>
                <a:lnTo>
                  <a:pt x="0" y="0"/>
                </a:lnTo>
              </a:path>
            </a:pathLst>
          </a:custGeom>
          <a:ln w="9525">
            <a:solidFill>
              <a:srgbClr val="9BBA58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67478" y="673988"/>
            <a:ext cx="2254250" cy="8178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200"/>
              <a:t>SQL</a:t>
            </a:r>
            <a:r>
              <a:rPr dirty="0" sz="5200" spc="-100"/>
              <a:t> </a:t>
            </a:r>
            <a:r>
              <a:rPr dirty="0" sz="5200" spc="-20"/>
              <a:t>Join</a:t>
            </a:r>
            <a:endParaRPr sz="5200"/>
          </a:p>
        </p:txBody>
      </p:sp>
      <p:sp>
        <p:nvSpPr>
          <p:cNvPr id="3" name="object 3" descr=""/>
          <p:cNvSpPr/>
          <p:nvPr/>
        </p:nvSpPr>
        <p:spPr>
          <a:xfrm>
            <a:off x="838961" y="1856994"/>
            <a:ext cx="10515600" cy="2091055"/>
          </a:xfrm>
          <a:custGeom>
            <a:avLst/>
            <a:gdLst/>
            <a:ahLst/>
            <a:cxnLst/>
            <a:rect l="l" t="t" r="r" b="b"/>
            <a:pathLst>
              <a:path w="10515600" h="2091054">
                <a:moveTo>
                  <a:pt x="10167112" y="0"/>
                </a:moveTo>
                <a:lnTo>
                  <a:pt x="348500" y="0"/>
                </a:lnTo>
                <a:lnTo>
                  <a:pt x="301211" y="3182"/>
                </a:lnTo>
                <a:lnTo>
                  <a:pt x="255856" y="12452"/>
                </a:lnTo>
                <a:lnTo>
                  <a:pt x="212849" y="27394"/>
                </a:lnTo>
                <a:lnTo>
                  <a:pt x="172607" y="47592"/>
                </a:lnTo>
                <a:lnTo>
                  <a:pt x="135543" y="72629"/>
                </a:lnTo>
                <a:lnTo>
                  <a:pt x="102074" y="102092"/>
                </a:lnTo>
                <a:lnTo>
                  <a:pt x="72615" y="135562"/>
                </a:lnTo>
                <a:lnTo>
                  <a:pt x="47581" y="172625"/>
                </a:lnTo>
                <a:lnTo>
                  <a:pt x="27387" y="212865"/>
                </a:lnTo>
                <a:lnTo>
                  <a:pt x="12448" y="255866"/>
                </a:lnTo>
                <a:lnTo>
                  <a:pt x="3181" y="301212"/>
                </a:lnTo>
                <a:lnTo>
                  <a:pt x="0" y="348488"/>
                </a:lnTo>
                <a:lnTo>
                  <a:pt x="0" y="1742439"/>
                </a:lnTo>
                <a:lnTo>
                  <a:pt x="3181" y="1789715"/>
                </a:lnTo>
                <a:lnTo>
                  <a:pt x="12448" y="1835061"/>
                </a:lnTo>
                <a:lnTo>
                  <a:pt x="27387" y="1878062"/>
                </a:lnTo>
                <a:lnTo>
                  <a:pt x="47581" y="1918302"/>
                </a:lnTo>
                <a:lnTo>
                  <a:pt x="72615" y="1955365"/>
                </a:lnTo>
                <a:lnTo>
                  <a:pt x="102074" y="1988835"/>
                </a:lnTo>
                <a:lnTo>
                  <a:pt x="135543" y="2018298"/>
                </a:lnTo>
                <a:lnTo>
                  <a:pt x="172607" y="2043335"/>
                </a:lnTo>
                <a:lnTo>
                  <a:pt x="212849" y="2063533"/>
                </a:lnTo>
                <a:lnTo>
                  <a:pt x="255856" y="2078475"/>
                </a:lnTo>
                <a:lnTo>
                  <a:pt x="301211" y="2087745"/>
                </a:lnTo>
                <a:lnTo>
                  <a:pt x="348500" y="2090927"/>
                </a:lnTo>
                <a:lnTo>
                  <a:pt x="10167112" y="2090927"/>
                </a:lnTo>
                <a:lnTo>
                  <a:pt x="10214387" y="2087745"/>
                </a:lnTo>
                <a:lnTo>
                  <a:pt x="10259733" y="2078475"/>
                </a:lnTo>
                <a:lnTo>
                  <a:pt x="10302734" y="2063533"/>
                </a:lnTo>
                <a:lnTo>
                  <a:pt x="10342974" y="2043335"/>
                </a:lnTo>
                <a:lnTo>
                  <a:pt x="10380037" y="2018298"/>
                </a:lnTo>
                <a:lnTo>
                  <a:pt x="10413507" y="1988835"/>
                </a:lnTo>
                <a:lnTo>
                  <a:pt x="10442970" y="1955365"/>
                </a:lnTo>
                <a:lnTo>
                  <a:pt x="10468007" y="1918302"/>
                </a:lnTo>
                <a:lnTo>
                  <a:pt x="10488205" y="1878062"/>
                </a:lnTo>
                <a:lnTo>
                  <a:pt x="10503147" y="1835061"/>
                </a:lnTo>
                <a:lnTo>
                  <a:pt x="10512417" y="1789715"/>
                </a:lnTo>
                <a:lnTo>
                  <a:pt x="10515600" y="1742439"/>
                </a:lnTo>
                <a:lnTo>
                  <a:pt x="10515600" y="348488"/>
                </a:lnTo>
                <a:lnTo>
                  <a:pt x="10512417" y="301212"/>
                </a:lnTo>
                <a:lnTo>
                  <a:pt x="10503147" y="255866"/>
                </a:lnTo>
                <a:lnTo>
                  <a:pt x="10488205" y="212865"/>
                </a:lnTo>
                <a:lnTo>
                  <a:pt x="10468007" y="172625"/>
                </a:lnTo>
                <a:lnTo>
                  <a:pt x="10442970" y="135562"/>
                </a:lnTo>
                <a:lnTo>
                  <a:pt x="10413507" y="102092"/>
                </a:lnTo>
                <a:lnTo>
                  <a:pt x="10380037" y="72629"/>
                </a:lnTo>
                <a:lnTo>
                  <a:pt x="10342974" y="47592"/>
                </a:lnTo>
                <a:lnTo>
                  <a:pt x="10302734" y="27394"/>
                </a:lnTo>
                <a:lnTo>
                  <a:pt x="10259733" y="12452"/>
                </a:lnTo>
                <a:lnTo>
                  <a:pt x="10214387" y="3182"/>
                </a:lnTo>
                <a:lnTo>
                  <a:pt x="10167112" y="0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38961" y="4056126"/>
            <a:ext cx="10515600" cy="2091055"/>
          </a:xfrm>
          <a:custGeom>
            <a:avLst/>
            <a:gdLst/>
            <a:ahLst/>
            <a:cxnLst/>
            <a:rect l="l" t="t" r="r" b="b"/>
            <a:pathLst>
              <a:path w="10515600" h="2091054">
                <a:moveTo>
                  <a:pt x="10167112" y="0"/>
                </a:moveTo>
                <a:lnTo>
                  <a:pt x="348500" y="0"/>
                </a:lnTo>
                <a:lnTo>
                  <a:pt x="301211" y="3182"/>
                </a:lnTo>
                <a:lnTo>
                  <a:pt x="255856" y="12452"/>
                </a:lnTo>
                <a:lnTo>
                  <a:pt x="212849" y="27394"/>
                </a:lnTo>
                <a:lnTo>
                  <a:pt x="172607" y="47592"/>
                </a:lnTo>
                <a:lnTo>
                  <a:pt x="135543" y="72629"/>
                </a:lnTo>
                <a:lnTo>
                  <a:pt x="102074" y="102092"/>
                </a:lnTo>
                <a:lnTo>
                  <a:pt x="72615" y="135562"/>
                </a:lnTo>
                <a:lnTo>
                  <a:pt x="47581" y="172625"/>
                </a:lnTo>
                <a:lnTo>
                  <a:pt x="27387" y="212865"/>
                </a:lnTo>
                <a:lnTo>
                  <a:pt x="12448" y="255866"/>
                </a:lnTo>
                <a:lnTo>
                  <a:pt x="3181" y="301212"/>
                </a:lnTo>
                <a:lnTo>
                  <a:pt x="0" y="348488"/>
                </a:lnTo>
                <a:lnTo>
                  <a:pt x="0" y="1742427"/>
                </a:lnTo>
                <a:lnTo>
                  <a:pt x="3181" y="1789716"/>
                </a:lnTo>
                <a:lnTo>
                  <a:pt x="12448" y="1835071"/>
                </a:lnTo>
                <a:lnTo>
                  <a:pt x="27387" y="1878078"/>
                </a:lnTo>
                <a:lnTo>
                  <a:pt x="47581" y="1918320"/>
                </a:lnTo>
                <a:lnTo>
                  <a:pt x="72615" y="1955384"/>
                </a:lnTo>
                <a:lnTo>
                  <a:pt x="102074" y="1988853"/>
                </a:lnTo>
                <a:lnTo>
                  <a:pt x="135543" y="2018312"/>
                </a:lnTo>
                <a:lnTo>
                  <a:pt x="172607" y="2043346"/>
                </a:lnTo>
                <a:lnTo>
                  <a:pt x="212849" y="2063540"/>
                </a:lnTo>
                <a:lnTo>
                  <a:pt x="255856" y="2078479"/>
                </a:lnTo>
                <a:lnTo>
                  <a:pt x="301211" y="2087746"/>
                </a:lnTo>
                <a:lnTo>
                  <a:pt x="348500" y="2090928"/>
                </a:lnTo>
                <a:lnTo>
                  <a:pt x="10167112" y="2090928"/>
                </a:lnTo>
                <a:lnTo>
                  <a:pt x="10214387" y="2087746"/>
                </a:lnTo>
                <a:lnTo>
                  <a:pt x="10259733" y="2078479"/>
                </a:lnTo>
                <a:lnTo>
                  <a:pt x="10302734" y="2063540"/>
                </a:lnTo>
                <a:lnTo>
                  <a:pt x="10342974" y="2043346"/>
                </a:lnTo>
                <a:lnTo>
                  <a:pt x="10380037" y="2018312"/>
                </a:lnTo>
                <a:lnTo>
                  <a:pt x="10413507" y="1988853"/>
                </a:lnTo>
                <a:lnTo>
                  <a:pt x="10442970" y="1955384"/>
                </a:lnTo>
                <a:lnTo>
                  <a:pt x="10468007" y="1918320"/>
                </a:lnTo>
                <a:lnTo>
                  <a:pt x="10488205" y="1878078"/>
                </a:lnTo>
                <a:lnTo>
                  <a:pt x="10503147" y="1835071"/>
                </a:lnTo>
                <a:lnTo>
                  <a:pt x="10512417" y="1789716"/>
                </a:lnTo>
                <a:lnTo>
                  <a:pt x="10515600" y="1742427"/>
                </a:lnTo>
                <a:lnTo>
                  <a:pt x="10515600" y="348488"/>
                </a:lnTo>
                <a:lnTo>
                  <a:pt x="10512417" y="301212"/>
                </a:lnTo>
                <a:lnTo>
                  <a:pt x="10503147" y="255866"/>
                </a:lnTo>
                <a:lnTo>
                  <a:pt x="10488205" y="212865"/>
                </a:lnTo>
                <a:lnTo>
                  <a:pt x="10468007" y="172625"/>
                </a:lnTo>
                <a:lnTo>
                  <a:pt x="10442970" y="135562"/>
                </a:lnTo>
                <a:lnTo>
                  <a:pt x="10413507" y="102092"/>
                </a:lnTo>
                <a:lnTo>
                  <a:pt x="10380037" y="72629"/>
                </a:lnTo>
                <a:lnTo>
                  <a:pt x="10342974" y="47592"/>
                </a:lnTo>
                <a:lnTo>
                  <a:pt x="10302734" y="27394"/>
                </a:lnTo>
                <a:lnTo>
                  <a:pt x="10259733" y="12452"/>
                </a:lnTo>
                <a:lnTo>
                  <a:pt x="10214387" y="3182"/>
                </a:lnTo>
                <a:lnTo>
                  <a:pt x="10167112" y="0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072388" y="2012061"/>
            <a:ext cx="9765030" cy="360045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algn="just" marL="12700" marR="436245">
              <a:lnSpc>
                <a:spcPts val="4180"/>
              </a:lnSpc>
              <a:spcBef>
                <a:spcPts val="560"/>
              </a:spcBef>
            </a:pP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3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Join</a:t>
            </a:r>
            <a:r>
              <a:rPr dirty="0" sz="3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3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dirty="0" sz="3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3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 spc="-10">
                <a:solidFill>
                  <a:srgbClr val="FFFFFF"/>
                </a:solidFill>
                <a:latin typeface="Calibri"/>
                <a:cs typeface="Calibri"/>
              </a:rPr>
              <a:t>fetch</a:t>
            </a:r>
            <a:r>
              <a:rPr dirty="0" sz="3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38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3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dirty="0" sz="3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3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 spc="-20">
                <a:solidFill>
                  <a:srgbClr val="FFFFFF"/>
                </a:solidFill>
                <a:latin typeface="Calibri"/>
                <a:cs typeface="Calibri"/>
              </a:rPr>
              <a:t>more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tables,</a:t>
            </a:r>
            <a:r>
              <a:rPr dirty="0" sz="3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dirty="0" sz="3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3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joined</a:t>
            </a:r>
            <a:r>
              <a:rPr dirty="0" sz="3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3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appear</a:t>
            </a:r>
            <a:r>
              <a:rPr dirty="0" sz="3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3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dirty="0" sz="3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dirty="0" sz="3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 spc="-25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3800" spc="-10">
                <a:solidFill>
                  <a:srgbClr val="FFFFFF"/>
                </a:solidFill>
                <a:latin typeface="Calibri"/>
                <a:cs typeface="Calibri"/>
              </a:rPr>
              <a:t>data.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25"/>
              </a:spcBef>
            </a:pPr>
            <a:endParaRPr sz="3800">
              <a:latin typeface="Calibri"/>
              <a:cs typeface="Calibri"/>
            </a:endParaRPr>
          </a:p>
          <a:p>
            <a:pPr marL="12700" marR="5080">
              <a:lnSpc>
                <a:spcPts val="4180"/>
              </a:lnSpc>
            </a:pP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3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3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dirty="0" sz="3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3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combining</a:t>
            </a:r>
            <a:r>
              <a:rPr dirty="0" sz="3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dirty="0" sz="3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3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dirty="0" sz="3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3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 spc="-20">
                <a:solidFill>
                  <a:srgbClr val="FFFFFF"/>
                </a:solidFill>
                <a:latin typeface="Calibri"/>
                <a:cs typeface="Calibri"/>
              </a:rPr>
              <a:t>more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r>
              <a:rPr dirty="0" sz="380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3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dirty="0" sz="380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dirty="0" sz="38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common</a:t>
            </a:r>
            <a:r>
              <a:rPr dirty="0" sz="38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3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"/>
                <a:cs typeface="Calibri"/>
              </a:rPr>
              <a:t>both</a:t>
            </a:r>
            <a:r>
              <a:rPr dirty="0" sz="3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 spc="-10">
                <a:solidFill>
                  <a:srgbClr val="FFFFFF"/>
                </a:solidFill>
                <a:latin typeface="Calibri"/>
                <a:cs typeface="Calibri"/>
              </a:rPr>
              <a:t>tables.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3865245" cy="6858000"/>
          </a:xfrm>
          <a:custGeom>
            <a:avLst/>
            <a:gdLst/>
            <a:ahLst/>
            <a:cxnLst/>
            <a:rect l="l" t="t" r="r" b="b"/>
            <a:pathLst>
              <a:path w="3865245" h="6858000">
                <a:moveTo>
                  <a:pt x="3864864" y="0"/>
                </a:moveTo>
                <a:lnTo>
                  <a:pt x="0" y="0"/>
                </a:lnTo>
                <a:lnTo>
                  <a:pt x="0" y="6858000"/>
                </a:lnTo>
                <a:lnTo>
                  <a:pt x="3864864" y="6858000"/>
                </a:lnTo>
                <a:lnTo>
                  <a:pt x="3864864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44702" y="3427552"/>
            <a:ext cx="2132965" cy="1489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6884" marR="5080" indent="-46482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FFFF"/>
                </a:solidFill>
                <a:latin typeface="Calibri"/>
                <a:cs typeface="Calibri"/>
              </a:rPr>
              <a:t>Types</a:t>
            </a:r>
            <a:r>
              <a:rPr dirty="0" sz="4800" spc="-1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800" spc="-25" b="1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4800" spc="-20" b="1">
                <a:solidFill>
                  <a:srgbClr val="FFFFFF"/>
                </a:solidFill>
                <a:latin typeface="Calibri"/>
                <a:cs typeface="Calibri"/>
              </a:rPr>
              <a:t>JOIN</a:t>
            </a:r>
            <a:endParaRPr sz="4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544516" y="2222829"/>
            <a:ext cx="623570" cy="741680"/>
            <a:chOff x="1544516" y="2222829"/>
            <a:chExt cx="623570" cy="741680"/>
          </a:xfrm>
        </p:grpSpPr>
        <p:sp>
          <p:nvSpPr>
            <p:cNvPr id="5" name="object 5" descr=""/>
            <p:cNvSpPr/>
            <p:nvPr/>
          </p:nvSpPr>
          <p:spPr>
            <a:xfrm>
              <a:off x="1550011" y="2228324"/>
              <a:ext cx="612140" cy="730885"/>
            </a:xfrm>
            <a:custGeom>
              <a:avLst/>
              <a:gdLst/>
              <a:ahLst/>
              <a:cxnLst/>
              <a:rect l="l" t="t" r="r" b="b"/>
              <a:pathLst>
                <a:path w="612139" h="730885">
                  <a:moveTo>
                    <a:pt x="557808" y="494921"/>
                  </a:moveTo>
                  <a:lnTo>
                    <a:pt x="53828" y="494921"/>
                  </a:lnTo>
                  <a:lnTo>
                    <a:pt x="45611" y="496640"/>
                  </a:lnTo>
                  <a:lnTo>
                    <a:pt x="12509" y="519333"/>
                  </a:lnTo>
                  <a:lnTo>
                    <a:pt x="0" y="549399"/>
                  </a:lnTo>
                  <a:lnTo>
                    <a:pt x="0" y="730486"/>
                  </a:lnTo>
                  <a:lnTo>
                    <a:pt x="47087" y="730486"/>
                  </a:lnTo>
                  <a:lnTo>
                    <a:pt x="47087" y="557864"/>
                  </a:lnTo>
                  <a:lnTo>
                    <a:pt x="47317" y="553443"/>
                  </a:lnTo>
                  <a:lnTo>
                    <a:pt x="47330" y="553200"/>
                  </a:lnTo>
                  <a:lnTo>
                    <a:pt x="48923" y="549399"/>
                  </a:lnTo>
                  <a:lnTo>
                    <a:pt x="54809" y="543510"/>
                  </a:lnTo>
                  <a:lnTo>
                    <a:pt x="58489" y="542034"/>
                  </a:lnTo>
                  <a:lnTo>
                    <a:pt x="610594" y="542034"/>
                  </a:lnTo>
                  <a:lnTo>
                    <a:pt x="610412" y="541178"/>
                  </a:lnTo>
                  <a:lnTo>
                    <a:pt x="587732" y="507437"/>
                  </a:lnTo>
                  <a:lnTo>
                    <a:pt x="566199" y="496640"/>
                  </a:lnTo>
                  <a:lnTo>
                    <a:pt x="566537" y="496640"/>
                  </a:lnTo>
                  <a:lnTo>
                    <a:pt x="557808" y="494921"/>
                  </a:lnTo>
                  <a:close/>
                </a:path>
                <a:path w="612139" h="730885">
                  <a:moveTo>
                    <a:pt x="610594" y="542034"/>
                  </a:moveTo>
                  <a:lnTo>
                    <a:pt x="549223" y="542034"/>
                  </a:lnTo>
                  <a:lnTo>
                    <a:pt x="553884" y="542277"/>
                  </a:lnTo>
                  <a:lnTo>
                    <a:pt x="557683" y="543871"/>
                  </a:lnTo>
                  <a:lnTo>
                    <a:pt x="563568" y="549760"/>
                  </a:lnTo>
                  <a:lnTo>
                    <a:pt x="564946" y="553200"/>
                  </a:lnTo>
                  <a:lnTo>
                    <a:pt x="565044" y="730486"/>
                  </a:lnTo>
                  <a:lnTo>
                    <a:pt x="612131" y="730486"/>
                  </a:lnTo>
                  <a:lnTo>
                    <a:pt x="612131" y="549399"/>
                  </a:lnTo>
                  <a:lnTo>
                    <a:pt x="610646" y="542277"/>
                  </a:lnTo>
                  <a:lnTo>
                    <a:pt x="610594" y="542034"/>
                  </a:lnTo>
                  <a:close/>
                </a:path>
                <a:path w="612139" h="730885">
                  <a:moveTo>
                    <a:pt x="235435" y="447808"/>
                  </a:moveTo>
                  <a:lnTo>
                    <a:pt x="188348" y="447808"/>
                  </a:lnTo>
                  <a:lnTo>
                    <a:pt x="188348" y="494921"/>
                  </a:lnTo>
                  <a:lnTo>
                    <a:pt x="235435" y="494921"/>
                  </a:lnTo>
                  <a:lnTo>
                    <a:pt x="235435" y="447808"/>
                  </a:lnTo>
                  <a:close/>
                </a:path>
                <a:path w="612139" h="730885">
                  <a:moveTo>
                    <a:pt x="423783" y="447808"/>
                  </a:moveTo>
                  <a:lnTo>
                    <a:pt x="376696" y="447808"/>
                  </a:lnTo>
                  <a:lnTo>
                    <a:pt x="376696" y="494921"/>
                  </a:lnTo>
                  <a:lnTo>
                    <a:pt x="423783" y="494921"/>
                  </a:lnTo>
                  <a:lnTo>
                    <a:pt x="423783" y="447808"/>
                  </a:lnTo>
                  <a:close/>
                </a:path>
                <a:path w="612139" h="730885">
                  <a:moveTo>
                    <a:pt x="463634" y="165130"/>
                  </a:moveTo>
                  <a:lnTo>
                    <a:pt x="148002" y="165130"/>
                  </a:lnTo>
                  <a:lnTo>
                    <a:pt x="139785" y="166850"/>
                  </a:lnTo>
                  <a:lnTo>
                    <a:pt x="106683" y="189543"/>
                  </a:lnTo>
                  <a:lnTo>
                    <a:pt x="94174" y="219609"/>
                  </a:lnTo>
                  <a:lnTo>
                    <a:pt x="94174" y="259356"/>
                  </a:lnTo>
                  <a:lnTo>
                    <a:pt x="47087" y="259356"/>
                  </a:lnTo>
                  <a:lnTo>
                    <a:pt x="47087" y="353582"/>
                  </a:lnTo>
                  <a:lnTo>
                    <a:pt x="94174" y="353582"/>
                  </a:lnTo>
                  <a:lnTo>
                    <a:pt x="94174" y="384865"/>
                  </a:lnTo>
                  <a:lnTo>
                    <a:pt x="94608" y="392968"/>
                  </a:lnTo>
                  <a:lnTo>
                    <a:pt x="94660" y="393950"/>
                  </a:lnTo>
                  <a:lnTo>
                    <a:pt x="96379" y="402171"/>
                  </a:lnTo>
                  <a:lnTo>
                    <a:pt x="118455" y="435292"/>
                  </a:lnTo>
                  <a:lnTo>
                    <a:pt x="148496" y="447808"/>
                  </a:lnTo>
                  <a:lnTo>
                    <a:pt x="455049" y="447808"/>
                  </a:lnTo>
                  <a:lnTo>
                    <a:pt x="493676" y="435292"/>
                  </a:lnTo>
                  <a:lnTo>
                    <a:pt x="516364" y="401551"/>
                  </a:lnTo>
                  <a:lnTo>
                    <a:pt x="516532" y="400695"/>
                  </a:lnTo>
                  <a:lnTo>
                    <a:pt x="157082" y="400695"/>
                  </a:lnTo>
                  <a:lnTo>
                    <a:pt x="152420" y="400452"/>
                  </a:lnTo>
                  <a:lnTo>
                    <a:pt x="148614" y="398858"/>
                  </a:lnTo>
                  <a:lnTo>
                    <a:pt x="142728" y="392968"/>
                  </a:lnTo>
                  <a:lnTo>
                    <a:pt x="141358" y="389529"/>
                  </a:lnTo>
                  <a:lnTo>
                    <a:pt x="141261" y="228073"/>
                  </a:lnTo>
                  <a:lnTo>
                    <a:pt x="141491" y="223652"/>
                  </a:lnTo>
                  <a:lnTo>
                    <a:pt x="141504" y="223409"/>
                  </a:lnTo>
                  <a:lnTo>
                    <a:pt x="143097" y="219609"/>
                  </a:lnTo>
                  <a:lnTo>
                    <a:pt x="148983" y="213719"/>
                  </a:lnTo>
                  <a:lnTo>
                    <a:pt x="152663" y="212243"/>
                  </a:lnTo>
                  <a:lnTo>
                    <a:pt x="516420" y="212243"/>
                  </a:lnTo>
                  <a:lnTo>
                    <a:pt x="516238" y="211387"/>
                  </a:lnTo>
                  <a:lnTo>
                    <a:pt x="493558" y="177647"/>
                  </a:lnTo>
                  <a:lnTo>
                    <a:pt x="472025" y="166850"/>
                  </a:lnTo>
                  <a:lnTo>
                    <a:pt x="472363" y="166850"/>
                  </a:lnTo>
                  <a:lnTo>
                    <a:pt x="463634" y="165130"/>
                  </a:lnTo>
                  <a:close/>
                </a:path>
                <a:path w="612139" h="730885">
                  <a:moveTo>
                    <a:pt x="516420" y="212243"/>
                  </a:moveTo>
                  <a:lnTo>
                    <a:pt x="455049" y="212243"/>
                  </a:lnTo>
                  <a:lnTo>
                    <a:pt x="459710" y="212487"/>
                  </a:lnTo>
                  <a:lnTo>
                    <a:pt x="463509" y="214081"/>
                  </a:lnTo>
                  <a:lnTo>
                    <a:pt x="469394" y="219970"/>
                  </a:lnTo>
                  <a:lnTo>
                    <a:pt x="470772" y="223409"/>
                  </a:lnTo>
                  <a:lnTo>
                    <a:pt x="470870" y="384865"/>
                  </a:lnTo>
                  <a:lnTo>
                    <a:pt x="470639" y="389286"/>
                  </a:lnTo>
                  <a:lnTo>
                    <a:pt x="459467" y="400695"/>
                  </a:lnTo>
                  <a:lnTo>
                    <a:pt x="516532" y="400695"/>
                  </a:lnTo>
                  <a:lnTo>
                    <a:pt x="517859" y="393950"/>
                  </a:lnTo>
                  <a:lnTo>
                    <a:pt x="517957" y="353582"/>
                  </a:lnTo>
                  <a:lnTo>
                    <a:pt x="565044" y="353582"/>
                  </a:lnTo>
                  <a:lnTo>
                    <a:pt x="565044" y="259356"/>
                  </a:lnTo>
                  <a:lnTo>
                    <a:pt x="517957" y="259356"/>
                  </a:lnTo>
                  <a:lnTo>
                    <a:pt x="517957" y="219609"/>
                  </a:lnTo>
                  <a:lnTo>
                    <a:pt x="516472" y="212487"/>
                  </a:lnTo>
                  <a:lnTo>
                    <a:pt x="516420" y="212243"/>
                  </a:lnTo>
                  <a:close/>
                </a:path>
                <a:path w="612139" h="730885">
                  <a:moveTo>
                    <a:pt x="235435" y="259356"/>
                  </a:moveTo>
                  <a:lnTo>
                    <a:pt x="188348" y="259356"/>
                  </a:lnTo>
                  <a:lnTo>
                    <a:pt x="188348" y="306469"/>
                  </a:lnTo>
                  <a:lnTo>
                    <a:pt x="235435" y="306469"/>
                  </a:lnTo>
                  <a:lnTo>
                    <a:pt x="235435" y="259356"/>
                  </a:lnTo>
                  <a:close/>
                </a:path>
                <a:path w="612139" h="730885">
                  <a:moveTo>
                    <a:pt x="423783" y="259356"/>
                  </a:moveTo>
                  <a:lnTo>
                    <a:pt x="376696" y="259356"/>
                  </a:lnTo>
                  <a:lnTo>
                    <a:pt x="376696" y="306469"/>
                  </a:lnTo>
                  <a:lnTo>
                    <a:pt x="423783" y="306469"/>
                  </a:lnTo>
                  <a:lnTo>
                    <a:pt x="423783" y="259356"/>
                  </a:lnTo>
                  <a:close/>
                </a:path>
                <a:path w="612139" h="730885">
                  <a:moveTo>
                    <a:pt x="299693" y="0"/>
                  </a:moveTo>
                  <a:lnTo>
                    <a:pt x="265107" y="23320"/>
                  </a:lnTo>
                  <a:lnTo>
                    <a:pt x="258978" y="40721"/>
                  </a:lnTo>
                  <a:lnTo>
                    <a:pt x="258978" y="47348"/>
                  </a:lnTo>
                  <a:lnTo>
                    <a:pt x="275412" y="84033"/>
                  </a:lnTo>
                  <a:lnTo>
                    <a:pt x="282522" y="88203"/>
                  </a:lnTo>
                  <a:lnTo>
                    <a:pt x="282522" y="165130"/>
                  </a:lnTo>
                  <a:lnTo>
                    <a:pt x="329609" y="165130"/>
                  </a:lnTo>
                  <a:lnTo>
                    <a:pt x="329609" y="88203"/>
                  </a:lnTo>
                  <a:lnTo>
                    <a:pt x="336962" y="84033"/>
                  </a:lnTo>
                  <a:lnTo>
                    <a:pt x="342730" y="78270"/>
                  </a:lnTo>
                  <a:lnTo>
                    <a:pt x="351065" y="63547"/>
                  </a:lnTo>
                  <a:lnTo>
                    <a:pt x="353152" y="55695"/>
                  </a:lnTo>
                  <a:lnTo>
                    <a:pt x="353152" y="47348"/>
                  </a:lnTo>
                  <a:lnTo>
                    <a:pt x="353395" y="40972"/>
                  </a:lnTo>
                  <a:lnTo>
                    <a:pt x="330095" y="6360"/>
                  </a:lnTo>
                  <a:lnTo>
                    <a:pt x="312689" y="235"/>
                  </a:lnTo>
                  <a:lnTo>
                    <a:pt x="306065" y="235"/>
                  </a:lnTo>
                  <a:lnTo>
                    <a:pt x="29969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50011" y="2228324"/>
              <a:ext cx="612140" cy="730885"/>
            </a:xfrm>
            <a:custGeom>
              <a:avLst/>
              <a:gdLst/>
              <a:ahLst/>
              <a:cxnLst/>
              <a:rect l="l" t="t" r="r" b="b"/>
              <a:pathLst>
                <a:path w="612139" h="730885">
                  <a:moveTo>
                    <a:pt x="188348" y="259356"/>
                  </a:moveTo>
                  <a:lnTo>
                    <a:pt x="235435" y="259356"/>
                  </a:lnTo>
                  <a:lnTo>
                    <a:pt x="235435" y="306469"/>
                  </a:lnTo>
                  <a:lnTo>
                    <a:pt x="188348" y="306469"/>
                  </a:lnTo>
                  <a:lnTo>
                    <a:pt x="188348" y="259356"/>
                  </a:lnTo>
                  <a:close/>
                </a:path>
                <a:path w="612139" h="730885">
                  <a:moveTo>
                    <a:pt x="376696" y="259356"/>
                  </a:moveTo>
                  <a:lnTo>
                    <a:pt x="423783" y="259356"/>
                  </a:lnTo>
                  <a:lnTo>
                    <a:pt x="423783" y="306469"/>
                  </a:lnTo>
                  <a:lnTo>
                    <a:pt x="376696" y="306469"/>
                  </a:lnTo>
                  <a:lnTo>
                    <a:pt x="376696" y="259356"/>
                  </a:lnTo>
                  <a:close/>
                </a:path>
                <a:path w="612139" h="730885">
                  <a:moveTo>
                    <a:pt x="549223" y="494921"/>
                  </a:moveTo>
                  <a:lnTo>
                    <a:pt x="557808" y="494921"/>
                  </a:lnTo>
                  <a:lnTo>
                    <a:pt x="565899" y="496515"/>
                  </a:lnTo>
                  <a:lnTo>
                    <a:pt x="573504" y="499703"/>
                  </a:lnTo>
                  <a:lnTo>
                    <a:pt x="581108" y="502899"/>
                  </a:lnTo>
                  <a:lnTo>
                    <a:pt x="587732" y="507437"/>
                  </a:lnTo>
                  <a:lnTo>
                    <a:pt x="593367" y="513326"/>
                  </a:lnTo>
                  <a:lnTo>
                    <a:pt x="599009" y="519215"/>
                  </a:lnTo>
                  <a:lnTo>
                    <a:pt x="603545" y="525960"/>
                  </a:lnTo>
                  <a:lnTo>
                    <a:pt x="606983" y="533569"/>
                  </a:lnTo>
                  <a:lnTo>
                    <a:pt x="610412" y="541178"/>
                  </a:lnTo>
                  <a:lnTo>
                    <a:pt x="612131" y="549274"/>
                  </a:lnTo>
                  <a:lnTo>
                    <a:pt x="612131" y="557864"/>
                  </a:lnTo>
                  <a:lnTo>
                    <a:pt x="612131" y="730486"/>
                  </a:lnTo>
                  <a:lnTo>
                    <a:pt x="565044" y="730486"/>
                  </a:lnTo>
                  <a:lnTo>
                    <a:pt x="565044" y="557864"/>
                  </a:lnTo>
                  <a:lnTo>
                    <a:pt x="565044" y="553443"/>
                  </a:lnTo>
                  <a:lnTo>
                    <a:pt x="549223" y="542034"/>
                  </a:lnTo>
                  <a:lnTo>
                    <a:pt x="62908" y="542034"/>
                  </a:lnTo>
                  <a:lnTo>
                    <a:pt x="58489" y="542034"/>
                  </a:lnTo>
                  <a:lnTo>
                    <a:pt x="47087" y="557864"/>
                  </a:lnTo>
                  <a:lnTo>
                    <a:pt x="47087" y="730486"/>
                  </a:lnTo>
                  <a:lnTo>
                    <a:pt x="0" y="730486"/>
                  </a:lnTo>
                  <a:lnTo>
                    <a:pt x="0" y="557864"/>
                  </a:lnTo>
                  <a:lnTo>
                    <a:pt x="0" y="549274"/>
                  </a:lnTo>
                  <a:lnTo>
                    <a:pt x="1593" y="541178"/>
                  </a:lnTo>
                  <a:lnTo>
                    <a:pt x="4779" y="533569"/>
                  </a:lnTo>
                  <a:lnTo>
                    <a:pt x="7973" y="525960"/>
                  </a:lnTo>
                  <a:lnTo>
                    <a:pt x="12509" y="519333"/>
                  </a:lnTo>
                  <a:lnTo>
                    <a:pt x="18395" y="513695"/>
                  </a:lnTo>
                  <a:lnTo>
                    <a:pt x="24281" y="508050"/>
                  </a:lnTo>
                  <a:lnTo>
                    <a:pt x="30896" y="503511"/>
                  </a:lnTo>
                  <a:lnTo>
                    <a:pt x="38258" y="500072"/>
                  </a:lnTo>
                  <a:lnTo>
                    <a:pt x="45611" y="496641"/>
                  </a:lnTo>
                  <a:lnTo>
                    <a:pt x="53828" y="494921"/>
                  </a:lnTo>
                  <a:lnTo>
                    <a:pt x="62908" y="494921"/>
                  </a:lnTo>
                  <a:lnTo>
                    <a:pt x="188348" y="494921"/>
                  </a:lnTo>
                  <a:lnTo>
                    <a:pt x="188348" y="447808"/>
                  </a:lnTo>
                  <a:lnTo>
                    <a:pt x="157082" y="447808"/>
                  </a:lnTo>
                  <a:lnTo>
                    <a:pt x="148496" y="447808"/>
                  </a:lnTo>
                  <a:lnTo>
                    <a:pt x="112569" y="429402"/>
                  </a:lnTo>
                  <a:lnTo>
                    <a:pt x="106683" y="423513"/>
                  </a:lnTo>
                  <a:lnTo>
                    <a:pt x="102265" y="416894"/>
                  </a:lnTo>
                  <a:lnTo>
                    <a:pt x="99322" y="409529"/>
                  </a:lnTo>
                  <a:lnTo>
                    <a:pt x="96379" y="402171"/>
                  </a:lnTo>
                  <a:lnTo>
                    <a:pt x="94660" y="393950"/>
                  </a:lnTo>
                  <a:lnTo>
                    <a:pt x="94174" y="384865"/>
                  </a:lnTo>
                  <a:lnTo>
                    <a:pt x="94174" y="353582"/>
                  </a:lnTo>
                  <a:lnTo>
                    <a:pt x="47087" y="353582"/>
                  </a:lnTo>
                  <a:lnTo>
                    <a:pt x="47087" y="259356"/>
                  </a:lnTo>
                  <a:lnTo>
                    <a:pt x="94174" y="259356"/>
                  </a:lnTo>
                  <a:lnTo>
                    <a:pt x="94174" y="228073"/>
                  </a:lnTo>
                  <a:lnTo>
                    <a:pt x="94174" y="219483"/>
                  </a:lnTo>
                  <a:lnTo>
                    <a:pt x="95767" y="211387"/>
                  </a:lnTo>
                  <a:lnTo>
                    <a:pt x="98953" y="203779"/>
                  </a:lnTo>
                  <a:lnTo>
                    <a:pt x="102147" y="196170"/>
                  </a:lnTo>
                  <a:lnTo>
                    <a:pt x="106683" y="189543"/>
                  </a:lnTo>
                  <a:lnTo>
                    <a:pt x="112569" y="183905"/>
                  </a:lnTo>
                  <a:lnTo>
                    <a:pt x="118455" y="178259"/>
                  </a:lnTo>
                  <a:lnTo>
                    <a:pt x="125070" y="173721"/>
                  </a:lnTo>
                  <a:lnTo>
                    <a:pt x="132432" y="170281"/>
                  </a:lnTo>
                  <a:lnTo>
                    <a:pt x="139785" y="166850"/>
                  </a:lnTo>
                  <a:lnTo>
                    <a:pt x="148002" y="165130"/>
                  </a:lnTo>
                  <a:lnTo>
                    <a:pt x="157082" y="165130"/>
                  </a:lnTo>
                  <a:lnTo>
                    <a:pt x="282522" y="165130"/>
                  </a:lnTo>
                  <a:lnTo>
                    <a:pt x="282522" y="88203"/>
                  </a:lnTo>
                  <a:lnTo>
                    <a:pt x="275412" y="84033"/>
                  </a:lnTo>
                  <a:lnTo>
                    <a:pt x="269769" y="78270"/>
                  </a:lnTo>
                  <a:lnTo>
                    <a:pt x="265602" y="70904"/>
                  </a:lnTo>
                  <a:lnTo>
                    <a:pt x="261435" y="63547"/>
                  </a:lnTo>
                  <a:lnTo>
                    <a:pt x="259221" y="55695"/>
                  </a:lnTo>
                  <a:lnTo>
                    <a:pt x="258978" y="47348"/>
                  </a:lnTo>
                  <a:lnTo>
                    <a:pt x="258978" y="40721"/>
                  </a:lnTo>
                  <a:lnTo>
                    <a:pt x="281784" y="6595"/>
                  </a:lnTo>
                  <a:lnTo>
                    <a:pt x="299693" y="0"/>
                  </a:lnTo>
                  <a:lnTo>
                    <a:pt x="306065" y="235"/>
                  </a:lnTo>
                  <a:lnTo>
                    <a:pt x="312689" y="235"/>
                  </a:lnTo>
                  <a:lnTo>
                    <a:pt x="346780" y="23085"/>
                  </a:lnTo>
                  <a:lnTo>
                    <a:pt x="353395" y="40972"/>
                  </a:lnTo>
                  <a:lnTo>
                    <a:pt x="353152" y="47348"/>
                  </a:lnTo>
                  <a:lnTo>
                    <a:pt x="353152" y="55695"/>
                  </a:lnTo>
                  <a:lnTo>
                    <a:pt x="351065" y="63547"/>
                  </a:lnTo>
                  <a:lnTo>
                    <a:pt x="346897" y="70904"/>
                  </a:lnTo>
                  <a:lnTo>
                    <a:pt x="342730" y="78270"/>
                  </a:lnTo>
                  <a:lnTo>
                    <a:pt x="336962" y="84033"/>
                  </a:lnTo>
                  <a:lnTo>
                    <a:pt x="329609" y="88203"/>
                  </a:lnTo>
                  <a:lnTo>
                    <a:pt x="329609" y="165130"/>
                  </a:lnTo>
                  <a:lnTo>
                    <a:pt x="455049" y="165130"/>
                  </a:lnTo>
                  <a:lnTo>
                    <a:pt x="463634" y="165130"/>
                  </a:lnTo>
                  <a:lnTo>
                    <a:pt x="471725" y="166724"/>
                  </a:lnTo>
                  <a:lnTo>
                    <a:pt x="479330" y="169912"/>
                  </a:lnTo>
                  <a:lnTo>
                    <a:pt x="486934" y="173108"/>
                  </a:lnTo>
                  <a:lnTo>
                    <a:pt x="493558" y="177647"/>
                  </a:lnTo>
                  <a:lnTo>
                    <a:pt x="499193" y="183536"/>
                  </a:lnTo>
                  <a:lnTo>
                    <a:pt x="504835" y="189425"/>
                  </a:lnTo>
                  <a:lnTo>
                    <a:pt x="509371" y="196170"/>
                  </a:lnTo>
                  <a:lnTo>
                    <a:pt x="512809" y="203779"/>
                  </a:lnTo>
                  <a:lnTo>
                    <a:pt x="516238" y="211387"/>
                  </a:lnTo>
                  <a:lnTo>
                    <a:pt x="517957" y="219483"/>
                  </a:lnTo>
                  <a:lnTo>
                    <a:pt x="517957" y="228073"/>
                  </a:lnTo>
                  <a:lnTo>
                    <a:pt x="517957" y="259356"/>
                  </a:lnTo>
                  <a:lnTo>
                    <a:pt x="565044" y="259356"/>
                  </a:lnTo>
                  <a:lnTo>
                    <a:pt x="565044" y="353582"/>
                  </a:lnTo>
                  <a:lnTo>
                    <a:pt x="517957" y="353582"/>
                  </a:lnTo>
                  <a:lnTo>
                    <a:pt x="517957" y="384865"/>
                  </a:lnTo>
                  <a:lnTo>
                    <a:pt x="517957" y="393455"/>
                  </a:lnTo>
                  <a:lnTo>
                    <a:pt x="516364" y="401551"/>
                  </a:lnTo>
                  <a:lnTo>
                    <a:pt x="493676" y="435292"/>
                  </a:lnTo>
                  <a:lnTo>
                    <a:pt x="455049" y="447808"/>
                  </a:lnTo>
                  <a:lnTo>
                    <a:pt x="423783" y="447808"/>
                  </a:lnTo>
                  <a:lnTo>
                    <a:pt x="423783" y="494921"/>
                  </a:lnTo>
                  <a:lnTo>
                    <a:pt x="549223" y="494921"/>
                  </a:lnTo>
                  <a:close/>
                </a:path>
                <a:path w="612139" h="730885">
                  <a:moveTo>
                    <a:pt x="141261" y="384865"/>
                  </a:moveTo>
                  <a:lnTo>
                    <a:pt x="141261" y="389286"/>
                  </a:lnTo>
                  <a:lnTo>
                    <a:pt x="142728" y="392968"/>
                  </a:lnTo>
                  <a:lnTo>
                    <a:pt x="145671" y="395913"/>
                  </a:lnTo>
                  <a:lnTo>
                    <a:pt x="148614" y="398858"/>
                  </a:lnTo>
                  <a:lnTo>
                    <a:pt x="152420" y="400452"/>
                  </a:lnTo>
                  <a:lnTo>
                    <a:pt x="157082" y="400695"/>
                  </a:lnTo>
                  <a:lnTo>
                    <a:pt x="455049" y="400695"/>
                  </a:lnTo>
                  <a:lnTo>
                    <a:pt x="459467" y="400695"/>
                  </a:lnTo>
                  <a:lnTo>
                    <a:pt x="463148" y="399227"/>
                  </a:lnTo>
                  <a:lnTo>
                    <a:pt x="466090" y="396282"/>
                  </a:lnTo>
                  <a:lnTo>
                    <a:pt x="469033" y="393338"/>
                  </a:lnTo>
                  <a:lnTo>
                    <a:pt x="470626" y="389529"/>
                  </a:lnTo>
                  <a:lnTo>
                    <a:pt x="470870" y="384865"/>
                  </a:lnTo>
                  <a:lnTo>
                    <a:pt x="470870" y="228073"/>
                  </a:lnTo>
                  <a:lnTo>
                    <a:pt x="470870" y="223652"/>
                  </a:lnTo>
                  <a:lnTo>
                    <a:pt x="469394" y="219970"/>
                  </a:lnTo>
                  <a:lnTo>
                    <a:pt x="466451" y="217025"/>
                  </a:lnTo>
                  <a:lnTo>
                    <a:pt x="463509" y="214081"/>
                  </a:lnTo>
                  <a:lnTo>
                    <a:pt x="459710" y="212487"/>
                  </a:lnTo>
                  <a:lnTo>
                    <a:pt x="455049" y="212243"/>
                  </a:lnTo>
                  <a:lnTo>
                    <a:pt x="157082" y="212243"/>
                  </a:lnTo>
                  <a:lnTo>
                    <a:pt x="152663" y="212243"/>
                  </a:lnTo>
                  <a:lnTo>
                    <a:pt x="141261" y="228073"/>
                  </a:lnTo>
                  <a:lnTo>
                    <a:pt x="141261" y="384865"/>
                  </a:lnTo>
                  <a:close/>
                </a:path>
                <a:path w="612139" h="730885">
                  <a:moveTo>
                    <a:pt x="235435" y="494921"/>
                  </a:moveTo>
                  <a:lnTo>
                    <a:pt x="376696" y="494921"/>
                  </a:lnTo>
                  <a:lnTo>
                    <a:pt x="376696" y="447808"/>
                  </a:lnTo>
                  <a:lnTo>
                    <a:pt x="235435" y="447808"/>
                  </a:lnTo>
                  <a:lnTo>
                    <a:pt x="235435" y="494921"/>
                  </a:lnTo>
                  <a:close/>
                </a:path>
              </a:pathLst>
            </a:custGeom>
            <a:ln w="10989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409947" y="834008"/>
            <a:ext cx="6510020" cy="10020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200" spc="-10"/>
              <a:t>Following</a:t>
            </a:r>
            <a:r>
              <a:rPr dirty="0" sz="3200" spc="-40"/>
              <a:t> </a:t>
            </a:r>
            <a:r>
              <a:rPr dirty="0" sz="3200"/>
              <a:t>are</a:t>
            </a:r>
            <a:r>
              <a:rPr dirty="0" sz="3200" spc="-60"/>
              <a:t> </a:t>
            </a:r>
            <a:r>
              <a:rPr dirty="0" sz="3200"/>
              <a:t>the</a:t>
            </a:r>
            <a:r>
              <a:rPr dirty="0" sz="3200" spc="-45"/>
              <a:t> </a:t>
            </a:r>
            <a:r>
              <a:rPr dirty="0" sz="3200"/>
              <a:t>types</a:t>
            </a:r>
            <a:r>
              <a:rPr dirty="0" sz="3200" spc="-55"/>
              <a:t> </a:t>
            </a:r>
            <a:r>
              <a:rPr dirty="0" sz="3200"/>
              <a:t>of</a:t>
            </a:r>
            <a:r>
              <a:rPr dirty="0" sz="3200" spc="-50"/>
              <a:t> </a:t>
            </a:r>
            <a:r>
              <a:rPr dirty="0" sz="3200"/>
              <a:t>JOIN</a:t>
            </a:r>
            <a:r>
              <a:rPr dirty="0" sz="3200" spc="-45"/>
              <a:t> </a:t>
            </a:r>
            <a:r>
              <a:rPr dirty="0" sz="3200"/>
              <a:t>that</a:t>
            </a:r>
            <a:r>
              <a:rPr dirty="0" sz="3200" spc="-35"/>
              <a:t> </a:t>
            </a:r>
            <a:r>
              <a:rPr dirty="0" sz="3200" spc="-25"/>
              <a:t>we </a:t>
            </a:r>
            <a:r>
              <a:rPr dirty="0" sz="3200"/>
              <a:t>can</a:t>
            </a:r>
            <a:r>
              <a:rPr dirty="0" sz="3200" spc="-45"/>
              <a:t> </a:t>
            </a:r>
            <a:r>
              <a:rPr dirty="0" sz="3200"/>
              <a:t>use</a:t>
            </a:r>
            <a:r>
              <a:rPr dirty="0" sz="3200" spc="-45"/>
              <a:t> </a:t>
            </a:r>
            <a:r>
              <a:rPr dirty="0" sz="3200"/>
              <a:t>in</a:t>
            </a:r>
            <a:r>
              <a:rPr dirty="0" sz="3200" spc="-40"/>
              <a:t> </a:t>
            </a:r>
            <a:r>
              <a:rPr dirty="0" sz="3200" spc="-20"/>
              <a:t>SQL:</a:t>
            </a:r>
            <a:endParaRPr sz="3200"/>
          </a:p>
        </p:txBody>
      </p:sp>
      <p:sp>
        <p:nvSpPr>
          <p:cNvPr id="8" name="object 8" descr=""/>
          <p:cNvSpPr/>
          <p:nvPr/>
        </p:nvSpPr>
        <p:spPr>
          <a:xfrm>
            <a:off x="4422647" y="5153179"/>
            <a:ext cx="748030" cy="0"/>
          </a:xfrm>
          <a:custGeom>
            <a:avLst/>
            <a:gdLst/>
            <a:ahLst/>
            <a:cxnLst/>
            <a:rect l="l" t="t" r="r" b="b"/>
            <a:pathLst>
              <a:path w="748029" h="0">
                <a:moveTo>
                  <a:pt x="0" y="0"/>
                </a:moveTo>
                <a:lnTo>
                  <a:pt x="747896" y="0"/>
                </a:lnTo>
              </a:path>
            </a:pathLst>
          </a:custGeom>
          <a:ln w="27262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4409947" y="1810359"/>
            <a:ext cx="1954530" cy="3537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3200">
                <a:latin typeface="Calibri"/>
                <a:cs typeface="Calibri"/>
              </a:rPr>
              <a:t>1.Cross</a:t>
            </a:r>
            <a:r>
              <a:rPr dirty="0" sz="3200" spc="-16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Join </a:t>
            </a:r>
            <a:r>
              <a:rPr dirty="0" sz="3200" spc="-10">
                <a:latin typeface="Calibri"/>
                <a:cs typeface="Calibri"/>
              </a:rPr>
              <a:t>2.Inner</a:t>
            </a:r>
            <a:endParaRPr sz="3200">
              <a:latin typeface="Calibri"/>
              <a:cs typeface="Calibri"/>
            </a:endParaRPr>
          </a:p>
          <a:p>
            <a:pPr marL="103505">
              <a:lnSpc>
                <a:spcPct val="100000"/>
              </a:lnSpc>
              <a:spcBef>
                <a:spcPts val="770"/>
              </a:spcBef>
            </a:pPr>
            <a:r>
              <a:rPr dirty="0" sz="3200" spc="-10">
                <a:latin typeface="Calibri"/>
                <a:cs typeface="Calibri"/>
              </a:rPr>
              <a:t>3.Outer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3200" spc="-10">
                <a:latin typeface="Calibri"/>
                <a:cs typeface="Calibri"/>
              </a:rPr>
              <a:t>--</a:t>
            </a:r>
            <a:r>
              <a:rPr dirty="0" sz="3200">
                <a:latin typeface="Calibri"/>
                <a:cs typeface="Calibri"/>
              </a:rPr>
              <a:t>-</a:t>
            </a:r>
            <a:r>
              <a:rPr dirty="0" sz="3200" spc="-10">
                <a:latin typeface="Calibri"/>
                <a:cs typeface="Calibri"/>
              </a:rPr>
              <a:t>---</a:t>
            </a:r>
            <a:r>
              <a:rPr dirty="0" sz="3200" spc="-20">
                <a:latin typeface="Calibri"/>
                <a:cs typeface="Calibri"/>
              </a:rPr>
              <a:t>Left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3200" spc="-10">
                <a:latin typeface="Calibri"/>
                <a:cs typeface="Calibri"/>
              </a:rPr>
              <a:t>---</a:t>
            </a:r>
            <a:r>
              <a:rPr dirty="0" sz="3200">
                <a:latin typeface="Calibri"/>
                <a:cs typeface="Calibri"/>
              </a:rPr>
              <a:t>-</a:t>
            </a:r>
            <a:r>
              <a:rPr dirty="0" sz="3200" spc="-10">
                <a:latin typeface="Calibri"/>
                <a:cs typeface="Calibri"/>
              </a:rPr>
              <a:t>-</a:t>
            </a:r>
            <a:r>
              <a:rPr dirty="0" sz="3200" spc="-20">
                <a:latin typeface="Calibri"/>
                <a:cs typeface="Calibri"/>
              </a:rPr>
              <a:t>-Right</a:t>
            </a:r>
            <a:endParaRPr sz="3200">
              <a:latin typeface="Calibri"/>
              <a:cs typeface="Calibri"/>
            </a:endParaRPr>
          </a:p>
          <a:p>
            <a:pPr marL="759460">
              <a:lnSpc>
                <a:spcPct val="100000"/>
              </a:lnSpc>
              <a:spcBef>
                <a:spcPts val="770"/>
              </a:spcBef>
            </a:pPr>
            <a:r>
              <a:rPr dirty="0" sz="3200" spc="-20">
                <a:latin typeface="Calibri"/>
                <a:cs typeface="Calibri"/>
              </a:rPr>
              <a:t>Full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2259203" y="0"/>
                </a:moveTo>
                <a:lnTo>
                  <a:pt x="0" y="0"/>
                </a:lnTo>
                <a:lnTo>
                  <a:pt x="0" y="6857999"/>
                </a:lnTo>
                <a:lnTo>
                  <a:pt x="2259203" y="6857999"/>
                </a:lnTo>
                <a:lnTo>
                  <a:pt x="2387473" y="6775778"/>
                </a:lnTo>
                <a:lnTo>
                  <a:pt x="2427059" y="6748686"/>
                </a:lnTo>
                <a:lnTo>
                  <a:pt x="2466306" y="6721137"/>
                </a:lnTo>
                <a:lnTo>
                  <a:pt x="2505209" y="6693136"/>
                </a:lnTo>
                <a:lnTo>
                  <a:pt x="2543765" y="6664686"/>
                </a:lnTo>
                <a:lnTo>
                  <a:pt x="2581969" y="6635792"/>
                </a:lnTo>
                <a:lnTo>
                  <a:pt x="2619817" y="6606457"/>
                </a:lnTo>
                <a:lnTo>
                  <a:pt x="2657307" y="6576685"/>
                </a:lnTo>
                <a:lnTo>
                  <a:pt x="2694433" y="6546479"/>
                </a:lnTo>
                <a:lnTo>
                  <a:pt x="2731193" y="6515844"/>
                </a:lnTo>
                <a:lnTo>
                  <a:pt x="2767582" y="6484784"/>
                </a:lnTo>
                <a:lnTo>
                  <a:pt x="2803597" y="6453301"/>
                </a:lnTo>
                <a:lnTo>
                  <a:pt x="2839233" y="6421401"/>
                </a:lnTo>
                <a:lnTo>
                  <a:pt x="2874488" y="6389086"/>
                </a:lnTo>
                <a:lnTo>
                  <a:pt x="2909356" y="6356362"/>
                </a:lnTo>
                <a:lnTo>
                  <a:pt x="2943835" y="6323230"/>
                </a:lnTo>
                <a:lnTo>
                  <a:pt x="2977921" y="6289696"/>
                </a:lnTo>
                <a:lnTo>
                  <a:pt x="3011609" y="6255763"/>
                </a:lnTo>
                <a:lnTo>
                  <a:pt x="3044896" y="6221435"/>
                </a:lnTo>
                <a:lnTo>
                  <a:pt x="3077778" y="6186716"/>
                </a:lnTo>
                <a:lnTo>
                  <a:pt x="3110252" y="6151609"/>
                </a:lnTo>
                <a:lnTo>
                  <a:pt x="3142313" y="6116118"/>
                </a:lnTo>
                <a:lnTo>
                  <a:pt x="3173957" y="6080248"/>
                </a:lnTo>
                <a:lnTo>
                  <a:pt x="3205181" y="6044002"/>
                </a:lnTo>
                <a:lnTo>
                  <a:pt x="3235982" y="6007384"/>
                </a:lnTo>
                <a:lnTo>
                  <a:pt x="3266354" y="5970397"/>
                </a:lnTo>
                <a:lnTo>
                  <a:pt x="3296295" y="5933046"/>
                </a:lnTo>
                <a:lnTo>
                  <a:pt x="3325800" y="5895333"/>
                </a:lnTo>
                <a:lnTo>
                  <a:pt x="3354866" y="5857265"/>
                </a:lnTo>
                <a:lnTo>
                  <a:pt x="3383489" y="5818842"/>
                </a:lnTo>
                <a:lnTo>
                  <a:pt x="3411665" y="5780071"/>
                </a:lnTo>
                <a:lnTo>
                  <a:pt x="3439390" y="5740954"/>
                </a:lnTo>
                <a:lnTo>
                  <a:pt x="3466661" y="5701496"/>
                </a:lnTo>
                <a:lnTo>
                  <a:pt x="3493474" y="5661700"/>
                </a:lnTo>
                <a:lnTo>
                  <a:pt x="3519824" y="5621569"/>
                </a:lnTo>
                <a:lnTo>
                  <a:pt x="3545708" y="5581109"/>
                </a:lnTo>
                <a:lnTo>
                  <a:pt x="3571122" y="5540322"/>
                </a:lnTo>
                <a:lnTo>
                  <a:pt x="3596063" y="5499213"/>
                </a:lnTo>
                <a:lnTo>
                  <a:pt x="3620526" y="5457784"/>
                </a:lnTo>
                <a:lnTo>
                  <a:pt x="3644508" y="5416041"/>
                </a:lnTo>
                <a:lnTo>
                  <a:pt x="3668005" y="5373987"/>
                </a:lnTo>
                <a:lnTo>
                  <a:pt x="3691013" y="5331626"/>
                </a:lnTo>
                <a:lnTo>
                  <a:pt x="3713528" y="5288961"/>
                </a:lnTo>
                <a:lnTo>
                  <a:pt x="3735547" y="5245996"/>
                </a:lnTo>
                <a:lnTo>
                  <a:pt x="3757066" y="5202736"/>
                </a:lnTo>
                <a:lnTo>
                  <a:pt x="3778080" y="5159183"/>
                </a:lnTo>
                <a:lnTo>
                  <a:pt x="3798586" y="5115342"/>
                </a:lnTo>
                <a:lnTo>
                  <a:pt x="3818580" y="5071217"/>
                </a:lnTo>
                <a:lnTo>
                  <a:pt x="3838059" y="5026811"/>
                </a:lnTo>
                <a:lnTo>
                  <a:pt x="3857019" y="4982129"/>
                </a:lnTo>
                <a:lnTo>
                  <a:pt x="3875455" y="4937174"/>
                </a:lnTo>
                <a:lnTo>
                  <a:pt x="3893364" y="4891949"/>
                </a:lnTo>
                <a:lnTo>
                  <a:pt x="3910742" y="4846459"/>
                </a:lnTo>
                <a:lnTo>
                  <a:pt x="3927585" y="4800708"/>
                </a:lnTo>
                <a:lnTo>
                  <a:pt x="3943890" y="4754699"/>
                </a:lnTo>
                <a:lnTo>
                  <a:pt x="3959653" y="4708436"/>
                </a:lnTo>
                <a:lnTo>
                  <a:pt x="3974869" y="4661923"/>
                </a:lnTo>
                <a:lnTo>
                  <a:pt x="3989536" y="4615164"/>
                </a:lnTo>
                <a:lnTo>
                  <a:pt x="4003649" y="4568162"/>
                </a:lnTo>
                <a:lnTo>
                  <a:pt x="4017204" y="4520922"/>
                </a:lnTo>
                <a:lnTo>
                  <a:pt x="4030197" y="4473447"/>
                </a:lnTo>
                <a:lnTo>
                  <a:pt x="4042626" y="4425741"/>
                </a:lnTo>
                <a:lnTo>
                  <a:pt x="4054485" y="4377808"/>
                </a:lnTo>
                <a:lnTo>
                  <a:pt x="4065772" y="4329652"/>
                </a:lnTo>
                <a:lnTo>
                  <a:pt x="4076481" y="4281276"/>
                </a:lnTo>
                <a:lnTo>
                  <a:pt x="4086611" y="4232684"/>
                </a:lnTo>
                <a:lnTo>
                  <a:pt x="4096156" y="4183881"/>
                </a:lnTo>
                <a:lnTo>
                  <a:pt x="4105112" y="4134870"/>
                </a:lnTo>
                <a:lnTo>
                  <a:pt x="4113477" y="4085654"/>
                </a:lnTo>
                <a:lnTo>
                  <a:pt x="4121246" y="4036238"/>
                </a:lnTo>
                <a:lnTo>
                  <a:pt x="4128416" y="3986625"/>
                </a:lnTo>
                <a:lnTo>
                  <a:pt x="4134982" y="3936819"/>
                </a:lnTo>
                <a:lnTo>
                  <a:pt x="4140941" y="3886825"/>
                </a:lnTo>
                <a:lnTo>
                  <a:pt x="4146289" y="3836645"/>
                </a:lnTo>
                <a:lnTo>
                  <a:pt x="4151022" y="3786284"/>
                </a:lnTo>
                <a:lnTo>
                  <a:pt x="4155136" y="3735745"/>
                </a:lnTo>
                <a:lnTo>
                  <a:pt x="4158628" y="3685033"/>
                </a:lnTo>
                <a:lnTo>
                  <a:pt x="4161493" y="3634151"/>
                </a:lnTo>
                <a:lnTo>
                  <a:pt x="4163728" y="3583103"/>
                </a:lnTo>
                <a:lnTo>
                  <a:pt x="4165330" y="3531892"/>
                </a:lnTo>
                <a:lnTo>
                  <a:pt x="4166293" y="3480523"/>
                </a:lnTo>
                <a:lnTo>
                  <a:pt x="4166616" y="3429000"/>
                </a:lnTo>
                <a:lnTo>
                  <a:pt x="4166293" y="3377476"/>
                </a:lnTo>
                <a:lnTo>
                  <a:pt x="4165330" y="3326107"/>
                </a:lnTo>
                <a:lnTo>
                  <a:pt x="4163728" y="3274897"/>
                </a:lnTo>
                <a:lnTo>
                  <a:pt x="4161493" y="3223849"/>
                </a:lnTo>
                <a:lnTo>
                  <a:pt x="4158628" y="3172967"/>
                </a:lnTo>
                <a:lnTo>
                  <a:pt x="4155136" y="3122255"/>
                </a:lnTo>
                <a:lnTo>
                  <a:pt x="4151022" y="3071716"/>
                </a:lnTo>
                <a:lnTo>
                  <a:pt x="4146289" y="3021356"/>
                </a:lnTo>
                <a:lnTo>
                  <a:pt x="4140941" y="2971176"/>
                </a:lnTo>
                <a:lnTo>
                  <a:pt x="4134982" y="2921182"/>
                </a:lnTo>
                <a:lnTo>
                  <a:pt x="4128416" y="2871377"/>
                </a:lnTo>
                <a:lnTo>
                  <a:pt x="4121246" y="2821765"/>
                </a:lnTo>
                <a:lnTo>
                  <a:pt x="4113477" y="2772349"/>
                </a:lnTo>
                <a:lnTo>
                  <a:pt x="4105112" y="2723134"/>
                </a:lnTo>
                <a:lnTo>
                  <a:pt x="4096156" y="2674123"/>
                </a:lnTo>
                <a:lnTo>
                  <a:pt x="4086611" y="2625320"/>
                </a:lnTo>
                <a:lnTo>
                  <a:pt x="4076481" y="2576729"/>
                </a:lnTo>
                <a:lnTo>
                  <a:pt x="4065772" y="2528354"/>
                </a:lnTo>
                <a:lnTo>
                  <a:pt x="4054485" y="2480198"/>
                </a:lnTo>
                <a:lnTo>
                  <a:pt x="4042626" y="2432266"/>
                </a:lnTo>
                <a:lnTo>
                  <a:pt x="4030197" y="2384560"/>
                </a:lnTo>
                <a:lnTo>
                  <a:pt x="4017204" y="2337086"/>
                </a:lnTo>
                <a:lnTo>
                  <a:pt x="4003649" y="2289846"/>
                </a:lnTo>
                <a:lnTo>
                  <a:pt x="3989536" y="2242846"/>
                </a:lnTo>
                <a:lnTo>
                  <a:pt x="3974869" y="2196087"/>
                </a:lnTo>
                <a:lnTo>
                  <a:pt x="3959653" y="2149575"/>
                </a:lnTo>
                <a:lnTo>
                  <a:pt x="3943890" y="2103312"/>
                </a:lnTo>
                <a:lnTo>
                  <a:pt x="3927585" y="2057304"/>
                </a:lnTo>
                <a:lnTo>
                  <a:pt x="3910742" y="2011553"/>
                </a:lnTo>
                <a:lnTo>
                  <a:pt x="3893364" y="1966064"/>
                </a:lnTo>
                <a:lnTo>
                  <a:pt x="3875455" y="1920840"/>
                </a:lnTo>
                <a:lnTo>
                  <a:pt x="3857019" y="1875885"/>
                </a:lnTo>
                <a:lnTo>
                  <a:pt x="3838059" y="1831203"/>
                </a:lnTo>
                <a:lnTo>
                  <a:pt x="3818580" y="1786797"/>
                </a:lnTo>
                <a:lnTo>
                  <a:pt x="3798586" y="1742673"/>
                </a:lnTo>
                <a:lnTo>
                  <a:pt x="3778080" y="1698832"/>
                </a:lnTo>
                <a:lnTo>
                  <a:pt x="3757066" y="1655280"/>
                </a:lnTo>
                <a:lnTo>
                  <a:pt x="3735547" y="1612020"/>
                </a:lnTo>
                <a:lnTo>
                  <a:pt x="3713528" y="1569055"/>
                </a:lnTo>
                <a:lnTo>
                  <a:pt x="3691013" y="1526391"/>
                </a:lnTo>
                <a:lnTo>
                  <a:pt x="3668005" y="1484029"/>
                </a:lnTo>
                <a:lnTo>
                  <a:pt x="3644508" y="1441975"/>
                </a:lnTo>
                <a:lnTo>
                  <a:pt x="3620526" y="1400232"/>
                </a:lnTo>
                <a:lnTo>
                  <a:pt x="3596063" y="1358804"/>
                </a:lnTo>
                <a:lnTo>
                  <a:pt x="3571122" y="1317694"/>
                </a:lnTo>
                <a:lnTo>
                  <a:pt x="3545708" y="1276907"/>
                </a:lnTo>
                <a:lnTo>
                  <a:pt x="3519824" y="1236446"/>
                </a:lnTo>
                <a:lnTo>
                  <a:pt x="3493474" y="1196316"/>
                </a:lnTo>
                <a:lnTo>
                  <a:pt x="3466661" y="1156519"/>
                </a:lnTo>
                <a:lnTo>
                  <a:pt x="3439390" y="1117060"/>
                </a:lnTo>
                <a:lnTo>
                  <a:pt x="3411665" y="1077943"/>
                </a:lnTo>
                <a:lnTo>
                  <a:pt x="3383489" y="1039171"/>
                </a:lnTo>
                <a:lnTo>
                  <a:pt x="3354866" y="1000748"/>
                </a:lnTo>
                <a:lnTo>
                  <a:pt x="3325800" y="962678"/>
                </a:lnTo>
                <a:lnTo>
                  <a:pt x="3296295" y="924965"/>
                </a:lnTo>
                <a:lnTo>
                  <a:pt x="3266354" y="887613"/>
                </a:lnTo>
                <a:lnTo>
                  <a:pt x="3235982" y="850625"/>
                </a:lnTo>
                <a:lnTo>
                  <a:pt x="3205181" y="814006"/>
                </a:lnTo>
                <a:lnTo>
                  <a:pt x="3173957" y="777758"/>
                </a:lnTo>
                <a:lnTo>
                  <a:pt x="3142313" y="741886"/>
                </a:lnTo>
                <a:lnTo>
                  <a:pt x="3110252" y="706395"/>
                </a:lnTo>
                <a:lnTo>
                  <a:pt x="3077778" y="671286"/>
                </a:lnTo>
                <a:lnTo>
                  <a:pt x="3044896" y="636565"/>
                </a:lnTo>
                <a:lnTo>
                  <a:pt x="3011609" y="602235"/>
                </a:lnTo>
                <a:lnTo>
                  <a:pt x="2977921" y="568300"/>
                </a:lnTo>
                <a:lnTo>
                  <a:pt x="2943835" y="534764"/>
                </a:lnTo>
                <a:lnTo>
                  <a:pt x="2909356" y="501631"/>
                </a:lnTo>
                <a:lnTo>
                  <a:pt x="2874488" y="468903"/>
                </a:lnTo>
                <a:lnTo>
                  <a:pt x="2839233" y="436586"/>
                </a:lnTo>
                <a:lnTo>
                  <a:pt x="2803597" y="404684"/>
                </a:lnTo>
                <a:lnTo>
                  <a:pt x="2767582" y="373198"/>
                </a:lnTo>
                <a:lnTo>
                  <a:pt x="2731193" y="342135"/>
                </a:lnTo>
                <a:lnTo>
                  <a:pt x="2694433" y="311497"/>
                </a:lnTo>
                <a:lnTo>
                  <a:pt x="2657307" y="281288"/>
                </a:lnTo>
                <a:lnTo>
                  <a:pt x="2619817" y="251513"/>
                </a:lnTo>
                <a:lnTo>
                  <a:pt x="2581969" y="222174"/>
                </a:lnTo>
                <a:lnTo>
                  <a:pt x="2543765" y="193276"/>
                </a:lnTo>
                <a:lnTo>
                  <a:pt x="2505209" y="164823"/>
                </a:lnTo>
                <a:lnTo>
                  <a:pt x="2466306" y="136818"/>
                </a:lnTo>
                <a:lnTo>
                  <a:pt x="2427059" y="109265"/>
                </a:lnTo>
                <a:lnTo>
                  <a:pt x="2387473" y="82169"/>
                </a:lnTo>
                <a:lnTo>
                  <a:pt x="2259203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74572" y="1994407"/>
            <a:ext cx="2827020" cy="2038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065" marR="5080" indent="-1270">
              <a:lnSpc>
                <a:spcPct val="100000"/>
              </a:lnSpc>
              <a:spcBef>
                <a:spcPts val="105"/>
              </a:spcBef>
            </a:pPr>
            <a:r>
              <a:rPr dirty="0" sz="4400" b="1">
                <a:solidFill>
                  <a:srgbClr val="FFFFFF"/>
                </a:solidFill>
                <a:latin typeface="Calibri"/>
                <a:cs typeface="Calibri"/>
              </a:rPr>
              <a:t>Cross</a:t>
            </a:r>
            <a:r>
              <a:rPr dirty="0" sz="4400" spc="-9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400" spc="-20" b="1">
                <a:solidFill>
                  <a:srgbClr val="FFFFFF"/>
                </a:solidFill>
                <a:latin typeface="Calibri"/>
                <a:cs typeface="Calibri"/>
              </a:rPr>
              <a:t>JOIN </a:t>
            </a:r>
            <a:r>
              <a:rPr dirty="0" sz="4400" b="1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4400" spc="-10" b="1">
                <a:solidFill>
                  <a:srgbClr val="FFFFFF"/>
                </a:solidFill>
                <a:latin typeface="Calibri"/>
                <a:cs typeface="Calibri"/>
              </a:rPr>
              <a:t> Cartesian Product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592818" y="4498085"/>
            <a:ext cx="2042160" cy="2042160"/>
          </a:xfrm>
          <a:custGeom>
            <a:avLst/>
            <a:gdLst/>
            <a:ahLst/>
            <a:cxnLst/>
            <a:rect l="l" t="t" r="r" b="b"/>
            <a:pathLst>
              <a:path w="2042159" h="2042159">
                <a:moveTo>
                  <a:pt x="0" y="2042159"/>
                </a:moveTo>
                <a:lnTo>
                  <a:pt x="48205" y="2041602"/>
                </a:lnTo>
                <a:lnTo>
                  <a:pt x="96136" y="2039937"/>
                </a:lnTo>
                <a:lnTo>
                  <a:pt x="143781" y="2037177"/>
                </a:lnTo>
                <a:lnTo>
                  <a:pt x="191128" y="2033334"/>
                </a:lnTo>
                <a:lnTo>
                  <a:pt x="238165" y="2028420"/>
                </a:lnTo>
                <a:lnTo>
                  <a:pt x="284878" y="2022449"/>
                </a:lnTo>
                <a:lnTo>
                  <a:pt x="331257" y="2015431"/>
                </a:lnTo>
                <a:lnTo>
                  <a:pt x="377288" y="2007379"/>
                </a:lnTo>
                <a:lnTo>
                  <a:pt x="422959" y="1998307"/>
                </a:lnTo>
                <a:lnTo>
                  <a:pt x="468258" y="1988224"/>
                </a:lnTo>
                <a:lnTo>
                  <a:pt x="513174" y="1977145"/>
                </a:lnTo>
                <a:lnTo>
                  <a:pt x="557693" y="1965081"/>
                </a:lnTo>
                <a:lnTo>
                  <a:pt x="601803" y="1952045"/>
                </a:lnTo>
                <a:lnTo>
                  <a:pt x="645493" y="1938048"/>
                </a:lnTo>
                <a:lnTo>
                  <a:pt x="688749" y="1923104"/>
                </a:lnTo>
                <a:lnTo>
                  <a:pt x="731560" y="1907224"/>
                </a:lnTo>
                <a:lnTo>
                  <a:pt x="773913" y="1890420"/>
                </a:lnTo>
                <a:lnTo>
                  <a:pt x="815796" y="1872705"/>
                </a:lnTo>
                <a:lnTo>
                  <a:pt x="857198" y="1854092"/>
                </a:lnTo>
                <a:lnTo>
                  <a:pt x="898104" y="1834591"/>
                </a:lnTo>
                <a:lnTo>
                  <a:pt x="938504" y="1814216"/>
                </a:lnTo>
                <a:lnTo>
                  <a:pt x="978385" y="1792979"/>
                </a:lnTo>
                <a:lnTo>
                  <a:pt x="1017735" y="1770893"/>
                </a:lnTo>
                <a:lnTo>
                  <a:pt x="1056541" y="1747968"/>
                </a:lnTo>
                <a:lnTo>
                  <a:pt x="1094792" y="1724219"/>
                </a:lnTo>
                <a:lnTo>
                  <a:pt x="1132475" y="1699656"/>
                </a:lnTo>
                <a:lnTo>
                  <a:pt x="1169577" y="1674292"/>
                </a:lnTo>
                <a:lnTo>
                  <a:pt x="1206087" y="1648140"/>
                </a:lnTo>
                <a:lnTo>
                  <a:pt x="1241992" y="1621211"/>
                </a:lnTo>
                <a:lnTo>
                  <a:pt x="1277280" y="1593518"/>
                </a:lnTo>
                <a:lnTo>
                  <a:pt x="1311939" y="1565074"/>
                </a:lnTo>
                <a:lnTo>
                  <a:pt x="1345957" y="1535890"/>
                </a:lnTo>
                <a:lnTo>
                  <a:pt x="1379320" y="1505978"/>
                </a:lnTo>
                <a:lnTo>
                  <a:pt x="1412018" y="1475352"/>
                </a:lnTo>
                <a:lnTo>
                  <a:pt x="1444037" y="1444023"/>
                </a:lnTo>
                <a:lnTo>
                  <a:pt x="1475366" y="1412003"/>
                </a:lnTo>
                <a:lnTo>
                  <a:pt x="1505992" y="1379305"/>
                </a:lnTo>
                <a:lnTo>
                  <a:pt x="1535903" y="1345941"/>
                </a:lnTo>
                <a:lnTo>
                  <a:pt x="1565086" y="1311924"/>
                </a:lnTo>
                <a:lnTo>
                  <a:pt x="1593530" y="1277264"/>
                </a:lnTo>
                <a:lnTo>
                  <a:pt x="1621223" y="1241976"/>
                </a:lnTo>
                <a:lnTo>
                  <a:pt x="1648151" y="1206071"/>
                </a:lnTo>
                <a:lnTo>
                  <a:pt x="1674302" y="1169560"/>
                </a:lnTo>
                <a:lnTo>
                  <a:pt x="1699666" y="1132458"/>
                </a:lnTo>
                <a:lnTo>
                  <a:pt x="1724228" y="1094775"/>
                </a:lnTo>
                <a:lnTo>
                  <a:pt x="1747977" y="1056524"/>
                </a:lnTo>
                <a:lnTo>
                  <a:pt x="1770901" y="1017718"/>
                </a:lnTo>
                <a:lnTo>
                  <a:pt x="1792987" y="978368"/>
                </a:lnTo>
                <a:lnTo>
                  <a:pt x="1814224" y="938487"/>
                </a:lnTo>
                <a:lnTo>
                  <a:pt x="1834598" y="898088"/>
                </a:lnTo>
                <a:lnTo>
                  <a:pt x="1854098" y="857181"/>
                </a:lnTo>
                <a:lnTo>
                  <a:pt x="1872711" y="815780"/>
                </a:lnTo>
                <a:lnTo>
                  <a:pt x="1890425" y="773897"/>
                </a:lnTo>
                <a:lnTo>
                  <a:pt x="1907228" y="731544"/>
                </a:lnTo>
                <a:lnTo>
                  <a:pt x="1923108" y="688734"/>
                </a:lnTo>
                <a:lnTo>
                  <a:pt x="1938052" y="645478"/>
                </a:lnTo>
                <a:lnTo>
                  <a:pt x="1952048" y="601789"/>
                </a:lnTo>
                <a:lnTo>
                  <a:pt x="1965084" y="557679"/>
                </a:lnTo>
                <a:lnTo>
                  <a:pt x="1977148" y="513161"/>
                </a:lnTo>
                <a:lnTo>
                  <a:pt x="1988226" y="468247"/>
                </a:lnTo>
                <a:lnTo>
                  <a:pt x="1998308" y="422948"/>
                </a:lnTo>
                <a:lnTo>
                  <a:pt x="2007381" y="377277"/>
                </a:lnTo>
                <a:lnTo>
                  <a:pt x="2015432" y="331247"/>
                </a:lnTo>
                <a:lnTo>
                  <a:pt x="2022449" y="284870"/>
                </a:lnTo>
                <a:lnTo>
                  <a:pt x="2028421" y="238158"/>
                </a:lnTo>
                <a:lnTo>
                  <a:pt x="2033334" y="191122"/>
                </a:lnTo>
                <a:lnTo>
                  <a:pt x="2037177" y="143777"/>
                </a:lnTo>
                <a:lnTo>
                  <a:pt x="2039937" y="96133"/>
                </a:lnTo>
                <a:lnTo>
                  <a:pt x="2041602" y="48203"/>
                </a:lnTo>
                <a:lnTo>
                  <a:pt x="2042159" y="0"/>
                </a:lnTo>
              </a:path>
            </a:pathLst>
          </a:custGeom>
          <a:ln w="127000">
            <a:solidFill>
              <a:srgbClr val="8063A1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526660" y="467944"/>
            <a:ext cx="6727825" cy="353885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This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type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JOIN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returns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Cartesian </a:t>
            </a:r>
            <a:r>
              <a:rPr dirty="0" sz="3200">
                <a:latin typeface="Calibri"/>
                <a:cs typeface="Calibri"/>
              </a:rPr>
              <a:t>product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rows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from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tables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in </a:t>
            </a:r>
            <a:r>
              <a:rPr dirty="0" sz="3200" spc="-10">
                <a:latin typeface="Calibri"/>
                <a:cs typeface="Calibri"/>
              </a:rPr>
              <a:t>Join.</a:t>
            </a:r>
            <a:endParaRPr sz="3200">
              <a:latin typeface="Calibri"/>
              <a:cs typeface="Calibri"/>
            </a:endParaRPr>
          </a:p>
          <a:p>
            <a:pPr marL="355600" marR="12192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  <a:tab pos="446405" algn="l"/>
              </a:tabLst>
            </a:pPr>
            <a:r>
              <a:rPr dirty="0" sz="3200">
                <a:latin typeface="Arial MT"/>
                <a:cs typeface="Arial MT"/>
              </a:rPr>
              <a:t>	</a:t>
            </a:r>
            <a:r>
              <a:rPr dirty="0" sz="3200">
                <a:latin typeface="Calibri"/>
                <a:cs typeface="Calibri"/>
              </a:rPr>
              <a:t>It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will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return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table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which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consists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of </a:t>
            </a:r>
            <a:r>
              <a:rPr dirty="0" sz="3200">
                <a:latin typeface="Calibri"/>
                <a:cs typeface="Calibri"/>
              </a:rPr>
              <a:t>records</a:t>
            </a:r>
            <a:r>
              <a:rPr dirty="0" sz="3200" spc="-1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which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combines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each</a:t>
            </a:r>
            <a:r>
              <a:rPr dirty="0" sz="3200" spc="-11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row </a:t>
            </a:r>
            <a:r>
              <a:rPr dirty="0" sz="3200">
                <a:latin typeface="Calibri"/>
                <a:cs typeface="Calibri"/>
              </a:rPr>
              <a:t>from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first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table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with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each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row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of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second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table.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526660" y="3981043"/>
            <a:ext cx="6554470" cy="168402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>
                <a:latin typeface="Calibri"/>
                <a:cs typeface="Calibri"/>
              </a:rPr>
              <a:t>Cross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JOIN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Syntax:</a:t>
            </a:r>
            <a:endParaRPr sz="3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70"/>
              </a:spcBef>
              <a:tabLst>
                <a:tab pos="2300605" algn="l"/>
                <a:tab pos="4969510" algn="l"/>
              </a:tabLst>
            </a:pPr>
            <a:r>
              <a:rPr dirty="0" sz="3200">
                <a:latin typeface="Calibri"/>
                <a:cs typeface="Calibri"/>
              </a:rPr>
              <a:t>----</a:t>
            </a:r>
            <a:r>
              <a:rPr dirty="0" sz="3200" spc="-10">
                <a:latin typeface="Calibri"/>
                <a:cs typeface="Calibri"/>
              </a:rPr>
              <a:t>-</a:t>
            </a:r>
            <a:r>
              <a:rPr dirty="0" sz="3200">
                <a:latin typeface="Calibri"/>
                <a:cs typeface="Calibri"/>
              </a:rPr>
              <a:t>SELECT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column-name-</a:t>
            </a:r>
            <a:r>
              <a:rPr dirty="0" sz="3200" spc="-20">
                <a:latin typeface="Calibri"/>
                <a:cs typeface="Calibri"/>
              </a:rPr>
              <a:t>list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20">
                <a:latin typeface="Calibri"/>
                <a:cs typeface="Calibri"/>
              </a:rPr>
              <a:t>FROM table-</a:t>
            </a:r>
            <a:r>
              <a:rPr dirty="0" sz="3200" spc="-10">
                <a:latin typeface="Calibri"/>
                <a:cs typeface="Calibri"/>
              </a:rPr>
              <a:t>name1</a:t>
            </a:r>
            <a:r>
              <a:rPr dirty="0" sz="3200">
                <a:latin typeface="Calibri"/>
                <a:cs typeface="Calibri"/>
              </a:rPr>
              <a:t>	CROSS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JOIN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table-</a:t>
            </a:r>
            <a:r>
              <a:rPr dirty="0" sz="3200" spc="-10">
                <a:latin typeface="Calibri"/>
                <a:cs typeface="Calibri"/>
              </a:rPr>
              <a:t>name2;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2259203" y="0"/>
                </a:moveTo>
                <a:lnTo>
                  <a:pt x="0" y="0"/>
                </a:lnTo>
                <a:lnTo>
                  <a:pt x="0" y="6857999"/>
                </a:lnTo>
                <a:lnTo>
                  <a:pt x="2259203" y="6857999"/>
                </a:lnTo>
                <a:lnTo>
                  <a:pt x="2387473" y="6775778"/>
                </a:lnTo>
                <a:lnTo>
                  <a:pt x="2427059" y="6748686"/>
                </a:lnTo>
                <a:lnTo>
                  <a:pt x="2466306" y="6721137"/>
                </a:lnTo>
                <a:lnTo>
                  <a:pt x="2505209" y="6693136"/>
                </a:lnTo>
                <a:lnTo>
                  <a:pt x="2543765" y="6664686"/>
                </a:lnTo>
                <a:lnTo>
                  <a:pt x="2581969" y="6635792"/>
                </a:lnTo>
                <a:lnTo>
                  <a:pt x="2619817" y="6606457"/>
                </a:lnTo>
                <a:lnTo>
                  <a:pt x="2657307" y="6576685"/>
                </a:lnTo>
                <a:lnTo>
                  <a:pt x="2694433" y="6546479"/>
                </a:lnTo>
                <a:lnTo>
                  <a:pt x="2731193" y="6515844"/>
                </a:lnTo>
                <a:lnTo>
                  <a:pt x="2767582" y="6484784"/>
                </a:lnTo>
                <a:lnTo>
                  <a:pt x="2803597" y="6453301"/>
                </a:lnTo>
                <a:lnTo>
                  <a:pt x="2839233" y="6421401"/>
                </a:lnTo>
                <a:lnTo>
                  <a:pt x="2874488" y="6389086"/>
                </a:lnTo>
                <a:lnTo>
                  <a:pt x="2909356" y="6356362"/>
                </a:lnTo>
                <a:lnTo>
                  <a:pt x="2943835" y="6323230"/>
                </a:lnTo>
                <a:lnTo>
                  <a:pt x="2977921" y="6289696"/>
                </a:lnTo>
                <a:lnTo>
                  <a:pt x="3011609" y="6255763"/>
                </a:lnTo>
                <a:lnTo>
                  <a:pt x="3044896" y="6221435"/>
                </a:lnTo>
                <a:lnTo>
                  <a:pt x="3077778" y="6186716"/>
                </a:lnTo>
                <a:lnTo>
                  <a:pt x="3110252" y="6151609"/>
                </a:lnTo>
                <a:lnTo>
                  <a:pt x="3142313" y="6116118"/>
                </a:lnTo>
                <a:lnTo>
                  <a:pt x="3173957" y="6080248"/>
                </a:lnTo>
                <a:lnTo>
                  <a:pt x="3205181" y="6044002"/>
                </a:lnTo>
                <a:lnTo>
                  <a:pt x="3235982" y="6007384"/>
                </a:lnTo>
                <a:lnTo>
                  <a:pt x="3266354" y="5970397"/>
                </a:lnTo>
                <a:lnTo>
                  <a:pt x="3296295" y="5933046"/>
                </a:lnTo>
                <a:lnTo>
                  <a:pt x="3325800" y="5895333"/>
                </a:lnTo>
                <a:lnTo>
                  <a:pt x="3354866" y="5857265"/>
                </a:lnTo>
                <a:lnTo>
                  <a:pt x="3383489" y="5818842"/>
                </a:lnTo>
                <a:lnTo>
                  <a:pt x="3411665" y="5780071"/>
                </a:lnTo>
                <a:lnTo>
                  <a:pt x="3439390" y="5740954"/>
                </a:lnTo>
                <a:lnTo>
                  <a:pt x="3466661" y="5701496"/>
                </a:lnTo>
                <a:lnTo>
                  <a:pt x="3493474" y="5661700"/>
                </a:lnTo>
                <a:lnTo>
                  <a:pt x="3519824" y="5621569"/>
                </a:lnTo>
                <a:lnTo>
                  <a:pt x="3545708" y="5581109"/>
                </a:lnTo>
                <a:lnTo>
                  <a:pt x="3571122" y="5540322"/>
                </a:lnTo>
                <a:lnTo>
                  <a:pt x="3596063" y="5499213"/>
                </a:lnTo>
                <a:lnTo>
                  <a:pt x="3620526" y="5457784"/>
                </a:lnTo>
                <a:lnTo>
                  <a:pt x="3644508" y="5416041"/>
                </a:lnTo>
                <a:lnTo>
                  <a:pt x="3668005" y="5373987"/>
                </a:lnTo>
                <a:lnTo>
                  <a:pt x="3691013" y="5331626"/>
                </a:lnTo>
                <a:lnTo>
                  <a:pt x="3713528" y="5288961"/>
                </a:lnTo>
                <a:lnTo>
                  <a:pt x="3735547" y="5245996"/>
                </a:lnTo>
                <a:lnTo>
                  <a:pt x="3757066" y="5202736"/>
                </a:lnTo>
                <a:lnTo>
                  <a:pt x="3778080" y="5159183"/>
                </a:lnTo>
                <a:lnTo>
                  <a:pt x="3798586" y="5115342"/>
                </a:lnTo>
                <a:lnTo>
                  <a:pt x="3818580" y="5071217"/>
                </a:lnTo>
                <a:lnTo>
                  <a:pt x="3838059" y="5026811"/>
                </a:lnTo>
                <a:lnTo>
                  <a:pt x="3857019" y="4982129"/>
                </a:lnTo>
                <a:lnTo>
                  <a:pt x="3875455" y="4937174"/>
                </a:lnTo>
                <a:lnTo>
                  <a:pt x="3893364" y="4891949"/>
                </a:lnTo>
                <a:lnTo>
                  <a:pt x="3910742" y="4846459"/>
                </a:lnTo>
                <a:lnTo>
                  <a:pt x="3927585" y="4800708"/>
                </a:lnTo>
                <a:lnTo>
                  <a:pt x="3943890" y="4754699"/>
                </a:lnTo>
                <a:lnTo>
                  <a:pt x="3959653" y="4708436"/>
                </a:lnTo>
                <a:lnTo>
                  <a:pt x="3974869" y="4661923"/>
                </a:lnTo>
                <a:lnTo>
                  <a:pt x="3989536" y="4615164"/>
                </a:lnTo>
                <a:lnTo>
                  <a:pt x="4003649" y="4568162"/>
                </a:lnTo>
                <a:lnTo>
                  <a:pt x="4017204" y="4520922"/>
                </a:lnTo>
                <a:lnTo>
                  <a:pt x="4030197" y="4473447"/>
                </a:lnTo>
                <a:lnTo>
                  <a:pt x="4042626" y="4425741"/>
                </a:lnTo>
                <a:lnTo>
                  <a:pt x="4054485" y="4377808"/>
                </a:lnTo>
                <a:lnTo>
                  <a:pt x="4065772" y="4329652"/>
                </a:lnTo>
                <a:lnTo>
                  <a:pt x="4076481" y="4281276"/>
                </a:lnTo>
                <a:lnTo>
                  <a:pt x="4086611" y="4232684"/>
                </a:lnTo>
                <a:lnTo>
                  <a:pt x="4096156" y="4183881"/>
                </a:lnTo>
                <a:lnTo>
                  <a:pt x="4105112" y="4134870"/>
                </a:lnTo>
                <a:lnTo>
                  <a:pt x="4113477" y="4085654"/>
                </a:lnTo>
                <a:lnTo>
                  <a:pt x="4121246" y="4036238"/>
                </a:lnTo>
                <a:lnTo>
                  <a:pt x="4128416" y="3986625"/>
                </a:lnTo>
                <a:lnTo>
                  <a:pt x="4134982" y="3936819"/>
                </a:lnTo>
                <a:lnTo>
                  <a:pt x="4140941" y="3886825"/>
                </a:lnTo>
                <a:lnTo>
                  <a:pt x="4146289" y="3836645"/>
                </a:lnTo>
                <a:lnTo>
                  <a:pt x="4151022" y="3786284"/>
                </a:lnTo>
                <a:lnTo>
                  <a:pt x="4155136" y="3735745"/>
                </a:lnTo>
                <a:lnTo>
                  <a:pt x="4158628" y="3685033"/>
                </a:lnTo>
                <a:lnTo>
                  <a:pt x="4161493" y="3634151"/>
                </a:lnTo>
                <a:lnTo>
                  <a:pt x="4163728" y="3583103"/>
                </a:lnTo>
                <a:lnTo>
                  <a:pt x="4165330" y="3531892"/>
                </a:lnTo>
                <a:lnTo>
                  <a:pt x="4166293" y="3480523"/>
                </a:lnTo>
                <a:lnTo>
                  <a:pt x="4166616" y="3429000"/>
                </a:lnTo>
                <a:lnTo>
                  <a:pt x="4166293" y="3377476"/>
                </a:lnTo>
                <a:lnTo>
                  <a:pt x="4165330" y="3326107"/>
                </a:lnTo>
                <a:lnTo>
                  <a:pt x="4163728" y="3274897"/>
                </a:lnTo>
                <a:lnTo>
                  <a:pt x="4161493" y="3223849"/>
                </a:lnTo>
                <a:lnTo>
                  <a:pt x="4158628" y="3172967"/>
                </a:lnTo>
                <a:lnTo>
                  <a:pt x="4155136" y="3122255"/>
                </a:lnTo>
                <a:lnTo>
                  <a:pt x="4151022" y="3071716"/>
                </a:lnTo>
                <a:lnTo>
                  <a:pt x="4146289" y="3021356"/>
                </a:lnTo>
                <a:lnTo>
                  <a:pt x="4140941" y="2971176"/>
                </a:lnTo>
                <a:lnTo>
                  <a:pt x="4134982" y="2921182"/>
                </a:lnTo>
                <a:lnTo>
                  <a:pt x="4128416" y="2871377"/>
                </a:lnTo>
                <a:lnTo>
                  <a:pt x="4121246" y="2821765"/>
                </a:lnTo>
                <a:lnTo>
                  <a:pt x="4113477" y="2772349"/>
                </a:lnTo>
                <a:lnTo>
                  <a:pt x="4105112" y="2723134"/>
                </a:lnTo>
                <a:lnTo>
                  <a:pt x="4096156" y="2674123"/>
                </a:lnTo>
                <a:lnTo>
                  <a:pt x="4086611" y="2625320"/>
                </a:lnTo>
                <a:lnTo>
                  <a:pt x="4076481" y="2576729"/>
                </a:lnTo>
                <a:lnTo>
                  <a:pt x="4065772" y="2528354"/>
                </a:lnTo>
                <a:lnTo>
                  <a:pt x="4054485" y="2480198"/>
                </a:lnTo>
                <a:lnTo>
                  <a:pt x="4042626" y="2432266"/>
                </a:lnTo>
                <a:lnTo>
                  <a:pt x="4030197" y="2384560"/>
                </a:lnTo>
                <a:lnTo>
                  <a:pt x="4017204" y="2337086"/>
                </a:lnTo>
                <a:lnTo>
                  <a:pt x="4003649" y="2289846"/>
                </a:lnTo>
                <a:lnTo>
                  <a:pt x="3989536" y="2242846"/>
                </a:lnTo>
                <a:lnTo>
                  <a:pt x="3974869" y="2196087"/>
                </a:lnTo>
                <a:lnTo>
                  <a:pt x="3959653" y="2149575"/>
                </a:lnTo>
                <a:lnTo>
                  <a:pt x="3943890" y="2103312"/>
                </a:lnTo>
                <a:lnTo>
                  <a:pt x="3927585" y="2057304"/>
                </a:lnTo>
                <a:lnTo>
                  <a:pt x="3910742" y="2011553"/>
                </a:lnTo>
                <a:lnTo>
                  <a:pt x="3893364" y="1966064"/>
                </a:lnTo>
                <a:lnTo>
                  <a:pt x="3875455" y="1920840"/>
                </a:lnTo>
                <a:lnTo>
                  <a:pt x="3857019" y="1875885"/>
                </a:lnTo>
                <a:lnTo>
                  <a:pt x="3838059" y="1831203"/>
                </a:lnTo>
                <a:lnTo>
                  <a:pt x="3818580" y="1786797"/>
                </a:lnTo>
                <a:lnTo>
                  <a:pt x="3798586" y="1742673"/>
                </a:lnTo>
                <a:lnTo>
                  <a:pt x="3778080" y="1698832"/>
                </a:lnTo>
                <a:lnTo>
                  <a:pt x="3757066" y="1655280"/>
                </a:lnTo>
                <a:lnTo>
                  <a:pt x="3735547" y="1612020"/>
                </a:lnTo>
                <a:lnTo>
                  <a:pt x="3713528" y="1569055"/>
                </a:lnTo>
                <a:lnTo>
                  <a:pt x="3691013" y="1526391"/>
                </a:lnTo>
                <a:lnTo>
                  <a:pt x="3668005" y="1484029"/>
                </a:lnTo>
                <a:lnTo>
                  <a:pt x="3644508" y="1441975"/>
                </a:lnTo>
                <a:lnTo>
                  <a:pt x="3620526" y="1400232"/>
                </a:lnTo>
                <a:lnTo>
                  <a:pt x="3596063" y="1358804"/>
                </a:lnTo>
                <a:lnTo>
                  <a:pt x="3571122" y="1317694"/>
                </a:lnTo>
                <a:lnTo>
                  <a:pt x="3545708" y="1276907"/>
                </a:lnTo>
                <a:lnTo>
                  <a:pt x="3519824" y="1236446"/>
                </a:lnTo>
                <a:lnTo>
                  <a:pt x="3493474" y="1196316"/>
                </a:lnTo>
                <a:lnTo>
                  <a:pt x="3466661" y="1156519"/>
                </a:lnTo>
                <a:lnTo>
                  <a:pt x="3439390" y="1117060"/>
                </a:lnTo>
                <a:lnTo>
                  <a:pt x="3411665" y="1077943"/>
                </a:lnTo>
                <a:lnTo>
                  <a:pt x="3383489" y="1039171"/>
                </a:lnTo>
                <a:lnTo>
                  <a:pt x="3354866" y="1000748"/>
                </a:lnTo>
                <a:lnTo>
                  <a:pt x="3325800" y="962678"/>
                </a:lnTo>
                <a:lnTo>
                  <a:pt x="3296295" y="924965"/>
                </a:lnTo>
                <a:lnTo>
                  <a:pt x="3266354" y="887613"/>
                </a:lnTo>
                <a:lnTo>
                  <a:pt x="3235982" y="850625"/>
                </a:lnTo>
                <a:lnTo>
                  <a:pt x="3205181" y="814006"/>
                </a:lnTo>
                <a:lnTo>
                  <a:pt x="3173957" y="777758"/>
                </a:lnTo>
                <a:lnTo>
                  <a:pt x="3142313" y="741886"/>
                </a:lnTo>
                <a:lnTo>
                  <a:pt x="3110252" y="706395"/>
                </a:lnTo>
                <a:lnTo>
                  <a:pt x="3077778" y="671286"/>
                </a:lnTo>
                <a:lnTo>
                  <a:pt x="3044896" y="636565"/>
                </a:lnTo>
                <a:lnTo>
                  <a:pt x="3011609" y="602235"/>
                </a:lnTo>
                <a:lnTo>
                  <a:pt x="2977921" y="568300"/>
                </a:lnTo>
                <a:lnTo>
                  <a:pt x="2943835" y="534764"/>
                </a:lnTo>
                <a:lnTo>
                  <a:pt x="2909356" y="501631"/>
                </a:lnTo>
                <a:lnTo>
                  <a:pt x="2874488" y="468903"/>
                </a:lnTo>
                <a:lnTo>
                  <a:pt x="2839233" y="436586"/>
                </a:lnTo>
                <a:lnTo>
                  <a:pt x="2803597" y="404684"/>
                </a:lnTo>
                <a:lnTo>
                  <a:pt x="2767582" y="373198"/>
                </a:lnTo>
                <a:lnTo>
                  <a:pt x="2731193" y="342135"/>
                </a:lnTo>
                <a:lnTo>
                  <a:pt x="2694433" y="311497"/>
                </a:lnTo>
                <a:lnTo>
                  <a:pt x="2657307" y="281288"/>
                </a:lnTo>
                <a:lnTo>
                  <a:pt x="2619817" y="251513"/>
                </a:lnTo>
                <a:lnTo>
                  <a:pt x="2581969" y="222174"/>
                </a:lnTo>
                <a:lnTo>
                  <a:pt x="2543765" y="193276"/>
                </a:lnTo>
                <a:lnTo>
                  <a:pt x="2505209" y="164823"/>
                </a:lnTo>
                <a:lnTo>
                  <a:pt x="2466306" y="136818"/>
                </a:lnTo>
                <a:lnTo>
                  <a:pt x="2427059" y="109265"/>
                </a:lnTo>
                <a:lnTo>
                  <a:pt x="2387473" y="82169"/>
                </a:lnTo>
                <a:lnTo>
                  <a:pt x="2259203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017828" y="2329688"/>
            <a:ext cx="2538730" cy="1367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0485" marR="5080" indent="-58419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r>
              <a:rPr dirty="0" sz="44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400" spc="-25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4400">
                <a:solidFill>
                  <a:srgbClr val="FFFFFF"/>
                </a:solidFill>
                <a:latin typeface="Calibri"/>
                <a:cs typeface="Calibri"/>
              </a:rPr>
              <a:t>Cross</a:t>
            </a:r>
            <a:r>
              <a:rPr dirty="0" sz="4400" spc="-1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400" spc="-20">
                <a:solidFill>
                  <a:srgbClr val="FFFFFF"/>
                </a:solidFill>
                <a:latin typeface="Calibri"/>
                <a:cs typeface="Calibri"/>
              </a:rPr>
              <a:t>JOIN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592818" y="4498085"/>
            <a:ext cx="2042160" cy="2042160"/>
          </a:xfrm>
          <a:custGeom>
            <a:avLst/>
            <a:gdLst/>
            <a:ahLst/>
            <a:cxnLst/>
            <a:rect l="l" t="t" r="r" b="b"/>
            <a:pathLst>
              <a:path w="2042159" h="2042159">
                <a:moveTo>
                  <a:pt x="0" y="2042159"/>
                </a:moveTo>
                <a:lnTo>
                  <a:pt x="48205" y="2041602"/>
                </a:lnTo>
                <a:lnTo>
                  <a:pt x="96136" y="2039937"/>
                </a:lnTo>
                <a:lnTo>
                  <a:pt x="143781" y="2037177"/>
                </a:lnTo>
                <a:lnTo>
                  <a:pt x="191128" y="2033334"/>
                </a:lnTo>
                <a:lnTo>
                  <a:pt x="238165" y="2028420"/>
                </a:lnTo>
                <a:lnTo>
                  <a:pt x="284878" y="2022449"/>
                </a:lnTo>
                <a:lnTo>
                  <a:pt x="331257" y="2015431"/>
                </a:lnTo>
                <a:lnTo>
                  <a:pt x="377288" y="2007379"/>
                </a:lnTo>
                <a:lnTo>
                  <a:pt x="422959" y="1998307"/>
                </a:lnTo>
                <a:lnTo>
                  <a:pt x="468258" y="1988224"/>
                </a:lnTo>
                <a:lnTo>
                  <a:pt x="513174" y="1977145"/>
                </a:lnTo>
                <a:lnTo>
                  <a:pt x="557693" y="1965081"/>
                </a:lnTo>
                <a:lnTo>
                  <a:pt x="601803" y="1952045"/>
                </a:lnTo>
                <a:lnTo>
                  <a:pt x="645493" y="1938048"/>
                </a:lnTo>
                <a:lnTo>
                  <a:pt x="688749" y="1923104"/>
                </a:lnTo>
                <a:lnTo>
                  <a:pt x="731560" y="1907224"/>
                </a:lnTo>
                <a:lnTo>
                  <a:pt x="773913" y="1890420"/>
                </a:lnTo>
                <a:lnTo>
                  <a:pt x="815796" y="1872705"/>
                </a:lnTo>
                <a:lnTo>
                  <a:pt x="857198" y="1854092"/>
                </a:lnTo>
                <a:lnTo>
                  <a:pt x="898104" y="1834591"/>
                </a:lnTo>
                <a:lnTo>
                  <a:pt x="938504" y="1814216"/>
                </a:lnTo>
                <a:lnTo>
                  <a:pt x="978385" y="1792979"/>
                </a:lnTo>
                <a:lnTo>
                  <a:pt x="1017735" y="1770893"/>
                </a:lnTo>
                <a:lnTo>
                  <a:pt x="1056541" y="1747968"/>
                </a:lnTo>
                <a:lnTo>
                  <a:pt x="1094792" y="1724219"/>
                </a:lnTo>
                <a:lnTo>
                  <a:pt x="1132475" y="1699656"/>
                </a:lnTo>
                <a:lnTo>
                  <a:pt x="1169577" y="1674292"/>
                </a:lnTo>
                <a:lnTo>
                  <a:pt x="1206087" y="1648140"/>
                </a:lnTo>
                <a:lnTo>
                  <a:pt x="1241992" y="1621211"/>
                </a:lnTo>
                <a:lnTo>
                  <a:pt x="1277280" y="1593518"/>
                </a:lnTo>
                <a:lnTo>
                  <a:pt x="1311939" y="1565074"/>
                </a:lnTo>
                <a:lnTo>
                  <a:pt x="1345957" y="1535890"/>
                </a:lnTo>
                <a:lnTo>
                  <a:pt x="1379320" y="1505978"/>
                </a:lnTo>
                <a:lnTo>
                  <a:pt x="1412018" y="1475352"/>
                </a:lnTo>
                <a:lnTo>
                  <a:pt x="1444037" y="1444023"/>
                </a:lnTo>
                <a:lnTo>
                  <a:pt x="1475366" y="1412003"/>
                </a:lnTo>
                <a:lnTo>
                  <a:pt x="1505992" y="1379305"/>
                </a:lnTo>
                <a:lnTo>
                  <a:pt x="1535903" y="1345941"/>
                </a:lnTo>
                <a:lnTo>
                  <a:pt x="1565086" y="1311924"/>
                </a:lnTo>
                <a:lnTo>
                  <a:pt x="1593530" y="1277264"/>
                </a:lnTo>
                <a:lnTo>
                  <a:pt x="1621223" y="1241976"/>
                </a:lnTo>
                <a:lnTo>
                  <a:pt x="1648151" y="1206071"/>
                </a:lnTo>
                <a:lnTo>
                  <a:pt x="1674302" y="1169560"/>
                </a:lnTo>
                <a:lnTo>
                  <a:pt x="1699666" y="1132458"/>
                </a:lnTo>
                <a:lnTo>
                  <a:pt x="1724228" y="1094775"/>
                </a:lnTo>
                <a:lnTo>
                  <a:pt x="1747977" y="1056524"/>
                </a:lnTo>
                <a:lnTo>
                  <a:pt x="1770901" y="1017718"/>
                </a:lnTo>
                <a:lnTo>
                  <a:pt x="1792987" y="978368"/>
                </a:lnTo>
                <a:lnTo>
                  <a:pt x="1814224" y="938487"/>
                </a:lnTo>
                <a:lnTo>
                  <a:pt x="1834598" y="898088"/>
                </a:lnTo>
                <a:lnTo>
                  <a:pt x="1854098" y="857181"/>
                </a:lnTo>
                <a:lnTo>
                  <a:pt x="1872711" y="815780"/>
                </a:lnTo>
                <a:lnTo>
                  <a:pt x="1890425" y="773897"/>
                </a:lnTo>
                <a:lnTo>
                  <a:pt x="1907228" y="731544"/>
                </a:lnTo>
                <a:lnTo>
                  <a:pt x="1923108" y="688734"/>
                </a:lnTo>
                <a:lnTo>
                  <a:pt x="1938052" y="645478"/>
                </a:lnTo>
                <a:lnTo>
                  <a:pt x="1952048" y="601789"/>
                </a:lnTo>
                <a:lnTo>
                  <a:pt x="1965084" y="557679"/>
                </a:lnTo>
                <a:lnTo>
                  <a:pt x="1977148" y="513161"/>
                </a:lnTo>
                <a:lnTo>
                  <a:pt x="1988226" y="468247"/>
                </a:lnTo>
                <a:lnTo>
                  <a:pt x="1998308" y="422948"/>
                </a:lnTo>
                <a:lnTo>
                  <a:pt x="2007381" y="377277"/>
                </a:lnTo>
                <a:lnTo>
                  <a:pt x="2015432" y="331247"/>
                </a:lnTo>
                <a:lnTo>
                  <a:pt x="2022449" y="284870"/>
                </a:lnTo>
                <a:lnTo>
                  <a:pt x="2028421" y="238158"/>
                </a:lnTo>
                <a:lnTo>
                  <a:pt x="2033334" y="191122"/>
                </a:lnTo>
                <a:lnTo>
                  <a:pt x="2037177" y="143777"/>
                </a:lnTo>
                <a:lnTo>
                  <a:pt x="2039937" y="96133"/>
                </a:lnTo>
                <a:lnTo>
                  <a:pt x="2041602" y="48203"/>
                </a:lnTo>
                <a:lnTo>
                  <a:pt x="2042159" y="0"/>
                </a:lnTo>
              </a:path>
            </a:pathLst>
          </a:custGeom>
          <a:ln w="127000">
            <a:solidFill>
              <a:srgbClr val="8063A1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43653" y="588340"/>
            <a:ext cx="1196975" cy="360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class</a:t>
            </a:r>
            <a:r>
              <a:rPr dirty="0" sz="2200" spc="-30"/>
              <a:t> </a:t>
            </a:r>
            <a:r>
              <a:rPr dirty="0" sz="2200" spc="-10"/>
              <a:t>table</a:t>
            </a:r>
            <a:endParaRPr sz="2200"/>
          </a:p>
        </p:txBody>
      </p:sp>
      <p:sp>
        <p:nvSpPr>
          <p:cNvPr id="6" name="object 6" descr=""/>
          <p:cNvSpPr txBox="1"/>
          <p:nvPr/>
        </p:nvSpPr>
        <p:spPr>
          <a:xfrm>
            <a:off x="4526660" y="1292504"/>
            <a:ext cx="1655445" cy="150114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2200" spc="-25">
                <a:latin typeface="Calibri"/>
                <a:cs typeface="Calibri"/>
              </a:rPr>
              <a:t>ID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20">
                <a:latin typeface="Calibri"/>
                <a:cs typeface="Calibri"/>
              </a:rPr>
              <a:t>NAME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2200" spc="-50">
                <a:latin typeface="Calibri"/>
                <a:cs typeface="Calibri"/>
              </a:rPr>
              <a:t>1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20">
                <a:latin typeface="Calibri"/>
                <a:cs typeface="Calibri"/>
              </a:rPr>
              <a:t>abhi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2200" spc="-50">
                <a:latin typeface="Calibri"/>
                <a:cs typeface="Calibri"/>
              </a:rPr>
              <a:t>2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20">
                <a:latin typeface="Calibri"/>
                <a:cs typeface="Calibri"/>
              </a:rPr>
              <a:t>adam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2200" spc="-50">
                <a:latin typeface="Calibri"/>
                <a:cs typeface="Calibri"/>
              </a:rPr>
              <a:t>4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20">
                <a:latin typeface="Calibri"/>
                <a:cs typeface="Calibri"/>
              </a:rPr>
              <a:t>alex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907660" y="3539744"/>
            <a:ext cx="1771014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Calibri"/>
                <a:cs typeface="Calibri"/>
              </a:rPr>
              <a:t>class_info</a:t>
            </a:r>
            <a:r>
              <a:rPr dirty="0" sz="2200" spc="-10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table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526660" y="4243476"/>
            <a:ext cx="1990725" cy="150114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2200" spc="-25">
                <a:latin typeface="Calibri"/>
                <a:cs typeface="Calibri"/>
              </a:rPr>
              <a:t>ID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10">
                <a:latin typeface="Calibri"/>
                <a:cs typeface="Calibri"/>
              </a:rPr>
              <a:t>Address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2200" spc="-50">
                <a:latin typeface="Calibri"/>
                <a:cs typeface="Calibri"/>
              </a:rPr>
              <a:t>1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10">
                <a:latin typeface="Calibri"/>
                <a:cs typeface="Calibri"/>
              </a:rPr>
              <a:t>DELHI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2200" spc="-50">
                <a:latin typeface="Calibri"/>
                <a:cs typeface="Calibri"/>
              </a:rPr>
              <a:t>2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10">
                <a:latin typeface="Calibri"/>
                <a:cs typeface="Calibri"/>
              </a:rPr>
              <a:t>MUMBAI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2200" spc="-50">
                <a:latin typeface="Calibri"/>
                <a:cs typeface="Calibri"/>
              </a:rPr>
              <a:t>3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10">
                <a:latin typeface="Calibri"/>
                <a:cs typeface="Calibri"/>
              </a:rPr>
              <a:t>CHENNAI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2259203" y="0"/>
                </a:moveTo>
                <a:lnTo>
                  <a:pt x="0" y="0"/>
                </a:lnTo>
                <a:lnTo>
                  <a:pt x="0" y="6857999"/>
                </a:lnTo>
                <a:lnTo>
                  <a:pt x="2259203" y="6857999"/>
                </a:lnTo>
                <a:lnTo>
                  <a:pt x="2387473" y="6775778"/>
                </a:lnTo>
                <a:lnTo>
                  <a:pt x="2427059" y="6748686"/>
                </a:lnTo>
                <a:lnTo>
                  <a:pt x="2466306" y="6721137"/>
                </a:lnTo>
                <a:lnTo>
                  <a:pt x="2505209" y="6693136"/>
                </a:lnTo>
                <a:lnTo>
                  <a:pt x="2543765" y="6664686"/>
                </a:lnTo>
                <a:lnTo>
                  <a:pt x="2581969" y="6635792"/>
                </a:lnTo>
                <a:lnTo>
                  <a:pt x="2619817" y="6606457"/>
                </a:lnTo>
                <a:lnTo>
                  <a:pt x="2657307" y="6576685"/>
                </a:lnTo>
                <a:lnTo>
                  <a:pt x="2694433" y="6546479"/>
                </a:lnTo>
                <a:lnTo>
                  <a:pt x="2731193" y="6515844"/>
                </a:lnTo>
                <a:lnTo>
                  <a:pt x="2767582" y="6484784"/>
                </a:lnTo>
                <a:lnTo>
                  <a:pt x="2803597" y="6453301"/>
                </a:lnTo>
                <a:lnTo>
                  <a:pt x="2839233" y="6421401"/>
                </a:lnTo>
                <a:lnTo>
                  <a:pt x="2874488" y="6389086"/>
                </a:lnTo>
                <a:lnTo>
                  <a:pt x="2909356" y="6356362"/>
                </a:lnTo>
                <a:lnTo>
                  <a:pt x="2943835" y="6323230"/>
                </a:lnTo>
                <a:lnTo>
                  <a:pt x="2977921" y="6289696"/>
                </a:lnTo>
                <a:lnTo>
                  <a:pt x="3011609" y="6255763"/>
                </a:lnTo>
                <a:lnTo>
                  <a:pt x="3044896" y="6221435"/>
                </a:lnTo>
                <a:lnTo>
                  <a:pt x="3077778" y="6186716"/>
                </a:lnTo>
                <a:lnTo>
                  <a:pt x="3110252" y="6151609"/>
                </a:lnTo>
                <a:lnTo>
                  <a:pt x="3142313" y="6116118"/>
                </a:lnTo>
                <a:lnTo>
                  <a:pt x="3173957" y="6080248"/>
                </a:lnTo>
                <a:lnTo>
                  <a:pt x="3205181" y="6044002"/>
                </a:lnTo>
                <a:lnTo>
                  <a:pt x="3235982" y="6007384"/>
                </a:lnTo>
                <a:lnTo>
                  <a:pt x="3266354" y="5970397"/>
                </a:lnTo>
                <a:lnTo>
                  <a:pt x="3296295" y="5933046"/>
                </a:lnTo>
                <a:lnTo>
                  <a:pt x="3325800" y="5895333"/>
                </a:lnTo>
                <a:lnTo>
                  <a:pt x="3354866" y="5857265"/>
                </a:lnTo>
                <a:lnTo>
                  <a:pt x="3383489" y="5818842"/>
                </a:lnTo>
                <a:lnTo>
                  <a:pt x="3411665" y="5780071"/>
                </a:lnTo>
                <a:lnTo>
                  <a:pt x="3439390" y="5740954"/>
                </a:lnTo>
                <a:lnTo>
                  <a:pt x="3466661" y="5701496"/>
                </a:lnTo>
                <a:lnTo>
                  <a:pt x="3493474" y="5661700"/>
                </a:lnTo>
                <a:lnTo>
                  <a:pt x="3519824" y="5621569"/>
                </a:lnTo>
                <a:lnTo>
                  <a:pt x="3545708" y="5581109"/>
                </a:lnTo>
                <a:lnTo>
                  <a:pt x="3571122" y="5540322"/>
                </a:lnTo>
                <a:lnTo>
                  <a:pt x="3596063" y="5499213"/>
                </a:lnTo>
                <a:lnTo>
                  <a:pt x="3620526" y="5457784"/>
                </a:lnTo>
                <a:lnTo>
                  <a:pt x="3644508" y="5416041"/>
                </a:lnTo>
                <a:lnTo>
                  <a:pt x="3668005" y="5373987"/>
                </a:lnTo>
                <a:lnTo>
                  <a:pt x="3691013" y="5331626"/>
                </a:lnTo>
                <a:lnTo>
                  <a:pt x="3713528" y="5288961"/>
                </a:lnTo>
                <a:lnTo>
                  <a:pt x="3735547" y="5245996"/>
                </a:lnTo>
                <a:lnTo>
                  <a:pt x="3757066" y="5202736"/>
                </a:lnTo>
                <a:lnTo>
                  <a:pt x="3778080" y="5159183"/>
                </a:lnTo>
                <a:lnTo>
                  <a:pt x="3798586" y="5115342"/>
                </a:lnTo>
                <a:lnTo>
                  <a:pt x="3818580" y="5071217"/>
                </a:lnTo>
                <a:lnTo>
                  <a:pt x="3838059" y="5026811"/>
                </a:lnTo>
                <a:lnTo>
                  <a:pt x="3857019" y="4982129"/>
                </a:lnTo>
                <a:lnTo>
                  <a:pt x="3875455" y="4937174"/>
                </a:lnTo>
                <a:lnTo>
                  <a:pt x="3893364" y="4891949"/>
                </a:lnTo>
                <a:lnTo>
                  <a:pt x="3910742" y="4846459"/>
                </a:lnTo>
                <a:lnTo>
                  <a:pt x="3927585" y="4800708"/>
                </a:lnTo>
                <a:lnTo>
                  <a:pt x="3943890" y="4754699"/>
                </a:lnTo>
                <a:lnTo>
                  <a:pt x="3959653" y="4708436"/>
                </a:lnTo>
                <a:lnTo>
                  <a:pt x="3974869" y="4661923"/>
                </a:lnTo>
                <a:lnTo>
                  <a:pt x="3989536" y="4615164"/>
                </a:lnTo>
                <a:lnTo>
                  <a:pt x="4003649" y="4568162"/>
                </a:lnTo>
                <a:lnTo>
                  <a:pt x="4017204" y="4520922"/>
                </a:lnTo>
                <a:lnTo>
                  <a:pt x="4030197" y="4473447"/>
                </a:lnTo>
                <a:lnTo>
                  <a:pt x="4042626" y="4425741"/>
                </a:lnTo>
                <a:lnTo>
                  <a:pt x="4054485" y="4377808"/>
                </a:lnTo>
                <a:lnTo>
                  <a:pt x="4065772" y="4329652"/>
                </a:lnTo>
                <a:lnTo>
                  <a:pt x="4076481" y="4281276"/>
                </a:lnTo>
                <a:lnTo>
                  <a:pt x="4086611" y="4232684"/>
                </a:lnTo>
                <a:lnTo>
                  <a:pt x="4096156" y="4183881"/>
                </a:lnTo>
                <a:lnTo>
                  <a:pt x="4105112" y="4134870"/>
                </a:lnTo>
                <a:lnTo>
                  <a:pt x="4113477" y="4085654"/>
                </a:lnTo>
                <a:lnTo>
                  <a:pt x="4121246" y="4036238"/>
                </a:lnTo>
                <a:lnTo>
                  <a:pt x="4128416" y="3986625"/>
                </a:lnTo>
                <a:lnTo>
                  <a:pt x="4134982" y="3936819"/>
                </a:lnTo>
                <a:lnTo>
                  <a:pt x="4140941" y="3886825"/>
                </a:lnTo>
                <a:lnTo>
                  <a:pt x="4146289" y="3836645"/>
                </a:lnTo>
                <a:lnTo>
                  <a:pt x="4151022" y="3786284"/>
                </a:lnTo>
                <a:lnTo>
                  <a:pt x="4155136" y="3735745"/>
                </a:lnTo>
                <a:lnTo>
                  <a:pt x="4158628" y="3685033"/>
                </a:lnTo>
                <a:lnTo>
                  <a:pt x="4161493" y="3634151"/>
                </a:lnTo>
                <a:lnTo>
                  <a:pt x="4163728" y="3583103"/>
                </a:lnTo>
                <a:lnTo>
                  <a:pt x="4165330" y="3531892"/>
                </a:lnTo>
                <a:lnTo>
                  <a:pt x="4166293" y="3480523"/>
                </a:lnTo>
                <a:lnTo>
                  <a:pt x="4166616" y="3429000"/>
                </a:lnTo>
                <a:lnTo>
                  <a:pt x="4166293" y="3377476"/>
                </a:lnTo>
                <a:lnTo>
                  <a:pt x="4165330" y="3326107"/>
                </a:lnTo>
                <a:lnTo>
                  <a:pt x="4163728" y="3274897"/>
                </a:lnTo>
                <a:lnTo>
                  <a:pt x="4161493" y="3223849"/>
                </a:lnTo>
                <a:lnTo>
                  <a:pt x="4158628" y="3172967"/>
                </a:lnTo>
                <a:lnTo>
                  <a:pt x="4155136" y="3122255"/>
                </a:lnTo>
                <a:lnTo>
                  <a:pt x="4151022" y="3071716"/>
                </a:lnTo>
                <a:lnTo>
                  <a:pt x="4146289" y="3021356"/>
                </a:lnTo>
                <a:lnTo>
                  <a:pt x="4140941" y="2971176"/>
                </a:lnTo>
                <a:lnTo>
                  <a:pt x="4134982" y="2921182"/>
                </a:lnTo>
                <a:lnTo>
                  <a:pt x="4128416" y="2871377"/>
                </a:lnTo>
                <a:lnTo>
                  <a:pt x="4121246" y="2821765"/>
                </a:lnTo>
                <a:lnTo>
                  <a:pt x="4113477" y="2772349"/>
                </a:lnTo>
                <a:lnTo>
                  <a:pt x="4105112" y="2723134"/>
                </a:lnTo>
                <a:lnTo>
                  <a:pt x="4096156" y="2674123"/>
                </a:lnTo>
                <a:lnTo>
                  <a:pt x="4086611" y="2625320"/>
                </a:lnTo>
                <a:lnTo>
                  <a:pt x="4076481" y="2576729"/>
                </a:lnTo>
                <a:lnTo>
                  <a:pt x="4065772" y="2528354"/>
                </a:lnTo>
                <a:lnTo>
                  <a:pt x="4054485" y="2480198"/>
                </a:lnTo>
                <a:lnTo>
                  <a:pt x="4042626" y="2432266"/>
                </a:lnTo>
                <a:lnTo>
                  <a:pt x="4030197" y="2384560"/>
                </a:lnTo>
                <a:lnTo>
                  <a:pt x="4017204" y="2337086"/>
                </a:lnTo>
                <a:lnTo>
                  <a:pt x="4003649" y="2289846"/>
                </a:lnTo>
                <a:lnTo>
                  <a:pt x="3989536" y="2242846"/>
                </a:lnTo>
                <a:lnTo>
                  <a:pt x="3974869" y="2196087"/>
                </a:lnTo>
                <a:lnTo>
                  <a:pt x="3959653" y="2149575"/>
                </a:lnTo>
                <a:lnTo>
                  <a:pt x="3943890" y="2103312"/>
                </a:lnTo>
                <a:lnTo>
                  <a:pt x="3927585" y="2057304"/>
                </a:lnTo>
                <a:lnTo>
                  <a:pt x="3910742" y="2011553"/>
                </a:lnTo>
                <a:lnTo>
                  <a:pt x="3893364" y="1966064"/>
                </a:lnTo>
                <a:lnTo>
                  <a:pt x="3875455" y="1920840"/>
                </a:lnTo>
                <a:lnTo>
                  <a:pt x="3857019" y="1875885"/>
                </a:lnTo>
                <a:lnTo>
                  <a:pt x="3838059" y="1831203"/>
                </a:lnTo>
                <a:lnTo>
                  <a:pt x="3818580" y="1786797"/>
                </a:lnTo>
                <a:lnTo>
                  <a:pt x="3798586" y="1742673"/>
                </a:lnTo>
                <a:lnTo>
                  <a:pt x="3778080" y="1698832"/>
                </a:lnTo>
                <a:lnTo>
                  <a:pt x="3757066" y="1655280"/>
                </a:lnTo>
                <a:lnTo>
                  <a:pt x="3735547" y="1612020"/>
                </a:lnTo>
                <a:lnTo>
                  <a:pt x="3713528" y="1569055"/>
                </a:lnTo>
                <a:lnTo>
                  <a:pt x="3691013" y="1526391"/>
                </a:lnTo>
                <a:lnTo>
                  <a:pt x="3668005" y="1484029"/>
                </a:lnTo>
                <a:lnTo>
                  <a:pt x="3644508" y="1441975"/>
                </a:lnTo>
                <a:lnTo>
                  <a:pt x="3620526" y="1400232"/>
                </a:lnTo>
                <a:lnTo>
                  <a:pt x="3596063" y="1358804"/>
                </a:lnTo>
                <a:lnTo>
                  <a:pt x="3571122" y="1317694"/>
                </a:lnTo>
                <a:lnTo>
                  <a:pt x="3545708" y="1276907"/>
                </a:lnTo>
                <a:lnTo>
                  <a:pt x="3519824" y="1236446"/>
                </a:lnTo>
                <a:lnTo>
                  <a:pt x="3493474" y="1196316"/>
                </a:lnTo>
                <a:lnTo>
                  <a:pt x="3466661" y="1156519"/>
                </a:lnTo>
                <a:lnTo>
                  <a:pt x="3439390" y="1117060"/>
                </a:lnTo>
                <a:lnTo>
                  <a:pt x="3411665" y="1077943"/>
                </a:lnTo>
                <a:lnTo>
                  <a:pt x="3383489" y="1039171"/>
                </a:lnTo>
                <a:lnTo>
                  <a:pt x="3354866" y="1000748"/>
                </a:lnTo>
                <a:lnTo>
                  <a:pt x="3325800" y="962678"/>
                </a:lnTo>
                <a:lnTo>
                  <a:pt x="3296295" y="924965"/>
                </a:lnTo>
                <a:lnTo>
                  <a:pt x="3266354" y="887613"/>
                </a:lnTo>
                <a:lnTo>
                  <a:pt x="3235982" y="850625"/>
                </a:lnTo>
                <a:lnTo>
                  <a:pt x="3205181" y="814006"/>
                </a:lnTo>
                <a:lnTo>
                  <a:pt x="3173957" y="777758"/>
                </a:lnTo>
                <a:lnTo>
                  <a:pt x="3142313" y="741886"/>
                </a:lnTo>
                <a:lnTo>
                  <a:pt x="3110252" y="706395"/>
                </a:lnTo>
                <a:lnTo>
                  <a:pt x="3077778" y="671286"/>
                </a:lnTo>
                <a:lnTo>
                  <a:pt x="3044896" y="636565"/>
                </a:lnTo>
                <a:lnTo>
                  <a:pt x="3011609" y="602235"/>
                </a:lnTo>
                <a:lnTo>
                  <a:pt x="2977921" y="568300"/>
                </a:lnTo>
                <a:lnTo>
                  <a:pt x="2943835" y="534764"/>
                </a:lnTo>
                <a:lnTo>
                  <a:pt x="2909356" y="501631"/>
                </a:lnTo>
                <a:lnTo>
                  <a:pt x="2874488" y="468903"/>
                </a:lnTo>
                <a:lnTo>
                  <a:pt x="2839233" y="436586"/>
                </a:lnTo>
                <a:lnTo>
                  <a:pt x="2803597" y="404684"/>
                </a:lnTo>
                <a:lnTo>
                  <a:pt x="2767582" y="373198"/>
                </a:lnTo>
                <a:lnTo>
                  <a:pt x="2731193" y="342135"/>
                </a:lnTo>
                <a:lnTo>
                  <a:pt x="2694433" y="311497"/>
                </a:lnTo>
                <a:lnTo>
                  <a:pt x="2657307" y="281288"/>
                </a:lnTo>
                <a:lnTo>
                  <a:pt x="2619817" y="251513"/>
                </a:lnTo>
                <a:lnTo>
                  <a:pt x="2581969" y="222174"/>
                </a:lnTo>
                <a:lnTo>
                  <a:pt x="2543765" y="193276"/>
                </a:lnTo>
                <a:lnTo>
                  <a:pt x="2505209" y="164823"/>
                </a:lnTo>
                <a:lnTo>
                  <a:pt x="2466306" y="136818"/>
                </a:lnTo>
                <a:lnTo>
                  <a:pt x="2427059" y="109265"/>
                </a:lnTo>
                <a:lnTo>
                  <a:pt x="2387473" y="82169"/>
                </a:lnTo>
                <a:lnTo>
                  <a:pt x="2259203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075740" y="2329688"/>
            <a:ext cx="2422525" cy="1367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51815" marR="5080" indent="-53975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FFFFFF"/>
                </a:solidFill>
                <a:latin typeface="Calibri"/>
                <a:cs typeface="Calibri"/>
              </a:rPr>
              <a:t>Cross</a:t>
            </a:r>
            <a:r>
              <a:rPr dirty="0" sz="4400" spc="-1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400" spc="-20">
                <a:solidFill>
                  <a:srgbClr val="FFFFFF"/>
                </a:solidFill>
                <a:latin typeface="Calibri"/>
                <a:cs typeface="Calibri"/>
              </a:rPr>
              <a:t>JOIN </a:t>
            </a:r>
            <a:r>
              <a:rPr dirty="0" sz="4400" spc="-1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592818" y="4498085"/>
            <a:ext cx="2042160" cy="2042160"/>
          </a:xfrm>
          <a:custGeom>
            <a:avLst/>
            <a:gdLst/>
            <a:ahLst/>
            <a:cxnLst/>
            <a:rect l="l" t="t" r="r" b="b"/>
            <a:pathLst>
              <a:path w="2042159" h="2042159">
                <a:moveTo>
                  <a:pt x="0" y="2042159"/>
                </a:moveTo>
                <a:lnTo>
                  <a:pt x="48205" y="2041602"/>
                </a:lnTo>
                <a:lnTo>
                  <a:pt x="96136" y="2039937"/>
                </a:lnTo>
                <a:lnTo>
                  <a:pt x="143781" y="2037177"/>
                </a:lnTo>
                <a:lnTo>
                  <a:pt x="191128" y="2033334"/>
                </a:lnTo>
                <a:lnTo>
                  <a:pt x="238165" y="2028420"/>
                </a:lnTo>
                <a:lnTo>
                  <a:pt x="284878" y="2022449"/>
                </a:lnTo>
                <a:lnTo>
                  <a:pt x="331257" y="2015431"/>
                </a:lnTo>
                <a:lnTo>
                  <a:pt x="377288" y="2007379"/>
                </a:lnTo>
                <a:lnTo>
                  <a:pt x="422959" y="1998307"/>
                </a:lnTo>
                <a:lnTo>
                  <a:pt x="468258" y="1988224"/>
                </a:lnTo>
                <a:lnTo>
                  <a:pt x="513174" y="1977145"/>
                </a:lnTo>
                <a:lnTo>
                  <a:pt x="557693" y="1965081"/>
                </a:lnTo>
                <a:lnTo>
                  <a:pt x="601803" y="1952045"/>
                </a:lnTo>
                <a:lnTo>
                  <a:pt x="645493" y="1938048"/>
                </a:lnTo>
                <a:lnTo>
                  <a:pt x="688749" y="1923104"/>
                </a:lnTo>
                <a:lnTo>
                  <a:pt x="731560" y="1907224"/>
                </a:lnTo>
                <a:lnTo>
                  <a:pt x="773913" y="1890420"/>
                </a:lnTo>
                <a:lnTo>
                  <a:pt x="815796" y="1872705"/>
                </a:lnTo>
                <a:lnTo>
                  <a:pt x="857198" y="1854092"/>
                </a:lnTo>
                <a:lnTo>
                  <a:pt x="898104" y="1834591"/>
                </a:lnTo>
                <a:lnTo>
                  <a:pt x="938504" y="1814216"/>
                </a:lnTo>
                <a:lnTo>
                  <a:pt x="978385" y="1792979"/>
                </a:lnTo>
                <a:lnTo>
                  <a:pt x="1017735" y="1770893"/>
                </a:lnTo>
                <a:lnTo>
                  <a:pt x="1056541" y="1747968"/>
                </a:lnTo>
                <a:lnTo>
                  <a:pt x="1094792" y="1724219"/>
                </a:lnTo>
                <a:lnTo>
                  <a:pt x="1132475" y="1699656"/>
                </a:lnTo>
                <a:lnTo>
                  <a:pt x="1169577" y="1674292"/>
                </a:lnTo>
                <a:lnTo>
                  <a:pt x="1206087" y="1648140"/>
                </a:lnTo>
                <a:lnTo>
                  <a:pt x="1241992" y="1621211"/>
                </a:lnTo>
                <a:lnTo>
                  <a:pt x="1277280" y="1593518"/>
                </a:lnTo>
                <a:lnTo>
                  <a:pt x="1311939" y="1565074"/>
                </a:lnTo>
                <a:lnTo>
                  <a:pt x="1345957" y="1535890"/>
                </a:lnTo>
                <a:lnTo>
                  <a:pt x="1379320" y="1505978"/>
                </a:lnTo>
                <a:lnTo>
                  <a:pt x="1412018" y="1475352"/>
                </a:lnTo>
                <a:lnTo>
                  <a:pt x="1444037" y="1444023"/>
                </a:lnTo>
                <a:lnTo>
                  <a:pt x="1475366" y="1412003"/>
                </a:lnTo>
                <a:lnTo>
                  <a:pt x="1505992" y="1379305"/>
                </a:lnTo>
                <a:lnTo>
                  <a:pt x="1535903" y="1345941"/>
                </a:lnTo>
                <a:lnTo>
                  <a:pt x="1565086" y="1311924"/>
                </a:lnTo>
                <a:lnTo>
                  <a:pt x="1593530" y="1277264"/>
                </a:lnTo>
                <a:lnTo>
                  <a:pt x="1621223" y="1241976"/>
                </a:lnTo>
                <a:lnTo>
                  <a:pt x="1648151" y="1206071"/>
                </a:lnTo>
                <a:lnTo>
                  <a:pt x="1674302" y="1169560"/>
                </a:lnTo>
                <a:lnTo>
                  <a:pt x="1699666" y="1132458"/>
                </a:lnTo>
                <a:lnTo>
                  <a:pt x="1724228" y="1094775"/>
                </a:lnTo>
                <a:lnTo>
                  <a:pt x="1747977" y="1056524"/>
                </a:lnTo>
                <a:lnTo>
                  <a:pt x="1770901" y="1017718"/>
                </a:lnTo>
                <a:lnTo>
                  <a:pt x="1792987" y="978368"/>
                </a:lnTo>
                <a:lnTo>
                  <a:pt x="1814224" y="938487"/>
                </a:lnTo>
                <a:lnTo>
                  <a:pt x="1834598" y="898088"/>
                </a:lnTo>
                <a:lnTo>
                  <a:pt x="1854098" y="857181"/>
                </a:lnTo>
                <a:lnTo>
                  <a:pt x="1872711" y="815780"/>
                </a:lnTo>
                <a:lnTo>
                  <a:pt x="1890425" y="773897"/>
                </a:lnTo>
                <a:lnTo>
                  <a:pt x="1907228" y="731544"/>
                </a:lnTo>
                <a:lnTo>
                  <a:pt x="1923108" y="688734"/>
                </a:lnTo>
                <a:lnTo>
                  <a:pt x="1938052" y="645478"/>
                </a:lnTo>
                <a:lnTo>
                  <a:pt x="1952048" y="601789"/>
                </a:lnTo>
                <a:lnTo>
                  <a:pt x="1965084" y="557679"/>
                </a:lnTo>
                <a:lnTo>
                  <a:pt x="1977148" y="513161"/>
                </a:lnTo>
                <a:lnTo>
                  <a:pt x="1988226" y="468247"/>
                </a:lnTo>
                <a:lnTo>
                  <a:pt x="1998308" y="422948"/>
                </a:lnTo>
                <a:lnTo>
                  <a:pt x="2007381" y="377277"/>
                </a:lnTo>
                <a:lnTo>
                  <a:pt x="2015432" y="331247"/>
                </a:lnTo>
                <a:lnTo>
                  <a:pt x="2022449" y="284870"/>
                </a:lnTo>
                <a:lnTo>
                  <a:pt x="2028421" y="238158"/>
                </a:lnTo>
                <a:lnTo>
                  <a:pt x="2033334" y="191122"/>
                </a:lnTo>
                <a:lnTo>
                  <a:pt x="2037177" y="143777"/>
                </a:lnTo>
                <a:lnTo>
                  <a:pt x="2039937" y="96133"/>
                </a:lnTo>
                <a:lnTo>
                  <a:pt x="2041602" y="48203"/>
                </a:lnTo>
                <a:lnTo>
                  <a:pt x="2042159" y="0"/>
                </a:lnTo>
              </a:path>
            </a:pathLst>
          </a:custGeom>
          <a:ln w="127000">
            <a:solidFill>
              <a:srgbClr val="8063A1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526660" y="2273300"/>
            <a:ext cx="5933440" cy="100139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115945" algn="l"/>
              </a:tabLst>
            </a:pPr>
            <a:r>
              <a:rPr dirty="0" sz="3200">
                <a:latin typeface="Calibri"/>
                <a:cs typeface="Calibri"/>
              </a:rPr>
              <a:t>SELECT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*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FROM</a:t>
            </a:r>
            <a:r>
              <a:rPr dirty="0" sz="3200">
                <a:latin typeface="Calibri"/>
                <a:cs typeface="Calibri"/>
              </a:rPr>
              <a:t>	class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CROSS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JOIN</a:t>
            </a:r>
            <a:endParaRPr sz="3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dirty="0" sz="3200" spc="-10">
                <a:latin typeface="Calibri"/>
                <a:cs typeface="Calibri"/>
              </a:rPr>
              <a:t>class_info;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526660" y="3931665"/>
            <a:ext cx="565594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resultset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table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will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look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like,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2259203" y="0"/>
                </a:moveTo>
                <a:lnTo>
                  <a:pt x="0" y="0"/>
                </a:lnTo>
                <a:lnTo>
                  <a:pt x="0" y="6857999"/>
                </a:lnTo>
                <a:lnTo>
                  <a:pt x="2259203" y="6857999"/>
                </a:lnTo>
                <a:lnTo>
                  <a:pt x="2387473" y="6775778"/>
                </a:lnTo>
                <a:lnTo>
                  <a:pt x="2427059" y="6748686"/>
                </a:lnTo>
                <a:lnTo>
                  <a:pt x="2466306" y="6721137"/>
                </a:lnTo>
                <a:lnTo>
                  <a:pt x="2505209" y="6693136"/>
                </a:lnTo>
                <a:lnTo>
                  <a:pt x="2543765" y="6664686"/>
                </a:lnTo>
                <a:lnTo>
                  <a:pt x="2581969" y="6635792"/>
                </a:lnTo>
                <a:lnTo>
                  <a:pt x="2619817" y="6606457"/>
                </a:lnTo>
                <a:lnTo>
                  <a:pt x="2657307" y="6576685"/>
                </a:lnTo>
                <a:lnTo>
                  <a:pt x="2694433" y="6546479"/>
                </a:lnTo>
                <a:lnTo>
                  <a:pt x="2731193" y="6515844"/>
                </a:lnTo>
                <a:lnTo>
                  <a:pt x="2767582" y="6484784"/>
                </a:lnTo>
                <a:lnTo>
                  <a:pt x="2803597" y="6453301"/>
                </a:lnTo>
                <a:lnTo>
                  <a:pt x="2839233" y="6421401"/>
                </a:lnTo>
                <a:lnTo>
                  <a:pt x="2874488" y="6389086"/>
                </a:lnTo>
                <a:lnTo>
                  <a:pt x="2909356" y="6356362"/>
                </a:lnTo>
                <a:lnTo>
                  <a:pt x="2943835" y="6323230"/>
                </a:lnTo>
                <a:lnTo>
                  <a:pt x="2977921" y="6289696"/>
                </a:lnTo>
                <a:lnTo>
                  <a:pt x="3011609" y="6255763"/>
                </a:lnTo>
                <a:lnTo>
                  <a:pt x="3044896" y="6221435"/>
                </a:lnTo>
                <a:lnTo>
                  <a:pt x="3077778" y="6186716"/>
                </a:lnTo>
                <a:lnTo>
                  <a:pt x="3110252" y="6151609"/>
                </a:lnTo>
                <a:lnTo>
                  <a:pt x="3142313" y="6116118"/>
                </a:lnTo>
                <a:lnTo>
                  <a:pt x="3173957" y="6080248"/>
                </a:lnTo>
                <a:lnTo>
                  <a:pt x="3205181" y="6044002"/>
                </a:lnTo>
                <a:lnTo>
                  <a:pt x="3235982" y="6007384"/>
                </a:lnTo>
                <a:lnTo>
                  <a:pt x="3266354" y="5970397"/>
                </a:lnTo>
                <a:lnTo>
                  <a:pt x="3296295" y="5933046"/>
                </a:lnTo>
                <a:lnTo>
                  <a:pt x="3325800" y="5895333"/>
                </a:lnTo>
                <a:lnTo>
                  <a:pt x="3354866" y="5857265"/>
                </a:lnTo>
                <a:lnTo>
                  <a:pt x="3383489" y="5818842"/>
                </a:lnTo>
                <a:lnTo>
                  <a:pt x="3411665" y="5780071"/>
                </a:lnTo>
                <a:lnTo>
                  <a:pt x="3439390" y="5740954"/>
                </a:lnTo>
                <a:lnTo>
                  <a:pt x="3466661" y="5701496"/>
                </a:lnTo>
                <a:lnTo>
                  <a:pt x="3493474" y="5661700"/>
                </a:lnTo>
                <a:lnTo>
                  <a:pt x="3519824" y="5621569"/>
                </a:lnTo>
                <a:lnTo>
                  <a:pt x="3545708" y="5581109"/>
                </a:lnTo>
                <a:lnTo>
                  <a:pt x="3571122" y="5540322"/>
                </a:lnTo>
                <a:lnTo>
                  <a:pt x="3596063" y="5499213"/>
                </a:lnTo>
                <a:lnTo>
                  <a:pt x="3620526" y="5457784"/>
                </a:lnTo>
                <a:lnTo>
                  <a:pt x="3644508" y="5416041"/>
                </a:lnTo>
                <a:lnTo>
                  <a:pt x="3668005" y="5373987"/>
                </a:lnTo>
                <a:lnTo>
                  <a:pt x="3691013" y="5331626"/>
                </a:lnTo>
                <a:lnTo>
                  <a:pt x="3713528" y="5288961"/>
                </a:lnTo>
                <a:lnTo>
                  <a:pt x="3735547" y="5245996"/>
                </a:lnTo>
                <a:lnTo>
                  <a:pt x="3757066" y="5202736"/>
                </a:lnTo>
                <a:lnTo>
                  <a:pt x="3778080" y="5159183"/>
                </a:lnTo>
                <a:lnTo>
                  <a:pt x="3798586" y="5115342"/>
                </a:lnTo>
                <a:lnTo>
                  <a:pt x="3818580" y="5071217"/>
                </a:lnTo>
                <a:lnTo>
                  <a:pt x="3838059" y="5026811"/>
                </a:lnTo>
                <a:lnTo>
                  <a:pt x="3857019" y="4982129"/>
                </a:lnTo>
                <a:lnTo>
                  <a:pt x="3875455" y="4937174"/>
                </a:lnTo>
                <a:lnTo>
                  <a:pt x="3893364" y="4891949"/>
                </a:lnTo>
                <a:lnTo>
                  <a:pt x="3910742" y="4846459"/>
                </a:lnTo>
                <a:lnTo>
                  <a:pt x="3927585" y="4800708"/>
                </a:lnTo>
                <a:lnTo>
                  <a:pt x="3943890" y="4754699"/>
                </a:lnTo>
                <a:lnTo>
                  <a:pt x="3959653" y="4708436"/>
                </a:lnTo>
                <a:lnTo>
                  <a:pt x="3974869" y="4661923"/>
                </a:lnTo>
                <a:lnTo>
                  <a:pt x="3989536" y="4615164"/>
                </a:lnTo>
                <a:lnTo>
                  <a:pt x="4003649" y="4568162"/>
                </a:lnTo>
                <a:lnTo>
                  <a:pt x="4017204" y="4520922"/>
                </a:lnTo>
                <a:lnTo>
                  <a:pt x="4030197" y="4473447"/>
                </a:lnTo>
                <a:lnTo>
                  <a:pt x="4042626" y="4425741"/>
                </a:lnTo>
                <a:lnTo>
                  <a:pt x="4054485" y="4377808"/>
                </a:lnTo>
                <a:lnTo>
                  <a:pt x="4065772" y="4329652"/>
                </a:lnTo>
                <a:lnTo>
                  <a:pt x="4076481" y="4281276"/>
                </a:lnTo>
                <a:lnTo>
                  <a:pt x="4086611" y="4232684"/>
                </a:lnTo>
                <a:lnTo>
                  <a:pt x="4096156" y="4183881"/>
                </a:lnTo>
                <a:lnTo>
                  <a:pt x="4105112" y="4134870"/>
                </a:lnTo>
                <a:lnTo>
                  <a:pt x="4113477" y="4085654"/>
                </a:lnTo>
                <a:lnTo>
                  <a:pt x="4121246" y="4036238"/>
                </a:lnTo>
                <a:lnTo>
                  <a:pt x="4128416" y="3986625"/>
                </a:lnTo>
                <a:lnTo>
                  <a:pt x="4134982" y="3936819"/>
                </a:lnTo>
                <a:lnTo>
                  <a:pt x="4140941" y="3886825"/>
                </a:lnTo>
                <a:lnTo>
                  <a:pt x="4146289" y="3836645"/>
                </a:lnTo>
                <a:lnTo>
                  <a:pt x="4151022" y="3786284"/>
                </a:lnTo>
                <a:lnTo>
                  <a:pt x="4155136" y="3735745"/>
                </a:lnTo>
                <a:lnTo>
                  <a:pt x="4158628" y="3685033"/>
                </a:lnTo>
                <a:lnTo>
                  <a:pt x="4161493" y="3634151"/>
                </a:lnTo>
                <a:lnTo>
                  <a:pt x="4163728" y="3583103"/>
                </a:lnTo>
                <a:lnTo>
                  <a:pt x="4165330" y="3531892"/>
                </a:lnTo>
                <a:lnTo>
                  <a:pt x="4166293" y="3480523"/>
                </a:lnTo>
                <a:lnTo>
                  <a:pt x="4166616" y="3429000"/>
                </a:lnTo>
                <a:lnTo>
                  <a:pt x="4166293" y="3377476"/>
                </a:lnTo>
                <a:lnTo>
                  <a:pt x="4165330" y="3326107"/>
                </a:lnTo>
                <a:lnTo>
                  <a:pt x="4163728" y="3274897"/>
                </a:lnTo>
                <a:lnTo>
                  <a:pt x="4161493" y="3223849"/>
                </a:lnTo>
                <a:lnTo>
                  <a:pt x="4158628" y="3172967"/>
                </a:lnTo>
                <a:lnTo>
                  <a:pt x="4155136" y="3122255"/>
                </a:lnTo>
                <a:lnTo>
                  <a:pt x="4151022" y="3071716"/>
                </a:lnTo>
                <a:lnTo>
                  <a:pt x="4146289" y="3021356"/>
                </a:lnTo>
                <a:lnTo>
                  <a:pt x="4140941" y="2971176"/>
                </a:lnTo>
                <a:lnTo>
                  <a:pt x="4134982" y="2921182"/>
                </a:lnTo>
                <a:lnTo>
                  <a:pt x="4128416" y="2871377"/>
                </a:lnTo>
                <a:lnTo>
                  <a:pt x="4121246" y="2821765"/>
                </a:lnTo>
                <a:lnTo>
                  <a:pt x="4113477" y="2772349"/>
                </a:lnTo>
                <a:lnTo>
                  <a:pt x="4105112" y="2723134"/>
                </a:lnTo>
                <a:lnTo>
                  <a:pt x="4096156" y="2674123"/>
                </a:lnTo>
                <a:lnTo>
                  <a:pt x="4086611" y="2625320"/>
                </a:lnTo>
                <a:lnTo>
                  <a:pt x="4076481" y="2576729"/>
                </a:lnTo>
                <a:lnTo>
                  <a:pt x="4065772" y="2528354"/>
                </a:lnTo>
                <a:lnTo>
                  <a:pt x="4054485" y="2480198"/>
                </a:lnTo>
                <a:lnTo>
                  <a:pt x="4042626" y="2432266"/>
                </a:lnTo>
                <a:lnTo>
                  <a:pt x="4030197" y="2384560"/>
                </a:lnTo>
                <a:lnTo>
                  <a:pt x="4017204" y="2337086"/>
                </a:lnTo>
                <a:lnTo>
                  <a:pt x="4003649" y="2289846"/>
                </a:lnTo>
                <a:lnTo>
                  <a:pt x="3989536" y="2242846"/>
                </a:lnTo>
                <a:lnTo>
                  <a:pt x="3974869" y="2196087"/>
                </a:lnTo>
                <a:lnTo>
                  <a:pt x="3959653" y="2149575"/>
                </a:lnTo>
                <a:lnTo>
                  <a:pt x="3943890" y="2103312"/>
                </a:lnTo>
                <a:lnTo>
                  <a:pt x="3927585" y="2057304"/>
                </a:lnTo>
                <a:lnTo>
                  <a:pt x="3910742" y="2011553"/>
                </a:lnTo>
                <a:lnTo>
                  <a:pt x="3893364" y="1966064"/>
                </a:lnTo>
                <a:lnTo>
                  <a:pt x="3875455" y="1920840"/>
                </a:lnTo>
                <a:lnTo>
                  <a:pt x="3857019" y="1875885"/>
                </a:lnTo>
                <a:lnTo>
                  <a:pt x="3838059" y="1831203"/>
                </a:lnTo>
                <a:lnTo>
                  <a:pt x="3818580" y="1786797"/>
                </a:lnTo>
                <a:lnTo>
                  <a:pt x="3798586" y="1742673"/>
                </a:lnTo>
                <a:lnTo>
                  <a:pt x="3778080" y="1698832"/>
                </a:lnTo>
                <a:lnTo>
                  <a:pt x="3757066" y="1655280"/>
                </a:lnTo>
                <a:lnTo>
                  <a:pt x="3735547" y="1612020"/>
                </a:lnTo>
                <a:lnTo>
                  <a:pt x="3713528" y="1569055"/>
                </a:lnTo>
                <a:lnTo>
                  <a:pt x="3691013" y="1526391"/>
                </a:lnTo>
                <a:lnTo>
                  <a:pt x="3668005" y="1484029"/>
                </a:lnTo>
                <a:lnTo>
                  <a:pt x="3644508" y="1441975"/>
                </a:lnTo>
                <a:lnTo>
                  <a:pt x="3620526" y="1400232"/>
                </a:lnTo>
                <a:lnTo>
                  <a:pt x="3596063" y="1358804"/>
                </a:lnTo>
                <a:lnTo>
                  <a:pt x="3571122" y="1317694"/>
                </a:lnTo>
                <a:lnTo>
                  <a:pt x="3545708" y="1276907"/>
                </a:lnTo>
                <a:lnTo>
                  <a:pt x="3519824" y="1236446"/>
                </a:lnTo>
                <a:lnTo>
                  <a:pt x="3493474" y="1196316"/>
                </a:lnTo>
                <a:lnTo>
                  <a:pt x="3466661" y="1156519"/>
                </a:lnTo>
                <a:lnTo>
                  <a:pt x="3439390" y="1117060"/>
                </a:lnTo>
                <a:lnTo>
                  <a:pt x="3411665" y="1077943"/>
                </a:lnTo>
                <a:lnTo>
                  <a:pt x="3383489" y="1039171"/>
                </a:lnTo>
                <a:lnTo>
                  <a:pt x="3354866" y="1000748"/>
                </a:lnTo>
                <a:lnTo>
                  <a:pt x="3325800" y="962678"/>
                </a:lnTo>
                <a:lnTo>
                  <a:pt x="3296295" y="924965"/>
                </a:lnTo>
                <a:lnTo>
                  <a:pt x="3266354" y="887613"/>
                </a:lnTo>
                <a:lnTo>
                  <a:pt x="3235982" y="850625"/>
                </a:lnTo>
                <a:lnTo>
                  <a:pt x="3205181" y="814006"/>
                </a:lnTo>
                <a:lnTo>
                  <a:pt x="3173957" y="777758"/>
                </a:lnTo>
                <a:lnTo>
                  <a:pt x="3142313" y="741886"/>
                </a:lnTo>
                <a:lnTo>
                  <a:pt x="3110252" y="706395"/>
                </a:lnTo>
                <a:lnTo>
                  <a:pt x="3077778" y="671286"/>
                </a:lnTo>
                <a:lnTo>
                  <a:pt x="3044896" y="636565"/>
                </a:lnTo>
                <a:lnTo>
                  <a:pt x="3011609" y="602235"/>
                </a:lnTo>
                <a:lnTo>
                  <a:pt x="2977921" y="568300"/>
                </a:lnTo>
                <a:lnTo>
                  <a:pt x="2943835" y="534764"/>
                </a:lnTo>
                <a:lnTo>
                  <a:pt x="2909356" y="501631"/>
                </a:lnTo>
                <a:lnTo>
                  <a:pt x="2874488" y="468903"/>
                </a:lnTo>
                <a:lnTo>
                  <a:pt x="2839233" y="436586"/>
                </a:lnTo>
                <a:lnTo>
                  <a:pt x="2803597" y="404684"/>
                </a:lnTo>
                <a:lnTo>
                  <a:pt x="2767582" y="373198"/>
                </a:lnTo>
                <a:lnTo>
                  <a:pt x="2731193" y="342135"/>
                </a:lnTo>
                <a:lnTo>
                  <a:pt x="2694433" y="311497"/>
                </a:lnTo>
                <a:lnTo>
                  <a:pt x="2657307" y="281288"/>
                </a:lnTo>
                <a:lnTo>
                  <a:pt x="2619817" y="251513"/>
                </a:lnTo>
                <a:lnTo>
                  <a:pt x="2581969" y="222174"/>
                </a:lnTo>
                <a:lnTo>
                  <a:pt x="2543765" y="193276"/>
                </a:lnTo>
                <a:lnTo>
                  <a:pt x="2505209" y="164823"/>
                </a:lnTo>
                <a:lnTo>
                  <a:pt x="2466306" y="136818"/>
                </a:lnTo>
                <a:lnTo>
                  <a:pt x="2427059" y="109265"/>
                </a:lnTo>
                <a:lnTo>
                  <a:pt x="2387473" y="82169"/>
                </a:lnTo>
                <a:lnTo>
                  <a:pt x="2259203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592818" y="4498085"/>
            <a:ext cx="2042160" cy="2042160"/>
          </a:xfrm>
          <a:custGeom>
            <a:avLst/>
            <a:gdLst/>
            <a:ahLst/>
            <a:cxnLst/>
            <a:rect l="l" t="t" r="r" b="b"/>
            <a:pathLst>
              <a:path w="2042159" h="2042159">
                <a:moveTo>
                  <a:pt x="0" y="2042159"/>
                </a:moveTo>
                <a:lnTo>
                  <a:pt x="48205" y="2041602"/>
                </a:lnTo>
                <a:lnTo>
                  <a:pt x="96136" y="2039937"/>
                </a:lnTo>
                <a:lnTo>
                  <a:pt x="143781" y="2037177"/>
                </a:lnTo>
                <a:lnTo>
                  <a:pt x="191128" y="2033334"/>
                </a:lnTo>
                <a:lnTo>
                  <a:pt x="238165" y="2028420"/>
                </a:lnTo>
                <a:lnTo>
                  <a:pt x="284878" y="2022449"/>
                </a:lnTo>
                <a:lnTo>
                  <a:pt x="331257" y="2015431"/>
                </a:lnTo>
                <a:lnTo>
                  <a:pt x="377288" y="2007379"/>
                </a:lnTo>
                <a:lnTo>
                  <a:pt x="422959" y="1998307"/>
                </a:lnTo>
                <a:lnTo>
                  <a:pt x="468258" y="1988224"/>
                </a:lnTo>
                <a:lnTo>
                  <a:pt x="513174" y="1977145"/>
                </a:lnTo>
                <a:lnTo>
                  <a:pt x="557693" y="1965081"/>
                </a:lnTo>
                <a:lnTo>
                  <a:pt x="601803" y="1952045"/>
                </a:lnTo>
                <a:lnTo>
                  <a:pt x="645493" y="1938048"/>
                </a:lnTo>
                <a:lnTo>
                  <a:pt x="688749" y="1923104"/>
                </a:lnTo>
                <a:lnTo>
                  <a:pt x="731560" y="1907224"/>
                </a:lnTo>
                <a:lnTo>
                  <a:pt x="773913" y="1890420"/>
                </a:lnTo>
                <a:lnTo>
                  <a:pt x="815796" y="1872705"/>
                </a:lnTo>
                <a:lnTo>
                  <a:pt x="857198" y="1854092"/>
                </a:lnTo>
                <a:lnTo>
                  <a:pt x="898104" y="1834591"/>
                </a:lnTo>
                <a:lnTo>
                  <a:pt x="938504" y="1814216"/>
                </a:lnTo>
                <a:lnTo>
                  <a:pt x="978385" y="1792979"/>
                </a:lnTo>
                <a:lnTo>
                  <a:pt x="1017735" y="1770893"/>
                </a:lnTo>
                <a:lnTo>
                  <a:pt x="1056541" y="1747968"/>
                </a:lnTo>
                <a:lnTo>
                  <a:pt x="1094792" y="1724219"/>
                </a:lnTo>
                <a:lnTo>
                  <a:pt x="1132475" y="1699656"/>
                </a:lnTo>
                <a:lnTo>
                  <a:pt x="1169577" y="1674292"/>
                </a:lnTo>
                <a:lnTo>
                  <a:pt x="1206087" y="1648140"/>
                </a:lnTo>
                <a:lnTo>
                  <a:pt x="1241992" y="1621211"/>
                </a:lnTo>
                <a:lnTo>
                  <a:pt x="1277280" y="1593518"/>
                </a:lnTo>
                <a:lnTo>
                  <a:pt x="1311939" y="1565074"/>
                </a:lnTo>
                <a:lnTo>
                  <a:pt x="1345957" y="1535890"/>
                </a:lnTo>
                <a:lnTo>
                  <a:pt x="1379320" y="1505978"/>
                </a:lnTo>
                <a:lnTo>
                  <a:pt x="1412018" y="1475352"/>
                </a:lnTo>
                <a:lnTo>
                  <a:pt x="1444037" y="1444023"/>
                </a:lnTo>
                <a:lnTo>
                  <a:pt x="1475366" y="1412003"/>
                </a:lnTo>
                <a:lnTo>
                  <a:pt x="1505992" y="1379305"/>
                </a:lnTo>
                <a:lnTo>
                  <a:pt x="1535903" y="1345941"/>
                </a:lnTo>
                <a:lnTo>
                  <a:pt x="1565086" y="1311924"/>
                </a:lnTo>
                <a:lnTo>
                  <a:pt x="1593530" y="1277264"/>
                </a:lnTo>
                <a:lnTo>
                  <a:pt x="1621223" y="1241976"/>
                </a:lnTo>
                <a:lnTo>
                  <a:pt x="1648151" y="1206071"/>
                </a:lnTo>
                <a:lnTo>
                  <a:pt x="1674302" y="1169560"/>
                </a:lnTo>
                <a:lnTo>
                  <a:pt x="1699666" y="1132458"/>
                </a:lnTo>
                <a:lnTo>
                  <a:pt x="1724228" y="1094775"/>
                </a:lnTo>
                <a:lnTo>
                  <a:pt x="1747977" y="1056524"/>
                </a:lnTo>
                <a:lnTo>
                  <a:pt x="1770901" y="1017718"/>
                </a:lnTo>
                <a:lnTo>
                  <a:pt x="1792987" y="978368"/>
                </a:lnTo>
                <a:lnTo>
                  <a:pt x="1814224" y="938487"/>
                </a:lnTo>
                <a:lnTo>
                  <a:pt x="1834598" y="898088"/>
                </a:lnTo>
                <a:lnTo>
                  <a:pt x="1854098" y="857181"/>
                </a:lnTo>
                <a:lnTo>
                  <a:pt x="1872711" y="815780"/>
                </a:lnTo>
                <a:lnTo>
                  <a:pt x="1890425" y="773897"/>
                </a:lnTo>
                <a:lnTo>
                  <a:pt x="1907228" y="731544"/>
                </a:lnTo>
                <a:lnTo>
                  <a:pt x="1923108" y="688734"/>
                </a:lnTo>
                <a:lnTo>
                  <a:pt x="1938052" y="645478"/>
                </a:lnTo>
                <a:lnTo>
                  <a:pt x="1952048" y="601789"/>
                </a:lnTo>
                <a:lnTo>
                  <a:pt x="1965084" y="557679"/>
                </a:lnTo>
                <a:lnTo>
                  <a:pt x="1977148" y="513161"/>
                </a:lnTo>
                <a:lnTo>
                  <a:pt x="1988226" y="468247"/>
                </a:lnTo>
                <a:lnTo>
                  <a:pt x="1998308" y="422948"/>
                </a:lnTo>
                <a:lnTo>
                  <a:pt x="2007381" y="377277"/>
                </a:lnTo>
                <a:lnTo>
                  <a:pt x="2015432" y="331247"/>
                </a:lnTo>
                <a:lnTo>
                  <a:pt x="2022449" y="284870"/>
                </a:lnTo>
                <a:lnTo>
                  <a:pt x="2028421" y="238158"/>
                </a:lnTo>
                <a:lnTo>
                  <a:pt x="2033334" y="191122"/>
                </a:lnTo>
                <a:lnTo>
                  <a:pt x="2037177" y="143777"/>
                </a:lnTo>
                <a:lnTo>
                  <a:pt x="2039937" y="96133"/>
                </a:lnTo>
                <a:lnTo>
                  <a:pt x="2041602" y="48203"/>
                </a:lnTo>
                <a:lnTo>
                  <a:pt x="2042159" y="0"/>
                </a:lnTo>
              </a:path>
            </a:pathLst>
          </a:custGeom>
          <a:ln w="127000">
            <a:solidFill>
              <a:srgbClr val="8063A1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4507610" y="498508"/>
          <a:ext cx="4077335" cy="41376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445"/>
                <a:gridCol w="537845"/>
                <a:gridCol w="1012190"/>
                <a:gridCol w="643890"/>
                <a:gridCol w="1544954"/>
              </a:tblGrid>
              <a:tr h="393065">
                <a:tc>
                  <a:txBody>
                    <a:bodyPr/>
                    <a:lstStyle/>
                    <a:p>
                      <a:pPr marL="31750">
                        <a:lnSpc>
                          <a:spcPts val="2760"/>
                        </a:lnSpc>
                      </a:pPr>
                      <a:r>
                        <a:rPr dirty="0" sz="2500" spc="-50">
                          <a:latin typeface="Arial MT"/>
                          <a:cs typeface="Arial MT"/>
                        </a:rPr>
                        <a:t>•</a:t>
                      </a:r>
                      <a:endParaRPr sz="25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2760"/>
                        </a:lnSpc>
                      </a:pPr>
                      <a:r>
                        <a:rPr dirty="0" sz="2500" spc="-25">
                          <a:latin typeface="Calibri"/>
                          <a:cs typeface="Calibri"/>
                        </a:rPr>
                        <a:t>ID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760"/>
                        </a:lnSpc>
                      </a:pPr>
                      <a:r>
                        <a:rPr dirty="0" sz="2500" spc="-20">
                          <a:latin typeface="Calibri"/>
                          <a:cs typeface="Calibri"/>
                        </a:rPr>
                        <a:t>NAME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760"/>
                        </a:lnSpc>
                      </a:pPr>
                      <a:r>
                        <a:rPr dirty="0" sz="2500" spc="-25">
                          <a:latin typeface="Calibri"/>
                          <a:cs typeface="Calibri"/>
                        </a:rPr>
                        <a:t>ID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0040">
                        <a:lnSpc>
                          <a:spcPts val="2760"/>
                        </a:lnSpc>
                      </a:pPr>
                      <a:r>
                        <a:rPr dirty="0" sz="2500" spc="-10">
                          <a:latin typeface="Calibri"/>
                          <a:cs typeface="Calibri"/>
                        </a:rPr>
                        <a:t>Address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419100">
                <a:tc>
                  <a:txBody>
                    <a:bodyPr/>
                    <a:lstStyle/>
                    <a:p>
                      <a:pPr marL="3175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Arial MT"/>
                          <a:cs typeface="Arial MT"/>
                        </a:rPr>
                        <a:t>•</a:t>
                      </a:r>
                      <a:endParaRPr sz="25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Calibri"/>
                          <a:cs typeface="Calibri"/>
                        </a:rPr>
                        <a:t>1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970"/>
                        </a:lnSpc>
                      </a:pPr>
                      <a:r>
                        <a:rPr dirty="0" sz="2500" spc="-20">
                          <a:latin typeface="Calibri"/>
                          <a:cs typeface="Calibri"/>
                        </a:rPr>
                        <a:t>abhi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Calibri"/>
                          <a:cs typeface="Calibri"/>
                        </a:rPr>
                        <a:t>1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0040">
                        <a:lnSpc>
                          <a:spcPts val="2970"/>
                        </a:lnSpc>
                      </a:pPr>
                      <a:r>
                        <a:rPr dirty="0" sz="2500" spc="-10">
                          <a:latin typeface="Calibri"/>
                          <a:cs typeface="Calibri"/>
                        </a:rPr>
                        <a:t>DELHI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419100">
                <a:tc>
                  <a:txBody>
                    <a:bodyPr/>
                    <a:lstStyle/>
                    <a:p>
                      <a:pPr marL="3175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Arial MT"/>
                          <a:cs typeface="Arial MT"/>
                        </a:rPr>
                        <a:t>•</a:t>
                      </a:r>
                      <a:endParaRPr sz="25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Calibri"/>
                          <a:cs typeface="Calibri"/>
                        </a:rPr>
                        <a:t>2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970"/>
                        </a:lnSpc>
                      </a:pPr>
                      <a:r>
                        <a:rPr dirty="0" sz="2500" spc="-20">
                          <a:latin typeface="Calibri"/>
                          <a:cs typeface="Calibri"/>
                        </a:rPr>
                        <a:t>adam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Calibri"/>
                          <a:cs typeface="Calibri"/>
                        </a:rPr>
                        <a:t>1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0040">
                        <a:lnSpc>
                          <a:spcPts val="2970"/>
                        </a:lnSpc>
                      </a:pPr>
                      <a:r>
                        <a:rPr dirty="0" sz="2500" spc="-10">
                          <a:latin typeface="Calibri"/>
                          <a:cs typeface="Calibri"/>
                        </a:rPr>
                        <a:t>DELHI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418465">
                <a:tc>
                  <a:txBody>
                    <a:bodyPr/>
                    <a:lstStyle/>
                    <a:p>
                      <a:pPr marL="3175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Arial MT"/>
                          <a:cs typeface="Arial MT"/>
                        </a:rPr>
                        <a:t>•</a:t>
                      </a:r>
                      <a:endParaRPr sz="25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Calibri"/>
                          <a:cs typeface="Calibri"/>
                        </a:rPr>
                        <a:t>4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970"/>
                        </a:lnSpc>
                      </a:pPr>
                      <a:r>
                        <a:rPr dirty="0" sz="2500" spc="-20">
                          <a:latin typeface="Calibri"/>
                          <a:cs typeface="Calibri"/>
                        </a:rPr>
                        <a:t>alex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Calibri"/>
                          <a:cs typeface="Calibri"/>
                        </a:rPr>
                        <a:t>1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0040">
                        <a:lnSpc>
                          <a:spcPts val="2970"/>
                        </a:lnSpc>
                      </a:pPr>
                      <a:r>
                        <a:rPr dirty="0" sz="2500" spc="-10">
                          <a:latin typeface="Calibri"/>
                          <a:cs typeface="Calibri"/>
                        </a:rPr>
                        <a:t>DELHI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419100">
                <a:tc>
                  <a:txBody>
                    <a:bodyPr/>
                    <a:lstStyle/>
                    <a:p>
                      <a:pPr marL="3175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Arial MT"/>
                          <a:cs typeface="Arial MT"/>
                        </a:rPr>
                        <a:t>•</a:t>
                      </a:r>
                      <a:endParaRPr sz="25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Calibri"/>
                          <a:cs typeface="Calibri"/>
                        </a:rPr>
                        <a:t>1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970"/>
                        </a:lnSpc>
                      </a:pPr>
                      <a:r>
                        <a:rPr dirty="0" sz="2500" spc="-20">
                          <a:latin typeface="Calibri"/>
                          <a:cs typeface="Calibri"/>
                        </a:rPr>
                        <a:t>abhi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Calibri"/>
                          <a:cs typeface="Calibri"/>
                        </a:rPr>
                        <a:t>2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0040">
                        <a:lnSpc>
                          <a:spcPts val="2970"/>
                        </a:lnSpc>
                      </a:pPr>
                      <a:r>
                        <a:rPr dirty="0" sz="2500" spc="-10">
                          <a:latin typeface="Calibri"/>
                          <a:cs typeface="Calibri"/>
                        </a:rPr>
                        <a:t>MUMBAI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419100">
                <a:tc>
                  <a:txBody>
                    <a:bodyPr/>
                    <a:lstStyle/>
                    <a:p>
                      <a:pPr marL="3175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Arial MT"/>
                          <a:cs typeface="Arial MT"/>
                        </a:rPr>
                        <a:t>•</a:t>
                      </a:r>
                      <a:endParaRPr sz="25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Calibri"/>
                          <a:cs typeface="Calibri"/>
                        </a:rPr>
                        <a:t>2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970"/>
                        </a:lnSpc>
                      </a:pPr>
                      <a:r>
                        <a:rPr dirty="0" sz="2500" spc="-20">
                          <a:latin typeface="Calibri"/>
                          <a:cs typeface="Calibri"/>
                        </a:rPr>
                        <a:t>adam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Calibri"/>
                          <a:cs typeface="Calibri"/>
                        </a:rPr>
                        <a:t>2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0040">
                        <a:lnSpc>
                          <a:spcPts val="2970"/>
                        </a:lnSpc>
                      </a:pPr>
                      <a:r>
                        <a:rPr dirty="0" sz="2500" spc="-10">
                          <a:latin typeface="Calibri"/>
                          <a:cs typeface="Calibri"/>
                        </a:rPr>
                        <a:t>MUMBAI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419100">
                <a:tc>
                  <a:txBody>
                    <a:bodyPr/>
                    <a:lstStyle/>
                    <a:p>
                      <a:pPr marL="3175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Arial MT"/>
                          <a:cs typeface="Arial MT"/>
                        </a:rPr>
                        <a:t>•</a:t>
                      </a:r>
                      <a:endParaRPr sz="25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Calibri"/>
                          <a:cs typeface="Calibri"/>
                        </a:rPr>
                        <a:t>4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970"/>
                        </a:lnSpc>
                      </a:pPr>
                      <a:r>
                        <a:rPr dirty="0" sz="2500" spc="-20">
                          <a:latin typeface="Calibri"/>
                          <a:cs typeface="Calibri"/>
                        </a:rPr>
                        <a:t>alex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Calibri"/>
                          <a:cs typeface="Calibri"/>
                        </a:rPr>
                        <a:t>2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0040">
                        <a:lnSpc>
                          <a:spcPts val="2970"/>
                        </a:lnSpc>
                      </a:pPr>
                      <a:r>
                        <a:rPr dirty="0" sz="2500" spc="-10">
                          <a:latin typeface="Calibri"/>
                          <a:cs typeface="Calibri"/>
                        </a:rPr>
                        <a:t>MUMBAI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419100">
                <a:tc>
                  <a:txBody>
                    <a:bodyPr/>
                    <a:lstStyle/>
                    <a:p>
                      <a:pPr marL="3175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Arial MT"/>
                          <a:cs typeface="Arial MT"/>
                        </a:rPr>
                        <a:t>•</a:t>
                      </a:r>
                      <a:endParaRPr sz="25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Calibri"/>
                          <a:cs typeface="Calibri"/>
                        </a:rPr>
                        <a:t>1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970"/>
                        </a:lnSpc>
                      </a:pPr>
                      <a:r>
                        <a:rPr dirty="0" sz="2500" spc="-20">
                          <a:latin typeface="Calibri"/>
                          <a:cs typeface="Calibri"/>
                        </a:rPr>
                        <a:t>abhi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Calibri"/>
                          <a:cs typeface="Calibri"/>
                        </a:rPr>
                        <a:t>3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0040">
                        <a:lnSpc>
                          <a:spcPts val="2970"/>
                        </a:lnSpc>
                      </a:pPr>
                      <a:r>
                        <a:rPr dirty="0" sz="2500" spc="-10">
                          <a:latin typeface="Calibri"/>
                          <a:cs typeface="Calibri"/>
                        </a:rPr>
                        <a:t>CHENNAI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419100">
                <a:tc>
                  <a:txBody>
                    <a:bodyPr/>
                    <a:lstStyle/>
                    <a:p>
                      <a:pPr marL="3175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Arial MT"/>
                          <a:cs typeface="Arial MT"/>
                        </a:rPr>
                        <a:t>•</a:t>
                      </a:r>
                      <a:endParaRPr sz="25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Calibri"/>
                          <a:cs typeface="Calibri"/>
                        </a:rPr>
                        <a:t>2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970"/>
                        </a:lnSpc>
                      </a:pPr>
                      <a:r>
                        <a:rPr dirty="0" sz="2500" spc="-20">
                          <a:latin typeface="Calibri"/>
                          <a:cs typeface="Calibri"/>
                        </a:rPr>
                        <a:t>adam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Calibri"/>
                          <a:cs typeface="Calibri"/>
                        </a:rPr>
                        <a:t>3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0040">
                        <a:lnSpc>
                          <a:spcPts val="2970"/>
                        </a:lnSpc>
                      </a:pPr>
                      <a:r>
                        <a:rPr dirty="0" sz="2500" spc="-10">
                          <a:latin typeface="Calibri"/>
                          <a:cs typeface="Calibri"/>
                        </a:rPr>
                        <a:t>CHENNAI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92430">
                <a:tc>
                  <a:txBody>
                    <a:bodyPr/>
                    <a:lstStyle/>
                    <a:p>
                      <a:pPr marL="3175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Arial MT"/>
                          <a:cs typeface="Arial MT"/>
                        </a:rPr>
                        <a:t>•</a:t>
                      </a:r>
                      <a:endParaRPr sz="25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Calibri"/>
                          <a:cs typeface="Calibri"/>
                        </a:rPr>
                        <a:t>4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970"/>
                        </a:lnSpc>
                      </a:pPr>
                      <a:r>
                        <a:rPr dirty="0" sz="2500" spc="-20">
                          <a:latin typeface="Calibri"/>
                          <a:cs typeface="Calibri"/>
                        </a:rPr>
                        <a:t>alex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Calibri"/>
                          <a:cs typeface="Calibri"/>
                        </a:rPr>
                        <a:t>3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0040">
                        <a:lnSpc>
                          <a:spcPts val="2970"/>
                        </a:lnSpc>
                      </a:pPr>
                      <a:r>
                        <a:rPr dirty="0" sz="2500" spc="-10">
                          <a:latin typeface="Calibri"/>
                          <a:cs typeface="Calibri"/>
                        </a:rPr>
                        <a:t>CHENNAI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4526660" y="5066741"/>
            <a:ext cx="6413500" cy="74993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 marR="5080">
              <a:lnSpc>
                <a:spcPts val="2700"/>
              </a:lnSpc>
              <a:spcBef>
                <a:spcPts val="434"/>
              </a:spcBef>
            </a:pPr>
            <a:r>
              <a:rPr dirty="0" sz="2500">
                <a:latin typeface="Calibri"/>
                <a:cs typeface="Calibri"/>
              </a:rPr>
              <a:t>As</a:t>
            </a:r>
            <a:r>
              <a:rPr dirty="0" sz="2500" spc="-5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you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can</a:t>
            </a:r>
            <a:r>
              <a:rPr dirty="0" sz="2500" spc="-4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see,</a:t>
            </a:r>
            <a:r>
              <a:rPr dirty="0" sz="2500" spc="-3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this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join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returns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-4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cross</a:t>
            </a:r>
            <a:r>
              <a:rPr dirty="0" sz="2500" spc="-5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product </a:t>
            </a:r>
            <a:r>
              <a:rPr dirty="0" sz="2500">
                <a:latin typeface="Calibri"/>
                <a:cs typeface="Calibri"/>
              </a:rPr>
              <a:t>of</a:t>
            </a:r>
            <a:r>
              <a:rPr dirty="0" sz="2500" spc="-5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all</a:t>
            </a:r>
            <a:r>
              <a:rPr dirty="0" sz="2500" spc="-5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-3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records</a:t>
            </a:r>
            <a:r>
              <a:rPr dirty="0" sz="2500" spc="-5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present</a:t>
            </a:r>
            <a:r>
              <a:rPr dirty="0" sz="2500" spc="-3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in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both</a:t>
            </a:r>
            <a:r>
              <a:rPr dirty="0" sz="2500" spc="-5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-4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tables.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4166616" y="0"/>
                </a:moveTo>
                <a:lnTo>
                  <a:pt x="0" y="0"/>
                </a:lnTo>
                <a:lnTo>
                  <a:pt x="0" y="6858000"/>
                </a:lnTo>
                <a:lnTo>
                  <a:pt x="4166616" y="6858000"/>
                </a:lnTo>
                <a:lnTo>
                  <a:pt x="4166616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83716" y="2329688"/>
            <a:ext cx="2805430" cy="1367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16002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FFFFFF"/>
                </a:solidFill>
                <a:latin typeface="Calibri"/>
                <a:cs typeface="Calibri"/>
              </a:rPr>
              <a:t>INNER </a:t>
            </a:r>
            <a:r>
              <a:rPr dirty="0" sz="4400" spc="-20">
                <a:solidFill>
                  <a:srgbClr val="FFFFFF"/>
                </a:solidFill>
                <a:latin typeface="Calibri"/>
                <a:cs typeface="Calibri"/>
              </a:rPr>
              <a:t>Join </a:t>
            </a:r>
            <a:r>
              <a:rPr dirty="0" sz="44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4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400">
                <a:solidFill>
                  <a:srgbClr val="FFFFFF"/>
                </a:solidFill>
                <a:latin typeface="Calibri"/>
                <a:cs typeface="Calibri"/>
              </a:rPr>
              <a:t>EQUI</a:t>
            </a:r>
            <a:r>
              <a:rPr dirty="0" sz="4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400" spc="-20">
                <a:solidFill>
                  <a:srgbClr val="FFFFFF"/>
                </a:solidFill>
                <a:latin typeface="Calibri"/>
                <a:cs typeface="Calibri"/>
              </a:rPr>
              <a:t>Join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592818" y="4498085"/>
            <a:ext cx="2042160" cy="2042160"/>
          </a:xfrm>
          <a:custGeom>
            <a:avLst/>
            <a:gdLst/>
            <a:ahLst/>
            <a:cxnLst/>
            <a:rect l="l" t="t" r="r" b="b"/>
            <a:pathLst>
              <a:path w="2042159" h="2042159">
                <a:moveTo>
                  <a:pt x="0" y="2042159"/>
                </a:moveTo>
                <a:lnTo>
                  <a:pt x="48205" y="2041602"/>
                </a:lnTo>
                <a:lnTo>
                  <a:pt x="96136" y="2039937"/>
                </a:lnTo>
                <a:lnTo>
                  <a:pt x="143781" y="2037177"/>
                </a:lnTo>
                <a:lnTo>
                  <a:pt x="191128" y="2033334"/>
                </a:lnTo>
                <a:lnTo>
                  <a:pt x="238165" y="2028420"/>
                </a:lnTo>
                <a:lnTo>
                  <a:pt x="284878" y="2022449"/>
                </a:lnTo>
                <a:lnTo>
                  <a:pt x="331257" y="2015431"/>
                </a:lnTo>
                <a:lnTo>
                  <a:pt x="377288" y="2007379"/>
                </a:lnTo>
                <a:lnTo>
                  <a:pt x="422959" y="1998307"/>
                </a:lnTo>
                <a:lnTo>
                  <a:pt x="468258" y="1988224"/>
                </a:lnTo>
                <a:lnTo>
                  <a:pt x="513174" y="1977145"/>
                </a:lnTo>
                <a:lnTo>
                  <a:pt x="557693" y="1965081"/>
                </a:lnTo>
                <a:lnTo>
                  <a:pt x="601803" y="1952045"/>
                </a:lnTo>
                <a:lnTo>
                  <a:pt x="645493" y="1938048"/>
                </a:lnTo>
                <a:lnTo>
                  <a:pt x="688749" y="1923104"/>
                </a:lnTo>
                <a:lnTo>
                  <a:pt x="731560" y="1907224"/>
                </a:lnTo>
                <a:lnTo>
                  <a:pt x="773913" y="1890420"/>
                </a:lnTo>
                <a:lnTo>
                  <a:pt x="815796" y="1872705"/>
                </a:lnTo>
                <a:lnTo>
                  <a:pt x="857198" y="1854092"/>
                </a:lnTo>
                <a:lnTo>
                  <a:pt x="898104" y="1834591"/>
                </a:lnTo>
                <a:lnTo>
                  <a:pt x="938504" y="1814216"/>
                </a:lnTo>
                <a:lnTo>
                  <a:pt x="978385" y="1792979"/>
                </a:lnTo>
                <a:lnTo>
                  <a:pt x="1017735" y="1770893"/>
                </a:lnTo>
                <a:lnTo>
                  <a:pt x="1056541" y="1747968"/>
                </a:lnTo>
                <a:lnTo>
                  <a:pt x="1094792" y="1724219"/>
                </a:lnTo>
                <a:lnTo>
                  <a:pt x="1132475" y="1699656"/>
                </a:lnTo>
                <a:lnTo>
                  <a:pt x="1169577" y="1674292"/>
                </a:lnTo>
                <a:lnTo>
                  <a:pt x="1206087" y="1648140"/>
                </a:lnTo>
                <a:lnTo>
                  <a:pt x="1241992" y="1621211"/>
                </a:lnTo>
                <a:lnTo>
                  <a:pt x="1277280" y="1593518"/>
                </a:lnTo>
                <a:lnTo>
                  <a:pt x="1311939" y="1565074"/>
                </a:lnTo>
                <a:lnTo>
                  <a:pt x="1345957" y="1535890"/>
                </a:lnTo>
                <a:lnTo>
                  <a:pt x="1379320" y="1505978"/>
                </a:lnTo>
                <a:lnTo>
                  <a:pt x="1412018" y="1475352"/>
                </a:lnTo>
                <a:lnTo>
                  <a:pt x="1444037" y="1444023"/>
                </a:lnTo>
                <a:lnTo>
                  <a:pt x="1475366" y="1412003"/>
                </a:lnTo>
                <a:lnTo>
                  <a:pt x="1505992" y="1379305"/>
                </a:lnTo>
                <a:lnTo>
                  <a:pt x="1535903" y="1345941"/>
                </a:lnTo>
                <a:lnTo>
                  <a:pt x="1565086" y="1311924"/>
                </a:lnTo>
                <a:lnTo>
                  <a:pt x="1593530" y="1277264"/>
                </a:lnTo>
                <a:lnTo>
                  <a:pt x="1621223" y="1241976"/>
                </a:lnTo>
                <a:lnTo>
                  <a:pt x="1648151" y="1206071"/>
                </a:lnTo>
                <a:lnTo>
                  <a:pt x="1674302" y="1169560"/>
                </a:lnTo>
                <a:lnTo>
                  <a:pt x="1699666" y="1132458"/>
                </a:lnTo>
                <a:lnTo>
                  <a:pt x="1724228" y="1094775"/>
                </a:lnTo>
                <a:lnTo>
                  <a:pt x="1747977" y="1056524"/>
                </a:lnTo>
                <a:lnTo>
                  <a:pt x="1770901" y="1017718"/>
                </a:lnTo>
                <a:lnTo>
                  <a:pt x="1792987" y="978368"/>
                </a:lnTo>
                <a:lnTo>
                  <a:pt x="1814224" y="938487"/>
                </a:lnTo>
                <a:lnTo>
                  <a:pt x="1834598" y="898088"/>
                </a:lnTo>
                <a:lnTo>
                  <a:pt x="1854098" y="857181"/>
                </a:lnTo>
                <a:lnTo>
                  <a:pt x="1872711" y="815780"/>
                </a:lnTo>
                <a:lnTo>
                  <a:pt x="1890425" y="773897"/>
                </a:lnTo>
                <a:lnTo>
                  <a:pt x="1907228" y="731544"/>
                </a:lnTo>
                <a:lnTo>
                  <a:pt x="1923108" y="688734"/>
                </a:lnTo>
                <a:lnTo>
                  <a:pt x="1938052" y="645478"/>
                </a:lnTo>
                <a:lnTo>
                  <a:pt x="1952048" y="601789"/>
                </a:lnTo>
                <a:lnTo>
                  <a:pt x="1965084" y="557679"/>
                </a:lnTo>
                <a:lnTo>
                  <a:pt x="1977148" y="513161"/>
                </a:lnTo>
                <a:lnTo>
                  <a:pt x="1988226" y="468247"/>
                </a:lnTo>
                <a:lnTo>
                  <a:pt x="1998308" y="422948"/>
                </a:lnTo>
                <a:lnTo>
                  <a:pt x="2007381" y="377277"/>
                </a:lnTo>
                <a:lnTo>
                  <a:pt x="2015432" y="331247"/>
                </a:lnTo>
                <a:lnTo>
                  <a:pt x="2022449" y="284870"/>
                </a:lnTo>
                <a:lnTo>
                  <a:pt x="2028421" y="238158"/>
                </a:lnTo>
                <a:lnTo>
                  <a:pt x="2033334" y="191122"/>
                </a:lnTo>
                <a:lnTo>
                  <a:pt x="2037177" y="143777"/>
                </a:lnTo>
                <a:lnTo>
                  <a:pt x="2039937" y="96133"/>
                </a:lnTo>
                <a:lnTo>
                  <a:pt x="2041602" y="48203"/>
                </a:lnTo>
                <a:lnTo>
                  <a:pt x="2042159" y="0"/>
                </a:lnTo>
              </a:path>
            </a:pathLst>
          </a:custGeom>
          <a:ln w="127000">
            <a:solidFill>
              <a:srgbClr val="8063A1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526660" y="604265"/>
            <a:ext cx="6434455" cy="171767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355600" marR="5080" indent="-342900">
              <a:lnSpc>
                <a:spcPts val="3240"/>
              </a:lnSpc>
              <a:spcBef>
                <a:spcPts val="5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000">
                <a:latin typeface="Calibri"/>
                <a:cs typeface="Calibri"/>
              </a:rPr>
              <a:t>This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is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simple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JOIN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which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result </a:t>
            </a:r>
            <a:r>
              <a:rPr dirty="0" sz="3000">
                <a:latin typeface="Calibri"/>
                <a:cs typeface="Calibri"/>
              </a:rPr>
              <a:t>is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based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on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matched</a:t>
            </a:r>
            <a:r>
              <a:rPr dirty="0" sz="3000" spc="-9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data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as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per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the </a:t>
            </a:r>
            <a:r>
              <a:rPr dirty="0" sz="3000">
                <a:latin typeface="Calibri"/>
                <a:cs typeface="Calibri"/>
              </a:rPr>
              <a:t>equality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condition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specified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SQL </a:t>
            </a:r>
            <a:r>
              <a:rPr dirty="0" sz="3000" spc="-10">
                <a:latin typeface="Calibri"/>
                <a:cs typeface="Calibri"/>
              </a:rPr>
              <a:t>query.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526660" y="2844800"/>
            <a:ext cx="31616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000">
                <a:latin typeface="Calibri"/>
                <a:cs typeface="Calibri"/>
              </a:rPr>
              <a:t>Inner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Join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Syntax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 spc="-50">
                <a:latin typeface="Calibri"/>
                <a:cs typeface="Calibri"/>
              </a:rPr>
              <a:t>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526660" y="3850894"/>
            <a:ext cx="6736080" cy="171767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 marR="653415">
              <a:lnSpc>
                <a:spcPts val="3240"/>
              </a:lnSpc>
              <a:spcBef>
                <a:spcPts val="505"/>
              </a:spcBef>
              <a:tabLst>
                <a:tab pos="1856739" algn="l"/>
                <a:tab pos="2151380" algn="l"/>
                <a:tab pos="4104640" algn="l"/>
                <a:tab pos="4733290" algn="l"/>
              </a:tabLst>
            </a:pPr>
            <a:r>
              <a:rPr dirty="0" sz="3000" spc="-10">
                <a:latin typeface="Calibri"/>
                <a:cs typeface="Calibri"/>
              </a:rPr>
              <a:t>-</a:t>
            </a:r>
            <a:r>
              <a:rPr dirty="0" sz="3000">
                <a:latin typeface="Calibri"/>
                <a:cs typeface="Calibri"/>
              </a:rPr>
              <a:t>-</a:t>
            </a:r>
            <a:r>
              <a:rPr dirty="0" sz="3000" spc="-10">
                <a:latin typeface="Calibri"/>
                <a:cs typeface="Calibri"/>
              </a:rPr>
              <a:t>---SELECT</a:t>
            </a:r>
            <a:r>
              <a:rPr dirty="0" sz="3000">
                <a:latin typeface="Calibri"/>
                <a:cs typeface="Calibri"/>
              </a:rPr>
              <a:t>	</a:t>
            </a:r>
            <a:r>
              <a:rPr dirty="0" sz="3000" spc="-25">
                <a:latin typeface="Calibri"/>
                <a:cs typeface="Calibri"/>
              </a:rPr>
              <a:t>column-</a:t>
            </a:r>
            <a:r>
              <a:rPr dirty="0" sz="3000">
                <a:latin typeface="Calibri"/>
                <a:cs typeface="Calibri"/>
              </a:rPr>
              <a:t>name-</a:t>
            </a:r>
            <a:r>
              <a:rPr dirty="0" sz="3000" spc="-20">
                <a:latin typeface="Calibri"/>
                <a:cs typeface="Calibri"/>
              </a:rPr>
              <a:t>list</a:t>
            </a:r>
            <a:r>
              <a:rPr dirty="0" sz="3000">
                <a:latin typeface="Calibri"/>
                <a:cs typeface="Calibri"/>
              </a:rPr>
              <a:t>	</a:t>
            </a:r>
            <a:r>
              <a:rPr dirty="0" sz="3000" spc="-20">
                <a:latin typeface="Calibri"/>
                <a:cs typeface="Calibri"/>
              </a:rPr>
              <a:t>FROM </a:t>
            </a:r>
            <a:r>
              <a:rPr dirty="0" sz="3000" spc="-10">
                <a:latin typeface="Calibri"/>
                <a:cs typeface="Calibri"/>
              </a:rPr>
              <a:t>table-name1</a:t>
            </a:r>
            <a:r>
              <a:rPr dirty="0" sz="3000">
                <a:latin typeface="Calibri"/>
                <a:cs typeface="Calibri"/>
              </a:rPr>
              <a:t>	INNER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JOIN</a:t>
            </a:r>
            <a:r>
              <a:rPr dirty="0" sz="3000">
                <a:latin typeface="Calibri"/>
                <a:cs typeface="Calibri"/>
              </a:rPr>
              <a:t>	</a:t>
            </a:r>
            <a:r>
              <a:rPr dirty="0" sz="3000" spc="-10">
                <a:latin typeface="Calibri"/>
                <a:cs typeface="Calibri"/>
              </a:rPr>
              <a:t>table-name2</a:t>
            </a:r>
            <a:endParaRPr sz="3000">
              <a:latin typeface="Calibri"/>
              <a:cs typeface="Calibri"/>
            </a:endParaRPr>
          </a:p>
          <a:p>
            <a:pPr marL="12700" marR="5080">
              <a:lnSpc>
                <a:spcPts val="3240"/>
              </a:lnSpc>
            </a:pPr>
            <a:r>
              <a:rPr dirty="0" sz="3000">
                <a:latin typeface="Calibri"/>
                <a:cs typeface="Calibri"/>
              </a:rPr>
              <a:t>WHERE</a:t>
            </a:r>
            <a:r>
              <a:rPr dirty="0" sz="3000" spc="-10">
                <a:latin typeface="Calibri"/>
                <a:cs typeface="Calibri"/>
              </a:rPr>
              <a:t> table-</a:t>
            </a:r>
            <a:r>
              <a:rPr dirty="0" sz="3000" spc="-25">
                <a:latin typeface="Calibri"/>
                <a:cs typeface="Calibri"/>
              </a:rPr>
              <a:t>name1.column-</a:t>
            </a:r>
            <a:r>
              <a:rPr dirty="0" sz="3000">
                <a:latin typeface="Calibri"/>
                <a:cs typeface="Calibri"/>
              </a:rPr>
              <a:t>name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=</a:t>
            </a:r>
            <a:r>
              <a:rPr dirty="0" sz="3000" spc="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table- name2.column-name;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4166616" y="0"/>
                </a:moveTo>
                <a:lnTo>
                  <a:pt x="0" y="0"/>
                </a:lnTo>
                <a:lnTo>
                  <a:pt x="0" y="6858000"/>
                </a:lnTo>
                <a:lnTo>
                  <a:pt x="4166616" y="6858000"/>
                </a:lnTo>
                <a:lnTo>
                  <a:pt x="4166616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66012" y="2329688"/>
            <a:ext cx="2640330" cy="1367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51435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r>
              <a:rPr dirty="0" sz="44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400" spc="-25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4400">
                <a:solidFill>
                  <a:srgbClr val="FFFFFF"/>
                </a:solidFill>
                <a:latin typeface="Calibri"/>
                <a:cs typeface="Calibri"/>
              </a:rPr>
              <a:t>INNER</a:t>
            </a:r>
            <a:r>
              <a:rPr dirty="0" sz="4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400" spc="-20">
                <a:solidFill>
                  <a:srgbClr val="FFFFFF"/>
                </a:solidFill>
                <a:latin typeface="Calibri"/>
                <a:cs typeface="Calibri"/>
              </a:rPr>
              <a:t>JOIN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592818" y="4498085"/>
            <a:ext cx="2042160" cy="2042160"/>
          </a:xfrm>
          <a:custGeom>
            <a:avLst/>
            <a:gdLst/>
            <a:ahLst/>
            <a:cxnLst/>
            <a:rect l="l" t="t" r="r" b="b"/>
            <a:pathLst>
              <a:path w="2042159" h="2042159">
                <a:moveTo>
                  <a:pt x="0" y="2042159"/>
                </a:moveTo>
                <a:lnTo>
                  <a:pt x="48205" y="2041602"/>
                </a:lnTo>
                <a:lnTo>
                  <a:pt x="96136" y="2039937"/>
                </a:lnTo>
                <a:lnTo>
                  <a:pt x="143781" y="2037177"/>
                </a:lnTo>
                <a:lnTo>
                  <a:pt x="191128" y="2033334"/>
                </a:lnTo>
                <a:lnTo>
                  <a:pt x="238165" y="2028420"/>
                </a:lnTo>
                <a:lnTo>
                  <a:pt x="284878" y="2022449"/>
                </a:lnTo>
                <a:lnTo>
                  <a:pt x="331257" y="2015431"/>
                </a:lnTo>
                <a:lnTo>
                  <a:pt x="377288" y="2007379"/>
                </a:lnTo>
                <a:lnTo>
                  <a:pt x="422959" y="1998307"/>
                </a:lnTo>
                <a:lnTo>
                  <a:pt x="468258" y="1988224"/>
                </a:lnTo>
                <a:lnTo>
                  <a:pt x="513174" y="1977145"/>
                </a:lnTo>
                <a:lnTo>
                  <a:pt x="557693" y="1965081"/>
                </a:lnTo>
                <a:lnTo>
                  <a:pt x="601803" y="1952045"/>
                </a:lnTo>
                <a:lnTo>
                  <a:pt x="645493" y="1938048"/>
                </a:lnTo>
                <a:lnTo>
                  <a:pt x="688749" y="1923104"/>
                </a:lnTo>
                <a:lnTo>
                  <a:pt x="731560" y="1907224"/>
                </a:lnTo>
                <a:lnTo>
                  <a:pt x="773913" y="1890420"/>
                </a:lnTo>
                <a:lnTo>
                  <a:pt x="815796" y="1872705"/>
                </a:lnTo>
                <a:lnTo>
                  <a:pt x="857198" y="1854092"/>
                </a:lnTo>
                <a:lnTo>
                  <a:pt x="898104" y="1834591"/>
                </a:lnTo>
                <a:lnTo>
                  <a:pt x="938504" y="1814216"/>
                </a:lnTo>
                <a:lnTo>
                  <a:pt x="978385" y="1792979"/>
                </a:lnTo>
                <a:lnTo>
                  <a:pt x="1017735" y="1770893"/>
                </a:lnTo>
                <a:lnTo>
                  <a:pt x="1056541" y="1747968"/>
                </a:lnTo>
                <a:lnTo>
                  <a:pt x="1094792" y="1724219"/>
                </a:lnTo>
                <a:lnTo>
                  <a:pt x="1132475" y="1699656"/>
                </a:lnTo>
                <a:lnTo>
                  <a:pt x="1169577" y="1674292"/>
                </a:lnTo>
                <a:lnTo>
                  <a:pt x="1206087" y="1648140"/>
                </a:lnTo>
                <a:lnTo>
                  <a:pt x="1241992" y="1621211"/>
                </a:lnTo>
                <a:lnTo>
                  <a:pt x="1277280" y="1593518"/>
                </a:lnTo>
                <a:lnTo>
                  <a:pt x="1311939" y="1565074"/>
                </a:lnTo>
                <a:lnTo>
                  <a:pt x="1345957" y="1535890"/>
                </a:lnTo>
                <a:lnTo>
                  <a:pt x="1379320" y="1505978"/>
                </a:lnTo>
                <a:lnTo>
                  <a:pt x="1412018" y="1475352"/>
                </a:lnTo>
                <a:lnTo>
                  <a:pt x="1444037" y="1444023"/>
                </a:lnTo>
                <a:lnTo>
                  <a:pt x="1475366" y="1412003"/>
                </a:lnTo>
                <a:lnTo>
                  <a:pt x="1505992" y="1379305"/>
                </a:lnTo>
                <a:lnTo>
                  <a:pt x="1535903" y="1345941"/>
                </a:lnTo>
                <a:lnTo>
                  <a:pt x="1565086" y="1311924"/>
                </a:lnTo>
                <a:lnTo>
                  <a:pt x="1593530" y="1277264"/>
                </a:lnTo>
                <a:lnTo>
                  <a:pt x="1621223" y="1241976"/>
                </a:lnTo>
                <a:lnTo>
                  <a:pt x="1648151" y="1206071"/>
                </a:lnTo>
                <a:lnTo>
                  <a:pt x="1674302" y="1169560"/>
                </a:lnTo>
                <a:lnTo>
                  <a:pt x="1699666" y="1132458"/>
                </a:lnTo>
                <a:lnTo>
                  <a:pt x="1724228" y="1094775"/>
                </a:lnTo>
                <a:lnTo>
                  <a:pt x="1747977" y="1056524"/>
                </a:lnTo>
                <a:lnTo>
                  <a:pt x="1770901" y="1017718"/>
                </a:lnTo>
                <a:lnTo>
                  <a:pt x="1792987" y="978368"/>
                </a:lnTo>
                <a:lnTo>
                  <a:pt x="1814224" y="938487"/>
                </a:lnTo>
                <a:lnTo>
                  <a:pt x="1834598" y="898088"/>
                </a:lnTo>
                <a:lnTo>
                  <a:pt x="1854098" y="857181"/>
                </a:lnTo>
                <a:lnTo>
                  <a:pt x="1872711" y="815780"/>
                </a:lnTo>
                <a:lnTo>
                  <a:pt x="1890425" y="773897"/>
                </a:lnTo>
                <a:lnTo>
                  <a:pt x="1907228" y="731544"/>
                </a:lnTo>
                <a:lnTo>
                  <a:pt x="1923108" y="688734"/>
                </a:lnTo>
                <a:lnTo>
                  <a:pt x="1938052" y="645478"/>
                </a:lnTo>
                <a:lnTo>
                  <a:pt x="1952048" y="601789"/>
                </a:lnTo>
                <a:lnTo>
                  <a:pt x="1965084" y="557679"/>
                </a:lnTo>
                <a:lnTo>
                  <a:pt x="1977148" y="513161"/>
                </a:lnTo>
                <a:lnTo>
                  <a:pt x="1988226" y="468247"/>
                </a:lnTo>
                <a:lnTo>
                  <a:pt x="1998308" y="422948"/>
                </a:lnTo>
                <a:lnTo>
                  <a:pt x="2007381" y="377277"/>
                </a:lnTo>
                <a:lnTo>
                  <a:pt x="2015432" y="331247"/>
                </a:lnTo>
                <a:lnTo>
                  <a:pt x="2022449" y="284870"/>
                </a:lnTo>
                <a:lnTo>
                  <a:pt x="2028421" y="238158"/>
                </a:lnTo>
                <a:lnTo>
                  <a:pt x="2033334" y="191122"/>
                </a:lnTo>
                <a:lnTo>
                  <a:pt x="2037177" y="143777"/>
                </a:lnTo>
                <a:lnTo>
                  <a:pt x="2039937" y="96133"/>
                </a:lnTo>
                <a:lnTo>
                  <a:pt x="2041602" y="48203"/>
                </a:lnTo>
                <a:lnTo>
                  <a:pt x="2042159" y="0"/>
                </a:lnTo>
              </a:path>
            </a:pathLst>
          </a:custGeom>
          <a:ln w="127000">
            <a:solidFill>
              <a:srgbClr val="8063A1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526660" y="404241"/>
            <a:ext cx="245491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Calibri"/>
                <a:cs typeface="Calibri"/>
              </a:rPr>
              <a:t>Consider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class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table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526660" y="1108100"/>
            <a:ext cx="1655445" cy="187007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2200" spc="-25">
                <a:latin typeface="Calibri"/>
                <a:cs typeface="Calibri"/>
              </a:rPr>
              <a:t>ID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20">
                <a:latin typeface="Calibri"/>
                <a:cs typeface="Calibri"/>
              </a:rPr>
              <a:t>NAME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2200" spc="-50">
                <a:latin typeface="Calibri"/>
                <a:cs typeface="Calibri"/>
              </a:rPr>
              <a:t>1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20">
                <a:latin typeface="Calibri"/>
                <a:cs typeface="Calibri"/>
              </a:rPr>
              <a:t>abhi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2200" spc="-50">
                <a:latin typeface="Calibri"/>
                <a:cs typeface="Calibri"/>
              </a:rPr>
              <a:t>2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20">
                <a:latin typeface="Calibri"/>
                <a:cs typeface="Calibri"/>
              </a:rPr>
              <a:t>adam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2200" spc="-50">
                <a:latin typeface="Calibri"/>
                <a:cs typeface="Calibri"/>
              </a:rPr>
              <a:t>3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20">
                <a:latin typeface="Calibri"/>
                <a:cs typeface="Calibri"/>
              </a:rPr>
              <a:t>alex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2200" spc="-50">
                <a:latin typeface="Calibri"/>
                <a:cs typeface="Calibri"/>
              </a:rPr>
              <a:t>4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25">
                <a:latin typeface="Calibri"/>
                <a:cs typeface="Calibri"/>
              </a:rPr>
              <a:t>anu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526660" y="3355340"/>
            <a:ext cx="183515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48410" algn="l"/>
              </a:tabLst>
            </a:pPr>
            <a:r>
              <a:rPr dirty="0" sz="2200" spc="-10">
                <a:latin typeface="Calibri"/>
                <a:cs typeface="Calibri"/>
              </a:rPr>
              <a:t>class_info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10">
                <a:latin typeface="Calibri"/>
                <a:cs typeface="Calibri"/>
              </a:rPr>
              <a:t>table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526660" y="4059072"/>
            <a:ext cx="1990725" cy="150114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2200" spc="-25">
                <a:latin typeface="Calibri"/>
                <a:cs typeface="Calibri"/>
              </a:rPr>
              <a:t>ID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10">
                <a:latin typeface="Calibri"/>
                <a:cs typeface="Calibri"/>
              </a:rPr>
              <a:t>Address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2200" spc="-50">
                <a:latin typeface="Calibri"/>
                <a:cs typeface="Calibri"/>
              </a:rPr>
              <a:t>1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10">
                <a:latin typeface="Calibri"/>
                <a:cs typeface="Calibri"/>
              </a:rPr>
              <a:t>DELHI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2200" spc="-50">
                <a:latin typeface="Calibri"/>
                <a:cs typeface="Calibri"/>
              </a:rPr>
              <a:t>2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10">
                <a:latin typeface="Calibri"/>
                <a:cs typeface="Calibri"/>
              </a:rPr>
              <a:t>MUMBAI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2200" spc="-50">
                <a:latin typeface="Calibri"/>
                <a:cs typeface="Calibri"/>
              </a:rPr>
              <a:t>3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10">
                <a:latin typeface="Calibri"/>
                <a:cs typeface="Calibri"/>
              </a:rPr>
              <a:t>CHENNAI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4166616" y="0"/>
                </a:moveTo>
                <a:lnTo>
                  <a:pt x="0" y="0"/>
                </a:lnTo>
                <a:lnTo>
                  <a:pt x="0" y="6858000"/>
                </a:lnTo>
                <a:lnTo>
                  <a:pt x="4166616" y="6858000"/>
                </a:lnTo>
                <a:lnTo>
                  <a:pt x="4166616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084884" y="2329688"/>
            <a:ext cx="2406650" cy="1367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42925" marR="5080" indent="-53086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FFFFFF"/>
                </a:solidFill>
                <a:latin typeface="Calibri"/>
                <a:cs typeface="Calibri"/>
              </a:rPr>
              <a:t>Inner </a:t>
            </a:r>
            <a:r>
              <a:rPr dirty="0" sz="4400" spc="-20">
                <a:solidFill>
                  <a:srgbClr val="FFFFFF"/>
                </a:solidFill>
                <a:latin typeface="Calibri"/>
                <a:cs typeface="Calibri"/>
              </a:rPr>
              <a:t>JOIN </a:t>
            </a:r>
            <a:r>
              <a:rPr dirty="0" sz="4400" spc="-1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592818" y="4498085"/>
            <a:ext cx="2042160" cy="2042160"/>
          </a:xfrm>
          <a:custGeom>
            <a:avLst/>
            <a:gdLst/>
            <a:ahLst/>
            <a:cxnLst/>
            <a:rect l="l" t="t" r="r" b="b"/>
            <a:pathLst>
              <a:path w="2042159" h="2042159">
                <a:moveTo>
                  <a:pt x="0" y="2042159"/>
                </a:moveTo>
                <a:lnTo>
                  <a:pt x="48205" y="2041602"/>
                </a:lnTo>
                <a:lnTo>
                  <a:pt x="96136" y="2039937"/>
                </a:lnTo>
                <a:lnTo>
                  <a:pt x="143781" y="2037177"/>
                </a:lnTo>
                <a:lnTo>
                  <a:pt x="191128" y="2033334"/>
                </a:lnTo>
                <a:lnTo>
                  <a:pt x="238165" y="2028420"/>
                </a:lnTo>
                <a:lnTo>
                  <a:pt x="284878" y="2022449"/>
                </a:lnTo>
                <a:lnTo>
                  <a:pt x="331257" y="2015431"/>
                </a:lnTo>
                <a:lnTo>
                  <a:pt x="377288" y="2007379"/>
                </a:lnTo>
                <a:lnTo>
                  <a:pt x="422959" y="1998307"/>
                </a:lnTo>
                <a:lnTo>
                  <a:pt x="468258" y="1988224"/>
                </a:lnTo>
                <a:lnTo>
                  <a:pt x="513174" y="1977145"/>
                </a:lnTo>
                <a:lnTo>
                  <a:pt x="557693" y="1965081"/>
                </a:lnTo>
                <a:lnTo>
                  <a:pt x="601803" y="1952045"/>
                </a:lnTo>
                <a:lnTo>
                  <a:pt x="645493" y="1938048"/>
                </a:lnTo>
                <a:lnTo>
                  <a:pt x="688749" y="1923104"/>
                </a:lnTo>
                <a:lnTo>
                  <a:pt x="731560" y="1907224"/>
                </a:lnTo>
                <a:lnTo>
                  <a:pt x="773913" y="1890420"/>
                </a:lnTo>
                <a:lnTo>
                  <a:pt x="815796" y="1872705"/>
                </a:lnTo>
                <a:lnTo>
                  <a:pt x="857198" y="1854092"/>
                </a:lnTo>
                <a:lnTo>
                  <a:pt x="898104" y="1834591"/>
                </a:lnTo>
                <a:lnTo>
                  <a:pt x="938504" y="1814216"/>
                </a:lnTo>
                <a:lnTo>
                  <a:pt x="978385" y="1792979"/>
                </a:lnTo>
                <a:lnTo>
                  <a:pt x="1017735" y="1770893"/>
                </a:lnTo>
                <a:lnTo>
                  <a:pt x="1056541" y="1747968"/>
                </a:lnTo>
                <a:lnTo>
                  <a:pt x="1094792" y="1724219"/>
                </a:lnTo>
                <a:lnTo>
                  <a:pt x="1132475" y="1699656"/>
                </a:lnTo>
                <a:lnTo>
                  <a:pt x="1169577" y="1674292"/>
                </a:lnTo>
                <a:lnTo>
                  <a:pt x="1206087" y="1648140"/>
                </a:lnTo>
                <a:lnTo>
                  <a:pt x="1241992" y="1621211"/>
                </a:lnTo>
                <a:lnTo>
                  <a:pt x="1277280" y="1593518"/>
                </a:lnTo>
                <a:lnTo>
                  <a:pt x="1311939" y="1565074"/>
                </a:lnTo>
                <a:lnTo>
                  <a:pt x="1345957" y="1535890"/>
                </a:lnTo>
                <a:lnTo>
                  <a:pt x="1379320" y="1505978"/>
                </a:lnTo>
                <a:lnTo>
                  <a:pt x="1412018" y="1475352"/>
                </a:lnTo>
                <a:lnTo>
                  <a:pt x="1444037" y="1444023"/>
                </a:lnTo>
                <a:lnTo>
                  <a:pt x="1475366" y="1412003"/>
                </a:lnTo>
                <a:lnTo>
                  <a:pt x="1505992" y="1379305"/>
                </a:lnTo>
                <a:lnTo>
                  <a:pt x="1535903" y="1345941"/>
                </a:lnTo>
                <a:lnTo>
                  <a:pt x="1565086" y="1311924"/>
                </a:lnTo>
                <a:lnTo>
                  <a:pt x="1593530" y="1277264"/>
                </a:lnTo>
                <a:lnTo>
                  <a:pt x="1621223" y="1241976"/>
                </a:lnTo>
                <a:lnTo>
                  <a:pt x="1648151" y="1206071"/>
                </a:lnTo>
                <a:lnTo>
                  <a:pt x="1674302" y="1169560"/>
                </a:lnTo>
                <a:lnTo>
                  <a:pt x="1699666" y="1132458"/>
                </a:lnTo>
                <a:lnTo>
                  <a:pt x="1724228" y="1094775"/>
                </a:lnTo>
                <a:lnTo>
                  <a:pt x="1747977" y="1056524"/>
                </a:lnTo>
                <a:lnTo>
                  <a:pt x="1770901" y="1017718"/>
                </a:lnTo>
                <a:lnTo>
                  <a:pt x="1792987" y="978368"/>
                </a:lnTo>
                <a:lnTo>
                  <a:pt x="1814224" y="938487"/>
                </a:lnTo>
                <a:lnTo>
                  <a:pt x="1834598" y="898088"/>
                </a:lnTo>
                <a:lnTo>
                  <a:pt x="1854098" y="857181"/>
                </a:lnTo>
                <a:lnTo>
                  <a:pt x="1872711" y="815780"/>
                </a:lnTo>
                <a:lnTo>
                  <a:pt x="1890425" y="773897"/>
                </a:lnTo>
                <a:lnTo>
                  <a:pt x="1907228" y="731544"/>
                </a:lnTo>
                <a:lnTo>
                  <a:pt x="1923108" y="688734"/>
                </a:lnTo>
                <a:lnTo>
                  <a:pt x="1938052" y="645478"/>
                </a:lnTo>
                <a:lnTo>
                  <a:pt x="1952048" y="601789"/>
                </a:lnTo>
                <a:lnTo>
                  <a:pt x="1965084" y="557679"/>
                </a:lnTo>
                <a:lnTo>
                  <a:pt x="1977148" y="513161"/>
                </a:lnTo>
                <a:lnTo>
                  <a:pt x="1988226" y="468247"/>
                </a:lnTo>
                <a:lnTo>
                  <a:pt x="1998308" y="422948"/>
                </a:lnTo>
                <a:lnTo>
                  <a:pt x="2007381" y="377277"/>
                </a:lnTo>
                <a:lnTo>
                  <a:pt x="2015432" y="331247"/>
                </a:lnTo>
                <a:lnTo>
                  <a:pt x="2022449" y="284870"/>
                </a:lnTo>
                <a:lnTo>
                  <a:pt x="2028421" y="238158"/>
                </a:lnTo>
                <a:lnTo>
                  <a:pt x="2033334" y="191122"/>
                </a:lnTo>
                <a:lnTo>
                  <a:pt x="2037177" y="143777"/>
                </a:lnTo>
                <a:lnTo>
                  <a:pt x="2039937" y="96133"/>
                </a:lnTo>
                <a:lnTo>
                  <a:pt x="2041602" y="48203"/>
                </a:lnTo>
                <a:lnTo>
                  <a:pt x="2042159" y="0"/>
                </a:lnTo>
              </a:path>
            </a:pathLst>
          </a:custGeom>
          <a:ln w="127000">
            <a:solidFill>
              <a:srgbClr val="8063A1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26660" y="566165"/>
            <a:ext cx="5493385" cy="148907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--SELECT</a:t>
            </a:r>
            <a:r>
              <a:rPr dirty="0" sz="3200" spc="-55"/>
              <a:t> </a:t>
            </a:r>
            <a:r>
              <a:rPr dirty="0" sz="3200"/>
              <a:t>*</a:t>
            </a:r>
            <a:r>
              <a:rPr dirty="0" sz="3200" spc="-60"/>
              <a:t> </a:t>
            </a:r>
            <a:r>
              <a:rPr dirty="0" sz="3200"/>
              <a:t>from</a:t>
            </a:r>
            <a:r>
              <a:rPr dirty="0" sz="3200" spc="-60"/>
              <a:t> </a:t>
            </a:r>
            <a:r>
              <a:rPr dirty="0" sz="3200"/>
              <a:t>class</a:t>
            </a:r>
            <a:r>
              <a:rPr dirty="0" sz="3200" spc="-60"/>
              <a:t> </a:t>
            </a:r>
            <a:r>
              <a:rPr dirty="0" sz="3200"/>
              <a:t>INNER</a:t>
            </a:r>
            <a:r>
              <a:rPr dirty="0" sz="3200" spc="-65"/>
              <a:t> </a:t>
            </a:r>
            <a:r>
              <a:rPr dirty="0" sz="3200" spc="-20"/>
              <a:t>JOIN </a:t>
            </a:r>
            <a:r>
              <a:rPr dirty="0" sz="3200"/>
              <a:t>class_info</a:t>
            </a:r>
            <a:r>
              <a:rPr dirty="0" sz="3200" spc="-70"/>
              <a:t> </a:t>
            </a:r>
            <a:r>
              <a:rPr dirty="0" sz="3200"/>
              <a:t>where</a:t>
            </a:r>
            <a:r>
              <a:rPr dirty="0" sz="3200" spc="-130"/>
              <a:t> </a:t>
            </a:r>
            <a:r>
              <a:rPr dirty="0" sz="3200"/>
              <a:t>class.id</a:t>
            </a:r>
            <a:r>
              <a:rPr dirty="0" sz="3200" spc="-90"/>
              <a:t> </a:t>
            </a:r>
            <a:r>
              <a:rPr dirty="0" sz="3200" spc="-50"/>
              <a:t>= </a:t>
            </a:r>
            <a:r>
              <a:rPr dirty="0" sz="3200" spc="-10"/>
              <a:t>class_info.id;</a:t>
            </a:r>
            <a:endParaRPr sz="3200"/>
          </a:p>
        </p:txBody>
      </p:sp>
      <p:sp>
        <p:nvSpPr>
          <p:cNvPr id="6" name="object 6" descr=""/>
          <p:cNvSpPr txBox="1"/>
          <p:nvPr/>
        </p:nvSpPr>
        <p:spPr>
          <a:xfrm>
            <a:off x="4526660" y="2712212"/>
            <a:ext cx="565594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resultset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table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will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look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like,</a:t>
            </a:r>
            <a:endParaRPr sz="3200">
              <a:latin typeface="Calibri"/>
              <a:cs typeface="Calibri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4783454" y="3411626"/>
          <a:ext cx="5051425" cy="2161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050"/>
                <a:gridCol w="1579880"/>
                <a:gridCol w="1026159"/>
                <a:gridCol w="1842769"/>
              </a:tblGrid>
              <a:tr h="495934">
                <a:tc>
                  <a:txBody>
                    <a:bodyPr/>
                    <a:lstStyle/>
                    <a:p>
                      <a:pPr marL="31750">
                        <a:lnSpc>
                          <a:spcPts val="3045"/>
                        </a:lnSpc>
                      </a:pPr>
                      <a:r>
                        <a:rPr dirty="0" sz="3200" spc="-25">
                          <a:latin typeface="Calibri"/>
                          <a:cs typeface="Calibri"/>
                        </a:rPr>
                        <a:t>ID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ts val="3045"/>
                        </a:lnSpc>
                      </a:pPr>
                      <a:r>
                        <a:rPr dirty="0" sz="3200" spc="-20">
                          <a:latin typeface="Calibri"/>
                          <a:cs typeface="Calibri"/>
                        </a:rPr>
                        <a:t>NAME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11125">
                        <a:lnSpc>
                          <a:spcPts val="3045"/>
                        </a:lnSpc>
                      </a:pPr>
                      <a:r>
                        <a:rPr dirty="0" sz="3200" spc="-25">
                          <a:latin typeface="Calibri"/>
                          <a:cs typeface="Calibri"/>
                        </a:rPr>
                        <a:t>ID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3045"/>
                        </a:lnSpc>
                      </a:pPr>
                      <a:r>
                        <a:rPr dirty="0" sz="3200" spc="-10">
                          <a:latin typeface="Calibri"/>
                          <a:cs typeface="Calibri"/>
                        </a:rPr>
                        <a:t>Address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584835">
                <a:tc>
                  <a:txBody>
                    <a:bodyPr/>
                    <a:lstStyle/>
                    <a:p>
                      <a:pPr marL="31750">
                        <a:lnSpc>
                          <a:spcPts val="3745"/>
                        </a:lnSpc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1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ts val="3745"/>
                        </a:lnSpc>
                      </a:pPr>
                      <a:r>
                        <a:rPr dirty="0" sz="3200" spc="-20">
                          <a:latin typeface="Calibri"/>
                          <a:cs typeface="Calibri"/>
                        </a:rPr>
                        <a:t>abhi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63830">
                        <a:lnSpc>
                          <a:spcPts val="3745"/>
                        </a:lnSpc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1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3745"/>
                        </a:lnSpc>
                      </a:pPr>
                      <a:r>
                        <a:rPr dirty="0" sz="3200" spc="-10">
                          <a:latin typeface="Calibri"/>
                          <a:cs typeface="Calibri"/>
                        </a:rPr>
                        <a:t>DELHI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584835">
                <a:tc>
                  <a:txBody>
                    <a:bodyPr/>
                    <a:lstStyle/>
                    <a:p>
                      <a:pPr marL="31750">
                        <a:lnSpc>
                          <a:spcPts val="3745"/>
                        </a:lnSpc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2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ts val="3745"/>
                        </a:lnSpc>
                      </a:pPr>
                      <a:r>
                        <a:rPr dirty="0" sz="3200" spc="-20">
                          <a:latin typeface="Calibri"/>
                          <a:cs typeface="Calibri"/>
                        </a:rPr>
                        <a:t>adam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48590">
                        <a:lnSpc>
                          <a:spcPts val="3745"/>
                        </a:lnSpc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2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3745"/>
                        </a:lnSpc>
                      </a:pPr>
                      <a:r>
                        <a:rPr dirty="0" sz="3200" spc="-10">
                          <a:latin typeface="Calibri"/>
                          <a:cs typeface="Calibri"/>
                        </a:rPr>
                        <a:t>MUMBAI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495934">
                <a:tc>
                  <a:txBody>
                    <a:bodyPr/>
                    <a:lstStyle/>
                    <a:p>
                      <a:pPr marL="31750">
                        <a:lnSpc>
                          <a:spcPts val="3745"/>
                        </a:lnSpc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3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ts val="3745"/>
                        </a:lnSpc>
                      </a:pPr>
                      <a:r>
                        <a:rPr dirty="0" sz="3200" spc="-20">
                          <a:latin typeface="Calibri"/>
                          <a:cs typeface="Calibri"/>
                        </a:rPr>
                        <a:t>alex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48590">
                        <a:lnSpc>
                          <a:spcPts val="3745"/>
                        </a:lnSpc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3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3745"/>
                        </a:lnSpc>
                      </a:pPr>
                      <a:r>
                        <a:rPr dirty="0" sz="3200" spc="-10">
                          <a:latin typeface="Calibri"/>
                          <a:cs typeface="Calibri"/>
                        </a:rPr>
                        <a:t>CHENNAI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40663" y="1010411"/>
            <a:ext cx="4369435" cy="4371340"/>
          </a:xfrm>
          <a:custGeom>
            <a:avLst/>
            <a:gdLst/>
            <a:ahLst/>
            <a:cxnLst/>
            <a:rect l="l" t="t" r="r" b="b"/>
            <a:pathLst>
              <a:path w="4369435" h="4371340">
                <a:moveTo>
                  <a:pt x="4248785" y="0"/>
                </a:moveTo>
                <a:lnTo>
                  <a:pt x="120459" y="0"/>
                </a:lnTo>
                <a:lnTo>
                  <a:pt x="73573" y="9473"/>
                </a:lnTo>
                <a:lnTo>
                  <a:pt x="35283" y="35305"/>
                </a:lnTo>
                <a:lnTo>
                  <a:pt x="9467" y="73616"/>
                </a:lnTo>
                <a:lnTo>
                  <a:pt x="0" y="120523"/>
                </a:lnTo>
                <a:lnTo>
                  <a:pt x="0" y="4250309"/>
                </a:lnTo>
                <a:lnTo>
                  <a:pt x="9467" y="4297215"/>
                </a:lnTo>
                <a:lnTo>
                  <a:pt x="35283" y="4335526"/>
                </a:lnTo>
                <a:lnTo>
                  <a:pt x="73573" y="4361358"/>
                </a:lnTo>
                <a:lnTo>
                  <a:pt x="120459" y="4370832"/>
                </a:lnTo>
                <a:lnTo>
                  <a:pt x="4248785" y="4370832"/>
                </a:lnTo>
                <a:lnTo>
                  <a:pt x="4295691" y="4361358"/>
                </a:lnTo>
                <a:lnTo>
                  <a:pt x="4334002" y="4335526"/>
                </a:lnTo>
                <a:lnTo>
                  <a:pt x="4359834" y="4297215"/>
                </a:lnTo>
                <a:lnTo>
                  <a:pt x="4369308" y="4250309"/>
                </a:lnTo>
                <a:lnTo>
                  <a:pt x="4369308" y="120523"/>
                </a:lnTo>
                <a:lnTo>
                  <a:pt x="4359834" y="73616"/>
                </a:lnTo>
                <a:lnTo>
                  <a:pt x="4334002" y="35306"/>
                </a:lnTo>
                <a:lnTo>
                  <a:pt x="4295691" y="9473"/>
                </a:lnTo>
                <a:lnTo>
                  <a:pt x="4248785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1830" y="2476322"/>
            <a:ext cx="296799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1">
                <a:solidFill>
                  <a:srgbClr val="FFFFFF"/>
                </a:solidFill>
                <a:latin typeface="Calibri"/>
                <a:cs typeface="Calibri"/>
              </a:rPr>
              <a:t>Natural</a:t>
            </a:r>
            <a:r>
              <a:rPr dirty="0" spc="-1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pc="-20" b="1">
                <a:solidFill>
                  <a:srgbClr val="FFFFFF"/>
                </a:solidFill>
                <a:latin typeface="Calibri"/>
                <a:cs typeface="Calibri"/>
              </a:rPr>
              <a:t>JOIN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530351" y="0"/>
            <a:ext cx="1155700" cy="591820"/>
          </a:xfrm>
          <a:custGeom>
            <a:avLst/>
            <a:gdLst/>
            <a:ahLst/>
            <a:cxnLst/>
            <a:rect l="l" t="t" r="r" b="b"/>
            <a:pathLst>
              <a:path w="1155700" h="591820">
                <a:moveTo>
                  <a:pt x="1153795" y="0"/>
                </a:moveTo>
                <a:lnTo>
                  <a:pt x="1358" y="0"/>
                </a:lnTo>
                <a:lnTo>
                  <a:pt x="0" y="13461"/>
                </a:lnTo>
                <a:lnTo>
                  <a:pt x="1914" y="60856"/>
                </a:lnTo>
                <a:lnTo>
                  <a:pt x="7559" y="107195"/>
                </a:lnTo>
                <a:lnTo>
                  <a:pt x="16786" y="152330"/>
                </a:lnTo>
                <a:lnTo>
                  <a:pt x="29446" y="196112"/>
                </a:lnTo>
                <a:lnTo>
                  <a:pt x="45390" y="238392"/>
                </a:lnTo>
                <a:lnTo>
                  <a:pt x="64470" y="279023"/>
                </a:lnTo>
                <a:lnTo>
                  <a:pt x="86536" y="317854"/>
                </a:lnTo>
                <a:lnTo>
                  <a:pt x="111442" y="354738"/>
                </a:lnTo>
                <a:lnTo>
                  <a:pt x="139037" y="389526"/>
                </a:lnTo>
                <a:lnTo>
                  <a:pt x="169173" y="422068"/>
                </a:lnTo>
                <a:lnTo>
                  <a:pt x="201702" y="452217"/>
                </a:lnTo>
                <a:lnTo>
                  <a:pt x="236474" y="479824"/>
                </a:lnTo>
                <a:lnTo>
                  <a:pt x="273342" y="504739"/>
                </a:lnTo>
                <a:lnTo>
                  <a:pt x="312156" y="526815"/>
                </a:lnTo>
                <a:lnTo>
                  <a:pt x="352769" y="545903"/>
                </a:lnTo>
                <a:lnTo>
                  <a:pt x="395030" y="561854"/>
                </a:lnTo>
                <a:lnTo>
                  <a:pt x="438792" y="574518"/>
                </a:lnTo>
                <a:lnTo>
                  <a:pt x="483906" y="583749"/>
                </a:lnTo>
                <a:lnTo>
                  <a:pt x="530223" y="589396"/>
                </a:lnTo>
                <a:lnTo>
                  <a:pt x="577596" y="591312"/>
                </a:lnTo>
                <a:lnTo>
                  <a:pt x="624971" y="589396"/>
                </a:lnTo>
                <a:lnTo>
                  <a:pt x="671291" y="583749"/>
                </a:lnTo>
                <a:lnTo>
                  <a:pt x="716407" y="574518"/>
                </a:lnTo>
                <a:lnTo>
                  <a:pt x="760171" y="561854"/>
                </a:lnTo>
                <a:lnTo>
                  <a:pt x="802433" y="545903"/>
                </a:lnTo>
                <a:lnTo>
                  <a:pt x="843046" y="526815"/>
                </a:lnTo>
                <a:lnTo>
                  <a:pt x="881860" y="504739"/>
                </a:lnTo>
                <a:lnTo>
                  <a:pt x="918728" y="479824"/>
                </a:lnTo>
                <a:lnTo>
                  <a:pt x="953500" y="452217"/>
                </a:lnTo>
                <a:lnTo>
                  <a:pt x="986028" y="422068"/>
                </a:lnTo>
                <a:lnTo>
                  <a:pt x="1016163" y="389526"/>
                </a:lnTo>
                <a:lnTo>
                  <a:pt x="1043757" y="354738"/>
                </a:lnTo>
                <a:lnTo>
                  <a:pt x="1068661" y="317854"/>
                </a:lnTo>
                <a:lnTo>
                  <a:pt x="1090726" y="279023"/>
                </a:lnTo>
                <a:lnTo>
                  <a:pt x="1109805" y="238392"/>
                </a:lnTo>
                <a:lnTo>
                  <a:pt x="1125748" y="196112"/>
                </a:lnTo>
                <a:lnTo>
                  <a:pt x="1138407" y="152330"/>
                </a:lnTo>
                <a:lnTo>
                  <a:pt x="1147632" y="107195"/>
                </a:lnTo>
                <a:lnTo>
                  <a:pt x="1153277" y="60856"/>
                </a:lnTo>
                <a:lnTo>
                  <a:pt x="1155192" y="13461"/>
                </a:lnTo>
                <a:lnTo>
                  <a:pt x="1153795" y="0"/>
                </a:lnTo>
                <a:close/>
              </a:path>
            </a:pathLst>
          </a:custGeom>
          <a:solidFill>
            <a:srgbClr val="4AAC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960876" y="0"/>
            <a:ext cx="1737360" cy="960119"/>
          </a:xfrm>
          <a:custGeom>
            <a:avLst/>
            <a:gdLst/>
            <a:ahLst/>
            <a:cxnLst/>
            <a:rect l="l" t="t" r="r" b="b"/>
            <a:pathLst>
              <a:path w="1737360" h="960119">
                <a:moveTo>
                  <a:pt x="1737360" y="0"/>
                </a:moveTo>
                <a:lnTo>
                  <a:pt x="1613535" y="0"/>
                </a:lnTo>
                <a:lnTo>
                  <a:pt x="1613535" y="790701"/>
                </a:lnTo>
                <a:lnTo>
                  <a:pt x="247269" y="0"/>
                </a:lnTo>
                <a:lnTo>
                  <a:pt x="0" y="0"/>
                </a:lnTo>
                <a:lnTo>
                  <a:pt x="1644523" y="951864"/>
                </a:lnTo>
                <a:lnTo>
                  <a:pt x="1651793" y="955458"/>
                </a:lnTo>
                <a:lnTo>
                  <a:pt x="1659445" y="958040"/>
                </a:lnTo>
                <a:lnTo>
                  <a:pt x="1667383" y="959598"/>
                </a:lnTo>
                <a:lnTo>
                  <a:pt x="1675511" y="960120"/>
                </a:lnTo>
                <a:lnTo>
                  <a:pt x="1699587" y="955258"/>
                </a:lnTo>
                <a:lnTo>
                  <a:pt x="1719246" y="941990"/>
                </a:lnTo>
                <a:lnTo>
                  <a:pt x="1732500" y="922293"/>
                </a:lnTo>
                <a:lnTo>
                  <a:pt x="1737360" y="898144"/>
                </a:lnTo>
                <a:lnTo>
                  <a:pt x="1737360" y="0"/>
                </a:lnTo>
                <a:close/>
              </a:path>
            </a:pathLst>
          </a:custGeom>
          <a:solidFill>
            <a:srgbClr val="F795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0" y="2936748"/>
            <a:ext cx="160020" cy="553720"/>
          </a:xfrm>
          <a:custGeom>
            <a:avLst/>
            <a:gdLst/>
            <a:ahLst/>
            <a:cxnLst/>
            <a:rect l="l" t="t" r="r" b="b"/>
            <a:pathLst>
              <a:path w="160020" h="553720">
                <a:moveTo>
                  <a:pt x="0" y="0"/>
                </a:moveTo>
                <a:lnTo>
                  <a:pt x="0" y="553212"/>
                </a:lnTo>
                <a:lnTo>
                  <a:pt x="17923" y="543560"/>
                </a:lnTo>
                <a:lnTo>
                  <a:pt x="58216" y="511394"/>
                </a:lnTo>
                <a:lnTo>
                  <a:pt x="92865" y="473305"/>
                </a:lnTo>
                <a:lnTo>
                  <a:pt x="121120" y="430037"/>
                </a:lnTo>
                <a:lnTo>
                  <a:pt x="142231" y="382335"/>
                </a:lnTo>
                <a:lnTo>
                  <a:pt x="155447" y="330943"/>
                </a:lnTo>
                <a:lnTo>
                  <a:pt x="160020" y="276605"/>
                </a:lnTo>
                <a:lnTo>
                  <a:pt x="155447" y="222268"/>
                </a:lnTo>
                <a:lnTo>
                  <a:pt x="142231" y="170876"/>
                </a:lnTo>
                <a:lnTo>
                  <a:pt x="121120" y="123174"/>
                </a:lnTo>
                <a:lnTo>
                  <a:pt x="92865" y="79906"/>
                </a:lnTo>
                <a:lnTo>
                  <a:pt x="58216" y="41817"/>
                </a:lnTo>
                <a:lnTo>
                  <a:pt x="17923" y="9651"/>
                </a:lnTo>
                <a:lnTo>
                  <a:pt x="0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175628" y="779526"/>
            <a:ext cx="5064125" cy="466026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355600" marR="99060" indent="-342900">
              <a:lnSpc>
                <a:spcPct val="90000"/>
              </a:lnSpc>
              <a:spcBef>
                <a:spcPts val="484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Natural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Join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type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of </a:t>
            </a:r>
            <a:r>
              <a:rPr dirty="0" sz="3200">
                <a:latin typeface="Calibri"/>
                <a:cs typeface="Calibri"/>
              </a:rPr>
              <a:t>Inner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join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which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based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on </a:t>
            </a:r>
            <a:r>
              <a:rPr dirty="0" sz="3200">
                <a:latin typeface="Calibri"/>
                <a:cs typeface="Calibri"/>
              </a:rPr>
              <a:t>column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having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same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name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same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datatype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present </a:t>
            </a:r>
            <a:r>
              <a:rPr dirty="0" sz="3200">
                <a:latin typeface="Calibri"/>
                <a:cs typeface="Calibri"/>
              </a:rPr>
              <a:t>in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both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tables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to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be </a:t>
            </a:r>
            <a:r>
              <a:rPr dirty="0" sz="3200" spc="-10">
                <a:latin typeface="Calibri"/>
                <a:cs typeface="Calibri"/>
              </a:rPr>
              <a:t>joined.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9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syntax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for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Natural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Join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spc="-5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marL="355600" marR="5080" indent="-342900">
              <a:lnSpc>
                <a:spcPct val="90000"/>
              </a:lnSpc>
              <a:spcBef>
                <a:spcPts val="76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SELECT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*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FROM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table- </a:t>
            </a:r>
            <a:r>
              <a:rPr dirty="0" sz="3200">
                <a:latin typeface="Calibri"/>
                <a:cs typeface="Calibri"/>
              </a:rPr>
              <a:t>name1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NATURAL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JOIN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table- name2;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0" y="5835396"/>
            <a:ext cx="1548765" cy="1022985"/>
          </a:xfrm>
          <a:custGeom>
            <a:avLst/>
            <a:gdLst/>
            <a:ahLst/>
            <a:cxnLst/>
            <a:rect l="l" t="t" r="r" b="b"/>
            <a:pathLst>
              <a:path w="1548765" h="1022984">
                <a:moveTo>
                  <a:pt x="1486408" y="0"/>
                </a:moveTo>
                <a:lnTo>
                  <a:pt x="0" y="0"/>
                </a:lnTo>
                <a:lnTo>
                  <a:pt x="0" y="123850"/>
                </a:lnTo>
                <a:lnTo>
                  <a:pt x="1424559" y="123850"/>
                </a:lnTo>
                <a:lnTo>
                  <a:pt x="1424559" y="1022603"/>
                </a:lnTo>
                <a:lnTo>
                  <a:pt x="1548384" y="1022603"/>
                </a:lnTo>
                <a:lnTo>
                  <a:pt x="1548384" y="61925"/>
                </a:lnTo>
                <a:lnTo>
                  <a:pt x="1543522" y="37820"/>
                </a:lnTo>
                <a:lnTo>
                  <a:pt x="1530254" y="18137"/>
                </a:lnTo>
                <a:lnTo>
                  <a:pt x="1510557" y="4866"/>
                </a:lnTo>
                <a:lnTo>
                  <a:pt x="1486408" y="0"/>
                </a:lnTo>
                <a:close/>
              </a:path>
            </a:pathLst>
          </a:custGeom>
          <a:solidFill>
            <a:srgbClr val="F7954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3418332" y="5718073"/>
            <a:ext cx="2280285" cy="1140460"/>
            <a:chOff x="3418332" y="5718073"/>
            <a:chExt cx="2280285" cy="1140460"/>
          </a:xfrm>
        </p:grpSpPr>
        <p:sp>
          <p:nvSpPr>
            <p:cNvPr id="10" name="object 10" descr=""/>
            <p:cNvSpPr/>
            <p:nvPr/>
          </p:nvSpPr>
          <p:spPr>
            <a:xfrm>
              <a:off x="3418332" y="5718073"/>
              <a:ext cx="1770380" cy="1140460"/>
            </a:xfrm>
            <a:custGeom>
              <a:avLst/>
              <a:gdLst/>
              <a:ahLst/>
              <a:cxnLst/>
              <a:rect l="l" t="t" r="r" b="b"/>
              <a:pathLst>
                <a:path w="1770379" h="1140459">
                  <a:moveTo>
                    <a:pt x="209803" y="762914"/>
                  </a:moveTo>
                  <a:lnTo>
                    <a:pt x="160333" y="778557"/>
                  </a:lnTo>
                  <a:lnTo>
                    <a:pt x="124253" y="835985"/>
                  </a:lnTo>
                  <a:lnTo>
                    <a:pt x="101377" y="879992"/>
                  </a:lnTo>
                  <a:lnTo>
                    <a:pt x="79882" y="924671"/>
                  </a:lnTo>
                  <a:lnTo>
                    <a:pt x="59816" y="969987"/>
                  </a:lnTo>
                  <a:lnTo>
                    <a:pt x="0" y="1139925"/>
                  </a:lnTo>
                  <a:lnTo>
                    <a:pt x="134365" y="1139925"/>
                  </a:lnTo>
                  <a:lnTo>
                    <a:pt x="176656" y="1019557"/>
                  </a:lnTo>
                  <a:lnTo>
                    <a:pt x="195131" y="977880"/>
                  </a:lnTo>
                  <a:lnTo>
                    <a:pt x="214915" y="936788"/>
                  </a:lnTo>
                  <a:lnTo>
                    <a:pt x="235985" y="896313"/>
                  </a:lnTo>
                  <a:lnTo>
                    <a:pt x="258317" y="856487"/>
                  </a:lnTo>
                  <a:lnTo>
                    <a:pt x="265763" y="832397"/>
                  </a:lnTo>
                  <a:lnTo>
                    <a:pt x="252317" y="786525"/>
                  </a:lnTo>
                  <a:lnTo>
                    <a:pt x="217677" y="763828"/>
                  </a:lnTo>
                  <a:lnTo>
                    <a:pt x="209803" y="762914"/>
                  </a:lnTo>
                  <a:close/>
                </a:path>
                <a:path w="1770379" h="1140459">
                  <a:moveTo>
                    <a:pt x="837818" y="161264"/>
                  </a:moveTo>
                  <a:lnTo>
                    <a:pt x="769458" y="190835"/>
                  </a:lnTo>
                  <a:lnTo>
                    <a:pt x="726229" y="215086"/>
                  </a:lnTo>
                  <a:lnTo>
                    <a:pt x="683780" y="240654"/>
                  </a:lnTo>
                  <a:lnTo>
                    <a:pt x="642143" y="267519"/>
                  </a:lnTo>
                  <a:lnTo>
                    <a:pt x="601352" y="295659"/>
                  </a:lnTo>
                  <a:lnTo>
                    <a:pt x="561439" y="325056"/>
                  </a:lnTo>
                  <a:lnTo>
                    <a:pt x="522436" y="355690"/>
                  </a:lnTo>
                  <a:lnTo>
                    <a:pt x="484377" y="387540"/>
                  </a:lnTo>
                  <a:lnTo>
                    <a:pt x="462533" y="430868"/>
                  </a:lnTo>
                  <a:lnTo>
                    <a:pt x="465375" y="455018"/>
                  </a:lnTo>
                  <a:lnTo>
                    <a:pt x="487670" y="486373"/>
                  </a:lnTo>
                  <a:lnTo>
                    <a:pt x="525906" y="499059"/>
                  </a:lnTo>
                  <a:lnTo>
                    <a:pt x="526288" y="499059"/>
                  </a:lnTo>
                  <a:lnTo>
                    <a:pt x="567689" y="484022"/>
                  </a:lnTo>
                  <a:lnTo>
                    <a:pt x="607781" y="450548"/>
                  </a:lnTo>
                  <a:lnTo>
                    <a:pt x="648999" y="418540"/>
                  </a:lnTo>
                  <a:lnTo>
                    <a:pt x="691303" y="388026"/>
                  </a:lnTo>
                  <a:lnTo>
                    <a:pt x="734654" y="359031"/>
                  </a:lnTo>
                  <a:lnTo>
                    <a:pt x="779011" y="331585"/>
                  </a:lnTo>
                  <a:lnTo>
                    <a:pt x="824335" y="305713"/>
                  </a:lnTo>
                  <a:lnTo>
                    <a:pt x="870584" y="281444"/>
                  </a:lnTo>
                  <a:lnTo>
                    <a:pt x="890438" y="265864"/>
                  </a:lnTo>
                  <a:lnTo>
                    <a:pt x="902350" y="244617"/>
                  </a:lnTo>
                  <a:lnTo>
                    <a:pt x="905428" y="220451"/>
                  </a:lnTo>
                  <a:lnTo>
                    <a:pt x="898778" y="196113"/>
                  </a:lnTo>
                  <a:lnTo>
                    <a:pt x="887735" y="180520"/>
                  </a:lnTo>
                  <a:lnTo>
                    <a:pt x="873109" y="169259"/>
                  </a:lnTo>
                  <a:lnTo>
                    <a:pt x="856077" y="162712"/>
                  </a:lnTo>
                  <a:lnTo>
                    <a:pt x="837818" y="161264"/>
                  </a:lnTo>
                  <a:close/>
                </a:path>
                <a:path w="1770379" h="1140459">
                  <a:moveTo>
                    <a:pt x="1514728" y="0"/>
                  </a:moveTo>
                  <a:lnTo>
                    <a:pt x="1465204" y="1067"/>
                  </a:lnTo>
                  <a:lnTo>
                    <a:pt x="1415716" y="3662"/>
                  </a:lnTo>
                  <a:lnTo>
                    <a:pt x="1366299" y="7788"/>
                  </a:lnTo>
                  <a:lnTo>
                    <a:pt x="1316989" y="13449"/>
                  </a:lnTo>
                  <a:lnTo>
                    <a:pt x="1274810" y="37364"/>
                  </a:lnTo>
                  <a:lnTo>
                    <a:pt x="1261871" y="84150"/>
                  </a:lnTo>
                  <a:lnTo>
                    <a:pt x="1268898" y="106367"/>
                  </a:lnTo>
                  <a:lnTo>
                    <a:pt x="1282938" y="124061"/>
                  </a:lnTo>
                  <a:lnTo>
                    <a:pt x="1302287" y="135719"/>
                  </a:lnTo>
                  <a:lnTo>
                    <a:pt x="1325386" y="139852"/>
                  </a:lnTo>
                  <a:lnTo>
                    <a:pt x="1329591" y="139852"/>
                  </a:lnTo>
                  <a:lnTo>
                    <a:pt x="1333627" y="139357"/>
                  </a:lnTo>
                  <a:lnTo>
                    <a:pt x="1385473" y="133513"/>
                  </a:lnTo>
                  <a:lnTo>
                    <a:pt x="1437458" y="129512"/>
                  </a:lnTo>
                  <a:lnTo>
                    <a:pt x="1489531" y="127354"/>
                  </a:lnTo>
                  <a:lnTo>
                    <a:pt x="1741902" y="127039"/>
                  </a:lnTo>
                  <a:lnTo>
                    <a:pt x="1744932" y="125610"/>
                  </a:lnTo>
                  <a:lnTo>
                    <a:pt x="1761440" y="107725"/>
                  </a:lnTo>
                  <a:lnTo>
                    <a:pt x="1770088" y="84150"/>
                  </a:lnTo>
                  <a:lnTo>
                    <a:pt x="1768966" y="59035"/>
                  </a:lnTo>
                  <a:lnTo>
                    <a:pt x="1740711" y="20288"/>
                  </a:lnTo>
                  <a:lnTo>
                    <a:pt x="1712594" y="11061"/>
                  </a:lnTo>
                  <a:lnTo>
                    <a:pt x="1663211" y="5998"/>
                  </a:lnTo>
                  <a:lnTo>
                    <a:pt x="1613757" y="2468"/>
                  </a:lnTo>
                  <a:lnTo>
                    <a:pt x="1564255" y="469"/>
                  </a:lnTo>
                  <a:lnTo>
                    <a:pt x="1514728" y="0"/>
                  </a:lnTo>
                  <a:close/>
                </a:path>
                <a:path w="1770379" h="1140459">
                  <a:moveTo>
                    <a:pt x="1741902" y="127039"/>
                  </a:moveTo>
                  <a:lnTo>
                    <a:pt x="1541644" y="127039"/>
                  </a:lnTo>
                  <a:lnTo>
                    <a:pt x="1593749" y="128569"/>
                  </a:lnTo>
                  <a:lnTo>
                    <a:pt x="1645795" y="131942"/>
                  </a:lnTo>
                  <a:lnTo>
                    <a:pt x="1697735" y="137159"/>
                  </a:lnTo>
                  <a:lnTo>
                    <a:pt x="1722923" y="135992"/>
                  </a:lnTo>
                  <a:lnTo>
                    <a:pt x="1741902" y="127039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133088" y="6259068"/>
              <a:ext cx="1565275" cy="599440"/>
            </a:xfrm>
            <a:custGeom>
              <a:avLst/>
              <a:gdLst/>
              <a:ahLst/>
              <a:cxnLst/>
              <a:rect l="l" t="t" r="r" b="b"/>
              <a:pathLst>
                <a:path w="1565275" h="599440">
                  <a:moveTo>
                    <a:pt x="782574" y="0"/>
                  </a:moveTo>
                  <a:lnTo>
                    <a:pt x="732729" y="1470"/>
                  </a:lnTo>
                  <a:lnTo>
                    <a:pt x="683684" y="5826"/>
                  </a:lnTo>
                  <a:lnTo>
                    <a:pt x="635527" y="12982"/>
                  </a:lnTo>
                  <a:lnTo>
                    <a:pt x="588347" y="22851"/>
                  </a:lnTo>
                  <a:lnTo>
                    <a:pt x="542230" y="35349"/>
                  </a:lnTo>
                  <a:lnTo>
                    <a:pt x="497265" y="50391"/>
                  </a:lnTo>
                  <a:lnTo>
                    <a:pt x="453539" y="67890"/>
                  </a:lnTo>
                  <a:lnTo>
                    <a:pt x="411140" y="87763"/>
                  </a:lnTo>
                  <a:lnTo>
                    <a:pt x="370157" y="109922"/>
                  </a:lnTo>
                  <a:lnTo>
                    <a:pt x="330676" y="134284"/>
                  </a:lnTo>
                  <a:lnTo>
                    <a:pt x="292786" y="160761"/>
                  </a:lnTo>
                  <a:lnTo>
                    <a:pt x="256574" y="189270"/>
                  </a:lnTo>
                  <a:lnTo>
                    <a:pt x="222129" y="219725"/>
                  </a:lnTo>
                  <a:lnTo>
                    <a:pt x="189538" y="252040"/>
                  </a:lnTo>
                  <a:lnTo>
                    <a:pt x="158888" y="286130"/>
                  </a:lnTo>
                  <a:lnTo>
                    <a:pt x="130269" y="321910"/>
                  </a:lnTo>
                  <a:lnTo>
                    <a:pt x="103767" y="359294"/>
                  </a:lnTo>
                  <a:lnTo>
                    <a:pt x="79471" y="398197"/>
                  </a:lnTo>
                  <a:lnTo>
                    <a:pt x="57468" y="438533"/>
                  </a:lnTo>
                  <a:lnTo>
                    <a:pt x="37846" y="480217"/>
                  </a:lnTo>
                  <a:lnTo>
                    <a:pt x="0" y="598931"/>
                  </a:lnTo>
                  <a:lnTo>
                    <a:pt x="1565148" y="598931"/>
                  </a:lnTo>
                  <a:lnTo>
                    <a:pt x="1527302" y="480217"/>
                  </a:lnTo>
                  <a:lnTo>
                    <a:pt x="1507679" y="438533"/>
                  </a:lnTo>
                  <a:lnTo>
                    <a:pt x="1485676" y="398197"/>
                  </a:lnTo>
                  <a:lnTo>
                    <a:pt x="1461380" y="359294"/>
                  </a:lnTo>
                  <a:lnTo>
                    <a:pt x="1434878" y="321910"/>
                  </a:lnTo>
                  <a:lnTo>
                    <a:pt x="1406259" y="286130"/>
                  </a:lnTo>
                  <a:lnTo>
                    <a:pt x="1375609" y="252040"/>
                  </a:lnTo>
                  <a:lnTo>
                    <a:pt x="1343018" y="219725"/>
                  </a:lnTo>
                  <a:lnTo>
                    <a:pt x="1308573" y="189270"/>
                  </a:lnTo>
                  <a:lnTo>
                    <a:pt x="1272361" y="160761"/>
                  </a:lnTo>
                  <a:lnTo>
                    <a:pt x="1234471" y="134284"/>
                  </a:lnTo>
                  <a:lnTo>
                    <a:pt x="1194990" y="109922"/>
                  </a:lnTo>
                  <a:lnTo>
                    <a:pt x="1154007" y="87763"/>
                  </a:lnTo>
                  <a:lnTo>
                    <a:pt x="1111608" y="67890"/>
                  </a:lnTo>
                  <a:lnTo>
                    <a:pt x="1067882" y="50391"/>
                  </a:lnTo>
                  <a:lnTo>
                    <a:pt x="1022917" y="35349"/>
                  </a:lnTo>
                  <a:lnTo>
                    <a:pt x="976800" y="22851"/>
                  </a:lnTo>
                  <a:lnTo>
                    <a:pt x="929620" y="12982"/>
                  </a:lnTo>
                  <a:lnTo>
                    <a:pt x="881463" y="5826"/>
                  </a:lnTo>
                  <a:lnTo>
                    <a:pt x="832418" y="1470"/>
                  </a:lnTo>
                  <a:lnTo>
                    <a:pt x="782574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40663" y="1010411"/>
            <a:ext cx="4369435" cy="4371340"/>
          </a:xfrm>
          <a:custGeom>
            <a:avLst/>
            <a:gdLst/>
            <a:ahLst/>
            <a:cxnLst/>
            <a:rect l="l" t="t" r="r" b="b"/>
            <a:pathLst>
              <a:path w="4369435" h="4371340">
                <a:moveTo>
                  <a:pt x="4248785" y="0"/>
                </a:moveTo>
                <a:lnTo>
                  <a:pt x="120459" y="0"/>
                </a:lnTo>
                <a:lnTo>
                  <a:pt x="73573" y="9473"/>
                </a:lnTo>
                <a:lnTo>
                  <a:pt x="35283" y="35305"/>
                </a:lnTo>
                <a:lnTo>
                  <a:pt x="9467" y="73616"/>
                </a:lnTo>
                <a:lnTo>
                  <a:pt x="0" y="120523"/>
                </a:lnTo>
                <a:lnTo>
                  <a:pt x="0" y="4250309"/>
                </a:lnTo>
                <a:lnTo>
                  <a:pt x="9467" y="4297215"/>
                </a:lnTo>
                <a:lnTo>
                  <a:pt x="35283" y="4335526"/>
                </a:lnTo>
                <a:lnTo>
                  <a:pt x="73573" y="4361358"/>
                </a:lnTo>
                <a:lnTo>
                  <a:pt x="120459" y="4370832"/>
                </a:lnTo>
                <a:lnTo>
                  <a:pt x="4248785" y="4370832"/>
                </a:lnTo>
                <a:lnTo>
                  <a:pt x="4295691" y="4361358"/>
                </a:lnTo>
                <a:lnTo>
                  <a:pt x="4334002" y="4335526"/>
                </a:lnTo>
                <a:lnTo>
                  <a:pt x="4359834" y="4297215"/>
                </a:lnTo>
                <a:lnTo>
                  <a:pt x="4369308" y="4250309"/>
                </a:lnTo>
                <a:lnTo>
                  <a:pt x="4369308" y="120523"/>
                </a:lnTo>
                <a:lnTo>
                  <a:pt x="4359834" y="73616"/>
                </a:lnTo>
                <a:lnTo>
                  <a:pt x="4334002" y="35306"/>
                </a:lnTo>
                <a:lnTo>
                  <a:pt x="4295691" y="9473"/>
                </a:lnTo>
                <a:lnTo>
                  <a:pt x="4248785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30351" y="0"/>
            <a:ext cx="1155700" cy="591820"/>
          </a:xfrm>
          <a:custGeom>
            <a:avLst/>
            <a:gdLst/>
            <a:ahLst/>
            <a:cxnLst/>
            <a:rect l="l" t="t" r="r" b="b"/>
            <a:pathLst>
              <a:path w="1155700" h="591820">
                <a:moveTo>
                  <a:pt x="1153795" y="0"/>
                </a:moveTo>
                <a:lnTo>
                  <a:pt x="1358" y="0"/>
                </a:lnTo>
                <a:lnTo>
                  <a:pt x="0" y="13461"/>
                </a:lnTo>
                <a:lnTo>
                  <a:pt x="1914" y="60856"/>
                </a:lnTo>
                <a:lnTo>
                  <a:pt x="7559" y="107195"/>
                </a:lnTo>
                <a:lnTo>
                  <a:pt x="16786" y="152330"/>
                </a:lnTo>
                <a:lnTo>
                  <a:pt x="29446" y="196112"/>
                </a:lnTo>
                <a:lnTo>
                  <a:pt x="45390" y="238392"/>
                </a:lnTo>
                <a:lnTo>
                  <a:pt x="64470" y="279023"/>
                </a:lnTo>
                <a:lnTo>
                  <a:pt x="86536" y="317854"/>
                </a:lnTo>
                <a:lnTo>
                  <a:pt x="111442" y="354738"/>
                </a:lnTo>
                <a:lnTo>
                  <a:pt x="139037" y="389526"/>
                </a:lnTo>
                <a:lnTo>
                  <a:pt x="169173" y="422068"/>
                </a:lnTo>
                <a:lnTo>
                  <a:pt x="201702" y="452217"/>
                </a:lnTo>
                <a:lnTo>
                  <a:pt x="236474" y="479824"/>
                </a:lnTo>
                <a:lnTo>
                  <a:pt x="273342" y="504739"/>
                </a:lnTo>
                <a:lnTo>
                  <a:pt x="312156" y="526815"/>
                </a:lnTo>
                <a:lnTo>
                  <a:pt x="352769" y="545903"/>
                </a:lnTo>
                <a:lnTo>
                  <a:pt x="395030" y="561854"/>
                </a:lnTo>
                <a:lnTo>
                  <a:pt x="438792" y="574518"/>
                </a:lnTo>
                <a:lnTo>
                  <a:pt x="483906" y="583749"/>
                </a:lnTo>
                <a:lnTo>
                  <a:pt x="530223" y="589396"/>
                </a:lnTo>
                <a:lnTo>
                  <a:pt x="577596" y="591312"/>
                </a:lnTo>
                <a:lnTo>
                  <a:pt x="624971" y="589396"/>
                </a:lnTo>
                <a:lnTo>
                  <a:pt x="671291" y="583749"/>
                </a:lnTo>
                <a:lnTo>
                  <a:pt x="716407" y="574518"/>
                </a:lnTo>
                <a:lnTo>
                  <a:pt x="760171" y="561854"/>
                </a:lnTo>
                <a:lnTo>
                  <a:pt x="802433" y="545903"/>
                </a:lnTo>
                <a:lnTo>
                  <a:pt x="843046" y="526815"/>
                </a:lnTo>
                <a:lnTo>
                  <a:pt x="881860" y="504739"/>
                </a:lnTo>
                <a:lnTo>
                  <a:pt x="918728" y="479824"/>
                </a:lnTo>
                <a:lnTo>
                  <a:pt x="953500" y="452217"/>
                </a:lnTo>
                <a:lnTo>
                  <a:pt x="986028" y="422068"/>
                </a:lnTo>
                <a:lnTo>
                  <a:pt x="1016163" y="389526"/>
                </a:lnTo>
                <a:lnTo>
                  <a:pt x="1043757" y="354738"/>
                </a:lnTo>
                <a:lnTo>
                  <a:pt x="1068661" y="317854"/>
                </a:lnTo>
                <a:lnTo>
                  <a:pt x="1090726" y="279023"/>
                </a:lnTo>
                <a:lnTo>
                  <a:pt x="1109805" y="238392"/>
                </a:lnTo>
                <a:lnTo>
                  <a:pt x="1125748" y="196112"/>
                </a:lnTo>
                <a:lnTo>
                  <a:pt x="1138407" y="152330"/>
                </a:lnTo>
                <a:lnTo>
                  <a:pt x="1147632" y="107195"/>
                </a:lnTo>
                <a:lnTo>
                  <a:pt x="1153277" y="60856"/>
                </a:lnTo>
                <a:lnTo>
                  <a:pt x="1155192" y="13461"/>
                </a:lnTo>
                <a:lnTo>
                  <a:pt x="1153795" y="0"/>
                </a:lnTo>
                <a:close/>
              </a:path>
            </a:pathLst>
          </a:custGeom>
          <a:solidFill>
            <a:srgbClr val="4AAC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3960876" y="0"/>
            <a:ext cx="1737360" cy="960119"/>
          </a:xfrm>
          <a:custGeom>
            <a:avLst/>
            <a:gdLst/>
            <a:ahLst/>
            <a:cxnLst/>
            <a:rect l="l" t="t" r="r" b="b"/>
            <a:pathLst>
              <a:path w="1737360" h="960119">
                <a:moveTo>
                  <a:pt x="1737360" y="0"/>
                </a:moveTo>
                <a:lnTo>
                  <a:pt x="1613535" y="0"/>
                </a:lnTo>
                <a:lnTo>
                  <a:pt x="1613535" y="790701"/>
                </a:lnTo>
                <a:lnTo>
                  <a:pt x="247269" y="0"/>
                </a:lnTo>
                <a:lnTo>
                  <a:pt x="0" y="0"/>
                </a:lnTo>
                <a:lnTo>
                  <a:pt x="1644523" y="951864"/>
                </a:lnTo>
                <a:lnTo>
                  <a:pt x="1651793" y="955458"/>
                </a:lnTo>
                <a:lnTo>
                  <a:pt x="1659445" y="958040"/>
                </a:lnTo>
                <a:lnTo>
                  <a:pt x="1667383" y="959598"/>
                </a:lnTo>
                <a:lnTo>
                  <a:pt x="1675511" y="960120"/>
                </a:lnTo>
                <a:lnTo>
                  <a:pt x="1699587" y="955258"/>
                </a:lnTo>
                <a:lnTo>
                  <a:pt x="1719246" y="941990"/>
                </a:lnTo>
                <a:lnTo>
                  <a:pt x="1732500" y="922293"/>
                </a:lnTo>
                <a:lnTo>
                  <a:pt x="1737360" y="898144"/>
                </a:lnTo>
                <a:lnTo>
                  <a:pt x="1737360" y="0"/>
                </a:lnTo>
                <a:close/>
              </a:path>
            </a:pathLst>
          </a:custGeom>
          <a:solidFill>
            <a:srgbClr val="F795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0" y="2936748"/>
            <a:ext cx="160020" cy="553720"/>
          </a:xfrm>
          <a:custGeom>
            <a:avLst/>
            <a:gdLst/>
            <a:ahLst/>
            <a:cxnLst/>
            <a:rect l="l" t="t" r="r" b="b"/>
            <a:pathLst>
              <a:path w="160020" h="553720">
                <a:moveTo>
                  <a:pt x="0" y="0"/>
                </a:moveTo>
                <a:lnTo>
                  <a:pt x="0" y="553212"/>
                </a:lnTo>
                <a:lnTo>
                  <a:pt x="17923" y="543560"/>
                </a:lnTo>
                <a:lnTo>
                  <a:pt x="58216" y="511394"/>
                </a:lnTo>
                <a:lnTo>
                  <a:pt x="92865" y="473305"/>
                </a:lnTo>
                <a:lnTo>
                  <a:pt x="121120" y="430037"/>
                </a:lnTo>
                <a:lnTo>
                  <a:pt x="142231" y="382335"/>
                </a:lnTo>
                <a:lnTo>
                  <a:pt x="155447" y="330943"/>
                </a:lnTo>
                <a:lnTo>
                  <a:pt x="160020" y="276605"/>
                </a:lnTo>
                <a:lnTo>
                  <a:pt x="155447" y="222268"/>
                </a:lnTo>
                <a:lnTo>
                  <a:pt x="142231" y="170876"/>
                </a:lnTo>
                <a:lnTo>
                  <a:pt x="121120" y="123174"/>
                </a:lnTo>
                <a:lnTo>
                  <a:pt x="92865" y="79906"/>
                </a:lnTo>
                <a:lnTo>
                  <a:pt x="58216" y="41817"/>
                </a:lnTo>
                <a:lnTo>
                  <a:pt x="17923" y="9651"/>
                </a:lnTo>
                <a:lnTo>
                  <a:pt x="0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175628" y="806957"/>
            <a:ext cx="2870200" cy="46907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Example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Natural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JOIN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34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class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table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44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2000" spc="-25">
                <a:latin typeface="Calibri"/>
                <a:cs typeface="Calibri"/>
              </a:rPr>
              <a:t>ID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NAME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2000" spc="-50">
                <a:latin typeface="Calibri"/>
                <a:cs typeface="Calibri"/>
              </a:rPr>
              <a:t>1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abhi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2000" spc="-50">
                <a:latin typeface="Calibri"/>
                <a:cs typeface="Calibri"/>
              </a:rPr>
              <a:t>2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adam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2000" spc="-50">
                <a:latin typeface="Calibri"/>
                <a:cs typeface="Calibri"/>
              </a:rPr>
              <a:t>3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alex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2000" spc="-50">
                <a:latin typeface="Calibri"/>
                <a:cs typeface="Calibri"/>
              </a:rPr>
              <a:t>4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5">
                <a:latin typeface="Calibri"/>
                <a:cs typeface="Calibri"/>
              </a:rPr>
              <a:t>anu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297180">
              <a:lnSpc>
                <a:spcPct val="100000"/>
              </a:lnSpc>
            </a:pPr>
            <a:r>
              <a:rPr dirty="0" sz="2000" spc="-10">
                <a:latin typeface="Calibri"/>
                <a:cs typeface="Calibri"/>
              </a:rPr>
              <a:t>class_info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table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2000" spc="-25">
                <a:latin typeface="Calibri"/>
                <a:cs typeface="Calibri"/>
              </a:rPr>
              <a:t>ID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Address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2000" spc="-50">
                <a:latin typeface="Calibri"/>
                <a:cs typeface="Calibri"/>
              </a:rPr>
              <a:t>1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DELHI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2000" spc="-50">
                <a:latin typeface="Calibri"/>
                <a:cs typeface="Calibri"/>
              </a:rPr>
              <a:t>2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MUMBAI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2000" spc="-50">
                <a:latin typeface="Calibri"/>
                <a:cs typeface="Calibri"/>
              </a:rPr>
              <a:t>3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CHENNAI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0" y="5835396"/>
            <a:ext cx="1548765" cy="1022985"/>
          </a:xfrm>
          <a:custGeom>
            <a:avLst/>
            <a:gdLst/>
            <a:ahLst/>
            <a:cxnLst/>
            <a:rect l="l" t="t" r="r" b="b"/>
            <a:pathLst>
              <a:path w="1548765" h="1022984">
                <a:moveTo>
                  <a:pt x="1486408" y="0"/>
                </a:moveTo>
                <a:lnTo>
                  <a:pt x="0" y="0"/>
                </a:lnTo>
                <a:lnTo>
                  <a:pt x="0" y="123850"/>
                </a:lnTo>
                <a:lnTo>
                  <a:pt x="1424559" y="123850"/>
                </a:lnTo>
                <a:lnTo>
                  <a:pt x="1424559" y="1022603"/>
                </a:lnTo>
                <a:lnTo>
                  <a:pt x="1548384" y="1022603"/>
                </a:lnTo>
                <a:lnTo>
                  <a:pt x="1548384" y="61925"/>
                </a:lnTo>
                <a:lnTo>
                  <a:pt x="1543522" y="37820"/>
                </a:lnTo>
                <a:lnTo>
                  <a:pt x="1530254" y="18137"/>
                </a:lnTo>
                <a:lnTo>
                  <a:pt x="1510557" y="4866"/>
                </a:lnTo>
                <a:lnTo>
                  <a:pt x="1486408" y="0"/>
                </a:lnTo>
                <a:close/>
              </a:path>
            </a:pathLst>
          </a:custGeom>
          <a:solidFill>
            <a:srgbClr val="F7954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3418332" y="5718073"/>
            <a:ext cx="2280285" cy="1140460"/>
            <a:chOff x="3418332" y="5718073"/>
            <a:chExt cx="2280285" cy="1140460"/>
          </a:xfrm>
        </p:grpSpPr>
        <p:sp>
          <p:nvSpPr>
            <p:cNvPr id="9" name="object 9" descr=""/>
            <p:cNvSpPr/>
            <p:nvPr/>
          </p:nvSpPr>
          <p:spPr>
            <a:xfrm>
              <a:off x="3418332" y="5718073"/>
              <a:ext cx="1770380" cy="1140460"/>
            </a:xfrm>
            <a:custGeom>
              <a:avLst/>
              <a:gdLst/>
              <a:ahLst/>
              <a:cxnLst/>
              <a:rect l="l" t="t" r="r" b="b"/>
              <a:pathLst>
                <a:path w="1770379" h="1140459">
                  <a:moveTo>
                    <a:pt x="209803" y="762914"/>
                  </a:moveTo>
                  <a:lnTo>
                    <a:pt x="160333" y="778557"/>
                  </a:lnTo>
                  <a:lnTo>
                    <a:pt x="124253" y="835985"/>
                  </a:lnTo>
                  <a:lnTo>
                    <a:pt x="101377" y="879992"/>
                  </a:lnTo>
                  <a:lnTo>
                    <a:pt x="79882" y="924671"/>
                  </a:lnTo>
                  <a:lnTo>
                    <a:pt x="59816" y="969987"/>
                  </a:lnTo>
                  <a:lnTo>
                    <a:pt x="0" y="1139925"/>
                  </a:lnTo>
                  <a:lnTo>
                    <a:pt x="134365" y="1139925"/>
                  </a:lnTo>
                  <a:lnTo>
                    <a:pt x="176656" y="1019557"/>
                  </a:lnTo>
                  <a:lnTo>
                    <a:pt x="195131" y="977880"/>
                  </a:lnTo>
                  <a:lnTo>
                    <a:pt x="214915" y="936788"/>
                  </a:lnTo>
                  <a:lnTo>
                    <a:pt x="235985" y="896313"/>
                  </a:lnTo>
                  <a:lnTo>
                    <a:pt x="258317" y="856487"/>
                  </a:lnTo>
                  <a:lnTo>
                    <a:pt x="265763" y="832397"/>
                  </a:lnTo>
                  <a:lnTo>
                    <a:pt x="252317" y="786525"/>
                  </a:lnTo>
                  <a:lnTo>
                    <a:pt x="217677" y="763828"/>
                  </a:lnTo>
                  <a:lnTo>
                    <a:pt x="209803" y="762914"/>
                  </a:lnTo>
                  <a:close/>
                </a:path>
                <a:path w="1770379" h="1140459">
                  <a:moveTo>
                    <a:pt x="837818" y="161264"/>
                  </a:moveTo>
                  <a:lnTo>
                    <a:pt x="769458" y="190835"/>
                  </a:lnTo>
                  <a:lnTo>
                    <a:pt x="726229" y="215086"/>
                  </a:lnTo>
                  <a:lnTo>
                    <a:pt x="683780" y="240654"/>
                  </a:lnTo>
                  <a:lnTo>
                    <a:pt x="642143" y="267519"/>
                  </a:lnTo>
                  <a:lnTo>
                    <a:pt x="601352" y="295659"/>
                  </a:lnTo>
                  <a:lnTo>
                    <a:pt x="561439" y="325056"/>
                  </a:lnTo>
                  <a:lnTo>
                    <a:pt x="522436" y="355690"/>
                  </a:lnTo>
                  <a:lnTo>
                    <a:pt x="484377" y="387540"/>
                  </a:lnTo>
                  <a:lnTo>
                    <a:pt x="462533" y="430868"/>
                  </a:lnTo>
                  <a:lnTo>
                    <a:pt x="465375" y="455018"/>
                  </a:lnTo>
                  <a:lnTo>
                    <a:pt x="487670" y="486373"/>
                  </a:lnTo>
                  <a:lnTo>
                    <a:pt x="525906" y="499059"/>
                  </a:lnTo>
                  <a:lnTo>
                    <a:pt x="526288" y="499059"/>
                  </a:lnTo>
                  <a:lnTo>
                    <a:pt x="567689" y="484022"/>
                  </a:lnTo>
                  <a:lnTo>
                    <a:pt x="607781" y="450548"/>
                  </a:lnTo>
                  <a:lnTo>
                    <a:pt x="648999" y="418540"/>
                  </a:lnTo>
                  <a:lnTo>
                    <a:pt x="691303" y="388026"/>
                  </a:lnTo>
                  <a:lnTo>
                    <a:pt x="734654" y="359031"/>
                  </a:lnTo>
                  <a:lnTo>
                    <a:pt x="779011" y="331585"/>
                  </a:lnTo>
                  <a:lnTo>
                    <a:pt x="824335" y="305713"/>
                  </a:lnTo>
                  <a:lnTo>
                    <a:pt x="870584" y="281444"/>
                  </a:lnTo>
                  <a:lnTo>
                    <a:pt x="890438" y="265864"/>
                  </a:lnTo>
                  <a:lnTo>
                    <a:pt x="902350" y="244617"/>
                  </a:lnTo>
                  <a:lnTo>
                    <a:pt x="905428" y="220451"/>
                  </a:lnTo>
                  <a:lnTo>
                    <a:pt x="898778" y="196113"/>
                  </a:lnTo>
                  <a:lnTo>
                    <a:pt x="887735" y="180520"/>
                  </a:lnTo>
                  <a:lnTo>
                    <a:pt x="873109" y="169259"/>
                  </a:lnTo>
                  <a:lnTo>
                    <a:pt x="856077" y="162712"/>
                  </a:lnTo>
                  <a:lnTo>
                    <a:pt x="837818" y="161264"/>
                  </a:lnTo>
                  <a:close/>
                </a:path>
                <a:path w="1770379" h="1140459">
                  <a:moveTo>
                    <a:pt x="1514728" y="0"/>
                  </a:moveTo>
                  <a:lnTo>
                    <a:pt x="1465204" y="1067"/>
                  </a:lnTo>
                  <a:lnTo>
                    <a:pt x="1415716" y="3662"/>
                  </a:lnTo>
                  <a:lnTo>
                    <a:pt x="1366299" y="7788"/>
                  </a:lnTo>
                  <a:lnTo>
                    <a:pt x="1316989" y="13449"/>
                  </a:lnTo>
                  <a:lnTo>
                    <a:pt x="1274810" y="37364"/>
                  </a:lnTo>
                  <a:lnTo>
                    <a:pt x="1261871" y="84150"/>
                  </a:lnTo>
                  <a:lnTo>
                    <a:pt x="1268898" y="106367"/>
                  </a:lnTo>
                  <a:lnTo>
                    <a:pt x="1282938" y="124061"/>
                  </a:lnTo>
                  <a:lnTo>
                    <a:pt x="1302287" y="135719"/>
                  </a:lnTo>
                  <a:lnTo>
                    <a:pt x="1325386" y="139852"/>
                  </a:lnTo>
                  <a:lnTo>
                    <a:pt x="1329591" y="139852"/>
                  </a:lnTo>
                  <a:lnTo>
                    <a:pt x="1333627" y="139357"/>
                  </a:lnTo>
                  <a:lnTo>
                    <a:pt x="1385473" y="133513"/>
                  </a:lnTo>
                  <a:lnTo>
                    <a:pt x="1437458" y="129512"/>
                  </a:lnTo>
                  <a:lnTo>
                    <a:pt x="1489531" y="127354"/>
                  </a:lnTo>
                  <a:lnTo>
                    <a:pt x="1741902" y="127039"/>
                  </a:lnTo>
                  <a:lnTo>
                    <a:pt x="1744932" y="125610"/>
                  </a:lnTo>
                  <a:lnTo>
                    <a:pt x="1761440" y="107725"/>
                  </a:lnTo>
                  <a:lnTo>
                    <a:pt x="1770088" y="84150"/>
                  </a:lnTo>
                  <a:lnTo>
                    <a:pt x="1768966" y="59035"/>
                  </a:lnTo>
                  <a:lnTo>
                    <a:pt x="1740711" y="20288"/>
                  </a:lnTo>
                  <a:lnTo>
                    <a:pt x="1712594" y="11061"/>
                  </a:lnTo>
                  <a:lnTo>
                    <a:pt x="1663211" y="5998"/>
                  </a:lnTo>
                  <a:lnTo>
                    <a:pt x="1613757" y="2468"/>
                  </a:lnTo>
                  <a:lnTo>
                    <a:pt x="1564255" y="469"/>
                  </a:lnTo>
                  <a:lnTo>
                    <a:pt x="1514728" y="0"/>
                  </a:lnTo>
                  <a:close/>
                </a:path>
                <a:path w="1770379" h="1140459">
                  <a:moveTo>
                    <a:pt x="1741902" y="127039"/>
                  </a:moveTo>
                  <a:lnTo>
                    <a:pt x="1541644" y="127039"/>
                  </a:lnTo>
                  <a:lnTo>
                    <a:pt x="1593749" y="128569"/>
                  </a:lnTo>
                  <a:lnTo>
                    <a:pt x="1645795" y="131942"/>
                  </a:lnTo>
                  <a:lnTo>
                    <a:pt x="1697735" y="137159"/>
                  </a:lnTo>
                  <a:lnTo>
                    <a:pt x="1722923" y="135992"/>
                  </a:lnTo>
                  <a:lnTo>
                    <a:pt x="1741902" y="127039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133088" y="6259068"/>
              <a:ext cx="1565275" cy="599440"/>
            </a:xfrm>
            <a:custGeom>
              <a:avLst/>
              <a:gdLst/>
              <a:ahLst/>
              <a:cxnLst/>
              <a:rect l="l" t="t" r="r" b="b"/>
              <a:pathLst>
                <a:path w="1565275" h="599440">
                  <a:moveTo>
                    <a:pt x="782574" y="0"/>
                  </a:moveTo>
                  <a:lnTo>
                    <a:pt x="732729" y="1470"/>
                  </a:lnTo>
                  <a:lnTo>
                    <a:pt x="683684" y="5826"/>
                  </a:lnTo>
                  <a:lnTo>
                    <a:pt x="635527" y="12982"/>
                  </a:lnTo>
                  <a:lnTo>
                    <a:pt x="588347" y="22851"/>
                  </a:lnTo>
                  <a:lnTo>
                    <a:pt x="542230" y="35349"/>
                  </a:lnTo>
                  <a:lnTo>
                    <a:pt x="497265" y="50391"/>
                  </a:lnTo>
                  <a:lnTo>
                    <a:pt x="453539" y="67890"/>
                  </a:lnTo>
                  <a:lnTo>
                    <a:pt x="411140" y="87763"/>
                  </a:lnTo>
                  <a:lnTo>
                    <a:pt x="370157" y="109922"/>
                  </a:lnTo>
                  <a:lnTo>
                    <a:pt x="330676" y="134284"/>
                  </a:lnTo>
                  <a:lnTo>
                    <a:pt x="292786" y="160761"/>
                  </a:lnTo>
                  <a:lnTo>
                    <a:pt x="256574" y="189270"/>
                  </a:lnTo>
                  <a:lnTo>
                    <a:pt x="222129" y="219725"/>
                  </a:lnTo>
                  <a:lnTo>
                    <a:pt x="189538" y="252040"/>
                  </a:lnTo>
                  <a:lnTo>
                    <a:pt x="158888" y="286130"/>
                  </a:lnTo>
                  <a:lnTo>
                    <a:pt x="130269" y="321910"/>
                  </a:lnTo>
                  <a:lnTo>
                    <a:pt x="103767" y="359294"/>
                  </a:lnTo>
                  <a:lnTo>
                    <a:pt x="79471" y="398197"/>
                  </a:lnTo>
                  <a:lnTo>
                    <a:pt x="57468" y="438533"/>
                  </a:lnTo>
                  <a:lnTo>
                    <a:pt x="37846" y="480217"/>
                  </a:lnTo>
                  <a:lnTo>
                    <a:pt x="0" y="598931"/>
                  </a:lnTo>
                  <a:lnTo>
                    <a:pt x="1565148" y="598931"/>
                  </a:lnTo>
                  <a:lnTo>
                    <a:pt x="1527302" y="480217"/>
                  </a:lnTo>
                  <a:lnTo>
                    <a:pt x="1507679" y="438533"/>
                  </a:lnTo>
                  <a:lnTo>
                    <a:pt x="1485676" y="398197"/>
                  </a:lnTo>
                  <a:lnTo>
                    <a:pt x="1461380" y="359294"/>
                  </a:lnTo>
                  <a:lnTo>
                    <a:pt x="1434878" y="321910"/>
                  </a:lnTo>
                  <a:lnTo>
                    <a:pt x="1406259" y="286130"/>
                  </a:lnTo>
                  <a:lnTo>
                    <a:pt x="1375609" y="252040"/>
                  </a:lnTo>
                  <a:lnTo>
                    <a:pt x="1343018" y="219725"/>
                  </a:lnTo>
                  <a:lnTo>
                    <a:pt x="1308573" y="189270"/>
                  </a:lnTo>
                  <a:lnTo>
                    <a:pt x="1272361" y="160761"/>
                  </a:lnTo>
                  <a:lnTo>
                    <a:pt x="1234471" y="134284"/>
                  </a:lnTo>
                  <a:lnTo>
                    <a:pt x="1194990" y="109922"/>
                  </a:lnTo>
                  <a:lnTo>
                    <a:pt x="1154007" y="87763"/>
                  </a:lnTo>
                  <a:lnTo>
                    <a:pt x="1111608" y="67890"/>
                  </a:lnTo>
                  <a:lnTo>
                    <a:pt x="1067882" y="50391"/>
                  </a:lnTo>
                  <a:lnTo>
                    <a:pt x="1022917" y="35349"/>
                  </a:lnTo>
                  <a:lnTo>
                    <a:pt x="976800" y="22851"/>
                  </a:lnTo>
                  <a:lnTo>
                    <a:pt x="929620" y="12982"/>
                  </a:lnTo>
                  <a:lnTo>
                    <a:pt x="881463" y="5826"/>
                  </a:lnTo>
                  <a:lnTo>
                    <a:pt x="832418" y="1470"/>
                  </a:lnTo>
                  <a:lnTo>
                    <a:pt x="782574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2259203" y="0"/>
                </a:moveTo>
                <a:lnTo>
                  <a:pt x="0" y="0"/>
                </a:lnTo>
                <a:lnTo>
                  <a:pt x="0" y="6857999"/>
                </a:lnTo>
                <a:lnTo>
                  <a:pt x="2259203" y="6857999"/>
                </a:lnTo>
                <a:lnTo>
                  <a:pt x="2387473" y="6775778"/>
                </a:lnTo>
                <a:lnTo>
                  <a:pt x="2427059" y="6748686"/>
                </a:lnTo>
                <a:lnTo>
                  <a:pt x="2466306" y="6721137"/>
                </a:lnTo>
                <a:lnTo>
                  <a:pt x="2505209" y="6693136"/>
                </a:lnTo>
                <a:lnTo>
                  <a:pt x="2543765" y="6664686"/>
                </a:lnTo>
                <a:lnTo>
                  <a:pt x="2581969" y="6635792"/>
                </a:lnTo>
                <a:lnTo>
                  <a:pt x="2619817" y="6606457"/>
                </a:lnTo>
                <a:lnTo>
                  <a:pt x="2657307" y="6576685"/>
                </a:lnTo>
                <a:lnTo>
                  <a:pt x="2694433" y="6546479"/>
                </a:lnTo>
                <a:lnTo>
                  <a:pt x="2731193" y="6515844"/>
                </a:lnTo>
                <a:lnTo>
                  <a:pt x="2767582" y="6484784"/>
                </a:lnTo>
                <a:lnTo>
                  <a:pt x="2803597" y="6453301"/>
                </a:lnTo>
                <a:lnTo>
                  <a:pt x="2839233" y="6421401"/>
                </a:lnTo>
                <a:lnTo>
                  <a:pt x="2874488" y="6389086"/>
                </a:lnTo>
                <a:lnTo>
                  <a:pt x="2909356" y="6356362"/>
                </a:lnTo>
                <a:lnTo>
                  <a:pt x="2943835" y="6323230"/>
                </a:lnTo>
                <a:lnTo>
                  <a:pt x="2977921" y="6289696"/>
                </a:lnTo>
                <a:lnTo>
                  <a:pt x="3011609" y="6255763"/>
                </a:lnTo>
                <a:lnTo>
                  <a:pt x="3044896" y="6221435"/>
                </a:lnTo>
                <a:lnTo>
                  <a:pt x="3077778" y="6186716"/>
                </a:lnTo>
                <a:lnTo>
                  <a:pt x="3110252" y="6151609"/>
                </a:lnTo>
                <a:lnTo>
                  <a:pt x="3142313" y="6116118"/>
                </a:lnTo>
                <a:lnTo>
                  <a:pt x="3173957" y="6080248"/>
                </a:lnTo>
                <a:lnTo>
                  <a:pt x="3205181" y="6044002"/>
                </a:lnTo>
                <a:lnTo>
                  <a:pt x="3235982" y="6007384"/>
                </a:lnTo>
                <a:lnTo>
                  <a:pt x="3266354" y="5970397"/>
                </a:lnTo>
                <a:lnTo>
                  <a:pt x="3296295" y="5933046"/>
                </a:lnTo>
                <a:lnTo>
                  <a:pt x="3325800" y="5895333"/>
                </a:lnTo>
                <a:lnTo>
                  <a:pt x="3354866" y="5857265"/>
                </a:lnTo>
                <a:lnTo>
                  <a:pt x="3383489" y="5818842"/>
                </a:lnTo>
                <a:lnTo>
                  <a:pt x="3411665" y="5780071"/>
                </a:lnTo>
                <a:lnTo>
                  <a:pt x="3439390" y="5740954"/>
                </a:lnTo>
                <a:lnTo>
                  <a:pt x="3466661" y="5701496"/>
                </a:lnTo>
                <a:lnTo>
                  <a:pt x="3493474" y="5661700"/>
                </a:lnTo>
                <a:lnTo>
                  <a:pt x="3519824" y="5621569"/>
                </a:lnTo>
                <a:lnTo>
                  <a:pt x="3545708" y="5581109"/>
                </a:lnTo>
                <a:lnTo>
                  <a:pt x="3571122" y="5540322"/>
                </a:lnTo>
                <a:lnTo>
                  <a:pt x="3596063" y="5499213"/>
                </a:lnTo>
                <a:lnTo>
                  <a:pt x="3620526" y="5457784"/>
                </a:lnTo>
                <a:lnTo>
                  <a:pt x="3644508" y="5416041"/>
                </a:lnTo>
                <a:lnTo>
                  <a:pt x="3668005" y="5373987"/>
                </a:lnTo>
                <a:lnTo>
                  <a:pt x="3691013" y="5331626"/>
                </a:lnTo>
                <a:lnTo>
                  <a:pt x="3713528" y="5288961"/>
                </a:lnTo>
                <a:lnTo>
                  <a:pt x="3735547" y="5245996"/>
                </a:lnTo>
                <a:lnTo>
                  <a:pt x="3757066" y="5202736"/>
                </a:lnTo>
                <a:lnTo>
                  <a:pt x="3778080" y="5159183"/>
                </a:lnTo>
                <a:lnTo>
                  <a:pt x="3798586" y="5115342"/>
                </a:lnTo>
                <a:lnTo>
                  <a:pt x="3818580" y="5071217"/>
                </a:lnTo>
                <a:lnTo>
                  <a:pt x="3838059" y="5026811"/>
                </a:lnTo>
                <a:lnTo>
                  <a:pt x="3857019" y="4982129"/>
                </a:lnTo>
                <a:lnTo>
                  <a:pt x="3875455" y="4937174"/>
                </a:lnTo>
                <a:lnTo>
                  <a:pt x="3893364" y="4891949"/>
                </a:lnTo>
                <a:lnTo>
                  <a:pt x="3910742" y="4846459"/>
                </a:lnTo>
                <a:lnTo>
                  <a:pt x="3927585" y="4800708"/>
                </a:lnTo>
                <a:lnTo>
                  <a:pt x="3943890" y="4754699"/>
                </a:lnTo>
                <a:lnTo>
                  <a:pt x="3959653" y="4708436"/>
                </a:lnTo>
                <a:lnTo>
                  <a:pt x="3974869" y="4661923"/>
                </a:lnTo>
                <a:lnTo>
                  <a:pt x="3989536" y="4615164"/>
                </a:lnTo>
                <a:lnTo>
                  <a:pt x="4003649" y="4568162"/>
                </a:lnTo>
                <a:lnTo>
                  <a:pt x="4017204" y="4520922"/>
                </a:lnTo>
                <a:lnTo>
                  <a:pt x="4030197" y="4473447"/>
                </a:lnTo>
                <a:lnTo>
                  <a:pt x="4042626" y="4425741"/>
                </a:lnTo>
                <a:lnTo>
                  <a:pt x="4054485" y="4377808"/>
                </a:lnTo>
                <a:lnTo>
                  <a:pt x="4065772" y="4329652"/>
                </a:lnTo>
                <a:lnTo>
                  <a:pt x="4076481" y="4281276"/>
                </a:lnTo>
                <a:lnTo>
                  <a:pt x="4086611" y="4232684"/>
                </a:lnTo>
                <a:lnTo>
                  <a:pt x="4096156" y="4183881"/>
                </a:lnTo>
                <a:lnTo>
                  <a:pt x="4105112" y="4134870"/>
                </a:lnTo>
                <a:lnTo>
                  <a:pt x="4113477" y="4085654"/>
                </a:lnTo>
                <a:lnTo>
                  <a:pt x="4121246" y="4036238"/>
                </a:lnTo>
                <a:lnTo>
                  <a:pt x="4128416" y="3986625"/>
                </a:lnTo>
                <a:lnTo>
                  <a:pt x="4134982" y="3936819"/>
                </a:lnTo>
                <a:lnTo>
                  <a:pt x="4140941" y="3886825"/>
                </a:lnTo>
                <a:lnTo>
                  <a:pt x="4146289" y="3836645"/>
                </a:lnTo>
                <a:lnTo>
                  <a:pt x="4151022" y="3786284"/>
                </a:lnTo>
                <a:lnTo>
                  <a:pt x="4155136" y="3735745"/>
                </a:lnTo>
                <a:lnTo>
                  <a:pt x="4158628" y="3685033"/>
                </a:lnTo>
                <a:lnTo>
                  <a:pt x="4161493" y="3634151"/>
                </a:lnTo>
                <a:lnTo>
                  <a:pt x="4163728" y="3583103"/>
                </a:lnTo>
                <a:lnTo>
                  <a:pt x="4165330" y="3531892"/>
                </a:lnTo>
                <a:lnTo>
                  <a:pt x="4166293" y="3480523"/>
                </a:lnTo>
                <a:lnTo>
                  <a:pt x="4166616" y="3429000"/>
                </a:lnTo>
                <a:lnTo>
                  <a:pt x="4166293" y="3377476"/>
                </a:lnTo>
                <a:lnTo>
                  <a:pt x="4165330" y="3326107"/>
                </a:lnTo>
                <a:lnTo>
                  <a:pt x="4163728" y="3274897"/>
                </a:lnTo>
                <a:lnTo>
                  <a:pt x="4161493" y="3223849"/>
                </a:lnTo>
                <a:lnTo>
                  <a:pt x="4158628" y="3172967"/>
                </a:lnTo>
                <a:lnTo>
                  <a:pt x="4155136" y="3122255"/>
                </a:lnTo>
                <a:lnTo>
                  <a:pt x="4151022" y="3071716"/>
                </a:lnTo>
                <a:lnTo>
                  <a:pt x="4146289" y="3021356"/>
                </a:lnTo>
                <a:lnTo>
                  <a:pt x="4140941" y="2971176"/>
                </a:lnTo>
                <a:lnTo>
                  <a:pt x="4134982" y="2921182"/>
                </a:lnTo>
                <a:lnTo>
                  <a:pt x="4128416" y="2871377"/>
                </a:lnTo>
                <a:lnTo>
                  <a:pt x="4121246" y="2821765"/>
                </a:lnTo>
                <a:lnTo>
                  <a:pt x="4113477" y="2772349"/>
                </a:lnTo>
                <a:lnTo>
                  <a:pt x="4105112" y="2723134"/>
                </a:lnTo>
                <a:lnTo>
                  <a:pt x="4096156" y="2674123"/>
                </a:lnTo>
                <a:lnTo>
                  <a:pt x="4086611" y="2625320"/>
                </a:lnTo>
                <a:lnTo>
                  <a:pt x="4076481" y="2576729"/>
                </a:lnTo>
                <a:lnTo>
                  <a:pt x="4065772" y="2528354"/>
                </a:lnTo>
                <a:lnTo>
                  <a:pt x="4054485" y="2480198"/>
                </a:lnTo>
                <a:lnTo>
                  <a:pt x="4042626" y="2432266"/>
                </a:lnTo>
                <a:lnTo>
                  <a:pt x="4030197" y="2384560"/>
                </a:lnTo>
                <a:lnTo>
                  <a:pt x="4017204" y="2337086"/>
                </a:lnTo>
                <a:lnTo>
                  <a:pt x="4003649" y="2289846"/>
                </a:lnTo>
                <a:lnTo>
                  <a:pt x="3989536" y="2242846"/>
                </a:lnTo>
                <a:lnTo>
                  <a:pt x="3974869" y="2196087"/>
                </a:lnTo>
                <a:lnTo>
                  <a:pt x="3959653" y="2149575"/>
                </a:lnTo>
                <a:lnTo>
                  <a:pt x="3943890" y="2103312"/>
                </a:lnTo>
                <a:lnTo>
                  <a:pt x="3927585" y="2057304"/>
                </a:lnTo>
                <a:lnTo>
                  <a:pt x="3910742" y="2011553"/>
                </a:lnTo>
                <a:lnTo>
                  <a:pt x="3893364" y="1966064"/>
                </a:lnTo>
                <a:lnTo>
                  <a:pt x="3875455" y="1920840"/>
                </a:lnTo>
                <a:lnTo>
                  <a:pt x="3857019" y="1875885"/>
                </a:lnTo>
                <a:lnTo>
                  <a:pt x="3838059" y="1831203"/>
                </a:lnTo>
                <a:lnTo>
                  <a:pt x="3818580" y="1786797"/>
                </a:lnTo>
                <a:lnTo>
                  <a:pt x="3798586" y="1742673"/>
                </a:lnTo>
                <a:lnTo>
                  <a:pt x="3778080" y="1698832"/>
                </a:lnTo>
                <a:lnTo>
                  <a:pt x="3757066" y="1655280"/>
                </a:lnTo>
                <a:lnTo>
                  <a:pt x="3735547" y="1612020"/>
                </a:lnTo>
                <a:lnTo>
                  <a:pt x="3713528" y="1569055"/>
                </a:lnTo>
                <a:lnTo>
                  <a:pt x="3691013" y="1526391"/>
                </a:lnTo>
                <a:lnTo>
                  <a:pt x="3668005" y="1484029"/>
                </a:lnTo>
                <a:lnTo>
                  <a:pt x="3644508" y="1441975"/>
                </a:lnTo>
                <a:lnTo>
                  <a:pt x="3620526" y="1400232"/>
                </a:lnTo>
                <a:lnTo>
                  <a:pt x="3596063" y="1358804"/>
                </a:lnTo>
                <a:lnTo>
                  <a:pt x="3571122" y="1317694"/>
                </a:lnTo>
                <a:lnTo>
                  <a:pt x="3545708" y="1276907"/>
                </a:lnTo>
                <a:lnTo>
                  <a:pt x="3519824" y="1236446"/>
                </a:lnTo>
                <a:lnTo>
                  <a:pt x="3493474" y="1196316"/>
                </a:lnTo>
                <a:lnTo>
                  <a:pt x="3466661" y="1156519"/>
                </a:lnTo>
                <a:lnTo>
                  <a:pt x="3439390" y="1117060"/>
                </a:lnTo>
                <a:lnTo>
                  <a:pt x="3411665" y="1077943"/>
                </a:lnTo>
                <a:lnTo>
                  <a:pt x="3383489" y="1039171"/>
                </a:lnTo>
                <a:lnTo>
                  <a:pt x="3354866" y="1000748"/>
                </a:lnTo>
                <a:lnTo>
                  <a:pt x="3325800" y="962678"/>
                </a:lnTo>
                <a:lnTo>
                  <a:pt x="3296295" y="924965"/>
                </a:lnTo>
                <a:lnTo>
                  <a:pt x="3266354" y="887613"/>
                </a:lnTo>
                <a:lnTo>
                  <a:pt x="3235982" y="850625"/>
                </a:lnTo>
                <a:lnTo>
                  <a:pt x="3205181" y="814006"/>
                </a:lnTo>
                <a:lnTo>
                  <a:pt x="3173957" y="777758"/>
                </a:lnTo>
                <a:lnTo>
                  <a:pt x="3142313" y="741886"/>
                </a:lnTo>
                <a:lnTo>
                  <a:pt x="3110252" y="706395"/>
                </a:lnTo>
                <a:lnTo>
                  <a:pt x="3077778" y="671286"/>
                </a:lnTo>
                <a:lnTo>
                  <a:pt x="3044896" y="636565"/>
                </a:lnTo>
                <a:lnTo>
                  <a:pt x="3011609" y="602235"/>
                </a:lnTo>
                <a:lnTo>
                  <a:pt x="2977921" y="568300"/>
                </a:lnTo>
                <a:lnTo>
                  <a:pt x="2943835" y="534764"/>
                </a:lnTo>
                <a:lnTo>
                  <a:pt x="2909356" y="501631"/>
                </a:lnTo>
                <a:lnTo>
                  <a:pt x="2874488" y="468903"/>
                </a:lnTo>
                <a:lnTo>
                  <a:pt x="2839233" y="436586"/>
                </a:lnTo>
                <a:lnTo>
                  <a:pt x="2803597" y="404684"/>
                </a:lnTo>
                <a:lnTo>
                  <a:pt x="2767582" y="373198"/>
                </a:lnTo>
                <a:lnTo>
                  <a:pt x="2731193" y="342135"/>
                </a:lnTo>
                <a:lnTo>
                  <a:pt x="2694433" y="311497"/>
                </a:lnTo>
                <a:lnTo>
                  <a:pt x="2657307" y="281288"/>
                </a:lnTo>
                <a:lnTo>
                  <a:pt x="2619817" y="251513"/>
                </a:lnTo>
                <a:lnTo>
                  <a:pt x="2581969" y="222174"/>
                </a:lnTo>
                <a:lnTo>
                  <a:pt x="2543765" y="193276"/>
                </a:lnTo>
                <a:lnTo>
                  <a:pt x="2505209" y="164823"/>
                </a:lnTo>
                <a:lnTo>
                  <a:pt x="2466306" y="136818"/>
                </a:lnTo>
                <a:lnTo>
                  <a:pt x="2427059" y="109265"/>
                </a:lnTo>
                <a:lnTo>
                  <a:pt x="2387473" y="82169"/>
                </a:lnTo>
                <a:lnTo>
                  <a:pt x="2259203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41628" y="2329688"/>
            <a:ext cx="2688590" cy="1367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48640" marR="5080" indent="-536575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FFFFFF"/>
                </a:solidFill>
                <a:latin typeface="Calibri"/>
                <a:cs typeface="Calibri"/>
              </a:rPr>
              <a:t>Natural</a:t>
            </a:r>
            <a:r>
              <a:rPr dirty="0" sz="4400" spc="-2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400" spc="-20">
                <a:solidFill>
                  <a:srgbClr val="FFFFFF"/>
                </a:solidFill>
                <a:latin typeface="Calibri"/>
                <a:cs typeface="Calibri"/>
              </a:rPr>
              <a:t>join </a:t>
            </a:r>
            <a:r>
              <a:rPr dirty="0" sz="440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dirty="0" sz="44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400" spc="-5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592818" y="4498085"/>
            <a:ext cx="2042160" cy="2042160"/>
          </a:xfrm>
          <a:custGeom>
            <a:avLst/>
            <a:gdLst/>
            <a:ahLst/>
            <a:cxnLst/>
            <a:rect l="l" t="t" r="r" b="b"/>
            <a:pathLst>
              <a:path w="2042159" h="2042159">
                <a:moveTo>
                  <a:pt x="0" y="2042159"/>
                </a:moveTo>
                <a:lnTo>
                  <a:pt x="48205" y="2041602"/>
                </a:lnTo>
                <a:lnTo>
                  <a:pt x="96136" y="2039937"/>
                </a:lnTo>
                <a:lnTo>
                  <a:pt x="143781" y="2037177"/>
                </a:lnTo>
                <a:lnTo>
                  <a:pt x="191128" y="2033334"/>
                </a:lnTo>
                <a:lnTo>
                  <a:pt x="238165" y="2028420"/>
                </a:lnTo>
                <a:lnTo>
                  <a:pt x="284878" y="2022449"/>
                </a:lnTo>
                <a:lnTo>
                  <a:pt x="331257" y="2015431"/>
                </a:lnTo>
                <a:lnTo>
                  <a:pt x="377288" y="2007379"/>
                </a:lnTo>
                <a:lnTo>
                  <a:pt x="422959" y="1998307"/>
                </a:lnTo>
                <a:lnTo>
                  <a:pt x="468258" y="1988224"/>
                </a:lnTo>
                <a:lnTo>
                  <a:pt x="513174" y="1977145"/>
                </a:lnTo>
                <a:lnTo>
                  <a:pt x="557693" y="1965081"/>
                </a:lnTo>
                <a:lnTo>
                  <a:pt x="601803" y="1952045"/>
                </a:lnTo>
                <a:lnTo>
                  <a:pt x="645493" y="1938048"/>
                </a:lnTo>
                <a:lnTo>
                  <a:pt x="688749" y="1923104"/>
                </a:lnTo>
                <a:lnTo>
                  <a:pt x="731560" y="1907224"/>
                </a:lnTo>
                <a:lnTo>
                  <a:pt x="773913" y="1890420"/>
                </a:lnTo>
                <a:lnTo>
                  <a:pt x="815796" y="1872705"/>
                </a:lnTo>
                <a:lnTo>
                  <a:pt x="857198" y="1854092"/>
                </a:lnTo>
                <a:lnTo>
                  <a:pt x="898104" y="1834591"/>
                </a:lnTo>
                <a:lnTo>
                  <a:pt x="938504" y="1814216"/>
                </a:lnTo>
                <a:lnTo>
                  <a:pt x="978385" y="1792979"/>
                </a:lnTo>
                <a:lnTo>
                  <a:pt x="1017735" y="1770893"/>
                </a:lnTo>
                <a:lnTo>
                  <a:pt x="1056541" y="1747968"/>
                </a:lnTo>
                <a:lnTo>
                  <a:pt x="1094792" y="1724219"/>
                </a:lnTo>
                <a:lnTo>
                  <a:pt x="1132475" y="1699656"/>
                </a:lnTo>
                <a:lnTo>
                  <a:pt x="1169577" y="1674292"/>
                </a:lnTo>
                <a:lnTo>
                  <a:pt x="1206087" y="1648140"/>
                </a:lnTo>
                <a:lnTo>
                  <a:pt x="1241992" y="1621211"/>
                </a:lnTo>
                <a:lnTo>
                  <a:pt x="1277280" y="1593518"/>
                </a:lnTo>
                <a:lnTo>
                  <a:pt x="1311939" y="1565074"/>
                </a:lnTo>
                <a:lnTo>
                  <a:pt x="1345957" y="1535890"/>
                </a:lnTo>
                <a:lnTo>
                  <a:pt x="1379320" y="1505978"/>
                </a:lnTo>
                <a:lnTo>
                  <a:pt x="1412018" y="1475352"/>
                </a:lnTo>
                <a:lnTo>
                  <a:pt x="1444037" y="1444023"/>
                </a:lnTo>
                <a:lnTo>
                  <a:pt x="1475366" y="1412003"/>
                </a:lnTo>
                <a:lnTo>
                  <a:pt x="1505992" y="1379305"/>
                </a:lnTo>
                <a:lnTo>
                  <a:pt x="1535903" y="1345941"/>
                </a:lnTo>
                <a:lnTo>
                  <a:pt x="1565086" y="1311924"/>
                </a:lnTo>
                <a:lnTo>
                  <a:pt x="1593530" y="1277264"/>
                </a:lnTo>
                <a:lnTo>
                  <a:pt x="1621223" y="1241976"/>
                </a:lnTo>
                <a:lnTo>
                  <a:pt x="1648151" y="1206071"/>
                </a:lnTo>
                <a:lnTo>
                  <a:pt x="1674302" y="1169560"/>
                </a:lnTo>
                <a:lnTo>
                  <a:pt x="1699666" y="1132458"/>
                </a:lnTo>
                <a:lnTo>
                  <a:pt x="1724228" y="1094775"/>
                </a:lnTo>
                <a:lnTo>
                  <a:pt x="1747977" y="1056524"/>
                </a:lnTo>
                <a:lnTo>
                  <a:pt x="1770901" y="1017718"/>
                </a:lnTo>
                <a:lnTo>
                  <a:pt x="1792987" y="978368"/>
                </a:lnTo>
                <a:lnTo>
                  <a:pt x="1814224" y="938487"/>
                </a:lnTo>
                <a:lnTo>
                  <a:pt x="1834598" y="898088"/>
                </a:lnTo>
                <a:lnTo>
                  <a:pt x="1854098" y="857181"/>
                </a:lnTo>
                <a:lnTo>
                  <a:pt x="1872711" y="815780"/>
                </a:lnTo>
                <a:lnTo>
                  <a:pt x="1890425" y="773897"/>
                </a:lnTo>
                <a:lnTo>
                  <a:pt x="1907228" y="731544"/>
                </a:lnTo>
                <a:lnTo>
                  <a:pt x="1923108" y="688734"/>
                </a:lnTo>
                <a:lnTo>
                  <a:pt x="1938052" y="645478"/>
                </a:lnTo>
                <a:lnTo>
                  <a:pt x="1952048" y="601789"/>
                </a:lnTo>
                <a:lnTo>
                  <a:pt x="1965084" y="557679"/>
                </a:lnTo>
                <a:lnTo>
                  <a:pt x="1977148" y="513161"/>
                </a:lnTo>
                <a:lnTo>
                  <a:pt x="1988226" y="468247"/>
                </a:lnTo>
                <a:lnTo>
                  <a:pt x="1998308" y="422948"/>
                </a:lnTo>
                <a:lnTo>
                  <a:pt x="2007381" y="377277"/>
                </a:lnTo>
                <a:lnTo>
                  <a:pt x="2015432" y="331247"/>
                </a:lnTo>
                <a:lnTo>
                  <a:pt x="2022449" y="284870"/>
                </a:lnTo>
                <a:lnTo>
                  <a:pt x="2028421" y="238158"/>
                </a:lnTo>
                <a:lnTo>
                  <a:pt x="2033334" y="191122"/>
                </a:lnTo>
                <a:lnTo>
                  <a:pt x="2037177" y="143777"/>
                </a:lnTo>
                <a:lnTo>
                  <a:pt x="2039937" y="96133"/>
                </a:lnTo>
                <a:lnTo>
                  <a:pt x="2041602" y="48203"/>
                </a:lnTo>
                <a:lnTo>
                  <a:pt x="2042159" y="0"/>
                </a:lnTo>
              </a:path>
            </a:pathLst>
          </a:custGeom>
          <a:ln w="127000">
            <a:solidFill>
              <a:srgbClr val="8063A1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526660" y="780034"/>
            <a:ext cx="6252845" cy="1663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500">
                <a:latin typeface="Calibri"/>
                <a:cs typeface="Calibri"/>
              </a:rPr>
              <a:t>SELECT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*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from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class</a:t>
            </a:r>
            <a:r>
              <a:rPr dirty="0" sz="2500" spc="-55">
                <a:latin typeface="Calibri"/>
                <a:cs typeface="Calibri"/>
              </a:rPr>
              <a:t> </a:t>
            </a:r>
            <a:r>
              <a:rPr dirty="0" sz="2500" spc="-25">
                <a:latin typeface="Calibri"/>
                <a:cs typeface="Calibri"/>
              </a:rPr>
              <a:t>NATURAL</a:t>
            </a:r>
            <a:r>
              <a:rPr dirty="0" sz="2500" spc="-3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JOIN</a:t>
            </a:r>
            <a:r>
              <a:rPr dirty="0" sz="2500" spc="-4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class_info;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0"/>
              </a:spcBef>
              <a:buFont typeface="Arial MT"/>
              <a:buChar char="•"/>
            </a:pPr>
            <a:endParaRPr sz="25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resultset</a:t>
            </a:r>
            <a:r>
              <a:rPr dirty="0" sz="2500" spc="-5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table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will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look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like,</a:t>
            </a:r>
            <a:endParaRPr sz="25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2500" spc="-25">
                <a:latin typeface="Calibri"/>
                <a:cs typeface="Calibri"/>
              </a:rPr>
              <a:t>ID</a:t>
            </a:r>
            <a:r>
              <a:rPr dirty="0" sz="2500">
                <a:latin typeface="Calibri"/>
                <a:cs typeface="Calibri"/>
              </a:rPr>
              <a:t>	NAME</a:t>
            </a:r>
            <a:r>
              <a:rPr dirty="0" sz="2500" spc="15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Address</a:t>
            </a:r>
            <a:endParaRPr sz="2500">
              <a:latin typeface="Calibri"/>
              <a:cs typeface="Calibri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4507610" y="2499542"/>
          <a:ext cx="3162935" cy="1203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445"/>
                <a:gridCol w="481965"/>
                <a:gridCol w="1024889"/>
                <a:gridCol w="1320800"/>
              </a:tblGrid>
              <a:tr h="392430">
                <a:tc>
                  <a:txBody>
                    <a:bodyPr/>
                    <a:lstStyle/>
                    <a:p>
                      <a:pPr marL="31750">
                        <a:lnSpc>
                          <a:spcPts val="2760"/>
                        </a:lnSpc>
                      </a:pPr>
                      <a:r>
                        <a:rPr dirty="0" sz="2500" spc="-50">
                          <a:latin typeface="Arial MT"/>
                          <a:cs typeface="Arial MT"/>
                        </a:rPr>
                        <a:t>•</a:t>
                      </a:r>
                      <a:endParaRPr sz="25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2760"/>
                        </a:lnSpc>
                      </a:pPr>
                      <a:r>
                        <a:rPr dirty="0" sz="2500" spc="-50">
                          <a:latin typeface="Calibri"/>
                          <a:cs typeface="Calibri"/>
                        </a:rPr>
                        <a:t>1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5104">
                        <a:lnSpc>
                          <a:spcPts val="2760"/>
                        </a:lnSpc>
                      </a:pPr>
                      <a:r>
                        <a:rPr dirty="0" sz="2500" spc="-20">
                          <a:latin typeface="Calibri"/>
                          <a:cs typeface="Calibri"/>
                        </a:rPr>
                        <a:t>abhi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2760"/>
                        </a:lnSpc>
                      </a:pPr>
                      <a:r>
                        <a:rPr dirty="0" sz="2500" spc="-10">
                          <a:latin typeface="Calibri"/>
                          <a:cs typeface="Calibri"/>
                        </a:rPr>
                        <a:t>DELHI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419100">
                <a:tc>
                  <a:txBody>
                    <a:bodyPr/>
                    <a:lstStyle/>
                    <a:p>
                      <a:pPr marL="3175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Arial MT"/>
                          <a:cs typeface="Arial MT"/>
                        </a:rPr>
                        <a:t>•</a:t>
                      </a:r>
                      <a:endParaRPr sz="25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Calibri"/>
                          <a:cs typeface="Calibri"/>
                        </a:rPr>
                        <a:t>2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5104">
                        <a:lnSpc>
                          <a:spcPts val="2970"/>
                        </a:lnSpc>
                      </a:pPr>
                      <a:r>
                        <a:rPr dirty="0" sz="2500" spc="-20">
                          <a:latin typeface="Calibri"/>
                          <a:cs typeface="Calibri"/>
                        </a:rPr>
                        <a:t>adam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2970"/>
                        </a:lnSpc>
                      </a:pPr>
                      <a:r>
                        <a:rPr dirty="0" sz="2500" spc="-10">
                          <a:latin typeface="Calibri"/>
                          <a:cs typeface="Calibri"/>
                        </a:rPr>
                        <a:t>MUMBAI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92430">
                <a:tc>
                  <a:txBody>
                    <a:bodyPr/>
                    <a:lstStyle/>
                    <a:p>
                      <a:pPr marL="3175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Arial MT"/>
                          <a:cs typeface="Arial MT"/>
                        </a:rPr>
                        <a:t>•</a:t>
                      </a:r>
                      <a:endParaRPr sz="25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2970"/>
                        </a:lnSpc>
                      </a:pPr>
                      <a:r>
                        <a:rPr dirty="0" sz="2500" spc="-50">
                          <a:latin typeface="Calibri"/>
                          <a:cs typeface="Calibri"/>
                        </a:rPr>
                        <a:t>3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5104">
                        <a:lnSpc>
                          <a:spcPts val="2970"/>
                        </a:lnSpc>
                      </a:pPr>
                      <a:r>
                        <a:rPr dirty="0" sz="2500" spc="-20">
                          <a:latin typeface="Calibri"/>
                          <a:cs typeface="Calibri"/>
                        </a:rPr>
                        <a:t>alex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2970"/>
                        </a:lnSpc>
                      </a:pPr>
                      <a:r>
                        <a:rPr dirty="0" sz="2500" spc="-10">
                          <a:latin typeface="Calibri"/>
                          <a:cs typeface="Calibri"/>
                        </a:rPr>
                        <a:t>CHENNAI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4526660" y="4133469"/>
            <a:ext cx="6704965" cy="177800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355600" marR="5080" indent="-342900">
              <a:lnSpc>
                <a:spcPct val="90000"/>
              </a:lnSpc>
              <a:spcBef>
                <a:spcPts val="3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500">
                <a:latin typeface="Calibri"/>
                <a:cs typeface="Calibri"/>
              </a:rPr>
              <a:t>In</a:t>
            </a:r>
            <a:r>
              <a:rPr dirty="0" sz="2500" spc="-5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-4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above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example,</a:t>
            </a:r>
            <a:r>
              <a:rPr dirty="0" sz="2500" spc="-2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both</a:t>
            </a:r>
            <a:r>
              <a:rPr dirty="0" sz="2500" spc="-5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-4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tables</a:t>
            </a:r>
            <a:r>
              <a:rPr dirty="0" sz="2500" spc="-5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being </a:t>
            </a:r>
            <a:r>
              <a:rPr dirty="0" sz="2500">
                <a:latin typeface="Calibri"/>
                <a:cs typeface="Calibri"/>
              </a:rPr>
              <a:t>joined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have</a:t>
            </a:r>
            <a:r>
              <a:rPr dirty="0" sz="2500" spc="-5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ID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column(same</a:t>
            </a:r>
            <a:r>
              <a:rPr dirty="0" sz="2500" spc="-3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name</a:t>
            </a:r>
            <a:r>
              <a:rPr dirty="0" sz="2500" spc="-5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and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 spc="-20">
                <a:latin typeface="Calibri"/>
                <a:cs typeface="Calibri"/>
              </a:rPr>
              <a:t>same </a:t>
            </a:r>
            <a:r>
              <a:rPr dirty="0" sz="2500" spc="-10">
                <a:latin typeface="Calibri"/>
                <a:cs typeface="Calibri"/>
              </a:rPr>
              <a:t>datatype),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hence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records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for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which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value</a:t>
            </a:r>
            <a:r>
              <a:rPr dirty="0" sz="2500" spc="-75">
                <a:latin typeface="Calibri"/>
                <a:cs typeface="Calibri"/>
              </a:rPr>
              <a:t> </a:t>
            </a:r>
            <a:r>
              <a:rPr dirty="0" sz="2500" spc="-25">
                <a:latin typeface="Calibri"/>
                <a:cs typeface="Calibri"/>
              </a:rPr>
              <a:t>of </a:t>
            </a:r>
            <a:r>
              <a:rPr dirty="0" sz="2500">
                <a:latin typeface="Calibri"/>
                <a:cs typeface="Calibri"/>
              </a:rPr>
              <a:t>ID</a:t>
            </a:r>
            <a:r>
              <a:rPr dirty="0" sz="2500" spc="-5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matches</a:t>
            </a:r>
            <a:r>
              <a:rPr dirty="0" sz="2500" spc="-3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in</a:t>
            </a:r>
            <a:r>
              <a:rPr dirty="0" sz="2500" spc="-5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both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-4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tables</a:t>
            </a:r>
            <a:r>
              <a:rPr dirty="0" sz="2500" spc="-4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will</a:t>
            </a:r>
            <a:r>
              <a:rPr dirty="0" sz="2500" spc="-4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be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-3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result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 spc="-25">
                <a:latin typeface="Calibri"/>
                <a:cs typeface="Calibri"/>
              </a:rPr>
              <a:t>of </a:t>
            </a:r>
            <a:r>
              <a:rPr dirty="0" sz="2500" spc="-10">
                <a:latin typeface="Calibri"/>
                <a:cs typeface="Calibri"/>
              </a:rPr>
              <a:t>Natural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Join</a:t>
            </a:r>
            <a:r>
              <a:rPr dirty="0" sz="2500" spc="-5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of</a:t>
            </a:r>
            <a:r>
              <a:rPr dirty="0" sz="2500" spc="-5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these</a:t>
            </a:r>
            <a:r>
              <a:rPr dirty="0" sz="2500" spc="-3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two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tables.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09955" y="641604"/>
            <a:ext cx="708660" cy="2476500"/>
            <a:chOff x="409955" y="641604"/>
            <a:chExt cx="708660" cy="2476500"/>
          </a:xfrm>
        </p:grpSpPr>
        <p:sp>
          <p:nvSpPr>
            <p:cNvPr id="3" name="object 3" descr=""/>
            <p:cNvSpPr/>
            <p:nvPr/>
          </p:nvSpPr>
          <p:spPr>
            <a:xfrm>
              <a:off x="409955" y="1022604"/>
              <a:ext cx="708660" cy="2095500"/>
            </a:xfrm>
            <a:custGeom>
              <a:avLst/>
              <a:gdLst/>
              <a:ahLst/>
              <a:cxnLst/>
              <a:rect l="l" t="t" r="r" b="b"/>
              <a:pathLst>
                <a:path w="708660" h="2095500">
                  <a:moveTo>
                    <a:pt x="0" y="0"/>
                  </a:moveTo>
                  <a:lnTo>
                    <a:pt x="0" y="1517396"/>
                  </a:lnTo>
                  <a:lnTo>
                    <a:pt x="708660" y="2095500"/>
                  </a:lnTo>
                  <a:lnTo>
                    <a:pt x="708660" y="578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09955" y="838200"/>
              <a:ext cx="402590" cy="1705610"/>
            </a:xfrm>
            <a:custGeom>
              <a:avLst/>
              <a:gdLst/>
              <a:ahLst/>
              <a:cxnLst/>
              <a:rect l="l" t="t" r="r" b="b"/>
              <a:pathLst>
                <a:path w="402590" h="1705610">
                  <a:moveTo>
                    <a:pt x="402336" y="0"/>
                  </a:moveTo>
                  <a:lnTo>
                    <a:pt x="0" y="183007"/>
                  </a:lnTo>
                  <a:lnTo>
                    <a:pt x="0" y="1705355"/>
                  </a:lnTo>
                  <a:lnTo>
                    <a:pt x="402336" y="1517777"/>
                  </a:lnTo>
                  <a:lnTo>
                    <a:pt x="402336" y="0"/>
                  </a:lnTo>
                  <a:close/>
                </a:path>
              </a:pathLst>
            </a:custGeom>
            <a:solidFill>
              <a:srgbClr val="375F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44651" y="641604"/>
              <a:ext cx="167640" cy="1713230"/>
            </a:xfrm>
            <a:custGeom>
              <a:avLst/>
              <a:gdLst/>
              <a:ahLst/>
              <a:cxnLst/>
              <a:rect l="l" t="t" r="r" b="b"/>
              <a:pathLst>
                <a:path w="167640" h="1713230">
                  <a:moveTo>
                    <a:pt x="0" y="0"/>
                  </a:moveTo>
                  <a:lnTo>
                    <a:pt x="0" y="1545336"/>
                  </a:lnTo>
                  <a:lnTo>
                    <a:pt x="167640" y="1712976"/>
                  </a:lnTo>
                  <a:lnTo>
                    <a:pt x="167640" y="169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11222735" y="635508"/>
            <a:ext cx="329565" cy="1742439"/>
          </a:xfrm>
          <a:custGeom>
            <a:avLst/>
            <a:gdLst/>
            <a:ahLst/>
            <a:cxnLst/>
            <a:rect l="l" t="t" r="r" b="b"/>
            <a:pathLst>
              <a:path w="329565" h="1742439">
                <a:moveTo>
                  <a:pt x="329184" y="0"/>
                </a:moveTo>
                <a:lnTo>
                  <a:pt x="0" y="198627"/>
                </a:lnTo>
                <a:lnTo>
                  <a:pt x="0" y="1741931"/>
                </a:lnTo>
                <a:lnTo>
                  <a:pt x="329184" y="1543303"/>
                </a:lnTo>
                <a:lnTo>
                  <a:pt x="329184" y="0"/>
                </a:lnTo>
                <a:close/>
              </a:path>
            </a:pathLst>
          </a:custGeom>
          <a:solidFill>
            <a:srgbClr val="244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44651" y="635508"/>
            <a:ext cx="10907395" cy="1542415"/>
          </a:xfrm>
          <a:prstGeom prst="rect"/>
          <a:solidFill>
            <a:srgbClr val="4F81BC"/>
          </a:solidFill>
        </p:spPr>
        <p:txBody>
          <a:bodyPr wrap="square" lIns="0" tIns="128905" rIns="0" bIns="0" rtlCol="0" vert="horz">
            <a:spAutoFit/>
          </a:bodyPr>
          <a:lstStyle/>
          <a:p>
            <a:pPr algn="ctr" marR="4445">
              <a:lnSpc>
                <a:spcPct val="100000"/>
              </a:lnSpc>
              <a:spcBef>
                <a:spcPts val="1015"/>
              </a:spcBef>
            </a:pPr>
            <a:r>
              <a:rPr dirty="0" sz="4000" b="1">
                <a:solidFill>
                  <a:srgbClr val="FFFFFF"/>
                </a:solidFill>
                <a:latin typeface="Calibri"/>
                <a:cs typeface="Calibri"/>
              </a:rPr>
              <a:t>OUTER</a:t>
            </a:r>
            <a:r>
              <a:rPr dirty="0" sz="4000" spc="-20" b="1">
                <a:solidFill>
                  <a:srgbClr val="FFFFFF"/>
                </a:solidFill>
                <a:latin typeface="Calibri"/>
                <a:cs typeface="Calibri"/>
              </a:rPr>
              <a:t> JOIN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446657" y="2998723"/>
            <a:ext cx="9063990" cy="2073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Outer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Join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based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both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matched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unmatched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data.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Outer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Joins </a:t>
            </a:r>
            <a:r>
              <a:rPr dirty="0" sz="2400">
                <a:latin typeface="Calibri"/>
                <a:cs typeface="Calibri"/>
              </a:rPr>
              <a:t>subdivide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further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into,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Left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Outer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Join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Right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Outer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Join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Full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Outer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Join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09955" y="641604"/>
            <a:ext cx="708660" cy="2476500"/>
            <a:chOff x="409955" y="641604"/>
            <a:chExt cx="708660" cy="2476500"/>
          </a:xfrm>
        </p:grpSpPr>
        <p:sp>
          <p:nvSpPr>
            <p:cNvPr id="3" name="object 3" descr=""/>
            <p:cNvSpPr/>
            <p:nvPr/>
          </p:nvSpPr>
          <p:spPr>
            <a:xfrm>
              <a:off x="409955" y="1022604"/>
              <a:ext cx="708660" cy="2095500"/>
            </a:xfrm>
            <a:custGeom>
              <a:avLst/>
              <a:gdLst/>
              <a:ahLst/>
              <a:cxnLst/>
              <a:rect l="l" t="t" r="r" b="b"/>
              <a:pathLst>
                <a:path w="708660" h="2095500">
                  <a:moveTo>
                    <a:pt x="0" y="0"/>
                  </a:moveTo>
                  <a:lnTo>
                    <a:pt x="0" y="1517396"/>
                  </a:lnTo>
                  <a:lnTo>
                    <a:pt x="708660" y="2095500"/>
                  </a:lnTo>
                  <a:lnTo>
                    <a:pt x="708660" y="578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09955" y="838200"/>
              <a:ext cx="402590" cy="1705610"/>
            </a:xfrm>
            <a:custGeom>
              <a:avLst/>
              <a:gdLst/>
              <a:ahLst/>
              <a:cxnLst/>
              <a:rect l="l" t="t" r="r" b="b"/>
              <a:pathLst>
                <a:path w="402590" h="1705610">
                  <a:moveTo>
                    <a:pt x="402336" y="0"/>
                  </a:moveTo>
                  <a:lnTo>
                    <a:pt x="0" y="183007"/>
                  </a:lnTo>
                  <a:lnTo>
                    <a:pt x="0" y="1705355"/>
                  </a:lnTo>
                  <a:lnTo>
                    <a:pt x="402336" y="1517777"/>
                  </a:lnTo>
                  <a:lnTo>
                    <a:pt x="402336" y="0"/>
                  </a:lnTo>
                  <a:close/>
                </a:path>
              </a:pathLst>
            </a:custGeom>
            <a:solidFill>
              <a:srgbClr val="375F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44651" y="641604"/>
              <a:ext cx="167640" cy="1713230"/>
            </a:xfrm>
            <a:custGeom>
              <a:avLst/>
              <a:gdLst/>
              <a:ahLst/>
              <a:cxnLst/>
              <a:rect l="l" t="t" r="r" b="b"/>
              <a:pathLst>
                <a:path w="167640" h="1713230">
                  <a:moveTo>
                    <a:pt x="0" y="0"/>
                  </a:moveTo>
                  <a:lnTo>
                    <a:pt x="0" y="1545336"/>
                  </a:lnTo>
                  <a:lnTo>
                    <a:pt x="167640" y="1712976"/>
                  </a:lnTo>
                  <a:lnTo>
                    <a:pt x="167640" y="169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11222735" y="635508"/>
            <a:ext cx="329565" cy="1742439"/>
          </a:xfrm>
          <a:custGeom>
            <a:avLst/>
            <a:gdLst/>
            <a:ahLst/>
            <a:cxnLst/>
            <a:rect l="l" t="t" r="r" b="b"/>
            <a:pathLst>
              <a:path w="329565" h="1742439">
                <a:moveTo>
                  <a:pt x="329184" y="0"/>
                </a:moveTo>
                <a:lnTo>
                  <a:pt x="0" y="198627"/>
                </a:lnTo>
                <a:lnTo>
                  <a:pt x="0" y="1741931"/>
                </a:lnTo>
                <a:lnTo>
                  <a:pt x="329184" y="1543303"/>
                </a:lnTo>
                <a:lnTo>
                  <a:pt x="329184" y="0"/>
                </a:lnTo>
                <a:close/>
              </a:path>
            </a:pathLst>
          </a:custGeom>
          <a:solidFill>
            <a:srgbClr val="244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44651" y="635508"/>
            <a:ext cx="10907395" cy="1542415"/>
          </a:xfrm>
          <a:prstGeom prst="rect"/>
          <a:solidFill>
            <a:srgbClr val="4F81BC"/>
          </a:solidFill>
        </p:spPr>
        <p:txBody>
          <a:bodyPr wrap="square" lIns="0" tIns="128905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1015"/>
              </a:spcBef>
            </a:pPr>
            <a:r>
              <a:rPr dirty="0" sz="4000" b="1">
                <a:solidFill>
                  <a:srgbClr val="FFFFFF"/>
                </a:solidFill>
                <a:latin typeface="Calibri"/>
                <a:cs typeface="Calibri"/>
              </a:rPr>
              <a:t>LEFT</a:t>
            </a:r>
            <a:r>
              <a:rPr dirty="0" sz="4000" spc="-9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00" b="1">
                <a:solidFill>
                  <a:srgbClr val="FFFFFF"/>
                </a:solidFill>
                <a:latin typeface="Calibri"/>
                <a:cs typeface="Calibri"/>
              </a:rPr>
              <a:t>Outer</a:t>
            </a:r>
            <a:r>
              <a:rPr dirty="0" sz="4000" spc="-8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00" spc="-20" b="1">
                <a:solidFill>
                  <a:srgbClr val="FFFFFF"/>
                </a:solidFill>
                <a:latin typeface="Calibri"/>
                <a:cs typeface="Calibri"/>
              </a:rPr>
              <a:t>Join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446657" y="2413253"/>
            <a:ext cx="9330690" cy="3244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left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outer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join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returns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resultset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matched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data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>
                <a:latin typeface="Calibri"/>
                <a:cs typeface="Calibri"/>
              </a:rPr>
              <a:t>two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remaining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rows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left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null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b="1">
                <a:latin typeface="Calibri"/>
                <a:cs typeface="Calibri"/>
              </a:rPr>
              <a:t>right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table's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columns.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 spc="-10">
                <a:latin typeface="Calibri"/>
                <a:cs typeface="Calibri"/>
              </a:rPr>
              <a:t>Syntax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Left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Outer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Join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is,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 spc="-20">
                <a:latin typeface="Calibri"/>
                <a:cs typeface="Calibri"/>
              </a:rPr>
              <a:t>---</a:t>
            </a:r>
            <a:r>
              <a:rPr dirty="0" sz="2400">
                <a:latin typeface="Calibri"/>
                <a:cs typeface="Calibri"/>
              </a:rPr>
              <a:t>SELECT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column-name-</a:t>
            </a:r>
            <a:r>
              <a:rPr dirty="0" sz="2400">
                <a:latin typeface="Calibri"/>
                <a:cs typeface="Calibri"/>
              </a:rPr>
              <a:t>list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table-</a:t>
            </a:r>
            <a:r>
              <a:rPr dirty="0" sz="2400">
                <a:latin typeface="Calibri"/>
                <a:cs typeface="Calibri"/>
              </a:rPr>
              <a:t>name1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LEFT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OUTER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JOIN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table-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Calibri"/>
                <a:cs typeface="Calibri"/>
              </a:rPr>
              <a:t>name2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 </a:t>
            </a:r>
            <a:r>
              <a:rPr dirty="0" sz="2400" spc="-20">
                <a:latin typeface="Calibri"/>
                <a:cs typeface="Calibri"/>
              </a:rPr>
              <a:t>table-</a:t>
            </a:r>
            <a:r>
              <a:rPr dirty="0" sz="2400" spc="-10">
                <a:latin typeface="Calibri"/>
                <a:cs typeface="Calibri"/>
              </a:rPr>
              <a:t>name1.column-</a:t>
            </a:r>
            <a:r>
              <a:rPr dirty="0" sz="2400">
                <a:latin typeface="Calibri"/>
                <a:cs typeface="Calibri"/>
              </a:rPr>
              <a:t>name =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table-</a:t>
            </a:r>
            <a:r>
              <a:rPr dirty="0" sz="2400" spc="-10">
                <a:latin typeface="Calibri"/>
                <a:cs typeface="Calibri"/>
              </a:rPr>
              <a:t>name2.column-name;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 spc="-110">
                <a:latin typeface="Calibri"/>
                <a:cs typeface="Calibri"/>
              </a:rPr>
              <a:t>To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specify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condition,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keyword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Outer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Join.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09955" y="641604"/>
            <a:ext cx="708660" cy="2476500"/>
            <a:chOff x="409955" y="641604"/>
            <a:chExt cx="708660" cy="2476500"/>
          </a:xfrm>
        </p:grpSpPr>
        <p:sp>
          <p:nvSpPr>
            <p:cNvPr id="3" name="object 3" descr=""/>
            <p:cNvSpPr/>
            <p:nvPr/>
          </p:nvSpPr>
          <p:spPr>
            <a:xfrm>
              <a:off x="409955" y="1022604"/>
              <a:ext cx="708660" cy="2095500"/>
            </a:xfrm>
            <a:custGeom>
              <a:avLst/>
              <a:gdLst/>
              <a:ahLst/>
              <a:cxnLst/>
              <a:rect l="l" t="t" r="r" b="b"/>
              <a:pathLst>
                <a:path w="708660" h="2095500">
                  <a:moveTo>
                    <a:pt x="0" y="0"/>
                  </a:moveTo>
                  <a:lnTo>
                    <a:pt x="0" y="1517396"/>
                  </a:lnTo>
                  <a:lnTo>
                    <a:pt x="708660" y="2095500"/>
                  </a:lnTo>
                  <a:lnTo>
                    <a:pt x="708660" y="578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09955" y="838200"/>
              <a:ext cx="402590" cy="1705610"/>
            </a:xfrm>
            <a:custGeom>
              <a:avLst/>
              <a:gdLst/>
              <a:ahLst/>
              <a:cxnLst/>
              <a:rect l="l" t="t" r="r" b="b"/>
              <a:pathLst>
                <a:path w="402590" h="1705610">
                  <a:moveTo>
                    <a:pt x="402336" y="0"/>
                  </a:moveTo>
                  <a:lnTo>
                    <a:pt x="0" y="183007"/>
                  </a:lnTo>
                  <a:lnTo>
                    <a:pt x="0" y="1705355"/>
                  </a:lnTo>
                  <a:lnTo>
                    <a:pt x="402336" y="1517777"/>
                  </a:lnTo>
                  <a:lnTo>
                    <a:pt x="402336" y="0"/>
                  </a:lnTo>
                  <a:close/>
                </a:path>
              </a:pathLst>
            </a:custGeom>
            <a:solidFill>
              <a:srgbClr val="375F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44651" y="641604"/>
              <a:ext cx="167640" cy="1713230"/>
            </a:xfrm>
            <a:custGeom>
              <a:avLst/>
              <a:gdLst/>
              <a:ahLst/>
              <a:cxnLst/>
              <a:rect l="l" t="t" r="r" b="b"/>
              <a:pathLst>
                <a:path w="167640" h="1713230">
                  <a:moveTo>
                    <a:pt x="0" y="0"/>
                  </a:moveTo>
                  <a:lnTo>
                    <a:pt x="0" y="1545336"/>
                  </a:lnTo>
                  <a:lnTo>
                    <a:pt x="167640" y="1712976"/>
                  </a:lnTo>
                  <a:lnTo>
                    <a:pt x="167640" y="169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11222735" y="635508"/>
            <a:ext cx="329565" cy="1742439"/>
          </a:xfrm>
          <a:custGeom>
            <a:avLst/>
            <a:gdLst/>
            <a:ahLst/>
            <a:cxnLst/>
            <a:rect l="l" t="t" r="r" b="b"/>
            <a:pathLst>
              <a:path w="329565" h="1742439">
                <a:moveTo>
                  <a:pt x="329184" y="0"/>
                </a:moveTo>
                <a:lnTo>
                  <a:pt x="0" y="198627"/>
                </a:lnTo>
                <a:lnTo>
                  <a:pt x="0" y="1741931"/>
                </a:lnTo>
                <a:lnTo>
                  <a:pt x="329184" y="1543303"/>
                </a:lnTo>
                <a:lnTo>
                  <a:pt x="329184" y="0"/>
                </a:lnTo>
                <a:close/>
              </a:path>
            </a:pathLst>
          </a:custGeom>
          <a:solidFill>
            <a:srgbClr val="244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44651" y="635508"/>
            <a:ext cx="10907395" cy="1542415"/>
          </a:xfrm>
          <a:prstGeom prst="rect"/>
          <a:solidFill>
            <a:srgbClr val="4F81BC"/>
          </a:solidFill>
        </p:spPr>
        <p:txBody>
          <a:bodyPr wrap="square" lIns="0" tIns="128905" rIns="0" bIns="0" rtlCol="0" vert="horz">
            <a:spAutoFit/>
          </a:bodyPr>
          <a:lstStyle/>
          <a:p>
            <a:pPr algn="ctr" marR="6985">
              <a:lnSpc>
                <a:spcPct val="100000"/>
              </a:lnSpc>
              <a:spcBef>
                <a:spcPts val="1015"/>
              </a:spcBef>
            </a:pPr>
            <a:r>
              <a:rPr dirty="0" sz="4000">
                <a:solidFill>
                  <a:srgbClr val="FFFFFF"/>
                </a:solidFill>
              </a:rPr>
              <a:t>Example</a:t>
            </a:r>
            <a:r>
              <a:rPr dirty="0" sz="4000" spc="-120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of</a:t>
            </a:r>
            <a:r>
              <a:rPr dirty="0" sz="4000" spc="-125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Left</a:t>
            </a:r>
            <a:r>
              <a:rPr dirty="0" sz="4000" spc="-120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Outer</a:t>
            </a:r>
            <a:r>
              <a:rPr dirty="0" sz="4000" spc="-120">
                <a:solidFill>
                  <a:srgbClr val="FFFFFF"/>
                </a:solidFill>
              </a:rPr>
              <a:t> </a:t>
            </a:r>
            <a:r>
              <a:rPr dirty="0" sz="4000" spc="-20">
                <a:solidFill>
                  <a:srgbClr val="FFFFFF"/>
                </a:solidFill>
              </a:rPr>
              <a:t>Join</a:t>
            </a:r>
            <a:endParaRPr sz="4000"/>
          </a:p>
        </p:txBody>
      </p:sp>
      <p:sp>
        <p:nvSpPr>
          <p:cNvPr id="8" name="object 8" descr=""/>
          <p:cNvSpPr txBox="1"/>
          <p:nvPr/>
        </p:nvSpPr>
        <p:spPr>
          <a:xfrm>
            <a:off x="1446657" y="2487320"/>
            <a:ext cx="1869439" cy="155130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300">
                <a:latin typeface="Calibri"/>
                <a:cs typeface="Calibri"/>
              </a:rPr>
              <a:t>Here</a:t>
            </a:r>
            <a:r>
              <a:rPr dirty="0" sz="1300" spc="-2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is</a:t>
            </a:r>
            <a:r>
              <a:rPr dirty="0" sz="1300" spc="-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the</a:t>
            </a:r>
            <a:r>
              <a:rPr dirty="0" sz="1300" spc="-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class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table,</a:t>
            </a:r>
            <a:endParaRPr sz="1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300" spc="-25">
                <a:latin typeface="Calibri"/>
                <a:cs typeface="Calibri"/>
              </a:rPr>
              <a:t>ID</a:t>
            </a:r>
            <a:endParaRPr sz="1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300" spc="-50">
                <a:latin typeface="Calibri"/>
                <a:cs typeface="Calibri"/>
              </a:rPr>
              <a:t>1</a:t>
            </a:r>
            <a:endParaRPr sz="1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6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300" spc="-50">
                <a:latin typeface="Calibri"/>
                <a:cs typeface="Calibri"/>
              </a:rPr>
              <a:t>2</a:t>
            </a:r>
            <a:endParaRPr sz="1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300" spc="-50">
                <a:latin typeface="Calibri"/>
                <a:cs typeface="Calibri"/>
              </a:rPr>
              <a:t>3</a:t>
            </a:r>
            <a:endParaRPr sz="1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300" spc="-50">
                <a:latin typeface="Calibri"/>
                <a:cs typeface="Calibri"/>
              </a:rPr>
              <a:t>4</a:t>
            </a:r>
            <a:endParaRPr sz="1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6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300" spc="-50">
                <a:latin typeface="Calibri"/>
                <a:cs typeface="Calibri"/>
              </a:rPr>
              <a:t>5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361057" y="2705252"/>
            <a:ext cx="447040" cy="133350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300" spc="-20">
                <a:latin typeface="Calibri"/>
                <a:cs typeface="Calibri"/>
              </a:rPr>
              <a:t>NAME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300" spc="-20">
                <a:latin typeface="Calibri"/>
                <a:cs typeface="Calibri"/>
              </a:rPr>
              <a:t>abhi</a:t>
            </a:r>
            <a:endParaRPr sz="1300">
              <a:latin typeface="Calibri"/>
              <a:cs typeface="Calibri"/>
            </a:endParaRPr>
          </a:p>
          <a:p>
            <a:pPr marL="12700" marR="8255">
              <a:lnSpc>
                <a:spcPct val="110000"/>
              </a:lnSpc>
              <a:spcBef>
                <a:spcPts val="5"/>
              </a:spcBef>
            </a:pPr>
            <a:r>
              <a:rPr dirty="0" sz="1300" spc="-20">
                <a:latin typeface="Calibri"/>
                <a:cs typeface="Calibri"/>
              </a:rPr>
              <a:t>adam alex </a:t>
            </a:r>
            <a:r>
              <a:rPr dirty="0" sz="1300" spc="-25">
                <a:latin typeface="Calibri"/>
                <a:cs typeface="Calibri"/>
              </a:rPr>
              <a:t>anu </a:t>
            </a:r>
            <a:r>
              <a:rPr dirty="0" sz="1300" spc="-20">
                <a:latin typeface="Calibri"/>
                <a:cs typeface="Calibri"/>
              </a:rPr>
              <a:t>ashish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46657" y="4231030"/>
            <a:ext cx="2001520" cy="155130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300">
                <a:latin typeface="Calibri"/>
                <a:cs typeface="Calibri"/>
              </a:rPr>
              <a:t>and the </a:t>
            </a:r>
            <a:r>
              <a:rPr dirty="0" sz="1300" spc="-10">
                <a:latin typeface="Calibri"/>
                <a:cs typeface="Calibri"/>
              </a:rPr>
              <a:t>class_info</a:t>
            </a:r>
            <a:r>
              <a:rPr dirty="0" sz="1300" spc="1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table,</a:t>
            </a:r>
            <a:endParaRPr sz="1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300" spc="-25">
                <a:latin typeface="Calibri"/>
                <a:cs typeface="Calibri"/>
              </a:rPr>
              <a:t>ID</a:t>
            </a:r>
            <a:endParaRPr sz="1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6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300" spc="-50">
                <a:latin typeface="Calibri"/>
                <a:cs typeface="Calibri"/>
              </a:rPr>
              <a:t>1</a:t>
            </a:r>
            <a:endParaRPr sz="1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300" spc="-50">
                <a:latin typeface="Calibri"/>
                <a:cs typeface="Calibri"/>
              </a:rPr>
              <a:t>2</a:t>
            </a:r>
            <a:endParaRPr sz="1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300" spc="-50">
                <a:latin typeface="Calibri"/>
                <a:cs typeface="Calibri"/>
              </a:rPr>
              <a:t>3</a:t>
            </a:r>
            <a:endParaRPr sz="1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300" spc="-50">
                <a:latin typeface="Calibri"/>
                <a:cs typeface="Calibri"/>
              </a:rPr>
              <a:t>7</a:t>
            </a:r>
            <a:endParaRPr sz="1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6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300" spc="-50">
                <a:latin typeface="Calibri"/>
                <a:cs typeface="Calibri"/>
              </a:rPr>
              <a:t>8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361057" y="4448708"/>
            <a:ext cx="645795" cy="1334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1300" spc="-10">
                <a:latin typeface="Calibri"/>
                <a:cs typeface="Calibri"/>
              </a:rPr>
              <a:t>Address DELHI MUMBAI CHENNAI NOIDA PANIPAT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09955" y="641604"/>
            <a:ext cx="708660" cy="2476500"/>
            <a:chOff x="409955" y="641604"/>
            <a:chExt cx="708660" cy="2476500"/>
          </a:xfrm>
        </p:grpSpPr>
        <p:sp>
          <p:nvSpPr>
            <p:cNvPr id="3" name="object 3" descr=""/>
            <p:cNvSpPr/>
            <p:nvPr/>
          </p:nvSpPr>
          <p:spPr>
            <a:xfrm>
              <a:off x="409955" y="1022604"/>
              <a:ext cx="708660" cy="2095500"/>
            </a:xfrm>
            <a:custGeom>
              <a:avLst/>
              <a:gdLst/>
              <a:ahLst/>
              <a:cxnLst/>
              <a:rect l="l" t="t" r="r" b="b"/>
              <a:pathLst>
                <a:path w="708660" h="2095500">
                  <a:moveTo>
                    <a:pt x="0" y="0"/>
                  </a:moveTo>
                  <a:lnTo>
                    <a:pt x="0" y="1517396"/>
                  </a:lnTo>
                  <a:lnTo>
                    <a:pt x="708660" y="2095500"/>
                  </a:lnTo>
                  <a:lnTo>
                    <a:pt x="708660" y="578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09955" y="838200"/>
              <a:ext cx="402590" cy="1705610"/>
            </a:xfrm>
            <a:custGeom>
              <a:avLst/>
              <a:gdLst/>
              <a:ahLst/>
              <a:cxnLst/>
              <a:rect l="l" t="t" r="r" b="b"/>
              <a:pathLst>
                <a:path w="402590" h="1705610">
                  <a:moveTo>
                    <a:pt x="402336" y="0"/>
                  </a:moveTo>
                  <a:lnTo>
                    <a:pt x="0" y="183007"/>
                  </a:lnTo>
                  <a:lnTo>
                    <a:pt x="0" y="1705355"/>
                  </a:lnTo>
                  <a:lnTo>
                    <a:pt x="402336" y="1517777"/>
                  </a:lnTo>
                  <a:lnTo>
                    <a:pt x="402336" y="0"/>
                  </a:lnTo>
                  <a:close/>
                </a:path>
              </a:pathLst>
            </a:custGeom>
            <a:solidFill>
              <a:srgbClr val="375F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44651" y="641604"/>
              <a:ext cx="167640" cy="1713230"/>
            </a:xfrm>
            <a:custGeom>
              <a:avLst/>
              <a:gdLst/>
              <a:ahLst/>
              <a:cxnLst/>
              <a:rect l="l" t="t" r="r" b="b"/>
              <a:pathLst>
                <a:path w="167640" h="1713230">
                  <a:moveTo>
                    <a:pt x="0" y="0"/>
                  </a:moveTo>
                  <a:lnTo>
                    <a:pt x="0" y="1545336"/>
                  </a:lnTo>
                  <a:lnTo>
                    <a:pt x="167640" y="1712976"/>
                  </a:lnTo>
                  <a:lnTo>
                    <a:pt x="167640" y="169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644651" y="635508"/>
            <a:ext cx="10907395" cy="1742439"/>
            <a:chOff x="644651" y="635508"/>
            <a:chExt cx="10907395" cy="1742439"/>
          </a:xfrm>
        </p:grpSpPr>
        <p:sp>
          <p:nvSpPr>
            <p:cNvPr id="7" name="object 7" descr=""/>
            <p:cNvSpPr/>
            <p:nvPr/>
          </p:nvSpPr>
          <p:spPr>
            <a:xfrm>
              <a:off x="11222735" y="635508"/>
              <a:ext cx="329565" cy="1742439"/>
            </a:xfrm>
            <a:custGeom>
              <a:avLst/>
              <a:gdLst/>
              <a:ahLst/>
              <a:cxnLst/>
              <a:rect l="l" t="t" r="r" b="b"/>
              <a:pathLst>
                <a:path w="329565" h="1742439">
                  <a:moveTo>
                    <a:pt x="329184" y="0"/>
                  </a:moveTo>
                  <a:lnTo>
                    <a:pt x="0" y="198627"/>
                  </a:lnTo>
                  <a:lnTo>
                    <a:pt x="0" y="1741931"/>
                  </a:lnTo>
                  <a:lnTo>
                    <a:pt x="329184" y="1543303"/>
                  </a:lnTo>
                  <a:lnTo>
                    <a:pt x="329184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44651" y="635508"/>
              <a:ext cx="10907395" cy="1542415"/>
            </a:xfrm>
            <a:custGeom>
              <a:avLst/>
              <a:gdLst/>
              <a:ahLst/>
              <a:cxnLst/>
              <a:rect l="l" t="t" r="r" b="b"/>
              <a:pathLst>
                <a:path w="10907395" h="1542414">
                  <a:moveTo>
                    <a:pt x="10907268" y="0"/>
                  </a:moveTo>
                  <a:lnTo>
                    <a:pt x="0" y="0"/>
                  </a:lnTo>
                  <a:lnTo>
                    <a:pt x="0" y="1542288"/>
                  </a:lnTo>
                  <a:lnTo>
                    <a:pt x="10907268" y="1542288"/>
                  </a:lnTo>
                  <a:lnTo>
                    <a:pt x="1090726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446657" y="2335529"/>
            <a:ext cx="7929880" cy="15887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900">
                <a:latin typeface="Calibri"/>
                <a:cs typeface="Calibri"/>
              </a:rPr>
              <a:t>Left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Outer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Join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query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will</a:t>
            </a:r>
            <a:r>
              <a:rPr dirty="0" sz="1900" spc="-20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be,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15"/>
              </a:spcBef>
              <a:buFont typeface="Arial MT"/>
              <a:buChar char="•"/>
            </a:pP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1900">
                <a:latin typeface="Calibri"/>
                <a:cs typeface="Calibri"/>
              </a:rPr>
              <a:t>SELECT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*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FROM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class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LEFT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OUTER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JOIN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class_info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ON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(class.id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=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class_info.id);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buFont typeface="Arial MT"/>
              <a:buChar char="•"/>
            </a:pP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resultset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table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will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look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like,</a:t>
            </a:r>
            <a:endParaRPr sz="1900">
              <a:latin typeface="Calibri"/>
              <a:cs typeface="Calibri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1427607" y="3963873"/>
          <a:ext cx="3788410" cy="1868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5175"/>
                <a:gridCol w="974089"/>
                <a:gridCol w="815339"/>
                <a:gridCol w="1158239"/>
              </a:tblGrid>
              <a:tr h="297815">
                <a:tc>
                  <a:txBody>
                    <a:bodyPr/>
                    <a:lstStyle/>
                    <a:p>
                      <a:pPr marL="374015" indent="-342265">
                        <a:lnSpc>
                          <a:spcPts val="2095"/>
                        </a:lnSpc>
                        <a:buFont typeface="Arial MT"/>
                        <a:buChar char="•"/>
                        <a:tabLst>
                          <a:tab pos="374015" algn="l"/>
                        </a:tabLst>
                      </a:pPr>
                      <a:r>
                        <a:rPr dirty="0" sz="1900" spc="-25">
                          <a:latin typeface="Calibri"/>
                          <a:cs typeface="Calibri"/>
                        </a:rPr>
                        <a:t>ID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ts val="2095"/>
                        </a:lnSpc>
                      </a:pPr>
                      <a:r>
                        <a:rPr dirty="0" sz="1900" spc="-20">
                          <a:latin typeface="Calibri"/>
                          <a:cs typeface="Calibri"/>
                        </a:rPr>
                        <a:t>NAME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ts val="2095"/>
                        </a:lnSpc>
                      </a:pPr>
                      <a:r>
                        <a:rPr dirty="0" sz="1900" spc="-25">
                          <a:latin typeface="Calibri"/>
                          <a:cs typeface="Calibri"/>
                        </a:rPr>
                        <a:t>ID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0979">
                        <a:lnSpc>
                          <a:spcPts val="2095"/>
                        </a:lnSpc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Address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18135">
                <a:tc>
                  <a:txBody>
                    <a:bodyPr/>
                    <a:lstStyle/>
                    <a:p>
                      <a:pPr marL="374015" indent="-342265">
                        <a:lnSpc>
                          <a:spcPts val="2255"/>
                        </a:lnSpc>
                        <a:buFont typeface="Arial MT"/>
                        <a:buChar char="•"/>
                        <a:tabLst>
                          <a:tab pos="374015" algn="l"/>
                        </a:tabLst>
                      </a:pPr>
                      <a:r>
                        <a:rPr dirty="0" sz="1900" spc="-5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ts val="2255"/>
                        </a:lnSpc>
                      </a:pPr>
                      <a:r>
                        <a:rPr dirty="0" sz="1900" spc="-20">
                          <a:latin typeface="Calibri"/>
                          <a:cs typeface="Calibri"/>
                        </a:rPr>
                        <a:t>abhi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18745">
                        <a:lnSpc>
                          <a:spcPts val="2255"/>
                        </a:lnSpc>
                      </a:pPr>
                      <a:r>
                        <a:rPr dirty="0" sz="1900" spc="-5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0979">
                        <a:lnSpc>
                          <a:spcPts val="2255"/>
                        </a:lnSpc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DELHI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18135">
                <a:tc>
                  <a:txBody>
                    <a:bodyPr/>
                    <a:lstStyle/>
                    <a:p>
                      <a:pPr marL="374015" indent="-342265">
                        <a:lnSpc>
                          <a:spcPts val="2255"/>
                        </a:lnSpc>
                        <a:buFont typeface="Arial MT"/>
                        <a:buChar char="•"/>
                        <a:tabLst>
                          <a:tab pos="374015" algn="l"/>
                        </a:tabLst>
                      </a:pPr>
                      <a:r>
                        <a:rPr dirty="0" sz="1900" spc="-50">
                          <a:latin typeface="Calibri"/>
                          <a:cs typeface="Calibri"/>
                        </a:rPr>
                        <a:t>2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ts val="2255"/>
                        </a:lnSpc>
                      </a:pPr>
                      <a:r>
                        <a:rPr dirty="0" sz="1900" spc="-20">
                          <a:latin typeface="Calibri"/>
                          <a:cs typeface="Calibri"/>
                        </a:rPr>
                        <a:t>adam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18745">
                        <a:lnSpc>
                          <a:spcPts val="2255"/>
                        </a:lnSpc>
                      </a:pPr>
                      <a:r>
                        <a:rPr dirty="0" sz="1900" spc="-50">
                          <a:latin typeface="Calibri"/>
                          <a:cs typeface="Calibri"/>
                        </a:rPr>
                        <a:t>2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0979">
                        <a:lnSpc>
                          <a:spcPts val="2255"/>
                        </a:lnSpc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MUMBAI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18135">
                <a:tc>
                  <a:txBody>
                    <a:bodyPr/>
                    <a:lstStyle/>
                    <a:p>
                      <a:pPr marL="374015" indent="-342265">
                        <a:lnSpc>
                          <a:spcPts val="2255"/>
                        </a:lnSpc>
                        <a:buFont typeface="Arial MT"/>
                        <a:buChar char="•"/>
                        <a:tabLst>
                          <a:tab pos="374015" algn="l"/>
                        </a:tabLst>
                      </a:pPr>
                      <a:r>
                        <a:rPr dirty="0" sz="1900" spc="-50">
                          <a:latin typeface="Calibri"/>
                          <a:cs typeface="Calibri"/>
                        </a:rPr>
                        <a:t>3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ts val="2255"/>
                        </a:lnSpc>
                      </a:pPr>
                      <a:r>
                        <a:rPr dirty="0" sz="1900" spc="-20">
                          <a:latin typeface="Calibri"/>
                          <a:cs typeface="Calibri"/>
                        </a:rPr>
                        <a:t>alex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18745">
                        <a:lnSpc>
                          <a:spcPts val="2255"/>
                        </a:lnSpc>
                      </a:pPr>
                      <a:r>
                        <a:rPr dirty="0" sz="1900" spc="-50">
                          <a:latin typeface="Calibri"/>
                          <a:cs typeface="Calibri"/>
                        </a:rPr>
                        <a:t>3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0979">
                        <a:lnSpc>
                          <a:spcPts val="2255"/>
                        </a:lnSpc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CHENNAI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18135">
                <a:tc>
                  <a:txBody>
                    <a:bodyPr/>
                    <a:lstStyle/>
                    <a:p>
                      <a:pPr marL="374015" indent="-342265">
                        <a:lnSpc>
                          <a:spcPts val="2255"/>
                        </a:lnSpc>
                        <a:buFont typeface="Arial MT"/>
                        <a:buChar char="•"/>
                        <a:tabLst>
                          <a:tab pos="374015" algn="l"/>
                        </a:tabLst>
                      </a:pPr>
                      <a:r>
                        <a:rPr dirty="0" sz="1900" spc="-50">
                          <a:latin typeface="Calibri"/>
                          <a:cs typeface="Calibri"/>
                        </a:rPr>
                        <a:t>4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ts val="2255"/>
                        </a:lnSpc>
                      </a:pPr>
                      <a:r>
                        <a:rPr dirty="0" sz="1900" spc="-25">
                          <a:latin typeface="Calibri"/>
                          <a:cs typeface="Calibri"/>
                        </a:rPr>
                        <a:t>anu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ts val="2255"/>
                        </a:lnSpc>
                      </a:pPr>
                      <a:r>
                        <a:rPr dirty="0" sz="1900" spc="-20">
                          <a:latin typeface="Calibri"/>
                          <a:cs typeface="Calibri"/>
                        </a:rPr>
                        <a:t>null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0979">
                        <a:lnSpc>
                          <a:spcPts val="2255"/>
                        </a:lnSpc>
                      </a:pPr>
                      <a:r>
                        <a:rPr dirty="0" sz="1900" spc="-20">
                          <a:latin typeface="Calibri"/>
                          <a:cs typeface="Calibri"/>
                        </a:rPr>
                        <a:t>null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297815">
                <a:tc>
                  <a:txBody>
                    <a:bodyPr/>
                    <a:lstStyle/>
                    <a:p>
                      <a:pPr marL="374015" indent="-342265">
                        <a:lnSpc>
                          <a:spcPts val="2250"/>
                        </a:lnSpc>
                        <a:buFont typeface="Arial MT"/>
                        <a:buChar char="•"/>
                        <a:tabLst>
                          <a:tab pos="374015" algn="l"/>
                        </a:tabLst>
                      </a:pPr>
                      <a:r>
                        <a:rPr dirty="0" sz="1900" spc="-50">
                          <a:latin typeface="Calibri"/>
                          <a:cs typeface="Calibri"/>
                        </a:rPr>
                        <a:t>5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ts val="2250"/>
                        </a:lnSpc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ashish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ts val="2250"/>
                        </a:lnSpc>
                      </a:pPr>
                      <a:r>
                        <a:rPr dirty="0" sz="1900" spc="-20">
                          <a:latin typeface="Calibri"/>
                          <a:cs typeface="Calibri"/>
                        </a:rPr>
                        <a:t>null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0979">
                        <a:lnSpc>
                          <a:spcPts val="2250"/>
                        </a:lnSpc>
                      </a:pPr>
                      <a:r>
                        <a:rPr dirty="0" sz="1900" spc="-20">
                          <a:latin typeface="Calibri"/>
                          <a:cs typeface="Calibri"/>
                        </a:rPr>
                        <a:t>null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09955" y="641604"/>
            <a:ext cx="708660" cy="2476500"/>
            <a:chOff x="409955" y="641604"/>
            <a:chExt cx="708660" cy="2476500"/>
          </a:xfrm>
        </p:grpSpPr>
        <p:sp>
          <p:nvSpPr>
            <p:cNvPr id="3" name="object 3" descr=""/>
            <p:cNvSpPr/>
            <p:nvPr/>
          </p:nvSpPr>
          <p:spPr>
            <a:xfrm>
              <a:off x="409955" y="1022604"/>
              <a:ext cx="708660" cy="2095500"/>
            </a:xfrm>
            <a:custGeom>
              <a:avLst/>
              <a:gdLst/>
              <a:ahLst/>
              <a:cxnLst/>
              <a:rect l="l" t="t" r="r" b="b"/>
              <a:pathLst>
                <a:path w="708660" h="2095500">
                  <a:moveTo>
                    <a:pt x="0" y="0"/>
                  </a:moveTo>
                  <a:lnTo>
                    <a:pt x="0" y="1517396"/>
                  </a:lnTo>
                  <a:lnTo>
                    <a:pt x="708660" y="2095500"/>
                  </a:lnTo>
                  <a:lnTo>
                    <a:pt x="708660" y="578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09955" y="838200"/>
              <a:ext cx="402590" cy="1705610"/>
            </a:xfrm>
            <a:custGeom>
              <a:avLst/>
              <a:gdLst/>
              <a:ahLst/>
              <a:cxnLst/>
              <a:rect l="l" t="t" r="r" b="b"/>
              <a:pathLst>
                <a:path w="402590" h="1705610">
                  <a:moveTo>
                    <a:pt x="402336" y="0"/>
                  </a:moveTo>
                  <a:lnTo>
                    <a:pt x="0" y="183007"/>
                  </a:lnTo>
                  <a:lnTo>
                    <a:pt x="0" y="1705355"/>
                  </a:lnTo>
                  <a:lnTo>
                    <a:pt x="402336" y="1517777"/>
                  </a:lnTo>
                  <a:lnTo>
                    <a:pt x="402336" y="0"/>
                  </a:lnTo>
                  <a:close/>
                </a:path>
              </a:pathLst>
            </a:custGeom>
            <a:solidFill>
              <a:srgbClr val="375F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44651" y="641604"/>
              <a:ext cx="167640" cy="1713230"/>
            </a:xfrm>
            <a:custGeom>
              <a:avLst/>
              <a:gdLst/>
              <a:ahLst/>
              <a:cxnLst/>
              <a:rect l="l" t="t" r="r" b="b"/>
              <a:pathLst>
                <a:path w="167640" h="1713230">
                  <a:moveTo>
                    <a:pt x="0" y="0"/>
                  </a:moveTo>
                  <a:lnTo>
                    <a:pt x="0" y="1545336"/>
                  </a:lnTo>
                  <a:lnTo>
                    <a:pt x="167640" y="1712976"/>
                  </a:lnTo>
                  <a:lnTo>
                    <a:pt x="167640" y="169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11222735" y="635508"/>
            <a:ext cx="329565" cy="1742439"/>
          </a:xfrm>
          <a:custGeom>
            <a:avLst/>
            <a:gdLst/>
            <a:ahLst/>
            <a:cxnLst/>
            <a:rect l="l" t="t" r="r" b="b"/>
            <a:pathLst>
              <a:path w="329565" h="1742439">
                <a:moveTo>
                  <a:pt x="329184" y="0"/>
                </a:moveTo>
                <a:lnTo>
                  <a:pt x="0" y="198627"/>
                </a:lnTo>
                <a:lnTo>
                  <a:pt x="0" y="1741931"/>
                </a:lnTo>
                <a:lnTo>
                  <a:pt x="329184" y="1543303"/>
                </a:lnTo>
                <a:lnTo>
                  <a:pt x="329184" y="0"/>
                </a:lnTo>
                <a:close/>
              </a:path>
            </a:pathLst>
          </a:custGeom>
          <a:solidFill>
            <a:srgbClr val="244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44651" y="635508"/>
            <a:ext cx="10907395" cy="1542415"/>
          </a:xfrm>
          <a:prstGeom prst="rect"/>
          <a:solidFill>
            <a:srgbClr val="4F81BC"/>
          </a:solidFill>
        </p:spPr>
        <p:txBody>
          <a:bodyPr wrap="square" lIns="0" tIns="128905" rIns="0" bIns="0" rtlCol="0" vert="horz">
            <a:spAutoFit/>
          </a:bodyPr>
          <a:lstStyle/>
          <a:p>
            <a:pPr algn="ctr" marR="5715">
              <a:lnSpc>
                <a:spcPct val="100000"/>
              </a:lnSpc>
              <a:spcBef>
                <a:spcPts val="1015"/>
              </a:spcBef>
            </a:pPr>
            <a:r>
              <a:rPr dirty="0" sz="4000" b="1">
                <a:solidFill>
                  <a:srgbClr val="FFFFFF"/>
                </a:solidFill>
                <a:latin typeface="Calibri"/>
                <a:cs typeface="Calibri"/>
              </a:rPr>
              <a:t>RIGHT</a:t>
            </a:r>
            <a:r>
              <a:rPr dirty="0" sz="4000" spc="-1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00" b="1">
                <a:solidFill>
                  <a:srgbClr val="FFFFFF"/>
                </a:solidFill>
                <a:latin typeface="Calibri"/>
                <a:cs typeface="Calibri"/>
              </a:rPr>
              <a:t>Outer</a:t>
            </a:r>
            <a:r>
              <a:rPr dirty="0" sz="4000" spc="-1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00" spc="-20" b="1">
                <a:solidFill>
                  <a:srgbClr val="FFFFFF"/>
                </a:solidFill>
                <a:latin typeface="Calibri"/>
                <a:cs typeface="Calibri"/>
              </a:rPr>
              <a:t>Join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446657" y="2851861"/>
            <a:ext cx="9356090" cy="2367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right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outer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join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returns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resultset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matched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data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from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two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being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joined,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remaining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rows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right</a:t>
            </a:r>
            <a:r>
              <a:rPr dirty="0" sz="2400" spc="-60" b="1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table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null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remaining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left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table's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columns.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 spc="-10">
                <a:latin typeface="Calibri"/>
                <a:cs typeface="Calibri"/>
              </a:rPr>
              <a:t>Syntax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Right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Outer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Join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is,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 spc="-20">
                <a:latin typeface="Calibri"/>
                <a:cs typeface="Calibri"/>
              </a:rPr>
              <a:t>---</a:t>
            </a:r>
            <a:r>
              <a:rPr dirty="0" sz="2400">
                <a:latin typeface="Calibri"/>
                <a:cs typeface="Calibri"/>
              </a:rPr>
              <a:t>SELECT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column-name-</a:t>
            </a:r>
            <a:r>
              <a:rPr dirty="0" sz="2400">
                <a:latin typeface="Calibri"/>
                <a:cs typeface="Calibri"/>
              </a:rPr>
              <a:t>list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table-</a:t>
            </a:r>
            <a:r>
              <a:rPr dirty="0" sz="2400">
                <a:latin typeface="Calibri"/>
                <a:cs typeface="Calibri"/>
              </a:rPr>
              <a:t>name1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RIGHT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OUTER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JOIN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table-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Calibri"/>
                <a:cs typeface="Calibri"/>
              </a:rPr>
              <a:t>name2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 </a:t>
            </a:r>
            <a:r>
              <a:rPr dirty="0" sz="2400" spc="-20">
                <a:latin typeface="Calibri"/>
                <a:cs typeface="Calibri"/>
              </a:rPr>
              <a:t>table-</a:t>
            </a:r>
            <a:r>
              <a:rPr dirty="0" sz="2400" spc="-10">
                <a:latin typeface="Calibri"/>
                <a:cs typeface="Calibri"/>
              </a:rPr>
              <a:t>name1.column-</a:t>
            </a:r>
            <a:r>
              <a:rPr dirty="0" sz="2400">
                <a:latin typeface="Calibri"/>
                <a:cs typeface="Calibri"/>
              </a:rPr>
              <a:t>name =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table-</a:t>
            </a:r>
            <a:r>
              <a:rPr dirty="0" sz="2400" spc="-10">
                <a:latin typeface="Calibri"/>
                <a:cs typeface="Calibri"/>
              </a:rPr>
              <a:t>name2.column-name;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09955" y="641604"/>
            <a:ext cx="708660" cy="2476500"/>
            <a:chOff x="409955" y="641604"/>
            <a:chExt cx="708660" cy="2476500"/>
          </a:xfrm>
        </p:grpSpPr>
        <p:sp>
          <p:nvSpPr>
            <p:cNvPr id="3" name="object 3" descr=""/>
            <p:cNvSpPr/>
            <p:nvPr/>
          </p:nvSpPr>
          <p:spPr>
            <a:xfrm>
              <a:off x="409955" y="1022604"/>
              <a:ext cx="708660" cy="2095500"/>
            </a:xfrm>
            <a:custGeom>
              <a:avLst/>
              <a:gdLst/>
              <a:ahLst/>
              <a:cxnLst/>
              <a:rect l="l" t="t" r="r" b="b"/>
              <a:pathLst>
                <a:path w="708660" h="2095500">
                  <a:moveTo>
                    <a:pt x="0" y="0"/>
                  </a:moveTo>
                  <a:lnTo>
                    <a:pt x="0" y="1517396"/>
                  </a:lnTo>
                  <a:lnTo>
                    <a:pt x="708660" y="2095500"/>
                  </a:lnTo>
                  <a:lnTo>
                    <a:pt x="708660" y="578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09955" y="838200"/>
              <a:ext cx="402590" cy="1705610"/>
            </a:xfrm>
            <a:custGeom>
              <a:avLst/>
              <a:gdLst/>
              <a:ahLst/>
              <a:cxnLst/>
              <a:rect l="l" t="t" r="r" b="b"/>
              <a:pathLst>
                <a:path w="402590" h="1705610">
                  <a:moveTo>
                    <a:pt x="402336" y="0"/>
                  </a:moveTo>
                  <a:lnTo>
                    <a:pt x="0" y="183007"/>
                  </a:lnTo>
                  <a:lnTo>
                    <a:pt x="0" y="1705355"/>
                  </a:lnTo>
                  <a:lnTo>
                    <a:pt x="402336" y="1517777"/>
                  </a:lnTo>
                  <a:lnTo>
                    <a:pt x="402336" y="0"/>
                  </a:lnTo>
                  <a:close/>
                </a:path>
              </a:pathLst>
            </a:custGeom>
            <a:solidFill>
              <a:srgbClr val="375F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44651" y="641604"/>
              <a:ext cx="167640" cy="1713230"/>
            </a:xfrm>
            <a:custGeom>
              <a:avLst/>
              <a:gdLst/>
              <a:ahLst/>
              <a:cxnLst/>
              <a:rect l="l" t="t" r="r" b="b"/>
              <a:pathLst>
                <a:path w="167640" h="1713230">
                  <a:moveTo>
                    <a:pt x="0" y="0"/>
                  </a:moveTo>
                  <a:lnTo>
                    <a:pt x="0" y="1545336"/>
                  </a:lnTo>
                  <a:lnTo>
                    <a:pt x="167640" y="1712976"/>
                  </a:lnTo>
                  <a:lnTo>
                    <a:pt x="167640" y="169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644651" y="635508"/>
            <a:ext cx="10907395" cy="1742439"/>
            <a:chOff x="644651" y="635508"/>
            <a:chExt cx="10907395" cy="1742439"/>
          </a:xfrm>
        </p:grpSpPr>
        <p:sp>
          <p:nvSpPr>
            <p:cNvPr id="7" name="object 7" descr=""/>
            <p:cNvSpPr/>
            <p:nvPr/>
          </p:nvSpPr>
          <p:spPr>
            <a:xfrm>
              <a:off x="11222735" y="635508"/>
              <a:ext cx="329565" cy="1742439"/>
            </a:xfrm>
            <a:custGeom>
              <a:avLst/>
              <a:gdLst/>
              <a:ahLst/>
              <a:cxnLst/>
              <a:rect l="l" t="t" r="r" b="b"/>
              <a:pathLst>
                <a:path w="329565" h="1742439">
                  <a:moveTo>
                    <a:pt x="329184" y="0"/>
                  </a:moveTo>
                  <a:lnTo>
                    <a:pt x="0" y="198627"/>
                  </a:lnTo>
                  <a:lnTo>
                    <a:pt x="0" y="1741931"/>
                  </a:lnTo>
                  <a:lnTo>
                    <a:pt x="329184" y="1543303"/>
                  </a:lnTo>
                  <a:lnTo>
                    <a:pt x="329184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44651" y="635508"/>
              <a:ext cx="10907395" cy="1542415"/>
            </a:xfrm>
            <a:custGeom>
              <a:avLst/>
              <a:gdLst/>
              <a:ahLst/>
              <a:cxnLst/>
              <a:rect l="l" t="t" r="r" b="b"/>
              <a:pathLst>
                <a:path w="10907395" h="1542414">
                  <a:moveTo>
                    <a:pt x="10907268" y="0"/>
                  </a:moveTo>
                  <a:lnTo>
                    <a:pt x="0" y="0"/>
                  </a:lnTo>
                  <a:lnTo>
                    <a:pt x="0" y="1542288"/>
                  </a:lnTo>
                  <a:lnTo>
                    <a:pt x="10907268" y="1542288"/>
                  </a:lnTo>
                  <a:lnTo>
                    <a:pt x="1090726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446657" y="2501011"/>
            <a:ext cx="1939289" cy="5626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100">
                <a:latin typeface="Calibri"/>
                <a:cs typeface="Calibri"/>
              </a:rPr>
              <a:t>Example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Right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Outer</a:t>
            </a:r>
            <a:r>
              <a:rPr dirty="0" sz="1100" spc="-20">
                <a:latin typeface="Calibri"/>
                <a:cs typeface="Calibri"/>
              </a:rPr>
              <a:t> Join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Calibri"/>
                <a:cs typeface="Calibri"/>
              </a:rPr>
              <a:t>Once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again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class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table,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46657" y="3038068"/>
            <a:ext cx="489584" cy="113220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100" spc="-25">
                <a:latin typeface="Calibri"/>
                <a:cs typeface="Calibri"/>
              </a:rPr>
              <a:t>ID</a:t>
            </a:r>
            <a:endParaRPr sz="11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100" spc="-50"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100" spc="-50"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100" spc="-50"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100" spc="-50"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100" spc="-50">
                <a:latin typeface="Calibri"/>
                <a:cs typeface="Calibri"/>
              </a:rPr>
              <a:t>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361057" y="3038068"/>
            <a:ext cx="384810" cy="113220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1100" spc="-20">
                <a:latin typeface="Calibri"/>
                <a:cs typeface="Calibri"/>
              </a:rPr>
              <a:t>NAME</a:t>
            </a:r>
            <a:endParaRPr sz="1100">
              <a:latin typeface="Calibri"/>
              <a:cs typeface="Calibri"/>
            </a:endParaRPr>
          </a:p>
          <a:p>
            <a:pPr marL="12700" marR="8255">
              <a:lnSpc>
                <a:spcPct val="110000"/>
              </a:lnSpc>
            </a:pPr>
            <a:r>
              <a:rPr dirty="0" sz="1100" spc="-20">
                <a:latin typeface="Calibri"/>
                <a:cs typeface="Calibri"/>
              </a:rPr>
              <a:t>abhi adam alex </a:t>
            </a:r>
            <a:r>
              <a:rPr dirty="0" sz="1100" spc="-25">
                <a:latin typeface="Calibri"/>
                <a:cs typeface="Calibri"/>
              </a:rPr>
              <a:t>anu </a:t>
            </a:r>
            <a:r>
              <a:rPr dirty="0" sz="1100" spc="-10">
                <a:latin typeface="Calibri"/>
                <a:cs typeface="Calibri"/>
              </a:rPr>
              <a:t>ashish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78661" y="4345304"/>
            <a:ext cx="14014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and 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class_info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table,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446657" y="4513554"/>
            <a:ext cx="489584" cy="113220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100" spc="-25">
                <a:latin typeface="Calibri"/>
                <a:cs typeface="Calibri"/>
              </a:rPr>
              <a:t>ID</a:t>
            </a:r>
            <a:endParaRPr sz="11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100" spc="-50"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100" spc="-50"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100" spc="-50"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100" spc="-50">
                <a:latin typeface="Calibri"/>
                <a:cs typeface="Calibri"/>
              </a:rPr>
              <a:t>7</a:t>
            </a:r>
            <a:endParaRPr sz="11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100" spc="-50">
                <a:latin typeface="Calibri"/>
                <a:cs typeface="Calibri"/>
              </a:rPr>
              <a:t>8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361057" y="4513554"/>
            <a:ext cx="552450" cy="1132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1100" spc="-10">
                <a:latin typeface="Calibri"/>
                <a:cs typeface="Calibri"/>
              </a:rPr>
              <a:t>Address DELHI MUMBAI CHENNAI NOIDA PANIPAT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09955" y="641604"/>
            <a:ext cx="708660" cy="2476500"/>
            <a:chOff x="409955" y="641604"/>
            <a:chExt cx="708660" cy="2476500"/>
          </a:xfrm>
        </p:grpSpPr>
        <p:sp>
          <p:nvSpPr>
            <p:cNvPr id="3" name="object 3" descr=""/>
            <p:cNvSpPr/>
            <p:nvPr/>
          </p:nvSpPr>
          <p:spPr>
            <a:xfrm>
              <a:off x="409955" y="1022604"/>
              <a:ext cx="708660" cy="2095500"/>
            </a:xfrm>
            <a:custGeom>
              <a:avLst/>
              <a:gdLst/>
              <a:ahLst/>
              <a:cxnLst/>
              <a:rect l="l" t="t" r="r" b="b"/>
              <a:pathLst>
                <a:path w="708660" h="2095500">
                  <a:moveTo>
                    <a:pt x="0" y="0"/>
                  </a:moveTo>
                  <a:lnTo>
                    <a:pt x="0" y="1517396"/>
                  </a:lnTo>
                  <a:lnTo>
                    <a:pt x="708660" y="2095500"/>
                  </a:lnTo>
                  <a:lnTo>
                    <a:pt x="708660" y="578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09955" y="838200"/>
              <a:ext cx="402590" cy="1705610"/>
            </a:xfrm>
            <a:custGeom>
              <a:avLst/>
              <a:gdLst/>
              <a:ahLst/>
              <a:cxnLst/>
              <a:rect l="l" t="t" r="r" b="b"/>
              <a:pathLst>
                <a:path w="402590" h="1705610">
                  <a:moveTo>
                    <a:pt x="402336" y="0"/>
                  </a:moveTo>
                  <a:lnTo>
                    <a:pt x="0" y="183007"/>
                  </a:lnTo>
                  <a:lnTo>
                    <a:pt x="0" y="1705355"/>
                  </a:lnTo>
                  <a:lnTo>
                    <a:pt x="402336" y="1517777"/>
                  </a:lnTo>
                  <a:lnTo>
                    <a:pt x="402336" y="0"/>
                  </a:lnTo>
                  <a:close/>
                </a:path>
              </a:pathLst>
            </a:custGeom>
            <a:solidFill>
              <a:srgbClr val="375F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44651" y="641604"/>
              <a:ext cx="167640" cy="1713230"/>
            </a:xfrm>
            <a:custGeom>
              <a:avLst/>
              <a:gdLst/>
              <a:ahLst/>
              <a:cxnLst/>
              <a:rect l="l" t="t" r="r" b="b"/>
              <a:pathLst>
                <a:path w="167640" h="1713230">
                  <a:moveTo>
                    <a:pt x="0" y="0"/>
                  </a:moveTo>
                  <a:lnTo>
                    <a:pt x="0" y="1545336"/>
                  </a:lnTo>
                  <a:lnTo>
                    <a:pt x="167640" y="1712976"/>
                  </a:lnTo>
                  <a:lnTo>
                    <a:pt x="167640" y="169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644651" y="635508"/>
            <a:ext cx="10907395" cy="1742439"/>
            <a:chOff x="644651" y="635508"/>
            <a:chExt cx="10907395" cy="1742439"/>
          </a:xfrm>
        </p:grpSpPr>
        <p:sp>
          <p:nvSpPr>
            <p:cNvPr id="7" name="object 7" descr=""/>
            <p:cNvSpPr/>
            <p:nvPr/>
          </p:nvSpPr>
          <p:spPr>
            <a:xfrm>
              <a:off x="11222735" y="635508"/>
              <a:ext cx="329565" cy="1742439"/>
            </a:xfrm>
            <a:custGeom>
              <a:avLst/>
              <a:gdLst/>
              <a:ahLst/>
              <a:cxnLst/>
              <a:rect l="l" t="t" r="r" b="b"/>
              <a:pathLst>
                <a:path w="329565" h="1742439">
                  <a:moveTo>
                    <a:pt x="329184" y="0"/>
                  </a:moveTo>
                  <a:lnTo>
                    <a:pt x="0" y="198627"/>
                  </a:lnTo>
                  <a:lnTo>
                    <a:pt x="0" y="1741931"/>
                  </a:lnTo>
                  <a:lnTo>
                    <a:pt x="329184" y="1543303"/>
                  </a:lnTo>
                  <a:lnTo>
                    <a:pt x="329184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44651" y="635508"/>
              <a:ext cx="10907395" cy="1542415"/>
            </a:xfrm>
            <a:custGeom>
              <a:avLst/>
              <a:gdLst/>
              <a:ahLst/>
              <a:cxnLst/>
              <a:rect l="l" t="t" r="r" b="b"/>
              <a:pathLst>
                <a:path w="10907395" h="1542414">
                  <a:moveTo>
                    <a:pt x="10907268" y="0"/>
                  </a:moveTo>
                  <a:lnTo>
                    <a:pt x="0" y="0"/>
                  </a:lnTo>
                  <a:lnTo>
                    <a:pt x="0" y="1542288"/>
                  </a:lnTo>
                  <a:lnTo>
                    <a:pt x="10907268" y="1542288"/>
                  </a:lnTo>
                  <a:lnTo>
                    <a:pt x="1090726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446657" y="2335529"/>
            <a:ext cx="8094345" cy="19075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900">
                <a:latin typeface="Calibri"/>
                <a:cs typeface="Calibri"/>
              </a:rPr>
              <a:t>Right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Outer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Join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query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will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be,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15"/>
              </a:spcBef>
              <a:buFont typeface="Arial MT"/>
              <a:buChar char="•"/>
            </a:pP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1900">
                <a:latin typeface="Calibri"/>
                <a:cs typeface="Calibri"/>
              </a:rPr>
              <a:t>SELECT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*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FROM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class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RIGHT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OUTER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JOIN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class_info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ON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(class.id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=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class_info.id);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buFont typeface="Arial MT"/>
              <a:buChar char="•"/>
            </a:pP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resultant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table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will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look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like,</a:t>
            </a: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354965" algn="l"/>
                <a:tab pos="1143000" algn="l"/>
                <a:tab pos="2086610" algn="l"/>
                <a:tab pos="2512060" algn="l"/>
              </a:tabLst>
            </a:pPr>
            <a:r>
              <a:rPr dirty="0" sz="1900" spc="-25">
                <a:latin typeface="Calibri"/>
                <a:cs typeface="Calibri"/>
              </a:rPr>
              <a:t>ID</a:t>
            </a:r>
            <a:r>
              <a:rPr dirty="0" sz="1900">
                <a:latin typeface="Calibri"/>
                <a:cs typeface="Calibri"/>
              </a:rPr>
              <a:t>	</a:t>
            </a:r>
            <a:r>
              <a:rPr dirty="0" sz="1900" spc="-20">
                <a:latin typeface="Calibri"/>
                <a:cs typeface="Calibri"/>
              </a:rPr>
              <a:t>NAME</a:t>
            </a:r>
            <a:r>
              <a:rPr dirty="0" sz="1900">
                <a:latin typeface="Calibri"/>
                <a:cs typeface="Calibri"/>
              </a:rPr>
              <a:t>	</a:t>
            </a:r>
            <a:r>
              <a:rPr dirty="0" sz="1900" spc="-25">
                <a:latin typeface="Calibri"/>
                <a:cs typeface="Calibri"/>
              </a:rPr>
              <a:t>ID</a:t>
            </a:r>
            <a:r>
              <a:rPr dirty="0" sz="1900">
                <a:latin typeface="Calibri"/>
                <a:cs typeface="Calibri"/>
              </a:rPr>
              <a:t>	</a:t>
            </a:r>
            <a:r>
              <a:rPr dirty="0" sz="1900" spc="-10">
                <a:latin typeface="Calibri"/>
                <a:cs typeface="Calibri"/>
              </a:rPr>
              <a:t>Address</a:t>
            </a:r>
            <a:endParaRPr sz="1900">
              <a:latin typeface="Calibri"/>
              <a:cs typeface="Calibri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1427607" y="4282389"/>
          <a:ext cx="4492625" cy="1551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110"/>
                <a:gridCol w="704850"/>
                <a:gridCol w="1131569"/>
                <a:gridCol w="493394"/>
                <a:gridCol w="806450"/>
                <a:gridCol w="1032510"/>
              </a:tblGrid>
              <a:tr h="298450">
                <a:tc>
                  <a:txBody>
                    <a:bodyPr/>
                    <a:lstStyle/>
                    <a:p>
                      <a:pPr marL="31750">
                        <a:lnSpc>
                          <a:spcPts val="2095"/>
                        </a:lnSpc>
                      </a:pPr>
                      <a:r>
                        <a:rPr dirty="0" sz="1900" spc="-50">
                          <a:latin typeface="Arial MT"/>
                          <a:cs typeface="Arial MT"/>
                        </a:rPr>
                        <a:t>•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ts val="2095"/>
                        </a:lnSpc>
                      </a:pPr>
                      <a:r>
                        <a:rPr dirty="0" sz="1900" spc="-5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73380">
                        <a:lnSpc>
                          <a:spcPts val="2095"/>
                        </a:lnSpc>
                      </a:pPr>
                      <a:r>
                        <a:rPr dirty="0" sz="1900" spc="-20">
                          <a:latin typeface="Calibri"/>
                          <a:cs typeface="Calibri"/>
                        </a:rPr>
                        <a:t>abhi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ts val="2095"/>
                        </a:lnSpc>
                      </a:pPr>
                      <a:r>
                        <a:rPr dirty="0" sz="1900" spc="-5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2095"/>
                        </a:lnSpc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DELHI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8450">
                <a:tc>
                  <a:txBody>
                    <a:bodyPr/>
                    <a:lstStyle/>
                    <a:p>
                      <a:pPr marL="31750">
                        <a:lnSpc>
                          <a:spcPts val="2250"/>
                        </a:lnSpc>
                      </a:pPr>
                      <a:r>
                        <a:rPr dirty="0" sz="1900" spc="-50">
                          <a:latin typeface="Arial MT"/>
                          <a:cs typeface="Arial MT"/>
                        </a:rPr>
                        <a:t>•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ts val="2250"/>
                        </a:lnSpc>
                      </a:pPr>
                      <a:r>
                        <a:rPr dirty="0" sz="1900" spc="-50">
                          <a:latin typeface="Calibri"/>
                          <a:cs typeface="Calibri"/>
                        </a:rPr>
                        <a:t>2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73380">
                        <a:lnSpc>
                          <a:spcPts val="2250"/>
                        </a:lnSpc>
                      </a:pPr>
                      <a:r>
                        <a:rPr dirty="0" sz="1900" spc="-20">
                          <a:latin typeface="Calibri"/>
                          <a:cs typeface="Calibri"/>
                        </a:rPr>
                        <a:t>adam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0330">
                        <a:lnSpc>
                          <a:spcPts val="2250"/>
                        </a:lnSpc>
                      </a:pPr>
                      <a:r>
                        <a:rPr dirty="0" sz="1900" spc="-50">
                          <a:latin typeface="Calibri"/>
                          <a:cs typeface="Calibri"/>
                        </a:rPr>
                        <a:t>2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2250"/>
                        </a:lnSpc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MUMBAI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384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900" spc="-50">
                          <a:latin typeface="Arial MT"/>
                          <a:cs typeface="Arial MT"/>
                        </a:rPr>
                        <a:t>•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B="0" marT="16510"/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900" spc="-50">
                          <a:latin typeface="Calibri"/>
                          <a:cs typeface="Calibri"/>
                        </a:rPr>
                        <a:t>3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16510"/>
                </a:tc>
                <a:tc>
                  <a:txBody>
                    <a:bodyPr/>
                    <a:lstStyle/>
                    <a:p>
                      <a:pPr marL="3733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900" spc="-20">
                          <a:latin typeface="Calibri"/>
                          <a:cs typeface="Calibri"/>
                        </a:rPr>
                        <a:t>alex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16510"/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900" spc="-50">
                          <a:latin typeface="Calibri"/>
                          <a:cs typeface="Calibri"/>
                        </a:rPr>
                        <a:t>3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16510"/>
                </a:tc>
                <a:tc gridSpan="2"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CHENNAI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1651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18135">
                <a:tc>
                  <a:txBody>
                    <a:bodyPr/>
                    <a:lstStyle/>
                    <a:p>
                      <a:pPr marL="31750">
                        <a:lnSpc>
                          <a:spcPts val="2255"/>
                        </a:lnSpc>
                      </a:pPr>
                      <a:r>
                        <a:rPr dirty="0" sz="1900" spc="-50">
                          <a:latin typeface="Arial MT"/>
                          <a:cs typeface="Arial MT"/>
                        </a:rPr>
                        <a:t>•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ts val="2255"/>
                        </a:lnSpc>
                      </a:pPr>
                      <a:r>
                        <a:rPr dirty="0" sz="1900" spc="-20">
                          <a:latin typeface="Calibri"/>
                          <a:cs typeface="Calibri"/>
                        </a:rPr>
                        <a:t>null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1454">
                        <a:lnSpc>
                          <a:spcPts val="2255"/>
                        </a:lnSpc>
                      </a:pPr>
                      <a:r>
                        <a:rPr dirty="0" sz="1900" spc="-20">
                          <a:latin typeface="Calibri"/>
                          <a:cs typeface="Calibri"/>
                        </a:rPr>
                        <a:t>null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ts val="2255"/>
                        </a:lnSpc>
                      </a:pPr>
                      <a:r>
                        <a:rPr dirty="0" sz="1900" spc="-50">
                          <a:latin typeface="Calibri"/>
                          <a:cs typeface="Calibri"/>
                        </a:rPr>
                        <a:t>7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16535">
                        <a:lnSpc>
                          <a:spcPts val="2255"/>
                        </a:lnSpc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NOIDA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7815">
                <a:tc>
                  <a:txBody>
                    <a:bodyPr/>
                    <a:lstStyle/>
                    <a:p>
                      <a:pPr marL="31750">
                        <a:lnSpc>
                          <a:spcPts val="2250"/>
                        </a:lnSpc>
                      </a:pPr>
                      <a:r>
                        <a:rPr dirty="0" sz="1900" spc="-50">
                          <a:latin typeface="Arial MT"/>
                          <a:cs typeface="Arial MT"/>
                        </a:rPr>
                        <a:t>•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ts val="2250"/>
                        </a:lnSpc>
                      </a:pPr>
                      <a:r>
                        <a:rPr dirty="0" sz="1900" spc="-20">
                          <a:latin typeface="Calibri"/>
                          <a:cs typeface="Calibri"/>
                        </a:rPr>
                        <a:t>null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1454">
                        <a:lnSpc>
                          <a:spcPts val="2250"/>
                        </a:lnSpc>
                      </a:pPr>
                      <a:r>
                        <a:rPr dirty="0" sz="1900" spc="-20">
                          <a:latin typeface="Calibri"/>
                          <a:cs typeface="Calibri"/>
                        </a:rPr>
                        <a:t>null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ts val="2250"/>
                        </a:lnSpc>
                      </a:pPr>
                      <a:r>
                        <a:rPr dirty="0" sz="1900" spc="-50">
                          <a:latin typeface="Calibri"/>
                          <a:cs typeface="Calibri"/>
                        </a:rPr>
                        <a:t>8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25120">
                        <a:lnSpc>
                          <a:spcPts val="2250"/>
                        </a:lnSpc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PANIPAT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09955" y="641604"/>
            <a:ext cx="708660" cy="2476500"/>
            <a:chOff x="409955" y="641604"/>
            <a:chExt cx="708660" cy="2476500"/>
          </a:xfrm>
        </p:grpSpPr>
        <p:sp>
          <p:nvSpPr>
            <p:cNvPr id="3" name="object 3" descr=""/>
            <p:cNvSpPr/>
            <p:nvPr/>
          </p:nvSpPr>
          <p:spPr>
            <a:xfrm>
              <a:off x="409955" y="1022604"/>
              <a:ext cx="708660" cy="2095500"/>
            </a:xfrm>
            <a:custGeom>
              <a:avLst/>
              <a:gdLst/>
              <a:ahLst/>
              <a:cxnLst/>
              <a:rect l="l" t="t" r="r" b="b"/>
              <a:pathLst>
                <a:path w="708660" h="2095500">
                  <a:moveTo>
                    <a:pt x="0" y="0"/>
                  </a:moveTo>
                  <a:lnTo>
                    <a:pt x="0" y="1517396"/>
                  </a:lnTo>
                  <a:lnTo>
                    <a:pt x="708660" y="2095500"/>
                  </a:lnTo>
                  <a:lnTo>
                    <a:pt x="708660" y="578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09955" y="838200"/>
              <a:ext cx="402590" cy="1705610"/>
            </a:xfrm>
            <a:custGeom>
              <a:avLst/>
              <a:gdLst/>
              <a:ahLst/>
              <a:cxnLst/>
              <a:rect l="l" t="t" r="r" b="b"/>
              <a:pathLst>
                <a:path w="402590" h="1705610">
                  <a:moveTo>
                    <a:pt x="402336" y="0"/>
                  </a:moveTo>
                  <a:lnTo>
                    <a:pt x="0" y="183007"/>
                  </a:lnTo>
                  <a:lnTo>
                    <a:pt x="0" y="1705355"/>
                  </a:lnTo>
                  <a:lnTo>
                    <a:pt x="402336" y="1517777"/>
                  </a:lnTo>
                  <a:lnTo>
                    <a:pt x="402336" y="0"/>
                  </a:lnTo>
                  <a:close/>
                </a:path>
              </a:pathLst>
            </a:custGeom>
            <a:solidFill>
              <a:srgbClr val="375F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44651" y="641604"/>
              <a:ext cx="167640" cy="1713230"/>
            </a:xfrm>
            <a:custGeom>
              <a:avLst/>
              <a:gdLst/>
              <a:ahLst/>
              <a:cxnLst/>
              <a:rect l="l" t="t" r="r" b="b"/>
              <a:pathLst>
                <a:path w="167640" h="1713230">
                  <a:moveTo>
                    <a:pt x="0" y="0"/>
                  </a:moveTo>
                  <a:lnTo>
                    <a:pt x="0" y="1545336"/>
                  </a:lnTo>
                  <a:lnTo>
                    <a:pt x="167640" y="1712976"/>
                  </a:lnTo>
                  <a:lnTo>
                    <a:pt x="167640" y="169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11222735" y="635508"/>
            <a:ext cx="329565" cy="1742439"/>
          </a:xfrm>
          <a:custGeom>
            <a:avLst/>
            <a:gdLst/>
            <a:ahLst/>
            <a:cxnLst/>
            <a:rect l="l" t="t" r="r" b="b"/>
            <a:pathLst>
              <a:path w="329565" h="1742439">
                <a:moveTo>
                  <a:pt x="329184" y="0"/>
                </a:moveTo>
                <a:lnTo>
                  <a:pt x="0" y="198627"/>
                </a:lnTo>
                <a:lnTo>
                  <a:pt x="0" y="1741931"/>
                </a:lnTo>
                <a:lnTo>
                  <a:pt x="329184" y="1543303"/>
                </a:lnTo>
                <a:lnTo>
                  <a:pt x="329184" y="0"/>
                </a:lnTo>
                <a:close/>
              </a:path>
            </a:pathLst>
          </a:custGeom>
          <a:solidFill>
            <a:srgbClr val="244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44651" y="635508"/>
            <a:ext cx="10907395" cy="1542415"/>
          </a:xfrm>
          <a:prstGeom prst="rect"/>
          <a:solidFill>
            <a:srgbClr val="4F81BC"/>
          </a:solidFill>
        </p:spPr>
        <p:txBody>
          <a:bodyPr wrap="square" lIns="0" tIns="128905" rIns="0" bIns="0" rtlCol="0" vert="horz">
            <a:spAutoFit/>
          </a:bodyPr>
          <a:lstStyle/>
          <a:p>
            <a:pPr algn="ctr" marR="4445">
              <a:lnSpc>
                <a:spcPct val="100000"/>
              </a:lnSpc>
              <a:spcBef>
                <a:spcPts val="1015"/>
              </a:spcBef>
            </a:pPr>
            <a:r>
              <a:rPr dirty="0" sz="4000">
                <a:solidFill>
                  <a:srgbClr val="FFFFFF"/>
                </a:solidFill>
              </a:rPr>
              <a:t>Full</a:t>
            </a:r>
            <a:r>
              <a:rPr dirty="0" sz="4000" spc="-85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Outer</a:t>
            </a:r>
            <a:r>
              <a:rPr dirty="0" sz="4000" spc="-70">
                <a:solidFill>
                  <a:srgbClr val="FFFFFF"/>
                </a:solidFill>
              </a:rPr>
              <a:t> </a:t>
            </a:r>
            <a:r>
              <a:rPr dirty="0" sz="4000" spc="-20">
                <a:solidFill>
                  <a:srgbClr val="FFFFFF"/>
                </a:solidFill>
              </a:rPr>
              <a:t>Join</a:t>
            </a:r>
            <a:endParaRPr sz="4000"/>
          </a:p>
        </p:txBody>
      </p:sp>
      <p:sp>
        <p:nvSpPr>
          <p:cNvPr id="8" name="object 8" descr=""/>
          <p:cNvSpPr txBox="1"/>
          <p:nvPr/>
        </p:nvSpPr>
        <p:spPr>
          <a:xfrm>
            <a:off x="1446657" y="2815285"/>
            <a:ext cx="9332595" cy="2440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full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outer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join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returns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resultset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matched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two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remaining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rows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both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left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right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table.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400" spc="-10">
                <a:latin typeface="Calibri"/>
                <a:cs typeface="Calibri"/>
              </a:rPr>
              <a:t>Syntax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Full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Outer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Join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is,</a:t>
            </a:r>
            <a:endParaRPr sz="2400">
              <a:latin typeface="Calibri"/>
              <a:cs typeface="Calibri"/>
            </a:endParaRPr>
          </a:p>
          <a:p>
            <a:pPr marL="12700" marR="451484">
              <a:lnSpc>
                <a:spcPct val="100000"/>
              </a:lnSpc>
              <a:spcBef>
                <a:spcPts val="580"/>
              </a:spcBef>
              <a:tabLst>
                <a:tab pos="1005205" algn="l"/>
                <a:tab pos="4278630" algn="l"/>
              </a:tabLst>
            </a:pPr>
            <a:r>
              <a:rPr dirty="0" sz="2400" spc="-20">
                <a:latin typeface="Calibri"/>
                <a:cs typeface="Calibri"/>
              </a:rPr>
              <a:t>--</a:t>
            </a:r>
            <a:r>
              <a:rPr dirty="0" sz="2400">
                <a:latin typeface="Calibri"/>
                <a:cs typeface="Calibri"/>
              </a:rPr>
              <a:t>SELECT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column-</a:t>
            </a:r>
            <a:r>
              <a:rPr dirty="0" sz="2400" spc="-20">
                <a:latin typeface="Calibri"/>
                <a:cs typeface="Calibri"/>
              </a:rPr>
              <a:t>name-</a:t>
            </a:r>
            <a:r>
              <a:rPr dirty="0" sz="2400">
                <a:latin typeface="Calibri"/>
                <a:cs typeface="Calibri"/>
              </a:rPr>
              <a:t>list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FROM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20">
                <a:latin typeface="Calibri"/>
                <a:cs typeface="Calibri"/>
              </a:rPr>
              <a:t>table-</a:t>
            </a:r>
            <a:r>
              <a:rPr dirty="0" sz="2400">
                <a:latin typeface="Calibri"/>
                <a:cs typeface="Calibri"/>
              </a:rPr>
              <a:t>name1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FULL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OUTER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JOIN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table- name2</a:t>
            </a:r>
            <a:r>
              <a:rPr dirty="0" sz="2400">
                <a:latin typeface="Calibri"/>
                <a:cs typeface="Calibri"/>
              </a:rPr>
              <a:t>	ON </a:t>
            </a:r>
            <a:r>
              <a:rPr dirty="0" sz="2400" spc="-20">
                <a:latin typeface="Calibri"/>
                <a:cs typeface="Calibri"/>
              </a:rPr>
              <a:t>table-</a:t>
            </a:r>
            <a:r>
              <a:rPr dirty="0" sz="2400" spc="-10">
                <a:latin typeface="Calibri"/>
                <a:cs typeface="Calibri"/>
              </a:rPr>
              <a:t>name1.column-</a:t>
            </a:r>
            <a:r>
              <a:rPr dirty="0" sz="2400">
                <a:latin typeface="Calibri"/>
                <a:cs typeface="Calibri"/>
              </a:rPr>
              <a:t>name = </a:t>
            </a:r>
            <a:r>
              <a:rPr dirty="0" sz="2400" spc="-20">
                <a:latin typeface="Calibri"/>
                <a:cs typeface="Calibri"/>
              </a:rPr>
              <a:t>table-</a:t>
            </a:r>
            <a:r>
              <a:rPr dirty="0" sz="2400" spc="-10">
                <a:latin typeface="Calibri"/>
                <a:cs typeface="Calibri"/>
              </a:rPr>
              <a:t>name2.column-name;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738936" y="2378786"/>
            <a:ext cx="3472815" cy="1367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50545" marR="5080" indent="-53848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r>
              <a:rPr dirty="0" sz="4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4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4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400" spc="-20">
                <a:solidFill>
                  <a:srgbClr val="FFFFFF"/>
                </a:solidFill>
                <a:latin typeface="Calibri"/>
                <a:cs typeface="Calibri"/>
              </a:rPr>
              <a:t>Full </a:t>
            </a:r>
            <a:r>
              <a:rPr dirty="0" sz="4400">
                <a:solidFill>
                  <a:srgbClr val="FFFFFF"/>
                </a:solidFill>
                <a:latin typeface="Calibri"/>
                <a:cs typeface="Calibri"/>
              </a:rPr>
              <a:t>outer</a:t>
            </a:r>
            <a:r>
              <a:rPr dirty="0" sz="440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400" spc="-10">
                <a:solidFill>
                  <a:srgbClr val="FFFFFF"/>
                </a:solidFill>
                <a:latin typeface="Calibri"/>
                <a:cs typeface="Calibri"/>
              </a:rPr>
              <a:t>join: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170167" y="811809"/>
            <a:ext cx="1856739" cy="225552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class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table,</a:t>
            </a: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1900" spc="-25">
                <a:latin typeface="Calibri"/>
                <a:cs typeface="Calibri"/>
              </a:rPr>
              <a:t>ID</a:t>
            </a:r>
            <a:r>
              <a:rPr dirty="0" sz="1900">
                <a:latin typeface="Calibri"/>
                <a:cs typeface="Calibri"/>
              </a:rPr>
              <a:t>	</a:t>
            </a:r>
            <a:r>
              <a:rPr dirty="0" sz="1900" spc="-20">
                <a:latin typeface="Calibri"/>
                <a:cs typeface="Calibri"/>
              </a:rPr>
              <a:t>NAME</a:t>
            </a: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1900" spc="-50">
                <a:latin typeface="Calibri"/>
                <a:cs typeface="Calibri"/>
              </a:rPr>
              <a:t>1</a:t>
            </a:r>
            <a:r>
              <a:rPr dirty="0" sz="1900">
                <a:latin typeface="Calibri"/>
                <a:cs typeface="Calibri"/>
              </a:rPr>
              <a:t>	</a:t>
            </a:r>
            <a:r>
              <a:rPr dirty="0" sz="1900" spc="-20">
                <a:latin typeface="Calibri"/>
                <a:cs typeface="Calibri"/>
              </a:rPr>
              <a:t>abhi</a:t>
            </a: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1900" spc="-50">
                <a:latin typeface="Calibri"/>
                <a:cs typeface="Calibri"/>
              </a:rPr>
              <a:t>2</a:t>
            </a:r>
            <a:r>
              <a:rPr dirty="0" sz="1900">
                <a:latin typeface="Calibri"/>
                <a:cs typeface="Calibri"/>
              </a:rPr>
              <a:t>	</a:t>
            </a:r>
            <a:r>
              <a:rPr dirty="0" sz="1900" spc="-20">
                <a:latin typeface="Calibri"/>
                <a:cs typeface="Calibri"/>
              </a:rPr>
              <a:t>adam</a:t>
            </a: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1900" spc="-50">
                <a:latin typeface="Calibri"/>
                <a:cs typeface="Calibri"/>
              </a:rPr>
              <a:t>3</a:t>
            </a:r>
            <a:r>
              <a:rPr dirty="0" sz="1900">
                <a:latin typeface="Calibri"/>
                <a:cs typeface="Calibri"/>
              </a:rPr>
              <a:t>	</a:t>
            </a:r>
            <a:r>
              <a:rPr dirty="0" sz="1900" spc="-20">
                <a:latin typeface="Calibri"/>
                <a:cs typeface="Calibri"/>
              </a:rPr>
              <a:t>alex</a:t>
            </a: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1900" spc="-50">
                <a:latin typeface="Calibri"/>
                <a:cs typeface="Calibri"/>
              </a:rPr>
              <a:t>4</a:t>
            </a:r>
            <a:r>
              <a:rPr dirty="0" sz="1900">
                <a:latin typeface="Calibri"/>
                <a:cs typeface="Calibri"/>
              </a:rPr>
              <a:t>	</a:t>
            </a:r>
            <a:r>
              <a:rPr dirty="0" sz="1900" spc="-25">
                <a:latin typeface="Calibri"/>
                <a:cs typeface="Calibri"/>
              </a:rPr>
              <a:t>anu</a:t>
            </a: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1900" spc="-50">
                <a:latin typeface="Calibri"/>
                <a:cs typeface="Calibri"/>
              </a:rPr>
              <a:t>5</a:t>
            </a:r>
            <a:r>
              <a:rPr dirty="0" sz="1900">
                <a:latin typeface="Calibri"/>
                <a:cs typeface="Calibri"/>
              </a:rPr>
              <a:t>	</a:t>
            </a:r>
            <a:r>
              <a:rPr dirty="0" sz="1900" spc="-10">
                <a:latin typeface="Calibri"/>
                <a:cs typeface="Calibri"/>
              </a:rPr>
              <a:t>ashish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170167" y="3360572"/>
            <a:ext cx="2741295" cy="225552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2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class_info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table,</a:t>
            </a: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1900" spc="-25">
                <a:latin typeface="Calibri"/>
                <a:cs typeface="Calibri"/>
              </a:rPr>
              <a:t>ID</a:t>
            </a:r>
            <a:r>
              <a:rPr dirty="0" sz="1900">
                <a:latin typeface="Calibri"/>
                <a:cs typeface="Calibri"/>
              </a:rPr>
              <a:t>	</a:t>
            </a:r>
            <a:r>
              <a:rPr dirty="0" sz="1900" spc="-10">
                <a:latin typeface="Calibri"/>
                <a:cs typeface="Calibri"/>
              </a:rPr>
              <a:t>Address</a:t>
            </a: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1900" spc="-50">
                <a:latin typeface="Calibri"/>
                <a:cs typeface="Calibri"/>
              </a:rPr>
              <a:t>1</a:t>
            </a:r>
            <a:r>
              <a:rPr dirty="0" sz="1900">
                <a:latin typeface="Calibri"/>
                <a:cs typeface="Calibri"/>
              </a:rPr>
              <a:t>	</a:t>
            </a:r>
            <a:r>
              <a:rPr dirty="0" sz="1900" spc="-10">
                <a:latin typeface="Calibri"/>
                <a:cs typeface="Calibri"/>
              </a:rPr>
              <a:t>DELHI</a:t>
            </a: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1900" spc="-50">
                <a:latin typeface="Calibri"/>
                <a:cs typeface="Calibri"/>
              </a:rPr>
              <a:t>2</a:t>
            </a:r>
            <a:r>
              <a:rPr dirty="0" sz="1900">
                <a:latin typeface="Calibri"/>
                <a:cs typeface="Calibri"/>
              </a:rPr>
              <a:t>	</a:t>
            </a:r>
            <a:r>
              <a:rPr dirty="0" sz="1900" spc="-10">
                <a:latin typeface="Calibri"/>
                <a:cs typeface="Calibri"/>
              </a:rPr>
              <a:t>MUMBAI</a:t>
            </a: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1900" spc="-50">
                <a:latin typeface="Calibri"/>
                <a:cs typeface="Calibri"/>
              </a:rPr>
              <a:t>3</a:t>
            </a:r>
            <a:r>
              <a:rPr dirty="0" sz="1900">
                <a:latin typeface="Calibri"/>
                <a:cs typeface="Calibri"/>
              </a:rPr>
              <a:t>	</a:t>
            </a:r>
            <a:r>
              <a:rPr dirty="0" sz="1900" spc="-10">
                <a:latin typeface="Calibri"/>
                <a:cs typeface="Calibri"/>
              </a:rPr>
              <a:t>CHENNAI</a:t>
            </a: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1900" spc="-50">
                <a:latin typeface="Calibri"/>
                <a:cs typeface="Calibri"/>
              </a:rPr>
              <a:t>7</a:t>
            </a:r>
            <a:r>
              <a:rPr dirty="0" sz="1900">
                <a:latin typeface="Calibri"/>
                <a:cs typeface="Calibri"/>
              </a:rPr>
              <a:t>	</a:t>
            </a:r>
            <a:r>
              <a:rPr dirty="0" sz="1900" spc="-20">
                <a:latin typeface="Calibri"/>
                <a:cs typeface="Calibri"/>
              </a:rPr>
              <a:t>NOIDA</a:t>
            </a: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354965" algn="l"/>
                <a:tab pos="926465" algn="l"/>
              </a:tabLst>
            </a:pPr>
            <a:r>
              <a:rPr dirty="0" sz="1900" spc="-50">
                <a:latin typeface="Calibri"/>
                <a:cs typeface="Calibri"/>
              </a:rPr>
              <a:t>8</a:t>
            </a:r>
            <a:r>
              <a:rPr dirty="0" sz="1900">
                <a:latin typeface="Calibri"/>
                <a:cs typeface="Calibri"/>
              </a:rPr>
              <a:t>	</a:t>
            </a:r>
            <a:r>
              <a:rPr dirty="0" sz="1900" spc="-10">
                <a:latin typeface="Calibri"/>
                <a:cs typeface="Calibri"/>
              </a:rPr>
              <a:t>PANIPAT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170167" y="102235"/>
            <a:ext cx="4782820" cy="21374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Full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Outer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Join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query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will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like,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80"/>
              </a:spcBef>
              <a:buFont typeface="Arial MT"/>
              <a:buChar char="•"/>
            </a:pP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ts val="251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SELECT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*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FROM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class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FULL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OUTER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JOIN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ts val="2510"/>
              </a:lnSpc>
            </a:pPr>
            <a:r>
              <a:rPr dirty="0" sz="2200">
                <a:latin typeface="Calibri"/>
                <a:cs typeface="Calibri"/>
              </a:rPr>
              <a:t>class_info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(class.id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=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class_info.id);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resultset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table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will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look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like,</a:t>
            </a:r>
            <a:endParaRPr sz="22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6151117" y="2287399"/>
          <a:ext cx="3933825" cy="29025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219"/>
                <a:gridCol w="890269"/>
                <a:gridCol w="767714"/>
                <a:gridCol w="1329054"/>
              </a:tblGrid>
              <a:tr h="345440">
                <a:tc>
                  <a:txBody>
                    <a:bodyPr/>
                    <a:lstStyle/>
                    <a:p>
                      <a:pPr marL="374015" indent="-342265">
                        <a:lnSpc>
                          <a:spcPts val="2430"/>
                        </a:lnSpc>
                        <a:buFont typeface="Arial MT"/>
                        <a:buChar char="•"/>
                        <a:tabLst>
                          <a:tab pos="374015" algn="l"/>
                        </a:tabLst>
                      </a:pPr>
                      <a:r>
                        <a:rPr dirty="0" sz="2200" spc="-25">
                          <a:latin typeface="Calibri"/>
                          <a:cs typeface="Calibri"/>
                        </a:rPr>
                        <a:t>ID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2430"/>
                        </a:lnSpc>
                      </a:pPr>
                      <a:r>
                        <a:rPr dirty="0" sz="2200" spc="-20">
                          <a:latin typeface="Calibri"/>
                          <a:cs typeface="Calibri"/>
                        </a:rPr>
                        <a:t>NAME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2430"/>
                        </a:lnSpc>
                      </a:pPr>
                      <a:r>
                        <a:rPr dirty="0" sz="2200" spc="-25">
                          <a:latin typeface="Calibri"/>
                          <a:cs typeface="Calibri"/>
                        </a:rPr>
                        <a:t>ID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6379">
                        <a:lnSpc>
                          <a:spcPts val="2430"/>
                        </a:lnSpc>
                      </a:pPr>
                      <a:r>
                        <a:rPr dirty="0" sz="2200" spc="-10">
                          <a:latin typeface="Calibri"/>
                          <a:cs typeface="Calibri"/>
                        </a:rPr>
                        <a:t>Address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68300">
                <a:tc>
                  <a:txBody>
                    <a:bodyPr/>
                    <a:lstStyle/>
                    <a:p>
                      <a:pPr marL="374015" indent="-342265">
                        <a:lnSpc>
                          <a:spcPts val="2610"/>
                        </a:lnSpc>
                        <a:buFont typeface="Arial MT"/>
                        <a:buChar char="•"/>
                        <a:tabLst>
                          <a:tab pos="374015" algn="l"/>
                        </a:tabLst>
                      </a:pPr>
                      <a:r>
                        <a:rPr dirty="0" sz="2200" spc="-50">
                          <a:latin typeface="Calibri"/>
                          <a:cs typeface="Calibri"/>
                        </a:rPr>
                        <a:t>1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2610"/>
                        </a:lnSpc>
                      </a:pPr>
                      <a:r>
                        <a:rPr dirty="0" sz="2200" spc="-20">
                          <a:latin typeface="Calibri"/>
                          <a:cs typeface="Calibri"/>
                        </a:rPr>
                        <a:t>abhi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2610"/>
                        </a:lnSpc>
                      </a:pPr>
                      <a:r>
                        <a:rPr dirty="0" sz="2200" spc="-50">
                          <a:latin typeface="Calibri"/>
                          <a:cs typeface="Calibri"/>
                        </a:rPr>
                        <a:t>1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6379">
                        <a:lnSpc>
                          <a:spcPts val="2610"/>
                        </a:lnSpc>
                      </a:pPr>
                      <a:r>
                        <a:rPr dirty="0" sz="2200" spc="-10">
                          <a:latin typeface="Calibri"/>
                          <a:cs typeface="Calibri"/>
                        </a:rPr>
                        <a:t>DELHI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68935">
                <a:tc>
                  <a:txBody>
                    <a:bodyPr/>
                    <a:lstStyle/>
                    <a:p>
                      <a:pPr marL="374015" indent="-342265">
                        <a:lnSpc>
                          <a:spcPts val="2610"/>
                        </a:lnSpc>
                        <a:buFont typeface="Arial MT"/>
                        <a:buChar char="•"/>
                        <a:tabLst>
                          <a:tab pos="374015" algn="l"/>
                        </a:tabLst>
                      </a:pPr>
                      <a:r>
                        <a:rPr dirty="0" sz="2200" spc="-50">
                          <a:latin typeface="Calibri"/>
                          <a:cs typeface="Calibri"/>
                        </a:rPr>
                        <a:t>2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2610"/>
                        </a:lnSpc>
                      </a:pPr>
                      <a:r>
                        <a:rPr dirty="0" sz="2200" spc="-20">
                          <a:latin typeface="Calibri"/>
                          <a:cs typeface="Calibri"/>
                        </a:rPr>
                        <a:t>adam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2610"/>
                        </a:lnSpc>
                      </a:pPr>
                      <a:r>
                        <a:rPr dirty="0" sz="2200" spc="-50">
                          <a:latin typeface="Calibri"/>
                          <a:cs typeface="Calibri"/>
                        </a:rPr>
                        <a:t>2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6379">
                        <a:lnSpc>
                          <a:spcPts val="2610"/>
                        </a:lnSpc>
                      </a:pPr>
                      <a:r>
                        <a:rPr dirty="0" sz="2200" spc="-10">
                          <a:latin typeface="Calibri"/>
                          <a:cs typeface="Calibri"/>
                        </a:rPr>
                        <a:t>MUMBAI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68935">
                <a:tc>
                  <a:txBody>
                    <a:bodyPr/>
                    <a:lstStyle/>
                    <a:p>
                      <a:pPr marL="374015" indent="-342265">
                        <a:lnSpc>
                          <a:spcPts val="2615"/>
                        </a:lnSpc>
                        <a:buFont typeface="Arial MT"/>
                        <a:buChar char="•"/>
                        <a:tabLst>
                          <a:tab pos="374015" algn="l"/>
                        </a:tabLst>
                      </a:pPr>
                      <a:r>
                        <a:rPr dirty="0" sz="2200" spc="-50">
                          <a:latin typeface="Calibri"/>
                          <a:cs typeface="Calibri"/>
                        </a:rPr>
                        <a:t>3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2615"/>
                        </a:lnSpc>
                      </a:pPr>
                      <a:r>
                        <a:rPr dirty="0" sz="2200" spc="-20">
                          <a:latin typeface="Calibri"/>
                          <a:cs typeface="Calibri"/>
                        </a:rPr>
                        <a:t>alex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2615"/>
                        </a:lnSpc>
                      </a:pPr>
                      <a:r>
                        <a:rPr dirty="0" sz="2200" spc="-50">
                          <a:latin typeface="Calibri"/>
                          <a:cs typeface="Calibri"/>
                        </a:rPr>
                        <a:t>3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6379">
                        <a:lnSpc>
                          <a:spcPts val="2615"/>
                        </a:lnSpc>
                      </a:pPr>
                      <a:r>
                        <a:rPr dirty="0" sz="2200" spc="-10">
                          <a:latin typeface="Calibri"/>
                          <a:cs typeface="Calibri"/>
                        </a:rPr>
                        <a:t>CHENNAI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68300">
                <a:tc>
                  <a:txBody>
                    <a:bodyPr/>
                    <a:lstStyle/>
                    <a:p>
                      <a:pPr marL="374015" indent="-342265">
                        <a:lnSpc>
                          <a:spcPts val="2610"/>
                        </a:lnSpc>
                        <a:buFont typeface="Arial MT"/>
                        <a:buChar char="•"/>
                        <a:tabLst>
                          <a:tab pos="374015" algn="l"/>
                        </a:tabLst>
                      </a:pPr>
                      <a:r>
                        <a:rPr dirty="0" sz="2200" spc="-50">
                          <a:latin typeface="Calibri"/>
                          <a:cs typeface="Calibri"/>
                        </a:rPr>
                        <a:t>4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2610"/>
                        </a:lnSpc>
                      </a:pPr>
                      <a:r>
                        <a:rPr dirty="0" sz="2200" spc="-25">
                          <a:latin typeface="Calibri"/>
                          <a:cs typeface="Calibri"/>
                        </a:rPr>
                        <a:t>anu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2610"/>
                        </a:lnSpc>
                      </a:pPr>
                      <a:r>
                        <a:rPr dirty="0" sz="2200" spc="-20">
                          <a:latin typeface="Calibri"/>
                          <a:cs typeface="Calibri"/>
                        </a:rPr>
                        <a:t>null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6379">
                        <a:lnSpc>
                          <a:spcPts val="2610"/>
                        </a:lnSpc>
                      </a:pPr>
                      <a:r>
                        <a:rPr dirty="0" sz="2200" spc="-20">
                          <a:latin typeface="Calibri"/>
                          <a:cs typeface="Calibri"/>
                        </a:rPr>
                        <a:t>null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68300">
                <a:tc>
                  <a:txBody>
                    <a:bodyPr/>
                    <a:lstStyle/>
                    <a:p>
                      <a:pPr marL="374015" indent="-342265">
                        <a:lnSpc>
                          <a:spcPts val="2610"/>
                        </a:lnSpc>
                        <a:buFont typeface="Arial MT"/>
                        <a:buChar char="•"/>
                        <a:tabLst>
                          <a:tab pos="374015" algn="l"/>
                        </a:tabLst>
                      </a:pPr>
                      <a:r>
                        <a:rPr dirty="0" sz="2200" spc="-50">
                          <a:latin typeface="Calibri"/>
                          <a:cs typeface="Calibri"/>
                        </a:rPr>
                        <a:t>5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2610"/>
                        </a:lnSpc>
                      </a:pPr>
                      <a:r>
                        <a:rPr dirty="0" sz="2200" spc="-10">
                          <a:latin typeface="Calibri"/>
                          <a:cs typeface="Calibri"/>
                        </a:rPr>
                        <a:t>ashish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2610"/>
                        </a:lnSpc>
                      </a:pPr>
                      <a:r>
                        <a:rPr dirty="0" sz="2200" spc="-20">
                          <a:latin typeface="Calibri"/>
                          <a:cs typeface="Calibri"/>
                        </a:rPr>
                        <a:t>null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6379">
                        <a:lnSpc>
                          <a:spcPts val="2610"/>
                        </a:lnSpc>
                      </a:pPr>
                      <a:r>
                        <a:rPr dirty="0" sz="2200" spc="-20">
                          <a:latin typeface="Calibri"/>
                          <a:cs typeface="Calibri"/>
                        </a:rPr>
                        <a:t>null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68935">
                <a:tc>
                  <a:txBody>
                    <a:bodyPr/>
                    <a:lstStyle/>
                    <a:p>
                      <a:pPr marL="374015" indent="-342265">
                        <a:lnSpc>
                          <a:spcPts val="2610"/>
                        </a:lnSpc>
                        <a:buFont typeface="Arial MT"/>
                        <a:buChar char="•"/>
                        <a:tabLst>
                          <a:tab pos="374015" algn="l"/>
                        </a:tabLst>
                      </a:pPr>
                      <a:r>
                        <a:rPr dirty="0" sz="2200" spc="-20">
                          <a:latin typeface="Calibri"/>
                          <a:cs typeface="Calibri"/>
                        </a:rPr>
                        <a:t>null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2610"/>
                        </a:lnSpc>
                      </a:pPr>
                      <a:r>
                        <a:rPr dirty="0" sz="2200" spc="-20">
                          <a:latin typeface="Calibri"/>
                          <a:cs typeface="Calibri"/>
                        </a:rPr>
                        <a:t>null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2610"/>
                        </a:lnSpc>
                      </a:pPr>
                      <a:r>
                        <a:rPr dirty="0" sz="2200" spc="-50">
                          <a:latin typeface="Calibri"/>
                          <a:cs typeface="Calibri"/>
                        </a:rPr>
                        <a:t>7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6379">
                        <a:lnSpc>
                          <a:spcPts val="2610"/>
                        </a:lnSpc>
                      </a:pPr>
                      <a:r>
                        <a:rPr dirty="0" sz="2200" spc="-10">
                          <a:latin typeface="Calibri"/>
                          <a:cs typeface="Calibri"/>
                        </a:rPr>
                        <a:t>NOIDA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45440">
                <a:tc>
                  <a:txBody>
                    <a:bodyPr/>
                    <a:lstStyle/>
                    <a:p>
                      <a:pPr marL="374015" indent="-342265">
                        <a:lnSpc>
                          <a:spcPts val="2610"/>
                        </a:lnSpc>
                        <a:buFont typeface="Arial MT"/>
                        <a:buChar char="•"/>
                        <a:tabLst>
                          <a:tab pos="374015" algn="l"/>
                        </a:tabLst>
                      </a:pPr>
                      <a:r>
                        <a:rPr dirty="0" sz="2200" spc="-20">
                          <a:latin typeface="Calibri"/>
                          <a:cs typeface="Calibri"/>
                        </a:rPr>
                        <a:t>null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2610"/>
                        </a:lnSpc>
                      </a:pPr>
                      <a:r>
                        <a:rPr dirty="0" sz="2200" spc="-20">
                          <a:latin typeface="Calibri"/>
                          <a:cs typeface="Calibri"/>
                        </a:rPr>
                        <a:t>null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2610"/>
                        </a:lnSpc>
                      </a:pPr>
                      <a:r>
                        <a:rPr dirty="0" sz="2200" spc="-50">
                          <a:latin typeface="Calibri"/>
                          <a:cs typeface="Calibri"/>
                        </a:rPr>
                        <a:t>8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6379">
                        <a:lnSpc>
                          <a:spcPts val="2610"/>
                        </a:lnSpc>
                      </a:pPr>
                      <a:r>
                        <a:rPr dirty="0" sz="2200" spc="-10">
                          <a:latin typeface="Calibri"/>
                          <a:cs typeface="Calibri"/>
                        </a:rPr>
                        <a:t>PANIPAT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210055" y="0"/>
            <a:ext cx="9772015" cy="6858000"/>
          </a:xfrm>
          <a:custGeom>
            <a:avLst/>
            <a:gdLst/>
            <a:ahLst/>
            <a:cxnLst/>
            <a:rect l="l" t="t" r="r" b="b"/>
            <a:pathLst>
              <a:path w="9772015" h="6858000">
                <a:moveTo>
                  <a:pt x="8349615" y="0"/>
                </a:moveTo>
                <a:lnTo>
                  <a:pt x="1422273" y="0"/>
                </a:lnTo>
                <a:lnTo>
                  <a:pt x="1269238" y="159639"/>
                </a:lnTo>
                <a:lnTo>
                  <a:pt x="1236560" y="195780"/>
                </a:lnTo>
                <a:lnTo>
                  <a:pt x="1204242" y="232247"/>
                </a:lnTo>
                <a:lnTo>
                  <a:pt x="1172286" y="269037"/>
                </a:lnTo>
                <a:lnTo>
                  <a:pt x="1140694" y="306147"/>
                </a:lnTo>
                <a:lnTo>
                  <a:pt x="1109469" y="343574"/>
                </a:lnTo>
                <a:lnTo>
                  <a:pt x="1078615" y="381315"/>
                </a:lnTo>
                <a:lnTo>
                  <a:pt x="1048134" y="419369"/>
                </a:lnTo>
                <a:lnTo>
                  <a:pt x="1018029" y="457730"/>
                </a:lnTo>
                <a:lnTo>
                  <a:pt x="988302" y="496399"/>
                </a:lnTo>
                <a:lnTo>
                  <a:pt x="958956" y="535370"/>
                </a:lnTo>
                <a:lnTo>
                  <a:pt x="929995" y="574642"/>
                </a:lnTo>
                <a:lnTo>
                  <a:pt x="901420" y="614212"/>
                </a:lnTo>
                <a:lnTo>
                  <a:pt x="873235" y="654077"/>
                </a:lnTo>
                <a:lnTo>
                  <a:pt x="845443" y="694234"/>
                </a:lnTo>
                <a:lnTo>
                  <a:pt x="818045" y="734681"/>
                </a:lnTo>
                <a:lnTo>
                  <a:pt x="791046" y="775415"/>
                </a:lnTo>
                <a:lnTo>
                  <a:pt x="764448" y="816433"/>
                </a:lnTo>
                <a:lnTo>
                  <a:pt x="738252" y="857732"/>
                </a:lnTo>
                <a:lnTo>
                  <a:pt x="712464" y="899309"/>
                </a:lnTo>
                <a:lnTo>
                  <a:pt x="687084" y="941162"/>
                </a:lnTo>
                <a:lnTo>
                  <a:pt x="662116" y="983289"/>
                </a:lnTo>
                <a:lnTo>
                  <a:pt x="637563" y="1025685"/>
                </a:lnTo>
                <a:lnTo>
                  <a:pt x="613428" y="1068349"/>
                </a:lnTo>
                <a:lnTo>
                  <a:pt x="589712" y="1111278"/>
                </a:lnTo>
                <a:lnTo>
                  <a:pt x="566420" y="1154468"/>
                </a:lnTo>
                <a:lnTo>
                  <a:pt x="543553" y="1197918"/>
                </a:lnTo>
                <a:lnTo>
                  <a:pt x="521115" y="1241624"/>
                </a:lnTo>
                <a:lnTo>
                  <a:pt x="499108" y="1285584"/>
                </a:lnTo>
                <a:lnTo>
                  <a:pt x="477535" y="1329795"/>
                </a:lnTo>
                <a:lnTo>
                  <a:pt x="456400" y="1374253"/>
                </a:lnTo>
                <a:lnTo>
                  <a:pt x="435703" y="1418958"/>
                </a:lnTo>
                <a:lnTo>
                  <a:pt x="415450" y="1463904"/>
                </a:lnTo>
                <a:lnTo>
                  <a:pt x="395641" y="1509091"/>
                </a:lnTo>
                <a:lnTo>
                  <a:pt x="376281" y="1554515"/>
                </a:lnTo>
                <a:lnTo>
                  <a:pt x="357371" y="1600173"/>
                </a:lnTo>
                <a:lnTo>
                  <a:pt x="338915" y="1646062"/>
                </a:lnTo>
                <a:lnTo>
                  <a:pt x="320915" y="1692181"/>
                </a:lnTo>
                <a:lnTo>
                  <a:pt x="303374" y="1738525"/>
                </a:lnTo>
                <a:lnTo>
                  <a:pt x="286295" y="1785093"/>
                </a:lnTo>
                <a:lnTo>
                  <a:pt x="269681" y="1831881"/>
                </a:lnTo>
                <a:lnTo>
                  <a:pt x="253535" y="1878887"/>
                </a:lnTo>
                <a:lnTo>
                  <a:pt x="237858" y="1926108"/>
                </a:lnTo>
                <a:lnTo>
                  <a:pt x="222655" y="1973541"/>
                </a:lnTo>
                <a:lnTo>
                  <a:pt x="207927" y="2021183"/>
                </a:lnTo>
                <a:lnTo>
                  <a:pt x="193678" y="2069033"/>
                </a:lnTo>
                <a:lnTo>
                  <a:pt x="179910" y="2117086"/>
                </a:lnTo>
                <a:lnTo>
                  <a:pt x="166626" y="2165340"/>
                </a:lnTo>
                <a:lnTo>
                  <a:pt x="153829" y="2213793"/>
                </a:lnTo>
                <a:lnTo>
                  <a:pt x="141522" y="2262441"/>
                </a:lnTo>
                <a:lnTo>
                  <a:pt x="129708" y="2311283"/>
                </a:lnTo>
                <a:lnTo>
                  <a:pt x="118388" y="2360314"/>
                </a:lnTo>
                <a:lnTo>
                  <a:pt x="107567" y="2409533"/>
                </a:lnTo>
                <a:lnTo>
                  <a:pt x="97246" y="2458936"/>
                </a:lnTo>
                <a:lnTo>
                  <a:pt x="87429" y="2508521"/>
                </a:lnTo>
                <a:lnTo>
                  <a:pt x="78118" y="2558286"/>
                </a:lnTo>
                <a:lnTo>
                  <a:pt x="69317" y="2608226"/>
                </a:lnTo>
                <a:lnTo>
                  <a:pt x="61027" y="2658340"/>
                </a:lnTo>
                <a:lnTo>
                  <a:pt x="53252" y="2708625"/>
                </a:lnTo>
                <a:lnTo>
                  <a:pt x="45995" y="2759078"/>
                </a:lnTo>
                <a:lnTo>
                  <a:pt x="39257" y="2809696"/>
                </a:lnTo>
                <a:lnTo>
                  <a:pt x="33043" y="2860477"/>
                </a:lnTo>
                <a:lnTo>
                  <a:pt x="27354" y="2911417"/>
                </a:lnTo>
                <a:lnTo>
                  <a:pt x="22194" y="2962515"/>
                </a:lnTo>
                <a:lnTo>
                  <a:pt x="17566" y="3013766"/>
                </a:lnTo>
                <a:lnTo>
                  <a:pt x="13471" y="3065170"/>
                </a:lnTo>
                <a:lnTo>
                  <a:pt x="9914" y="3116721"/>
                </a:lnTo>
                <a:lnTo>
                  <a:pt x="6896" y="3168419"/>
                </a:lnTo>
                <a:lnTo>
                  <a:pt x="4421" y="3220260"/>
                </a:lnTo>
                <a:lnTo>
                  <a:pt x="2491" y="3272241"/>
                </a:lnTo>
                <a:lnTo>
                  <a:pt x="1109" y="3324360"/>
                </a:lnTo>
                <a:lnTo>
                  <a:pt x="277" y="3376614"/>
                </a:lnTo>
                <a:lnTo>
                  <a:pt x="0" y="3429000"/>
                </a:lnTo>
                <a:lnTo>
                  <a:pt x="277" y="3481385"/>
                </a:lnTo>
                <a:lnTo>
                  <a:pt x="1109" y="3533639"/>
                </a:lnTo>
                <a:lnTo>
                  <a:pt x="2491" y="3585758"/>
                </a:lnTo>
                <a:lnTo>
                  <a:pt x="4421" y="3637739"/>
                </a:lnTo>
                <a:lnTo>
                  <a:pt x="6896" y="3689579"/>
                </a:lnTo>
                <a:lnTo>
                  <a:pt x="9914" y="3741277"/>
                </a:lnTo>
                <a:lnTo>
                  <a:pt x="13471" y="3792828"/>
                </a:lnTo>
                <a:lnTo>
                  <a:pt x="17566" y="3844231"/>
                </a:lnTo>
                <a:lnTo>
                  <a:pt x="22194" y="3895482"/>
                </a:lnTo>
                <a:lnTo>
                  <a:pt x="27354" y="3946579"/>
                </a:lnTo>
                <a:lnTo>
                  <a:pt x="33043" y="3997519"/>
                </a:lnTo>
                <a:lnTo>
                  <a:pt x="39257" y="4048299"/>
                </a:lnTo>
                <a:lnTo>
                  <a:pt x="45995" y="4098917"/>
                </a:lnTo>
                <a:lnTo>
                  <a:pt x="53252" y="4149369"/>
                </a:lnTo>
                <a:lnTo>
                  <a:pt x="61027" y="4199653"/>
                </a:lnTo>
                <a:lnTo>
                  <a:pt x="69317" y="4249767"/>
                </a:lnTo>
                <a:lnTo>
                  <a:pt x="78118" y="4299706"/>
                </a:lnTo>
                <a:lnTo>
                  <a:pt x="87429" y="4349470"/>
                </a:lnTo>
                <a:lnTo>
                  <a:pt x="97246" y="4399054"/>
                </a:lnTo>
                <a:lnTo>
                  <a:pt x="107567" y="4448457"/>
                </a:lnTo>
                <a:lnTo>
                  <a:pt x="118388" y="4497675"/>
                </a:lnTo>
                <a:lnTo>
                  <a:pt x="129708" y="4546705"/>
                </a:lnTo>
                <a:lnTo>
                  <a:pt x="141522" y="4595546"/>
                </a:lnTo>
                <a:lnTo>
                  <a:pt x="153829" y="4644193"/>
                </a:lnTo>
                <a:lnTo>
                  <a:pt x="166626" y="4692645"/>
                </a:lnTo>
                <a:lnTo>
                  <a:pt x="179910" y="4740899"/>
                </a:lnTo>
                <a:lnTo>
                  <a:pt x="193678" y="4788951"/>
                </a:lnTo>
                <a:lnTo>
                  <a:pt x="207927" y="4836799"/>
                </a:lnTo>
                <a:lnTo>
                  <a:pt x="222655" y="4884441"/>
                </a:lnTo>
                <a:lnTo>
                  <a:pt x="237858" y="4931873"/>
                </a:lnTo>
                <a:lnTo>
                  <a:pt x="253535" y="4979093"/>
                </a:lnTo>
                <a:lnTo>
                  <a:pt x="269681" y="5026098"/>
                </a:lnTo>
                <a:lnTo>
                  <a:pt x="286295" y="5072885"/>
                </a:lnTo>
                <a:lnTo>
                  <a:pt x="303374" y="5119452"/>
                </a:lnTo>
                <a:lnTo>
                  <a:pt x="320915" y="5165795"/>
                </a:lnTo>
                <a:lnTo>
                  <a:pt x="338915" y="5211913"/>
                </a:lnTo>
                <a:lnTo>
                  <a:pt x="357371" y="5257801"/>
                </a:lnTo>
                <a:lnTo>
                  <a:pt x="376281" y="5303459"/>
                </a:lnTo>
                <a:lnTo>
                  <a:pt x="395641" y="5348881"/>
                </a:lnTo>
                <a:lnTo>
                  <a:pt x="415450" y="5394067"/>
                </a:lnTo>
                <a:lnTo>
                  <a:pt x="435703" y="5439013"/>
                </a:lnTo>
                <a:lnTo>
                  <a:pt x="456400" y="5483716"/>
                </a:lnTo>
                <a:lnTo>
                  <a:pt x="477535" y="5528174"/>
                </a:lnTo>
                <a:lnTo>
                  <a:pt x="499108" y="5572384"/>
                </a:lnTo>
                <a:lnTo>
                  <a:pt x="521115" y="5616343"/>
                </a:lnTo>
                <a:lnTo>
                  <a:pt x="543553" y="5660049"/>
                </a:lnTo>
                <a:lnTo>
                  <a:pt x="566420" y="5703498"/>
                </a:lnTo>
                <a:lnTo>
                  <a:pt x="589712" y="5746687"/>
                </a:lnTo>
                <a:lnTo>
                  <a:pt x="613428" y="5789615"/>
                </a:lnTo>
                <a:lnTo>
                  <a:pt x="637563" y="5832279"/>
                </a:lnTo>
                <a:lnTo>
                  <a:pt x="662116" y="5874674"/>
                </a:lnTo>
                <a:lnTo>
                  <a:pt x="687084" y="5916800"/>
                </a:lnTo>
                <a:lnTo>
                  <a:pt x="712464" y="5958653"/>
                </a:lnTo>
                <a:lnTo>
                  <a:pt x="738252" y="6000230"/>
                </a:lnTo>
                <a:lnTo>
                  <a:pt x="764448" y="6041528"/>
                </a:lnTo>
                <a:lnTo>
                  <a:pt x="791046" y="6082546"/>
                </a:lnTo>
                <a:lnTo>
                  <a:pt x="818045" y="6123279"/>
                </a:lnTo>
                <a:lnTo>
                  <a:pt x="845443" y="6163725"/>
                </a:lnTo>
                <a:lnTo>
                  <a:pt x="873235" y="6203882"/>
                </a:lnTo>
                <a:lnTo>
                  <a:pt x="901420" y="6243747"/>
                </a:lnTo>
                <a:lnTo>
                  <a:pt x="929995" y="6283317"/>
                </a:lnTo>
                <a:lnTo>
                  <a:pt x="958956" y="6322589"/>
                </a:lnTo>
                <a:lnTo>
                  <a:pt x="988302" y="6361560"/>
                </a:lnTo>
                <a:lnTo>
                  <a:pt x="1018029" y="6400228"/>
                </a:lnTo>
                <a:lnTo>
                  <a:pt x="1048134" y="6438590"/>
                </a:lnTo>
                <a:lnTo>
                  <a:pt x="1078615" y="6476644"/>
                </a:lnTo>
                <a:lnTo>
                  <a:pt x="1109469" y="6514385"/>
                </a:lnTo>
                <a:lnTo>
                  <a:pt x="1140694" y="6551812"/>
                </a:lnTo>
                <a:lnTo>
                  <a:pt x="1172286" y="6588922"/>
                </a:lnTo>
                <a:lnTo>
                  <a:pt x="1204242" y="6625713"/>
                </a:lnTo>
                <a:lnTo>
                  <a:pt x="1236560" y="6662180"/>
                </a:lnTo>
                <a:lnTo>
                  <a:pt x="1269238" y="6698322"/>
                </a:lnTo>
                <a:lnTo>
                  <a:pt x="1422273" y="6857999"/>
                </a:lnTo>
                <a:lnTo>
                  <a:pt x="8349615" y="6857999"/>
                </a:lnTo>
                <a:lnTo>
                  <a:pt x="8502650" y="6698322"/>
                </a:lnTo>
                <a:lnTo>
                  <a:pt x="8535327" y="6662180"/>
                </a:lnTo>
                <a:lnTo>
                  <a:pt x="8567645" y="6625713"/>
                </a:lnTo>
                <a:lnTo>
                  <a:pt x="8599601" y="6588922"/>
                </a:lnTo>
                <a:lnTo>
                  <a:pt x="8631193" y="6551812"/>
                </a:lnTo>
                <a:lnTo>
                  <a:pt x="8662418" y="6514385"/>
                </a:lnTo>
                <a:lnTo>
                  <a:pt x="8693272" y="6476644"/>
                </a:lnTo>
                <a:lnTo>
                  <a:pt x="8723753" y="6438590"/>
                </a:lnTo>
                <a:lnTo>
                  <a:pt x="8753858" y="6400228"/>
                </a:lnTo>
                <a:lnTo>
                  <a:pt x="8783585" y="6361560"/>
                </a:lnTo>
                <a:lnTo>
                  <a:pt x="8812931" y="6322589"/>
                </a:lnTo>
                <a:lnTo>
                  <a:pt x="8841892" y="6283317"/>
                </a:lnTo>
                <a:lnTo>
                  <a:pt x="8870467" y="6243747"/>
                </a:lnTo>
                <a:lnTo>
                  <a:pt x="8898652" y="6203882"/>
                </a:lnTo>
                <a:lnTo>
                  <a:pt x="8926444" y="6163725"/>
                </a:lnTo>
                <a:lnTo>
                  <a:pt x="8953842" y="6123279"/>
                </a:lnTo>
                <a:lnTo>
                  <a:pt x="8980841" y="6082546"/>
                </a:lnTo>
                <a:lnTo>
                  <a:pt x="9007439" y="6041528"/>
                </a:lnTo>
                <a:lnTo>
                  <a:pt x="9033635" y="6000230"/>
                </a:lnTo>
                <a:lnTo>
                  <a:pt x="9059423" y="5958653"/>
                </a:lnTo>
                <a:lnTo>
                  <a:pt x="9084803" y="5916800"/>
                </a:lnTo>
                <a:lnTo>
                  <a:pt x="9109771" y="5874674"/>
                </a:lnTo>
                <a:lnTo>
                  <a:pt x="9134324" y="5832279"/>
                </a:lnTo>
                <a:lnTo>
                  <a:pt x="9158459" y="5789615"/>
                </a:lnTo>
                <a:lnTo>
                  <a:pt x="9182175" y="5746687"/>
                </a:lnTo>
                <a:lnTo>
                  <a:pt x="9205467" y="5703498"/>
                </a:lnTo>
                <a:lnTo>
                  <a:pt x="9228334" y="5660049"/>
                </a:lnTo>
                <a:lnTo>
                  <a:pt x="9250772" y="5616343"/>
                </a:lnTo>
                <a:lnTo>
                  <a:pt x="9272779" y="5572384"/>
                </a:lnTo>
                <a:lnTo>
                  <a:pt x="9294352" y="5528174"/>
                </a:lnTo>
                <a:lnTo>
                  <a:pt x="9315487" y="5483716"/>
                </a:lnTo>
                <a:lnTo>
                  <a:pt x="9336184" y="5439013"/>
                </a:lnTo>
                <a:lnTo>
                  <a:pt x="9356437" y="5394067"/>
                </a:lnTo>
                <a:lnTo>
                  <a:pt x="9376246" y="5348881"/>
                </a:lnTo>
                <a:lnTo>
                  <a:pt x="9395606" y="5303459"/>
                </a:lnTo>
                <a:lnTo>
                  <a:pt x="9414516" y="5257801"/>
                </a:lnTo>
                <a:lnTo>
                  <a:pt x="9432972" y="5211913"/>
                </a:lnTo>
                <a:lnTo>
                  <a:pt x="9450972" y="5165795"/>
                </a:lnTo>
                <a:lnTo>
                  <a:pt x="9468513" y="5119452"/>
                </a:lnTo>
                <a:lnTo>
                  <a:pt x="9485592" y="5072885"/>
                </a:lnTo>
                <a:lnTo>
                  <a:pt x="9502206" y="5026098"/>
                </a:lnTo>
                <a:lnTo>
                  <a:pt x="9518352" y="4979093"/>
                </a:lnTo>
                <a:lnTo>
                  <a:pt x="9534029" y="4931873"/>
                </a:lnTo>
                <a:lnTo>
                  <a:pt x="9549232" y="4884441"/>
                </a:lnTo>
                <a:lnTo>
                  <a:pt x="9563960" y="4836799"/>
                </a:lnTo>
                <a:lnTo>
                  <a:pt x="9578209" y="4788951"/>
                </a:lnTo>
                <a:lnTo>
                  <a:pt x="9591977" y="4740899"/>
                </a:lnTo>
                <a:lnTo>
                  <a:pt x="9605261" y="4692645"/>
                </a:lnTo>
                <a:lnTo>
                  <a:pt x="9618058" y="4644193"/>
                </a:lnTo>
                <a:lnTo>
                  <a:pt x="9630365" y="4595546"/>
                </a:lnTo>
                <a:lnTo>
                  <a:pt x="9642179" y="4546705"/>
                </a:lnTo>
                <a:lnTo>
                  <a:pt x="9653499" y="4497675"/>
                </a:lnTo>
                <a:lnTo>
                  <a:pt x="9664320" y="4448457"/>
                </a:lnTo>
                <a:lnTo>
                  <a:pt x="9674641" y="4399054"/>
                </a:lnTo>
                <a:lnTo>
                  <a:pt x="9684458" y="4349470"/>
                </a:lnTo>
                <a:lnTo>
                  <a:pt x="9693769" y="4299706"/>
                </a:lnTo>
                <a:lnTo>
                  <a:pt x="9702570" y="4249767"/>
                </a:lnTo>
                <a:lnTo>
                  <a:pt x="9710860" y="4199653"/>
                </a:lnTo>
                <a:lnTo>
                  <a:pt x="9718635" y="4149369"/>
                </a:lnTo>
                <a:lnTo>
                  <a:pt x="9725892" y="4098917"/>
                </a:lnTo>
                <a:lnTo>
                  <a:pt x="9732630" y="4048299"/>
                </a:lnTo>
                <a:lnTo>
                  <a:pt x="9738844" y="3997519"/>
                </a:lnTo>
                <a:lnTo>
                  <a:pt x="9744533" y="3946579"/>
                </a:lnTo>
                <a:lnTo>
                  <a:pt x="9749693" y="3895482"/>
                </a:lnTo>
                <a:lnTo>
                  <a:pt x="9754321" y="3844231"/>
                </a:lnTo>
                <a:lnTo>
                  <a:pt x="9758416" y="3792828"/>
                </a:lnTo>
                <a:lnTo>
                  <a:pt x="9761973" y="3741277"/>
                </a:lnTo>
                <a:lnTo>
                  <a:pt x="9764991" y="3689579"/>
                </a:lnTo>
                <a:lnTo>
                  <a:pt x="9767466" y="3637739"/>
                </a:lnTo>
                <a:lnTo>
                  <a:pt x="9769396" y="3585758"/>
                </a:lnTo>
                <a:lnTo>
                  <a:pt x="9770778" y="3533639"/>
                </a:lnTo>
                <a:lnTo>
                  <a:pt x="9771610" y="3481385"/>
                </a:lnTo>
                <a:lnTo>
                  <a:pt x="9771888" y="3429000"/>
                </a:lnTo>
                <a:lnTo>
                  <a:pt x="9771610" y="3376614"/>
                </a:lnTo>
                <a:lnTo>
                  <a:pt x="9770778" y="3324360"/>
                </a:lnTo>
                <a:lnTo>
                  <a:pt x="9769396" y="3272241"/>
                </a:lnTo>
                <a:lnTo>
                  <a:pt x="9767466" y="3220260"/>
                </a:lnTo>
                <a:lnTo>
                  <a:pt x="9764991" y="3168419"/>
                </a:lnTo>
                <a:lnTo>
                  <a:pt x="9761973" y="3116721"/>
                </a:lnTo>
                <a:lnTo>
                  <a:pt x="9758416" y="3065170"/>
                </a:lnTo>
                <a:lnTo>
                  <a:pt x="9754321" y="3013766"/>
                </a:lnTo>
                <a:lnTo>
                  <a:pt x="9749693" y="2962515"/>
                </a:lnTo>
                <a:lnTo>
                  <a:pt x="9744533" y="2911417"/>
                </a:lnTo>
                <a:lnTo>
                  <a:pt x="9738844" y="2860477"/>
                </a:lnTo>
                <a:lnTo>
                  <a:pt x="9732630" y="2809696"/>
                </a:lnTo>
                <a:lnTo>
                  <a:pt x="9725892" y="2759078"/>
                </a:lnTo>
                <a:lnTo>
                  <a:pt x="9718635" y="2708625"/>
                </a:lnTo>
                <a:lnTo>
                  <a:pt x="9710860" y="2658340"/>
                </a:lnTo>
                <a:lnTo>
                  <a:pt x="9702570" y="2608226"/>
                </a:lnTo>
                <a:lnTo>
                  <a:pt x="9693769" y="2558286"/>
                </a:lnTo>
                <a:lnTo>
                  <a:pt x="9684458" y="2508521"/>
                </a:lnTo>
                <a:lnTo>
                  <a:pt x="9674641" y="2458936"/>
                </a:lnTo>
                <a:lnTo>
                  <a:pt x="9664320" y="2409533"/>
                </a:lnTo>
                <a:lnTo>
                  <a:pt x="9653499" y="2360314"/>
                </a:lnTo>
                <a:lnTo>
                  <a:pt x="9642179" y="2311283"/>
                </a:lnTo>
                <a:lnTo>
                  <a:pt x="9630365" y="2262441"/>
                </a:lnTo>
                <a:lnTo>
                  <a:pt x="9618058" y="2213793"/>
                </a:lnTo>
                <a:lnTo>
                  <a:pt x="9605261" y="2165340"/>
                </a:lnTo>
                <a:lnTo>
                  <a:pt x="9591977" y="2117086"/>
                </a:lnTo>
                <a:lnTo>
                  <a:pt x="9578209" y="2069033"/>
                </a:lnTo>
                <a:lnTo>
                  <a:pt x="9563960" y="2021183"/>
                </a:lnTo>
                <a:lnTo>
                  <a:pt x="9549232" y="1973541"/>
                </a:lnTo>
                <a:lnTo>
                  <a:pt x="9534029" y="1926108"/>
                </a:lnTo>
                <a:lnTo>
                  <a:pt x="9518352" y="1878887"/>
                </a:lnTo>
                <a:lnTo>
                  <a:pt x="9502206" y="1831881"/>
                </a:lnTo>
                <a:lnTo>
                  <a:pt x="9485592" y="1785093"/>
                </a:lnTo>
                <a:lnTo>
                  <a:pt x="9468513" y="1738525"/>
                </a:lnTo>
                <a:lnTo>
                  <a:pt x="9450972" y="1692181"/>
                </a:lnTo>
                <a:lnTo>
                  <a:pt x="9432972" y="1646062"/>
                </a:lnTo>
                <a:lnTo>
                  <a:pt x="9414516" y="1600173"/>
                </a:lnTo>
                <a:lnTo>
                  <a:pt x="9395606" y="1554515"/>
                </a:lnTo>
                <a:lnTo>
                  <a:pt x="9376246" y="1509091"/>
                </a:lnTo>
                <a:lnTo>
                  <a:pt x="9356437" y="1463904"/>
                </a:lnTo>
                <a:lnTo>
                  <a:pt x="9336184" y="1418958"/>
                </a:lnTo>
                <a:lnTo>
                  <a:pt x="9315487" y="1374253"/>
                </a:lnTo>
                <a:lnTo>
                  <a:pt x="9294352" y="1329795"/>
                </a:lnTo>
                <a:lnTo>
                  <a:pt x="9272779" y="1285584"/>
                </a:lnTo>
                <a:lnTo>
                  <a:pt x="9250772" y="1241624"/>
                </a:lnTo>
                <a:lnTo>
                  <a:pt x="9228334" y="1197918"/>
                </a:lnTo>
                <a:lnTo>
                  <a:pt x="9205467" y="1154468"/>
                </a:lnTo>
                <a:lnTo>
                  <a:pt x="9182175" y="1111278"/>
                </a:lnTo>
                <a:lnTo>
                  <a:pt x="9158459" y="1068349"/>
                </a:lnTo>
                <a:lnTo>
                  <a:pt x="9134324" y="1025685"/>
                </a:lnTo>
                <a:lnTo>
                  <a:pt x="9109771" y="983289"/>
                </a:lnTo>
                <a:lnTo>
                  <a:pt x="9084803" y="941162"/>
                </a:lnTo>
                <a:lnTo>
                  <a:pt x="9059423" y="899309"/>
                </a:lnTo>
                <a:lnTo>
                  <a:pt x="9033635" y="857732"/>
                </a:lnTo>
                <a:lnTo>
                  <a:pt x="9007439" y="816433"/>
                </a:lnTo>
                <a:lnTo>
                  <a:pt x="8980841" y="775415"/>
                </a:lnTo>
                <a:lnTo>
                  <a:pt x="8953842" y="734681"/>
                </a:lnTo>
                <a:lnTo>
                  <a:pt x="8926444" y="694234"/>
                </a:lnTo>
                <a:lnTo>
                  <a:pt x="8898652" y="654077"/>
                </a:lnTo>
                <a:lnTo>
                  <a:pt x="8870467" y="614212"/>
                </a:lnTo>
                <a:lnTo>
                  <a:pt x="8841892" y="574642"/>
                </a:lnTo>
                <a:lnTo>
                  <a:pt x="8812931" y="535370"/>
                </a:lnTo>
                <a:lnTo>
                  <a:pt x="8783585" y="496399"/>
                </a:lnTo>
                <a:lnTo>
                  <a:pt x="8753858" y="457730"/>
                </a:lnTo>
                <a:lnTo>
                  <a:pt x="8723753" y="419369"/>
                </a:lnTo>
                <a:lnTo>
                  <a:pt x="8693272" y="381315"/>
                </a:lnTo>
                <a:lnTo>
                  <a:pt x="8662418" y="343574"/>
                </a:lnTo>
                <a:lnTo>
                  <a:pt x="8631193" y="306147"/>
                </a:lnTo>
                <a:lnTo>
                  <a:pt x="8599601" y="269037"/>
                </a:lnTo>
                <a:lnTo>
                  <a:pt x="8567645" y="232247"/>
                </a:lnTo>
                <a:lnTo>
                  <a:pt x="8535327" y="195780"/>
                </a:lnTo>
                <a:lnTo>
                  <a:pt x="8502650" y="159639"/>
                </a:lnTo>
                <a:lnTo>
                  <a:pt x="8349615" y="0"/>
                </a:lnTo>
                <a:close/>
              </a:path>
            </a:pathLst>
          </a:custGeom>
          <a:solidFill>
            <a:srgbClr val="D9D9D9">
              <a:alpha val="619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92346" y="756284"/>
            <a:ext cx="360680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/>
                <a:cs typeface="Times New Roman"/>
              </a:rPr>
              <a:t>SQL</a:t>
            </a:r>
            <a:r>
              <a:rPr dirty="0" spc="-17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Sub</a:t>
            </a:r>
            <a:r>
              <a:rPr dirty="0" spc="-15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Query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451358" y="1566925"/>
            <a:ext cx="11210290" cy="5044440"/>
            <a:chOff x="451358" y="1566925"/>
            <a:chExt cx="11210290" cy="5044440"/>
          </a:xfrm>
        </p:grpSpPr>
        <p:sp>
          <p:nvSpPr>
            <p:cNvPr id="5" name="object 5" descr=""/>
            <p:cNvSpPr/>
            <p:nvPr/>
          </p:nvSpPr>
          <p:spPr>
            <a:xfrm>
              <a:off x="464058" y="1579625"/>
              <a:ext cx="11184890" cy="706120"/>
            </a:xfrm>
            <a:custGeom>
              <a:avLst/>
              <a:gdLst/>
              <a:ahLst/>
              <a:cxnLst/>
              <a:rect l="l" t="t" r="r" b="b"/>
              <a:pathLst>
                <a:path w="11184890" h="706119">
                  <a:moveTo>
                    <a:pt x="11067034" y="0"/>
                  </a:moveTo>
                  <a:lnTo>
                    <a:pt x="117601" y="0"/>
                  </a:lnTo>
                  <a:lnTo>
                    <a:pt x="71826" y="9249"/>
                  </a:lnTo>
                  <a:lnTo>
                    <a:pt x="34445" y="34464"/>
                  </a:lnTo>
                  <a:lnTo>
                    <a:pt x="9242" y="71848"/>
                  </a:lnTo>
                  <a:lnTo>
                    <a:pt x="0" y="117601"/>
                  </a:lnTo>
                  <a:lnTo>
                    <a:pt x="0" y="588010"/>
                  </a:lnTo>
                  <a:lnTo>
                    <a:pt x="9242" y="633763"/>
                  </a:lnTo>
                  <a:lnTo>
                    <a:pt x="34445" y="671147"/>
                  </a:lnTo>
                  <a:lnTo>
                    <a:pt x="71826" y="696362"/>
                  </a:lnTo>
                  <a:lnTo>
                    <a:pt x="117601" y="705612"/>
                  </a:lnTo>
                  <a:lnTo>
                    <a:pt x="11067034" y="705612"/>
                  </a:lnTo>
                  <a:lnTo>
                    <a:pt x="11112787" y="696362"/>
                  </a:lnTo>
                  <a:lnTo>
                    <a:pt x="11150171" y="671147"/>
                  </a:lnTo>
                  <a:lnTo>
                    <a:pt x="11175386" y="633763"/>
                  </a:lnTo>
                  <a:lnTo>
                    <a:pt x="11184636" y="588010"/>
                  </a:lnTo>
                  <a:lnTo>
                    <a:pt x="11184636" y="117601"/>
                  </a:lnTo>
                  <a:lnTo>
                    <a:pt x="11175386" y="71848"/>
                  </a:lnTo>
                  <a:lnTo>
                    <a:pt x="11150171" y="34464"/>
                  </a:lnTo>
                  <a:lnTo>
                    <a:pt x="11112787" y="9249"/>
                  </a:lnTo>
                  <a:lnTo>
                    <a:pt x="11067034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64058" y="1579625"/>
              <a:ext cx="11184890" cy="706120"/>
            </a:xfrm>
            <a:custGeom>
              <a:avLst/>
              <a:gdLst/>
              <a:ahLst/>
              <a:cxnLst/>
              <a:rect l="l" t="t" r="r" b="b"/>
              <a:pathLst>
                <a:path w="11184890" h="706119">
                  <a:moveTo>
                    <a:pt x="0" y="117601"/>
                  </a:moveTo>
                  <a:lnTo>
                    <a:pt x="9242" y="71848"/>
                  </a:lnTo>
                  <a:lnTo>
                    <a:pt x="34445" y="34464"/>
                  </a:lnTo>
                  <a:lnTo>
                    <a:pt x="71826" y="9249"/>
                  </a:lnTo>
                  <a:lnTo>
                    <a:pt x="117601" y="0"/>
                  </a:lnTo>
                  <a:lnTo>
                    <a:pt x="11067034" y="0"/>
                  </a:lnTo>
                  <a:lnTo>
                    <a:pt x="11112787" y="9249"/>
                  </a:lnTo>
                  <a:lnTo>
                    <a:pt x="11150171" y="34464"/>
                  </a:lnTo>
                  <a:lnTo>
                    <a:pt x="11175386" y="71848"/>
                  </a:lnTo>
                  <a:lnTo>
                    <a:pt x="11184636" y="117601"/>
                  </a:lnTo>
                  <a:lnTo>
                    <a:pt x="11184636" y="588010"/>
                  </a:lnTo>
                  <a:lnTo>
                    <a:pt x="11175386" y="633763"/>
                  </a:lnTo>
                  <a:lnTo>
                    <a:pt x="11150171" y="671147"/>
                  </a:lnTo>
                  <a:lnTo>
                    <a:pt x="11112787" y="696362"/>
                  </a:lnTo>
                  <a:lnTo>
                    <a:pt x="11067034" y="705612"/>
                  </a:lnTo>
                  <a:lnTo>
                    <a:pt x="117601" y="705612"/>
                  </a:lnTo>
                  <a:lnTo>
                    <a:pt x="71826" y="696362"/>
                  </a:lnTo>
                  <a:lnTo>
                    <a:pt x="34445" y="671147"/>
                  </a:lnTo>
                  <a:lnTo>
                    <a:pt x="9242" y="633763"/>
                  </a:lnTo>
                  <a:lnTo>
                    <a:pt x="0" y="588010"/>
                  </a:lnTo>
                  <a:lnTo>
                    <a:pt x="0" y="117601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64058" y="2298953"/>
              <a:ext cx="11184890" cy="706120"/>
            </a:xfrm>
            <a:custGeom>
              <a:avLst/>
              <a:gdLst/>
              <a:ahLst/>
              <a:cxnLst/>
              <a:rect l="l" t="t" r="r" b="b"/>
              <a:pathLst>
                <a:path w="11184890" h="706119">
                  <a:moveTo>
                    <a:pt x="11067034" y="0"/>
                  </a:moveTo>
                  <a:lnTo>
                    <a:pt x="117601" y="0"/>
                  </a:lnTo>
                  <a:lnTo>
                    <a:pt x="71826" y="9249"/>
                  </a:lnTo>
                  <a:lnTo>
                    <a:pt x="34445" y="34464"/>
                  </a:lnTo>
                  <a:lnTo>
                    <a:pt x="9242" y="71848"/>
                  </a:lnTo>
                  <a:lnTo>
                    <a:pt x="0" y="117601"/>
                  </a:lnTo>
                  <a:lnTo>
                    <a:pt x="0" y="588010"/>
                  </a:lnTo>
                  <a:lnTo>
                    <a:pt x="9242" y="633763"/>
                  </a:lnTo>
                  <a:lnTo>
                    <a:pt x="34445" y="671147"/>
                  </a:lnTo>
                  <a:lnTo>
                    <a:pt x="71826" y="696362"/>
                  </a:lnTo>
                  <a:lnTo>
                    <a:pt x="117601" y="705612"/>
                  </a:lnTo>
                  <a:lnTo>
                    <a:pt x="11067034" y="705612"/>
                  </a:lnTo>
                  <a:lnTo>
                    <a:pt x="11112787" y="696362"/>
                  </a:lnTo>
                  <a:lnTo>
                    <a:pt x="11150171" y="671147"/>
                  </a:lnTo>
                  <a:lnTo>
                    <a:pt x="11175386" y="633763"/>
                  </a:lnTo>
                  <a:lnTo>
                    <a:pt x="11184636" y="588010"/>
                  </a:lnTo>
                  <a:lnTo>
                    <a:pt x="11184636" y="117601"/>
                  </a:lnTo>
                  <a:lnTo>
                    <a:pt x="11175386" y="71848"/>
                  </a:lnTo>
                  <a:lnTo>
                    <a:pt x="11150171" y="34464"/>
                  </a:lnTo>
                  <a:lnTo>
                    <a:pt x="11112787" y="9249"/>
                  </a:lnTo>
                  <a:lnTo>
                    <a:pt x="11067034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64058" y="2298953"/>
              <a:ext cx="11184890" cy="706120"/>
            </a:xfrm>
            <a:custGeom>
              <a:avLst/>
              <a:gdLst/>
              <a:ahLst/>
              <a:cxnLst/>
              <a:rect l="l" t="t" r="r" b="b"/>
              <a:pathLst>
                <a:path w="11184890" h="706119">
                  <a:moveTo>
                    <a:pt x="0" y="117601"/>
                  </a:moveTo>
                  <a:lnTo>
                    <a:pt x="9242" y="71848"/>
                  </a:lnTo>
                  <a:lnTo>
                    <a:pt x="34445" y="34464"/>
                  </a:lnTo>
                  <a:lnTo>
                    <a:pt x="71826" y="9249"/>
                  </a:lnTo>
                  <a:lnTo>
                    <a:pt x="117601" y="0"/>
                  </a:lnTo>
                  <a:lnTo>
                    <a:pt x="11067034" y="0"/>
                  </a:lnTo>
                  <a:lnTo>
                    <a:pt x="11112787" y="9249"/>
                  </a:lnTo>
                  <a:lnTo>
                    <a:pt x="11150171" y="34464"/>
                  </a:lnTo>
                  <a:lnTo>
                    <a:pt x="11175386" y="71848"/>
                  </a:lnTo>
                  <a:lnTo>
                    <a:pt x="11184636" y="117601"/>
                  </a:lnTo>
                  <a:lnTo>
                    <a:pt x="11184636" y="588010"/>
                  </a:lnTo>
                  <a:lnTo>
                    <a:pt x="11175386" y="633763"/>
                  </a:lnTo>
                  <a:lnTo>
                    <a:pt x="11150171" y="671147"/>
                  </a:lnTo>
                  <a:lnTo>
                    <a:pt x="11112787" y="696362"/>
                  </a:lnTo>
                  <a:lnTo>
                    <a:pt x="11067034" y="705612"/>
                  </a:lnTo>
                  <a:lnTo>
                    <a:pt x="117601" y="705612"/>
                  </a:lnTo>
                  <a:lnTo>
                    <a:pt x="71826" y="696362"/>
                  </a:lnTo>
                  <a:lnTo>
                    <a:pt x="34445" y="671147"/>
                  </a:lnTo>
                  <a:lnTo>
                    <a:pt x="9242" y="633763"/>
                  </a:lnTo>
                  <a:lnTo>
                    <a:pt x="0" y="588010"/>
                  </a:lnTo>
                  <a:lnTo>
                    <a:pt x="0" y="117601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64058" y="3016758"/>
              <a:ext cx="11184890" cy="707390"/>
            </a:xfrm>
            <a:custGeom>
              <a:avLst/>
              <a:gdLst/>
              <a:ahLst/>
              <a:cxnLst/>
              <a:rect l="l" t="t" r="r" b="b"/>
              <a:pathLst>
                <a:path w="11184890" h="707389">
                  <a:moveTo>
                    <a:pt x="11066780" y="0"/>
                  </a:moveTo>
                  <a:lnTo>
                    <a:pt x="117856" y="0"/>
                  </a:lnTo>
                  <a:lnTo>
                    <a:pt x="71982" y="9253"/>
                  </a:lnTo>
                  <a:lnTo>
                    <a:pt x="34520" y="34496"/>
                  </a:lnTo>
                  <a:lnTo>
                    <a:pt x="9262" y="71955"/>
                  </a:lnTo>
                  <a:lnTo>
                    <a:pt x="0" y="117855"/>
                  </a:lnTo>
                  <a:lnTo>
                    <a:pt x="0" y="589279"/>
                  </a:lnTo>
                  <a:lnTo>
                    <a:pt x="9262" y="635180"/>
                  </a:lnTo>
                  <a:lnTo>
                    <a:pt x="34520" y="672639"/>
                  </a:lnTo>
                  <a:lnTo>
                    <a:pt x="71982" y="697882"/>
                  </a:lnTo>
                  <a:lnTo>
                    <a:pt x="117856" y="707135"/>
                  </a:lnTo>
                  <a:lnTo>
                    <a:pt x="11066780" y="707135"/>
                  </a:lnTo>
                  <a:lnTo>
                    <a:pt x="11112680" y="697882"/>
                  </a:lnTo>
                  <a:lnTo>
                    <a:pt x="11150139" y="672639"/>
                  </a:lnTo>
                  <a:lnTo>
                    <a:pt x="11175382" y="635180"/>
                  </a:lnTo>
                  <a:lnTo>
                    <a:pt x="11184636" y="589279"/>
                  </a:lnTo>
                  <a:lnTo>
                    <a:pt x="11184636" y="117855"/>
                  </a:lnTo>
                  <a:lnTo>
                    <a:pt x="11175382" y="71955"/>
                  </a:lnTo>
                  <a:lnTo>
                    <a:pt x="11150139" y="34496"/>
                  </a:lnTo>
                  <a:lnTo>
                    <a:pt x="11112680" y="9253"/>
                  </a:lnTo>
                  <a:lnTo>
                    <a:pt x="1106678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64058" y="3016758"/>
              <a:ext cx="11184890" cy="707390"/>
            </a:xfrm>
            <a:custGeom>
              <a:avLst/>
              <a:gdLst/>
              <a:ahLst/>
              <a:cxnLst/>
              <a:rect l="l" t="t" r="r" b="b"/>
              <a:pathLst>
                <a:path w="11184890" h="707389">
                  <a:moveTo>
                    <a:pt x="0" y="117855"/>
                  </a:moveTo>
                  <a:lnTo>
                    <a:pt x="9262" y="71955"/>
                  </a:lnTo>
                  <a:lnTo>
                    <a:pt x="34520" y="34496"/>
                  </a:lnTo>
                  <a:lnTo>
                    <a:pt x="71982" y="9253"/>
                  </a:lnTo>
                  <a:lnTo>
                    <a:pt x="117856" y="0"/>
                  </a:lnTo>
                  <a:lnTo>
                    <a:pt x="11066780" y="0"/>
                  </a:lnTo>
                  <a:lnTo>
                    <a:pt x="11112680" y="9253"/>
                  </a:lnTo>
                  <a:lnTo>
                    <a:pt x="11150139" y="34496"/>
                  </a:lnTo>
                  <a:lnTo>
                    <a:pt x="11175382" y="71955"/>
                  </a:lnTo>
                  <a:lnTo>
                    <a:pt x="11184636" y="117855"/>
                  </a:lnTo>
                  <a:lnTo>
                    <a:pt x="11184636" y="589279"/>
                  </a:lnTo>
                  <a:lnTo>
                    <a:pt x="11175382" y="635180"/>
                  </a:lnTo>
                  <a:lnTo>
                    <a:pt x="11150139" y="672639"/>
                  </a:lnTo>
                  <a:lnTo>
                    <a:pt x="11112680" y="697882"/>
                  </a:lnTo>
                  <a:lnTo>
                    <a:pt x="11066780" y="707135"/>
                  </a:lnTo>
                  <a:lnTo>
                    <a:pt x="117856" y="707135"/>
                  </a:lnTo>
                  <a:lnTo>
                    <a:pt x="71982" y="697882"/>
                  </a:lnTo>
                  <a:lnTo>
                    <a:pt x="34520" y="672639"/>
                  </a:lnTo>
                  <a:lnTo>
                    <a:pt x="9262" y="635180"/>
                  </a:lnTo>
                  <a:lnTo>
                    <a:pt x="0" y="589279"/>
                  </a:lnTo>
                  <a:lnTo>
                    <a:pt x="0" y="11785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64058" y="3736086"/>
              <a:ext cx="11184890" cy="706120"/>
            </a:xfrm>
            <a:custGeom>
              <a:avLst/>
              <a:gdLst/>
              <a:ahLst/>
              <a:cxnLst/>
              <a:rect l="l" t="t" r="r" b="b"/>
              <a:pathLst>
                <a:path w="11184890" h="706120">
                  <a:moveTo>
                    <a:pt x="11067034" y="0"/>
                  </a:moveTo>
                  <a:lnTo>
                    <a:pt x="117601" y="0"/>
                  </a:lnTo>
                  <a:lnTo>
                    <a:pt x="71826" y="9249"/>
                  </a:lnTo>
                  <a:lnTo>
                    <a:pt x="34445" y="34464"/>
                  </a:lnTo>
                  <a:lnTo>
                    <a:pt x="9242" y="71848"/>
                  </a:lnTo>
                  <a:lnTo>
                    <a:pt x="0" y="117601"/>
                  </a:lnTo>
                  <a:lnTo>
                    <a:pt x="0" y="588009"/>
                  </a:lnTo>
                  <a:lnTo>
                    <a:pt x="9242" y="633763"/>
                  </a:lnTo>
                  <a:lnTo>
                    <a:pt x="34445" y="671147"/>
                  </a:lnTo>
                  <a:lnTo>
                    <a:pt x="71826" y="696362"/>
                  </a:lnTo>
                  <a:lnTo>
                    <a:pt x="117601" y="705612"/>
                  </a:lnTo>
                  <a:lnTo>
                    <a:pt x="11067034" y="705612"/>
                  </a:lnTo>
                  <a:lnTo>
                    <a:pt x="11112787" y="696362"/>
                  </a:lnTo>
                  <a:lnTo>
                    <a:pt x="11150171" y="671147"/>
                  </a:lnTo>
                  <a:lnTo>
                    <a:pt x="11175386" y="633763"/>
                  </a:lnTo>
                  <a:lnTo>
                    <a:pt x="11184636" y="588009"/>
                  </a:lnTo>
                  <a:lnTo>
                    <a:pt x="11184636" y="117601"/>
                  </a:lnTo>
                  <a:lnTo>
                    <a:pt x="11175386" y="71848"/>
                  </a:lnTo>
                  <a:lnTo>
                    <a:pt x="11150171" y="34464"/>
                  </a:lnTo>
                  <a:lnTo>
                    <a:pt x="11112787" y="9249"/>
                  </a:lnTo>
                  <a:lnTo>
                    <a:pt x="11067034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64058" y="3736086"/>
              <a:ext cx="11184890" cy="706120"/>
            </a:xfrm>
            <a:custGeom>
              <a:avLst/>
              <a:gdLst/>
              <a:ahLst/>
              <a:cxnLst/>
              <a:rect l="l" t="t" r="r" b="b"/>
              <a:pathLst>
                <a:path w="11184890" h="706120">
                  <a:moveTo>
                    <a:pt x="0" y="117601"/>
                  </a:moveTo>
                  <a:lnTo>
                    <a:pt x="9242" y="71848"/>
                  </a:lnTo>
                  <a:lnTo>
                    <a:pt x="34445" y="34464"/>
                  </a:lnTo>
                  <a:lnTo>
                    <a:pt x="71826" y="9249"/>
                  </a:lnTo>
                  <a:lnTo>
                    <a:pt x="117601" y="0"/>
                  </a:lnTo>
                  <a:lnTo>
                    <a:pt x="11067034" y="0"/>
                  </a:lnTo>
                  <a:lnTo>
                    <a:pt x="11112787" y="9249"/>
                  </a:lnTo>
                  <a:lnTo>
                    <a:pt x="11150171" y="34464"/>
                  </a:lnTo>
                  <a:lnTo>
                    <a:pt x="11175386" y="71848"/>
                  </a:lnTo>
                  <a:lnTo>
                    <a:pt x="11184636" y="117601"/>
                  </a:lnTo>
                  <a:lnTo>
                    <a:pt x="11184636" y="588009"/>
                  </a:lnTo>
                  <a:lnTo>
                    <a:pt x="11175386" y="633763"/>
                  </a:lnTo>
                  <a:lnTo>
                    <a:pt x="11150171" y="671147"/>
                  </a:lnTo>
                  <a:lnTo>
                    <a:pt x="11112787" y="696362"/>
                  </a:lnTo>
                  <a:lnTo>
                    <a:pt x="11067034" y="705612"/>
                  </a:lnTo>
                  <a:lnTo>
                    <a:pt x="117601" y="705612"/>
                  </a:lnTo>
                  <a:lnTo>
                    <a:pt x="71826" y="696362"/>
                  </a:lnTo>
                  <a:lnTo>
                    <a:pt x="34445" y="671147"/>
                  </a:lnTo>
                  <a:lnTo>
                    <a:pt x="9242" y="633763"/>
                  </a:lnTo>
                  <a:lnTo>
                    <a:pt x="0" y="588009"/>
                  </a:lnTo>
                  <a:lnTo>
                    <a:pt x="0" y="117601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64058" y="4455413"/>
              <a:ext cx="11184890" cy="706120"/>
            </a:xfrm>
            <a:custGeom>
              <a:avLst/>
              <a:gdLst/>
              <a:ahLst/>
              <a:cxnLst/>
              <a:rect l="l" t="t" r="r" b="b"/>
              <a:pathLst>
                <a:path w="11184890" h="706120">
                  <a:moveTo>
                    <a:pt x="11067034" y="0"/>
                  </a:moveTo>
                  <a:lnTo>
                    <a:pt x="117601" y="0"/>
                  </a:lnTo>
                  <a:lnTo>
                    <a:pt x="71826" y="9249"/>
                  </a:lnTo>
                  <a:lnTo>
                    <a:pt x="34445" y="34464"/>
                  </a:lnTo>
                  <a:lnTo>
                    <a:pt x="9242" y="71848"/>
                  </a:lnTo>
                  <a:lnTo>
                    <a:pt x="0" y="117602"/>
                  </a:lnTo>
                  <a:lnTo>
                    <a:pt x="0" y="588010"/>
                  </a:lnTo>
                  <a:lnTo>
                    <a:pt x="9242" y="633763"/>
                  </a:lnTo>
                  <a:lnTo>
                    <a:pt x="34445" y="671147"/>
                  </a:lnTo>
                  <a:lnTo>
                    <a:pt x="71826" y="696362"/>
                  </a:lnTo>
                  <a:lnTo>
                    <a:pt x="117601" y="705612"/>
                  </a:lnTo>
                  <a:lnTo>
                    <a:pt x="11067034" y="705612"/>
                  </a:lnTo>
                  <a:lnTo>
                    <a:pt x="11112787" y="696362"/>
                  </a:lnTo>
                  <a:lnTo>
                    <a:pt x="11150171" y="671147"/>
                  </a:lnTo>
                  <a:lnTo>
                    <a:pt x="11175386" y="633763"/>
                  </a:lnTo>
                  <a:lnTo>
                    <a:pt x="11184636" y="588010"/>
                  </a:lnTo>
                  <a:lnTo>
                    <a:pt x="11184636" y="117602"/>
                  </a:lnTo>
                  <a:lnTo>
                    <a:pt x="11175386" y="71848"/>
                  </a:lnTo>
                  <a:lnTo>
                    <a:pt x="11150171" y="34464"/>
                  </a:lnTo>
                  <a:lnTo>
                    <a:pt x="11112787" y="9249"/>
                  </a:lnTo>
                  <a:lnTo>
                    <a:pt x="11067034" y="0"/>
                  </a:lnTo>
                  <a:close/>
                </a:path>
              </a:pathLst>
            </a:custGeom>
            <a:solidFill>
              <a:srgbClr val="F795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64058" y="4455413"/>
              <a:ext cx="11184890" cy="706120"/>
            </a:xfrm>
            <a:custGeom>
              <a:avLst/>
              <a:gdLst/>
              <a:ahLst/>
              <a:cxnLst/>
              <a:rect l="l" t="t" r="r" b="b"/>
              <a:pathLst>
                <a:path w="11184890" h="706120">
                  <a:moveTo>
                    <a:pt x="0" y="117602"/>
                  </a:moveTo>
                  <a:lnTo>
                    <a:pt x="9242" y="71848"/>
                  </a:lnTo>
                  <a:lnTo>
                    <a:pt x="34445" y="34464"/>
                  </a:lnTo>
                  <a:lnTo>
                    <a:pt x="71826" y="9249"/>
                  </a:lnTo>
                  <a:lnTo>
                    <a:pt x="117601" y="0"/>
                  </a:lnTo>
                  <a:lnTo>
                    <a:pt x="11067034" y="0"/>
                  </a:lnTo>
                  <a:lnTo>
                    <a:pt x="11112787" y="9249"/>
                  </a:lnTo>
                  <a:lnTo>
                    <a:pt x="11150171" y="34464"/>
                  </a:lnTo>
                  <a:lnTo>
                    <a:pt x="11175386" y="71848"/>
                  </a:lnTo>
                  <a:lnTo>
                    <a:pt x="11184636" y="117602"/>
                  </a:lnTo>
                  <a:lnTo>
                    <a:pt x="11184636" y="588010"/>
                  </a:lnTo>
                  <a:lnTo>
                    <a:pt x="11175386" y="633763"/>
                  </a:lnTo>
                  <a:lnTo>
                    <a:pt x="11150171" y="671147"/>
                  </a:lnTo>
                  <a:lnTo>
                    <a:pt x="11112787" y="696362"/>
                  </a:lnTo>
                  <a:lnTo>
                    <a:pt x="11067034" y="705612"/>
                  </a:lnTo>
                  <a:lnTo>
                    <a:pt x="117601" y="705612"/>
                  </a:lnTo>
                  <a:lnTo>
                    <a:pt x="71826" y="696362"/>
                  </a:lnTo>
                  <a:lnTo>
                    <a:pt x="34445" y="671147"/>
                  </a:lnTo>
                  <a:lnTo>
                    <a:pt x="9242" y="633763"/>
                  </a:lnTo>
                  <a:lnTo>
                    <a:pt x="0" y="588010"/>
                  </a:lnTo>
                  <a:lnTo>
                    <a:pt x="0" y="117602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64058" y="5173217"/>
              <a:ext cx="11184890" cy="707390"/>
            </a:xfrm>
            <a:custGeom>
              <a:avLst/>
              <a:gdLst/>
              <a:ahLst/>
              <a:cxnLst/>
              <a:rect l="l" t="t" r="r" b="b"/>
              <a:pathLst>
                <a:path w="11184890" h="707389">
                  <a:moveTo>
                    <a:pt x="11066780" y="0"/>
                  </a:moveTo>
                  <a:lnTo>
                    <a:pt x="117856" y="0"/>
                  </a:lnTo>
                  <a:lnTo>
                    <a:pt x="71982" y="9253"/>
                  </a:lnTo>
                  <a:lnTo>
                    <a:pt x="34520" y="34496"/>
                  </a:lnTo>
                  <a:lnTo>
                    <a:pt x="9262" y="71955"/>
                  </a:lnTo>
                  <a:lnTo>
                    <a:pt x="0" y="117855"/>
                  </a:lnTo>
                  <a:lnTo>
                    <a:pt x="0" y="589279"/>
                  </a:lnTo>
                  <a:lnTo>
                    <a:pt x="9262" y="635153"/>
                  </a:lnTo>
                  <a:lnTo>
                    <a:pt x="34520" y="672615"/>
                  </a:lnTo>
                  <a:lnTo>
                    <a:pt x="71982" y="697873"/>
                  </a:lnTo>
                  <a:lnTo>
                    <a:pt x="117856" y="707135"/>
                  </a:lnTo>
                  <a:lnTo>
                    <a:pt x="11066780" y="707135"/>
                  </a:lnTo>
                  <a:lnTo>
                    <a:pt x="11112680" y="697873"/>
                  </a:lnTo>
                  <a:lnTo>
                    <a:pt x="11150139" y="672615"/>
                  </a:lnTo>
                  <a:lnTo>
                    <a:pt x="11175382" y="635153"/>
                  </a:lnTo>
                  <a:lnTo>
                    <a:pt x="11184636" y="589279"/>
                  </a:lnTo>
                  <a:lnTo>
                    <a:pt x="11184636" y="117855"/>
                  </a:lnTo>
                  <a:lnTo>
                    <a:pt x="11175382" y="71955"/>
                  </a:lnTo>
                  <a:lnTo>
                    <a:pt x="11150139" y="34496"/>
                  </a:lnTo>
                  <a:lnTo>
                    <a:pt x="11112680" y="9253"/>
                  </a:lnTo>
                  <a:lnTo>
                    <a:pt x="1106678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64058" y="5173217"/>
              <a:ext cx="11184890" cy="707390"/>
            </a:xfrm>
            <a:custGeom>
              <a:avLst/>
              <a:gdLst/>
              <a:ahLst/>
              <a:cxnLst/>
              <a:rect l="l" t="t" r="r" b="b"/>
              <a:pathLst>
                <a:path w="11184890" h="707389">
                  <a:moveTo>
                    <a:pt x="0" y="117855"/>
                  </a:moveTo>
                  <a:lnTo>
                    <a:pt x="9262" y="71955"/>
                  </a:lnTo>
                  <a:lnTo>
                    <a:pt x="34520" y="34496"/>
                  </a:lnTo>
                  <a:lnTo>
                    <a:pt x="71982" y="9253"/>
                  </a:lnTo>
                  <a:lnTo>
                    <a:pt x="117856" y="0"/>
                  </a:lnTo>
                  <a:lnTo>
                    <a:pt x="11066780" y="0"/>
                  </a:lnTo>
                  <a:lnTo>
                    <a:pt x="11112680" y="9253"/>
                  </a:lnTo>
                  <a:lnTo>
                    <a:pt x="11150139" y="34496"/>
                  </a:lnTo>
                  <a:lnTo>
                    <a:pt x="11175382" y="71955"/>
                  </a:lnTo>
                  <a:lnTo>
                    <a:pt x="11184636" y="117855"/>
                  </a:lnTo>
                  <a:lnTo>
                    <a:pt x="11184636" y="589279"/>
                  </a:lnTo>
                  <a:lnTo>
                    <a:pt x="11175382" y="635153"/>
                  </a:lnTo>
                  <a:lnTo>
                    <a:pt x="11150139" y="672615"/>
                  </a:lnTo>
                  <a:lnTo>
                    <a:pt x="11112680" y="697873"/>
                  </a:lnTo>
                  <a:lnTo>
                    <a:pt x="11066780" y="707135"/>
                  </a:lnTo>
                  <a:lnTo>
                    <a:pt x="117856" y="707135"/>
                  </a:lnTo>
                  <a:lnTo>
                    <a:pt x="71982" y="697873"/>
                  </a:lnTo>
                  <a:lnTo>
                    <a:pt x="34520" y="672615"/>
                  </a:lnTo>
                  <a:lnTo>
                    <a:pt x="9262" y="635153"/>
                  </a:lnTo>
                  <a:lnTo>
                    <a:pt x="0" y="589279"/>
                  </a:lnTo>
                  <a:lnTo>
                    <a:pt x="0" y="11785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64058" y="5892546"/>
              <a:ext cx="11184890" cy="706120"/>
            </a:xfrm>
            <a:custGeom>
              <a:avLst/>
              <a:gdLst/>
              <a:ahLst/>
              <a:cxnLst/>
              <a:rect l="l" t="t" r="r" b="b"/>
              <a:pathLst>
                <a:path w="11184890" h="706120">
                  <a:moveTo>
                    <a:pt x="11067034" y="0"/>
                  </a:moveTo>
                  <a:lnTo>
                    <a:pt x="117601" y="0"/>
                  </a:lnTo>
                  <a:lnTo>
                    <a:pt x="71826" y="9242"/>
                  </a:lnTo>
                  <a:lnTo>
                    <a:pt x="34445" y="34445"/>
                  </a:lnTo>
                  <a:lnTo>
                    <a:pt x="9242" y="71826"/>
                  </a:lnTo>
                  <a:lnTo>
                    <a:pt x="0" y="117601"/>
                  </a:lnTo>
                  <a:lnTo>
                    <a:pt x="0" y="587997"/>
                  </a:lnTo>
                  <a:lnTo>
                    <a:pt x="9242" y="633779"/>
                  </a:lnTo>
                  <a:lnTo>
                    <a:pt x="34445" y="671164"/>
                  </a:lnTo>
                  <a:lnTo>
                    <a:pt x="71826" y="696369"/>
                  </a:lnTo>
                  <a:lnTo>
                    <a:pt x="117601" y="705611"/>
                  </a:lnTo>
                  <a:lnTo>
                    <a:pt x="11067034" y="705611"/>
                  </a:lnTo>
                  <a:lnTo>
                    <a:pt x="11112787" y="696369"/>
                  </a:lnTo>
                  <a:lnTo>
                    <a:pt x="11150171" y="671164"/>
                  </a:lnTo>
                  <a:lnTo>
                    <a:pt x="11175386" y="633779"/>
                  </a:lnTo>
                  <a:lnTo>
                    <a:pt x="11184636" y="587997"/>
                  </a:lnTo>
                  <a:lnTo>
                    <a:pt x="11184636" y="117601"/>
                  </a:lnTo>
                  <a:lnTo>
                    <a:pt x="11175386" y="71826"/>
                  </a:lnTo>
                  <a:lnTo>
                    <a:pt x="11150171" y="34445"/>
                  </a:lnTo>
                  <a:lnTo>
                    <a:pt x="11112787" y="9242"/>
                  </a:lnTo>
                  <a:lnTo>
                    <a:pt x="11067034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64058" y="5892546"/>
              <a:ext cx="11184890" cy="706120"/>
            </a:xfrm>
            <a:custGeom>
              <a:avLst/>
              <a:gdLst/>
              <a:ahLst/>
              <a:cxnLst/>
              <a:rect l="l" t="t" r="r" b="b"/>
              <a:pathLst>
                <a:path w="11184890" h="706120">
                  <a:moveTo>
                    <a:pt x="0" y="117601"/>
                  </a:moveTo>
                  <a:lnTo>
                    <a:pt x="9242" y="71826"/>
                  </a:lnTo>
                  <a:lnTo>
                    <a:pt x="34445" y="34445"/>
                  </a:lnTo>
                  <a:lnTo>
                    <a:pt x="71826" y="9242"/>
                  </a:lnTo>
                  <a:lnTo>
                    <a:pt x="117601" y="0"/>
                  </a:lnTo>
                  <a:lnTo>
                    <a:pt x="11067034" y="0"/>
                  </a:lnTo>
                  <a:lnTo>
                    <a:pt x="11112787" y="9242"/>
                  </a:lnTo>
                  <a:lnTo>
                    <a:pt x="11150171" y="34445"/>
                  </a:lnTo>
                  <a:lnTo>
                    <a:pt x="11175386" y="71826"/>
                  </a:lnTo>
                  <a:lnTo>
                    <a:pt x="11184636" y="117601"/>
                  </a:lnTo>
                  <a:lnTo>
                    <a:pt x="11184636" y="587997"/>
                  </a:lnTo>
                  <a:lnTo>
                    <a:pt x="11175386" y="633779"/>
                  </a:lnTo>
                  <a:lnTo>
                    <a:pt x="11150171" y="671164"/>
                  </a:lnTo>
                  <a:lnTo>
                    <a:pt x="11112787" y="696369"/>
                  </a:lnTo>
                  <a:lnTo>
                    <a:pt x="11067034" y="705611"/>
                  </a:lnTo>
                  <a:lnTo>
                    <a:pt x="117601" y="705611"/>
                  </a:lnTo>
                  <a:lnTo>
                    <a:pt x="71826" y="696369"/>
                  </a:lnTo>
                  <a:lnTo>
                    <a:pt x="34445" y="671164"/>
                  </a:lnTo>
                  <a:lnTo>
                    <a:pt x="9242" y="633779"/>
                  </a:lnTo>
                  <a:lnTo>
                    <a:pt x="0" y="587997"/>
                  </a:lnTo>
                  <a:lnTo>
                    <a:pt x="0" y="117601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561848" y="1735582"/>
            <a:ext cx="10899140" cy="47859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Subquery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within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another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embedded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within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clause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90100"/>
              </a:lnSpc>
              <a:spcBef>
                <a:spcPts val="1095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subquery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placed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clauses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clause,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clause,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HAVING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clause. 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Subquery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SELECT,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UPDATE,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INSERT,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DELETE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statements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along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operators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=,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&lt;,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210"/>
              </a:lnSpc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&gt;,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&gt;=,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&lt;=,</a:t>
            </a:r>
            <a:r>
              <a:rPr dirty="0" sz="20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IN,</a:t>
            </a:r>
            <a:r>
              <a:rPr dirty="0" sz="20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ANY,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ALL,</a:t>
            </a:r>
            <a:r>
              <a:rPr dirty="0" sz="20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BETWEEN,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  <a:p>
            <a:pPr marL="12700" marR="280035">
              <a:lnSpc>
                <a:spcPts val="2210"/>
              </a:lnSpc>
              <a:spcBef>
                <a:spcPts val="1290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subquery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within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another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query.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outer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known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main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query,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inner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known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0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subquery.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05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Subqueries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right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side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comparison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operator.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subquery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enclosed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parentheses.</a:t>
            </a:r>
            <a:endParaRPr sz="2000">
              <a:latin typeface="Calibri"/>
              <a:cs typeface="Calibri"/>
            </a:endParaRPr>
          </a:p>
          <a:p>
            <a:pPr marL="12700" marR="210820">
              <a:lnSpc>
                <a:spcPts val="2210"/>
              </a:lnSpc>
              <a:spcBef>
                <a:spcPts val="2395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Subquery,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command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cannot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used.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command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perform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same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command.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0751" y="356743"/>
            <a:ext cx="420878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 MT"/>
                <a:cs typeface="Arial MT"/>
              </a:rPr>
              <a:t>Customers</a:t>
            </a:r>
            <a:r>
              <a:rPr dirty="0" spc="-95">
                <a:latin typeface="Arial MT"/>
                <a:cs typeface="Arial MT"/>
              </a:rPr>
              <a:t> Table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2519" y="1400555"/>
            <a:ext cx="10363200" cy="5253228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3634" rIns="0" bIns="0" rtlCol="0" vert="horz">
            <a:spAutoFit/>
          </a:bodyPr>
          <a:lstStyle/>
          <a:p>
            <a:pPr marL="608330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Times New Roman"/>
                <a:cs typeface="Times New Roman"/>
              </a:rPr>
              <a:t>1.</a:t>
            </a:r>
            <a:r>
              <a:rPr dirty="0" spc="-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Subqueries</a:t>
            </a:r>
            <a:r>
              <a:rPr dirty="0" spc="-3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with the</a:t>
            </a:r>
            <a:r>
              <a:rPr dirty="0" spc="-3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Select</a:t>
            </a:r>
            <a:r>
              <a:rPr dirty="0" spc="-30" b="1">
                <a:latin typeface="Times New Roman"/>
                <a:cs typeface="Times New Roman"/>
              </a:rPr>
              <a:t> </a:t>
            </a:r>
            <a:r>
              <a:rPr dirty="0" spc="-10" b="1">
                <a:latin typeface="Times New Roman"/>
                <a:cs typeface="Times New Roman"/>
              </a:rPr>
              <a:t>Statement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36421" y="1409827"/>
            <a:ext cx="9627870" cy="4965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700">
                <a:latin typeface="Times New Roman"/>
                <a:cs typeface="Times New Roman"/>
              </a:rPr>
              <a:t>SQL</a:t>
            </a:r>
            <a:r>
              <a:rPr dirty="0" sz="2700" spc="-13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subqueries</a:t>
            </a:r>
            <a:r>
              <a:rPr dirty="0" sz="2700" spc="-3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are</a:t>
            </a:r>
            <a:r>
              <a:rPr dirty="0" sz="2700" spc="-6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most</a:t>
            </a:r>
            <a:r>
              <a:rPr dirty="0" sz="2700" spc="-3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frequently</a:t>
            </a:r>
            <a:r>
              <a:rPr dirty="0" sz="2700" spc="-5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used</a:t>
            </a:r>
            <a:r>
              <a:rPr dirty="0" sz="2700" spc="-3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with</a:t>
            </a:r>
            <a:r>
              <a:rPr dirty="0" sz="2700" spc="-4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the</a:t>
            </a:r>
            <a:r>
              <a:rPr dirty="0" sz="2700" spc="-4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Select</a:t>
            </a:r>
            <a:r>
              <a:rPr dirty="0" sz="2700" spc="-4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statement.</a:t>
            </a:r>
            <a:endParaRPr sz="27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700" b="1">
                <a:latin typeface="Times New Roman"/>
                <a:cs typeface="Times New Roman"/>
              </a:rPr>
              <a:t>Syntax</a:t>
            </a:r>
            <a:r>
              <a:rPr dirty="0" sz="2700" spc="-5" b="1">
                <a:latin typeface="Times New Roman"/>
                <a:cs typeface="Times New Roman"/>
              </a:rPr>
              <a:t> </a:t>
            </a:r>
            <a:r>
              <a:rPr dirty="0" sz="2700" spc="-50">
                <a:latin typeface="Times New Roman"/>
                <a:cs typeface="Times New Roman"/>
              </a:rPr>
              <a:t>:</a:t>
            </a:r>
            <a:endParaRPr sz="2700">
              <a:latin typeface="Times New Roman"/>
              <a:cs typeface="Times New Roman"/>
            </a:endParaRPr>
          </a:p>
          <a:p>
            <a:pPr marL="927100" marR="5412105">
              <a:lnSpc>
                <a:spcPct val="100000"/>
              </a:lnSpc>
            </a:pPr>
            <a:r>
              <a:rPr dirty="0" sz="2700">
                <a:latin typeface="Times New Roman"/>
                <a:cs typeface="Times New Roman"/>
              </a:rPr>
              <a:t>SELECT</a:t>
            </a:r>
            <a:r>
              <a:rPr dirty="0" sz="2700" spc="-11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column_name </a:t>
            </a:r>
            <a:r>
              <a:rPr dirty="0" sz="2700">
                <a:latin typeface="Times New Roman"/>
                <a:cs typeface="Times New Roman"/>
              </a:rPr>
              <a:t>FROM </a:t>
            </a:r>
            <a:r>
              <a:rPr dirty="0" sz="2700" spc="-10">
                <a:latin typeface="Times New Roman"/>
                <a:cs typeface="Times New Roman"/>
              </a:rPr>
              <a:t>table_name</a:t>
            </a:r>
            <a:endParaRPr sz="27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dirty="0" sz="2700">
                <a:latin typeface="Times New Roman"/>
                <a:cs typeface="Times New Roman"/>
              </a:rPr>
              <a:t>WHERE</a:t>
            </a:r>
            <a:r>
              <a:rPr dirty="0" sz="2700" spc="-7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column_name</a:t>
            </a:r>
            <a:r>
              <a:rPr dirty="0" sz="2700" spc="-8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expression</a:t>
            </a:r>
            <a:r>
              <a:rPr dirty="0" sz="2700" spc="-114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operator</a:t>
            </a:r>
            <a:endParaRPr sz="27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  <a:tabLst>
                <a:tab pos="4578985" algn="l"/>
              </a:tabLst>
            </a:pPr>
            <a:r>
              <a:rPr dirty="0" sz="2700">
                <a:latin typeface="Times New Roman"/>
                <a:cs typeface="Times New Roman"/>
              </a:rPr>
              <a:t>(</a:t>
            </a:r>
            <a:r>
              <a:rPr dirty="0" sz="2700" spc="-4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SELECT</a:t>
            </a:r>
            <a:r>
              <a:rPr dirty="0" sz="2700" spc="-75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column_name</a:t>
            </a:r>
            <a:r>
              <a:rPr dirty="0" sz="2700">
                <a:latin typeface="Times New Roman"/>
                <a:cs typeface="Times New Roman"/>
              </a:rPr>
              <a:t>	from</a:t>
            </a:r>
            <a:r>
              <a:rPr dirty="0" sz="2700" spc="-35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table_name</a:t>
            </a:r>
            <a:r>
              <a:rPr dirty="0" sz="2700" spc="-12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WHERE</a:t>
            </a:r>
            <a:r>
              <a:rPr dirty="0" sz="2700" spc="-3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...</a:t>
            </a:r>
            <a:r>
              <a:rPr dirty="0" sz="2700" spc="-45">
                <a:latin typeface="Times New Roman"/>
                <a:cs typeface="Times New Roman"/>
              </a:rPr>
              <a:t> </a:t>
            </a:r>
            <a:r>
              <a:rPr dirty="0" sz="2700" spc="-25">
                <a:latin typeface="Times New Roman"/>
                <a:cs typeface="Times New Roman"/>
              </a:rPr>
              <a:t>);</a:t>
            </a:r>
            <a:endParaRPr sz="2700">
              <a:latin typeface="Times New Roman"/>
              <a:cs typeface="Times New Roman"/>
            </a:endParaRPr>
          </a:p>
          <a:p>
            <a:pPr marL="269875" marR="2597150" indent="-257810">
              <a:lnSpc>
                <a:spcPct val="100000"/>
              </a:lnSpc>
              <a:buChar char="•"/>
              <a:tabLst>
                <a:tab pos="269875" algn="l"/>
                <a:tab pos="354965" algn="l"/>
              </a:tabLst>
            </a:pPr>
            <a:r>
              <a:rPr dirty="0" sz="2700">
                <a:latin typeface="Arial MT"/>
                <a:cs typeface="Arial MT"/>
              </a:rPr>
              <a:t>	</a:t>
            </a:r>
            <a:r>
              <a:rPr dirty="0" sz="2700">
                <a:latin typeface="Times New Roman"/>
                <a:cs typeface="Times New Roman"/>
              </a:rPr>
              <a:t>The</a:t>
            </a:r>
            <a:r>
              <a:rPr dirty="0" sz="2700" spc="-3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subquery</a:t>
            </a:r>
            <a:r>
              <a:rPr dirty="0" sz="2700" spc="-5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with</a:t>
            </a:r>
            <a:r>
              <a:rPr dirty="0" sz="2700" spc="-4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a</a:t>
            </a:r>
            <a:r>
              <a:rPr dirty="0" sz="2700" spc="-3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SELECT</a:t>
            </a:r>
            <a:r>
              <a:rPr dirty="0" sz="2700" spc="-7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statement</a:t>
            </a:r>
            <a:r>
              <a:rPr dirty="0" sz="2700" spc="-3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will</a:t>
            </a:r>
            <a:r>
              <a:rPr dirty="0" sz="2700" spc="-45">
                <a:latin typeface="Times New Roman"/>
                <a:cs typeface="Times New Roman"/>
              </a:rPr>
              <a:t> </a:t>
            </a:r>
            <a:r>
              <a:rPr dirty="0" sz="2700" spc="-25">
                <a:latin typeface="Times New Roman"/>
                <a:cs typeface="Times New Roman"/>
              </a:rPr>
              <a:t>be: </a:t>
            </a:r>
            <a:r>
              <a:rPr dirty="0" sz="2700">
                <a:latin typeface="Times New Roman"/>
                <a:cs typeface="Times New Roman"/>
              </a:rPr>
              <a:t>SQL&gt;</a:t>
            </a:r>
            <a:r>
              <a:rPr dirty="0" sz="2700" spc="-4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SELECT</a:t>
            </a:r>
            <a:r>
              <a:rPr dirty="0" sz="2700" spc="-95">
                <a:latin typeface="Times New Roman"/>
                <a:cs typeface="Times New Roman"/>
              </a:rPr>
              <a:t> </a:t>
            </a:r>
            <a:r>
              <a:rPr dirty="0" sz="2700" spc="-50">
                <a:latin typeface="Times New Roman"/>
                <a:cs typeface="Times New Roman"/>
              </a:rPr>
              <a:t>*</a:t>
            </a:r>
            <a:endParaRPr sz="2700">
              <a:latin typeface="Times New Roman"/>
              <a:cs typeface="Times New Roman"/>
            </a:endParaRPr>
          </a:p>
          <a:p>
            <a:pPr marL="264160" marR="5342890" indent="5715">
              <a:lnSpc>
                <a:spcPct val="100000"/>
              </a:lnSpc>
            </a:pPr>
            <a:r>
              <a:rPr dirty="0" sz="2700">
                <a:latin typeface="Times New Roman"/>
                <a:cs typeface="Times New Roman"/>
              </a:rPr>
              <a:t>FROM</a:t>
            </a:r>
            <a:r>
              <a:rPr dirty="0" sz="2700" spc="-15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CUSTOMERS </a:t>
            </a:r>
            <a:r>
              <a:rPr dirty="0" sz="2700">
                <a:latin typeface="Times New Roman"/>
                <a:cs typeface="Times New Roman"/>
              </a:rPr>
              <a:t>WHERE</a:t>
            </a:r>
            <a:r>
              <a:rPr dirty="0" sz="2700" spc="-5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ID</a:t>
            </a:r>
            <a:r>
              <a:rPr dirty="0" sz="2700" spc="-5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IN</a:t>
            </a:r>
            <a:r>
              <a:rPr dirty="0" sz="2700" spc="-6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(SELECT</a:t>
            </a:r>
            <a:r>
              <a:rPr dirty="0" sz="2700" spc="-80">
                <a:latin typeface="Times New Roman"/>
                <a:cs typeface="Times New Roman"/>
              </a:rPr>
              <a:t> </a:t>
            </a:r>
            <a:r>
              <a:rPr dirty="0" sz="2700" spc="-25">
                <a:latin typeface="Times New Roman"/>
                <a:cs typeface="Times New Roman"/>
              </a:rPr>
              <a:t>ID </a:t>
            </a:r>
            <a:r>
              <a:rPr dirty="0" sz="2700">
                <a:latin typeface="Times New Roman"/>
                <a:cs typeface="Times New Roman"/>
              </a:rPr>
              <a:t>FROM</a:t>
            </a:r>
            <a:r>
              <a:rPr dirty="0" sz="2700" spc="-15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CUSTOMERS</a:t>
            </a:r>
            <a:endParaRPr sz="2700">
              <a:latin typeface="Times New Roman"/>
              <a:cs typeface="Times New Roman"/>
            </a:endParaRPr>
          </a:p>
          <a:p>
            <a:pPr marL="264160">
              <a:lnSpc>
                <a:spcPct val="100000"/>
              </a:lnSpc>
              <a:spcBef>
                <a:spcPts val="10"/>
              </a:spcBef>
            </a:pPr>
            <a:r>
              <a:rPr dirty="0" sz="2700">
                <a:latin typeface="Times New Roman"/>
                <a:cs typeface="Times New Roman"/>
              </a:rPr>
              <a:t>WHERE</a:t>
            </a:r>
            <a:r>
              <a:rPr dirty="0" sz="2700" spc="-40">
                <a:latin typeface="Times New Roman"/>
                <a:cs typeface="Times New Roman"/>
              </a:rPr>
              <a:t> </a:t>
            </a:r>
            <a:r>
              <a:rPr dirty="0" sz="2700" spc="-30">
                <a:latin typeface="Times New Roman"/>
                <a:cs typeface="Times New Roman"/>
              </a:rPr>
              <a:t>SALARY</a:t>
            </a:r>
            <a:r>
              <a:rPr dirty="0" sz="2700" spc="-14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&gt;</a:t>
            </a:r>
            <a:r>
              <a:rPr dirty="0" sz="2700" spc="-3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4500)</a:t>
            </a:r>
            <a:r>
              <a:rPr dirty="0" sz="2700" spc="-70">
                <a:latin typeface="Times New Roman"/>
                <a:cs typeface="Times New Roman"/>
              </a:rPr>
              <a:t> </a:t>
            </a:r>
            <a:r>
              <a:rPr dirty="0" sz="2700" spc="-50">
                <a:latin typeface="Times New Roman"/>
                <a:cs typeface="Times New Roman"/>
              </a:rPr>
              <a:t>;</a:t>
            </a:r>
            <a:endParaRPr sz="27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5291" y="4399788"/>
            <a:ext cx="6108192" cy="200406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3634" rIns="0" bIns="0" rtlCol="0" vert="horz">
            <a:spAutoFit/>
          </a:bodyPr>
          <a:lstStyle/>
          <a:p>
            <a:pPr marL="219710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Times New Roman"/>
                <a:cs typeface="Times New Roman"/>
              </a:rPr>
              <a:t>2.</a:t>
            </a:r>
            <a:r>
              <a:rPr dirty="0" spc="-4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Subqueries</a:t>
            </a:r>
            <a:r>
              <a:rPr dirty="0" spc="-6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with</a:t>
            </a:r>
            <a:r>
              <a:rPr dirty="0" spc="-3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the</a:t>
            </a:r>
            <a:r>
              <a:rPr dirty="0" spc="-6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INSERT</a:t>
            </a:r>
            <a:r>
              <a:rPr dirty="0" spc="-114" b="1">
                <a:latin typeface="Times New Roman"/>
                <a:cs typeface="Times New Roman"/>
              </a:rPr>
              <a:t> </a:t>
            </a:r>
            <a:r>
              <a:rPr dirty="0" spc="-10" b="1">
                <a:latin typeface="Times New Roman"/>
                <a:cs typeface="Times New Roman"/>
              </a:rPr>
              <a:t>Statement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402207"/>
            <a:ext cx="10361295" cy="5065395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algn="just" marL="353060" marR="5080" indent="-340995">
              <a:lnSpc>
                <a:spcPts val="2780"/>
              </a:lnSpc>
              <a:spcBef>
                <a:spcPts val="78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900">
                <a:latin typeface="Times New Roman"/>
                <a:cs typeface="Times New Roman"/>
              </a:rPr>
              <a:t>SQL</a:t>
            </a:r>
            <a:r>
              <a:rPr dirty="0" sz="2900" spc="3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subquery</a:t>
            </a:r>
            <a:r>
              <a:rPr dirty="0" sz="2900" spc="4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can</a:t>
            </a:r>
            <a:r>
              <a:rPr dirty="0" sz="2900" spc="41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also</a:t>
            </a:r>
            <a:r>
              <a:rPr dirty="0" sz="2900" spc="4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be</a:t>
            </a:r>
            <a:r>
              <a:rPr dirty="0" sz="2900" spc="409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used</a:t>
            </a:r>
            <a:r>
              <a:rPr dirty="0" sz="2900" spc="4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with</a:t>
            </a:r>
            <a:r>
              <a:rPr dirty="0" sz="2900" spc="41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the</a:t>
            </a:r>
            <a:r>
              <a:rPr dirty="0" sz="2900" spc="4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Insert</a:t>
            </a:r>
            <a:r>
              <a:rPr dirty="0" sz="2900" spc="409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statement.</a:t>
            </a:r>
            <a:r>
              <a:rPr dirty="0" sz="2900" spc="434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In</a:t>
            </a:r>
            <a:r>
              <a:rPr dirty="0" sz="2900" spc="420">
                <a:latin typeface="Times New Roman"/>
                <a:cs typeface="Times New Roman"/>
              </a:rPr>
              <a:t> </a:t>
            </a:r>
            <a:r>
              <a:rPr dirty="0" sz="2900" spc="-25">
                <a:latin typeface="Times New Roman"/>
                <a:cs typeface="Times New Roman"/>
              </a:rPr>
              <a:t>the </a:t>
            </a:r>
            <a:r>
              <a:rPr dirty="0" sz="2900" spc="-25">
                <a:latin typeface="Times New Roman"/>
                <a:cs typeface="Times New Roman"/>
              </a:rPr>
              <a:t>	</a:t>
            </a:r>
            <a:r>
              <a:rPr dirty="0" sz="2900">
                <a:latin typeface="Times New Roman"/>
                <a:cs typeface="Times New Roman"/>
              </a:rPr>
              <a:t>insert</a:t>
            </a:r>
            <a:r>
              <a:rPr dirty="0" sz="2900" spc="2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statement,</a:t>
            </a:r>
            <a:r>
              <a:rPr dirty="0" sz="2900" spc="29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data</a:t>
            </a:r>
            <a:r>
              <a:rPr dirty="0" sz="2900" spc="26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returned</a:t>
            </a:r>
            <a:r>
              <a:rPr dirty="0" sz="2900" spc="27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from</a:t>
            </a:r>
            <a:r>
              <a:rPr dirty="0" sz="2900" spc="254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the</a:t>
            </a:r>
            <a:r>
              <a:rPr dirty="0" sz="2900" spc="27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subquery</a:t>
            </a:r>
            <a:r>
              <a:rPr dirty="0" sz="2900" spc="28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is</a:t>
            </a:r>
            <a:r>
              <a:rPr dirty="0" sz="2900" spc="27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used</a:t>
            </a:r>
            <a:r>
              <a:rPr dirty="0" sz="2900" spc="27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to</a:t>
            </a:r>
            <a:r>
              <a:rPr dirty="0" sz="2900" spc="27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insert </a:t>
            </a:r>
            <a:r>
              <a:rPr dirty="0" sz="2900" spc="-10">
                <a:latin typeface="Times New Roman"/>
                <a:cs typeface="Times New Roman"/>
              </a:rPr>
              <a:t>	</a:t>
            </a:r>
            <a:r>
              <a:rPr dirty="0" sz="2900">
                <a:latin typeface="Times New Roman"/>
                <a:cs typeface="Times New Roman"/>
              </a:rPr>
              <a:t>into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another</a:t>
            </a:r>
            <a:r>
              <a:rPr dirty="0" sz="2900" spc="-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table.</a:t>
            </a:r>
            <a:endParaRPr sz="2900">
              <a:latin typeface="Times New Roman"/>
              <a:cs typeface="Times New Roman"/>
            </a:endParaRPr>
          </a:p>
          <a:p>
            <a:pPr algn="just" marL="353060" marR="5080" indent="-340995">
              <a:lnSpc>
                <a:spcPct val="80000"/>
              </a:lnSpc>
              <a:spcBef>
                <a:spcPts val="73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900">
                <a:latin typeface="Times New Roman"/>
                <a:cs typeface="Times New Roman"/>
              </a:rPr>
              <a:t>In</a:t>
            </a:r>
            <a:r>
              <a:rPr dirty="0" sz="2900" spc="18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the</a:t>
            </a:r>
            <a:r>
              <a:rPr dirty="0" sz="2900" spc="19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subquery,</a:t>
            </a:r>
            <a:r>
              <a:rPr dirty="0" sz="2900" spc="19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the</a:t>
            </a:r>
            <a:r>
              <a:rPr dirty="0" sz="2900" spc="17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selected</a:t>
            </a:r>
            <a:r>
              <a:rPr dirty="0" sz="2900" spc="19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data</a:t>
            </a:r>
            <a:r>
              <a:rPr dirty="0" sz="2900" spc="18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can</a:t>
            </a:r>
            <a:r>
              <a:rPr dirty="0" sz="2900" spc="19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be</a:t>
            </a:r>
            <a:r>
              <a:rPr dirty="0" sz="2900" spc="204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modified</a:t>
            </a:r>
            <a:r>
              <a:rPr dirty="0" sz="2900" spc="19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with</a:t>
            </a:r>
            <a:r>
              <a:rPr dirty="0" sz="2900" spc="19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any</a:t>
            </a:r>
            <a:r>
              <a:rPr dirty="0" sz="2900" spc="19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of</a:t>
            </a:r>
            <a:r>
              <a:rPr dirty="0" sz="2900" spc="190">
                <a:latin typeface="Times New Roman"/>
                <a:cs typeface="Times New Roman"/>
              </a:rPr>
              <a:t> </a:t>
            </a:r>
            <a:r>
              <a:rPr dirty="0" sz="2900" spc="-25">
                <a:latin typeface="Times New Roman"/>
                <a:cs typeface="Times New Roman"/>
              </a:rPr>
              <a:t>the </a:t>
            </a:r>
            <a:r>
              <a:rPr dirty="0" sz="2900" spc="-25">
                <a:latin typeface="Times New Roman"/>
                <a:cs typeface="Times New Roman"/>
              </a:rPr>
              <a:t>	</a:t>
            </a:r>
            <a:r>
              <a:rPr dirty="0" sz="2900">
                <a:latin typeface="Times New Roman"/>
                <a:cs typeface="Times New Roman"/>
              </a:rPr>
              <a:t>character,</a:t>
            </a:r>
            <a:r>
              <a:rPr dirty="0" sz="2900" spc="-7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date</a:t>
            </a:r>
            <a:r>
              <a:rPr dirty="0" sz="2900" spc="-8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functions.</a:t>
            </a:r>
            <a:endParaRPr sz="2900">
              <a:latin typeface="Times New Roman"/>
              <a:cs typeface="Times New Roman"/>
            </a:endParaRPr>
          </a:p>
          <a:p>
            <a:pPr algn="just" marL="353695" indent="-340995">
              <a:lnSpc>
                <a:spcPct val="100000"/>
              </a:lnSpc>
              <a:buFont typeface="Arial MT"/>
              <a:buChar char="•"/>
              <a:tabLst>
                <a:tab pos="353695" algn="l"/>
              </a:tabLst>
            </a:pPr>
            <a:r>
              <a:rPr dirty="0" sz="2900" spc="-10" b="1">
                <a:latin typeface="Times New Roman"/>
                <a:cs typeface="Times New Roman"/>
              </a:rPr>
              <a:t>Syntax:</a:t>
            </a:r>
            <a:endParaRPr sz="2900">
              <a:latin typeface="Times New Roman"/>
              <a:cs typeface="Times New Roman"/>
            </a:endParaRPr>
          </a:p>
          <a:p>
            <a:pPr algn="just" marL="927100" marR="199390">
              <a:lnSpc>
                <a:spcPct val="100000"/>
              </a:lnSpc>
            </a:pPr>
            <a:r>
              <a:rPr dirty="0" sz="2900" spc="-25">
                <a:latin typeface="Times New Roman"/>
                <a:cs typeface="Times New Roman"/>
              </a:rPr>
              <a:t>INSERT</a:t>
            </a:r>
            <a:r>
              <a:rPr dirty="0" sz="2900" spc="-1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INTO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table_name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(column1,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column2,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column3....) </a:t>
            </a:r>
            <a:r>
              <a:rPr dirty="0" sz="2900">
                <a:latin typeface="Times New Roman"/>
                <a:cs typeface="Times New Roman"/>
              </a:rPr>
              <a:t>SELECT</a:t>
            </a:r>
            <a:r>
              <a:rPr dirty="0" sz="2900" spc="-114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*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FROM</a:t>
            </a:r>
            <a:r>
              <a:rPr dirty="0" sz="2900" spc="-7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table_name</a:t>
            </a:r>
            <a:r>
              <a:rPr dirty="0" sz="2900" spc="-9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WHERE</a:t>
            </a:r>
            <a:r>
              <a:rPr dirty="0" sz="2900" spc="-100">
                <a:latin typeface="Times New Roman"/>
                <a:cs typeface="Times New Roman"/>
              </a:rPr>
              <a:t> </a:t>
            </a:r>
            <a:r>
              <a:rPr dirty="0" sz="2900" spc="-75">
                <a:latin typeface="Times New Roman"/>
                <a:cs typeface="Times New Roman"/>
              </a:rPr>
              <a:t>VALUE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OPERATOR</a:t>
            </a:r>
            <a:endParaRPr sz="2900">
              <a:latin typeface="Times New Roman"/>
              <a:cs typeface="Times New Roman"/>
            </a:endParaRPr>
          </a:p>
          <a:p>
            <a:pPr algn="just" marL="353695" indent="-340995">
              <a:lnSpc>
                <a:spcPct val="100000"/>
              </a:lnSpc>
              <a:buFont typeface="Arial MT"/>
              <a:buChar char="•"/>
              <a:tabLst>
                <a:tab pos="353695" algn="l"/>
              </a:tabLst>
            </a:pPr>
            <a:r>
              <a:rPr dirty="0" sz="2900" spc="-10" b="1">
                <a:latin typeface="Times New Roman"/>
                <a:cs typeface="Times New Roman"/>
              </a:rPr>
              <a:t>Example</a:t>
            </a:r>
            <a:endParaRPr sz="2900">
              <a:latin typeface="Times New Roman"/>
              <a:cs typeface="Times New Roman"/>
            </a:endParaRPr>
          </a:p>
          <a:p>
            <a:pPr marL="927100" marR="3994150">
              <a:lnSpc>
                <a:spcPct val="100000"/>
              </a:lnSpc>
              <a:spcBef>
                <a:spcPts val="5"/>
              </a:spcBef>
              <a:tabLst>
                <a:tab pos="3871595" algn="l"/>
              </a:tabLst>
            </a:pPr>
            <a:r>
              <a:rPr dirty="0" sz="2900" spc="-25">
                <a:latin typeface="Times New Roman"/>
                <a:cs typeface="Times New Roman"/>
              </a:rPr>
              <a:t>INSERT</a:t>
            </a:r>
            <a:r>
              <a:rPr dirty="0" sz="2900" spc="-1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INTO</a:t>
            </a:r>
            <a:r>
              <a:rPr dirty="0" sz="2900" spc="-7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CUSTOMERS_BKP </a:t>
            </a:r>
            <a:r>
              <a:rPr dirty="0" sz="2900">
                <a:latin typeface="Times New Roman"/>
                <a:cs typeface="Times New Roman"/>
              </a:rPr>
              <a:t>SELECT</a:t>
            </a:r>
            <a:r>
              <a:rPr dirty="0" sz="2900" spc="-10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*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 spc="-20">
                <a:latin typeface="Times New Roman"/>
                <a:cs typeface="Times New Roman"/>
              </a:rPr>
              <a:t>FROM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900" spc="-10">
                <a:latin typeface="Times New Roman"/>
                <a:cs typeface="Times New Roman"/>
              </a:rPr>
              <a:t>CUSTOMERS</a:t>
            </a:r>
            <a:endParaRPr sz="29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tabLst>
                <a:tab pos="6563359" algn="l"/>
              </a:tabLst>
            </a:pPr>
            <a:r>
              <a:rPr dirty="0" sz="2900">
                <a:latin typeface="Times New Roman"/>
                <a:cs typeface="Times New Roman"/>
              </a:rPr>
              <a:t>WHERE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ID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IN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(SELECT</a:t>
            </a:r>
            <a:r>
              <a:rPr dirty="0" sz="2900" spc="-9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ID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 spc="-20">
                <a:latin typeface="Times New Roman"/>
                <a:cs typeface="Times New Roman"/>
              </a:rPr>
              <a:t>FROM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900" spc="-10">
                <a:latin typeface="Times New Roman"/>
                <a:cs typeface="Times New Roman"/>
              </a:rPr>
              <a:t>CUSTOMERS);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7700" y="507949"/>
            <a:ext cx="935482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latin typeface="Times New Roman"/>
                <a:cs typeface="Times New Roman"/>
              </a:rPr>
              <a:t>3.</a:t>
            </a:r>
            <a:r>
              <a:rPr dirty="0" sz="4000" spc="-120" b="1">
                <a:latin typeface="Times New Roman"/>
                <a:cs typeface="Times New Roman"/>
              </a:rPr>
              <a:t> </a:t>
            </a:r>
            <a:r>
              <a:rPr dirty="0" sz="4000" b="1">
                <a:latin typeface="Times New Roman"/>
                <a:cs typeface="Times New Roman"/>
              </a:rPr>
              <a:t>Subqueries</a:t>
            </a:r>
            <a:r>
              <a:rPr dirty="0" sz="4000" spc="-100" b="1">
                <a:latin typeface="Times New Roman"/>
                <a:cs typeface="Times New Roman"/>
              </a:rPr>
              <a:t> </a:t>
            </a:r>
            <a:r>
              <a:rPr dirty="0" sz="4000" b="1">
                <a:latin typeface="Times New Roman"/>
                <a:cs typeface="Times New Roman"/>
              </a:rPr>
              <a:t>with</a:t>
            </a:r>
            <a:r>
              <a:rPr dirty="0" sz="4000" spc="-105" b="1">
                <a:latin typeface="Times New Roman"/>
                <a:cs typeface="Times New Roman"/>
              </a:rPr>
              <a:t> </a:t>
            </a:r>
            <a:r>
              <a:rPr dirty="0" sz="4000" b="1">
                <a:latin typeface="Times New Roman"/>
                <a:cs typeface="Times New Roman"/>
              </a:rPr>
              <a:t>the</a:t>
            </a:r>
            <a:r>
              <a:rPr dirty="0" sz="4000" spc="-120" b="1">
                <a:latin typeface="Times New Roman"/>
                <a:cs typeface="Times New Roman"/>
              </a:rPr>
              <a:t> </a:t>
            </a:r>
            <a:r>
              <a:rPr dirty="0" sz="4000" spc="-20" b="1">
                <a:latin typeface="Times New Roman"/>
                <a:cs typeface="Times New Roman"/>
              </a:rPr>
              <a:t>UPDATE</a:t>
            </a:r>
            <a:r>
              <a:rPr dirty="0" sz="4000" spc="-110" b="1">
                <a:latin typeface="Times New Roman"/>
                <a:cs typeface="Times New Roman"/>
              </a:rPr>
              <a:t> </a:t>
            </a:r>
            <a:r>
              <a:rPr dirty="0" sz="4000" spc="-10" b="1">
                <a:latin typeface="Times New Roman"/>
                <a:cs typeface="Times New Roman"/>
              </a:rPr>
              <a:t>Statement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309192"/>
            <a:ext cx="10626090" cy="35629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subquery</a:t>
            </a:r>
            <a:r>
              <a:rPr dirty="0" sz="2000" spc="1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SQL</a:t>
            </a:r>
            <a:r>
              <a:rPr dirty="0" sz="2000" spc="1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1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1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used</a:t>
            </a:r>
            <a:r>
              <a:rPr dirty="0" sz="2000" spc="1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conjunction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1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Update</a:t>
            </a:r>
            <a:r>
              <a:rPr dirty="0" sz="2000" spc="1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statement.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When</a:t>
            </a:r>
            <a:r>
              <a:rPr dirty="0" sz="2000" spc="20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1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subquery</a:t>
            </a:r>
            <a:r>
              <a:rPr dirty="0" sz="2000" spc="18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is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Times New Roman"/>
                <a:cs typeface="Times New Roman"/>
              </a:rPr>
              <a:t>used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Update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statement,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either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single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multiple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columns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table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updated.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spc="-10" b="1">
                <a:latin typeface="Times New Roman"/>
                <a:cs typeface="Times New Roman"/>
              </a:rPr>
              <a:t>Syntax</a:t>
            </a:r>
            <a:endParaRPr sz="2000">
              <a:latin typeface="Times New Roman"/>
              <a:cs typeface="Times New Roman"/>
            </a:endParaRPr>
          </a:p>
          <a:p>
            <a:pPr marL="267335" marR="2143125">
              <a:lnSpc>
                <a:spcPct val="120000"/>
              </a:lnSpc>
            </a:pPr>
            <a:r>
              <a:rPr dirty="0" sz="2000" spc="-40">
                <a:latin typeface="Times New Roman"/>
                <a:cs typeface="Times New Roman"/>
              </a:rPr>
              <a:t>UPDATE </a:t>
            </a:r>
            <a:r>
              <a:rPr dirty="0" sz="2000">
                <a:latin typeface="Times New Roman"/>
                <a:cs typeface="Times New Roman"/>
              </a:rPr>
              <a:t>table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SET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column_name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=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new_value</a:t>
            </a:r>
            <a:r>
              <a:rPr dirty="0" sz="2000" spc="40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WHERE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 spc="-55">
                <a:latin typeface="Times New Roman"/>
                <a:cs typeface="Times New Roman"/>
              </a:rPr>
              <a:t>VALUE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OPERATOR </a:t>
            </a:r>
            <a:r>
              <a:rPr dirty="0" sz="2000">
                <a:latin typeface="Times New Roman"/>
                <a:cs typeface="Times New Roman"/>
              </a:rPr>
              <a:t>(SELECT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COLUMN_NAME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TABLE_NAME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WHERE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condition);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spc="-10" b="1">
                <a:latin typeface="Times New Roman"/>
                <a:cs typeface="Times New Roman"/>
              </a:rPr>
              <a:t>Example</a:t>
            </a:r>
            <a:endParaRPr sz="20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480"/>
              </a:spcBef>
            </a:pPr>
            <a:r>
              <a:rPr dirty="0" sz="2000" spc="-35">
                <a:latin typeface="Times New Roman"/>
                <a:cs typeface="Times New Roman"/>
              </a:rPr>
              <a:t>UPDATE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CUSTOMERS</a:t>
            </a:r>
            <a:endParaRPr sz="2000">
              <a:latin typeface="Times New Roman"/>
              <a:cs typeface="Times New Roman"/>
            </a:endParaRPr>
          </a:p>
          <a:p>
            <a:pPr marL="198120" marR="6170295" indent="4445">
              <a:lnSpc>
                <a:spcPct val="120000"/>
              </a:lnSpc>
            </a:pPr>
            <a:r>
              <a:rPr dirty="0" sz="2000">
                <a:latin typeface="Times New Roman"/>
                <a:cs typeface="Times New Roman"/>
              </a:rPr>
              <a:t>SET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30">
                <a:latin typeface="Times New Roman"/>
                <a:cs typeface="Times New Roman"/>
              </a:rPr>
              <a:t>SALARY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=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30">
                <a:latin typeface="Times New Roman"/>
                <a:cs typeface="Times New Roman"/>
              </a:rPr>
              <a:t>SALARY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*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0.25 </a:t>
            </a:r>
            <a:r>
              <a:rPr dirty="0" sz="2000" spc="-10">
                <a:latin typeface="Times New Roman"/>
                <a:cs typeface="Times New Roman"/>
              </a:rPr>
              <a:t>WHERE</a:t>
            </a:r>
            <a:r>
              <a:rPr dirty="0" sz="2000" spc="-1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AGE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(SELECT</a:t>
            </a:r>
            <a:r>
              <a:rPr dirty="0" sz="2000" spc="-1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AGE</a:t>
            </a:r>
            <a:r>
              <a:rPr dirty="0" sz="2000" spc="-20">
                <a:latin typeface="Times New Roman"/>
                <a:cs typeface="Times New Roman"/>
              </a:rPr>
              <a:t> FROM</a:t>
            </a:r>
            <a:endParaRPr sz="20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480"/>
              </a:spcBef>
            </a:pPr>
            <a:r>
              <a:rPr dirty="0" sz="2000" spc="-10">
                <a:latin typeface="Times New Roman"/>
                <a:cs typeface="Times New Roman"/>
              </a:rPr>
              <a:t>CUSTOMERS_BKP</a:t>
            </a:r>
            <a:r>
              <a:rPr dirty="0" sz="2000" spc="-114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WHERE</a:t>
            </a:r>
            <a:r>
              <a:rPr dirty="0" sz="2000" spc="-1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AGE &gt;=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27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);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1200" y="3180588"/>
            <a:ext cx="6135624" cy="3491484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7589" rIns="0" bIns="0" rtlCol="0" vert="horz">
            <a:spAutoFit/>
          </a:bodyPr>
          <a:lstStyle/>
          <a:p>
            <a:pPr marL="111760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Times New Roman"/>
                <a:cs typeface="Times New Roman"/>
              </a:rPr>
              <a:t>4.</a:t>
            </a:r>
            <a:r>
              <a:rPr dirty="0" spc="-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Subqueries</a:t>
            </a:r>
            <a:r>
              <a:rPr dirty="0" spc="-3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with the</a:t>
            </a:r>
            <a:r>
              <a:rPr dirty="0" spc="-3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DELETE</a:t>
            </a:r>
            <a:r>
              <a:rPr dirty="0" spc="-20" b="1">
                <a:latin typeface="Times New Roman"/>
                <a:cs typeface="Times New Roman"/>
              </a:rPr>
              <a:t> </a:t>
            </a:r>
            <a:r>
              <a:rPr dirty="0" spc="-10" b="1">
                <a:latin typeface="Times New Roman"/>
                <a:cs typeface="Times New Roman"/>
              </a:rPr>
              <a:t>Statement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28268" y="1441526"/>
            <a:ext cx="11146155" cy="510667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54965" marR="5080" indent="-342900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 spc="14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subquery</a:t>
            </a:r>
            <a:r>
              <a:rPr dirty="0" sz="3200" spc="15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of</a:t>
            </a:r>
            <a:r>
              <a:rPr dirty="0" sz="3200" spc="14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SQL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can</a:t>
            </a:r>
            <a:r>
              <a:rPr dirty="0" sz="3200" spc="14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be</a:t>
            </a:r>
            <a:r>
              <a:rPr dirty="0" sz="3200" spc="16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used</a:t>
            </a:r>
            <a:r>
              <a:rPr dirty="0" sz="3200" spc="15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in</a:t>
            </a:r>
            <a:r>
              <a:rPr dirty="0" sz="3200" spc="15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conjunction</a:t>
            </a:r>
            <a:r>
              <a:rPr dirty="0" sz="3200" spc="15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with</a:t>
            </a:r>
            <a:r>
              <a:rPr dirty="0" sz="3200" spc="15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 spc="15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Delete </a:t>
            </a:r>
            <a:r>
              <a:rPr dirty="0" sz="3200">
                <a:latin typeface="Times New Roman"/>
                <a:cs typeface="Times New Roman"/>
              </a:rPr>
              <a:t>statement</a:t>
            </a:r>
            <a:r>
              <a:rPr dirty="0" sz="3200" spc="-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just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like</a:t>
            </a:r>
            <a:r>
              <a:rPr dirty="0" sz="3200" spc="-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any</a:t>
            </a:r>
            <a:r>
              <a:rPr dirty="0" sz="3200" spc="-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other</a:t>
            </a:r>
            <a:r>
              <a:rPr dirty="0" sz="3200" spc="-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statements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mentioned</a:t>
            </a:r>
            <a:r>
              <a:rPr dirty="0" sz="3200" spc="-4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above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3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 spc="-10" b="1">
                <a:latin typeface="Times New Roman"/>
                <a:cs typeface="Times New Roman"/>
              </a:rPr>
              <a:t>Syntax</a:t>
            </a:r>
            <a:endParaRPr sz="3200">
              <a:latin typeface="Times New Roman"/>
              <a:cs typeface="Times New Roman"/>
            </a:endParaRPr>
          </a:p>
          <a:p>
            <a:pPr marL="234950" marR="6654800" indent="81915">
              <a:lnSpc>
                <a:spcPct val="116399"/>
              </a:lnSpc>
              <a:spcBef>
                <a:spcPts val="715"/>
              </a:spcBef>
            </a:pPr>
            <a:r>
              <a:rPr dirty="0" sz="2400">
                <a:latin typeface="Times New Roman"/>
                <a:cs typeface="Times New Roman"/>
              </a:rPr>
              <a:t>DELETE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-8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TABLE_NAME </a:t>
            </a:r>
            <a:r>
              <a:rPr dirty="0" sz="2400">
                <a:latin typeface="Times New Roman"/>
                <a:cs typeface="Times New Roman"/>
              </a:rPr>
              <a:t>WHERE</a:t>
            </a:r>
            <a:r>
              <a:rPr dirty="0" sz="2400" spc="-100">
                <a:latin typeface="Times New Roman"/>
                <a:cs typeface="Times New Roman"/>
              </a:rPr>
              <a:t> </a:t>
            </a:r>
            <a:r>
              <a:rPr dirty="0" sz="2400" spc="-60">
                <a:latin typeface="Times New Roman"/>
                <a:cs typeface="Times New Roman"/>
              </a:rPr>
              <a:t>VALUE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OPERATOR</a:t>
            </a:r>
            <a:endParaRPr sz="2400">
              <a:latin typeface="Times New Roman"/>
              <a:cs typeface="Times New Roman"/>
            </a:endParaRPr>
          </a:p>
          <a:p>
            <a:pPr marL="316865">
              <a:lnSpc>
                <a:spcPct val="100000"/>
              </a:lnSpc>
              <a:spcBef>
                <a:spcPts val="285"/>
              </a:spcBef>
            </a:pPr>
            <a:r>
              <a:rPr dirty="0" sz="2400">
                <a:latin typeface="Times New Roman"/>
                <a:cs typeface="Times New Roman"/>
              </a:rPr>
              <a:t>(SELECT</a:t>
            </a:r>
            <a:r>
              <a:rPr dirty="0" sz="2400" spc="-1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COLUMN_NAME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-13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TABLE_NAME</a:t>
            </a:r>
            <a:r>
              <a:rPr dirty="0" sz="2400" spc="-1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WHERE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condition);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 spc="-10" b="1">
                <a:latin typeface="Times New Roman"/>
                <a:cs typeface="Times New Roman"/>
              </a:rPr>
              <a:t>Example</a:t>
            </a:r>
            <a:endParaRPr sz="3200">
              <a:latin typeface="Times New Roman"/>
              <a:cs typeface="Times New Roman"/>
            </a:endParaRPr>
          </a:p>
          <a:p>
            <a:pPr marL="234950" marR="6762750" indent="81915">
              <a:lnSpc>
                <a:spcPct val="111400"/>
              </a:lnSpc>
              <a:spcBef>
                <a:spcPts val="855"/>
              </a:spcBef>
            </a:pPr>
            <a:r>
              <a:rPr dirty="0" sz="2400">
                <a:latin typeface="Times New Roman"/>
                <a:cs typeface="Times New Roman"/>
              </a:rPr>
              <a:t>DELETE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CUSTOMERS WHERE</a:t>
            </a:r>
            <a:r>
              <a:rPr dirty="0" sz="2400" spc="-1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AGE IN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(SELECT</a:t>
            </a:r>
            <a:r>
              <a:rPr dirty="0" sz="2400" spc="-18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AGE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CUSTOMERS_BKP WHERE</a:t>
            </a:r>
            <a:r>
              <a:rPr dirty="0" sz="2400" spc="-1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AGE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&gt;=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27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);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4270247"/>
            <a:ext cx="5684520" cy="2525266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7960" rIns="0" bIns="0" rtlCol="0" vert="horz">
            <a:spAutoFit/>
          </a:bodyPr>
          <a:lstStyle/>
          <a:p>
            <a:pPr marL="2379345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Times New Roman"/>
                <a:cs typeface="Times New Roman"/>
              </a:rPr>
              <a:t>Examples</a:t>
            </a:r>
            <a:r>
              <a:rPr dirty="0" spc="-2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of </a:t>
            </a:r>
            <a:r>
              <a:rPr dirty="0" spc="-10" b="1">
                <a:latin typeface="Times New Roman"/>
                <a:cs typeface="Times New Roman"/>
              </a:rPr>
              <a:t>Subqueries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28268" y="1393697"/>
            <a:ext cx="10854690" cy="522097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Display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topic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least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sequence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value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Select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topic,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seq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help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where seq=(select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min(seq)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-10">
                <a:latin typeface="Times New Roman"/>
                <a:cs typeface="Times New Roman"/>
              </a:rPr>
              <a:t> help)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Display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info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highest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sequence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value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Select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info,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seq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help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where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seq=(select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max(seq)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help)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Display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topic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sequence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help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less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total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number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sequence.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Select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topic,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seq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help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where seq&lt;(select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count(seq)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help)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Display</a:t>
            </a:r>
            <a:r>
              <a:rPr dirty="0" sz="2400" spc="2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2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topic</a:t>
            </a:r>
            <a:r>
              <a:rPr dirty="0" sz="2400" spc="2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2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sequence</a:t>
            </a:r>
            <a:r>
              <a:rPr dirty="0" sz="2400" spc="3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2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help</a:t>
            </a:r>
            <a:r>
              <a:rPr dirty="0" sz="2400" spc="2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table</a:t>
            </a:r>
            <a:r>
              <a:rPr dirty="0" sz="2400" spc="2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2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sequences</a:t>
            </a:r>
            <a:r>
              <a:rPr dirty="0" sz="2400" spc="2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having</a:t>
            </a:r>
            <a:r>
              <a:rPr dirty="0" sz="2400" spc="2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value</a:t>
            </a:r>
            <a:r>
              <a:rPr dirty="0" sz="2400" spc="28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greater </a:t>
            </a:r>
            <a:r>
              <a:rPr dirty="0" sz="2400">
                <a:latin typeface="Times New Roman"/>
                <a:cs typeface="Times New Roman"/>
              </a:rPr>
              <a:t>than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minimum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value.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Select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topic,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seq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help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where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seq&gt;(select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min(seq)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help)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3014" y="461899"/>
            <a:ext cx="358521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Employee</a:t>
            </a:r>
            <a:r>
              <a:rPr dirty="0" spc="-120"/>
              <a:t> </a:t>
            </a:r>
            <a:r>
              <a:rPr dirty="0" spc="-50"/>
              <a:t>Table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735" y="1604306"/>
            <a:ext cx="10427601" cy="5047686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9638" rIns="0" bIns="0" rtlCol="0" vert="horz">
            <a:spAutoFit/>
          </a:bodyPr>
          <a:lstStyle/>
          <a:p>
            <a:pPr marL="2379345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Times New Roman"/>
                <a:cs typeface="Times New Roman"/>
              </a:rPr>
              <a:t>Examples</a:t>
            </a:r>
            <a:r>
              <a:rPr dirty="0" spc="-3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of</a:t>
            </a:r>
            <a:r>
              <a:rPr dirty="0" spc="5" b="1">
                <a:latin typeface="Times New Roman"/>
                <a:cs typeface="Times New Roman"/>
              </a:rPr>
              <a:t> </a:t>
            </a:r>
            <a:r>
              <a:rPr dirty="0" spc="-10" b="1">
                <a:latin typeface="Times New Roman"/>
                <a:cs typeface="Times New Roman"/>
              </a:rPr>
              <a:t>Subqueries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41375" y="1481708"/>
            <a:ext cx="10857230" cy="495300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55600" marR="6350" indent="-342900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Times New Roman"/>
                <a:cs typeface="Times New Roman"/>
              </a:rPr>
              <a:t>Write</a:t>
            </a:r>
            <a:r>
              <a:rPr dirty="0" sz="3200" spc="14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query</a:t>
            </a:r>
            <a:r>
              <a:rPr dirty="0" sz="3200" spc="15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to</a:t>
            </a:r>
            <a:r>
              <a:rPr dirty="0" sz="3200" spc="15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find</a:t>
            </a:r>
            <a:r>
              <a:rPr dirty="0" sz="3200" spc="14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 spc="15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salaries</a:t>
            </a:r>
            <a:r>
              <a:rPr dirty="0" sz="3200" spc="14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for</a:t>
            </a:r>
            <a:r>
              <a:rPr dirty="0" sz="3200" spc="13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all</a:t>
            </a:r>
            <a:r>
              <a:rPr dirty="0" sz="3200" spc="15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 spc="15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employees</a:t>
            </a:r>
            <a:r>
              <a:rPr dirty="0" sz="3200" spc="15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who</a:t>
            </a:r>
            <a:r>
              <a:rPr dirty="0" sz="3200" spc="135">
                <a:latin typeface="Times New Roman"/>
                <a:cs typeface="Times New Roman"/>
              </a:rPr>
              <a:t> </a:t>
            </a:r>
            <a:r>
              <a:rPr dirty="0" sz="3200" spc="-20">
                <a:latin typeface="Times New Roman"/>
                <a:cs typeface="Times New Roman"/>
              </a:rPr>
              <a:t>have </a:t>
            </a:r>
            <a:r>
              <a:rPr dirty="0" sz="3200">
                <a:latin typeface="Times New Roman"/>
                <a:cs typeface="Times New Roman"/>
              </a:rPr>
              <a:t>a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higher</a:t>
            </a:r>
            <a:r>
              <a:rPr dirty="0" sz="3200" spc="-3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salary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than</a:t>
            </a:r>
            <a:r>
              <a:rPr dirty="0" sz="3200" spc="-14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Yogesh.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460"/>
              </a:lnSpc>
              <a:spcBef>
                <a:spcPts val="76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Times New Roman"/>
                <a:cs typeface="Times New Roman"/>
              </a:rPr>
              <a:t>Select</a:t>
            </a:r>
            <a:r>
              <a:rPr dirty="0" sz="3200" spc="2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sal,</a:t>
            </a:r>
            <a:r>
              <a:rPr dirty="0" sz="3200" spc="2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ename</a:t>
            </a:r>
            <a:r>
              <a:rPr dirty="0" sz="3200" spc="204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from</a:t>
            </a:r>
            <a:r>
              <a:rPr dirty="0" sz="3200" spc="2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Empl</a:t>
            </a:r>
            <a:r>
              <a:rPr dirty="0" sz="3200" spc="2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where</a:t>
            </a:r>
            <a:r>
              <a:rPr dirty="0" sz="3200" spc="20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salary&gt;(</a:t>
            </a:r>
            <a:r>
              <a:rPr dirty="0" sz="3200" spc="2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select</a:t>
            </a:r>
            <a:r>
              <a:rPr dirty="0" sz="3200" spc="2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salary</a:t>
            </a:r>
            <a:r>
              <a:rPr dirty="0" sz="3200" spc="215">
                <a:latin typeface="Times New Roman"/>
                <a:cs typeface="Times New Roman"/>
              </a:rPr>
              <a:t> </a:t>
            </a:r>
            <a:r>
              <a:rPr dirty="0" sz="3200" spc="-20">
                <a:latin typeface="Times New Roman"/>
                <a:cs typeface="Times New Roman"/>
              </a:rPr>
              <a:t>from </a:t>
            </a:r>
            <a:r>
              <a:rPr dirty="0" sz="3200">
                <a:latin typeface="Times New Roman"/>
                <a:cs typeface="Times New Roman"/>
              </a:rPr>
              <a:t>Empl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where</a:t>
            </a:r>
            <a:r>
              <a:rPr dirty="0" sz="3200" spc="-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ename=‘Yogesh’)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0"/>
              </a:spcBef>
              <a:buFont typeface="Arial MT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marL="355600" marR="5715" indent="-342900">
              <a:lnSpc>
                <a:spcPts val="346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Times New Roman"/>
                <a:cs typeface="Times New Roman"/>
              </a:rPr>
              <a:t>Display</a:t>
            </a:r>
            <a:r>
              <a:rPr dirty="0" sz="3200" spc="7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details</a:t>
            </a:r>
            <a:r>
              <a:rPr dirty="0" sz="3200" spc="7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of</a:t>
            </a:r>
            <a:r>
              <a:rPr dirty="0" sz="3200" spc="7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an</a:t>
            </a:r>
            <a:r>
              <a:rPr dirty="0" sz="3200" spc="7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employee</a:t>
            </a:r>
            <a:r>
              <a:rPr dirty="0" sz="3200" spc="9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whose</a:t>
            </a:r>
            <a:r>
              <a:rPr dirty="0" sz="3200" spc="9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salary</a:t>
            </a:r>
            <a:r>
              <a:rPr dirty="0" sz="3200" spc="9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is</a:t>
            </a:r>
            <a:r>
              <a:rPr dirty="0" sz="3200" spc="7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greater</a:t>
            </a:r>
            <a:r>
              <a:rPr dirty="0" sz="3200" spc="8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than</a:t>
            </a:r>
            <a:r>
              <a:rPr dirty="0" sz="3200" spc="85">
                <a:latin typeface="Times New Roman"/>
                <a:cs typeface="Times New Roman"/>
              </a:rPr>
              <a:t> </a:t>
            </a:r>
            <a:r>
              <a:rPr dirty="0" sz="3200" spc="-25">
                <a:latin typeface="Times New Roman"/>
                <a:cs typeface="Times New Roman"/>
              </a:rPr>
              <a:t>avg </a:t>
            </a:r>
            <a:r>
              <a:rPr dirty="0" sz="3200">
                <a:latin typeface="Times New Roman"/>
                <a:cs typeface="Times New Roman"/>
              </a:rPr>
              <a:t>salary</a:t>
            </a:r>
            <a:r>
              <a:rPr dirty="0" sz="3200" spc="-3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of</a:t>
            </a:r>
            <a:r>
              <a:rPr dirty="0" sz="3200" spc="-3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employees</a:t>
            </a:r>
            <a:r>
              <a:rPr dirty="0" sz="3200" spc="-4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who</a:t>
            </a:r>
            <a:r>
              <a:rPr dirty="0" sz="3200" spc="-3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work</a:t>
            </a:r>
            <a:r>
              <a:rPr dirty="0" sz="3200" spc="35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as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salesman.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460"/>
              </a:lnSpc>
              <a:spcBef>
                <a:spcPts val="760"/>
              </a:spcBef>
              <a:buFont typeface="Arial MT"/>
              <a:buChar char="•"/>
              <a:tabLst>
                <a:tab pos="355600" algn="l"/>
                <a:tab pos="1568450" algn="l"/>
                <a:tab pos="1990725" algn="l"/>
                <a:tab pos="2998470" algn="l"/>
                <a:tab pos="4097020" algn="l"/>
                <a:tab pos="5308600" algn="l"/>
                <a:tab pos="6497955" algn="l"/>
                <a:tab pos="8008620" algn="l"/>
                <a:tab pos="10055225" algn="l"/>
              </a:tabLst>
            </a:pPr>
            <a:r>
              <a:rPr dirty="0" sz="3200" spc="-10">
                <a:latin typeface="Times New Roman"/>
                <a:cs typeface="Times New Roman"/>
              </a:rPr>
              <a:t>Select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50">
                <a:latin typeface="Times New Roman"/>
                <a:cs typeface="Times New Roman"/>
              </a:rPr>
              <a:t>*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20">
                <a:latin typeface="Times New Roman"/>
                <a:cs typeface="Times New Roman"/>
              </a:rPr>
              <a:t>from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20">
                <a:latin typeface="Times New Roman"/>
                <a:cs typeface="Times New Roman"/>
              </a:rPr>
              <a:t>Empl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10">
                <a:latin typeface="Times New Roman"/>
                <a:cs typeface="Times New Roman"/>
              </a:rPr>
              <a:t>where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10">
                <a:latin typeface="Times New Roman"/>
                <a:cs typeface="Times New Roman"/>
              </a:rPr>
              <a:t>salary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10">
                <a:latin typeface="Times New Roman"/>
                <a:cs typeface="Times New Roman"/>
              </a:rPr>
              <a:t>&gt;(select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10">
                <a:latin typeface="Times New Roman"/>
                <a:cs typeface="Times New Roman"/>
              </a:rPr>
              <a:t>avg(salary)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20">
                <a:latin typeface="Times New Roman"/>
                <a:cs typeface="Times New Roman"/>
              </a:rPr>
              <a:t>from </a:t>
            </a:r>
            <a:r>
              <a:rPr dirty="0" sz="3200">
                <a:latin typeface="Times New Roman"/>
                <a:cs typeface="Times New Roman"/>
              </a:rPr>
              <a:t>Empl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where</a:t>
            </a:r>
            <a:r>
              <a:rPr dirty="0" sz="3200" spc="-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job='Salesman’)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9638" rIns="0" bIns="0" rtlCol="0" vert="horz">
            <a:spAutoFit/>
          </a:bodyPr>
          <a:lstStyle/>
          <a:p>
            <a:pPr marL="2379345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Times New Roman"/>
                <a:cs typeface="Times New Roman"/>
              </a:rPr>
              <a:t>Examples</a:t>
            </a:r>
            <a:r>
              <a:rPr dirty="0" spc="-3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of</a:t>
            </a:r>
            <a:r>
              <a:rPr dirty="0" spc="5" b="1">
                <a:latin typeface="Times New Roman"/>
                <a:cs typeface="Times New Roman"/>
              </a:rPr>
              <a:t> </a:t>
            </a:r>
            <a:r>
              <a:rPr dirty="0" spc="-10" b="1">
                <a:latin typeface="Times New Roman"/>
                <a:cs typeface="Times New Roman"/>
              </a:rPr>
              <a:t>Subqueries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41375" y="1530476"/>
            <a:ext cx="10855325" cy="48063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71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Times New Roman"/>
                <a:cs typeface="Times New Roman"/>
              </a:rPr>
              <a:t>Display</a:t>
            </a:r>
            <a:r>
              <a:rPr dirty="0" sz="3200" spc="9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 spc="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name</a:t>
            </a:r>
            <a:r>
              <a:rPr dirty="0" sz="3200" spc="9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of</a:t>
            </a:r>
            <a:r>
              <a:rPr dirty="0" sz="3200" spc="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 spc="9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employees</a:t>
            </a:r>
            <a:r>
              <a:rPr dirty="0" sz="3200" spc="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whose</a:t>
            </a:r>
            <a:r>
              <a:rPr dirty="0" sz="3200" spc="10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salary</a:t>
            </a:r>
            <a:r>
              <a:rPr dirty="0" sz="3200" spc="9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is</a:t>
            </a:r>
            <a:r>
              <a:rPr dirty="0" sz="3200" spc="8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greater</a:t>
            </a:r>
            <a:r>
              <a:rPr dirty="0" sz="3200" spc="85">
                <a:latin typeface="Times New Roman"/>
                <a:cs typeface="Times New Roman"/>
              </a:rPr>
              <a:t> </a:t>
            </a:r>
            <a:r>
              <a:rPr dirty="0" sz="3200" spc="-20">
                <a:latin typeface="Times New Roman"/>
                <a:cs typeface="Times New Roman"/>
              </a:rPr>
              <a:t>than </a:t>
            </a: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employee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with empno</a:t>
            </a:r>
            <a:r>
              <a:rPr dirty="0" sz="3200" spc="-25">
                <a:latin typeface="Times New Roman"/>
                <a:cs typeface="Times New Roman"/>
              </a:rPr>
              <a:t> 10.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5600" algn="l"/>
                <a:tab pos="1568450" algn="l"/>
                <a:tab pos="2848610" algn="l"/>
                <a:tab pos="3855085" algn="l"/>
                <a:tab pos="4952365" algn="l"/>
                <a:tab pos="6163945" algn="l"/>
                <a:tab pos="7354570" algn="l"/>
                <a:tab pos="8863330" algn="l"/>
                <a:tab pos="10052050" algn="l"/>
              </a:tabLst>
            </a:pPr>
            <a:r>
              <a:rPr dirty="0" sz="3200" spc="-10">
                <a:latin typeface="Times New Roman"/>
                <a:cs typeface="Times New Roman"/>
              </a:rPr>
              <a:t>Select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10">
                <a:latin typeface="Times New Roman"/>
                <a:cs typeface="Times New Roman"/>
              </a:rPr>
              <a:t>ename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20">
                <a:latin typeface="Times New Roman"/>
                <a:cs typeface="Times New Roman"/>
              </a:rPr>
              <a:t>from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20">
                <a:latin typeface="Times New Roman"/>
                <a:cs typeface="Times New Roman"/>
              </a:rPr>
              <a:t>Empl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10">
                <a:latin typeface="Times New Roman"/>
                <a:cs typeface="Times New Roman"/>
              </a:rPr>
              <a:t>where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10">
                <a:latin typeface="Times New Roman"/>
                <a:cs typeface="Times New Roman"/>
              </a:rPr>
              <a:t>salary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10">
                <a:latin typeface="Times New Roman"/>
                <a:cs typeface="Times New Roman"/>
              </a:rPr>
              <a:t>&gt;(select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10">
                <a:latin typeface="Times New Roman"/>
                <a:cs typeface="Times New Roman"/>
              </a:rPr>
              <a:t>salary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20">
                <a:latin typeface="Times New Roman"/>
                <a:cs typeface="Times New Roman"/>
              </a:rPr>
              <a:t>from </a:t>
            </a:r>
            <a:r>
              <a:rPr dirty="0" sz="3200">
                <a:latin typeface="Times New Roman"/>
                <a:cs typeface="Times New Roman"/>
              </a:rPr>
              <a:t>Empl</a:t>
            </a:r>
            <a:r>
              <a:rPr dirty="0" sz="3200" spc="-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where</a:t>
            </a:r>
            <a:r>
              <a:rPr dirty="0" sz="3200" spc="-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empno=10);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0"/>
              </a:spcBef>
              <a:buFont typeface="Arial MT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marL="355600" marR="635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Times New Roman"/>
                <a:cs typeface="Times New Roman"/>
              </a:rPr>
              <a:t>Display</a:t>
            </a:r>
            <a:r>
              <a:rPr dirty="0" sz="3200" spc="204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empno,</a:t>
            </a:r>
            <a:r>
              <a:rPr dirty="0" sz="3200" spc="204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ename</a:t>
            </a:r>
            <a:r>
              <a:rPr dirty="0" sz="3200" spc="2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and</a:t>
            </a:r>
            <a:r>
              <a:rPr dirty="0" sz="3200" spc="2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job</a:t>
            </a:r>
            <a:r>
              <a:rPr dirty="0" sz="3200" spc="2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of</a:t>
            </a:r>
            <a:r>
              <a:rPr dirty="0" sz="3200" spc="20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 spc="2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employees</a:t>
            </a:r>
            <a:r>
              <a:rPr dirty="0" sz="3200" spc="20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having</a:t>
            </a:r>
            <a:r>
              <a:rPr dirty="0" sz="3200" spc="22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salary </a:t>
            </a:r>
            <a:r>
              <a:rPr dirty="0" sz="3200">
                <a:latin typeface="Times New Roman"/>
                <a:cs typeface="Times New Roman"/>
              </a:rPr>
              <a:t>less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than</a:t>
            </a:r>
            <a:r>
              <a:rPr dirty="0" sz="3200" spc="-3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assistant.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1541145" algn="l"/>
                <a:tab pos="2940050" algn="l"/>
                <a:tab pos="4295140" algn="l"/>
                <a:tab pos="5005705" algn="l"/>
                <a:tab pos="5985510" algn="l"/>
                <a:tab pos="7057390" algn="l"/>
                <a:tab pos="8242934" algn="l"/>
                <a:tab pos="9404350" algn="l"/>
                <a:tab pos="9826625" algn="l"/>
              </a:tabLst>
            </a:pPr>
            <a:r>
              <a:rPr dirty="0" sz="3200" spc="-10">
                <a:latin typeface="Times New Roman"/>
                <a:cs typeface="Times New Roman"/>
              </a:rPr>
              <a:t>Select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10">
                <a:latin typeface="Times New Roman"/>
                <a:cs typeface="Times New Roman"/>
              </a:rPr>
              <a:t>empno,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10">
                <a:latin typeface="Times New Roman"/>
                <a:cs typeface="Times New Roman"/>
              </a:rPr>
              <a:t>ename,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25">
                <a:latin typeface="Times New Roman"/>
                <a:cs typeface="Times New Roman"/>
              </a:rPr>
              <a:t>job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20">
                <a:latin typeface="Times New Roman"/>
                <a:cs typeface="Times New Roman"/>
              </a:rPr>
              <a:t>from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20">
                <a:latin typeface="Times New Roman"/>
                <a:cs typeface="Times New Roman"/>
              </a:rPr>
              <a:t>Empl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10">
                <a:latin typeface="Times New Roman"/>
                <a:cs typeface="Times New Roman"/>
              </a:rPr>
              <a:t>where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10">
                <a:latin typeface="Times New Roman"/>
                <a:cs typeface="Times New Roman"/>
              </a:rPr>
              <a:t>salary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50">
                <a:latin typeface="Times New Roman"/>
                <a:cs typeface="Times New Roman"/>
              </a:rPr>
              <a:t>&lt;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20">
                <a:latin typeface="Times New Roman"/>
                <a:cs typeface="Times New Roman"/>
              </a:rPr>
              <a:t>ANY( </a:t>
            </a:r>
            <a:r>
              <a:rPr dirty="0" sz="3200">
                <a:latin typeface="Times New Roman"/>
                <a:cs typeface="Times New Roman"/>
              </a:rPr>
              <a:t>select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sal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from</a:t>
            </a:r>
            <a:r>
              <a:rPr dirty="0" sz="3200" spc="-3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Empl</a:t>
            </a:r>
            <a:r>
              <a:rPr dirty="0" sz="3200" spc="-3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where</a:t>
            </a:r>
            <a:r>
              <a:rPr dirty="0" sz="3200" spc="-4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job=‘Assistant</a:t>
            </a:r>
            <a:r>
              <a:rPr dirty="0" sz="3200" spc="-50">
                <a:latin typeface="Times New Roman"/>
                <a:cs typeface="Times New Roman"/>
              </a:rPr>
              <a:t> </a:t>
            </a:r>
            <a:r>
              <a:rPr dirty="0" sz="3200" spc="-25">
                <a:latin typeface="Times New Roman"/>
                <a:cs typeface="Times New Roman"/>
              </a:rPr>
              <a:t>')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7102" y="175386"/>
            <a:ext cx="10195560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14320" algn="l"/>
                <a:tab pos="7231380" algn="l"/>
                <a:tab pos="7957184" algn="l"/>
              </a:tabLst>
            </a:pPr>
            <a:r>
              <a:rPr dirty="0" sz="4200" spc="-10" b="1">
                <a:latin typeface="Times New Roman"/>
                <a:cs typeface="Times New Roman"/>
              </a:rPr>
              <a:t>Advantages</a:t>
            </a:r>
            <a:r>
              <a:rPr dirty="0" sz="4200" b="1">
                <a:latin typeface="Times New Roman"/>
                <a:cs typeface="Times New Roman"/>
              </a:rPr>
              <a:t>	and</a:t>
            </a:r>
            <a:r>
              <a:rPr dirty="0" sz="4200" spc="-65" b="1">
                <a:latin typeface="Times New Roman"/>
                <a:cs typeface="Times New Roman"/>
              </a:rPr>
              <a:t> </a:t>
            </a:r>
            <a:r>
              <a:rPr dirty="0" sz="4200" spc="-10" b="1">
                <a:latin typeface="Times New Roman"/>
                <a:cs typeface="Times New Roman"/>
              </a:rPr>
              <a:t>Disadvantages</a:t>
            </a:r>
            <a:r>
              <a:rPr dirty="0" sz="4200" b="1">
                <a:latin typeface="Times New Roman"/>
                <a:cs typeface="Times New Roman"/>
              </a:rPr>
              <a:t>	</a:t>
            </a:r>
            <a:r>
              <a:rPr dirty="0" sz="4200" spc="-25" b="1">
                <a:latin typeface="Times New Roman"/>
                <a:cs typeface="Times New Roman"/>
              </a:rPr>
              <a:t>Of</a:t>
            </a:r>
            <a:r>
              <a:rPr dirty="0" sz="4200" b="1">
                <a:latin typeface="Times New Roman"/>
                <a:cs typeface="Times New Roman"/>
              </a:rPr>
              <a:t>	</a:t>
            </a:r>
            <a:r>
              <a:rPr dirty="0" sz="4200" spc="-10" b="1">
                <a:latin typeface="Times New Roman"/>
                <a:cs typeface="Times New Roman"/>
              </a:rPr>
              <a:t>Subquery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106804"/>
            <a:ext cx="10358755" cy="5513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000" b="1">
                <a:latin typeface="Times New Roman"/>
                <a:cs typeface="Times New Roman"/>
              </a:rPr>
              <a:t>Advantages</a:t>
            </a:r>
            <a:r>
              <a:rPr dirty="0" sz="3000" spc="-45" b="1">
                <a:latin typeface="Times New Roman"/>
                <a:cs typeface="Times New Roman"/>
              </a:rPr>
              <a:t> </a:t>
            </a:r>
            <a:r>
              <a:rPr dirty="0" sz="3000" b="1">
                <a:latin typeface="Times New Roman"/>
                <a:cs typeface="Times New Roman"/>
              </a:rPr>
              <a:t>Of</a:t>
            </a:r>
            <a:r>
              <a:rPr dirty="0" sz="3000" spc="-5" b="1">
                <a:latin typeface="Times New Roman"/>
                <a:cs typeface="Times New Roman"/>
              </a:rPr>
              <a:t> </a:t>
            </a:r>
            <a:r>
              <a:rPr dirty="0" sz="3000" spc="-10" b="1">
                <a:latin typeface="Times New Roman"/>
                <a:cs typeface="Times New Roman"/>
              </a:rPr>
              <a:t>Subquery</a:t>
            </a:r>
            <a:endParaRPr sz="3000">
              <a:latin typeface="Times New Roman"/>
              <a:cs typeface="Times New Roman"/>
            </a:endParaRPr>
          </a:p>
          <a:p>
            <a:pPr marL="355600" marR="5715" indent="-343535">
              <a:lnSpc>
                <a:spcPts val="2880"/>
              </a:lnSpc>
              <a:spcBef>
                <a:spcPts val="6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000">
                <a:latin typeface="Times New Roman"/>
                <a:cs typeface="Times New Roman"/>
              </a:rPr>
              <a:t>Subqueries</a:t>
            </a:r>
            <a:r>
              <a:rPr dirty="0" sz="3000" spc="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divide</a:t>
            </a:r>
            <a:r>
              <a:rPr dirty="0" sz="3000" spc="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the</a:t>
            </a:r>
            <a:r>
              <a:rPr dirty="0" sz="3000" spc="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complex</a:t>
            </a:r>
            <a:r>
              <a:rPr dirty="0" sz="3000" spc="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query</a:t>
            </a:r>
            <a:r>
              <a:rPr dirty="0" sz="3000" spc="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into</a:t>
            </a:r>
            <a:r>
              <a:rPr dirty="0" sz="3000" spc="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isolated</a:t>
            </a:r>
            <a:r>
              <a:rPr dirty="0" sz="3000" spc="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parts</a:t>
            </a:r>
            <a:r>
              <a:rPr dirty="0" sz="3000" spc="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so</a:t>
            </a:r>
            <a:r>
              <a:rPr dirty="0" sz="3000" spc="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that</a:t>
            </a:r>
            <a:r>
              <a:rPr dirty="0" sz="3000" spc="45">
                <a:latin typeface="Times New Roman"/>
                <a:cs typeface="Times New Roman"/>
              </a:rPr>
              <a:t> </a:t>
            </a:r>
            <a:r>
              <a:rPr dirty="0" sz="3000" spc="-50">
                <a:latin typeface="Times New Roman"/>
                <a:cs typeface="Times New Roman"/>
              </a:rPr>
              <a:t>a </a:t>
            </a:r>
            <a:r>
              <a:rPr dirty="0" sz="3000">
                <a:latin typeface="Times New Roman"/>
                <a:cs typeface="Times New Roman"/>
              </a:rPr>
              <a:t>complex</a:t>
            </a:r>
            <a:r>
              <a:rPr dirty="0" sz="3000" spc="-2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query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can</a:t>
            </a:r>
            <a:r>
              <a:rPr dirty="0" sz="3000" spc="-3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be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broken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down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into</a:t>
            </a:r>
            <a:r>
              <a:rPr dirty="0" sz="3000" spc="-3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</a:t>
            </a:r>
            <a:r>
              <a:rPr dirty="0" sz="3000" spc="-3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series</a:t>
            </a:r>
            <a:r>
              <a:rPr dirty="0" sz="3000" spc="-3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of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logical</a:t>
            </a:r>
            <a:r>
              <a:rPr dirty="0" sz="3000" spc="-2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steps.</a:t>
            </a:r>
            <a:endParaRPr sz="3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000">
                <a:latin typeface="Times New Roman"/>
                <a:cs typeface="Times New Roman"/>
              </a:rPr>
              <a:t>It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is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easy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to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understand</a:t>
            </a:r>
            <a:r>
              <a:rPr dirty="0" sz="3000" spc="-3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and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code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maintenance</a:t>
            </a:r>
            <a:r>
              <a:rPr dirty="0" sz="3000" spc="-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is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also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at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ease.</a:t>
            </a:r>
            <a:endParaRPr sz="30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80000"/>
              </a:lnSpc>
              <a:spcBef>
                <a:spcPts val="7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000">
                <a:latin typeface="Times New Roman"/>
                <a:cs typeface="Times New Roman"/>
              </a:rPr>
              <a:t>Subqueries</a:t>
            </a:r>
            <a:r>
              <a:rPr dirty="0" sz="3000" spc="28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allow</a:t>
            </a:r>
            <a:r>
              <a:rPr dirty="0" sz="3000" spc="30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you</a:t>
            </a:r>
            <a:r>
              <a:rPr dirty="0" sz="3000" spc="29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to</a:t>
            </a:r>
            <a:r>
              <a:rPr dirty="0" sz="3000" spc="29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use</a:t>
            </a:r>
            <a:r>
              <a:rPr dirty="0" sz="3000" spc="28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the</a:t>
            </a:r>
            <a:r>
              <a:rPr dirty="0" sz="3000" spc="28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results</a:t>
            </a:r>
            <a:r>
              <a:rPr dirty="0" sz="3000" spc="28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of</a:t>
            </a:r>
            <a:r>
              <a:rPr dirty="0" sz="3000" spc="28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another</a:t>
            </a:r>
            <a:r>
              <a:rPr dirty="0" sz="3000" spc="29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query</a:t>
            </a:r>
            <a:r>
              <a:rPr dirty="0" sz="3000" spc="29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in</a:t>
            </a:r>
            <a:r>
              <a:rPr dirty="0" sz="3000" spc="290">
                <a:latin typeface="Times New Roman"/>
                <a:cs typeface="Times New Roman"/>
              </a:rPr>
              <a:t> </a:t>
            </a:r>
            <a:r>
              <a:rPr dirty="0" sz="3000" spc="-25">
                <a:latin typeface="Times New Roman"/>
                <a:cs typeface="Times New Roman"/>
              </a:rPr>
              <a:t>the </a:t>
            </a:r>
            <a:r>
              <a:rPr dirty="0" sz="3000">
                <a:latin typeface="Times New Roman"/>
                <a:cs typeface="Times New Roman"/>
              </a:rPr>
              <a:t>outer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query.</a:t>
            </a:r>
            <a:endParaRPr sz="3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000">
                <a:latin typeface="Times New Roman"/>
                <a:cs typeface="Times New Roman"/>
              </a:rPr>
              <a:t>In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some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cases,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subqueries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can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replace</a:t>
            </a:r>
            <a:r>
              <a:rPr dirty="0" sz="3000" spc="-3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complex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joins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and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unions.</a:t>
            </a:r>
            <a:endParaRPr sz="3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3000" b="1">
                <a:latin typeface="Times New Roman"/>
                <a:cs typeface="Times New Roman"/>
              </a:rPr>
              <a:t>Disadvantages</a:t>
            </a:r>
            <a:r>
              <a:rPr dirty="0" sz="3000" spc="-30" b="1">
                <a:latin typeface="Times New Roman"/>
                <a:cs typeface="Times New Roman"/>
              </a:rPr>
              <a:t> </a:t>
            </a:r>
            <a:r>
              <a:rPr dirty="0" sz="3000" b="1">
                <a:latin typeface="Times New Roman"/>
                <a:cs typeface="Times New Roman"/>
              </a:rPr>
              <a:t>of</a:t>
            </a:r>
            <a:r>
              <a:rPr dirty="0" sz="3000" spc="-10" b="1">
                <a:latin typeface="Times New Roman"/>
                <a:cs typeface="Times New Roman"/>
              </a:rPr>
              <a:t> Subquery</a:t>
            </a:r>
            <a:endParaRPr sz="3000">
              <a:latin typeface="Times New Roman"/>
              <a:cs typeface="Times New Roman"/>
            </a:endParaRPr>
          </a:p>
          <a:p>
            <a:pPr algn="just" marL="355600" marR="5715" indent="-343535">
              <a:lnSpc>
                <a:spcPct val="80000"/>
              </a:lnSpc>
              <a:spcBef>
                <a:spcPts val="7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000">
                <a:latin typeface="Times New Roman"/>
                <a:cs typeface="Times New Roman"/>
              </a:rPr>
              <a:t>The</a:t>
            </a:r>
            <a:r>
              <a:rPr dirty="0" sz="3000" spc="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optimizer</a:t>
            </a:r>
            <a:r>
              <a:rPr dirty="0" sz="3000" spc="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is</a:t>
            </a:r>
            <a:r>
              <a:rPr dirty="0" sz="3000" spc="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more</a:t>
            </a:r>
            <a:r>
              <a:rPr dirty="0" sz="3000" spc="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mature</a:t>
            </a:r>
            <a:r>
              <a:rPr dirty="0" sz="3000" spc="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for</a:t>
            </a:r>
            <a:r>
              <a:rPr dirty="0" sz="3000" spc="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joins</a:t>
            </a:r>
            <a:r>
              <a:rPr dirty="0" sz="3000" spc="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than</a:t>
            </a:r>
            <a:r>
              <a:rPr dirty="0" sz="3000" spc="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for</a:t>
            </a:r>
            <a:r>
              <a:rPr dirty="0" sz="3000" spc="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subqueries,</a:t>
            </a:r>
            <a:r>
              <a:rPr dirty="0" sz="3000" spc="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so</a:t>
            </a:r>
            <a:r>
              <a:rPr dirty="0" sz="3000" spc="45">
                <a:latin typeface="Times New Roman"/>
                <a:cs typeface="Times New Roman"/>
              </a:rPr>
              <a:t> </a:t>
            </a:r>
            <a:r>
              <a:rPr dirty="0" sz="3000" spc="-25">
                <a:latin typeface="Times New Roman"/>
                <a:cs typeface="Times New Roman"/>
              </a:rPr>
              <a:t>in </a:t>
            </a:r>
            <a:r>
              <a:rPr dirty="0" sz="3000">
                <a:latin typeface="Times New Roman"/>
                <a:cs typeface="Times New Roman"/>
              </a:rPr>
              <a:t>many</a:t>
            </a:r>
            <a:r>
              <a:rPr dirty="0" sz="3000" spc="52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cases</a:t>
            </a:r>
            <a:r>
              <a:rPr dirty="0" sz="3000" spc="51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</a:t>
            </a:r>
            <a:r>
              <a:rPr dirty="0" sz="3000" spc="52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statement</a:t>
            </a:r>
            <a:r>
              <a:rPr dirty="0" sz="3000" spc="52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that</a:t>
            </a:r>
            <a:r>
              <a:rPr dirty="0" sz="3000" spc="52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uses</a:t>
            </a:r>
            <a:r>
              <a:rPr dirty="0" sz="3000" spc="50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</a:t>
            </a:r>
            <a:r>
              <a:rPr dirty="0" sz="3000" spc="52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subquery</a:t>
            </a:r>
            <a:r>
              <a:rPr dirty="0" sz="3000" spc="52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can</a:t>
            </a:r>
            <a:r>
              <a:rPr dirty="0" sz="3000" spc="51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be</a:t>
            </a:r>
            <a:r>
              <a:rPr dirty="0" sz="3000" spc="525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executed </a:t>
            </a:r>
            <a:r>
              <a:rPr dirty="0" sz="3000">
                <a:latin typeface="Times New Roman"/>
                <a:cs typeface="Times New Roman"/>
              </a:rPr>
              <a:t>more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efficiently</a:t>
            </a:r>
            <a:r>
              <a:rPr dirty="0" sz="3000" spc="-2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if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you</a:t>
            </a:r>
            <a:r>
              <a:rPr dirty="0" sz="3000" spc="-7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rewrite</a:t>
            </a:r>
            <a:r>
              <a:rPr dirty="0" sz="3000" spc="-3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it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as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join.</a:t>
            </a:r>
            <a:endParaRPr sz="3000">
              <a:latin typeface="Times New Roman"/>
              <a:cs typeface="Times New Roman"/>
            </a:endParaRPr>
          </a:p>
          <a:p>
            <a:pPr algn="just" marL="355600" marR="5715" indent="-343535">
              <a:lnSpc>
                <a:spcPts val="2880"/>
              </a:lnSpc>
              <a:spcBef>
                <a:spcPts val="6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000" spc="-85">
                <a:latin typeface="Times New Roman"/>
                <a:cs typeface="Times New Roman"/>
              </a:rPr>
              <a:t>We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cannot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modify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table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and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select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from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the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same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table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within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 spc="-50">
                <a:latin typeface="Times New Roman"/>
                <a:cs typeface="Times New Roman"/>
              </a:rPr>
              <a:t>a </a:t>
            </a:r>
            <a:r>
              <a:rPr dirty="0" sz="3000">
                <a:latin typeface="Times New Roman"/>
                <a:cs typeface="Times New Roman"/>
              </a:rPr>
              <a:t>subquery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in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the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same</a:t>
            </a:r>
            <a:r>
              <a:rPr dirty="0" sz="3000" spc="-3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SQL</a:t>
            </a:r>
            <a:r>
              <a:rPr dirty="0" sz="3000" spc="-165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statement.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58334" y="2481452"/>
            <a:ext cx="227457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TRIGGERS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8773" y="461899"/>
            <a:ext cx="285178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Introduction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8340" y="1558493"/>
            <a:ext cx="11120755" cy="4855845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algn="just" marL="354330" marR="5080" indent="-341630">
              <a:lnSpc>
                <a:spcPct val="90000"/>
              </a:lnSpc>
              <a:spcBef>
                <a:spcPts val="49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434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trigger</a:t>
            </a:r>
            <a:r>
              <a:rPr dirty="0" sz="3200" spc="4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4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4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named</a:t>
            </a:r>
            <a:r>
              <a:rPr dirty="0" sz="3200" spc="4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block</a:t>
            </a:r>
            <a:r>
              <a:rPr dirty="0" sz="3200" spc="434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434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PL/SQL</a:t>
            </a:r>
            <a:r>
              <a:rPr dirty="0" sz="3200" spc="4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code</a:t>
            </a:r>
            <a:r>
              <a:rPr dirty="0" sz="3200" spc="4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that</a:t>
            </a:r>
            <a:r>
              <a:rPr dirty="0" sz="3200" spc="4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4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executed</a:t>
            </a:r>
            <a:r>
              <a:rPr dirty="0" sz="3200" spc="44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or </a:t>
            </a:r>
            <a:r>
              <a:rPr dirty="0" sz="3200" spc="-25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fired</a:t>
            </a:r>
            <a:r>
              <a:rPr dirty="0" sz="3200" spc="4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automatically</a:t>
            </a:r>
            <a:r>
              <a:rPr dirty="0" sz="3200" spc="409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</a:t>
            </a:r>
            <a:r>
              <a:rPr dirty="0" sz="3200" spc="409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response</a:t>
            </a:r>
            <a:r>
              <a:rPr dirty="0" sz="3200" spc="4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to</a:t>
            </a:r>
            <a:r>
              <a:rPr dirty="0" sz="3200" spc="4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4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specific</a:t>
            </a:r>
            <a:r>
              <a:rPr dirty="0" sz="3200" spc="409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data</a:t>
            </a:r>
            <a:r>
              <a:rPr dirty="0" sz="3200" spc="4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manipulation 	event.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35"/>
              </a:spcBef>
              <a:buFont typeface="Arial MT"/>
              <a:buChar char="•"/>
            </a:pPr>
            <a:endParaRPr sz="3200">
              <a:latin typeface="Calibri"/>
              <a:cs typeface="Calibri"/>
            </a:endParaRPr>
          </a:p>
          <a:p>
            <a:pPr algn="just" marL="355600" marR="5080" indent="-342900">
              <a:lnSpc>
                <a:spcPts val="346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trigger</a:t>
            </a:r>
            <a:r>
              <a:rPr dirty="0" sz="3200" spc="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database</a:t>
            </a:r>
            <a:r>
              <a:rPr dirty="0" sz="3200" spc="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object</a:t>
            </a:r>
            <a:r>
              <a:rPr dirty="0" sz="3200" spc="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like</a:t>
            </a:r>
            <a:r>
              <a:rPr dirty="0" sz="3200" spc="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table</a:t>
            </a:r>
            <a:r>
              <a:rPr dirty="0" sz="3200" spc="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or</a:t>
            </a:r>
            <a:r>
              <a:rPr dirty="0" sz="3200" spc="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view</a:t>
            </a:r>
            <a:r>
              <a:rPr dirty="0" sz="3200" spc="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which</a:t>
            </a:r>
            <a:r>
              <a:rPr dirty="0" sz="3200" spc="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9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stored </a:t>
            </a:r>
            <a:r>
              <a:rPr dirty="0" sz="3200">
                <a:latin typeface="Calibri"/>
                <a:cs typeface="Calibri"/>
              </a:rPr>
              <a:t>in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database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always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executed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when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event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for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which </a:t>
            </a:r>
            <a:r>
              <a:rPr dirty="0" sz="3200">
                <a:latin typeface="Calibri"/>
                <a:cs typeface="Calibri"/>
              </a:rPr>
              <a:t>it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defined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occurs.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75"/>
              </a:spcBef>
              <a:buFont typeface="Arial MT"/>
              <a:buChar char="•"/>
            </a:pPr>
            <a:endParaRPr sz="3200">
              <a:latin typeface="Calibri"/>
              <a:cs typeface="Calibri"/>
            </a:endParaRPr>
          </a:p>
          <a:p>
            <a:pPr algn="just" marL="355600" marR="5715" indent="-342900">
              <a:lnSpc>
                <a:spcPts val="346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1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trigger</a:t>
            </a:r>
            <a:r>
              <a:rPr dirty="0" sz="3200" spc="1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can</a:t>
            </a:r>
            <a:r>
              <a:rPr dirty="0" sz="3200" spc="1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be</a:t>
            </a:r>
            <a:r>
              <a:rPr dirty="0" sz="3200" spc="1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fired</a:t>
            </a:r>
            <a:r>
              <a:rPr dirty="0" sz="3200" spc="1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before</a:t>
            </a:r>
            <a:r>
              <a:rPr dirty="0" sz="3200" spc="1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or</a:t>
            </a:r>
            <a:r>
              <a:rPr dirty="0" sz="3200" spc="1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after</a:t>
            </a:r>
            <a:r>
              <a:rPr dirty="0" sz="3200" spc="1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</a:t>
            </a:r>
            <a:r>
              <a:rPr dirty="0" sz="3200" spc="1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insert,</a:t>
            </a:r>
            <a:r>
              <a:rPr dirty="0" sz="3200" spc="1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update</a:t>
            </a:r>
            <a:r>
              <a:rPr dirty="0" sz="3200" spc="1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or</a:t>
            </a:r>
            <a:r>
              <a:rPr dirty="0" sz="3200" spc="13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delete statement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executed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on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table.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5067" rIns="0" bIns="0" rtlCol="0" vert="horz">
            <a:spAutoFit/>
          </a:bodyPr>
          <a:lstStyle/>
          <a:p>
            <a:pPr marL="2559050">
              <a:lnSpc>
                <a:spcPct val="100000"/>
              </a:lnSpc>
              <a:spcBef>
                <a:spcPts val="105"/>
              </a:spcBef>
            </a:pPr>
            <a:r>
              <a:rPr dirty="0"/>
              <a:t>Components</a:t>
            </a:r>
            <a:r>
              <a:rPr dirty="0" spc="-140"/>
              <a:t> </a:t>
            </a:r>
            <a:r>
              <a:rPr dirty="0"/>
              <a:t>of</a:t>
            </a:r>
            <a:r>
              <a:rPr dirty="0" spc="-114"/>
              <a:t> </a:t>
            </a:r>
            <a:r>
              <a:rPr dirty="0" spc="-20"/>
              <a:t>Triggers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8340" y="1509978"/>
            <a:ext cx="11189335" cy="473265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algn="just" marL="354330" indent="-341630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354330" algn="l"/>
              </a:tabLst>
            </a:pPr>
            <a:r>
              <a:rPr dirty="0" sz="3200" spc="-10" b="1">
                <a:latin typeface="Calibri"/>
                <a:cs typeface="Calibri"/>
              </a:rPr>
              <a:t>Triggering</a:t>
            </a:r>
            <a:r>
              <a:rPr dirty="0" sz="3200" spc="-12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Event</a:t>
            </a:r>
            <a:r>
              <a:rPr dirty="0" sz="3200" spc="-9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or</a:t>
            </a:r>
            <a:r>
              <a:rPr dirty="0" sz="3200" spc="-10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statement:</a:t>
            </a:r>
            <a:endParaRPr sz="3200">
              <a:latin typeface="Calibri"/>
              <a:cs typeface="Calibri"/>
            </a:endParaRPr>
          </a:p>
          <a:p>
            <a:pPr algn="just" marL="12700" marR="5080" indent="914400">
              <a:lnSpc>
                <a:spcPts val="3460"/>
              </a:lnSpc>
              <a:spcBef>
                <a:spcPts val="819"/>
              </a:spcBef>
            </a:pP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SQL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statements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on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execution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which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defined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trigger </a:t>
            </a:r>
            <a:r>
              <a:rPr dirty="0" sz="3200">
                <a:latin typeface="Calibri"/>
                <a:cs typeface="Calibri"/>
              </a:rPr>
              <a:t>code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fires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called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Triggering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SQL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statement.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For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ex.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35">
                <a:latin typeface="Calibri"/>
                <a:cs typeface="Calibri"/>
              </a:rPr>
              <a:t>INSERT,UPDATE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DELETE.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3200">
              <a:latin typeface="Calibri"/>
              <a:cs typeface="Calibri"/>
            </a:endParaRPr>
          </a:p>
          <a:p>
            <a:pPr algn="just"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3200" spc="-10" b="1">
                <a:latin typeface="Calibri"/>
                <a:cs typeface="Calibri"/>
              </a:rPr>
              <a:t>Trigger</a:t>
            </a:r>
            <a:r>
              <a:rPr dirty="0" sz="3200" spc="-15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Action</a:t>
            </a:r>
            <a:endParaRPr sz="3200">
              <a:latin typeface="Calibri"/>
              <a:cs typeface="Calibri"/>
            </a:endParaRPr>
          </a:p>
          <a:p>
            <a:pPr marL="367665">
              <a:lnSpc>
                <a:spcPct val="100000"/>
              </a:lnSpc>
              <a:spcBef>
                <a:spcPts val="750"/>
              </a:spcBef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PL/SQL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block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which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gets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executed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when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Triggering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SQL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statement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executed.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b="1">
                <a:latin typeface="Calibri"/>
                <a:cs typeface="Calibri"/>
              </a:rPr>
              <a:t>Trigger</a:t>
            </a:r>
            <a:r>
              <a:rPr dirty="0" sz="2400" spc="-114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Restriction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285"/>
              </a:spcBef>
            </a:pPr>
            <a:r>
              <a:rPr dirty="0" sz="2400">
                <a:latin typeface="Calibri"/>
                <a:cs typeface="Calibri"/>
              </a:rPr>
              <a:t>We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specify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under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what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condition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trigger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should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fire.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5067" rIns="0" bIns="0" rtlCol="0" vert="horz">
            <a:spAutoFit/>
          </a:bodyPr>
          <a:lstStyle/>
          <a:p>
            <a:pPr marL="2211705">
              <a:lnSpc>
                <a:spcPct val="100000"/>
              </a:lnSpc>
              <a:spcBef>
                <a:spcPts val="105"/>
              </a:spcBef>
            </a:pPr>
            <a:r>
              <a:rPr dirty="0" spc="-55"/>
              <a:t>SYNTAX</a:t>
            </a:r>
            <a:r>
              <a:rPr dirty="0" spc="-120"/>
              <a:t> </a:t>
            </a:r>
            <a:r>
              <a:rPr dirty="0"/>
              <a:t>–</a:t>
            </a:r>
            <a:r>
              <a:rPr dirty="0" spc="-135"/>
              <a:t> </a:t>
            </a:r>
            <a:r>
              <a:rPr dirty="0" spc="-40"/>
              <a:t>CREATE</a:t>
            </a:r>
            <a:r>
              <a:rPr dirty="0" spc="-114"/>
              <a:t> </a:t>
            </a:r>
            <a:r>
              <a:rPr dirty="0" spc="-10"/>
              <a:t>TRIGGER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8340" y="1516952"/>
            <a:ext cx="10601325" cy="441642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3000" spc="-30">
                <a:latin typeface="Calibri"/>
                <a:cs typeface="Calibri"/>
              </a:rPr>
              <a:t>CREATE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[OR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REPLACE]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TRIGGER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trigger_name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3000" spc="-10">
                <a:latin typeface="Calibri"/>
                <a:cs typeface="Calibri"/>
              </a:rPr>
              <a:t>{BEFORE|AFTER}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3000">
                <a:latin typeface="Calibri"/>
                <a:cs typeface="Calibri"/>
              </a:rPr>
              <a:t>{DELETE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|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INSERT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|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 spc="-45">
                <a:latin typeface="Calibri"/>
                <a:cs typeface="Calibri"/>
              </a:rPr>
              <a:t>UPDATE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[OF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col_name1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[,col_name2]…]}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3000">
                <a:latin typeface="Calibri"/>
                <a:cs typeface="Calibri"/>
              </a:rPr>
              <a:t>[OR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{{DELETE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|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INSERT</a:t>
            </a:r>
            <a:r>
              <a:rPr dirty="0" sz="3000" spc="-8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|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 spc="-35">
                <a:latin typeface="Calibri"/>
                <a:cs typeface="Calibri"/>
              </a:rPr>
              <a:t>UPDATE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[OF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col_name1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[,col_name2]…]}….]</a:t>
            </a:r>
            <a:endParaRPr sz="3000">
              <a:latin typeface="Calibri"/>
              <a:cs typeface="Calibri"/>
            </a:endParaRPr>
          </a:p>
          <a:p>
            <a:pPr marL="12700" marR="8029575">
              <a:lnSpc>
                <a:spcPct val="120000"/>
              </a:lnSpc>
              <a:spcBef>
                <a:spcPts val="5"/>
              </a:spcBef>
            </a:pPr>
            <a:r>
              <a:rPr dirty="0" sz="3000">
                <a:latin typeface="Calibri"/>
                <a:cs typeface="Calibri"/>
              </a:rPr>
              <a:t>ON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table_name </a:t>
            </a:r>
            <a:r>
              <a:rPr dirty="0" sz="3000">
                <a:latin typeface="Calibri"/>
                <a:cs typeface="Calibri"/>
              </a:rPr>
              <a:t>[FOR</a:t>
            </a:r>
            <a:r>
              <a:rPr dirty="0" sz="3000" spc="-10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EACH</a:t>
            </a:r>
            <a:r>
              <a:rPr dirty="0" sz="3000" spc="-90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ROW</a:t>
            </a:r>
            <a:endParaRPr sz="3000">
              <a:latin typeface="Calibri"/>
              <a:cs typeface="Calibri"/>
            </a:endParaRPr>
          </a:p>
          <a:p>
            <a:pPr marL="12700" marR="6219825">
              <a:lnSpc>
                <a:spcPts val="4320"/>
              </a:lnSpc>
              <a:spcBef>
                <a:spcPts val="100"/>
              </a:spcBef>
            </a:pPr>
            <a:r>
              <a:rPr dirty="0" sz="3000">
                <a:latin typeface="Calibri"/>
                <a:cs typeface="Calibri"/>
              </a:rPr>
              <a:t>[WHEN</a:t>
            </a:r>
            <a:r>
              <a:rPr dirty="0" sz="3000" spc="-9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(trigger_condition)]] pl_sql_block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5067" rIns="0" bIns="0" rtlCol="0" vert="horz">
            <a:spAutoFit/>
          </a:bodyPr>
          <a:lstStyle/>
          <a:p>
            <a:pPr marL="3007360">
              <a:lnSpc>
                <a:spcPct val="100000"/>
              </a:lnSpc>
              <a:spcBef>
                <a:spcPts val="105"/>
              </a:spcBef>
            </a:pPr>
            <a:r>
              <a:rPr dirty="0"/>
              <a:t>TYPES</a:t>
            </a:r>
            <a:r>
              <a:rPr dirty="0" spc="-80"/>
              <a:t> </a:t>
            </a:r>
            <a:r>
              <a:rPr dirty="0"/>
              <a:t>OF</a:t>
            </a:r>
            <a:r>
              <a:rPr dirty="0" spc="-90"/>
              <a:t> </a:t>
            </a:r>
            <a:r>
              <a:rPr dirty="0" spc="-10"/>
              <a:t>TRIGGERS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8340" y="1529461"/>
            <a:ext cx="10584815" cy="447103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2700">
                <a:latin typeface="Calibri"/>
                <a:cs typeface="Calibri"/>
              </a:rPr>
              <a:t>Oracle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has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13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triggers:</a:t>
            </a:r>
            <a:endParaRPr sz="2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700" b="1">
                <a:latin typeface="Calibri"/>
                <a:cs typeface="Calibri"/>
              </a:rPr>
              <a:t>Classification</a:t>
            </a:r>
            <a:r>
              <a:rPr dirty="0" sz="2700" spc="-80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of</a:t>
            </a:r>
            <a:r>
              <a:rPr dirty="0" sz="2700" spc="-80" b="1">
                <a:latin typeface="Calibri"/>
                <a:cs typeface="Calibri"/>
              </a:rPr>
              <a:t> </a:t>
            </a:r>
            <a:r>
              <a:rPr dirty="0" sz="2700" spc="-10" b="1">
                <a:latin typeface="Calibri"/>
                <a:cs typeface="Calibri"/>
              </a:rPr>
              <a:t>triggers</a:t>
            </a:r>
            <a:endParaRPr sz="2700">
              <a:latin typeface="Calibri"/>
              <a:cs typeface="Calibri"/>
            </a:endParaRPr>
          </a:p>
          <a:p>
            <a:pPr marL="12700" marR="295910">
              <a:lnSpc>
                <a:spcPts val="2920"/>
              </a:lnSpc>
              <a:spcBef>
                <a:spcPts val="690"/>
              </a:spcBef>
            </a:pP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classification</a:t>
            </a:r>
            <a:r>
              <a:rPr dirty="0" sz="2700" spc="-9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of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triggers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based</a:t>
            </a:r>
            <a:r>
              <a:rPr dirty="0" sz="2700" spc="-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on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whether</a:t>
            </a:r>
            <a:r>
              <a:rPr dirty="0" sz="2700" spc="-8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they</a:t>
            </a:r>
            <a:r>
              <a:rPr dirty="0" sz="2700" spc="-55">
                <a:latin typeface="Calibri"/>
                <a:cs typeface="Calibri"/>
              </a:rPr>
              <a:t> </a:t>
            </a:r>
            <a:r>
              <a:rPr dirty="0" sz="2700" spc="-20">
                <a:latin typeface="Calibri"/>
                <a:cs typeface="Calibri"/>
              </a:rPr>
              <a:t>fire/execute</a:t>
            </a:r>
            <a:r>
              <a:rPr dirty="0" sz="2700" spc="-8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before</a:t>
            </a:r>
            <a:r>
              <a:rPr dirty="0" sz="2700" spc="-60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or </a:t>
            </a:r>
            <a:r>
              <a:rPr dirty="0" sz="2700">
                <a:latin typeface="Calibri"/>
                <a:cs typeface="Calibri"/>
              </a:rPr>
              <a:t>after</a:t>
            </a:r>
            <a:r>
              <a:rPr dirty="0" sz="2700" spc="-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triggering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statement.</a:t>
            </a:r>
            <a:endParaRPr sz="2700">
              <a:latin typeface="Calibri"/>
              <a:cs typeface="Calibri"/>
            </a:endParaRPr>
          </a:p>
          <a:p>
            <a:pPr marL="167640" marR="7864475">
              <a:lnSpc>
                <a:spcPts val="3570"/>
              </a:lnSpc>
              <a:spcBef>
                <a:spcPts val="120"/>
              </a:spcBef>
            </a:pPr>
            <a:r>
              <a:rPr dirty="0" sz="2700">
                <a:latin typeface="Calibri"/>
                <a:cs typeface="Calibri"/>
              </a:rPr>
              <a:t>BEFORE</a:t>
            </a:r>
            <a:r>
              <a:rPr dirty="0" sz="2700" spc="-7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TRIGGERS </a:t>
            </a:r>
            <a:r>
              <a:rPr dirty="0" sz="2700">
                <a:latin typeface="Calibri"/>
                <a:cs typeface="Calibri"/>
              </a:rPr>
              <a:t>AFTER</a:t>
            </a:r>
            <a:r>
              <a:rPr dirty="0" sz="2700" spc="-1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TRIGGERS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2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700" b="1">
                <a:latin typeface="Calibri"/>
                <a:cs typeface="Calibri"/>
              </a:rPr>
              <a:t>Classification</a:t>
            </a:r>
            <a:r>
              <a:rPr dirty="0" sz="2700" spc="-75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based</a:t>
            </a:r>
            <a:r>
              <a:rPr dirty="0" sz="2700" spc="-70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on</a:t>
            </a:r>
            <a:r>
              <a:rPr dirty="0" sz="2700" spc="-70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whether</a:t>
            </a:r>
            <a:r>
              <a:rPr dirty="0" sz="2700" spc="-65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the</a:t>
            </a:r>
            <a:r>
              <a:rPr dirty="0" sz="2700" spc="-65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trigger</a:t>
            </a:r>
            <a:r>
              <a:rPr dirty="0" sz="2700" spc="-80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fires</a:t>
            </a:r>
            <a:r>
              <a:rPr dirty="0" sz="2700" spc="-65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for</a:t>
            </a:r>
            <a:r>
              <a:rPr dirty="0" sz="2700" spc="-80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each</a:t>
            </a:r>
            <a:r>
              <a:rPr dirty="0" sz="2700" spc="-70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record</a:t>
            </a:r>
            <a:r>
              <a:rPr dirty="0" sz="2700" spc="-60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or</a:t>
            </a:r>
            <a:r>
              <a:rPr dirty="0" sz="2700" spc="-75" b="1">
                <a:latin typeface="Calibri"/>
                <a:cs typeface="Calibri"/>
              </a:rPr>
              <a:t> </a:t>
            </a:r>
            <a:r>
              <a:rPr dirty="0" sz="2700" spc="-10" b="1">
                <a:latin typeface="Calibri"/>
                <a:cs typeface="Calibri"/>
              </a:rPr>
              <a:t>table</a:t>
            </a:r>
            <a:endParaRPr sz="2700">
              <a:latin typeface="Calibri"/>
              <a:cs typeface="Calibri"/>
            </a:endParaRPr>
          </a:p>
          <a:p>
            <a:pPr marL="245745" marR="5850255">
              <a:lnSpc>
                <a:spcPct val="110000"/>
              </a:lnSpc>
              <a:spcBef>
                <a:spcPts val="5"/>
              </a:spcBef>
            </a:pPr>
            <a:r>
              <a:rPr dirty="0" sz="2700" spc="-45">
                <a:latin typeface="Calibri"/>
                <a:cs typeface="Calibri"/>
              </a:rPr>
              <a:t>STATEMENT</a:t>
            </a:r>
            <a:r>
              <a:rPr dirty="0" sz="2700" spc="-70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LEVEL(TABLE</a:t>
            </a:r>
            <a:r>
              <a:rPr dirty="0" sz="2700" spc="-10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LEVEL) </a:t>
            </a:r>
            <a:r>
              <a:rPr dirty="0" sz="2700">
                <a:latin typeface="Calibri"/>
                <a:cs typeface="Calibri"/>
              </a:rPr>
              <a:t>ROW</a:t>
            </a:r>
            <a:r>
              <a:rPr dirty="0" sz="2700" spc="-70">
                <a:latin typeface="Calibri"/>
                <a:cs typeface="Calibri"/>
              </a:rPr>
              <a:t> </a:t>
            </a:r>
            <a:r>
              <a:rPr dirty="0" sz="2700" spc="-20">
                <a:latin typeface="Calibri"/>
                <a:cs typeface="Calibri"/>
              </a:rPr>
              <a:t>LEVEL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79596" y="1319530"/>
            <a:ext cx="6463030" cy="910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96110" marR="5080" indent="-1884045">
              <a:lnSpc>
                <a:spcPct val="100000"/>
              </a:lnSpc>
              <a:spcBef>
                <a:spcPts val="105"/>
              </a:spcBef>
            </a:pPr>
            <a:r>
              <a:rPr dirty="0" sz="2900" spc="-10" b="1">
                <a:latin typeface="Calibri"/>
                <a:cs typeface="Calibri"/>
              </a:rPr>
              <a:t>Classification</a:t>
            </a:r>
            <a:r>
              <a:rPr dirty="0" sz="2900" spc="-25" b="1">
                <a:latin typeface="Calibri"/>
                <a:cs typeface="Calibri"/>
              </a:rPr>
              <a:t> </a:t>
            </a:r>
            <a:r>
              <a:rPr dirty="0" sz="2900" b="1">
                <a:latin typeface="Calibri"/>
                <a:cs typeface="Calibri"/>
              </a:rPr>
              <a:t>based</a:t>
            </a:r>
            <a:r>
              <a:rPr dirty="0" sz="2900" spc="-25" b="1">
                <a:latin typeface="Calibri"/>
                <a:cs typeface="Calibri"/>
              </a:rPr>
              <a:t> </a:t>
            </a:r>
            <a:r>
              <a:rPr dirty="0" sz="2900" b="1">
                <a:latin typeface="Calibri"/>
                <a:cs typeface="Calibri"/>
              </a:rPr>
              <a:t>on</a:t>
            </a:r>
            <a:r>
              <a:rPr dirty="0" sz="2900" spc="-15" b="1">
                <a:latin typeface="Calibri"/>
                <a:cs typeface="Calibri"/>
              </a:rPr>
              <a:t> </a:t>
            </a:r>
            <a:r>
              <a:rPr dirty="0" sz="2900" b="1">
                <a:latin typeface="Calibri"/>
                <a:cs typeface="Calibri"/>
              </a:rPr>
              <a:t>the</a:t>
            </a:r>
            <a:r>
              <a:rPr dirty="0" sz="2900" spc="-35" b="1">
                <a:latin typeface="Calibri"/>
                <a:cs typeface="Calibri"/>
              </a:rPr>
              <a:t> </a:t>
            </a:r>
            <a:r>
              <a:rPr dirty="0" sz="2900" b="1">
                <a:latin typeface="Calibri"/>
                <a:cs typeface="Calibri"/>
              </a:rPr>
              <a:t>DML</a:t>
            </a:r>
            <a:r>
              <a:rPr dirty="0" sz="2900" spc="-30" b="1">
                <a:latin typeface="Calibri"/>
                <a:cs typeface="Calibri"/>
              </a:rPr>
              <a:t> </a:t>
            </a:r>
            <a:r>
              <a:rPr dirty="0" sz="2900" spc="-10" b="1">
                <a:latin typeface="Calibri"/>
                <a:cs typeface="Calibri"/>
              </a:rPr>
              <a:t>operation (Triggering</a:t>
            </a:r>
            <a:r>
              <a:rPr dirty="0" sz="2900" spc="-160" b="1">
                <a:latin typeface="Calibri"/>
                <a:cs typeface="Calibri"/>
              </a:rPr>
              <a:t> </a:t>
            </a:r>
            <a:r>
              <a:rPr dirty="0" sz="2900" spc="-10" b="1">
                <a:latin typeface="Calibri"/>
                <a:cs typeface="Calibri"/>
              </a:rPr>
              <a:t>Event)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88340" y="2501997"/>
            <a:ext cx="1369060" cy="17811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dirty="0" sz="3200" spc="-10" b="1">
                <a:latin typeface="Calibri"/>
                <a:cs typeface="Calibri"/>
              </a:rPr>
              <a:t>INSERT </a:t>
            </a:r>
            <a:r>
              <a:rPr dirty="0" sz="3200" spc="-65" b="1">
                <a:latin typeface="Calibri"/>
                <a:cs typeface="Calibri"/>
              </a:rPr>
              <a:t>UPDATE </a:t>
            </a:r>
            <a:r>
              <a:rPr dirty="0" sz="3200" spc="-10" b="1">
                <a:latin typeface="Calibri"/>
                <a:cs typeface="Calibri"/>
              </a:rPr>
              <a:t>DELETE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280410" marR="5080" indent="-3268345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latin typeface="Calibri"/>
                <a:cs typeface="Calibri"/>
              </a:rPr>
              <a:t>Therefore,</a:t>
            </a:r>
            <a:r>
              <a:rPr dirty="0" sz="3200" spc="-5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there</a:t>
            </a:r>
            <a:r>
              <a:rPr dirty="0" sz="3200" spc="-4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can</a:t>
            </a:r>
            <a:r>
              <a:rPr dirty="0" sz="3200" spc="-4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be</a:t>
            </a:r>
            <a:r>
              <a:rPr dirty="0" sz="3200" spc="-4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12</a:t>
            </a:r>
            <a:r>
              <a:rPr dirty="0" sz="3200" spc="-4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types</a:t>
            </a:r>
            <a:r>
              <a:rPr dirty="0" sz="3200" spc="-4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of</a:t>
            </a:r>
            <a:r>
              <a:rPr dirty="0" sz="3200" spc="-5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triggers</a:t>
            </a:r>
            <a:r>
              <a:rPr dirty="0" sz="3200" spc="-6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in</a:t>
            </a:r>
            <a:r>
              <a:rPr dirty="0" sz="3200" spc="-5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Oracle</a:t>
            </a:r>
            <a:r>
              <a:rPr dirty="0" sz="3200" spc="-6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based</a:t>
            </a:r>
            <a:r>
              <a:rPr dirty="0" sz="3200" spc="-75" b="1">
                <a:latin typeface="Calibri"/>
                <a:cs typeface="Calibri"/>
              </a:rPr>
              <a:t> </a:t>
            </a:r>
            <a:r>
              <a:rPr dirty="0" sz="3200" spc="-25" b="1">
                <a:latin typeface="Calibri"/>
                <a:cs typeface="Calibri"/>
              </a:rPr>
              <a:t>on </a:t>
            </a:r>
            <a:r>
              <a:rPr dirty="0" sz="3200" b="1">
                <a:latin typeface="Calibri"/>
                <a:cs typeface="Calibri"/>
              </a:rPr>
              <a:t>the</a:t>
            </a:r>
            <a:r>
              <a:rPr dirty="0" sz="3200" spc="-5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above</a:t>
            </a:r>
            <a:r>
              <a:rPr dirty="0" sz="3200" spc="-4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classification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75640" y="1582569"/>
            <a:ext cx="6007100" cy="460502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545"/>
              </a:spcBef>
              <a:buFont typeface="Arial MT"/>
              <a:buChar char="•"/>
              <a:tabLst>
                <a:tab pos="367665" algn="l"/>
              </a:tabLst>
            </a:pPr>
            <a:r>
              <a:rPr dirty="0" sz="3000" spc="-10">
                <a:latin typeface="Calibri"/>
                <a:cs typeface="Calibri"/>
              </a:rPr>
              <a:t>BEFORE</a:t>
            </a:r>
            <a:endParaRPr sz="3000">
              <a:latin typeface="Calibri"/>
              <a:cs typeface="Calibri"/>
            </a:endParaRPr>
          </a:p>
          <a:p>
            <a:pPr lvl="1" marL="768985" indent="-286385">
              <a:lnSpc>
                <a:spcPct val="100000"/>
              </a:lnSpc>
              <a:spcBef>
                <a:spcPts val="325"/>
              </a:spcBef>
              <a:buFont typeface="Arial MT"/>
              <a:buChar char="–"/>
              <a:tabLst>
                <a:tab pos="768985" algn="l"/>
                <a:tab pos="1847850" algn="l"/>
              </a:tabLst>
            </a:pPr>
            <a:r>
              <a:rPr dirty="0" sz="2200">
                <a:latin typeface="Calibri"/>
                <a:cs typeface="Calibri"/>
              </a:rPr>
              <a:t>INSERT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-</a:t>
            </a:r>
            <a:r>
              <a:rPr dirty="0" sz="2200">
                <a:latin typeface="Calibri"/>
                <a:cs typeface="Calibri"/>
              </a:rPr>
              <a:t>	ROW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LEVEL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,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45">
                <a:latin typeface="Calibri"/>
                <a:cs typeface="Calibri"/>
              </a:rPr>
              <a:t>STATEMENT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LEVEL</a:t>
            </a:r>
            <a:endParaRPr sz="2200">
              <a:latin typeface="Calibri"/>
              <a:cs typeface="Calibri"/>
            </a:endParaRPr>
          </a:p>
          <a:p>
            <a:pPr lvl="1" marL="768985" indent="-286385">
              <a:lnSpc>
                <a:spcPct val="100000"/>
              </a:lnSpc>
              <a:spcBef>
                <a:spcPts val="265"/>
              </a:spcBef>
              <a:buFont typeface="Arial MT"/>
              <a:buChar char="–"/>
              <a:tabLst>
                <a:tab pos="768985" algn="l"/>
              </a:tabLst>
            </a:pPr>
            <a:r>
              <a:rPr dirty="0" sz="2200" spc="-35">
                <a:latin typeface="Calibri"/>
                <a:cs typeface="Calibri"/>
              </a:rPr>
              <a:t>UPDATE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–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ROW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LEVEL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,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45">
                <a:latin typeface="Calibri"/>
                <a:cs typeface="Calibri"/>
              </a:rPr>
              <a:t>STATEMENT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LEVEL</a:t>
            </a:r>
            <a:endParaRPr sz="2200">
              <a:latin typeface="Calibri"/>
              <a:cs typeface="Calibri"/>
            </a:endParaRPr>
          </a:p>
          <a:p>
            <a:pPr lvl="1" marL="768985" indent="-286385">
              <a:lnSpc>
                <a:spcPct val="100000"/>
              </a:lnSpc>
              <a:spcBef>
                <a:spcPts val="265"/>
              </a:spcBef>
              <a:buFont typeface="Arial MT"/>
              <a:buChar char="–"/>
              <a:tabLst>
                <a:tab pos="768985" algn="l"/>
              </a:tabLst>
            </a:pPr>
            <a:r>
              <a:rPr dirty="0" sz="2200">
                <a:latin typeface="Calibri"/>
                <a:cs typeface="Calibri"/>
              </a:rPr>
              <a:t>DELETE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-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ROW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LEVEL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,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45">
                <a:latin typeface="Calibri"/>
                <a:cs typeface="Calibri"/>
              </a:rPr>
              <a:t>STATEMENT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LEVEL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2200">
              <a:latin typeface="Calibri"/>
              <a:cs typeface="Calibri"/>
            </a:endParaRPr>
          </a:p>
          <a:p>
            <a:pPr marL="299720" indent="-274320">
              <a:lnSpc>
                <a:spcPct val="100000"/>
              </a:lnSpc>
              <a:buFont typeface="Arial MT"/>
              <a:buChar char="–"/>
              <a:tabLst>
                <a:tab pos="299720" algn="l"/>
              </a:tabLst>
            </a:pPr>
            <a:r>
              <a:rPr dirty="0" sz="2200" spc="-10">
                <a:latin typeface="Calibri"/>
                <a:cs typeface="Calibri"/>
              </a:rPr>
              <a:t>AFTER</a:t>
            </a:r>
            <a:endParaRPr sz="2200">
              <a:latin typeface="Calibri"/>
              <a:cs typeface="Calibri"/>
            </a:endParaRPr>
          </a:p>
          <a:p>
            <a:pPr lvl="1" marL="768985" indent="-286385">
              <a:lnSpc>
                <a:spcPct val="100000"/>
              </a:lnSpc>
              <a:spcBef>
                <a:spcPts val="265"/>
              </a:spcBef>
              <a:buFont typeface="Arial MT"/>
              <a:buChar char="–"/>
              <a:tabLst>
                <a:tab pos="768985" algn="l"/>
                <a:tab pos="1847850" algn="l"/>
              </a:tabLst>
            </a:pPr>
            <a:r>
              <a:rPr dirty="0" sz="2200">
                <a:latin typeface="Calibri"/>
                <a:cs typeface="Calibri"/>
              </a:rPr>
              <a:t>INSERT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-</a:t>
            </a:r>
            <a:r>
              <a:rPr dirty="0" sz="2200">
                <a:latin typeface="Calibri"/>
                <a:cs typeface="Calibri"/>
              </a:rPr>
              <a:t>	ROW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LEVEL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,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45">
                <a:latin typeface="Calibri"/>
                <a:cs typeface="Calibri"/>
              </a:rPr>
              <a:t>STATEMENT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LEVEL</a:t>
            </a:r>
            <a:endParaRPr sz="2200">
              <a:latin typeface="Calibri"/>
              <a:cs typeface="Calibri"/>
            </a:endParaRPr>
          </a:p>
          <a:p>
            <a:pPr lvl="1" marL="768985" indent="-286385">
              <a:lnSpc>
                <a:spcPct val="100000"/>
              </a:lnSpc>
              <a:spcBef>
                <a:spcPts val="265"/>
              </a:spcBef>
              <a:buFont typeface="Arial MT"/>
              <a:buChar char="–"/>
              <a:tabLst>
                <a:tab pos="768985" algn="l"/>
              </a:tabLst>
            </a:pPr>
            <a:r>
              <a:rPr dirty="0" sz="2200" spc="-35">
                <a:latin typeface="Calibri"/>
                <a:cs typeface="Calibri"/>
              </a:rPr>
              <a:t>UPDATE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–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ROW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LEVEL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,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45">
                <a:latin typeface="Calibri"/>
                <a:cs typeface="Calibri"/>
              </a:rPr>
              <a:t>STATEMENT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LEVEL</a:t>
            </a:r>
            <a:endParaRPr sz="2200">
              <a:latin typeface="Calibri"/>
              <a:cs typeface="Calibri"/>
            </a:endParaRPr>
          </a:p>
          <a:p>
            <a:pPr lvl="1" marL="768985" indent="-286385">
              <a:lnSpc>
                <a:spcPct val="100000"/>
              </a:lnSpc>
              <a:spcBef>
                <a:spcPts val="265"/>
              </a:spcBef>
              <a:buFont typeface="Arial MT"/>
              <a:buChar char="–"/>
              <a:tabLst>
                <a:tab pos="768985" algn="l"/>
              </a:tabLst>
            </a:pPr>
            <a:r>
              <a:rPr dirty="0" sz="2200">
                <a:latin typeface="Calibri"/>
                <a:cs typeface="Calibri"/>
              </a:rPr>
              <a:t>DELETE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-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ROW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LEVEL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,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45">
                <a:latin typeface="Calibri"/>
                <a:cs typeface="Calibri"/>
              </a:rPr>
              <a:t>STATEMENT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LEVEL</a:t>
            </a:r>
            <a:endParaRPr sz="2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80"/>
              </a:spcBef>
              <a:buFont typeface="Arial MT"/>
              <a:buChar char="–"/>
            </a:pPr>
            <a:endParaRPr sz="2200">
              <a:latin typeface="Calibri"/>
              <a:cs typeface="Calibri"/>
            </a:endParaRPr>
          </a:p>
          <a:p>
            <a:pPr lvl="1" marL="768985" indent="-286385">
              <a:lnSpc>
                <a:spcPct val="100000"/>
              </a:lnSpc>
              <a:spcBef>
                <a:spcPts val="5"/>
              </a:spcBef>
              <a:buFont typeface="Arial MT"/>
              <a:buChar char="–"/>
              <a:tabLst>
                <a:tab pos="768985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13</a:t>
            </a:r>
            <a:r>
              <a:rPr dirty="0" baseline="24904" sz="2175">
                <a:latin typeface="Calibri"/>
                <a:cs typeface="Calibri"/>
              </a:rPr>
              <a:t>th</a:t>
            </a:r>
            <a:r>
              <a:rPr dirty="0" baseline="24904" sz="2175" spc="172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trigger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called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INSTEAD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TRIGGER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88340" y="536912"/>
            <a:ext cx="10816590" cy="5203825"/>
          </a:xfrm>
          <a:prstGeom prst="rect">
            <a:avLst/>
          </a:prstGeom>
        </p:spPr>
        <p:txBody>
          <a:bodyPr wrap="square" lIns="0" tIns="527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dirty="0" sz="2800" b="1">
                <a:latin typeface="Calibri"/>
                <a:cs typeface="Calibri"/>
              </a:rPr>
              <a:t>BEFORE</a:t>
            </a:r>
            <a:r>
              <a:rPr dirty="0" sz="2800" spc="-5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TRIGGERS</a:t>
            </a:r>
            <a:endParaRPr sz="28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90000"/>
              </a:lnSpc>
              <a:spcBef>
                <a:spcPts val="75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These</a:t>
            </a:r>
            <a:r>
              <a:rPr dirty="0" sz="3200" spc="5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triggers</a:t>
            </a:r>
            <a:r>
              <a:rPr dirty="0" sz="3200" spc="5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are</a:t>
            </a:r>
            <a:r>
              <a:rPr dirty="0" sz="3200" spc="5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fired</a:t>
            </a:r>
            <a:r>
              <a:rPr dirty="0" sz="3200" spc="5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before</a:t>
            </a:r>
            <a:r>
              <a:rPr dirty="0" sz="3200" spc="5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5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triggering</a:t>
            </a:r>
            <a:r>
              <a:rPr dirty="0" sz="3200" spc="5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SQL</a:t>
            </a:r>
            <a:r>
              <a:rPr dirty="0" sz="3200" spc="58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statement </a:t>
            </a:r>
            <a:r>
              <a:rPr dirty="0" sz="3200">
                <a:latin typeface="Calibri"/>
                <a:cs typeface="Calibri"/>
              </a:rPr>
              <a:t>(INSERT,UPDATE,DELETE)</a:t>
            </a:r>
            <a:r>
              <a:rPr dirty="0" sz="3200" spc="675">
                <a:latin typeface="Calibri"/>
                <a:cs typeface="Calibri"/>
              </a:rPr>
              <a:t> 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680">
                <a:latin typeface="Calibri"/>
                <a:cs typeface="Calibri"/>
              </a:rPr>
              <a:t>  </a:t>
            </a:r>
            <a:r>
              <a:rPr dirty="0" sz="3200">
                <a:latin typeface="Calibri"/>
                <a:cs typeface="Calibri"/>
              </a:rPr>
              <a:t>executed.</a:t>
            </a:r>
            <a:r>
              <a:rPr dirty="0" sz="3200" spc="680">
                <a:latin typeface="Calibri"/>
                <a:cs typeface="Calibri"/>
              </a:rPr>
              <a:t> 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680">
                <a:latin typeface="Calibri"/>
                <a:cs typeface="Calibri"/>
              </a:rPr>
              <a:t>  </a:t>
            </a:r>
            <a:r>
              <a:rPr dirty="0" sz="3200">
                <a:latin typeface="Calibri"/>
                <a:cs typeface="Calibri"/>
              </a:rPr>
              <a:t>execution</a:t>
            </a:r>
            <a:r>
              <a:rPr dirty="0" sz="3200" spc="675">
                <a:latin typeface="Calibri"/>
                <a:cs typeface="Calibri"/>
              </a:rPr>
              <a:t>  </a:t>
            </a:r>
            <a:r>
              <a:rPr dirty="0" sz="3200" spc="-25">
                <a:latin typeface="Calibri"/>
                <a:cs typeface="Calibri"/>
              </a:rPr>
              <a:t>of </a:t>
            </a:r>
            <a:r>
              <a:rPr dirty="0" sz="3200">
                <a:latin typeface="Calibri"/>
                <a:cs typeface="Calibri"/>
              </a:rPr>
              <a:t>triggering</a:t>
            </a:r>
            <a:r>
              <a:rPr dirty="0" sz="3200" spc="6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SQL</a:t>
            </a:r>
            <a:r>
              <a:rPr dirty="0" sz="3200" spc="6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statement</a:t>
            </a:r>
            <a:r>
              <a:rPr dirty="0" sz="3200" spc="6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can</a:t>
            </a:r>
            <a:r>
              <a:rPr dirty="0" sz="3200" spc="6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be</a:t>
            </a:r>
            <a:r>
              <a:rPr dirty="0" sz="3200" spc="6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stopped</a:t>
            </a:r>
            <a:r>
              <a:rPr dirty="0" sz="3200" spc="6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depending</a:t>
            </a:r>
            <a:r>
              <a:rPr dirty="0" sz="3200" spc="6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on</a:t>
            </a:r>
            <a:r>
              <a:rPr dirty="0" sz="3200" spc="61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the </a:t>
            </a:r>
            <a:r>
              <a:rPr dirty="0" sz="3200">
                <a:latin typeface="Calibri"/>
                <a:cs typeface="Calibri"/>
              </a:rPr>
              <a:t>various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conditions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to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be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fulfilled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BEFORE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trigger.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0"/>
              </a:spcBef>
              <a:buFont typeface="Arial MT"/>
              <a:buChar char="•"/>
            </a:pP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800" b="1">
                <a:latin typeface="Calibri"/>
                <a:cs typeface="Calibri"/>
              </a:rPr>
              <a:t>AFTER</a:t>
            </a:r>
            <a:r>
              <a:rPr dirty="0" sz="2800" spc="-5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TRIGGERS</a:t>
            </a:r>
            <a:endParaRPr sz="28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90000"/>
              </a:lnSpc>
              <a:spcBef>
                <a:spcPts val="75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These</a:t>
            </a:r>
            <a:r>
              <a:rPr dirty="0" sz="3200" spc="60">
                <a:latin typeface="Calibri"/>
                <a:cs typeface="Calibri"/>
              </a:rPr>
              <a:t>  </a:t>
            </a:r>
            <a:r>
              <a:rPr dirty="0" sz="3200">
                <a:latin typeface="Calibri"/>
                <a:cs typeface="Calibri"/>
              </a:rPr>
              <a:t>triggers</a:t>
            </a:r>
            <a:r>
              <a:rPr dirty="0" sz="3200" spc="70">
                <a:latin typeface="Calibri"/>
                <a:cs typeface="Calibri"/>
              </a:rPr>
              <a:t>  </a:t>
            </a:r>
            <a:r>
              <a:rPr dirty="0" sz="3200">
                <a:latin typeface="Calibri"/>
                <a:cs typeface="Calibri"/>
              </a:rPr>
              <a:t>are</a:t>
            </a:r>
            <a:r>
              <a:rPr dirty="0" sz="3200" spc="65">
                <a:latin typeface="Calibri"/>
                <a:cs typeface="Calibri"/>
              </a:rPr>
              <a:t>  </a:t>
            </a:r>
            <a:r>
              <a:rPr dirty="0" sz="3200">
                <a:latin typeface="Calibri"/>
                <a:cs typeface="Calibri"/>
              </a:rPr>
              <a:t>fired</a:t>
            </a:r>
            <a:r>
              <a:rPr dirty="0" sz="3200" spc="70">
                <a:latin typeface="Calibri"/>
                <a:cs typeface="Calibri"/>
              </a:rPr>
              <a:t>  </a:t>
            </a:r>
            <a:r>
              <a:rPr dirty="0" sz="3200">
                <a:latin typeface="Calibri"/>
                <a:cs typeface="Calibri"/>
              </a:rPr>
              <a:t>after</a:t>
            </a:r>
            <a:r>
              <a:rPr dirty="0" sz="3200" spc="65">
                <a:latin typeface="Calibri"/>
                <a:cs typeface="Calibri"/>
              </a:rPr>
              <a:t> 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70">
                <a:latin typeface="Calibri"/>
                <a:cs typeface="Calibri"/>
              </a:rPr>
              <a:t>  </a:t>
            </a:r>
            <a:r>
              <a:rPr dirty="0" sz="3200">
                <a:latin typeface="Calibri"/>
                <a:cs typeface="Calibri"/>
              </a:rPr>
              <a:t>triggering</a:t>
            </a:r>
            <a:r>
              <a:rPr dirty="0" sz="3200" spc="70">
                <a:latin typeface="Calibri"/>
                <a:cs typeface="Calibri"/>
              </a:rPr>
              <a:t>  </a:t>
            </a:r>
            <a:r>
              <a:rPr dirty="0" sz="3200">
                <a:latin typeface="Calibri"/>
                <a:cs typeface="Calibri"/>
              </a:rPr>
              <a:t>SQL</a:t>
            </a:r>
            <a:r>
              <a:rPr dirty="0" sz="3200" spc="70">
                <a:latin typeface="Calibri"/>
                <a:cs typeface="Calibri"/>
              </a:rPr>
              <a:t>  </a:t>
            </a:r>
            <a:r>
              <a:rPr dirty="0" sz="3200" spc="-10">
                <a:latin typeface="Calibri"/>
                <a:cs typeface="Calibri"/>
              </a:rPr>
              <a:t>statement </a:t>
            </a:r>
            <a:r>
              <a:rPr dirty="0" sz="3200">
                <a:latin typeface="Calibri"/>
                <a:cs typeface="Calibri"/>
              </a:rPr>
              <a:t>(INSERT,UPDATE,DELETE)</a:t>
            </a:r>
            <a:r>
              <a:rPr dirty="0" sz="3200" spc="430">
                <a:latin typeface="Calibri"/>
                <a:cs typeface="Calibri"/>
              </a:rPr>
              <a:t> 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445">
                <a:latin typeface="Calibri"/>
                <a:cs typeface="Calibri"/>
              </a:rPr>
              <a:t>  </a:t>
            </a:r>
            <a:r>
              <a:rPr dirty="0" sz="3200">
                <a:latin typeface="Calibri"/>
                <a:cs typeface="Calibri"/>
              </a:rPr>
              <a:t>executed.</a:t>
            </a:r>
            <a:r>
              <a:rPr dirty="0" sz="3200" spc="450">
                <a:latin typeface="Calibri"/>
                <a:cs typeface="Calibri"/>
              </a:rPr>
              <a:t> 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440">
                <a:latin typeface="Calibri"/>
                <a:cs typeface="Calibri"/>
              </a:rPr>
              <a:t>  </a:t>
            </a:r>
            <a:r>
              <a:rPr dirty="0" sz="3200">
                <a:latin typeface="Calibri"/>
                <a:cs typeface="Calibri"/>
              </a:rPr>
              <a:t>triggering</a:t>
            </a:r>
            <a:r>
              <a:rPr dirty="0" sz="3200" spc="440">
                <a:latin typeface="Calibri"/>
                <a:cs typeface="Calibri"/>
              </a:rPr>
              <a:t>  </a:t>
            </a:r>
            <a:r>
              <a:rPr dirty="0" sz="3200" spc="-25">
                <a:latin typeface="Calibri"/>
                <a:cs typeface="Calibri"/>
              </a:rPr>
              <a:t>SQL </a:t>
            </a:r>
            <a:r>
              <a:rPr dirty="0" sz="3200">
                <a:latin typeface="Calibri"/>
                <a:cs typeface="Calibri"/>
              </a:rPr>
              <a:t>statement</a:t>
            </a:r>
            <a:r>
              <a:rPr dirty="0" sz="3200" spc="5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5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anyhow</a:t>
            </a:r>
            <a:r>
              <a:rPr dirty="0" sz="3200" spc="5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executed</a:t>
            </a:r>
            <a:r>
              <a:rPr dirty="0" sz="3200" spc="5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first</a:t>
            </a:r>
            <a:r>
              <a:rPr dirty="0" sz="3200" spc="5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followed</a:t>
            </a:r>
            <a:r>
              <a:rPr dirty="0" sz="3200" spc="5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by</a:t>
            </a:r>
            <a:r>
              <a:rPr dirty="0" sz="3200" spc="5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5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code</a:t>
            </a:r>
            <a:r>
              <a:rPr dirty="0" sz="3200" spc="51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of </a:t>
            </a:r>
            <a:r>
              <a:rPr dirty="0" sz="3200" spc="-10">
                <a:latin typeface="Calibri"/>
                <a:cs typeface="Calibri"/>
              </a:rPr>
              <a:t>trigger.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88340" y="1607261"/>
            <a:ext cx="10751185" cy="25634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15621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These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triggers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are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fired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for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each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DML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operation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being </a:t>
            </a:r>
            <a:r>
              <a:rPr dirty="0" sz="3200">
                <a:latin typeface="Calibri"/>
                <a:cs typeface="Calibri"/>
              </a:rPr>
              <a:t>performed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on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table.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>
                <a:latin typeface="Calibri"/>
                <a:cs typeface="Calibri"/>
              </a:rPr>
              <a:t>We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cannot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access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column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values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for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records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being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inserted</a:t>
            </a:r>
            <a:endParaRPr sz="3200">
              <a:latin typeface="Calibri"/>
              <a:cs typeface="Calibri"/>
            </a:endParaRPr>
          </a:p>
          <a:p>
            <a:pPr marL="355600" marR="106680">
              <a:lnSpc>
                <a:spcPct val="100000"/>
              </a:lnSpc>
            </a:pPr>
            <a:r>
              <a:rPr dirty="0" sz="3200">
                <a:latin typeface="Calibri"/>
                <a:cs typeface="Calibri"/>
              </a:rPr>
              <a:t>,updated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or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deleted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as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it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meant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for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table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not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for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the </a:t>
            </a:r>
            <a:r>
              <a:rPr dirty="0" sz="3200">
                <a:latin typeface="Calibri"/>
                <a:cs typeface="Calibri"/>
              </a:rPr>
              <a:t>individual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records.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5067" rIns="0" bIns="0" rtlCol="0" vert="horz">
            <a:spAutoFit/>
          </a:bodyPr>
          <a:lstStyle/>
          <a:p>
            <a:pPr marL="218122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Statement</a:t>
            </a:r>
            <a:r>
              <a:rPr dirty="0" spc="-190"/>
              <a:t> </a:t>
            </a:r>
            <a:r>
              <a:rPr dirty="0" spc="-25"/>
              <a:t>level/Table</a:t>
            </a:r>
            <a:r>
              <a:rPr dirty="0" spc="-165"/>
              <a:t> </a:t>
            </a:r>
            <a:r>
              <a:rPr dirty="0" spc="-10"/>
              <a:t>level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5067" rIns="0" bIns="0" rtlCol="0" vert="horz">
            <a:spAutoFit/>
          </a:bodyPr>
          <a:lstStyle/>
          <a:p>
            <a:pPr marL="490982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Eg: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8340" y="1610613"/>
            <a:ext cx="66573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Calibri"/>
                <a:cs typeface="Calibri"/>
              </a:rPr>
              <a:t>Consider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table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tbl_audit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foll.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Fields: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88340" y="2037105"/>
            <a:ext cx="2192655" cy="156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2800" spc="-10">
                <a:latin typeface="Calibri"/>
                <a:cs typeface="Calibri"/>
              </a:rPr>
              <a:t>Table_name </a:t>
            </a:r>
            <a:r>
              <a:rPr dirty="0" sz="2800" spc="-20">
                <a:latin typeface="Calibri"/>
                <a:cs typeface="Calibri"/>
              </a:rPr>
              <a:t>Dml_operation </a:t>
            </a:r>
            <a:r>
              <a:rPr dirty="0" sz="2800" spc="-10">
                <a:latin typeface="Calibri"/>
                <a:cs typeface="Calibri"/>
              </a:rPr>
              <a:t>Date_of_dml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091942" y="2037105"/>
            <a:ext cx="1947545" cy="156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03505" marR="5080" indent="-91440">
              <a:lnSpc>
                <a:spcPct val="120000"/>
              </a:lnSpc>
              <a:spcBef>
                <a:spcPts val="100"/>
              </a:spcBef>
            </a:pPr>
            <a:r>
              <a:rPr dirty="0" sz="2800" spc="-10">
                <a:latin typeface="Calibri"/>
                <a:cs typeface="Calibri"/>
              </a:rPr>
              <a:t>varchar2(10) </a:t>
            </a:r>
            <a:r>
              <a:rPr dirty="0" sz="2800" spc="-20">
                <a:latin typeface="Calibri"/>
                <a:cs typeface="Calibri"/>
              </a:rPr>
              <a:t>varchar2(10) date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3540" y="443839"/>
            <a:ext cx="9830435" cy="6464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131185">
              <a:lnSpc>
                <a:spcPct val="120000"/>
              </a:lnSpc>
              <a:spcBef>
                <a:spcPts val="100"/>
              </a:spcBef>
            </a:pPr>
            <a:r>
              <a:rPr dirty="0" sz="3200">
                <a:latin typeface="Calibri"/>
                <a:cs typeface="Calibri"/>
              </a:rPr>
              <a:t>Create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or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replace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trigger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trig_emp_audit </a:t>
            </a:r>
            <a:r>
              <a:rPr dirty="0" sz="3200">
                <a:latin typeface="Calibri"/>
                <a:cs typeface="Calibri"/>
              </a:rPr>
              <a:t>After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insert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or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update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or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delete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on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emp </a:t>
            </a:r>
            <a:r>
              <a:rPr dirty="0" sz="3200" spc="-10">
                <a:latin typeface="Calibri"/>
                <a:cs typeface="Calibri"/>
              </a:rPr>
              <a:t>Begin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3200">
                <a:latin typeface="Calibri"/>
                <a:cs typeface="Calibri"/>
              </a:rPr>
              <a:t>if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INSERTING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then</a:t>
            </a:r>
            <a:endParaRPr sz="3200">
              <a:latin typeface="Calibri"/>
              <a:cs typeface="Calibri"/>
            </a:endParaRPr>
          </a:p>
          <a:p>
            <a:pPr marL="12700" marR="346075" indent="241935">
              <a:lnSpc>
                <a:spcPts val="4610"/>
              </a:lnSpc>
              <a:spcBef>
                <a:spcPts val="280"/>
              </a:spcBef>
            </a:pPr>
            <a:r>
              <a:rPr dirty="0" sz="2800">
                <a:latin typeface="Calibri"/>
                <a:cs typeface="Calibri"/>
              </a:rPr>
              <a:t>Insert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into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</a:t>
            </a:r>
            <a:r>
              <a:rPr dirty="0" sz="3200">
                <a:latin typeface="Calibri"/>
                <a:cs typeface="Calibri"/>
              </a:rPr>
              <a:t>bl_audit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35">
                <a:latin typeface="Calibri"/>
                <a:cs typeface="Calibri"/>
              </a:rPr>
              <a:t>values(‘EMPLOYEE’,’INSERT’,sysdate); </a:t>
            </a:r>
            <a:r>
              <a:rPr dirty="0" sz="3200">
                <a:latin typeface="Calibri"/>
                <a:cs typeface="Calibri"/>
              </a:rPr>
              <a:t>End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if;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3200">
                <a:latin typeface="Calibri"/>
                <a:cs typeface="Calibri"/>
              </a:rPr>
              <a:t>if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 spc="-35">
                <a:latin typeface="Calibri"/>
                <a:cs typeface="Calibri"/>
              </a:rPr>
              <a:t>UPDATING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then</a:t>
            </a:r>
            <a:endParaRPr sz="3200">
              <a:latin typeface="Calibri"/>
              <a:cs typeface="Calibri"/>
            </a:endParaRPr>
          </a:p>
          <a:p>
            <a:pPr marL="12700" marR="5080" indent="275590">
              <a:lnSpc>
                <a:spcPts val="4610"/>
              </a:lnSpc>
              <a:spcBef>
                <a:spcPts val="280"/>
              </a:spcBef>
            </a:pPr>
            <a:r>
              <a:rPr dirty="0" sz="3200">
                <a:latin typeface="Calibri"/>
                <a:cs typeface="Calibri"/>
              </a:rPr>
              <a:t>Insert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into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tbl_audit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40">
                <a:latin typeface="Calibri"/>
                <a:cs typeface="Calibri"/>
              </a:rPr>
              <a:t>values(‘EMPLOYEE’,UPDATE’,sysdate); </a:t>
            </a:r>
            <a:r>
              <a:rPr dirty="0" sz="3200">
                <a:latin typeface="Calibri"/>
                <a:cs typeface="Calibri"/>
              </a:rPr>
              <a:t>End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if;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3200">
                <a:latin typeface="Calibri"/>
                <a:cs typeface="Calibri"/>
              </a:rPr>
              <a:t>if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DELETING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then</a:t>
            </a:r>
            <a:endParaRPr sz="3200">
              <a:latin typeface="Calibri"/>
              <a:cs typeface="Calibri"/>
            </a:endParaRPr>
          </a:p>
          <a:p>
            <a:pPr marL="288290">
              <a:lnSpc>
                <a:spcPct val="100000"/>
              </a:lnSpc>
              <a:spcBef>
                <a:spcPts val="770"/>
              </a:spcBef>
            </a:pPr>
            <a:r>
              <a:rPr dirty="0" sz="3200">
                <a:latin typeface="Calibri"/>
                <a:cs typeface="Calibri"/>
              </a:rPr>
              <a:t>Insert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into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tbl_audit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values(‘EMPLOYEE’,DELETE’,sysdate);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5067" rIns="0" bIns="0" rtlCol="0" vert="horz">
            <a:spAutoFit/>
          </a:bodyPr>
          <a:lstStyle/>
          <a:p>
            <a:pPr marL="2754630">
              <a:lnSpc>
                <a:spcPct val="100000"/>
              </a:lnSpc>
              <a:spcBef>
                <a:spcPts val="105"/>
              </a:spcBef>
            </a:pPr>
            <a:r>
              <a:rPr dirty="0"/>
              <a:t>ROW</a:t>
            </a:r>
            <a:r>
              <a:rPr dirty="0" spc="-65"/>
              <a:t> </a:t>
            </a:r>
            <a:r>
              <a:rPr dirty="0"/>
              <a:t>LEVEL</a:t>
            </a:r>
            <a:r>
              <a:rPr dirty="0" spc="-55"/>
              <a:t> </a:t>
            </a:r>
            <a:r>
              <a:rPr dirty="0" spc="-10"/>
              <a:t>TRIGGERS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8340" y="1607261"/>
            <a:ext cx="10121265" cy="20751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20764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These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triggers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are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fired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for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each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every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record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which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is </a:t>
            </a:r>
            <a:r>
              <a:rPr dirty="0" sz="3200">
                <a:latin typeface="Calibri"/>
                <a:cs typeface="Calibri"/>
              </a:rPr>
              <a:t>inserted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or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deleted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or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updated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from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table.</a:t>
            </a:r>
            <a:endParaRPr sz="32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In</a:t>
            </a:r>
            <a:r>
              <a:rPr dirty="0" sz="3200" spc="-55">
                <a:latin typeface="Calibri"/>
                <a:cs typeface="Calibri"/>
              </a:rPr>
              <a:t> STATEMENT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level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triggers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we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cannot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access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values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of </a:t>
            </a:r>
            <a:r>
              <a:rPr dirty="0" sz="3200">
                <a:latin typeface="Calibri"/>
                <a:cs typeface="Calibri"/>
              </a:rPr>
              <a:t>individual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rows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being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inserted,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updated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or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deleted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5067" rIns="0" bIns="0" rtlCol="0" vert="horz">
            <a:spAutoFit/>
          </a:bodyPr>
          <a:lstStyle/>
          <a:p>
            <a:pPr marL="4694555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Note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8340" y="1607261"/>
            <a:ext cx="10119360" cy="383095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14986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  <a:tab pos="7853045" algn="l"/>
              </a:tabLst>
            </a:pPr>
            <a:r>
              <a:rPr dirty="0" sz="3200" b="1">
                <a:latin typeface="Calibri"/>
                <a:cs typeface="Calibri"/>
              </a:rPr>
              <a:t>:old.column_name</a:t>
            </a:r>
            <a:r>
              <a:rPr dirty="0" sz="3200" spc="-7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and</a:t>
            </a:r>
            <a:r>
              <a:rPr dirty="0" sz="3200" spc="-7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:new.column_name</a:t>
            </a:r>
            <a:r>
              <a:rPr dirty="0" sz="3200" b="1">
                <a:latin typeface="Calibri"/>
                <a:cs typeface="Calibri"/>
              </a:rPr>
              <a:t>	are</a:t>
            </a:r>
            <a:r>
              <a:rPr dirty="0" sz="3200" spc="-5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reserved </a:t>
            </a:r>
            <a:r>
              <a:rPr dirty="0" sz="3200" b="1">
                <a:latin typeface="Calibri"/>
                <a:cs typeface="Calibri"/>
              </a:rPr>
              <a:t>words</a:t>
            </a:r>
            <a:r>
              <a:rPr dirty="0" sz="3200" spc="-7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of</a:t>
            </a:r>
            <a:r>
              <a:rPr dirty="0" sz="3200" spc="-4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Oracle</a:t>
            </a:r>
            <a:r>
              <a:rPr dirty="0" sz="3200" spc="-8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indicating</a:t>
            </a:r>
            <a:r>
              <a:rPr dirty="0" sz="3200" spc="-8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the</a:t>
            </a:r>
            <a:r>
              <a:rPr dirty="0" sz="3200" spc="-5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OLD</a:t>
            </a:r>
            <a:r>
              <a:rPr dirty="0" sz="3200" spc="-5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and</a:t>
            </a:r>
            <a:r>
              <a:rPr dirty="0" sz="3200" spc="-6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NEW</a:t>
            </a:r>
            <a:r>
              <a:rPr dirty="0" sz="3200" spc="-4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values</a:t>
            </a:r>
            <a:r>
              <a:rPr dirty="0" sz="3200" spc="-65" b="1">
                <a:latin typeface="Calibri"/>
                <a:cs typeface="Calibri"/>
              </a:rPr>
              <a:t> </a:t>
            </a:r>
            <a:r>
              <a:rPr dirty="0" sz="3200" spc="-25" b="1">
                <a:latin typeface="Calibri"/>
                <a:cs typeface="Calibri"/>
              </a:rPr>
              <a:t>of </a:t>
            </a:r>
            <a:r>
              <a:rPr dirty="0" sz="3200" spc="-10" b="1">
                <a:latin typeface="Calibri"/>
                <a:cs typeface="Calibri"/>
              </a:rPr>
              <a:t>columns.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75"/>
              </a:spcBef>
              <a:buFont typeface="Arial MT"/>
              <a:buChar char="•"/>
            </a:pP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3200" b="1">
                <a:latin typeface="Calibri"/>
                <a:cs typeface="Calibri"/>
              </a:rPr>
              <a:t>While</a:t>
            </a:r>
            <a:r>
              <a:rPr dirty="0" sz="3200" spc="-3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INSERTING</a:t>
            </a:r>
            <a:r>
              <a:rPr dirty="0" sz="3200" spc="-2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we</a:t>
            </a:r>
            <a:r>
              <a:rPr dirty="0" sz="3200" spc="-3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can</a:t>
            </a:r>
            <a:r>
              <a:rPr dirty="0" sz="3200" spc="-4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access</a:t>
            </a:r>
            <a:r>
              <a:rPr dirty="0" sz="3200" spc="-4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only</a:t>
            </a:r>
            <a:r>
              <a:rPr dirty="0" sz="3200" spc="-4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:new</a:t>
            </a:r>
            <a:r>
              <a:rPr dirty="0" sz="3200" spc="-3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values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 b="1">
                <a:latin typeface="Calibri"/>
                <a:cs typeface="Calibri"/>
              </a:rPr>
              <a:t>While</a:t>
            </a:r>
            <a:r>
              <a:rPr dirty="0" sz="3200" spc="-35" b="1">
                <a:latin typeface="Calibri"/>
                <a:cs typeface="Calibri"/>
              </a:rPr>
              <a:t> </a:t>
            </a:r>
            <a:r>
              <a:rPr dirty="0" sz="3200" spc="-30" b="1">
                <a:latin typeface="Calibri"/>
                <a:cs typeface="Calibri"/>
              </a:rPr>
              <a:t>UPDATING </a:t>
            </a:r>
            <a:r>
              <a:rPr dirty="0" sz="3200" b="1">
                <a:latin typeface="Calibri"/>
                <a:cs typeface="Calibri"/>
              </a:rPr>
              <a:t>we</a:t>
            </a:r>
            <a:r>
              <a:rPr dirty="0" sz="3200" spc="-3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can</a:t>
            </a:r>
            <a:r>
              <a:rPr dirty="0" sz="3200" spc="-4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access</a:t>
            </a:r>
            <a:r>
              <a:rPr dirty="0" sz="3200" spc="-4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both</a:t>
            </a:r>
            <a:r>
              <a:rPr dirty="0" sz="3200" spc="-2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:old</a:t>
            </a:r>
            <a:r>
              <a:rPr dirty="0" sz="3200" spc="-3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and</a:t>
            </a:r>
            <a:r>
              <a:rPr dirty="0" sz="3200" spc="-4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:new</a:t>
            </a:r>
            <a:r>
              <a:rPr dirty="0" sz="3200" spc="-4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values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 b="1">
                <a:latin typeface="Calibri"/>
                <a:cs typeface="Calibri"/>
              </a:rPr>
              <a:t>While</a:t>
            </a:r>
            <a:r>
              <a:rPr dirty="0" sz="3200" spc="-4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DELETING</a:t>
            </a:r>
            <a:r>
              <a:rPr dirty="0" sz="3200" spc="-3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we</a:t>
            </a:r>
            <a:r>
              <a:rPr dirty="0" sz="3200" spc="-2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can</a:t>
            </a:r>
            <a:r>
              <a:rPr dirty="0" sz="3200" spc="-3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access</a:t>
            </a:r>
            <a:r>
              <a:rPr dirty="0" sz="3200" spc="-3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only</a:t>
            </a:r>
            <a:r>
              <a:rPr dirty="0" sz="3200" spc="-3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:old</a:t>
            </a:r>
            <a:r>
              <a:rPr dirty="0" sz="3200" spc="-1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values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88340" y="1558493"/>
            <a:ext cx="10594340" cy="44164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>
                <a:latin typeface="Calibri"/>
                <a:cs typeface="Calibri"/>
              </a:rPr>
              <a:t>Create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'product'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table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'product_price_history'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table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35"/>
              </a:spcBef>
              <a:buFont typeface="Arial MT"/>
              <a:buChar char="•"/>
            </a:pPr>
            <a:endParaRPr sz="3200">
              <a:latin typeface="Calibri"/>
              <a:cs typeface="Calibri"/>
            </a:endParaRPr>
          </a:p>
          <a:p>
            <a:pPr marL="355600" marR="5080" indent="-342900">
              <a:lnSpc>
                <a:spcPts val="346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3200" spc="-30">
                <a:latin typeface="Calibri"/>
                <a:cs typeface="Calibri"/>
              </a:rPr>
              <a:t>CREATE</a:t>
            </a:r>
            <a:r>
              <a:rPr dirty="0" sz="3200" spc="-114">
                <a:latin typeface="Calibri"/>
                <a:cs typeface="Calibri"/>
              </a:rPr>
              <a:t> </a:t>
            </a:r>
            <a:r>
              <a:rPr dirty="0" sz="3200" spc="-30">
                <a:latin typeface="Calibri"/>
                <a:cs typeface="Calibri"/>
              </a:rPr>
              <a:t>TABLE</a:t>
            </a:r>
            <a:r>
              <a:rPr dirty="0" sz="3200" spc="-1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product</a:t>
            </a:r>
            <a:r>
              <a:rPr dirty="0" sz="3200" spc="-11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(product_id</a:t>
            </a:r>
            <a:r>
              <a:rPr dirty="0" sz="3200" spc="-114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number(5),</a:t>
            </a:r>
            <a:r>
              <a:rPr dirty="0" sz="3200" spc="-11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product_name varchar2(32),supplier_name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varchar2(32),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unit_price number(7,2)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);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  <a:buFont typeface="Arial MT"/>
              <a:buChar char="•"/>
            </a:pPr>
            <a:endParaRPr sz="3200">
              <a:latin typeface="Calibri"/>
              <a:cs typeface="Calibri"/>
            </a:endParaRPr>
          </a:p>
          <a:p>
            <a:pPr marL="355600" marR="366395" indent="-342900">
              <a:lnSpc>
                <a:spcPct val="9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3200" spc="-25">
                <a:latin typeface="Calibri"/>
                <a:cs typeface="Calibri"/>
              </a:rPr>
              <a:t>CREATE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 spc="-30">
                <a:latin typeface="Calibri"/>
                <a:cs typeface="Calibri"/>
              </a:rPr>
              <a:t>TABLE</a:t>
            </a:r>
            <a:r>
              <a:rPr dirty="0" sz="3200" spc="-1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product_price_history(product_id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number(5) </a:t>
            </a:r>
            <a:r>
              <a:rPr dirty="0" sz="3200">
                <a:latin typeface="Calibri"/>
                <a:cs typeface="Calibri"/>
              </a:rPr>
              <a:t>product_name</a:t>
            </a:r>
            <a:r>
              <a:rPr dirty="0" sz="3200" spc="-1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varchar2(32),supplier_name varchar2(32),unit_price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number(7,2)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);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88340" y="1607261"/>
            <a:ext cx="402336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>
                <a:latin typeface="Calibri"/>
                <a:cs typeface="Calibri"/>
              </a:rPr>
              <a:t>select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*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from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product;</a:t>
            </a:r>
            <a:endParaRPr sz="3200">
              <a:latin typeface="Calibri"/>
              <a:cs typeface="Calibri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669290" y="2829623"/>
          <a:ext cx="5734050" cy="30302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3965"/>
                <a:gridCol w="1182370"/>
                <a:gridCol w="1159510"/>
                <a:gridCol w="1029335"/>
                <a:gridCol w="1043305"/>
              </a:tblGrid>
              <a:tr h="493395">
                <a:tc>
                  <a:txBody>
                    <a:bodyPr/>
                    <a:lstStyle/>
                    <a:p>
                      <a:pPr marL="374015" indent="-342265">
                        <a:lnSpc>
                          <a:spcPts val="3540"/>
                        </a:lnSpc>
                        <a:buFont typeface="Arial MT"/>
                        <a:buChar char="•"/>
                        <a:tabLst>
                          <a:tab pos="374015" algn="l"/>
                        </a:tabLst>
                      </a:pPr>
                      <a:r>
                        <a:rPr dirty="0" sz="3200" spc="-20">
                          <a:latin typeface="Calibri"/>
                          <a:cs typeface="Calibri"/>
                        </a:rPr>
                        <a:t>o/p: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87020">
                <a:tc>
                  <a:txBody>
                    <a:bodyPr/>
                    <a:lstStyle/>
                    <a:p>
                      <a:pPr marL="374015" indent="-342265">
                        <a:lnSpc>
                          <a:spcPct val="100000"/>
                        </a:lnSpc>
                        <a:spcBef>
                          <a:spcPts val="70"/>
                        </a:spcBef>
                        <a:buFont typeface="Arial MT"/>
                        <a:buChar char="•"/>
                        <a:tabLst>
                          <a:tab pos="374015" algn="l"/>
                        </a:tabLst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PRODUCT_ID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PRODUCT_NAME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SUPPLIER_NAME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UNIT_PRICE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583565">
                <a:tc>
                  <a:txBody>
                    <a:bodyPr/>
                    <a:lstStyle/>
                    <a:p>
                      <a:pPr marL="240029">
                        <a:lnSpc>
                          <a:spcPts val="3735"/>
                        </a:lnSpc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1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80975">
                        <a:lnSpc>
                          <a:spcPts val="3735"/>
                        </a:lnSpc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a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8755">
                        <a:lnSpc>
                          <a:spcPts val="3735"/>
                        </a:lnSpc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s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36220">
                        <a:lnSpc>
                          <a:spcPts val="3735"/>
                        </a:lnSpc>
                      </a:pPr>
                      <a:r>
                        <a:rPr dirty="0" sz="3200" spc="-25">
                          <a:latin typeface="Calibri"/>
                          <a:cs typeface="Calibri"/>
                        </a:rPr>
                        <a:t>100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584835">
                <a:tc>
                  <a:txBody>
                    <a:bodyPr/>
                    <a:lstStyle/>
                    <a:p>
                      <a:pPr marL="307340">
                        <a:lnSpc>
                          <a:spcPts val="3745"/>
                        </a:lnSpc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2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50875">
                        <a:lnSpc>
                          <a:spcPts val="3745"/>
                        </a:lnSpc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b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5255">
                        <a:lnSpc>
                          <a:spcPts val="3745"/>
                        </a:lnSpc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t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745"/>
                        </a:lnSpc>
                      </a:pPr>
                      <a:r>
                        <a:rPr dirty="0" sz="3200" spc="-25">
                          <a:latin typeface="Calibri"/>
                          <a:cs typeface="Calibri"/>
                        </a:rPr>
                        <a:t>200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585470">
                <a:tc>
                  <a:txBody>
                    <a:bodyPr/>
                    <a:lstStyle/>
                    <a:p>
                      <a:pPr marL="307340">
                        <a:lnSpc>
                          <a:spcPts val="3745"/>
                        </a:lnSpc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3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51510">
                        <a:lnSpc>
                          <a:spcPts val="3745"/>
                        </a:lnSpc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c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ts val="3745"/>
                        </a:lnSpc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u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8740">
                        <a:lnSpc>
                          <a:spcPts val="3745"/>
                        </a:lnSpc>
                      </a:pPr>
                      <a:r>
                        <a:rPr dirty="0" sz="3200" spc="-25">
                          <a:latin typeface="Calibri"/>
                          <a:cs typeface="Calibri"/>
                        </a:rPr>
                        <a:t>300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495934">
                <a:tc>
                  <a:txBody>
                    <a:bodyPr/>
                    <a:lstStyle/>
                    <a:p>
                      <a:pPr marL="307340">
                        <a:lnSpc>
                          <a:spcPts val="3745"/>
                        </a:lnSpc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4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50875">
                        <a:lnSpc>
                          <a:spcPts val="3745"/>
                        </a:lnSpc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d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7630">
                        <a:lnSpc>
                          <a:spcPts val="3745"/>
                        </a:lnSpc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v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7945">
                        <a:lnSpc>
                          <a:spcPts val="3745"/>
                        </a:lnSpc>
                      </a:pPr>
                      <a:r>
                        <a:rPr dirty="0" sz="3200" spc="-25">
                          <a:latin typeface="Calibri"/>
                          <a:cs typeface="Calibri"/>
                        </a:rPr>
                        <a:t>400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88340" y="1545081"/>
            <a:ext cx="5969000" cy="42170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500" spc="-30">
                <a:latin typeface="Calibri"/>
                <a:cs typeface="Calibri"/>
              </a:rPr>
              <a:t>CREATE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or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REPLACE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TRIGGER</a:t>
            </a:r>
            <a:endParaRPr sz="25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500">
                <a:latin typeface="Calibri"/>
                <a:cs typeface="Calibri"/>
              </a:rPr>
              <a:t>BEFORE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 spc="-30">
                <a:latin typeface="Calibri"/>
                <a:cs typeface="Calibri"/>
              </a:rPr>
              <a:t>UPDATE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OF</a:t>
            </a:r>
            <a:r>
              <a:rPr dirty="0" sz="2500" spc="-9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unit_price</a:t>
            </a:r>
            <a:endParaRPr sz="25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500">
                <a:latin typeface="Calibri"/>
                <a:cs typeface="Calibri"/>
              </a:rPr>
              <a:t>ON </a:t>
            </a:r>
            <a:r>
              <a:rPr dirty="0" sz="2500" spc="-10">
                <a:latin typeface="Calibri"/>
                <a:cs typeface="Calibri"/>
              </a:rPr>
              <a:t>product</a:t>
            </a:r>
            <a:endParaRPr sz="25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500">
                <a:latin typeface="Calibri"/>
                <a:cs typeface="Calibri"/>
              </a:rPr>
              <a:t>FOR</a:t>
            </a:r>
            <a:r>
              <a:rPr dirty="0" sz="2500" spc="-8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EACH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 spc="-25">
                <a:latin typeface="Calibri"/>
                <a:cs typeface="Calibri"/>
              </a:rPr>
              <a:t>ROW</a:t>
            </a:r>
            <a:endParaRPr sz="25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500" spc="-10">
                <a:latin typeface="Calibri"/>
                <a:cs typeface="Calibri"/>
              </a:rPr>
              <a:t>BEGIN</a:t>
            </a:r>
            <a:endParaRPr sz="25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500">
                <a:latin typeface="Calibri"/>
                <a:cs typeface="Calibri"/>
              </a:rPr>
              <a:t>INSERT</a:t>
            </a:r>
            <a:r>
              <a:rPr dirty="0" sz="2500" spc="-8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INTO</a:t>
            </a:r>
            <a:r>
              <a:rPr dirty="0" sz="2500" spc="-9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product_price_history</a:t>
            </a:r>
            <a:r>
              <a:rPr dirty="0" sz="2500" spc="-8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VALUES</a:t>
            </a:r>
            <a:endParaRPr sz="25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500" spc="-10">
                <a:latin typeface="Calibri"/>
                <a:cs typeface="Calibri"/>
              </a:rPr>
              <a:t>(:old.product_id,</a:t>
            </a:r>
            <a:endParaRPr sz="2500">
              <a:latin typeface="Calibri"/>
              <a:cs typeface="Calibri"/>
            </a:endParaRPr>
          </a:p>
          <a:p>
            <a:pPr marL="427355" indent="-414655">
              <a:lnSpc>
                <a:spcPct val="100000"/>
              </a:lnSpc>
              <a:buFont typeface="Arial MT"/>
              <a:buChar char="•"/>
              <a:tabLst>
                <a:tab pos="427355" algn="l"/>
              </a:tabLst>
            </a:pPr>
            <a:r>
              <a:rPr dirty="0" sz="2500" spc="-10">
                <a:latin typeface="Calibri"/>
                <a:cs typeface="Calibri"/>
              </a:rPr>
              <a:t>:old.product_name,</a:t>
            </a:r>
            <a:endParaRPr sz="25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500" spc="-10">
                <a:latin typeface="Calibri"/>
                <a:cs typeface="Calibri"/>
              </a:rPr>
              <a:t>:old.supplier_name,</a:t>
            </a:r>
            <a:endParaRPr sz="25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500" spc="-10">
                <a:latin typeface="Calibri"/>
                <a:cs typeface="Calibri"/>
              </a:rPr>
              <a:t>:old.unit_price);</a:t>
            </a:r>
            <a:endParaRPr sz="2500">
              <a:latin typeface="Calibri"/>
              <a:cs typeface="Calibri"/>
            </a:endParaRPr>
          </a:p>
          <a:p>
            <a:pPr marL="427355" indent="-414655">
              <a:lnSpc>
                <a:spcPct val="100000"/>
              </a:lnSpc>
              <a:buFont typeface="Arial MT"/>
              <a:buChar char="•"/>
              <a:tabLst>
                <a:tab pos="427355" algn="l"/>
              </a:tabLst>
            </a:pPr>
            <a:r>
              <a:rPr dirty="0" sz="2500" spc="-20">
                <a:latin typeface="Calibri"/>
                <a:cs typeface="Calibri"/>
              </a:rPr>
              <a:t>END;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88340" y="1607261"/>
            <a:ext cx="10682605" cy="3343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>
                <a:latin typeface="Calibri"/>
                <a:cs typeface="Calibri"/>
              </a:rPr>
              <a:t>Lets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update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price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product.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70"/>
              </a:spcBef>
              <a:buFont typeface="Arial MT"/>
              <a:buChar char="•"/>
            </a:pP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 spc="-35">
                <a:latin typeface="Calibri"/>
                <a:cs typeface="Calibri"/>
              </a:rPr>
              <a:t>UPDATE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PRODUCT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SET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unit_price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=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800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WHERE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product_id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=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50">
                <a:latin typeface="Calibri"/>
                <a:cs typeface="Calibri"/>
              </a:rPr>
              <a:t>1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70"/>
              </a:spcBef>
              <a:buFont typeface="Arial MT"/>
              <a:buChar char="•"/>
            </a:pPr>
            <a:endParaRPr sz="3200">
              <a:latin typeface="Calibri"/>
              <a:cs typeface="Calibri"/>
            </a:endParaRPr>
          </a:p>
          <a:p>
            <a:pPr marL="355600" marR="762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Once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above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update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query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executed,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trigger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fires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and </a:t>
            </a:r>
            <a:r>
              <a:rPr dirty="0" sz="3200">
                <a:latin typeface="Calibri"/>
                <a:cs typeface="Calibri"/>
              </a:rPr>
              <a:t>updates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'product_price_history'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table.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88340" y="1607261"/>
            <a:ext cx="402336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>
                <a:latin typeface="Calibri"/>
                <a:cs typeface="Calibri"/>
              </a:rPr>
              <a:t>select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*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from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product;</a:t>
            </a:r>
            <a:endParaRPr sz="3200">
              <a:latin typeface="Calibri"/>
              <a:cs typeface="Calibri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669290" y="2829623"/>
          <a:ext cx="5848985" cy="30302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"/>
                <a:gridCol w="987425"/>
                <a:gridCol w="1203959"/>
                <a:gridCol w="1208404"/>
                <a:gridCol w="1090929"/>
                <a:gridCol w="1008379"/>
              </a:tblGrid>
              <a:tr h="493395">
                <a:tc>
                  <a:txBody>
                    <a:bodyPr/>
                    <a:lstStyle/>
                    <a:p>
                      <a:pPr marL="31750">
                        <a:lnSpc>
                          <a:spcPts val="3540"/>
                        </a:lnSpc>
                      </a:pPr>
                      <a:r>
                        <a:rPr dirty="0" sz="3200" spc="-50">
                          <a:latin typeface="Arial MT"/>
                          <a:cs typeface="Arial MT"/>
                        </a:rPr>
                        <a:t>•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3540"/>
                        </a:lnSpc>
                      </a:pPr>
                      <a:r>
                        <a:rPr dirty="0" sz="3200" spc="-20">
                          <a:latin typeface="Calibri"/>
                          <a:cs typeface="Calibri"/>
                        </a:rPr>
                        <a:t>o/p: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552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200" spc="-50">
                          <a:latin typeface="Arial MT"/>
                          <a:cs typeface="Arial MT"/>
                        </a:rPr>
                        <a:t>•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PRODUCT_ID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PRODUCT_NAME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7302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SUPPLIER_NAME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UNIT_PRICE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5835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3200" spc="-50">
                          <a:latin typeface="Arial MT"/>
                          <a:cs typeface="Arial MT"/>
                        </a:rPr>
                        <a:t>•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B="0" marT="17780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1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7780"/>
                </a:tc>
                <a:tc>
                  <a:txBody>
                    <a:bodyPr/>
                    <a:lstStyle/>
                    <a:p>
                      <a:pPr algn="ctr" marL="20574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a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7780"/>
                </a:tc>
                <a:tc>
                  <a:txBody>
                    <a:bodyPr/>
                    <a:lstStyle/>
                    <a:p>
                      <a:pPr algn="r" marR="6096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s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77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794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3200" spc="-25">
                          <a:latin typeface="Calibri"/>
                          <a:cs typeface="Calibri"/>
                        </a:rPr>
                        <a:t>800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7780"/>
                </a:tc>
              </a:tr>
              <a:tr h="5848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3200" spc="-50">
                          <a:latin typeface="Arial MT"/>
                          <a:cs typeface="Arial MT"/>
                        </a:rPr>
                        <a:t>•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2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60706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b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r" marR="6540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t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239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3200" spc="-25">
                          <a:latin typeface="Calibri"/>
                          <a:cs typeface="Calibri"/>
                        </a:rPr>
                        <a:t>200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9050"/>
                </a:tc>
              </a:tr>
              <a:tr h="5854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3200" spc="-50">
                          <a:latin typeface="Arial MT"/>
                          <a:cs typeface="Arial MT"/>
                        </a:rPr>
                        <a:t>•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B="0" marT="19685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3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9685"/>
                </a:tc>
                <a:tc>
                  <a:txBody>
                    <a:bodyPr/>
                    <a:lstStyle/>
                    <a:p>
                      <a:pPr algn="ctr" marL="1847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c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9685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u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968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556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3200" spc="-25">
                          <a:latin typeface="Calibri"/>
                          <a:cs typeface="Calibri"/>
                        </a:rPr>
                        <a:t>300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9685"/>
                </a:tc>
              </a:tr>
              <a:tr h="52768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3200" spc="-50">
                          <a:latin typeface="Arial MT"/>
                          <a:cs typeface="Arial MT"/>
                        </a:rPr>
                        <a:t>•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B="0" marT="19685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4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9685"/>
                </a:tc>
                <a:tc>
                  <a:txBody>
                    <a:bodyPr/>
                    <a:lstStyle/>
                    <a:p>
                      <a:pPr marL="60706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d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9685"/>
                </a:tc>
                <a:tc>
                  <a:txBody>
                    <a:bodyPr/>
                    <a:lstStyle/>
                    <a:p>
                      <a:pPr algn="r" marR="1778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v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968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3200" spc="-25">
                          <a:latin typeface="Calibri"/>
                          <a:cs typeface="Calibri"/>
                        </a:rPr>
                        <a:t>400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9685"/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88340" y="1607261"/>
            <a:ext cx="647700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>
                <a:latin typeface="Calibri"/>
                <a:cs typeface="Calibri"/>
              </a:rPr>
              <a:t>select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*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from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product_price_history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50">
                <a:latin typeface="Calibri"/>
                <a:cs typeface="Calibri"/>
              </a:rPr>
              <a:t>;</a:t>
            </a:r>
            <a:endParaRPr sz="3200">
              <a:latin typeface="Calibri"/>
              <a:cs typeface="Calibri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669290" y="2829623"/>
          <a:ext cx="9448165" cy="1347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6365"/>
                <a:gridCol w="1640205"/>
                <a:gridCol w="4163695"/>
                <a:gridCol w="2169159"/>
              </a:tblGrid>
              <a:tr h="515620">
                <a:tc>
                  <a:txBody>
                    <a:bodyPr/>
                    <a:lstStyle/>
                    <a:p>
                      <a:pPr marL="374015" indent="-342265">
                        <a:lnSpc>
                          <a:spcPts val="3540"/>
                        </a:lnSpc>
                        <a:buFont typeface="Arial MT"/>
                        <a:buChar char="•"/>
                        <a:tabLst>
                          <a:tab pos="374015" algn="l"/>
                        </a:tabLst>
                      </a:pPr>
                      <a:r>
                        <a:rPr dirty="0" sz="3200" spc="-20">
                          <a:latin typeface="Calibri"/>
                          <a:cs typeface="Calibri"/>
                        </a:rPr>
                        <a:t>o/p: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31850">
                <a:tc>
                  <a:txBody>
                    <a:bodyPr/>
                    <a:lstStyle/>
                    <a:p>
                      <a:pPr marL="215900">
                        <a:lnSpc>
                          <a:spcPts val="1880"/>
                        </a:lnSpc>
                      </a:pPr>
                      <a:r>
                        <a:rPr dirty="0" sz="1600" spc="-10">
                          <a:latin typeface="Calibri"/>
                          <a:cs typeface="Calibri"/>
                        </a:rPr>
                        <a:t>PRODUCT_ID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743585" indent="-711835">
                        <a:lnSpc>
                          <a:spcPct val="100000"/>
                        </a:lnSpc>
                        <a:spcBef>
                          <a:spcPts val="670"/>
                        </a:spcBef>
                        <a:buFont typeface="Arial MT"/>
                        <a:buChar char="•"/>
                        <a:tabLst>
                          <a:tab pos="743585" algn="l"/>
                        </a:tabLst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1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1880"/>
                        </a:lnSpc>
                      </a:pPr>
                      <a:r>
                        <a:rPr dirty="0" sz="1600" spc="-10">
                          <a:latin typeface="Calibri"/>
                          <a:cs typeface="Calibri"/>
                        </a:rPr>
                        <a:t>PRODUCT_NAME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algn="r" marR="32067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a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ts val="1880"/>
                        </a:lnSpc>
                        <a:tabLst>
                          <a:tab pos="1657985" algn="l"/>
                        </a:tabLst>
                      </a:pPr>
                      <a:r>
                        <a:rPr dirty="0" sz="1600" spc="-10">
                          <a:latin typeface="Calibri"/>
                          <a:cs typeface="Calibri"/>
                        </a:rPr>
                        <a:t>SUPPLIER_NAME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UNIT_PRICE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algn="ctr" marL="60134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3200" spc="-50">
                          <a:latin typeface="Calibri"/>
                          <a:cs typeface="Calibri"/>
                        </a:rPr>
                        <a:t>s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2550"/>
                        </a:spcBef>
                      </a:pPr>
                      <a:r>
                        <a:rPr dirty="0" sz="3200" spc="-25">
                          <a:latin typeface="Calibri"/>
                          <a:cs typeface="Calibri"/>
                        </a:rPr>
                        <a:t>100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323850"/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21397" y="2850845"/>
            <a:ext cx="2964180" cy="84899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b="1">
                <a:latin typeface="Calibri"/>
                <a:cs typeface="Calibri"/>
              </a:rPr>
              <a:t>Thank</a:t>
            </a:r>
            <a:r>
              <a:rPr dirty="0" sz="5400" spc="-20" b="1">
                <a:latin typeface="Calibri"/>
                <a:cs typeface="Calibri"/>
              </a:rPr>
              <a:t> </a:t>
            </a:r>
            <a:r>
              <a:rPr dirty="0" sz="5400" spc="-120" b="1">
                <a:latin typeface="Calibri"/>
                <a:cs typeface="Calibri"/>
              </a:rPr>
              <a:t>You</a:t>
            </a:r>
            <a:endParaRPr sz="54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6638925" cy="6858000"/>
            <a:chOff x="0" y="0"/>
            <a:chExt cx="6638925" cy="6858000"/>
          </a:xfrm>
        </p:grpSpPr>
        <p:sp>
          <p:nvSpPr>
            <p:cNvPr id="4" name="object 4" descr=""/>
            <p:cNvSpPr/>
            <p:nvPr/>
          </p:nvSpPr>
          <p:spPr>
            <a:xfrm>
              <a:off x="0" y="0"/>
              <a:ext cx="1495425" cy="6858000"/>
            </a:xfrm>
            <a:custGeom>
              <a:avLst/>
              <a:gdLst/>
              <a:ahLst/>
              <a:cxnLst/>
              <a:rect l="l" t="t" r="r" b="b"/>
              <a:pathLst>
                <a:path w="1495425" h="6858000">
                  <a:moveTo>
                    <a:pt x="14950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495044" y="6858000"/>
                  </a:lnTo>
                  <a:lnTo>
                    <a:pt x="1495044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5092" y="376440"/>
              <a:ext cx="6283452" cy="6291072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496823" y="391668"/>
              <a:ext cx="6009640" cy="6017260"/>
            </a:xfrm>
            <a:custGeom>
              <a:avLst/>
              <a:gdLst/>
              <a:ahLst/>
              <a:cxnLst/>
              <a:rect l="l" t="t" r="r" b="b"/>
              <a:pathLst>
                <a:path w="6009640" h="6017260">
                  <a:moveTo>
                    <a:pt x="6009132" y="0"/>
                  </a:moveTo>
                  <a:lnTo>
                    <a:pt x="0" y="0"/>
                  </a:lnTo>
                  <a:lnTo>
                    <a:pt x="0" y="6016752"/>
                  </a:lnTo>
                  <a:lnTo>
                    <a:pt x="6009132" y="6016752"/>
                  </a:lnTo>
                  <a:lnTo>
                    <a:pt x="60091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125" y="1236477"/>
              <a:ext cx="4344507" cy="4346861"/>
            </a:xfrm>
            <a:prstGeom prst="rect">
              <a:avLst/>
            </a:prstGeom>
          </p:spPr>
        </p:pic>
      </p:grpSp>
      <p:sp>
        <p:nvSpPr>
          <p:cNvPr id="8" name="object 8" descr=""/>
          <p:cNvSpPr/>
          <p:nvPr/>
        </p:nvSpPr>
        <p:spPr>
          <a:xfrm>
            <a:off x="11460480" y="2985516"/>
            <a:ext cx="196850" cy="673735"/>
          </a:xfrm>
          <a:custGeom>
            <a:avLst/>
            <a:gdLst/>
            <a:ahLst/>
            <a:cxnLst/>
            <a:rect l="l" t="t" r="r" b="b"/>
            <a:pathLst>
              <a:path w="196850" h="673735">
                <a:moveTo>
                  <a:pt x="196596" y="0"/>
                </a:moveTo>
                <a:lnTo>
                  <a:pt x="0" y="0"/>
                </a:lnTo>
                <a:lnTo>
                  <a:pt x="0" y="673608"/>
                </a:lnTo>
                <a:lnTo>
                  <a:pt x="196596" y="673608"/>
                </a:lnTo>
                <a:lnTo>
                  <a:pt x="196596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1728704" y="2985516"/>
            <a:ext cx="195580" cy="673735"/>
          </a:xfrm>
          <a:custGeom>
            <a:avLst/>
            <a:gdLst/>
            <a:ahLst/>
            <a:cxnLst/>
            <a:rect l="l" t="t" r="r" b="b"/>
            <a:pathLst>
              <a:path w="195579" h="673735">
                <a:moveTo>
                  <a:pt x="195072" y="0"/>
                </a:moveTo>
                <a:lnTo>
                  <a:pt x="0" y="0"/>
                </a:lnTo>
                <a:lnTo>
                  <a:pt x="0" y="673608"/>
                </a:lnTo>
                <a:lnTo>
                  <a:pt x="195072" y="673608"/>
                </a:lnTo>
                <a:lnTo>
                  <a:pt x="195072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1995404" y="2985516"/>
            <a:ext cx="196850" cy="673735"/>
          </a:xfrm>
          <a:custGeom>
            <a:avLst/>
            <a:gdLst/>
            <a:ahLst/>
            <a:cxnLst/>
            <a:rect l="l" t="t" r="r" b="b"/>
            <a:pathLst>
              <a:path w="196850" h="673735">
                <a:moveTo>
                  <a:pt x="196596" y="0"/>
                </a:moveTo>
                <a:lnTo>
                  <a:pt x="0" y="0"/>
                </a:lnTo>
                <a:lnTo>
                  <a:pt x="0" y="673608"/>
                </a:lnTo>
                <a:lnTo>
                  <a:pt x="196596" y="673608"/>
                </a:lnTo>
                <a:lnTo>
                  <a:pt x="196596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Rohini Desai</dc:creator>
  <dc:title>Database Management  Systems</dc:title>
  <dcterms:created xsi:type="dcterms:W3CDTF">2026-05-27T07:02:48Z</dcterms:created>
  <dcterms:modified xsi:type="dcterms:W3CDTF">2026-05-27T07:02:48Z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2022-06-27T00:00:00Z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2026-05-27T00:00:00Z</vt:filetime>
  </property>
  <property fmtid="{D5CDD505-2E9C-101B-9397-08002B2CF9AE}" pid="5" name="Producer">
    <vt:lpwstr>Microsoft® PowerPoint® for Microsoft 365</vt:lpwstr>
  </property>
</Properties>
</file>