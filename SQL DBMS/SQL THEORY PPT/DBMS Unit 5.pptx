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60997" y="927938"/>
            <a:ext cx="4020820" cy="1924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119936" y="1869581"/>
            <a:ext cx="4140200" cy="4462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745985" y="2176652"/>
            <a:ext cx="4676775" cy="3905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8228"/>
            <a:ext cx="10358120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10001885" cy="329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6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6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6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3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3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4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13.jp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13.jp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4.jp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3" Type="http://schemas.openxmlformats.org/officeDocument/2006/relationships/image" Target="../media/image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12007" y="370331"/>
              <a:ext cx="5923915" cy="5923915"/>
            </a:xfrm>
            <a:custGeom>
              <a:avLst/>
              <a:gdLst/>
              <a:ahLst/>
              <a:cxnLst/>
              <a:rect l="l" t="t" r="r" b="b"/>
              <a:pathLst>
                <a:path w="5923915" h="5923915">
                  <a:moveTo>
                    <a:pt x="2961894" y="0"/>
                  </a:moveTo>
                  <a:lnTo>
                    <a:pt x="2913399" y="389"/>
                  </a:lnTo>
                  <a:lnTo>
                    <a:pt x="2865092" y="1552"/>
                  </a:lnTo>
                  <a:lnTo>
                    <a:pt x="2816979" y="3483"/>
                  </a:lnTo>
                  <a:lnTo>
                    <a:pt x="2769066" y="6176"/>
                  </a:lnTo>
                  <a:lnTo>
                    <a:pt x="2721359" y="9626"/>
                  </a:lnTo>
                  <a:lnTo>
                    <a:pt x="2673863" y="13826"/>
                  </a:lnTo>
                  <a:lnTo>
                    <a:pt x="2626585" y="18771"/>
                  </a:lnTo>
                  <a:lnTo>
                    <a:pt x="2579531" y="24454"/>
                  </a:lnTo>
                  <a:lnTo>
                    <a:pt x="2532706" y="30870"/>
                  </a:lnTo>
                  <a:lnTo>
                    <a:pt x="2486117" y="38013"/>
                  </a:lnTo>
                  <a:lnTo>
                    <a:pt x="2439768" y="45876"/>
                  </a:lnTo>
                  <a:lnTo>
                    <a:pt x="2393667" y="54455"/>
                  </a:lnTo>
                  <a:lnTo>
                    <a:pt x="2347820" y="63742"/>
                  </a:lnTo>
                  <a:lnTo>
                    <a:pt x="2302231" y="73732"/>
                  </a:lnTo>
                  <a:lnTo>
                    <a:pt x="2256907" y="84420"/>
                  </a:lnTo>
                  <a:lnTo>
                    <a:pt x="2211855" y="95799"/>
                  </a:lnTo>
                  <a:lnTo>
                    <a:pt x="2167079" y="107863"/>
                  </a:lnTo>
                  <a:lnTo>
                    <a:pt x="2122585" y="120606"/>
                  </a:lnTo>
                  <a:lnTo>
                    <a:pt x="2078381" y="134023"/>
                  </a:lnTo>
                  <a:lnTo>
                    <a:pt x="2034471" y="148107"/>
                  </a:lnTo>
                  <a:lnTo>
                    <a:pt x="1990861" y="162853"/>
                  </a:lnTo>
                  <a:lnTo>
                    <a:pt x="1947558" y="178255"/>
                  </a:lnTo>
                  <a:lnTo>
                    <a:pt x="1904568" y="194306"/>
                  </a:lnTo>
                  <a:lnTo>
                    <a:pt x="1861895" y="211001"/>
                  </a:lnTo>
                  <a:lnTo>
                    <a:pt x="1819547" y="228334"/>
                  </a:lnTo>
                  <a:lnTo>
                    <a:pt x="1777529" y="246300"/>
                  </a:lnTo>
                  <a:lnTo>
                    <a:pt x="1735847" y="264891"/>
                  </a:lnTo>
                  <a:lnTo>
                    <a:pt x="1694507" y="284102"/>
                  </a:lnTo>
                  <a:lnTo>
                    <a:pt x="1653514" y="303928"/>
                  </a:lnTo>
                  <a:lnTo>
                    <a:pt x="1612876" y="324362"/>
                  </a:lnTo>
                  <a:lnTo>
                    <a:pt x="1572597" y="345398"/>
                  </a:lnTo>
                  <a:lnTo>
                    <a:pt x="1532684" y="367031"/>
                  </a:lnTo>
                  <a:lnTo>
                    <a:pt x="1493142" y="389255"/>
                  </a:lnTo>
                  <a:lnTo>
                    <a:pt x="1453978" y="412063"/>
                  </a:lnTo>
                  <a:lnTo>
                    <a:pt x="1415197" y="435450"/>
                  </a:lnTo>
                  <a:lnTo>
                    <a:pt x="1376806" y="459410"/>
                  </a:lnTo>
                  <a:lnTo>
                    <a:pt x="1338810" y="483936"/>
                  </a:lnTo>
                  <a:lnTo>
                    <a:pt x="1301215" y="509024"/>
                  </a:lnTo>
                  <a:lnTo>
                    <a:pt x="1264027" y="534666"/>
                  </a:lnTo>
                  <a:lnTo>
                    <a:pt x="1227252" y="560858"/>
                  </a:lnTo>
                  <a:lnTo>
                    <a:pt x="1190895" y="587593"/>
                  </a:lnTo>
                  <a:lnTo>
                    <a:pt x="1154964" y="614865"/>
                  </a:lnTo>
                  <a:lnTo>
                    <a:pt x="1119463" y="642669"/>
                  </a:lnTo>
                  <a:lnTo>
                    <a:pt x="1084400" y="670998"/>
                  </a:lnTo>
                  <a:lnTo>
                    <a:pt x="1049778" y="699847"/>
                  </a:lnTo>
                  <a:lnTo>
                    <a:pt x="1015605" y="729209"/>
                  </a:lnTo>
                  <a:lnTo>
                    <a:pt x="981887" y="759079"/>
                  </a:lnTo>
                  <a:lnTo>
                    <a:pt x="948629" y="789451"/>
                  </a:lnTo>
                  <a:lnTo>
                    <a:pt x="915837" y="820318"/>
                  </a:lnTo>
                  <a:lnTo>
                    <a:pt x="883517" y="851676"/>
                  </a:lnTo>
                  <a:lnTo>
                    <a:pt x="851676" y="883517"/>
                  </a:lnTo>
                  <a:lnTo>
                    <a:pt x="820318" y="915837"/>
                  </a:lnTo>
                  <a:lnTo>
                    <a:pt x="789451" y="948629"/>
                  </a:lnTo>
                  <a:lnTo>
                    <a:pt x="759079" y="981887"/>
                  </a:lnTo>
                  <a:lnTo>
                    <a:pt x="729209" y="1015605"/>
                  </a:lnTo>
                  <a:lnTo>
                    <a:pt x="699847" y="1049778"/>
                  </a:lnTo>
                  <a:lnTo>
                    <a:pt x="670998" y="1084400"/>
                  </a:lnTo>
                  <a:lnTo>
                    <a:pt x="642669" y="1119463"/>
                  </a:lnTo>
                  <a:lnTo>
                    <a:pt x="614865" y="1154964"/>
                  </a:lnTo>
                  <a:lnTo>
                    <a:pt x="587593" y="1190895"/>
                  </a:lnTo>
                  <a:lnTo>
                    <a:pt x="560858" y="1227252"/>
                  </a:lnTo>
                  <a:lnTo>
                    <a:pt x="534666" y="1264027"/>
                  </a:lnTo>
                  <a:lnTo>
                    <a:pt x="509024" y="1301215"/>
                  </a:lnTo>
                  <a:lnTo>
                    <a:pt x="483936" y="1338810"/>
                  </a:lnTo>
                  <a:lnTo>
                    <a:pt x="459410" y="1376806"/>
                  </a:lnTo>
                  <a:lnTo>
                    <a:pt x="435450" y="1415197"/>
                  </a:lnTo>
                  <a:lnTo>
                    <a:pt x="412063" y="1453978"/>
                  </a:lnTo>
                  <a:lnTo>
                    <a:pt x="389255" y="1493142"/>
                  </a:lnTo>
                  <a:lnTo>
                    <a:pt x="367031" y="1532684"/>
                  </a:lnTo>
                  <a:lnTo>
                    <a:pt x="345398" y="1572597"/>
                  </a:lnTo>
                  <a:lnTo>
                    <a:pt x="324362" y="1612876"/>
                  </a:lnTo>
                  <a:lnTo>
                    <a:pt x="303928" y="1653514"/>
                  </a:lnTo>
                  <a:lnTo>
                    <a:pt x="284102" y="1694507"/>
                  </a:lnTo>
                  <a:lnTo>
                    <a:pt x="264891" y="1735847"/>
                  </a:lnTo>
                  <a:lnTo>
                    <a:pt x="246300" y="1777529"/>
                  </a:lnTo>
                  <a:lnTo>
                    <a:pt x="228334" y="1819547"/>
                  </a:lnTo>
                  <a:lnTo>
                    <a:pt x="211001" y="1861895"/>
                  </a:lnTo>
                  <a:lnTo>
                    <a:pt x="194306" y="1904568"/>
                  </a:lnTo>
                  <a:lnTo>
                    <a:pt x="178255" y="1947558"/>
                  </a:lnTo>
                  <a:lnTo>
                    <a:pt x="162853" y="1990861"/>
                  </a:lnTo>
                  <a:lnTo>
                    <a:pt x="148107" y="2034471"/>
                  </a:lnTo>
                  <a:lnTo>
                    <a:pt x="134023" y="2078381"/>
                  </a:lnTo>
                  <a:lnTo>
                    <a:pt x="120606" y="2122585"/>
                  </a:lnTo>
                  <a:lnTo>
                    <a:pt x="107863" y="2167079"/>
                  </a:lnTo>
                  <a:lnTo>
                    <a:pt x="95799" y="2211855"/>
                  </a:lnTo>
                  <a:lnTo>
                    <a:pt x="84420" y="2256907"/>
                  </a:lnTo>
                  <a:lnTo>
                    <a:pt x="73732" y="2302231"/>
                  </a:lnTo>
                  <a:lnTo>
                    <a:pt x="63742" y="2347820"/>
                  </a:lnTo>
                  <a:lnTo>
                    <a:pt x="54455" y="2393667"/>
                  </a:lnTo>
                  <a:lnTo>
                    <a:pt x="45876" y="2439768"/>
                  </a:lnTo>
                  <a:lnTo>
                    <a:pt x="38013" y="2486117"/>
                  </a:lnTo>
                  <a:lnTo>
                    <a:pt x="30870" y="2532706"/>
                  </a:lnTo>
                  <a:lnTo>
                    <a:pt x="24454" y="2579531"/>
                  </a:lnTo>
                  <a:lnTo>
                    <a:pt x="18771" y="2626585"/>
                  </a:lnTo>
                  <a:lnTo>
                    <a:pt x="13826" y="2673863"/>
                  </a:lnTo>
                  <a:lnTo>
                    <a:pt x="9626" y="2721359"/>
                  </a:lnTo>
                  <a:lnTo>
                    <a:pt x="6176" y="2769066"/>
                  </a:lnTo>
                  <a:lnTo>
                    <a:pt x="3483" y="2816979"/>
                  </a:lnTo>
                  <a:lnTo>
                    <a:pt x="1552" y="2865092"/>
                  </a:lnTo>
                  <a:lnTo>
                    <a:pt x="389" y="2913399"/>
                  </a:lnTo>
                  <a:lnTo>
                    <a:pt x="0" y="2961893"/>
                  </a:lnTo>
                  <a:lnTo>
                    <a:pt x="389" y="3010388"/>
                  </a:lnTo>
                  <a:lnTo>
                    <a:pt x="1552" y="3058695"/>
                  </a:lnTo>
                  <a:lnTo>
                    <a:pt x="3483" y="3106808"/>
                  </a:lnTo>
                  <a:lnTo>
                    <a:pt x="6176" y="3154721"/>
                  </a:lnTo>
                  <a:lnTo>
                    <a:pt x="9626" y="3202428"/>
                  </a:lnTo>
                  <a:lnTo>
                    <a:pt x="13826" y="3249924"/>
                  </a:lnTo>
                  <a:lnTo>
                    <a:pt x="18771" y="3297202"/>
                  </a:lnTo>
                  <a:lnTo>
                    <a:pt x="24454" y="3344256"/>
                  </a:lnTo>
                  <a:lnTo>
                    <a:pt x="30870" y="3391081"/>
                  </a:lnTo>
                  <a:lnTo>
                    <a:pt x="38013" y="3437670"/>
                  </a:lnTo>
                  <a:lnTo>
                    <a:pt x="45876" y="3484019"/>
                  </a:lnTo>
                  <a:lnTo>
                    <a:pt x="54455" y="3530120"/>
                  </a:lnTo>
                  <a:lnTo>
                    <a:pt x="63742" y="3575967"/>
                  </a:lnTo>
                  <a:lnTo>
                    <a:pt x="73732" y="3621556"/>
                  </a:lnTo>
                  <a:lnTo>
                    <a:pt x="84420" y="3666880"/>
                  </a:lnTo>
                  <a:lnTo>
                    <a:pt x="95799" y="3711932"/>
                  </a:lnTo>
                  <a:lnTo>
                    <a:pt x="107863" y="3756708"/>
                  </a:lnTo>
                  <a:lnTo>
                    <a:pt x="120606" y="3801202"/>
                  </a:lnTo>
                  <a:lnTo>
                    <a:pt x="134023" y="3845406"/>
                  </a:lnTo>
                  <a:lnTo>
                    <a:pt x="148107" y="3889316"/>
                  </a:lnTo>
                  <a:lnTo>
                    <a:pt x="162853" y="3932926"/>
                  </a:lnTo>
                  <a:lnTo>
                    <a:pt x="178255" y="3976229"/>
                  </a:lnTo>
                  <a:lnTo>
                    <a:pt x="194306" y="4019219"/>
                  </a:lnTo>
                  <a:lnTo>
                    <a:pt x="211001" y="4061892"/>
                  </a:lnTo>
                  <a:lnTo>
                    <a:pt x="228334" y="4104240"/>
                  </a:lnTo>
                  <a:lnTo>
                    <a:pt x="246300" y="4146258"/>
                  </a:lnTo>
                  <a:lnTo>
                    <a:pt x="264891" y="4187940"/>
                  </a:lnTo>
                  <a:lnTo>
                    <a:pt x="284102" y="4229280"/>
                  </a:lnTo>
                  <a:lnTo>
                    <a:pt x="303928" y="4270273"/>
                  </a:lnTo>
                  <a:lnTo>
                    <a:pt x="324362" y="4310911"/>
                  </a:lnTo>
                  <a:lnTo>
                    <a:pt x="345398" y="4351190"/>
                  </a:lnTo>
                  <a:lnTo>
                    <a:pt x="367031" y="4391103"/>
                  </a:lnTo>
                  <a:lnTo>
                    <a:pt x="389255" y="4430645"/>
                  </a:lnTo>
                  <a:lnTo>
                    <a:pt x="412063" y="4469809"/>
                  </a:lnTo>
                  <a:lnTo>
                    <a:pt x="435450" y="4508590"/>
                  </a:lnTo>
                  <a:lnTo>
                    <a:pt x="459410" y="4546981"/>
                  </a:lnTo>
                  <a:lnTo>
                    <a:pt x="483936" y="4584977"/>
                  </a:lnTo>
                  <a:lnTo>
                    <a:pt x="509024" y="4622572"/>
                  </a:lnTo>
                  <a:lnTo>
                    <a:pt x="534666" y="4659760"/>
                  </a:lnTo>
                  <a:lnTo>
                    <a:pt x="560858" y="4696535"/>
                  </a:lnTo>
                  <a:lnTo>
                    <a:pt x="587593" y="4732892"/>
                  </a:lnTo>
                  <a:lnTo>
                    <a:pt x="614865" y="4768823"/>
                  </a:lnTo>
                  <a:lnTo>
                    <a:pt x="642669" y="4804324"/>
                  </a:lnTo>
                  <a:lnTo>
                    <a:pt x="670998" y="4839387"/>
                  </a:lnTo>
                  <a:lnTo>
                    <a:pt x="699847" y="4874009"/>
                  </a:lnTo>
                  <a:lnTo>
                    <a:pt x="729209" y="4908182"/>
                  </a:lnTo>
                  <a:lnTo>
                    <a:pt x="759079" y="4941900"/>
                  </a:lnTo>
                  <a:lnTo>
                    <a:pt x="789451" y="4975158"/>
                  </a:lnTo>
                  <a:lnTo>
                    <a:pt x="820318" y="5007950"/>
                  </a:lnTo>
                  <a:lnTo>
                    <a:pt x="851676" y="5040270"/>
                  </a:lnTo>
                  <a:lnTo>
                    <a:pt x="883517" y="5072111"/>
                  </a:lnTo>
                  <a:lnTo>
                    <a:pt x="915837" y="5103469"/>
                  </a:lnTo>
                  <a:lnTo>
                    <a:pt x="948629" y="5134336"/>
                  </a:lnTo>
                  <a:lnTo>
                    <a:pt x="981887" y="5164708"/>
                  </a:lnTo>
                  <a:lnTo>
                    <a:pt x="1015605" y="5194578"/>
                  </a:lnTo>
                  <a:lnTo>
                    <a:pt x="1049778" y="5223940"/>
                  </a:lnTo>
                  <a:lnTo>
                    <a:pt x="1084400" y="5252789"/>
                  </a:lnTo>
                  <a:lnTo>
                    <a:pt x="1119463" y="5281118"/>
                  </a:lnTo>
                  <a:lnTo>
                    <a:pt x="1154964" y="5308922"/>
                  </a:lnTo>
                  <a:lnTo>
                    <a:pt x="1190895" y="5336194"/>
                  </a:lnTo>
                  <a:lnTo>
                    <a:pt x="1227252" y="5362929"/>
                  </a:lnTo>
                  <a:lnTo>
                    <a:pt x="1264027" y="5389121"/>
                  </a:lnTo>
                  <a:lnTo>
                    <a:pt x="1301215" y="5414763"/>
                  </a:lnTo>
                  <a:lnTo>
                    <a:pt x="1338810" y="5439851"/>
                  </a:lnTo>
                  <a:lnTo>
                    <a:pt x="1376806" y="5464377"/>
                  </a:lnTo>
                  <a:lnTo>
                    <a:pt x="1415197" y="5488337"/>
                  </a:lnTo>
                  <a:lnTo>
                    <a:pt x="1453978" y="5511724"/>
                  </a:lnTo>
                  <a:lnTo>
                    <a:pt x="1493142" y="5534532"/>
                  </a:lnTo>
                  <a:lnTo>
                    <a:pt x="1532684" y="5556756"/>
                  </a:lnTo>
                  <a:lnTo>
                    <a:pt x="1572597" y="5578389"/>
                  </a:lnTo>
                  <a:lnTo>
                    <a:pt x="1612876" y="5599425"/>
                  </a:lnTo>
                  <a:lnTo>
                    <a:pt x="1653514" y="5619859"/>
                  </a:lnTo>
                  <a:lnTo>
                    <a:pt x="1694507" y="5639685"/>
                  </a:lnTo>
                  <a:lnTo>
                    <a:pt x="1735847" y="5658896"/>
                  </a:lnTo>
                  <a:lnTo>
                    <a:pt x="1777529" y="5677487"/>
                  </a:lnTo>
                  <a:lnTo>
                    <a:pt x="1819547" y="5695453"/>
                  </a:lnTo>
                  <a:lnTo>
                    <a:pt x="1861895" y="5712786"/>
                  </a:lnTo>
                  <a:lnTo>
                    <a:pt x="1904568" y="5729481"/>
                  </a:lnTo>
                  <a:lnTo>
                    <a:pt x="1947558" y="5745532"/>
                  </a:lnTo>
                  <a:lnTo>
                    <a:pt x="1990861" y="5760934"/>
                  </a:lnTo>
                  <a:lnTo>
                    <a:pt x="2034471" y="5775680"/>
                  </a:lnTo>
                  <a:lnTo>
                    <a:pt x="2078381" y="5789764"/>
                  </a:lnTo>
                  <a:lnTo>
                    <a:pt x="2122585" y="5803181"/>
                  </a:lnTo>
                  <a:lnTo>
                    <a:pt x="2167079" y="5815924"/>
                  </a:lnTo>
                  <a:lnTo>
                    <a:pt x="2211855" y="5827988"/>
                  </a:lnTo>
                  <a:lnTo>
                    <a:pt x="2256907" y="5839367"/>
                  </a:lnTo>
                  <a:lnTo>
                    <a:pt x="2302231" y="5850055"/>
                  </a:lnTo>
                  <a:lnTo>
                    <a:pt x="2347820" y="5860045"/>
                  </a:lnTo>
                  <a:lnTo>
                    <a:pt x="2393667" y="5869332"/>
                  </a:lnTo>
                  <a:lnTo>
                    <a:pt x="2439768" y="5877911"/>
                  </a:lnTo>
                  <a:lnTo>
                    <a:pt x="2486117" y="5885774"/>
                  </a:lnTo>
                  <a:lnTo>
                    <a:pt x="2532706" y="5892917"/>
                  </a:lnTo>
                  <a:lnTo>
                    <a:pt x="2579531" y="5899333"/>
                  </a:lnTo>
                  <a:lnTo>
                    <a:pt x="2626585" y="5905016"/>
                  </a:lnTo>
                  <a:lnTo>
                    <a:pt x="2673863" y="5909961"/>
                  </a:lnTo>
                  <a:lnTo>
                    <a:pt x="2721359" y="5914161"/>
                  </a:lnTo>
                  <a:lnTo>
                    <a:pt x="2769066" y="5917611"/>
                  </a:lnTo>
                  <a:lnTo>
                    <a:pt x="2816979" y="5920304"/>
                  </a:lnTo>
                  <a:lnTo>
                    <a:pt x="2865092" y="5922235"/>
                  </a:lnTo>
                  <a:lnTo>
                    <a:pt x="2913399" y="5923398"/>
                  </a:lnTo>
                  <a:lnTo>
                    <a:pt x="2961894" y="5923788"/>
                  </a:lnTo>
                  <a:lnTo>
                    <a:pt x="3010388" y="5923398"/>
                  </a:lnTo>
                  <a:lnTo>
                    <a:pt x="3058695" y="5922235"/>
                  </a:lnTo>
                  <a:lnTo>
                    <a:pt x="3106808" y="5920304"/>
                  </a:lnTo>
                  <a:lnTo>
                    <a:pt x="3154721" y="5917611"/>
                  </a:lnTo>
                  <a:lnTo>
                    <a:pt x="3202428" y="5914161"/>
                  </a:lnTo>
                  <a:lnTo>
                    <a:pt x="3249924" y="5909961"/>
                  </a:lnTo>
                  <a:lnTo>
                    <a:pt x="3297202" y="5905016"/>
                  </a:lnTo>
                  <a:lnTo>
                    <a:pt x="3344256" y="5899333"/>
                  </a:lnTo>
                  <a:lnTo>
                    <a:pt x="3391081" y="5892917"/>
                  </a:lnTo>
                  <a:lnTo>
                    <a:pt x="3437670" y="5885774"/>
                  </a:lnTo>
                  <a:lnTo>
                    <a:pt x="3484019" y="5877911"/>
                  </a:lnTo>
                  <a:lnTo>
                    <a:pt x="3530120" y="5869332"/>
                  </a:lnTo>
                  <a:lnTo>
                    <a:pt x="3575967" y="5860045"/>
                  </a:lnTo>
                  <a:lnTo>
                    <a:pt x="3621556" y="5850055"/>
                  </a:lnTo>
                  <a:lnTo>
                    <a:pt x="3666880" y="5839367"/>
                  </a:lnTo>
                  <a:lnTo>
                    <a:pt x="3711932" y="5827988"/>
                  </a:lnTo>
                  <a:lnTo>
                    <a:pt x="3756708" y="5815924"/>
                  </a:lnTo>
                  <a:lnTo>
                    <a:pt x="3801202" y="5803181"/>
                  </a:lnTo>
                  <a:lnTo>
                    <a:pt x="3845406" y="5789764"/>
                  </a:lnTo>
                  <a:lnTo>
                    <a:pt x="3889316" y="5775680"/>
                  </a:lnTo>
                  <a:lnTo>
                    <a:pt x="3932926" y="5760934"/>
                  </a:lnTo>
                  <a:lnTo>
                    <a:pt x="3976229" y="5745532"/>
                  </a:lnTo>
                  <a:lnTo>
                    <a:pt x="4019219" y="5729481"/>
                  </a:lnTo>
                  <a:lnTo>
                    <a:pt x="4061892" y="5712786"/>
                  </a:lnTo>
                  <a:lnTo>
                    <a:pt x="4104240" y="5695453"/>
                  </a:lnTo>
                  <a:lnTo>
                    <a:pt x="4146258" y="5677487"/>
                  </a:lnTo>
                  <a:lnTo>
                    <a:pt x="4187940" y="5658896"/>
                  </a:lnTo>
                  <a:lnTo>
                    <a:pt x="4229280" y="5639685"/>
                  </a:lnTo>
                  <a:lnTo>
                    <a:pt x="4270273" y="5619859"/>
                  </a:lnTo>
                  <a:lnTo>
                    <a:pt x="4310911" y="5599425"/>
                  </a:lnTo>
                  <a:lnTo>
                    <a:pt x="4351190" y="5578389"/>
                  </a:lnTo>
                  <a:lnTo>
                    <a:pt x="4391103" y="5556756"/>
                  </a:lnTo>
                  <a:lnTo>
                    <a:pt x="4430645" y="5534532"/>
                  </a:lnTo>
                  <a:lnTo>
                    <a:pt x="4469809" y="5511724"/>
                  </a:lnTo>
                  <a:lnTo>
                    <a:pt x="4508590" y="5488337"/>
                  </a:lnTo>
                  <a:lnTo>
                    <a:pt x="4546981" y="5464377"/>
                  </a:lnTo>
                  <a:lnTo>
                    <a:pt x="4584977" y="5439851"/>
                  </a:lnTo>
                  <a:lnTo>
                    <a:pt x="4622572" y="5414763"/>
                  </a:lnTo>
                  <a:lnTo>
                    <a:pt x="4659760" y="5389121"/>
                  </a:lnTo>
                  <a:lnTo>
                    <a:pt x="4696535" y="5362929"/>
                  </a:lnTo>
                  <a:lnTo>
                    <a:pt x="4732892" y="5336194"/>
                  </a:lnTo>
                  <a:lnTo>
                    <a:pt x="4768823" y="5308922"/>
                  </a:lnTo>
                  <a:lnTo>
                    <a:pt x="4804324" y="5281118"/>
                  </a:lnTo>
                  <a:lnTo>
                    <a:pt x="4839387" y="5252789"/>
                  </a:lnTo>
                  <a:lnTo>
                    <a:pt x="4874009" y="5223940"/>
                  </a:lnTo>
                  <a:lnTo>
                    <a:pt x="4908182" y="5194578"/>
                  </a:lnTo>
                  <a:lnTo>
                    <a:pt x="4941900" y="5164708"/>
                  </a:lnTo>
                  <a:lnTo>
                    <a:pt x="4975158" y="5134336"/>
                  </a:lnTo>
                  <a:lnTo>
                    <a:pt x="5007950" y="5103469"/>
                  </a:lnTo>
                  <a:lnTo>
                    <a:pt x="5040270" y="5072111"/>
                  </a:lnTo>
                  <a:lnTo>
                    <a:pt x="5072111" y="5040270"/>
                  </a:lnTo>
                  <a:lnTo>
                    <a:pt x="5103469" y="5007950"/>
                  </a:lnTo>
                  <a:lnTo>
                    <a:pt x="5134336" y="4975158"/>
                  </a:lnTo>
                  <a:lnTo>
                    <a:pt x="5164708" y="4941900"/>
                  </a:lnTo>
                  <a:lnTo>
                    <a:pt x="5194578" y="4908182"/>
                  </a:lnTo>
                  <a:lnTo>
                    <a:pt x="5223940" y="4874009"/>
                  </a:lnTo>
                  <a:lnTo>
                    <a:pt x="5252789" y="4839387"/>
                  </a:lnTo>
                  <a:lnTo>
                    <a:pt x="5281118" y="4804324"/>
                  </a:lnTo>
                  <a:lnTo>
                    <a:pt x="5308922" y="4768823"/>
                  </a:lnTo>
                  <a:lnTo>
                    <a:pt x="5336194" y="4732892"/>
                  </a:lnTo>
                  <a:lnTo>
                    <a:pt x="5362929" y="4696535"/>
                  </a:lnTo>
                  <a:lnTo>
                    <a:pt x="5389121" y="4659760"/>
                  </a:lnTo>
                  <a:lnTo>
                    <a:pt x="5414763" y="4622572"/>
                  </a:lnTo>
                  <a:lnTo>
                    <a:pt x="5439851" y="4584977"/>
                  </a:lnTo>
                  <a:lnTo>
                    <a:pt x="5464377" y="4546981"/>
                  </a:lnTo>
                  <a:lnTo>
                    <a:pt x="5488337" y="4508590"/>
                  </a:lnTo>
                  <a:lnTo>
                    <a:pt x="5511724" y="4469809"/>
                  </a:lnTo>
                  <a:lnTo>
                    <a:pt x="5534532" y="4430645"/>
                  </a:lnTo>
                  <a:lnTo>
                    <a:pt x="5556756" y="4391103"/>
                  </a:lnTo>
                  <a:lnTo>
                    <a:pt x="5578389" y="4351190"/>
                  </a:lnTo>
                  <a:lnTo>
                    <a:pt x="5599425" y="4310911"/>
                  </a:lnTo>
                  <a:lnTo>
                    <a:pt x="5619859" y="4270273"/>
                  </a:lnTo>
                  <a:lnTo>
                    <a:pt x="5639685" y="4229280"/>
                  </a:lnTo>
                  <a:lnTo>
                    <a:pt x="5658896" y="4187940"/>
                  </a:lnTo>
                  <a:lnTo>
                    <a:pt x="5677487" y="4146258"/>
                  </a:lnTo>
                  <a:lnTo>
                    <a:pt x="5695453" y="4104240"/>
                  </a:lnTo>
                  <a:lnTo>
                    <a:pt x="5712786" y="4061892"/>
                  </a:lnTo>
                  <a:lnTo>
                    <a:pt x="5729481" y="4019219"/>
                  </a:lnTo>
                  <a:lnTo>
                    <a:pt x="5745532" y="3976229"/>
                  </a:lnTo>
                  <a:lnTo>
                    <a:pt x="5760934" y="3932926"/>
                  </a:lnTo>
                  <a:lnTo>
                    <a:pt x="5775680" y="3889316"/>
                  </a:lnTo>
                  <a:lnTo>
                    <a:pt x="5789764" y="3845406"/>
                  </a:lnTo>
                  <a:lnTo>
                    <a:pt x="5803181" y="3801202"/>
                  </a:lnTo>
                  <a:lnTo>
                    <a:pt x="5815924" y="3756708"/>
                  </a:lnTo>
                  <a:lnTo>
                    <a:pt x="5827988" y="3711932"/>
                  </a:lnTo>
                  <a:lnTo>
                    <a:pt x="5839367" y="3666880"/>
                  </a:lnTo>
                  <a:lnTo>
                    <a:pt x="5850055" y="3621556"/>
                  </a:lnTo>
                  <a:lnTo>
                    <a:pt x="5860045" y="3575967"/>
                  </a:lnTo>
                  <a:lnTo>
                    <a:pt x="5869332" y="3530120"/>
                  </a:lnTo>
                  <a:lnTo>
                    <a:pt x="5877911" y="3484019"/>
                  </a:lnTo>
                  <a:lnTo>
                    <a:pt x="5885774" y="3437670"/>
                  </a:lnTo>
                  <a:lnTo>
                    <a:pt x="5892917" y="3391081"/>
                  </a:lnTo>
                  <a:lnTo>
                    <a:pt x="5899333" y="3344256"/>
                  </a:lnTo>
                  <a:lnTo>
                    <a:pt x="5905016" y="3297202"/>
                  </a:lnTo>
                  <a:lnTo>
                    <a:pt x="5909961" y="3249924"/>
                  </a:lnTo>
                  <a:lnTo>
                    <a:pt x="5914161" y="3202428"/>
                  </a:lnTo>
                  <a:lnTo>
                    <a:pt x="5917611" y="3154721"/>
                  </a:lnTo>
                  <a:lnTo>
                    <a:pt x="5920304" y="3106808"/>
                  </a:lnTo>
                  <a:lnTo>
                    <a:pt x="5922235" y="3058695"/>
                  </a:lnTo>
                  <a:lnTo>
                    <a:pt x="5923398" y="3010388"/>
                  </a:lnTo>
                  <a:lnTo>
                    <a:pt x="5923788" y="2961893"/>
                  </a:lnTo>
                  <a:lnTo>
                    <a:pt x="5923398" y="2913399"/>
                  </a:lnTo>
                  <a:lnTo>
                    <a:pt x="5922235" y="2865092"/>
                  </a:lnTo>
                  <a:lnTo>
                    <a:pt x="5920304" y="2816979"/>
                  </a:lnTo>
                  <a:lnTo>
                    <a:pt x="5917611" y="2769066"/>
                  </a:lnTo>
                  <a:lnTo>
                    <a:pt x="5914161" y="2721359"/>
                  </a:lnTo>
                  <a:lnTo>
                    <a:pt x="5909961" y="2673863"/>
                  </a:lnTo>
                  <a:lnTo>
                    <a:pt x="5905016" y="2626585"/>
                  </a:lnTo>
                  <a:lnTo>
                    <a:pt x="5899333" y="2579531"/>
                  </a:lnTo>
                  <a:lnTo>
                    <a:pt x="5892917" y="2532706"/>
                  </a:lnTo>
                  <a:lnTo>
                    <a:pt x="5885774" y="2486117"/>
                  </a:lnTo>
                  <a:lnTo>
                    <a:pt x="5877911" y="2439768"/>
                  </a:lnTo>
                  <a:lnTo>
                    <a:pt x="5869332" y="2393667"/>
                  </a:lnTo>
                  <a:lnTo>
                    <a:pt x="5860045" y="2347820"/>
                  </a:lnTo>
                  <a:lnTo>
                    <a:pt x="5850055" y="2302231"/>
                  </a:lnTo>
                  <a:lnTo>
                    <a:pt x="5839367" y="2256907"/>
                  </a:lnTo>
                  <a:lnTo>
                    <a:pt x="5827988" y="2211855"/>
                  </a:lnTo>
                  <a:lnTo>
                    <a:pt x="5815924" y="2167079"/>
                  </a:lnTo>
                  <a:lnTo>
                    <a:pt x="5803181" y="2122585"/>
                  </a:lnTo>
                  <a:lnTo>
                    <a:pt x="5789764" y="2078381"/>
                  </a:lnTo>
                  <a:lnTo>
                    <a:pt x="5775680" y="2034471"/>
                  </a:lnTo>
                  <a:lnTo>
                    <a:pt x="5760934" y="1990861"/>
                  </a:lnTo>
                  <a:lnTo>
                    <a:pt x="5745532" y="1947558"/>
                  </a:lnTo>
                  <a:lnTo>
                    <a:pt x="5729481" y="1904568"/>
                  </a:lnTo>
                  <a:lnTo>
                    <a:pt x="5712786" y="1861895"/>
                  </a:lnTo>
                  <a:lnTo>
                    <a:pt x="5695453" y="1819547"/>
                  </a:lnTo>
                  <a:lnTo>
                    <a:pt x="5677487" y="1777529"/>
                  </a:lnTo>
                  <a:lnTo>
                    <a:pt x="5658896" y="1735847"/>
                  </a:lnTo>
                  <a:lnTo>
                    <a:pt x="5639685" y="1694507"/>
                  </a:lnTo>
                  <a:lnTo>
                    <a:pt x="5619859" y="1653514"/>
                  </a:lnTo>
                  <a:lnTo>
                    <a:pt x="5599425" y="1612876"/>
                  </a:lnTo>
                  <a:lnTo>
                    <a:pt x="5578389" y="1572597"/>
                  </a:lnTo>
                  <a:lnTo>
                    <a:pt x="5556756" y="1532684"/>
                  </a:lnTo>
                  <a:lnTo>
                    <a:pt x="5534532" y="1493142"/>
                  </a:lnTo>
                  <a:lnTo>
                    <a:pt x="5511724" y="1453978"/>
                  </a:lnTo>
                  <a:lnTo>
                    <a:pt x="5488337" y="1415197"/>
                  </a:lnTo>
                  <a:lnTo>
                    <a:pt x="5464377" y="1376806"/>
                  </a:lnTo>
                  <a:lnTo>
                    <a:pt x="5439851" y="1338810"/>
                  </a:lnTo>
                  <a:lnTo>
                    <a:pt x="5414763" y="1301215"/>
                  </a:lnTo>
                  <a:lnTo>
                    <a:pt x="5389121" y="1264027"/>
                  </a:lnTo>
                  <a:lnTo>
                    <a:pt x="5362929" y="1227252"/>
                  </a:lnTo>
                  <a:lnTo>
                    <a:pt x="5336194" y="1190895"/>
                  </a:lnTo>
                  <a:lnTo>
                    <a:pt x="5308922" y="1154964"/>
                  </a:lnTo>
                  <a:lnTo>
                    <a:pt x="5281118" y="1119463"/>
                  </a:lnTo>
                  <a:lnTo>
                    <a:pt x="5252789" y="1084400"/>
                  </a:lnTo>
                  <a:lnTo>
                    <a:pt x="5223940" y="1049778"/>
                  </a:lnTo>
                  <a:lnTo>
                    <a:pt x="5194578" y="1015605"/>
                  </a:lnTo>
                  <a:lnTo>
                    <a:pt x="5164708" y="981887"/>
                  </a:lnTo>
                  <a:lnTo>
                    <a:pt x="5134336" y="948629"/>
                  </a:lnTo>
                  <a:lnTo>
                    <a:pt x="5103469" y="915837"/>
                  </a:lnTo>
                  <a:lnTo>
                    <a:pt x="5072111" y="883517"/>
                  </a:lnTo>
                  <a:lnTo>
                    <a:pt x="5040270" y="851676"/>
                  </a:lnTo>
                  <a:lnTo>
                    <a:pt x="5007950" y="820318"/>
                  </a:lnTo>
                  <a:lnTo>
                    <a:pt x="4975158" y="789451"/>
                  </a:lnTo>
                  <a:lnTo>
                    <a:pt x="4941900" y="759079"/>
                  </a:lnTo>
                  <a:lnTo>
                    <a:pt x="4908182" y="729209"/>
                  </a:lnTo>
                  <a:lnTo>
                    <a:pt x="4874009" y="699847"/>
                  </a:lnTo>
                  <a:lnTo>
                    <a:pt x="4839387" y="670998"/>
                  </a:lnTo>
                  <a:lnTo>
                    <a:pt x="4804324" y="642669"/>
                  </a:lnTo>
                  <a:lnTo>
                    <a:pt x="4768823" y="614865"/>
                  </a:lnTo>
                  <a:lnTo>
                    <a:pt x="4732892" y="587593"/>
                  </a:lnTo>
                  <a:lnTo>
                    <a:pt x="4696535" y="560858"/>
                  </a:lnTo>
                  <a:lnTo>
                    <a:pt x="4659760" y="534666"/>
                  </a:lnTo>
                  <a:lnTo>
                    <a:pt x="4622572" y="509024"/>
                  </a:lnTo>
                  <a:lnTo>
                    <a:pt x="4584977" y="483936"/>
                  </a:lnTo>
                  <a:lnTo>
                    <a:pt x="4546981" y="459410"/>
                  </a:lnTo>
                  <a:lnTo>
                    <a:pt x="4508590" y="435450"/>
                  </a:lnTo>
                  <a:lnTo>
                    <a:pt x="4469809" y="412063"/>
                  </a:lnTo>
                  <a:lnTo>
                    <a:pt x="4430645" y="389255"/>
                  </a:lnTo>
                  <a:lnTo>
                    <a:pt x="4391103" y="367031"/>
                  </a:lnTo>
                  <a:lnTo>
                    <a:pt x="4351190" y="345398"/>
                  </a:lnTo>
                  <a:lnTo>
                    <a:pt x="4310911" y="324362"/>
                  </a:lnTo>
                  <a:lnTo>
                    <a:pt x="4270273" y="303928"/>
                  </a:lnTo>
                  <a:lnTo>
                    <a:pt x="4229280" y="284102"/>
                  </a:lnTo>
                  <a:lnTo>
                    <a:pt x="4187940" y="264891"/>
                  </a:lnTo>
                  <a:lnTo>
                    <a:pt x="4146258" y="246300"/>
                  </a:lnTo>
                  <a:lnTo>
                    <a:pt x="4104240" y="228334"/>
                  </a:lnTo>
                  <a:lnTo>
                    <a:pt x="4061892" y="211001"/>
                  </a:lnTo>
                  <a:lnTo>
                    <a:pt x="4019219" y="194306"/>
                  </a:lnTo>
                  <a:lnTo>
                    <a:pt x="3976229" y="178255"/>
                  </a:lnTo>
                  <a:lnTo>
                    <a:pt x="3932926" y="162853"/>
                  </a:lnTo>
                  <a:lnTo>
                    <a:pt x="3889316" y="148107"/>
                  </a:lnTo>
                  <a:lnTo>
                    <a:pt x="3845406" y="134023"/>
                  </a:lnTo>
                  <a:lnTo>
                    <a:pt x="3801202" y="120606"/>
                  </a:lnTo>
                  <a:lnTo>
                    <a:pt x="3756708" y="107863"/>
                  </a:lnTo>
                  <a:lnTo>
                    <a:pt x="3711932" y="95799"/>
                  </a:lnTo>
                  <a:lnTo>
                    <a:pt x="3666880" y="84420"/>
                  </a:lnTo>
                  <a:lnTo>
                    <a:pt x="3621556" y="73732"/>
                  </a:lnTo>
                  <a:lnTo>
                    <a:pt x="3575967" y="63742"/>
                  </a:lnTo>
                  <a:lnTo>
                    <a:pt x="3530120" y="54455"/>
                  </a:lnTo>
                  <a:lnTo>
                    <a:pt x="3484019" y="45876"/>
                  </a:lnTo>
                  <a:lnTo>
                    <a:pt x="3437670" y="38013"/>
                  </a:lnTo>
                  <a:lnTo>
                    <a:pt x="3391081" y="30870"/>
                  </a:lnTo>
                  <a:lnTo>
                    <a:pt x="3344256" y="24454"/>
                  </a:lnTo>
                  <a:lnTo>
                    <a:pt x="3297202" y="18771"/>
                  </a:lnTo>
                  <a:lnTo>
                    <a:pt x="3249924" y="13826"/>
                  </a:lnTo>
                  <a:lnTo>
                    <a:pt x="3202428" y="9626"/>
                  </a:lnTo>
                  <a:lnTo>
                    <a:pt x="3154721" y="6176"/>
                  </a:lnTo>
                  <a:lnTo>
                    <a:pt x="3106808" y="3483"/>
                  </a:lnTo>
                  <a:lnTo>
                    <a:pt x="3058695" y="1552"/>
                  </a:lnTo>
                  <a:lnTo>
                    <a:pt x="3010388" y="389"/>
                  </a:lnTo>
                  <a:lnTo>
                    <a:pt x="2961894" y="0"/>
                  </a:lnTo>
                  <a:close/>
                </a:path>
              </a:pathLst>
            </a:custGeom>
            <a:solidFill>
              <a:srgbClr val="FFFF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042153" y="2119325"/>
            <a:ext cx="2115820" cy="1764030"/>
          </a:xfrm>
          <a:prstGeom prst="rect"/>
        </p:spPr>
        <p:txBody>
          <a:bodyPr wrap="square" lIns="0" tIns="116205" rIns="0" bIns="0" rtlCol="0" vert="horz">
            <a:spAutoFit/>
          </a:bodyPr>
          <a:lstStyle/>
          <a:p>
            <a:pPr marL="17145" marR="5080" indent="-5080">
              <a:lnSpc>
                <a:spcPts val="6480"/>
              </a:lnSpc>
              <a:spcBef>
                <a:spcPts val="915"/>
              </a:spcBef>
            </a:pPr>
            <a:r>
              <a:rPr dirty="0" sz="6000"/>
              <a:t>UNIT</a:t>
            </a:r>
            <a:r>
              <a:rPr dirty="0" sz="6000" spc="-250"/>
              <a:t> </a:t>
            </a:r>
            <a:r>
              <a:rPr dirty="0" sz="6000" spc="-50"/>
              <a:t>V </a:t>
            </a:r>
            <a:r>
              <a:rPr dirty="0" sz="6000" spc="-70"/>
              <a:t>PL-</a:t>
            </a:r>
            <a:r>
              <a:rPr dirty="0" sz="6000" spc="-25"/>
              <a:t>SQL</a:t>
            </a:r>
            <a:endParaRPr sz="6000"/>
          </a:p>
        </p:txBody>
      </p:sp>
      <p:grpSp>
        <p:nvGrpSpPr>
          <p:cNvPr id="6" name="object 6"/>
          <p:cNvGrpSpPr/>
          <p:nvPr/>
        </p:nvGrpSpPr>
        <p:grpSpPr>
          <a:xfrm>
            <a:off x="2543822" y="236854"/>
            <a:ext cx="6483350" cy="5222240"/>
            <a:chOff x="2543822" y="236854"/>
            <a:chExt cx="6483350" cy="5222240"/>
          </a:xfrm>
        </p:grpSpPr>
        <p:sp>
          <p:nvSpPr>
            <p:cNvPr id="7" name="object 7"/>
            <p:cNvSpPr/>
            <p:nvPr/>
          </p:nvSpPr>
          <p:spPr>
            <a:xfrm>
              <a:off x="2607322" y="300354"/>
              <a:ext cx="2028189" cy="3348990"/>
            </a:xfrm>
            <a:custGeom>
              <a:avLst/>
              <a:gdLst/>
              <a:ahLst/>
              <a:cxnLst/>
              <a:rect l="l" t="t" r="r" b="b"/>
              <a:pathLst>
                <a:path w="2028189" h="3348990">
                  <a:moveTo>
                    <a:pt x="2028050" y="0"/>
                  </a:moveTo>
                  <a:lnTo>
                    <a:pt x="1983056" y="20312"/>
                  </a:lnTo>
                  <a:lnTo>
                    <a:pt x="1938464" y="41220"/>
                  </a:lnTo>
                  <a:lnTo>
                    <a:pt x="1894278" y="62717"/>
                  </a:lnTo>
                  <a:lnTo>
                    <a:pt x="1850503" y="84796"/>
                  </a:lnTo>
                  <a:lnTo>
                    <a:pt x="1807141" y="107452"/>
                  </a:lnTo>
                  <a:lnTo>
                    <a:pt x="1764196" y="130678"/>
                  </a:lnTo>
                  <a:lnTo>
                    <a:pt x="1721673" y="154469"/>
                  </a:lnTo>
                  <a:lnTo>
                    <a:pt x="1679574" y="178818"/>
                  </a:lnTo>
                  <a:lnTo>
                    <a:pt x="1637903" y="203720"/>
                  </a:lnTo>
                  <a:lnTo>
                    <a:pt x="1596664" y="229168"/>
                  </a:lnTo>
                  <a:lnTo>
                    <a:pt x="1555861" y="255156"/>
                  </a:lnTo>
                  <a:lnTo>
                    <a:pt x="1515497" y="281678"/>
                  </a:lnTo>
                  <a:lnTo>
                    <a:pt x="1475576" y="308728"/>
                  </a:lnTo>
                  <a:lnTo>
                    <a:pt x="1436101" y="336300"/>
                  </a:lnTo>
                  <a:lnTo>
                    <a:pt x="1397077" y="364388"/>
                  </a:lnTo>
                  <a:lnTo>
                    <a:pt x="1358507" y="392986"/>
                  </a:lnTo>
                  <a:lnTo>
                    <a:pt x="1320394" y="422088"/>
                  </a:lnTo>
                  <a:lnTo>
                    <a:pt x="1282742" y="451687"/>
                  </a:lnTo>
                  <a:lnTo>
                    <a:pt x="1245556" y="481778"/>
                  </a:lnTo>
                  <a:lnTo>
                    <a:pt x="1208838" y="512354"/>
                  </a:lnTo>
                  <a:lnTo>
                    <a:pt x="1172592" y="543410"/>
                  </a:lnTo>
                  <a:lnTo>
                    <a:pt x="1136822" y="574939"/>
                  </a:lnTo>
                  <a:lnTo>
                    <a:pt x="1101531" y="606936"/>
                  </a:lnTo>
                  <a:lnTo>
                    <a:pt x="1066724" y="639393"/>
                  </a:lnTo>
                  <a:lnTo>
                    <a:pt x="1032404" y="672306"/>
                  </a:lnTo>
                  <a:lnTo>
                    <a:pt x="998574" y="705668"/>
                  </a:lnTo>
                  <a:lnTo>
                    <a:pt x="965238" y="739473"/>
                  </a:lnTo>
                  <a:lnTo>
                    <a:pt x="932400" y="773715"/>
                  </a:lnTo>
                  <a:lnTo>
                    <a:pt x="900064" y="808387"/>
                  </a:lnTo>
                  <a:lnTo>
                    <a:pt x="868233" y="843485"/>
                  </a:lnTo>
                  <a:lnTo>
                    <a:pt x="836911" y="879001"/>
                  </a:lnTo>
                  <a:lnTo>
                    <a:pt x="806101" y="914930"/>
                  </a:lnTo>
                  <a:lnTo>
                    <a:pt x="775808" y="951265"/>
                  </a:lnTo>
                  <a:lnTo>
                    <a:pt x="746034" y="988001"/>
                  </a:lnTo>
                  <a:lnTo>
                    <a:pt x="716784" y="1025131"/>
                  </a:lnTo>
                  <a:lnTo>
                    <a:pt x="688061" y="1062650"/>
                  </a:lnTo>
                  <a:lnTo>
                    <a:pt x="659868" y="1100551"/>
                  </a:lnTo>
                  <a:lnTo>
                    <a:pt x="632210" y="1138828"/>
                  </a:lnTo>
                  <a:lnTo>
                    <a:pt x="605091" y="1177475"/>
                  </a:lnTo>
                  <a:lnTo>
                    <a:pt x="578513" y="1216486"/>
                  </a:lnTo>
                  <a:lnTo>
                    <a:pt x="552481" y="1255855"/>
                  </a:lnTo>
                  <a:lnTo>
                    <a:pt x="526997" y="1295576"/>
                  </a:lnTo>
                  <a:lnTo>
                    <a:pt x="502067" y="1335643"/>
                  </a:lnTo>
                  <a:lnTo>
                    <a:pt x="477693" y="1376049"/>
                  </a:lnTo>
                  <a:lnTo>
                    <a:pt x="453879" y="1416789"/>
                  </a:lnTo>
                  <a:lnTo>
                    <a:pt x="430629" y="1457857"/>
                  </a:lnTo>
                  <a:lnTo>
                    <a:pt x="407946" y="1499247"/>
                  </a:lnTo>
                  <a:lnTo>
                    <a:pt x="385835" y="1540951"/>
                  </a:lnTo>
                  <a:lnTo>
                    <a:pt x="364298" y="1582965"/>
                  </a:lnTo>
                  <a:lnTo>
                    <a:pt x="343340" y="1625283"/>
                  </a:lnTo>
                  <a:lnTo>
                    <a:pt x="322963" y="1667898"/>
                  </a:lnTo>
                  <a:lnTo>
                    <a:pt x="303173" y="1710803"/>
                  </a:lnTo>
                  <a:lnTo>
                    <a:pt x="283972" y="1753994"/>
                  </a:lnTo>
                  <a:lnTo>
                    <a:pt x="265364" y="1797464"/>
                  </a:lnTo>
                  <a:lnTo>
                    <a:pt x="247352" y="1841207"/>
                  </a:lnTo>
                  <a:lnTo>
                    <a:pt x="229942" y="1885217"/>
                  </a:lnTo>
                  <a:lnTo>
                    <a:pt x="213135" y="1929487"/>
                  </a:lnTo>
                  <a:lnTo>
                    <a:pt x="196936" y="1974012"/>
                  </a:lnTo>
                  <a:lnTo>
                    <a:pt x="181348" y="2018786"/>
                  </a:lnTo>
                  <a:lnTo>
                    <a:pt x="166375" y="2063802"/>
                  </a:lnTo>
                  <a:lnTo>
                    <a:pt x="152022" y="2109055"/>
                  </a:lnTo>
                  <a:lnTo>
                    <a:pt x="138290" y="2154538"/>
                  </a:lnTo>
                  <a:lnTo>
                    <a:pt x="125185" y="2200246"/>
                  </a:lnTo>
                  <a:lnTo>
                    <a:pt x="112709" y="2246172"/>
                  </a:lnTo>
                  <a:lnTo>
                    <a:pt x="100866" y="2292310"/>
                  </a:lnTo>
                  <a:lnTo>
                    <a:pt x="89661" y="2338654"/>
                  </a:lnTo>
                  <a:lnTo>
                    <a:pt x="79096" y="2385198"/>
                  </a:lnTo>
                  <a:lnTo>
                    <a:pt x="69176" y="2431936"/>
                  </a:lnTo>
                  <a:lnTo>
                    <a:pt x="59904" y="2478862"/>
                  </a:lnTo>
                  <a:lnTo>
                    <a:pt x="51283" y="2525970"/>
                  </a:lnTo>
                  <a:lnTo>
                    <a:pt x="43318" y="2573254"/>
                  </a:lnTo>
                  <a:lnTo>
                    <a:pt x="36011" y="2620707"/>
                  </a:lnTo>
                  <a:lnTo>
                    <a:pt x="29368" y="2668324"/>
                  </a:lnTo>
                  <a:lnTo>
                    <a:pt x="23391" y="2716098"/>
                  </a:lnTo>
                  <a:lnTo>
                    <a:pt x="18083" y="2764024"/>
                  </a:lnTo>
                  <a:lnTo>
                    <a:pt x="13450" y="2812095"/>
                  </a:lnTo>
                  <a:lnTo>
                    <a:pt x="9493" y="2860306"/>
                  </a:lnTo>
                  <a:lnTo>
                    <a:pt x="6218" y="2908649"/>
                  </a:lnTo>
                  <a:lnTo>
                    <a:pt x="3627" y="2957120"/>
                  </a:lnTo>
                  <a:lnTo>
                    <a:pt x="1725" y="3005712"/>
                  </a:lnTo>
                  <a:lnTo>
                    <a:pt x="514" y="3054419"/>
                  </a:lnTo>
                  <a:lnTo>
                    <a:pt x="0" y="3103235"/>
                  </a:lnTo>
                  <a:lnTo>
                    <a:pt x="184" y="3152154"/>
                  </a:lnTo>
                  <a:lnTo>
                    <a:pt x="1071" y="3201169"/>
                  </a:lnTo>
                  <a:lnTo>
                    <a:pt x="2665" y="3250275"/>
                  </a:lnTo>
                  <a:lnTo>
                    <a:pt x="4970" y="3299466"/>
                  </a:lnTo>
                  <a:lnTo>
                    <a:pt x="7988" y="3348736"/>
                  </a:lnTo>
                </a:path>
              </a:pathLst>
            </a:custGeom>
            <a:ln w="126999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153399" y="4610100"/>
              <a:ext cx="873760" cy="848994"/>
            </a:xfrm>
            <a:custGeom>
              <a:avLst/>
              <a:gdLst/>
              <a:ahLst/>
              <a:cxnLst/>
              <a:rect l="l" t="t" r="r" b="b"/>
              <a:pathLst>
                <a:path w="873759" h="848995">
                  <a:moveTo>
                    <a:pt x="436625" y="0"/>
                  </a:moveTo>
                  <a:lnTo>
                    <a:pt x="389045" y="2490"/>
                  </a:lnTo>
                  <a:lnTo>
                    <a:pt x="342950" y="9787"/>
                  </a:lnTo>
                  <a:lnTo>
                    <a:pt x="298606" y="21634"/>
                  </a:lnTo>
                  <a:lnTo>
                    <a:pt x="256280" y="37771"/>
                  </a:lnTo>
                  <a:lnTo>
                    <a:pt x="216238" y="57940"/>
                  </a:lnTo>
                  <a:lnTo>
                    <a:pt x="178746" y="81881"/>
                  </a:lnTo>
                  <a:lnTo>
                    <a:pt x="144071" y="109336"/>
                  </a:lnTo>
                  <a:lnTo>
                    <a:pt x="112478" y="140047"/>
                  </a:lnTo>
                  <a:lnTo>
                    <a:pt x="84234" y="173754"/>
                  </a:lnTo>
                  <a:lnTo>
                    <a:pt x="59605" y="210199"/>
                  </a:lnTo>
                  <a:lnTo>
                    <a:pt x="38857" y="249122"/>
                  </a:lnTo>
                  <a:lnTo>
                    <a:pt x="22256" y="290267"/>
                  </a:lnTo>
                  <a:lnTo>
                    <a:pt x="10069" y="333372"/>
                  </a:lnTo>
                  <a:lnTo>
                    <a:pt x="2561" y="378181"/>
                  </a:lnTo>
                  <a:lnTo>
                    <a:pt x="0" y="424433"/>
                  </a:lnTo>
                  <a:lnTo>
                    <a:pt x="2561" y="470686"/>
                  </a:lnTo>
                  <a:lnTo>
                    <a:pt x="10069" y="515495"/>
                  </a:lnTo>
                  <a:lnTo>
                    <a:pt x="22256" y="558600"/>
                  </a:lnTo>
                  <a:lnTo>
                    <a:pt x="38857" y="599745"/>
                  </a:lnTo>
                  <a:lnTo>
                    <a:pt x="59605" y="638668"/>
                  </a:lnTo>
                  <a:lnTo>
                    <a:pt x="84234" y="675113"/>
                  </a:lnTo>
                  <a:lnTo>
                    <a:pt x="112478" y="708820"/>
                  </a:lnTo>
                  <a:lnTo>
                    <a:pt x="144071" y="739531"/>
                  </a:lnTo>
                  <a:lnTo>
                    <a:pt x="178746" y="766986"/>
                  </a:lnTo>
                  <a:lnTo>
                    <a:pt x="216238" y="790927"/>
                  </a:lnTo>
                  <a:lnTo>
                    <a:pt x="256280" y="811096"/>
                  </a:lnTo>
                  <a:lnTo>
                    <a:pt x="298606" y="827233"/>
                  </a:lnTo>
                  <a:lnTo>
                    <a:pt x="342950" y="839080"/>
                  </a:lnTo>
                  <a:lnTo>
                    <a:pt x="389045" y="846377"/>
                  </a:lnTo>
                  <a:lnTo>
                    <a:pt x="436625" y="848868"/>
                  </a:lnTo>
                  <a:lnTo>
                    <a:pt x="484206" y="846377"/>
                  </a:lnTo>
                  <a:lnTo>
                    <a:pt x="530301" y="839080"/>
                  </a:lnTo>
                  <a:lnTo>
                    <a:pt x="574645" y="827233"/>
                  </a:lnTo>
                  <a:lnTo>
                    <a:pt x="616971" y="811096"/>
                  </a:lnTo>
                  <a:lnTo>
                    <a:pt x="657013" y="790927"/>
                  </a:lnTo>
                  <a:lnTo>
                    <a:pt x="694505" y="766986"/>
                  </a:lnTo>
                  <a:lnTo>
                    <a:pt x="729180" y="739531"/>
                  </a:lnTo>
                  <a:lnTo>
                    <a:pt x="760773" y="708820"/>
                  </a:lnTo>
                  <a:lnTo>
                    <a:pt x="789017" y="675113"/>
                  </a:lnTo>
                  <a:lnTo>
                    <a:pt x="813646" y="638668"/>
                  </a:lnTo>
                  <a:lnTo>
                    <a:pt x="834394" y="599745"/>
                  </a:lnTo>
                  <a:lnTo>
                    <a:pt x="850995" y="558600"/>
                  </a:lnTo>
                  <a:lnTo>
                    <a:pt x="863182" y="515495"/>
                  </a:lnTo>
                  <a:lnTo>
                    <a:pt x="870690" y="470686"/>
                  </a:lnTo>
                  <a:lnTo>
                    <a:pt x="873251" y="424433"/>
                  </a:lnTo>
                  <a:lnTo>
                    <a:pt x="870690" y="378181"/>
                  </a:lnTo>
                  <a:lnTo>
                    <a:pt x="863182" y="333372"/>
                  </a:lnTo>
                  <a:lnTo>
                    <a:pt x="850995" y="290267"/>
                  </a:lnTo>
                  <a:lnTo>
                    <a:pt x="834394" y="249122"/>
                  </a:lnTo>
                  <a:lnTo>
                    <a:pt x="813646" y="210199"/>
                  </a:lnTo>
                  <a:lnTo>
                    <a:pt x="789017" y="173754"/>
                  </a:lnTo>
                  <a:lnTo>
                    <a:pt x="760773" y="140047"/>
                  </a:lnTo>
                  <a:lnTo>
                    <a:pt x="729180" y="109336"/>
                  </a:lnTo>
                  <a:lnTo>
                    <a:pt x="694505" y="81881"/>
                  </a:lnTo>
                  <a:lnTo>
                    <a:pt x="657013" y="57940"/>
                  </a:lnTo>
                  <a:lnTo>
                    <a:pt x="616971" y="37771"/>
                  </a:lnTo>
                  <a:lnTo>
                    <a:pt x="574645" y="21634"/>
                  </a:lnTo>
                  <a:lnTo>
                    <a:pt x="530301" y="9787"/>
                  </a:lnTo>
                  <a:lnTo>
                    <a:pt x="484206" y="2490"/>
                  </a:lnTo>
                  <a:lnTo>
                    <a:pt x="43662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5759" y="2664968"/>
            <a:ext cx="3008630" cy="696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Calibri Light"/>
                <a:cs typeface="Calibri Light"/>
              </a:rPr>
              <a:t>Why</a:t>
            </a:r>
            <a:r>
              <a:rPr dirty="0" sz="4400" spc="-9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 spc="-10">
                <a:solidFill>
                  <a:srgbClr val="FFFFFF"/>
                </a:solidFill>
                <a:latin typeface="Calibri Light"/>
                <a:cs typeface="Calibri Light"/>
              </a:rPr>
              <a:t>PL/SQL?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526660" y="656082"/>
            <a:ext cx="6749415" cy="117792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1300" marR="5080" indent="-160020">
              <a:lnSpc>
                <a:spcPts val="2590"/>
              </a:lnSpc>
              <a:spcBef>
                <a:spcPts val="425"/>
              </a:spcBef>
            </a:pPr>
            <a:r>
              <a:rPr dirty="0" sz="2400">
                <a:latin typeface="Calibri"/>
                <a:cs typeface="Calibri"/>
              </a:rPr>
              <a:t>Though</a:t>
            </a:r>
            <a:r>
              <a:rPr dirty="0" sz="2400" spc="1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SQL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programming</a:t>
            </a:r>
            <a:r>
              <a:rPr dirty="0" sz="2400" spc="1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language,</a:t>
            </a:r>
            <a:r>
              <a:rPr dirty="0" sz="2400" spc="1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some </a:t>
            </a:r>
            <a:r>
              <a:rPr dirty="0" sz="2400" spc="-10">
                <a:latin typeface="Calibri"/>
                <a:cs typeface="Calibri"/>
              </a:rPr>
              <a:t>disadvantages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596265" algn="l"/>
                <a:tab pos="4345940" algn="l"/>
              </a:tabLst>
            </a:pPr>
            <a:r>
              <a:rPr dirty="0" sz="2400" spc="-25">
                <a:latin typeface="Calibri"/>
                <a:cs typeface="Calibri"/>
              </a:rPr>
              <a:t>1.</a:t>
            </a:r>
            <a:r>
              <a:rPr dirty="0" sz="2400">
                <a:latin typeface="Calibri"/>
                <a:cs typeface="Calibri"/>
              </a:rPr>
              <a:t>	Procedural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capabilities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:SQL</a:t>
            </a:r>
            <a:r>
              <a:rPr dirty="0" sz="2400">
                <a:latin typeface="Calibri"/>
                <a:cs typeface="Calibri"/>
              </a:rPr>
              <a:t>	does</a:t>
            </a:r>
            <a:r>
              <a:rPr dirty="0" sz="2400" spc="2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3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32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26660" y="1771650"/>
            <a:ext cx="6751320" cy="183515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just" marL="527685" marR="5715">
              <a:lnSpc>
                <a:spcPts val="2590"/>
              </a:lnSpc>
              <a:spcBef>
                <a:spcPts val="425"/>
              </a:spcBef>
            </a:pPr>
            <a:r>
              <a:rPr dirty="0" sz="2400">
                <a:latin typeface="Calibri"/>
                <a:cs typeface="Calibri"/>
              </a:rPr>
              <a:t>procedural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capabilities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i.e.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looping,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branching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that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8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must</a:t>
            </a:r>
            <a:r>
              <a:rPr dirty="0" sz="2400" spc="9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7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8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testing</a:t>
            </a:r>
            <a:r>
              <a:rPr dirty="0" sz="2400" spc="8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before</a:t>
            </a:r>
            <a:r>
              <a:rPr dirty="0" sz="2400" spc="8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80">
                <a:latin typeface="Calibri"/>
                <a:cs typeface="Calibri"/>
              </a:rPr>
              <a:t>  </a:t>
            </a:r>
            <a:r>
              <a:rPr dirty="0" sz="2400" spc="-10">
                <a:latin typeface="Calibri"/>
                <a:cs typeface="Calibri"/>
              </a:rPr>
              <a:t>permanent storage.</a:t>
            </a:r>
            <a:endParaRPr sz="2400">
              <a:latin typeface="Calibri"/>
              <a:cs typeface="Calibri"/>
            </a:endParaRPr>
          </a:p>
          <a:p>
            <a:pPr algn="just" marL="527685" marR="5080" indent="-515620">
              <a:lnSpc>
                <a:spcPts val="2590"/>
              </a:lnSpc>
              <a:spcBef>
                <a:spcPts val="1005"/>
              </a:spcBef>
            </a:pPr>
            <a:r>
              <a:rPr dirty="0" sz="2400">
                <a:latin typeface="Calibri"/>
                <a:cs typeface="Calibri"/>
              </a:rPr>
              <a:t>2.</a:t>
            </a:r>
            <a:r>
              <a:rPr dirty="0" sz="2400" spc="49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Speed</a:t>
            </a:r>
            <a:r>
              <a:rPr dirty="0" sz="2400" spc="50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5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50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processing</a:t>
            </a:r>
            <a:r>
              <a:rPr dirty="0" sz="2400" spc="5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:</a:t>
            </a:r>
            <a:r>
              <a:rPr dirty="0" sz="2400" spc="50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SQL</a:t>
            </a:r>
            <a:r>
              <a:rPr dirty="0" sz="2400" spc="50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statements</a:t>
            </a:r>
            <a:r>
              <a:rPr dirty="0" sz="2400" spc="50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are </a:t>
            </a:r>
            <a:r>
              <a:rPr dirty="0" sz="2400">
                <a:latin typeface="Calibri"/>
                <a:cs typeface="Calibri"/>
              </a:rPr>
              <a:t>passed</a:t>
            </a:r>
            <a:r>
              <a:rPr dirty="0" sz="2400" spc="3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3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3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Oracle</a:t>
            </a:r>
            <a:r>
              <a:rPr dirty="0" sz="2400" spc="3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Engine</a:t>
            </a:r>
            <a:r>
              <a:rPr dirty="0" sz="2400" spc="3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3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3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3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time.</a:t>
            </a:r>
            <a:r>
              <a:rPr dirty="0" sz="2400" spc="31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This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41772" y="3544011"/>
            <a:ext cx="6235700" cy="105029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algn="just" marL="12700" marR="5080">
              <a:lnSpc>
                <a:spcPct val="90000"/>
              </a:lnSpc>
              <a:spcBef>
                <a:spcPts val="390"/>
              </a:spcBef>
            </a:pPr>
            <a:r>
              <a:rPr dirty="0" sz="2400">
                <a:latin typeface="Calibri"/>
                <a:cs typeface="Calibri"/>
              </a:rPr>
              <a:t>adds</a:t>
            </a:r>
            <a:r>
              <a:rPr dirty="0" sz="2400" spc="229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229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23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traffic</a:t>
            </a:r>
            <a:r>
              <a:rPr dirty="0" sz="2400" spc="22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22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229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network,</a:t>
            </a:r>
            <a:r>
              <a:rPr dirty="0" sz="2400" spc="225">
                <a:latin typeface="Calibri"/>
                <a:cs typeface="Calibri"/>
              </a:rPr>
              <a:t>  </a:t>
            </a:r>
            <a:r>
              <a:rPr dirty="0" sz="2400" spc="-10">
                <a:latin typeface="Calibri"/>
                <a:cs typeface="Calibri"/>
              </a:rPr>
              <a:t>thereby </a:t>
            </a:r>
            <a:r>
              <a:rPr dirty="0" sz="2400">
                <a:latin typeface="Calibri"/>
                <a:cs typeface="Calibri"/>
              </a:rPr>
              <a:t>decreasing</a:t>
            </a:r>
            <a:r>
              <a:rPr dirty="0" sz="2400" spc="420">
                <a:latin typeface="Calibri"/>
                <a:cs typeface="Calibri"/>
              </a:rPr>
              <a:t>   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42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speed</a:t>
            </a:r>
            <a:r>
              <a:rPr dirty="0" sz="2400" spc="42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43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420">
                <a:latin typeface="Calibri"/>
                <a:cs typeface="Calibri"/>
              </a:rPr>
              <a:t>  </a:t>
            </a:r>
            <a:r>
              <a:rPr dirty="0" sz="2400" spc="-10">
                <a:latin typeface="Calibri"/>
                <a:cs typeface="Calibri"/>
              </a:rPr>
              <a:t>processing, </a:t>
            </a:r>
            <a:r>
              <a:rPr dirty="0" sz="2400">
                <a:latin typeface="Calibri"/>
                <a:cs typeface="Calibri"/>
              </a:rPr>
              <a:t>especially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multi-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environment.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6660" y="4658614"/>
            <a:ext cx="26631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7685" algn="l"/>
                <a:tab pos="1469390" algn="l"/>
              </a:tabLst>
            </a:pPr>
            <a:r>
              <a:rPr dirty="0" sz="2400" spc="-25">
                <a:latin typeface="Calibri"/>
                <a:cs typeface="Calibri"/>
              </a:rPr>
              <a:t>3.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Error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Handling: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82078" y="4658614"/>
            <a:ext cx="23806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2195" algn="l"/>
              </a:tabLst>
            </a:pPr>
            <a:r>
              <a:rPr dirty="0" sz="2400" spc="-10">
                <a:latin typeface="Calibri"/>
                <a:cs typeface="Calibri"/>
              </a:rPr>
              <a:t>While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processing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41772" y="4987797"/>
            <a:ext cx="46932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6365" algn="l"/>
                <a:tab pos="1743710" algn="l"/>
                <a:tab pos="2234565" algn="l"/>
                <a:tab pos="3045460" algn="l"/>
                <a:tab pos="4106545" algn="l"/>
              </a:tabLst>
            </a:pPr>
            <a:r>
              <a:rPr dirty="0" sz="2400" spc="-10">
                <a:latin typeface="Calibri"/>
                <a:cs typeface="Calibri"/>
              </a:rPr>
              <a:t>sentence,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if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an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error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occurs,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then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93300" y="4658614"/>
            <a:ext cx="1383030" cy="72072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 marR="5080" indent="259079">
              <a:lnSpc>
                <a:spcPts val="2590"/>
              </a:lnSpc>
              <a:spcBef>
                <a:spcPts val="425"/>
              </a:spcBef>
              <a:tabLst>
                <a:tab pos="611505" algn="l"/>
                <a:tab pos="894715" algn="l"/>
              </a:tabLst>
            </a:pPr>
            <a:r>
              <a:rPr dirty="0" sz="2400" spc="-25">
                <a:latin typeface="Calibri"/>
                <a:cs typeface="Calibri"/>
              </a:rPr>
              <a:t>an</a:t>
            </a:r>
            <a:r>
              <a:rPr dirty="0" sz="2400">
                <a:latin typeface="Calibri"/>
                <a:cs typeface="Calibri"/>
              </a:rPr>
              <a:t>		</a:t>
            </a:r>
            <a:r>
              <a:rPr dirty="0" sz="2400" spc="-25">
                <a:latin typeface="Calibri"/>
                <a:cs typeface="Calibri"/>
              </a:rPr>
              <a:t>SQL the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oracle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41772" y="5317337"/>
            <a:ext cx="6235700" cy="72072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dirty="0" sz="2400">
                <a:latin typeface="Calibri"/>
                <a:cs typeface="Calibri"/>
              </a:rPr>
              <a:t>engine</a:t>
            </a:r>
            <a:r>
              <a:rPr dirty="0" sz="2400" spc="2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displays</a:t>
            </a:r>
            <a:r>
              <a:rPr dirty="0" sz="2400" spc="2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2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own</a:t>
            </a:r>
            <a:r>
              <a:rPr dirty="0" sz="2400" spc="2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error</a:t>
            </a:r>
            <a:r>
              <a:rPr dirty="0" sz="2400" spc="2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messages.</a:t>
            </a:r>
            <a:r>
              <a:rPr dirty="0" sz="2400" spc="2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SQL</a:t>
            </a:r>
            <a:r>
              <a:rPr dirty="0" sz="2400" spc="2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has </a:t>
            </a:r>
            <a:r>
              <a:rPr dirty="0" sz="2400">
                <a:latin typeface="Calibri"/>
                <a:cs typeface="Calibri"/>
              </a:rPr>
              <a:t>no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facility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handling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errors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8423" y="2919806"/>
            <a:ext cx="401320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latin typeface="Calibri Light"/>
                <a:cs typeface="Calibri Light"/>
              </a:rPr>
              <a:t>What</a:t>
            </a:r>
            <a:r>
              <a:rPr dirty="0" sz="4800" spc="-95">
                <a:latin typeface="Calibri Light"/>
                <a:cs typeface="Calibri Light"/>
              </a:rPr>
              <a:t> </a:t>
            </a:r>
            <a:r>
              <a:rPr dirty="0" sz="4800">
                <a:latin typeface="Calibri Light"/>
                <a:cs typeface="Calibri Light"/>
              </a:rPr>
              <a:t>is</a:t>
            </a:r>
            <a:r>
              <a:rPr dirty="0" sz="4800" spc="-90">
                <a:latin typeface="Calibri Light"/>
                <a:cs typeface="Calibri Light"/>
              </a:rPr>
              <a:t> </a:t>
            </a:r>
            <a:r>
              <a:rPr dirty="0" sz="4800" spc="-10">
                <a:latin typeface="Calibri Light"/>
                <a:cs typeface="Calibri Light"/>
              </a:rPr>
              <a:t>PL/SQL?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7000" cy="6858000"/>
          </a:xfrm>
          <a:custGeom>
            <a:avLst/>
            <a:gdLst/>
            <a:ahLst/>
            <a:cxnLst/>
            <a:rect l="l" t="t" r="r" b="b"/>
            <a:pathLst>
              <a:path w="127000" h="6858000">
                <a:moveTo>
                  <a:pt x="126492" y="0"/>
                </a:moveTo>
                <a:lnTo>
                  <a:pt x="0" y="0"/>
                </a:lnTo>
                <a:lnTo>
                  <a:pt x="0" y="6858000"/>
                </a:lnTo>
                <a:lnTo>
                  <a:pt x="126492" y="6858000"/>
                </a:lnTo>
                <a:lnTo>
                  <a:pt x="12649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99047" y="644651"/>
            <a:ext cx="5257800" cy="1772920"/>
          </a:xfrm>
          <a:custGeom>
            <a:avLst/>
            <a:gdLst/>
            <a:ahLst/>
            <a:cxnLst/>
            <a:rect l="l" t="t" r="r" b="b"/>
            <a:pathLst>
              <a:path w="5257800" h="1772920">
                <a:moveTo>
                  <a:pt x="4962398" y="0"/>
                </a:moveTo>
                <a:lnTo>
                  <a:pt x="295401" y="0"/>
                </a:lnTo>
                <a:lnTo>
                  <a:pt x="247474" y="3864"/>
                </a:lnTo>
                <a:lnTo>
                  <a:pt x="202013" y="15055"/>
                </a:lnTo>
                <a:lnTo>
                  <a:pt x="159626" y="32962"/>
                </a:lnTo>
                <a:lnTo>
                  <a:pt x="120920" y="56981"/>
                </a:lnTo>
                <a:lnTo>
                  <a:pt x="86502" y="86502"/>
                </a:lnTo>
                <a:lnTo>
                  <a:pt x="56981" y="120920"/>
                </a:lnTo>
                <a:lnTo>
                  <a:pt x="32962" y="159626"/>
                </a:lnTo>
                <a:lnTo>
                  <a:pt x="15055" y="202013"/>
                </a:lnTo>
                <a:lnTo>
                  <a:pt x="3864" y="247474"/>
                </a:lnTo>
                <a:lnTo>
                  <a:pt x="0" y="295401"/>
                </a:lnTo>
                <a:lnTo>
                  <a:pt x="0" y="1477010"/>
                </a:lnTo>
                <a:lnTo>
                  <a:pt x="3864" y="1524937"/>
                </a:lnTo>
                <a:lnTo>
                  <a:pt x="15055" y="1570398"/>
                </a:lnTo>
                <a:lnTo>
                  <a:pt x="32962" y="1612785"/>
                </a:lnTo>
                <a:lnTo>
                  <a:pt x="56981" y="1651491"/>
                </a:lnTo>
                <a:lnTo>
                  <a:pt x="86502" y="1685909"/>
                </a:lnTo>
                <a:lnTo>
                  <a:pt x="120920" y="1715430"/>
                </a:lnTo>
                <a:lnTo>
                  <a:pt x="159626" y="1739449"/>
                </a:lnTo>
                <a:lnTo>
                  <a:pt x="202013" y="1757356"/>
                </a:lnTo>
                <a:lnTo>
                  <a:pt x="247474" y="1768547"/>
                </a:lnTo>
                <a:lnTo>
                  <a:pt x="295401" y="1772412"/>
                </a:lnTo>
                <a:lnTo>
                  <a:pt x="4962398" y="1772412"/>
                </a:lnTo>
                <a:lnTo>
                  <a:pt x="5010325" y="1768547"/>
                </a:lnTo>
                <a:lnTo>
                  <a:pt x="5055786" y="1757356"/>
                </a:lnTo>
                <a:lnTo>
                  <a:pt x="5098173" y="1739449"/>
                </a:lnTo>
                <a:lnTo>
                  <a:pt x="5136879" y="1715430"/>
                </a:lnTo>
                <a:lnTo>
                  <a:pt x="5171297" y="1685909"/>
                </a:lnTo>
                <a:lnTo>
                  <a:pt x="5200818" y="1651491"/>
                </a:lnTo>
                <a:lnTo>
                  <a:pt x="5224837" y="1612785"/>
                </a:lnTo>
                <a:lnTo>
                  <a:pt x="5242744" y="1570398"/>
                </a:lnTo>
                <a:lnTo>
                  <a:pt x="5253935" y="1524937"/>
                </a:lnTo>
                <a:lnTo>
                  <a:pt x="5257800" y="1477010"/>
                </a:lnTo>
                <a:lnTo>
                  <a:pt x="5257800" y="295401"/>
                </a:lnTo>
                <a:lnTo>
                  <a:pt x="5253935" y="247474"/>
                </a:lnTo>
                <a:lnTo>
                  <a:pt x="5242744" y="202013"/>
                </a:lnTo>
                <a:lnTo>
                  <a:pt x="5224837" y="159626"/>
                </a:lnTo>
                <a:lnTo>
                  <a:pt x="5200818" y="120920"/>
                </a:lnTo>
                <a:lnTo>
                  <a:pt x="5171297" y="86502"/>
                </a:lnTo>
                <a:lnTo>
                  <a:pt x="5136879" y="56981"/>
                </a:lnTo>
                <a:lnTo>
                  <a:pt x="5098173" y="32962"/>
                </a:lnTo>
                <a:lnTo>
                  <a:pt x="5055786" y="15055"/>
                </a:lnTo>
                <a:lnTo>
                  <a:pt x="5010325" y="3864"/>
                </a:lnTo>
                <a:lnTo>
                  <a:pt x="496239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68973" y="1115948"/>
            <a:ext cx="4364990" cy="75565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 marR="5080">
              <a:lnSpc>
                <a:spcPts val="2750"/>
              </a:lnSpc>
              <a:spcBef>
                <a:spcPts val="395"/>
              </a:spcBef>
            </a:pP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5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5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dirty="0" sz="25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suggests,</a:t>
            </a:r>
            <a:r>
              <a:rPr dirty="0" sz="25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PL/SQL</a:t>
            </a:r>
            <a:r>
              <a:rPr dirty="0" sz="2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5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5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2500" spc="-10" b="1">
                <a:solidFill>
                  <a:srgbClr val="FFFFFF"/>
                </a:solidFill>
                <a:latin typeface="Calibri"/>
                <a:cs typeface="Calibri"/>
              </a:rPr>
              <a:t>superset</a:t>
            </a:r>
            <a:r>
              <a:rPr dirty="0" sz="25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Calibri"/>
                <a:cs typeface="Calibri"/>
              </a:rPr>
              <a:t>SQL.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99047" y="2488692"/>
            <a:ext cx="5257800" cy="1771014"/>
          </a:xfrm>
          <a:custGeom>
            <a:avLst/>
            <a:gdLst/>
            <a:ahLst/>
            <a:cxnLst/>
            <a:rect l="l" t="t" r="r" b="b"/>
            <a:pathLst>
              <a:path w="5257800" h="1771014">
                <a:moveTo>
                  <a:pt x="4962652" y="0"/>
                </a:moveTo>
                <a:lnTo>
                  <a:pt x="295148" y="0"/>
                </a:lnTo>
                <a:lnTo>
                  <a:pt x="247289" y="3864"/>
                </a:lnTo>
                <a:lnTo>
                  <a:pt x="201883" y="15053"/>
                </a:lnTo>
                <a:lnTo>
                  <a:pt x="159539" y="32956"/>
                </a:lnTo>
                <a:lnTo>
                  <a:pt x="120865" y="56965"/>
                </a:lnTo>
                <a:lnTo>
                  <a:pt x="86471" y="86471"/>
                </a:lnTo>
                <a:lnTo>
                  <a:pt x="56965" y="120865"/>
                </a:lnTo>
                <a:lnTo>
                  <a:pt x="32956" y="159539"/>
                </a:lnTo>
                <a:lnTo>
                  <a:pt x="15053" y="201883"/>
                </a:lnTo>
                <a:lnTo>
                  <a:pt x="3864" y="247289"/>
                </a:lnTo>
                <a:lnTo>
                  <a:pt x="0" y="295148"/>
                </a:lnTo>
                <a:lnTo>
                  <a:pt x="0" y="1475740"/>
                </a:lnTo>
                <a:lnTo>
                  <a:pt x="3864" y="1523598"/>
                </a:lnTo>
                <a:lnTo>
                  <a:pt x="15053" y="1569004"/>
                </a:lnTo>
                <a:lnTo>
                  <a:pt x="32956" y="1611348"/>
                </a:lnTo>
                <a:lnTo>
                  <a:pt x="56965" y="1650022"/>
                </a:lnTo>
                <a:lnTo>
                  <a:pt x="86471" y="1684416"/>
                </a:lnTo>
                <a:lnTo>
                  <a:pt x="120865" y="1713922"/>
                </a:lnTo>
                <a:lnTo>
                  <a:pt x="159539" y="1737931"/>
                </a:lnTo>
                <a:lnTo>
                  <a:pt x="201883" y="1755834"/>
                </a:lnTo>
                <a:lnTo>
                  <a:pt x="247289" y="1767023"/>
                </a:lnTo>
                <a:lnTo>
                  <a:pt x="295148" y="1770888"/>
                </a:lnTo>
                <a:lnTo>
                  <a:pt x="4962652" y="1770888"/>
                </a:lnTo>
                <a:lnTo>
                  <a:pt x="5010510" y="1767023"/>
                </a:lnTo>
                <a:lnTo>
                  <a:pt x="5055916" y="1755834"/>
                </a:lnTo>
                <a:lnTo>
                  <a:pt x="5098260" y="1737931"/>
                </a:lnTo>
                <a:lnTo>
                  <a:pt x="5136934" y="1713922"/>
                </a:lnTo>
                <a:lnTo>
                  <a:pt x="5171328" y="1684416"/>
                </a:lnTo>
                <a:lnTo>
                  <a:pt x="5200834" y="1650022"/>
                </a:lnTo>
                <a:lnTo>
                  <a:pt x="5224843" y="1611348"/>
                </a:lnTo>
                <a:lnTo>
                  <a:pt x="5242746" y="1569004"/>
                </a:lnTo>
                <a:lnTo>
                  <a:pt x="5253935" y="1523598"/>
                </a:lnTo>
                <a:lnTo>
                  <a:pt x="5257800" y="1475740"/>
                </a:lnTo>
                <a:lnTo>
                  <a:pt x="5257800" y="295148"/>
                </a:lnTo>
                <a:lnTo>
                  <a:pt x="5253935" y="247289"/>
                </a:lnTo>
                <a:lnTo>
                  <a:pt x="5242746" y="201883"/>
                </a:lnTo>
                <a:lnTo>
                  <a:pt x="5224843" y="159539"/>
                </a:lnTo>
                <a:lnTo>
                  <a:pt x="5200834" y="120865"/>
                </a:lnTo>
                <a:lnTo>
                  <a:pt x="5171328" y="86471"/>
                </a:lnTo>
                <a:lnTo>
                  <a:pt x="5136934" y="56965"/>
                </a:lnTo>
                <a:lnTo>
                  <a:pt x="5098260" y="32956"/>
                </a:lnTo>
                <a:lnTo>
                  <a:pt x="5055916" y="15053"/>
                </a:lnTo>
                <a:lnTo>
                  <a:pt x="5010510" y="3864"/>
                </a:lnTo>
                <a:lnTo>
                  <a:pt x="4962652" y="0"/>
                </a:lnTo>
                <a:close/>
              </a:path>
            </a:pathLst>
          </a:custGeom>
          <a:solidFill>
            <a:srgbClr val="4DC5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268973" y="2610992"/>
            <a:ext cx="4866005" cy="1452880"/>
          </a:xfrm>
          <a:prstGeom prst="rect"/>
        </p:spPr>
        <p:txBody>
          <a:bodyPr wrap="square" lIns="0" tIns="50165" rIns="0" bIns="0" rtlCol="0" vert="horz">
            <a:spAutoFit/>
          </a:bodyPr>
          <a:lstStyle/>
          <a:p>
            <a:pPr marL="12700" marR="5080">
              <a:lnSpc>
                <a:spcPts val="2750"/>
              </a:lnSpc>
              <a:spcBef>
                <a:spcPts val="395"/>
              </a:spcBef>
            </a:pP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PL/SQL</a:t>
            </a:r>
            <a:r>
              <a:rPr dirty="0" sz="25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5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block-structured</a:t>
            </a:r>
            <a:r>
              <a:rPr dirty="0" sz="2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language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5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enables</a:t>
            </a:r>
            <a:r>
              <a:rPr dirty="0" sz="25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developers</a:t>
            </a:r>
            <a:r>
              <a:rPr dirty="0" sz="25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5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combine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5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power</a:t>
            </a:r>
            <a:r>
              <a:rPr dirty="0" sz="2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5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5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procedural statements.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99047" y="4331208"/>
            <a:ext cx="5257800" cy="1772920"/>
          </a:xfrm>
          <a:custGeom>
            <a:avLst/>
            <a:gdLst/>
            <a:ahLst/>
            <a:cxnLst/>
            <a:rect l="l" t="t" r="r" b="b"/>
            <a:pathLst>
              <a:path w="5257800" h="1772920">
                <a:moveTo>
                  <a:pt x="4962398" y="0"/>
                </a:moveTo>
                <a:lnTo>
                  <a:pt x="295401" y="0"/>
                </a:lnTo>
                <a:lnTo>
                  <a:pt x="247474" y="3864"/>
                </a:lnTo>
                <a:lnTo>
                  <a:pt x="202013" y="15055"/>
                </a:lnTo>
                <a:lnTo>
                  <a:pt x="159626" y="32962"/>
                </a:lnTo>
                <a:lnTo>
                  <a:pt x="120920" y="56981"/>
                </a:lnTo>
                <a:lnTo>
                  <a:pt x="86502" y="86502"/>
                </a:lnTo>
                <a:lnTo>
                  <a:pt x="56981" y="120920"/>
                </a:lnTo>
                <a:lnTo>
                  <a:pt x="32962" y="159626"/>
                </a:lnTo>
                <a:lnTo>
                  <a:pt x="15055" y="202013"/>
                </a:lnTo>
                <a:lnTo>
                  <a:pt x="3864" y="247474"/>
                </a:lnTo>
                <a:lnTo>
                  <a:pt x="0" y="295402"/>
                </a:lnTo>
                <a:lnTo>
                  <a:pt x="0" y="1477010"/>
                </a:lnTo>
                <a:lnTo>
                  <a:pt x="3864" y="1524925"/>
                </a:lnTo>
                <a:lnTo>
                  <a:pt x="15055" y="1570379"/>
                </a:lnTo>
                <a:lnTo>
                  <a:pt x="32962" y="1612763"/>
                </a:lnTo>
                <a:lnTo>
                  <a:pt x="56981" y="1651469"/>
                </a:lnTo>
                <a:lnTo>
                  <a:pt x="86502" y="1685890"/>
                </a:lnTo>
                <a:lnTo>
                  <a:pt x="120920" y="1715416"/>
                </a:lnTo>
                <a:lnTo>
                  <a:pt x="159626" y="1739439"/>
                </a:lnTo>
                <a:lnTo>
                  <a:pt x="202013" y="1757352"/>
                </a:lnTo>
                <a:lnTo>
                  <a:pt x="247474" y="1768545"/>
                </a:lnTo>
                <a:lnTo>
                  <a:pt x="295401" y="1772412"/>
                </a:lnTo>
                <a:lnTo>
                  <a:pt x="4962398" y="1772412"/>
                </a:lnTo>
                <a:lnTo>
                  <a:pt x="5010325" y="1768545"/>
                </a:lnTo>
                <a:lnTo>
                  <a:pt x="5055786" y="1757352"/>
                </a:lnTo>
                <a:lnTo>
                  <a:pt x="5098173" y="1739439"/>
                </a:lnTo>
                <a:lnTo>
                  <a:pt x="5136879" y="1715416"/>
                </a:lnTo>
                <a:lnTo>
                  <a:pt x="5171297" y="1685890"/>
                </a:lnTo>
                <a:lnTo>
                  <a:pt x="5200818" y="1651469"/>
                </a:lnTo>
                <a:lnTo>
                  <a:pt x="5224837" y="1612763"/>
                </a:lnTo>
                <a:lnTo>
                  <a:pt x="5242744" y="1570379"/>
                </a:lnTo>
                <a:lnTo>
                  <a:pt x="5253935" y="1524925"/>
                </a:lnTo>
                <a:lnTo>
                  <a:pt x="5257800" y="1477010"/>
                </a:lnTo>
                <a:lnTo>
                  <a:pt x="5257800" y="295402"/>
                </a:lnTo>
                <a:lnTo>
                  <a:pt x="5253935" y="247474"/>
                </a:lnTo>
                <a:lnTo>
                  <a:pt x="5242744" y="202013"/>
                </a:lnTo>
                <a:lnTo>
                  <a:pt x="5224837" y="159626"/>
                </a:lnTo>
                <a:lnTo>
                  <a:pt x="5200818" y="120920"/>
                </a:lnTo>
                <a:lnTo>
                  <a:pt x="5171297" y="86502"/>
                </a:lnTo>
                <a:lnTo>
                  <a:pt x="5136879" y="56981"/>
                </a:lnTo>
                <a:lnTo>
                  <a:pt x="5098173" y="32962"/>
                </a:lnTo>
                <a:lnTo>
                  <a:pt x="5055786" y="15055"/>
                </a:lnTo>
                <a:lnTo>
                  <a:pt x="5010325" y="3864"/>
                </a:lnTo>
                <a:lnTo>
                  <a:pt x="4962398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268973" y="4628845"/>
            <a:ext cx="4723765" cy="110490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 marR="5080">
              <a:lnSpc>
                <a:spcPts val="2750"/>
              </a:lnSpc>
              <a:spcBef>
                <a:spcPts val="395"/>
              </a:spcBef>
            </a:pP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PL/SQL</a:t>
            </a:r>
            <a:r>
              <a:rPr dirty="0" sz="25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bridges</a:t>
            </a:r>
            <a:r>
              <a:rPr dirty="0" sz="25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gap</a:t>
            </a:r>
            <a:r>
              <a:rPr dirty="0" sz="25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between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dirty="0" sz="25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dirty="0" sz="25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5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procedural programming</a:t>
            </a:r>
            <a:r>
              <a:rPr dirty="0" sz="25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languages.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2707" rIns="0" bIns="0" rtlCol="0" vert="horz">
            <a:spAutoFit/>
          </a:bodyPr>
          <a:lstStyle/>
          <a:p>
            <a:pPr marL="1087755">
              <a:lnSpc>
                <a:spcPct val="100000"/>
              </a:lnSpc>
              <a:spcBef>
                <a:spcPts val="100"/>
              </a:spcBef>
            </a:pPr>
            <a:r>
              <a:rPr dirty="0" sz="5400"/>
              <a:t>Advantages</a:t>
            </a:r>
            <a:r>
              <a:rPr dirty="0" sz="5400" spc="-170"/>
              <a:t> </a:t>
            </a:r>
            <a:r>
              <a:rPr dirty="0" sz="5400"/>
              <a:t>of</a:t>
            </a:r>
            <a:r>
              <a:rPr dirty="0" sz="5400" spc="-130"/>
              <a:t> </a:t>
            </a:r>
            <a:r>
              <a:rPr dirty="0" sz="5400" spc="-10"/>
              <a:t>PL/SQL</a:t>
            </a:r>
            <a:endParaRPr sz="5400"/>
          </a:p>
        </p:txBody>
      </p:sp>
      <p:grpSp>
        <p:nvGrpSpPr>
          <p:cNvPr id="3" name="object 3"/>
          <p:cNvGrpSpPr/>
          <p:nvPr/>
        </p:nvGrpSpPr>
        <p:grpSpPr>
          <a:xfrm>
            <a:off x="1027722" y="665396"/>
            <a:ext cx="538480" cy="727710"/>
            <a:chOff x="1027722" y="665396"/>
            <a:chExt cx="538480" cy="727710"/>
          </a:xfrm>
        </p:grpSpPr>
        <p:sp>
          <p:nvSpPr>
            <p:cNvPr id="4" name="object 4"/>
            <p:cNvSpPr/>
            <p:nvPr/>
          </p:nvSpPr>
          <p:spPr>
            <a:xfrm>
              <a:off x="1033218" y="670892"/>
              <a:ext cx="527685" cy="151130"/>
            </a:xfrm>
            <a:custGeom>
              <a:avLst/>
              <a:gdLst/>
              <a:ahLst/>
              <a:cxnLst/>
              <a:rect l="l" t="t" r="r" b="b"/>
              <a:pathLst>
                <a:path w="527685" h="151130">
                  <a:moveTo>
                    <a:pt x="263687" y="0"/>
                  </a:moveTo>
                  <a:lnTo>
                    <a:pt x="193588" y="2692"/>
                  </a:lnTo>
                  <a:lnTo>
                    <a:pt x="130598" y="10291"/>
                  </a:lnTo>
                  <a:lnTo>
                    <a:pt x="77231" y="22078"/>
                  </a:lnTo>
                  <a:lnTo>
                    <a:pt x="36000" y="37334"/>
                  </a:lnTo>
                  <a:lnTo>
                    <a:pt x="0" y="75380"/>
                  </a:lnTo>
                  <a:lnTo>
                    <a:pt x="9419" y="95420"/>
                  </a:lnTo>
                  <a:lnTo>
                    <a:pt x="77231" y="128683"/>
                  </a:lnTo>
                  <a:lnTo>
                    <a:pt x="130598" y="140469"/>
                  </a:lnTo>
                  <a:lnTo>
                    <a:pt x="193588" y="148068"/>
                  </a:lnTo>
                  <a:lnTo>
                    <a:pt x="263687" y="150761"/>
                  </a:lnTo>
                  <a:lnTo>
                    <a:pt x="333786" y="148068"/>
                  </a:lnTo>
                  <a:lnTo>
                    <a:pt x="396776" y="140469"/>
                  </a:lnTo>
                  <a:lnTo>
                    <a:pt x="450143" y="128683"/>
                  </a:lnTo>
                  <a:lnTo>
                    <a:pt x="491374" y="113427"/>
                  </a:lnTo>
                  <a:lnTo>
                    <a:pt x="527374" y="75380"/>
                  </a:lnTo>
                  <a:lnTo>
                    <a:pt x="517955" y="55341"/>
                  </a:lnTo>
                  <a:lnTo>
                    <a:pt x="450143" y="22078"/>
                  </a:lnTo>
                  <a:lnTo>
                    <a:pt x="396776" y="10291"/>
                  </a:lnTo>
                  <a:lnTo>
                    <a:pt x="333786" y="2692"/>
                  </a:lnTo>
                  <a:lnTo>
                    <a:pt x="26368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33218" y="670892"/>
              <a:ext cx="527685" cy="151130"/>
            </a:xfrm>
            <a:custGeom>
              <a:avLst/>
              <a:gdLst/>
              <a:ahLst/>
              <a:cxnLst/>
              <a:rect l="l" t="t" r="r" b="b"/>
              <a:pathLst>
                <a:path w="527685" h="151130">
                  <a:moveTo>
                    <a:pt x="527374" y="75380"/>
                  </a:moveTo>
                  <a:lnTo>
                    <a:pt x="491374" y="113427"/>
                  </a:lnTo>
                  <a:lnTo>
                    <a:pt x="450143" y="128683"/>
                  </a:lnTo>
                  <a:lnTo>
                    <a:pt x="396776" y="140469"/>
                  </a:lnTo>
                  <a:lnTo>
                    <a:pt x="333786" y="148068"/>
                  </a:lnTo>
                  <a:lnTo>
                    <a:pt x="263687" y="150761"/>
                  </a:lnTo>
                  <a:lnTo>
                    <a:pt x="193588" y="148068"/>
                  </a:lnTo>
                  <a:lnTo>
                    <a:pt x="130598" y="140469"/>
                  </a:lnTo>
                  <a:lnTo>
                    <a:pt x="77231" y="128683"/>
                  </a:lnTo>
                  <a:lnTo>
                    <a:pt x="36000" y="113427"/>
                  </a:lnTo>
                  <a:lnTo>
                    <a:pt x="0" y="75380"/>
                  </a:lnTo>
                  <a:lnTo>
                    <a:pt x="9419" y="55341"/>
                  </a:lnTo>
                  <a:lnTo>
                    <a:pt x="77231" y="22078"/>
                  </a:lnTo>
                  <a:lnTo>
                    <a:pt x="130598" y="10291"/>
                  </a:lnTo>
                  <a:lnTo>
                    <a:pt x="193588" y="2692"/>
                  </a:lnTo>
                  <a:lnTo>
                    <a:pt x="263687" y="0"/>
                  </a:lnTo>
                  <a:lnTo>
                    <a:pt x="333786" y="2692"/>
                  </a:lnTo>
                  <a:lnTo>
                    <a:pt x="396776" y="10291"/>
                  </a:lnTo>
                  <a:lnTo>
                    <a:pt x="450143" y="22078"/>
                  </a:lnTo>
                  <a:lnTo>
                    <a:pt x="491374" y="37334"/>
                  </a:lnTo>
                  <a:lnTo>
                    <a:pt x="527374" y="75380"/>
                  </a:lnTo>
                  <a:close/>
                </a:path>
              </a:pathLst>
            </a:custGeom>
            <a:ln w="109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33218" y="783963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0" y="0"/>
                  </a:moveTo>
                  <a:lnTo>
                    <a:pt x="0" y="150761"/>
                  </a:lnTo>
                  <a:lnTo>
                    <a:pt x="9461" y="17074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452035" y="150761"/>
                  </a:ln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527374" y="113071"/>
                  </a:lnTo>
                  <a:lnTo>
                    <a:pt x="527374" y="75380"/>
                  </a:lnTo>
                  <a:lnTo>
                    <a:pt x="263687" y="75380"/>
                  </a:ln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9461" y="19979"/>
                  </a:lnTo>
                  <a:lnTo>
                    <a:pt x="0" y="0"/>
                  </a:lnTo>
                  <a:close/>
                </a:path>
                <a:path w="527685" h="226694">
                  <a:moveTo>
                    <a:pt x="527374" y="113071"/>
                  </a:move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lnTo>
                    <a:pt x="527374" y="150761"/>
                  </a:lnTo>
                  <a:lnTo>
                    <a:pt x="527374" y="113071"/>
                  </a:lnTo>
                  <a:close/>
                </a:path>
                <a:path w="527685" h="226694">
                  <a:moveTo>
                    <a:pt x="527374" y="0"/>
                  </a:move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lnTo>
                    <a:pt x="527374" y="75380"/>
                  </a:lnTo>
                  <a:lnTo>
                    <a:pt x="52737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33218" y="783963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452035" y="150761"/>
                  </a:move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close/>
                </a:path>
                <a:path w="527685" h="226694">
                  <a:moveTo>
                    <a:pt x="263687" y="75380"/>
                  </a:move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0" y="0"/>
                  </a:lnTo>
                  <a:lnTo>
                    <a:pt x="0" y="150761"/>
                  </a:lnTo>
                  <a:lnTo>
                    <a:pt x="36134" y="18873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527374" y="0"/>
                  </a:lnTo>
                  <a:lnTo>
                    <a:pt x="517913" y="19979"/>
                  </a:ln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close/>
                </a:path>
              </a:pathLst>
            </a:custGeom>
            <a:ln w="1098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33218" y="972415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0" y="0"/>
                  </a:moveTo>
                  <a:lnTo>
                    <a:pt x="0" y="150761"/>
                  </a:lnTo>
                  <a:lnTo>
                    <a:pt x="9461" y="17074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452035" y="150761"/>
                  </a:ln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527374" y="113071"/>
                  </a:lnTo>
                  <a:lnTo>
                    <a:pt x="527374" y="75380"/>
                  </a:lnTo>
                  <a:lnTo>
                    <a:pt x="263687" y="75380"/>
                  </a:ln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9461" y="19979"/>
                  </a:lnTo>
                  <a:lnTo>
                    <a:pt x="0" y="0"/>
                  </a:lnTo>
                  <a:close/>
                </a:path>
                <a:path w="527685" h="226694">
                  <a:moveTo>
                    <a:pt x="527374" y="113071"/>
                  </a:move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lnTo>
                    <a:pt x="527374" y="150761"/>
                  </a:lnTo>
                  <a:lnTo>
                    <a:pt x="527374" y="113071"/>
                  </a:lnTo>
                  <a:close/>
                </a:path>
                <a:path w="527685" h="226694">
                  <a:moveTo>
                    <a:pt x="527374" y="0"/>
                  </a:move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lnTo>
                    <a:pt x="527374" y="75380"/>
                  </a:lnTo>
                  <a:lnTo>
                    <a:pt x="52737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33218" y="972415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452035" y="150761"/>
                  </a:move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close/>
                </a:path>
                <a:path w="527685" h="226694">
                  <a:moveTo>
                    <a:pt x="263687" y="75380"/>
                  </a:move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0" y="0"/>
                  </a:lnTo>
                  <a:lnTo>
                    <a:pt x="0" y="150761"/>
                  </a:lnTo>
                  <a:lnTo>
                    <a:pt x="36134" y="18873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527374" y="0"/>
                  </a:lnTo>
                  <a:lnTo>
                    <a:pt x="517913" y="19979"/>
                  </a:ln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close/>
                </a:path>
              </a:pathLst>
            </a:custGeom>
            <a:ln w="1098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33218" y="1160867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0" y="0"/>
                  </a:moveTo>
                  <a:lnTo>
                    <a:pt x="0" y="150761"/>
                  </a:lnTo>
                  <a:lnTo>
                    <a:pt x="9461" y="17074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452035" y="150761"/>
                  </a:ln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527374" y="113071"/>
                  </a:lnTo>
                  <a:lnTo>
                    <a:pt x="527374" y="75380"/>
                  </a:lnTo>
                  <a:lnTo>
                    <a:pt x="263687" y="75380"/>
                  </a:ln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9461" y="19979"/>
                  </a:lnTo>
                  <a:lnTo>
                    <a:pt x="0" y="0"/>
                  </a:lnTo>
                  <a:close/>
                </a:path>
                <a:path w="527685" h="226694">
                  <a:moveTo>
                    <a:pt x="527374" y="113071"/>
                  </a:move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lnTo>
                    <a:pt x="527374" y="150761"/>
                  </a:lnTo>
                  <a:lnTo>
                    <a:pt x="527374" y="113071"/>
                  </a:lnTo>
                  <a:close/>
                </a:path>
                <a:path w="527685" h="226694">
                  <a:moveTo>
                    <a:pt x="527374" y="0"/>
                  </a:move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lnTo>
                    <a:pt x="527374" y="75380"/>
                  </a:lnTo>
                  <a:lnTo>
                    <a:pt x="52737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33218" y="1160867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452035" y="150761"/>
                  </a:move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close/>
                </a:path>
                <a:path w="527685" h="226694">
                  <a:moveTo>
                    <a:pt x="263687" y="75380"/>
                  </a:move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0" y="0"/>
                  </a:lnTo>
                  <a:lnTo>
                    <a:pt x="0" y="150761"/>
                  </a:lnTo>
                  <a:lnTo>
                    <a:pt x="36134" y="18873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527374" y="0"/>
                  </a:lnTo>
                  <a:lnTo>
                    <a:pt x="517913" y="19979"/>
                  </a:ln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close/>
                </a:path>
              </a:pathLst>
            </a:custGeom>
            <a:ln w="1098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16939" y="1711807"/>
            <a:ext cx="10307955" cy="435483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80"/>
              </a:spcBef>
              <a:buAutoNum type="arabicPeriod"/>
              <a:tabLst>
                <a:tab pos="469900" algn="l"/>
              </a:tabLst>
            </a:pPr>
            <a:r>
              <a:rPr dirty="0" sz="2600">
                <a:latin typeface="Calibri"/>
                <a:cs typeface="Calibri"/>
              </a:rPr>
              <a:t>PL/SQL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provides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facilities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conditional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checking,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looping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branching.</a:t>
            </a:r>
            <a:endParaRPr sz="2600">
              <a:latin typeface="Calibri"/>
              <a:cs typeface="Calibri"/>
            </a:endParaRPr>
          </a:p>
          <a:p>
            <a:pPr marL="469900" marR="5080" indent="-457834">
              <a:lnSpc>
                <a:spcPts val="2810"/>
              </a:lnSpc>
              <a:spcBef>
                <a:spcPts val="1040"/>
              </a:spcBef>
              <a:buAutoNum type="arabicPeriod"/>
              <a:tabLst>
                <a:tab pos="469900" algn="l"/>
              </a:tabLst>
            </a:pPr>
            <a:r>
              <a:rPr dirty="0" sz="2600">
                <a:latin typeface="Calibri"/>
                <a:cs typeface="Calibri"/>
              </a:rPr>
              <a:t>PL/SQL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sends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entire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block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SQL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statements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oracle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engine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in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go,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helps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reduce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traffic</a:t>
            </a:r>
            <a:endParaRPr sz="26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55"/>
              </a:spcBef>
              <a:buAutoNum type="arabicPeriod"/>
              <a:tabLst>
                <a:tab pos="469900" algn="l"/>
              </a:tabLst>
            </a:pPr>
            <a:r>
              <a:rPr dirty="0" sz="2600">
                <a:latin typeface="Calibri"/>
                <a:cs typeface="Calibri"/>
              </a:rPr>
              <a:t>PL/SQL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provides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error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handling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facility.</a:t>
            </a:r>
            <a:endParaRPr sz="26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469900" algn="l"/>
              </a:tabLst>
            </a:pP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allows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declaration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variables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blocks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code.</a:t>
            </a:r>
            <a:endParaRPr sz="2600">
              <a:latin typeface="Calibri"/>
              <a:cs typeface="Calibri"/>
            </a:endParaRPr>
          </a:p>
          <a:p>
            <a:pPr marL="469900" marR="254635" indent="-457834">
              <a:lnSpc>
                <a:spcPts val="2810"/>
              </a:lnSpc>
              <a:spcBef>
                <a:spcPts val="1040"/>
              </a:spcBef>
              <a:buAutoNum type="arabicPeriod"/>
              <a:tabLst>
                <a:tab pos="469900" algn="l"/>
              </a:tabLst>
            </a:pPr>
            <a:r>
              <a:rPr dirty="0" sz="2600">
                <a:latin typeface="Calibri"/>
                <a:cs typeface="Calibri"/>
              </a:rPr>
              <a:t>Via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PL/SQL,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sorts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calculations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done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quickly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without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use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Oracle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engine.</a:t>
            </a:r>
            <a:endParaRPr sz="2600">
              <a:latin typeface="Calibri"/>
              <a:cs typeface="Calibri"/>
            </a:endParaRPr>
          </a:p>
          <a:p>
            <a:pPr marL="469900" marR="408940" indent="-457834">
              <a:lnSpc>
                <a:spcPts val="2810"/>
              </a:lnSpc>
              <a:spcBef>
                <a:spcPts val="1005"/>
              </a:spcBef>
              <a:buAutoNum type="arabicPeriod"/>
              <a:tabLst>
                <a:tab pos="469900" algn="l"/>
              </a:tabLst>
            </a:pPr>
            <a:r>
              <a:rPr dirty="0" sz="2600">
                <a:latin typeface="Calibri"/>
                <a:cs typeface="Calibri"/>
              </a:rPr>
              <a:t>Applications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written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PL/SQL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portable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any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computer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hardware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operating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system.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Hence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PL/SQL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code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blocks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written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DOS </a:t>
            </a:r>
            <a:r>
              <a:rPr dirty="0" sz="2600">
                <a:latin typeface="Calibri"/>
                <a:cs typeface="Calibri"/>
              </a:rPr>
              <a:t>version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oracle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will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run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Linux/Unix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version.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7C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82853" y="2679319"/>
            <a:ext cx="2400300" cy="1068070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dirty="0" sz="3600">
                <a:solidFill>
                  <a:srgbClr val="2C2C2C"/>
                </a:solidFill>
              </a:rPr>
              <a:t>PL/SQL</a:t>
            </a:r>
            <a:r>
              <a:rPr dirty="0" sz="3600" spc="5">
                <a:solidFill>
                  <a:srgbClr val="2C2C2C"/>
                </a:solidFill>
              </a:rPr>
              <a:t> </a:t>
            </a:r>
            <a:r>
              <a:rPr dirty="0" sz="3600" spc="-10">
                <a:solidFill>
                  <a:srgbClr val="2C2C2C"/>
                </a:solidFill>
              </a:rPr>
              <a:t>Block Structure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3515867" y="438912"/>
            <a:ext cx="8252459" cy="5849620"/>
            <a:chOff x="3515867" y="438912"/>
            <a:chExt cx="8252459" cy="58496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5867" y="438912"/>
              <a:ext cx="8252459" cy="5849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79875" y="484632"/>
              <a:ext cx="8129270" cy="5724525"/>
            </a:xfrm>
            <a:custGeom>
              <a:avLst/>
              <a:gdLst/>
              <a:ahLst/>
              <a:cxnLst/>
              <a:rect l="l" t="t" r="r" b="b"/>
              <a:pathLst>
                <a:path w="8129270" h="5724525">
                  <a:moveTo>
                    <a:pt x="8129016" y="0"/>
                  </a:moveTo>
                  <a:lnTo>
                    <a:pt x="0" y="0"/>
                  </a:lnTo>
                  <a:lnTo>
                    <a:pt x="0" y="5724144"/>
                  </a:lnTo>
                  <a:lnTo>
                    <a:pt x="8129016" y="5724144"/>
                  </a:lnTo>
                  <a:lnTo>
                    <a:pt x="8129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79875" y="484632"/>
              <a:ext cx="8129270" cy="5724525"/>
            </a:xfrm>
            <a:custGeom>
              <a:avLst/>
              <a:gdLst/>
              <a:ahLst/>
              <a:cxnLst/>
              <a:rect l="l" t="t" r="r" b="b"/>
              <a:pathLst>
                <a:path w="8129270" h="5724525">
                  <a:moveTo>
                    <a:pt x="0" y="5724144"/>
                  </a:moveTo>
                  <a:lnTo>
                    <a:pt x="8129016" y="5724144"/>
                  </a:lnTo>
                  <a:lnTo>
                    <a:pt x="8129016" y="0"/>
                  </a:lnTo>
                  <a:lnTo>
                    <a:pt x="0" y="0"/>
                  </a:lnTo>
                  <a:lnTo>
                    <a:pt x="0" y="5724144"/>
                  </a:lnTo>
                  <a:close/>
                </a:path>
              </a:pathLst>
            </a:custGeom>
            <a:ln w="9525">
              <a:solidFill>
                <a:srgbClr val="C7C9C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2983" y="941857"/>
              <a:ext cx="7162800" cy="48096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09276" y="0"/>
            <a:ext cx="1925320" cy="478790"/>
            <a:chOff x="10209276" y="0"/>
            <a:chExt cx="1925320" cy="478790"/>
          </a:xfrm>
        </p:grpSpPr>
        <p:sp>
          <p:nvSpPr>
            <p:cNvPr id="3" name="object 3"/>
            <p:cNvSpPr/>
            <p:nvPr/>
          </p:nvSpPr>
          <p:spPr>
            <a:xfrm>
              <a:off x="10209276" y="0"/>
              <a:ext cx="1134110" cy="478790"/>
            </a:xfrm>
            <a:custGeom>
              <a:avLst/>
              <a:gdLst/>
              <a:ahLst/>
              <a:cxnLst/>
              <a:rect l="l" t="t" r="r" b="b"/>
              <a:pathLst>
                <a:path w="1134109" h="478790">
                  <a:moveTo>
                    <a:pt x="1133855" y="0"/>
                  </a:moveTo>
                  <a:lnTo>
                    <a:pt x="0" y="0"/>
                  </a:lnTo>
                  <a:lnTo>
                    <a:pt x="1650" y="16891"/>
                  </a:lnTo>
                  <a:lnTo>
                    <a:pt x="12982" y="62669"/>
                  </a:lnTo>
                  <a:lnTo>
                    <a:pt x="27864" y="106933"/>
                  </a:lnTo>
                  <a:lnTo>
                    <a:pt x="46135" y="149518"/>
                  </a:lnTo>
                  <a:lnTo>
                    <a:pt x="67632" y="190264"/>
                  </a:lnTo>
                  <a:lnTo>
                    <a:pt x="92192" y="229006"/>
                  </a:lnTo>
                  <a:lnTo>
                    <a:pt x="119655" y="265584"/>
                  </a:lnTo>
                  <a:lnTo>
                    <a:pt x="149858" y="299833"/>
                  </a:lnTo>
                  <a:lnTo>
                    <a:pt x="182639" y="331592"/>
                  </a:lnTo>
                  <a:lnTo>
                    <a:pt x="217835" y="360699"/>
                  </a:lnTo>
                  <a:lnTo>
                    <a:pt x="255286" y="386989"/>
                  </a:lnTo>
                  <a:lnTo>
                    <a:pt x="294827" y="410302"/>
                  </a:lnTo>
                  <a:lnTo>
                    <a:pt x="336299" y="430474"/>
                  </a:lnTo>
                  <a:lnTo>
                    <a:pt x="379538" y="447342"/>
                  </a:lnTo>
                  <a:lnTo>
                    <a:pt x="424382" y="460746"/>
                  </a:lnTo>
                  <a:lnTo>
                    <a:pt x="470670" y="470521"/>
                  </a:lnTo>
                  <a:lnTo>
                    <a:pt x="518239" y="476505"/>
                  </a:lnTo>
                  <a:lnTo>
                    <a:pt x="566927" y="478536"/>
                  </a:lnTo>
                  <a:lnTo>
                    <a:pt x="615616" y="476505"/>
                  </a:lnTo>
                  <a:lnTo>
                    <a:pt x="663185" y="470521"/>
                  </a:lnTo>
                  <a:lnTo>
                    <a:pt x="709473" y="460746"/>
                  </a:lnTo>
                  <a:lnTo>
                    <a:pt x="754317" y="447342"/>
                  </a:lnTo>
                  <a:lnTo>
                    <a:pt x="797556" y="430474"/>
                  </a:lnTo>
                  <a:lnTo>
                    <a:pt x="839028" y="410302"/>
                  </a:lnTo>
                  <a:lnTo>
                    <a:pt x="878569" y="386989"/>
                  </a:lnTo>
                  <a:lnTo>
                    <a:pt x="916020" y="360699"/>
                  </a:lnTo>
                  <a:lnTo>
                    <a:pt x="951216" y="331592"/>
                  </a:lnTo>
                  <a:lnTo>
                    <a:pt x="983997" y="299833"/>
                  </a:lnTo>
                  <a:lnTo>
                    <a:pt x="1014200" y="265584"/>
                  </a:lnTo>
                  <a:lnTo>
                    <a:pt x="1041663" y="229006"/>
                  </a:lnTo>
                  <a:lnTo>
                    <a:pt x="1066223" y="190264"/>
                  </a:lnTo>
                  <a:lnTo>
                    <a:pt x="1087720" y="149518"/>
                  </a:lnTo>
                  <a:lnTo>
                    <a:pt x="1105991" y="106933"/>
                  </a:lnTo>
                  <a:lnTo>
                    <a:pt x="1120873" y="62669"/>
                  </a:lnTo>
                  <a:lnTo>
                    <a:pt x="1132204" y="16891"/>
                  </a:lnTo>
                  <a:lnTo>
                    <a:pt x="113385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VSIT logo NEW small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3200" y="76200"/>
              <a:ext cx="1770888" cy="381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Sections</a:t>
            </a:r>
            <a:r>
              <a:rPr dirty="0" sz="4400" spc="-25"/>
              <a:t> </a:t>
            </a:r>
            <a:r>
              <a:rPr dirty="0" sz="4400"/>
              <a:t>Of</a:t>
            </a:r>
            <a:r>
              <a:rPr dirty="0" sz="4400" spc="5"/>
              <a:t> </a:t>
            </a:r>
            <a:r>
              <a:rPr dirty="0" sz="4400"/>
              <a:t>PL/SQL</a:t>
            </a:r>
            <a:r>
              <a:rPr dirty="0" sz="4400" spc="-25"/>
              <a:t> </a:t>
            </a:r>
            <a:r>
              <a:rPr dirty="0" sz="4400" spc="-10"/>
              <a:t>Block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557022" y="4226052"/>
            <a:ext cx="2041525" cy="2041525"/>
          </a:xfrm>
          <a:custGeom>
            <a:avLst/>
            <a:gdLst/>
            <a:ahLst/>
            <a:cxnLst/>
            <a:rect l="l" t="t" r="r" b="b"/>
            <a:pathLst>
              <a:path w="2041525" h="2041525">
                <a:moveTo>
                  <a:pt x="0" y="0"/>
                </a:moveTo>
                <a:lnTo>
                  <a:pt x="557" y="48183"/>
                </a:lnTo>
                <a:lnTo>
                  <a:pt x="2222" y="96093"/>
                </a:lnTo>
                <a:lnTo>
                  <a:pt x="4981" y="143717"/>
                </a:lnTo>
                <a:lnTo>
                  <a:pt x="8822" y="191044"/>
                </a:lnTo>
                <a:lnTo>
                  <a:pt x="13734" y="238060"/>
                </a:lnTo>
                <a:lnTo>
                  <a:pt x="19704" y="284753"/>
                </a:lnTo>
                <a:lnTo>
                  <a:pt x="26719" y="331112"/>
                </a:lnTo>
                <a:lnTo>
                  <a:pt x="34768" y="377123"/>
                </a:lnTo>
                <a:lnTo>
                  <a:pt x="43838" y="422776"/>
                </a:lnTo>
                <a:lnTo>
                  <a:pt x="53917" y="468056"/>
                </a:lnTo>
                <a:lnTo>
                  <a:pt x="64993" y="512953"/>
                </a:lnTo>
                <a:lnTo>
                  <a:pt x="77053" y="557454"/>
                </a:lnTo>
                <a:lnTo>
                  <a:pt x="90085" y="601547"/>
                </a:lnTo>
                <a:lnTo>
                  <a:pt x="104077" y="645218"/>
                </a:lnTo>
                <a:lnTo>
                  <a:pt x="119016" y="688457"/>
                </a:lnTo>
                <a:lnTo>
                  <a:pt x="134891" y="731251"/>
                </a:lnTo>
                <a:lnTo>
                  <a:pt x="151689" y="773588"/>
                </a:lnTo>
                <a:lnTo>
                  <a:pt x="169398" y="815455"/>
                </a:lnTo>
                <a:lnTo>
                  <a:pt x="188005" y="856840"/>
                </a:lnTo>
                <a:lnTo>
                  <a:pt x="207499" y="897731"/>
                </a:lnTo>
                <a:lnTo>
                  <a:pt x="227867" y="938116"/>
                </a:lnTo>
                <a:lnTo>
                  <a:pt x="249097" y="977982"/>
                </a:lnTo>
                <a:lnTo>
                  <a:pt x="271176" y="1017317"/>
                </a:lnTo>
                <a:lnTo>
                  <a:pt x="294092" y="1056108"/>
                </a:lnTo>
                <a:lnTo>
                  <a:pt x="317834" y="1094345"/>
                </a:lnTo>
                <a:lnTo>
                  <a:pt x="342388" y="1132014"/>
                </a:lnTo>
                <a:lnTo>
                  <a:pt x="367743" y="1169103"/>
                </a:lnTo>
                <a:lnTo>
                  <a:pt x="393886" y="1205599"/>
                </a:lnTo>
                <a:lnTo>
                  <a:pt x="420806" y="1241492"/>
                </a:lnTo>
                <a:lnTo>
                  <a:pt x="448489" y="1276767"/>
                </a:lnTo>
                <a:lnTo>
                  <a:pt x="476923" y="1311414"/>
                </a:lnTo>
                <a:lnTo>
                  <a:pt x="506097" y="1345419"/>
                </a:lnTo>
                <a:lnTo>
                  <a:pt x="535998" y="1378771"/>
                </a:lnTo>
                <a:lnTo>
                  <a:pt x="566613" y="1411457"/>
                </a:lnTo>
                <a:lnTo>
                  <a:pt x="597931" y="1443466"/>
                </a:lnTo>
                <a:lnTo>
                  <a:pt x="629940" y="1474784"/>
                </a:lnTo>
                <a:lnTo>
                  <a:pt x="662626" y="1505399"/>
                </a:lnTo>
                <a:lnTo>
                  <a:pt x="695978" y="1535300"/>
                </a:lnTo>
                <a:lnTo>
                  <a:pt x="729983" y="1564474"/>
                </a:lnTo>
                <a:lnTo>
                  <a:pt x="764630" y="1592908"/>
                </a:lnTo>
                <a:lnTo>
                  <a:pt x="799905" y="1620591"/>
                </a:lnTo>
                <a:lnTo>
                  <a:pt x="835798" y="1647511"/>
                </a:lnTo>
                <a:lnTo>
                  <a:pt x="872294" y="1673654"/>
                </a:lnTo>
                <a:lnTo>
                  <a:pt x="909383" y="1699009"/>
                </a:lnTo>
                <a:lnTo>
                  <a:pt x="947052" y="1723563"/>
                </a:lnTo>
                <a:lnTo>
                  <a:pt x="985289" y="1747305"/>
                </a:lnTo>
                <a:lnTo>
                  <a:pt x="1024080" y="1770221"/>
                </a:lnTo>
                <a:lnTo>
                  <a:pt x="1063415" y="1792300"/>
                </a:lnTo>
                <a:lnTo>
                  <a:pt x="1103281" y="1813530"/>
                </a:lnTo>
                <a:lnTo>
                  <a:pt x="1143666" y="1833898"/>
                </a:lnTo>
                <a:lnTo>
                  <a:pt x="1184557" y="1853392"/>
                </a:lnTo>
                <a:lnTo>
                  <a:pt x="1225942" y="1871999"/>
                </a:lnTo>
                <a:lnTo>
                  <a:pt x="1267809" y="1889708"/>
                </a:lnTo>
                <a:lnTo>
                  <a:pt x="1310146" y="1906506"/>
                </a:lnTo>
                <a:lnTo>
                  <a:pt x="1352940" y="1922381"/>
                </a:lnTo>
                <a:lnTo>
                  <a:pt x="1396179" y="1937320"/>
                </a:lnTo>
                <a:lnTo>
                  <a:pt x="1439850" y="1951312"/>
                </a:lnTo>
                <a:lnTo>
                  <a:pt x="1483943" y="1964344"/>
                </a:lnTo>
                <a:lnTo>
                  <a:pt x="1528444" y="1976404"/>
                </a:lnTo>
                <a:lnTo>
                  <a:pt x="1573341" y="1987480"/>
                </a:lnTo>
                <a:lnTo>
                  <a:pt x="1618621" y="1997559"/>
                </a:lnTo>
                <a:lnTo>
                  <a:pt x="1664274" y="2006629"/>
                </a:lnTo>
                <a:lnTo>
                  <a:pt x="1710285" y="2014678"/>
                </a:lnTo>
                <a:lnTo>
                  <a:pt x="1756644" y="2021693"/>
                </a:lnTo>
                <a:lnTo>
                  <a:pt x="1803337" y="2027663"/>
                </a:lnTo>
                <a:lnTo>
                  <a:pt x="1850353" y="2032575"/>
                </a:lnTo>
                <a:lnTo>
                  <a:pt x="1897680" y="2036416"/>
                </a:lnTo>
                <a:lnTo>
                  <a:pt x="1945304" y="2039175"/>
                </a:lnTo>
                <a:lnTo>
                  <a:pt x="1993214" y="2040840"/>
                </a:lnTo>
                <a:lnTo>
                  <a:pt x="2041398" y="2041398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16939" y="1802638"/>
            <a:ext cx="10289540" cy="3735704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0029" marR="240665" indent="-22796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Declare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block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starts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declaration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section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memory 	variables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Oracle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objects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declared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required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initialized.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Once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declared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SQL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statements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manipulation</a:t>
            </a:r>
            <a:endParaRPr sz="2400">
              <a:latin typeface="Calibri"/>
              <a:cs typeface="Calibri"/>
            </a:endParaRPr>
          </a:p>
          <a:p>
            <a:pPr marL="240029" marR="595630" indent="-227965">
              <a:lnSpc>
                <a:spcPts val="259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Begin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Section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Consists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SQL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PL/SQL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statements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describe 	processes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data.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Actual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manipulation, 	retrieval,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looping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branching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constructs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specified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section</a:t>
            </a:r>
            <a:endParaRPr sz="2400">
              <a:latin typeface="Calibri"/>
              <a:cs typeface="Calibri"/>
            </a:endParaRPr>
          </a:p>
          <a:p>
            <a:pPr marL="239395" marR="5080" indent="-227329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spc="-10">
                <a:latin typeface="Calibri"/>
                <a:cs typeface="Calibri"/>
              </a:rPr>
              <a:t>Exception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Section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Deals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handling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errors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arise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during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execution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manipulation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statements,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make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up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PL/SQL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block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code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block.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Errors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arise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due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syntax,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logic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validation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rule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violation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latin typeface="Calibri"/>
                <a:cs typeface="Calibri"/>
              </a:rPr>
              <a:t>End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Section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Marks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PL/SQL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block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PL/SQL</a:t>
            </a:r>
            <a:r>
              <a:rPr dirty="0" sz="4400" spc="-120"/>
              <a:t> </a:t>
            </a:r>
            <a:r>
              <a:rPr dirty="0" sz="4400"/>
              <a:t>Data</a:t>
            </a:r>
            <a:r>
              <a:rPr dirty="0" sz="4400" spc="-95"/>
              <a:t> </a:t>
            </a:r>
            <a:r>
              <a:rPr dirty="0" sz="4400" spc="-20"/>
              <a:t>Types</a:t>
            </a:r>
            <a:endParaRPr sz="4400"/>
          </a:p>
        </p:txBody>
      </p:sp>
      <p:grpSp>
        <p:nvGrpSpPr>
          <p:cNvPr id="6" name="object 6"/>
          <p:cNvGrpSpPr/>
          <p:nvPr/>
        </p:nvGrpSpPr>
        <p:grpSpPr>
          <a:xfrm>
            <a:off x="831850" y="1900173"/>
            <a:ext cx="10528300" cy="4202430"/>
            <a:chOff x="831850" y="1900173"/>
            <a:chExt cx="10528300" cy="4202430"/>
          </a:xfrm>
        </p:grpSpPr>
        <p:sp>
          <p:nvSpPr>
            <p:cNvPr id="7" name="object 7"/>
            <p:cNvSpPr/>
            <p:nvPr/>
          </p:nvSpPr>
          <p:spPr>
            <a:xfrm>
              <a:off x="838200" y="1906523"/>
              <a:ext cx="10515600" cy="993775"/>
            </a:xfrm>
            <a:custGeom>
              <a:avLst/>
              <a:gdLst/>
              <a:ahLst/>
              <a:cxnLst/>
              <a:rect l="l" t="t" r="r" b="b"/>
              <a:pathLst>
                <a:path w="10515600" h="993775">
                  <a:moveTo>
                    <a:pt x="10349992" y="0"/>
                  </a:moveTo>
                  <a:lnTo>
                    <a:pt x="165608" y="0"/>
                  </a:lnTo>
                  <a:lnTo>
                    <a:pt x="121581" y="5917"/>
                  </a:lnTo>
                  <a:lnTo>
                    <a:pt x="82021" y="22615"/>
                  </a:lnTo>
                  <a:lnTo>
                    <a:pt x="48504" y="48513"/>
                  </a:lnTo>
                  <a:lnTo>
                    <a:pt x="22609" y="82032"/>
                  </a:lnTo>
                  <a:lnTo>
                    <a:pt x="5915" y="121590"/>
                  </a:lnTo>
                  <a:lnTo>
                    <a:pt x="0" y="165608"/>
                  </a:lnTo>
                  <a:lnTo>
                    <a:pt x="0" y="828039"/>
                  </a:lnTo>
                  <a:lnTo>
                    <a:pt x="5915" y="872057"/>
                  </a:lnTo>
                  <a:lnTo>
                    <a:pt x="22609" y="911615"/>
                  </a:lnTo>
                  <a:lnTo>
                    <a:pt x="48504" y="945133"/>
                  </a:lnTo>
                  <a:lnTo>
                    <a:pt x="82021" y="971032"/>
                  </a:lnTo>
                  <a:lnTo>
                    <a:pt x="121581" y="987730"/>
                  </a:lnTo>
                  <a:lnTo>
                    <a:pt x="165608" y="993648"/>
                  </a:lnTo>
                  <a:lnTo>
                    <a:pt x="10349992" y="993648"/>
                  </a:lnTo>
                  <a:lnTo>
                    <a:pt x="10394009" y="987730"/>
                  </a:lnTo>
                  <a:lnTo>
                    <a:pt x="10433567" y="971032"/>
                  </a:lnTo>
                  <a:lnTo>
                    <a:pt x="10467086" y="945134"/>
                  </a:lnTo>
                  <a:lnTo>
                    <a:pt x="10492984" y="911615"/>
                  </a:lnTo>
                  <a:lnTo>
                    <a:pt x="10509682" y="872057"/>
                  </a:lnTo>
                  <a:lnTo>
                    <a:pt x="10515600" y="828039"/>
                  </a:lnTo>
                  <a:lnTo>
                    <a:pt x="10515600" y="165608"/>
                  </a:lnTo>
                  <a:lnTo>
                    <a:pt x="10509682" y="121590"/>
                  </a:lnTo>
                  <a:lnTo>
                    <a:pt x="10492984" y="82032"/>
                  </a:lnTo>
                  <a:lnTo>
                    <a:pt x="10467086" y="48514"/>
                  </a:lnTo>
                  <a:lnTo>
                    <a:pt x="10433567" y="22615"/>
                  </a:lnTo>
                  <a:lnTo>
                    <a:pt x="10394009" y="5917"/>
                  </a:lnTo>
                  <a:lnTo>
                    <a:pt x="1034999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38200" y="1906523"/>
              <a:ext cx="10515600" cy="993775"/>
            </a:xfrm>
            <a:custGeom>
              <a:avLst/>
              <a:gdLst/>
              <a:ahLst/>
              <a:cxnLst/>
              <a:rect l="l" t="t" r="r" b="b"/>
              <a:pathLst>
                <a:path w="10515600" h="993775">
                  <a:moveTo>
                    <a:pt x="0" y="165608"/>
                  </a:moveTo>
                  <a:lnTo>
                    <a:pt x="5915" y="121590"/>
                  </a:lnTo>
                  <a:lnTo>
                    <a:pt x="22609" y="82032"/>
                  </a:lnTo>
                  <a:lnTo>
                    <a:pt x="48504" y="48513"/>
                  </a:lnTo>
                  <a:lnTo>
                    <a:pt x="82021" y="22615"/>
                  </a:lnTo>
                  <a:lnTo>
                    <a:pt x="121581" y="5917"/>
                  </a:lnTo>
                  <a:lnTo>
                    <a:pt x="165608" y="0"/>
                  </a:lnTo>
                  <a:lnTo>
                    <a:pt x="10349992" y="0"/>
                  </a:lnTo>
                  <a:lnTo>
                    <a:pt x="10394009" y="5917"/>
                  </a:lnTo>
                  <a:lnTo>
                    <a:pt x="10433567" y="22615"/>
                  </a:lnTo>
                  <a:lnTo>
                    <a:pt x="10467086" y="48514"/>
                  </a:lnTo>
                  <a:lnTo>
                    <a:pt x="10492984" y="82032"/>
                  </a:lnTo>
                  <a:lnTo>
                    <a:pt x="10509682" y="121590"/>
                  </a:lnTo>
                  <a:lnTo>
                    <a:pt x="10515600" y="165608"/>
                  </a:lnTo>
                  <a:lnTo>
                    <a:pt x="10515600" y="828039"/>
                  </a:lnTo>
                  <a:lnTo>
                    <a:pt x="10509682" y="872057"/>
                  </a:lnTo>
                  <a:lnTo>
                    <a:pt x="10492984" y="911615"/>
                  </a:lnTo>
                  <a:lnTo>
                    <a:pt x="10467086" y="945134"/>
                  </a:lnTo>
                  <a:lnTo>
                    <a:pt x="10433567" y="971032"/>
                  </a:lnTo>
                  <a:lnTo>
                    <a:pt x="10394009" y="987730"/>
                  </a:lnTo>
                  <a:lnTo>
                    <a:pt x="10349992" y="993648"/>
                  </a:lnTo>
                  <a:lnTo>
                    <a:pt x="165608" y="993648"/>
                  </a:lnTo>
                  <a:lnTo>
                    <a:pt x="121581" y="987730"/>
                  </a:lnTo>
                  <a:lnTo>
                    <a:pt x="82021" y="971032"/>
                  </a:lnTo>
                  <a:lnTo>
                    <a:pt x="48504" y="945133"/>
                  </a:lnTo>
                  <a:lnTo>
                    <a:pt x="22609" y="911615"/>
                  </a:lnTo>
                  <a:lnTo>
                    <a:pt x="5915" y="872057"/>
                  </a:lnTo>
                  <a:lnTo>
                    <a:pt x="0" y="828039"/>
                  </a:lnTo>
                  <a:lnTo>
                    <a:pt x="0" y="16560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38200" y="2971799"/>
              <a:ext cx="10515600" cy="993775"/>
            </a:xfrm>
            <a:custGeom>
              <a:avLst/>
              <a:gdLst/>
              <a:ahLst/>
              <a:cxnLst/>
              <a:rect l="l" t="t" r="r" b="b"/>
              <a:pathLst>
                <a:path w="10515600" h="993775">
                  <a:moveTo>
                    <a:pt x="10349992" y="0"/>
                  </a:moveTo>
                  <a:lnTo>
                    <a:pt x="165608" y="0"/>
                  </a:lnTo>
                  <a:lnTo>
                    <a:pt x="121581" y="5917"/>
                  </a:lnTo>
                  <a:lnTo>
                    <a:pt x="82021" y="22615"/>
                  </a:lnTo>
                  <a:lnTo>
                    <a:pt x="48504" y="48513"/>
                  </a:lnTo>
                  <a:lnTo>
                    <a:pt x="22609" y="82032"/>
                  </a:lnTo>
                  <a:lnTo>
                    <a:pt x="5915" y="121590"/>
                  </a:lnTo>
                  <a:lnTo>
                    <a:pt x="0" y="165608"/>
                  </a:lnTo>
                  <a:lnTo>
                    <a:pt x="0" y="828039"/>
                  </a:lnTo>
                  <a:lnTo>
                    <a:pt x="5915" y="872057"/>
                  </a:lnTo>
                  <a:lnTo>
                    <a:pt x="22609" y="911615"/>
                  </a:lnTo>
                  <a:lnTo>
                    <a:pt x="48504" y="945134"/>
                  </a:lnTo>
                  <a:lnTo>
                    <a:pt x="82021" y="971032"/>
                  </a:lnTo>
                  <a:lnTo>
                    <a:pt x="121581" y="987730"/>
                  </a:lnTo>
                  <a:lnTo>
                    <a:pt x="165608" y="993648"/>
                  </a:lnTo>
                  <a:lnTo>
                    <a:pt x="10349992" y="993648"/>
                  </a:lnTo>
                  <a:lnTo>
                    <a:pt x="10394009" y="987730"/>
                  </a:lnTo>
                  <a:lnTo>
                    <a:pt x="10433567" y="971032"/>
                  </a:lnTo>
                  <a:lnTo>
                    <a:pt x="10467086" y="945134"/>
                  </a:lnTo>
                  <a:lnTo>
                    <a:pt x="10492984" y="911615"/>
                  </a:lnTo>
                  <a:lnTo>
                    <a:pt x="10509682" y="872057"/>
                  </a:lnTo>
                  <a:lnTo>
                    <a:pt x="10515600" y="828039"/>
                  </a:lnTo>
                  <a:lnTo>
                    <a:pt x="10515600" y="165608"/>
                  </a:lnTo>
                  <a:lnTo>
                    <a:pt x="10509682" y="121590"/>
                  </a:lnTo>
                  <a:lnTo>
                    <a:pt x="10492984" y="82032"/>
                  </a:lnTo>
                  <a:lnTo>
                    <a:pt x="10467086" y="48514"/>
                  </a:lnTo>
                  <a:lnTo>
                    <a:pt x="10433567" y="22615"/>
                  </a:lnTo>
                  <a:lnTo>
                    <a:pt x="10394009" y="5917"/>
                  </a:lnTo>
                  <a:lnTo>
                    <a:pt x="10349992" y="0"/>
                  </a:lnTo>
                  <a:close/>
                </a:path>
              </a:pathLst>
            </a:custGeom>
            <a:solidFill>
              <a:srgbClr val="D17A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38200" y="2971799"/>
              <a:ext cx="10515600" cy="993775"/>
            </a:xfrm>
            <a:custGeom>
              <a:avLst/>
              <a:gdLst/>
              <a:ahLst/>
              <a:cxnLst/>
              <a:rect l="l" t="t" r="r" b="b"/>
              <a:pathLst>
                <a:path w="10515600" h="993775">
                  <a:moveTo>
                    <a:pt x="0" y="165608"/>
                  </a:moveTo>
                  <a:lnTo>
                    <a:pt x="5915" y="121590"/>
                  </a:lnTo>
                  <a:lnTo>
                    <a:pt x="22609" y="82032"/>
                  </a:lnTo>
                  <a:lnTo>
                    <a:pt x="48504" y="48513"/>
                  </a:lnTo>
                  <a:lnTo>
                    <a:pt x="82021" y="22615"/>
                  </a:lnTo>
                  <a:lnTo>
                    <a:pt x="121581" y="5917"/>
                  </a:lnTo>
                  <a:lnTo>
                    <a:pt x="165608" y="0"/>
                  </a:lnTo>
                  <a:lnTo>
                    <a:pt x="10349992" y="0"/>
                  </a:lnTo>
                  <a:lnTo>
                    <a:pt x="10394009" y="5917"/>
                  </a:lnTo>
                  <a:lnTo>
                    <a:pt x="10433567" y="22615"/>
                  </a:lnTo>
                  <a:lnTo>
                    <a:pt x="10467086" y="48514"/>
                  </a:lnTo>
                  <a:lnTo>
                    <a:pt x="10492984" y="82032"/>
                  </a:lnTo>
                  <a:lnTo>
                    <a:pt x="10509682" y="121590"/>
                  </a:lnTo>
                  <a:lnTo>
                    <a:pt x="10515600" y="165608"/>
                  </a:lnTo>
                  <a:lnTo>
                    <a:pt x="10515600" y="828039"/>
                  </a:lnTo>
                  <a:lnTo>
                    <a:pt x="10509682" y="872057"/>
                  </a:lnTo>
                  <a:lnTo>
                    <a:pt x="10492984" y="911615"/>
                  </a:lnTo>
                  <a:lnTo>
                    <a:pt x="10467086" y="945134"/>
                  </a:lnTo>
                  <a:lnTo>
                    <a:pt x="10433567" y="971032"/>
                  </a:lnTo>
                  <a:lnTo>
                    <a:pt x="10394009" y="987730"/>
                  </a:lnTo>
                  <a:lnTo>
                    <a:pt x="10349992" y="993648"/>
                  </a:lnTo>
                  <a:lnTo>
                    <a:pt x="165608" y="993648"/>
                  </a:lnTo>
                  <a:lnTo>
                    <a:pt x="121581" y="987730"/>
                  </a:lnTo>
                  <a:lnTo>
                    <a:pt x="82021" y="971032"/>
                  </a:lnTo>
                  <a:lnTo>
                    <a:pt x="48504" y="945134"/>
                  </a:lnTo>
                  <a:lnTo>
                    <a:pt x="22609" y="911615"/>
                  </a:lnTo>
                  <a:lnTo>
                    <a:pt x="5915" y="872057"/>
                  </a:lnTo>
                  <a:lnTo>
                    <a:pt x="0" y="828039"/>
                  </a:lnTo>
                  <a:lnTo>
                    <a:pt x="0" y="16560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38200" y="4037075"/>
              <a:ext cx="10515600" cy="993775"/>
            </a:xfrm>
            <a:custGeom>
              <a:avLst/>
              <a:gdLst/>
              <a:ahLst/>
              <a:cxnLst/>
              <a:rect l="l" t="t" r="r" b="b"/>
              <a:pathLst>
                <a:path w="10515600" h="993775">
                  <a:moveTo>
                    <a:pt x="10349992" y="0"/>
                  </a:moveTo>
                  <a:lnTo>
                    <a:pt x="165608" y="0"/>
                  </a:lnTo>
                  <a:lnTo>
                    <a:pt x="121581" y="5917"/>
                  </a:lnTo>
                  <a:lnTo>
                    <a:pt x="82021" y="22615"/>
                  </a:lnTo>
                  <a:lnTo>
                    <a:pt x="48504" y="48513"/>
                  </a:lnTo>
                  <a:lnTo>
                    <a:pt x="22609" y="82032"/>
                  </a:lnTo>
                  <a:lnTo>
                    <a:pt x="5915" y="121590"/>
                  </a:lnTo>
                  <a:lnTo>
                    <a:pt x="0" y="165607"/>
                  </a:lnTo>
                  <a:lnTo>
                    <a:pt x="0" y="828040"/>
                  </a:lnTo>
                  <a:lnTo>
                    <a:pt x="5915" y="872057"/>
                  </a:lnTo>
                  <a:lnTo>
                    <a:pt x="22609" y="911615"/>
                  </a:lnTo>
                  <a:lnTo>
                    <a:pt x="48504" y="945134"/>
                  </a:lnTo>
                  <a:lnTo>
                    <a:pt x="82021" y="971032"/>
                  </a:lnTo>
                  <a:lnTo>
                    <a:pt x="121581" y="987730"/>
                  </a:lnTo>
                  <a:lnTo>
                    <a:pt x="165608" y="993648"/>
                  </a:lnTo>
                  <a:lnTo>
                    <a:pt x="10349992" y="993648"/>
                  </a:lnTo>
                  <a:lnTo>
                    <a:pt x="10394009" y="987730"/>
                  </a:lnTo>
                  <a:lnTo>
                    <a:pt x="10433567" y="971032"/>
                  </a:lnTo>
                  <a:lnTo>
                    <a:pt x="10467086" y="945134"/>
                  </a:lnTo>
                  <a:lnTo>
                    <a:pt x="10492984" y="911615"/>
                  </a:lnTo>
                  <a:lnTo>
                    <a:pt x="10509682" y="872057"/>
                  </a:lnTo>
                  <a:lnTo>
                    <a:pt x="10515600" y="828040"/>
                  </a:lnTo>
                  <a:lnTo>
                    <a:pt x="10515600" y="165607"/>
                  </a:lnTo>
                  <a:lnTo>
                    <a:pt x="10509682" y="121590"/>
                  </a:lnTo>
                  <a:lnTo>
                    <a:pt x="10492984" y="82032"/>
                  </a:lnTo>
                  <a:lnTo>
                    <a:pt x="10467086" y="48513"/>
                  </a:lnTo>
                  <a:lnTo>
                    <a:pt x="10433567" y="22615"/>
                  </a:lnTo>
                  <a:lnTo>
                    <a:pt x="10394009" y="5917"/>
                  </a:lnTo>
                  <a:lnTo>
                    <a:pt x="10349992" y="0"/>
                  </a:lnTo>
                  <a:close/>
                </a:path>
              </a:pathLst>
            </a:custGeom>
            <a:solidFill>
              <a:srgbClr val="B889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38200" y="4037075"/>
              <a:ext cx="10515600" cy="993775"/>
            </a:xfrm>
            <a:custGeom>
              <a:avLst/>
              <a:gdLst/>
              <a:ahLst/>
              <a:cxnLst/>
              <a:rect l="l" t="t" r="r" b="b"/>
              <a:pathLst>
                <a:path w="10515600" h="993775">
                  <a:moveTo>
                    <a:pt x="0" y="165607"/>
                  </a:moveTo>
                  <a:lnTo>
                    <a:pt x="5915" y="121590"/>
                  </a:lnTo>
                  <a:lnTo>
                    <a:pt x="22609" y="82032"/>
                  </a:lnTo>
                  <a:lnTo>
                    <a:pt x="48504" y="48513"/>
                  </a:lnTo>
                  <a:lnTo>
                    <a:pt x="82021" y="22615"/>
                  </a:lnTo>
                  <a:lnTo>
                    <a:pt x="121581" y="5917"/>
                  </a:lnTo>
                  <a:lnTo>
                    <a:pt x="165608" y="0"/>
                  </a:lnTo>
                  <a:lnTo>
                    <a:pt x="10349992" y="0"/>
                  </a:lnTo>
                  <a:lnTo>
                    <a:pt x="10394009" y="5917"/>
                  </a:lnTo>
                  <a:lnTo>
                    <a:pt x="10433567" y="22615"/>
                  </a:lnTo>
                  <a:lnTo>
                    <a:pt x="10467086" y="48513"/>
                  </a:lnTo>
                  <a:lnTo>
                    <a:pt x="10492984" y="82032"/>
                  </a:lnTo>
                  <a:lnTo>
                    <a:pt x="10509682" y="121590"/>
                  </a:lnTo>
                  <a:lnTo>
                    <a:pt x="10515600" y="165607"/>
                  </a:lnTo>
                  <a:lnTo>
                    <a:pt x="10515600" y="828040"/>
                  </a:lnTo>
                  <a:lnTo>
                    <a:pt x="10509682" y="872057"/>
                  </a:lnTo>
                  <a:lnTo>
                    <a:pt x="10492984" y="911615"/>
                  </a:lnTo>
                  <a:lnTo>
                    <a:pt x="10467086" y="945134"/>
                  </a:lnTo>
                  <a:lnTo>
                    <a:pt x="10433567" y="971032"/>
                  </a:lnTo>
                  <a:lnTo>
                    <a:pt x="10394009" y="987730"/>
                  </a:lnTo>
                  <a:lnTo>
                    <a:pt x="10349992" y="993648"/>
                  </a:lnTo>
                  <a:lnTo>
                    <a:pt x="165608" y="993648"/>
                  </a:lnTo>
                  <a:lnTo>
                    <a:pt x="121581" y="987730"/>
                  </a:lnTo>
                  <a:lnTo>
                    <a:pt x="82021" y="971032"/>
                  </a:lnTo>
                  <a:lnTo>
                    <a:pt x="48504" y="945134"/>
                  </a:lnTo>
                  <a:lnTo>
                    <a:pt x="22609" y="911615"/>
                  </a:lnTo>
                  <a:lnTo>
                    <a:pt x="5915" y="872057"/>
                  </a:lnTo>
                  <a:lnTo>
                    <a:pt x="0" y="828040"/>
                  </a:lnTo>
                  <a:lnTo>
                    <a:pt x="0" y="16560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38200" y="5102351"/>
              <a:ext cx="10515600" cy="993775"/>
            </a:xfrm>
            <a:custGeom>
              <a:avLst/>
              <a:gdLst/>
              <a:ahLst/>
              <a:cxnLst/>
              <a:rect l="l" t="t" r="r" b="b"/>
              <a:pathLst>
                <a:path w="10515600" h="993775">
                  <a:moveTo>
                    <a:pt x="10349992" y="0"/>
                  </a:moveTo>
                  <a:lnTo>
                    <a:pt x="165608" y="0"/>
                  </a:lnTo>
                  <a:lnTo>
                    <a:pt x="121581" y="5917"/>
                  </a:lnTo>
                  <a:lnTo>
                    <a:pt x="82021" y="22615"/>
                  </a:lnTo>
                  <a:lnTo>
                    <a:pt x="48504" y="48513"/>
                  </a:lnTo>
                  <a:lnTo>
                    <a:pt x="22609" y="82032"/>
                  </a:lnTo>
                  <a:lnTo>
                    <a:pt x="5915" y="121590"/>
                  </a:lnTo>
                  <a:lnTo>
                    <a:pt x="0" y="165608"/>
                  </a:lnTo>
                  <a:lnTo>
                    <a:pt x="0" y="828040"/>
                  </a:lnTo>
                  <a:lnTo>
                    <a:pt x="5915" y="872066"/>
                  </a:lnTo>
                  <a:lnTo>
                    <a:pt x="22609" y="911626"/>
                  </a:lnTo>
                  <a:lnTo>
                    <a:pt x="48504" y="945143"/>
                  </a:lnTo>
                  <a:lnTo>
                    <a:pt x="82021" y="971038"/>
                  </a:lnTo>
                  <a:lnTo>
                    <a:pt x="121581" y="987732"/>
                  </a:lnTo>
                  <a:lnTo>
                    <a:pt x="165608" y="993648"/>
                  </a:lnTo>
                  <a:lnTo>
                    <a:pt x="10349992" y="993648"/>
                  </a:lnTo>
                  <a:lnTo>
                    <a:pt x="10394009" y="987732"/>
                  </a:lnTo>
                  <a:lnTo>
                    <a:pt x="10433567" y="971038"/>
                  </a:lnTo>
                  <a:lnTo>
                    <a:pt x="10467086" y="945143"/>
                  </a:lnTo>
                  <a:lnTo>
                    <a:pt x="10492984" y="911626"/>
                  </a:lnTo>
                  <a:lnTo>
                    <a:pt x="10509682" y="872066"/>
                  </a:lnTo>
                  <a:lnTo>
                    <a:pt x="10515600" y="828040"/>
                  </a:lnTo>
                  <a:lnTo>
                    <a:pt x="10515600" y="165608"/>
                  </a:lnTo>
                  <a:lnTo>
                    <a:pt x="10509682" y="121590"/>
                  </a:lnTo>
                  <a:lnTo>
                    <a:pt x="10492984" y="82032"/>
                  </a:lnTo>
                  <a:lnTo>
                    <a:pt x="10467086" y="48513"/>
                  </a:lnTo>
                  <a:lnTo>
                    <a:pt x="10433567" y="22615"/>
                  </a:lnTo>
                  <a:lnTo>
                    <a:pt x="10394009" y="5917"/>
                  </a:lnTo>
                  <a:lnTo>
                    <a:pt x="10349992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38200" y="5102351"/>
              <a:ext cx="10515600" cy="993775"/>
            </a:xfrm>
            <a:custGeom>
              <a:avLst/>
              <a:gdLst/>
              <a:ahLst/>
              <a:cxnLst/>
              <a:rect l="l" t="t" r="r" b="b"/>
              <a:pathLst>
                <a:path w="10515600" h="993775">
                  <a:moveTo>
                    <a:pt x="0" y="165608"/>
                  </a:moveTo>
                  <a:lnTo>
                    <a:pt x="5915" y="121590"/>
                  </a:lnTo>
                  <a:lnTo>
                    <a:pt x="22609" y="82032"/>
                  </a:lnTo>
                  <a:lnTo>
                    <a:pt x="48504" y="48513"/>
                  </a:lnTo>
                  <a:lnTo>
                    <a:pt x="82021" y="22615"/>
                  </a:lnTo>
                  <a:lnTo>
                    <a:pt x="121581" y="5917"/>
                  </a:lnTo>
                  <a:lnTo>
                    <a:pt x="165608" y="0"/>
                  </a:lnTo>
                  <a:lnTo>
                    <a:pt x="10349992" y="0"/>
                  </a:lnTo>
                  <a:lnTo>
                    <a:pt x="10394009" y="5917"/>
                  </a:lnTo>
                  <a:lnTo>
                    <a:pt x="10433567" y="22615"/>
                  </a:lnTo>
                  <a:lnTo>
                    <a:pt x="10467086" y="48513"/>
                  </a:lnTo>
                  <a:lnTo>
                    <a:pt x="10492984" y="82032"/>
                  </a:lnTo>
                  <a:lnTo>
                    <a:pt x="10509682" y="121590"/>
                  </a:lnTo>
                  <a:lnTo>
                    <a:pt x="10515600" y="165608"/>
                  </a:lnTo>
                  <a:lnTo>
                    <a:pt x="10515600" y="828040"/>
                  </a:lnTo>
                  <a:lnTo>
                    <a:pt x="10509682" y="872066"/>
                  </a:lnTo>
                  <a:lnTo>
                    <a:pt x="10492984" y="911626"/>
                  </a:lnTo>
                  <a:lnTo>
                    <a:pt x="10467086" y="945143"/>
                  </a:lnTo>
                  <a:lnTo>
                    <a:pt x="10433567" y="971038"/>
                  </a:lnTo>
                  <a:lnTo>
                    <a:pt x="10394009" y="987732"/>
                  </a:lnTo>
                  <a:lnTo>
                    <a:pt x="10349992" y="993648"/>
                  </a:lnTo>
                  <a:lnTo>
                    <a:pt x="165608" y="993648"/>
                  </a:lnTo>
                  <a:lnTo>
                    <a:pt x="121581" y="987732"/>
                  </a:lnTo>
                  <a:lnTo>
                    <a:pt x="82021" y="971038"/>
                  </a:lnTo>
                  <a:lnTo>
                    <a:pt x="48504" y="945143"/>
                  </a:lnTo>
                  <a:lnTo>
                    <a:pt x="22609" y="911626"/>
                  </a:lnTo>
                  <a:lnTo>
                    <a:pt x="5915" y="872066"/>
                  </a:lnTo>
                  <a:lnTo>
                    <a:pt x="0" y="828040"/>
                  </a:lnTo>
                  <a:lnTo>
                    <a:pt x="0" y="16560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69365" y="2163572"/>
            <a:ext cx="9621520" cy="37769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Scalar</a:t>
            </a:r>
            <a:r>
              <a:rPr dirty="0" sz="25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5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dirty="0" sz="25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25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5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dirty="0" sz="25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internal</a:t>
            </a:r>
            <a:r>
              <a:rPr dirty="0" sz="25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components</a:t>
            </a:r>
            <a:endParaRPr sz="2500">
              <a:latin typeface="Calibri"/>
              <a:cs typeface="Calibri"/>
            </a:endParaRPr>
          </a:p>
          <a:p>
            <a:pPr marL="12700" marR="2503170">
              <a:lnSpc>
                <a:spcPts val="8390"/>
              </a:lnSpc>
              <a:spcBef>
                <a:spcPts val="1175"/>
              </a:spcBef>
            </a:pP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Composite</a:t>
            </a:r>
            <a:r>
              <a:rPr dirty="0" sz="25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5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5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items</a:t>
            </a:r>
            <a:r>
              <a:rPr dirty="0" sz="25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5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dirty="0" sz="25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internal</a:t>
            </a:r>
            <a:r>
              <a:rPr dirty="0" sz="25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components </a:t>
            </a:r>
            <a:r>
              <a:rPr dirty="0" sz="2500" spc="-20">
                <a:solidFill>
                  <a:srgbClr val="FFFFFF"/>
                </a:solidFill>
                <a:latin typeface="Calibri"/>
                <a:cs typeface="Calibri"/>
              </a:rPr>
              <a:t>Reference</a:t>
            </a:r>
            <a:r>
              <a:rPr dirty="0" sz="25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5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Pointers</a:t>
            </a:r>
            <a:r>
              <a:rPr dirty="0" sz="25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5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dirty="0" sz="25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5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items.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500">
              <a:latin typeface="Calibri"/>
              <a:cs typeface="Calibri"/>
            </a:endParaRPr>
          </a:p>
          <a:p>
            <a:pPr marL="12700" marR="5080">
              <a:lnSpc>
                <a:spcPts val="2750"/>
              </a:lnSpc>
            </a:pP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dirty="0" sz="25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Objects(LOB)</a:t>
            </a:r>
            <a:r>
              <a:rPr dirty="0" sz="25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Pointers</a:t>
            </a:r>
            <a:r>
              <a:rPr dirty="0" sz="25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5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dirty="0" sz="25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objects</a:t>
            </a:r>
            <a:r>
              <a:rPr dirty="0" sz="25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dirty="0" sz="25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5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text,</a:t>
            </a:r>
            <a:r>
              <a:rPr dirty="0" sz="25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graphic</a:t>
            </a:r>
            <a:r>
              <a:rPr dirty="0" sz="2500" spc="40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images,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video</a:t>
            </a:r>
            <a:r>
              <a:rPr dirty="0" sz="25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Calibri"/>
                <a:cs typeface="Calibri"/>
              </a:rPr>
              <a:t>clips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7025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16687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PL/SQL</a:t>
            </a:r>
            <a:r>
              <a:rPr dirty="0" sz="4400" spc="-120"/>
              <a:t> </a:t>
            </a:r>
            <a:r>
              <a:rPr dirty="0" sz="4400"/>
              <a:t>Data</a:t>
            </a:r>
            <a:r>
              <a:rPr dirty="0" sz="4400" spc="-95"/>
              <a:t> </a:t>
            </a:r>
            <a:r>
              <a:rPr dirty="0" sz="4400" spc="-20"/>
              <a:t>Types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838200" y="1575816"/>
            <a:ext cx="10515600" cy="4213860"/>
          </a:xfrm>
          <a:custGeom>
            <a:avLst/>
            <a:gdLst/>
            <a:ahLst/>
            <a:cxnLst/>
            <a:rect l="l" t="t" r="r" b="b"/>
            <a:pathLst>
              <a:path w="10515600" h="4213860">
                <a:moveTo>
                  <a:pt x="0" y="0"/>
                </a:moveTo>
                <a:lnTo>
                  <a:pt x="10515600" y="0"/>
                </a:lnTo>
              </a:path>
              <a:path w="10515600" h="4213860">
                <a:moveTo>
                  <a:pt x="0" y="702563"/>
                </a:moveTo>
                <a:lnTo>
                  <a:pt x="10515600" y="702563"/>
                </a:lnTo>
              </a:path>
              <a:path w="10515600" h="4213860">
                <a:moveTo>
                  <a:pt x="0" y="1405128"/>
                </a:moveTo>
                <a:lnTo>
                  <a:pt x="10515600" y="1405128"/>
                </a:lnTo>
              </a:path>
              <a:path w="10515600" h="4213860">
                <a:moveTo>
                  <a:pt x="0" y="2107692"/>
                </a:moveTo>
                <a:lnTo>
                  <a:pt x="10515600" y="2107692"/>
                </a:lnTo>
              </a:path>
              <a:path w="10515600" h="4213860">
                <a:moveTo>
                  <a:pt x="0" y="2810256"/>
                </a:moveTo>
                <a:lnTo>
                  <a:pt x="10515600" y="2810256"/>
                </a:lnTo>
              </a:path>
              <a:path w="10515600" h="4213860">
                <a:moveTo>
                  <a:pt x="0" y="3511296"/>
                </a:moveTo>
                <a:lnTo>
                  <a:pt x="10515600" y="3511296"/>
                </a:lnTo>
              </a:path>
              <a:path w="10515600" h="4213860">
                <a:moveTo>
                  <a:pt x="0" y="4213860"/>
                </a:moveTo>
                <a:lnTo>
                  <a:pt x="10515600" y="4213860"/>
                </a:lnTo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98042" y="1595119"/>
            <a:ext cx="10138410" cy="4794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default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data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types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declared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PL/SQL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are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number,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char,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30">
                <a:latin typeface="Calibri"/>
                <a:cs typeface="Calibri"/>
              </a:rPr>
              <a:t>varchar,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date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Boolean</a:t>
            </a:r>
            <a:endParaRPr sz="1900">
              <a:latin typeface="Calibri"/>
              <a:cs typeface="Calibri"/>
            </a:endParaRPr>
          </a:p>
          <a:p>
            <a:pPr marL="12700" marR="922019">
              <a:lnSpc>
                <a:spcPct val="242499"/>
              </a:lnSpc>
              <a:spcBef>
                <a:spcPts val="5"/>
              </a:spcBef>
            </a:pPr>
            <a:r>
              <a:rPr dirty="0" sz="1900">
                <a:latin typeface="Calibri"/>
                <a:cs typeface="Calibri"/>
              </a:rPr>
              <a:t>Raw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types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are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used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store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binary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data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fixed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length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its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maximum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length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32767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bytes </a:t>
            </a:r>
            <a:r>
              <a:rPr dirty="0" sz="1900">
                <a:latin typeface="Calibri"/>
                <a:cs typeface="Calibri"/>
              </a:rPr>
              <a:t>Long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Raw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similar</a:t>
            </a:r>
            <a:r>
              <a:rPr dirty="0" sz="1900" spc="-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Raw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but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its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maximum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length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2GB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900">
              <a:latin typeface="Calibri"/>
              <a:cs typeface="Calibri"/>
            </a:endParaRPr>
          </a:p>
          <a:p>
            <a:pPr marL="12700" marR="10795">
              <a:lnSpc>
                <a:spcPts val="2090"/>
              </a:lnSpc>
              <a:spcBef>
                <a:spcPts val="5"/>
              </a:spcBef>
            </a:pPr>
            <a:r>
              <a:rPr dirty="0" sz="1900">
                <a:latin typeface="Calibri"/>
                <a:cs typeface="Calibri"/>
              </a:rPr>
              <a:t>ROWID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data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type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same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as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database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ROWID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pseudo-</a:t>
            </a:r>
            <a:r>
              <a:rPr dirty="0" sz="1900">
                <a:latin typeface="Calibri"/>
                <a:cs typeface="Calibri"/>
              </a:rPr>
              <a:t>column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type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which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holds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rowid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can </a:t>
            </a:r>
            <a:r>
              <a:rPr dirty="0" sz="1900">
                <a:latin typeface="Calibri"/>
                <a:cs typeface="Calibri"/>
              </a:rPr>
              <a:t>be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considered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as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unique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key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for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every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row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database.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185"/>
              </a:lnSpc>
              <a:spcBef>
                <a:spcPts val="1120"/>
              </a:spcBef>
            </a:pPr>
            <a:r>
              <a:rPr dirty="0" sz="1900">
                <a:latin typeface="Calibri"/>
                <a:cs typeface="Calibri"/>
              </a:rPr>
              <a:t>BLOB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(Binary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LOB)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–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Stores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unstructured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binary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data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up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4GB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length.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BLOB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could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contain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video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or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185"/>
              </a:lnSpc>
            </a:pPr>
            <a:r>
              <a:rPr dirty="0" sz="1900">
                <a:latin typeface="Calibri"/>
                <a:cs typeface="Calibri"/>
              </a:rPr>
              <a:t>picture</a:t>
            </a:r>
            <a:r>
              <a:rPr dirty="0" sz="1900" spc="-9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information</a:t>
            </a:r>
            <a:endParaRPr sz="1900">
              <a:latin typeface="Calibri"/>
              <a:cs typeface="Calibri"/>
            </a:endParaRPr>
          </a:p>
          <a:p>
            <a:pPr marL="12700" marR="377825">
              <a:lnSpc>
                <a:spcPts val="2090"/>
              </a:lnSpc>
              <a:spcBef>
                <a:spcPts val="1390"/>
              </a:spcBef>
            </a:pPr>
            <a:r>
              <a:rPr dirty="0" sz="1900">
                <a:latin typeface="Calibri"/>
                <a:cs typeface="Calibri"/>
              </a:rPr>
              <a:t>CLOB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(Character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LOB)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–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Stores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single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byte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character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up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4GB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length.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This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might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be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used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store documents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185"/>
              </a:lnSpc>
              <a:spcBef>
                <a:spcPts val="1125"/>
              </a:spcBef>
            </a:pPr>
            <a:r>
              <a:rPr dirty="0" sz="1900">
                <a:latin typeface="Calibri"/>
                <a:cs typeface="Calibri"/>
              </a:rPr>
              <a:t>BFILE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(Binary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File)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–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This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stores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pointer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read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only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binary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data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stored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external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file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outside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the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185"/>
              </a:lnSpc>
            </a:pPr>
            <a:r>
              <a:rPr dirty="0" sz="1900" spc="-10">
                <a:latin typeface="Calibri"/>
                <a:cs typeface="Calibri"/>
              </a:rPr>
              <a:t>database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8423" y="2919806"/>
            <a:ext cx="472249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latin typeface="Calibri Light"/>
                <a:cs typeface="Calibri Light"/>
              </a:rPr>
              <a:t>1.Scalar</a:t>
            </a:r>
            <a:r>
              <a:rPr dirty="0" sz="4800" spc="-160">
                <a:latin typeface="Calibri Light"/>
                <a:cs typeface="Calibri Light"/>
              </a:rPr>
              <a:t> </a:t>
            </a:r>
            <a:r>
              <a:rPr dirty="0" sz="4800">
                <a:latin typeface="Calibri Light"/>
                <a:cs typeface="Calibri Light"/>
              </a:rPr>
              <a:t>Data</a:t>
            </a:r>
            <a:r>
              <a:rPr dirty="0" sz="4800" spc="-165">
                <a:latin typeface="Calibri Light"/>
                <a:cs typeface="Calibri Light"/>
              </a:rPr>
              <a:t> </a:t>
            </a:r>
            <a:r>
              <a:rPr dirty="0" sz="4800" spc="-20">
                <a:latin typeface="Calibri Light"/>
                <a:cs typeface="Calibri Light"/>
              </a:rPr>
              <a:t>Types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7000" cy="6858000"/>
          </a:xfrm>
          <a:custGeom>
            <a:avLst/>
            <a:gdLst/>
            <a:ahLst/>
            <a:cxnLst/>
            <a:rect l="l" t="t" r="r" b="b"/>
            <a:pathLst>
              <a:path w="127000" h="6858000">
                <a:moveTo>
                  <a:pt x="126492" y="0"/>
                </a:moveTo>
                <a:lnTo>
                  <a:pt x="0" y="0"/>
                </a:lnTo>
                <a:lnTo>
                  <a:pt x="0" y="6858000"/>
                </a:lnTo>
                <a:lnTo>
                  <a:pt x="126492" y="6858000"/>
                </a:lnTo>
                <a:lnTo>
                  <a:pt x="12649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99047" y="652272"/>
            <a:ext cx="5257800" cy="1511935"/>
          </a:xfrm>
          <a:custGeom>
            <a:avLst/>
            <a:gdLst/>
            <a:ahLst/>
            <a:cxnLst/>
            <a:rect l="l" t="t" r="r" b="b"/>
            <a:pathLst>
              <a:path w="5257800" h="1511935">
                <a:moveTo>
                  <a:pt x="5005832" y="0"/>
                </a:moveTo>
                <a:lnTo>
                  <a:pt x="251967" y="0"/>
                </a:lnTo>
                <a:lnTo>
                  <a:pt x="206667" y="4058"/>
                </a:lnTo>
                <a:lnTo>
                  <a:pt x="164034" y="15759"/>
                </a:lnTo>
                <a:lnTo>
                  <a:pt x="124779" y="34393"/>
                </a:lnTo>
                <a:lnTo>
                  <a:pt x="89614" y="59248"/>
                </a:lnTo>
                <a:lnTo>
                  <a:pt x="59248" y="89614"/>
                </a:lnTo>
                <a:lnTo>
                  <a:pt x="34393" y="124779"/>
                </a:lnTo>
                <a:lnTo>
                  <a:pt x="15759" y="164034"/>
                </a:lnTo>
                <a:lnTo>
                  <a:pt x="4058" y="206667"/>
                </a:lnTo>
                <a:lnTo>
                  <a:pt x="0" y="251967"/>
                </a:lnTo>
                <a:lnTo>
                  <a:pt x="0" y="1259839"/>
                </a:lnTo>
                <a:lnTo>
                  <a:pt x="4058" y="1305140"/>
                </a:lnTo>
                <a:lnTo>
                  <a:pt x="15759" y="1347773"/>
                </a:lnTo>
                <a:lnTo>
                  <a:pt x="34393" y="1387028"/>
                </a:lnTo>
                <a:lnTo>
                  <a:pt x="59248" y="1422193"/>
                </a:lnTo>
                <a:lnTo>
                  <a:pt x="89614" y="1452559"/>
                </a:lnTo>
                <a:lnTo>
                  <a:pt x="124779" y="1477414"/>
                </a:lnTo>
                <a:lnTo>
                  <a:pt x="164034" y="1496048"/>
                </a:lnTo>
                <a:lnTo>
                  <a:pt x="206667" y="1507749"/>
                </a:lnTo>
                <a:lnTo>
                  <a:pt x="251967" y="1511807"/>
                </a:lnTo>
                <a:lnTo>
                  <a:pt x="5005832" y="1511807"/>
                </a:lnTo>
                <a:lnTo>
                  <a:pt x="5051132" y="1507749"/>
                </a:lnTo>
                <a:lnTo>
                  <a:pt x="5093765" y="1496048"/>
                </a:lnTo>
                <a:lnTo>
                  <a:pt x="5133020" y="1477414"/>
                </a:lnTo>
                <a:lnTo>
                  <a:pt x="5168185" y="1452559"/>
                </a:lnTo>
                <a:lnTo>
                  <a:pt x="5198551" y="1422193"/>
                </a:lnTo>
                <a:lnTo>
                  <a:pt x="5223406" y="1387028"/>
                </a:lnTo>
                <a:lnTo>
                  <a:pt x="5242040" y="1347773"/>
                </a:lnTo>
                <a:lnTo>
                  <a:pt x="5253741" y="1305140"/>
                </a:lnTo>
                <a:lnTo>
                  <a:pt x="5257800" y="1259839"/>
                </a:lnTo>
                <a:lnTo>
                  <a:pt x="5257800" y="251967"/>
                </a:lnTo>
                <a:lnTo>
                  <a:pt x="5253741" y="206667"/>
                </a:lnTo>
                <a:lnTo>
                  <a:pt x="5242040" y="164034"/>
                </a:lnTo>
                <a:lnTo>
                  <a:pt x="5223406" y="124779"/>
                </a:lnTo>
                <a:lnTo>
                  <a:pt x="5198551" y="89614"/>
                </a:lnTo>
                <a:lnTo>
                  <a:pt x="5168185" y="59248"/>
                </a:lnTo>
                <a:lnTo>
                  <a:pt x="5133020" y="34393"/>
                </a:lnTo>
                <a:lnTo>
                  <a:pt x="5093765" y="15759"/>
                </a:lnTo>
                <a:lnTo>
                  <a:pt x="5051132" y="4058"/>
                </a:lnTo>
                <a:lnTo>
                  <a:pt x="500583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305803" y="782827"/>
            <a:ext cx="4276725" cy="1136015"/>
          </a:xfrm>
          <a:prstGeom prst="rect"/>
        </p:spPr>
        <p:txBody>
          <a:bodyPr wrap="square" lIns="0" tIns="71120" rIns="0" bIns="0" rtlCol="0" vert="horz">
            <a:spAutoFit/>
          </a:bodyPr>
          <a:lstStyle/>
          <a:p>
            <a:pPr marL="12700" marR="5080">
              <a:lnSpc>
                <a:spcPts val="4180"/>
              </a:lnSpc>
              <a:spcBef>
                <a:spcPts val="560"/>
              </a:spcBef>
            </a:pP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Scalar</a:t>
            </a:r>
            <a:r>
              <a:rPr dirty="0" sz="3800" spc="-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380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FFFFFF"/>
                </a:solidFill>
                <a:latin typeface="Calibri"/>
                <a:cs typeface="Calibri"/>
              </a:rPr>
              <a:t>Types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divided</a:t>
            </a:r>
            <a:r>
              <a:rPr dirty="0" sz="3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38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dirty="0" sz="3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FFFFFF"/>
                </a:solidFill>
                <a:latin typeface="Calibri"/>
                <a:cs typeface="Calibri"/>
              </a:rPr>
              <a:t>groups: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3988" y="2135504"/>
            <a:ext cx="4542790" cy="387731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297180" marR="5080" indent="-285115">
              <a:lnSpc>
                <a:spcPts val="3290"/>
              </a:lnSpc>
              <a:spcBef>
                <a:spcPts val="465"/>
              </a:spcBef>
              <a:buChar char="•"/>
              <a:tabLst>
                <a:tab pos="299085" algn="l"/>
              </a:tabLst>
            </a:pPr>
            <a:r>
              <a:rPr dirty="0" sz="3000">
                <a:latin typeface="Calibri"/>
                <a:cs typeface="Calibri"/>
              </a:rPr>
              <a:t>Numeric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Types: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int,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 spc="-30">
                <a:latin typeface="Calibri"/>
                <a:cs typeface="Calibri"/>
              </a:rPr>
              <a:t>integer, </a:t>
            </a:r>
            <a:r>
              <a:rPr dirty="0" sz="3000" spc="-30">
                <a:latin typeface="Calibri"/>
                <a:cs typeface="Calibri"/>
              </a:rPr>
              <a:t>	</a:t>
            </a:r>
            <a:r>
              <a:rPr dirty="0" sz="3000" spc="-20">
                <a:latin typeface="Calibri"/>
                <a:cs typeface="Calibri"/>
              </a:rPr>
              <a:t>number,</a:t>
            </a:r>
            <a:r>
              <a:rPr dirty="0" sz="3000" spc="-12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float</a:t>
            </a:r>
            <a:endParaRPr sz="3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375"/>
              </a:spcBef>
              <a:buChar char="•"/>
              <a:tabLst>
                <a:tab pos="297815" algn="l"/>
              </a:tabLst>
            </a:pPr>
            <a:r>
              <a:rPr dirty="0" sz="3000">
                <a:latin typeface="Calibri"/>
                <a:cs typeface="Calibri"/>
              </a:rPr>
              <a:t>Character</a:t>
            </a:r>
            <a:r>
              <a:rPr dirty="0" sz="3000" spc="-15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Types:</a:t>
            </a:r>
            <a:endParaRPr sz="3000">
              <a:latin typeface="Calibri"/>
              <a:cs typeface="Calibri"/>
            </a:endParaRPr>
          </a:p>
          <a:p>
            <a:pPr marL="297180" marR="584835" indent="-285115">
              <a:lnSpc>
                <a:spcPts val="3290"/>
              </a:lnSpc>
              <a:spcBef>
                <a:spcPts val="800"/>
              </a:spcBef>
              <a:buChar char="•"/>
              <a:tabLst>
                <a:tab pos="299085" algn="l"/>
              </a:tabLst>
            </a:pPr>
            <a:r>
              <a:rPr dirty="0" sz="3000" spc="-30">
                <a:latin typeface="Calibri"/>
                <a:cs typeface="Calibri"/>
              </a:rPr>
              <a:t>char,</a:t>
            </a:r>
            <a:r>
              <a:rPr dirty="0" sz="3000" spc="-114">
                <a:latin typeface="Calibri"/>
                <a:cs typeface="Calibri"/>
              </a:rPr>
              <a:t> </a:t>
            </a:r>
            <a:r>
              <a:rPr dirty="0" sz="3000" spc="-30">
                <a:latin typeface="Calibri"/>
                <a:cs typeface="Calibri"/>
              </a:rPr>
              <a:t>character,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 spc="-40">
                <a:latin typeface="Calibri"/>
                <a:cs typeface="Calibri"/>
              </a:rPr>
              <a:t>varchar, </a:t>
            </a:r>
            <a:r>
              <a:rPr dirty="0" sz="3000" spc="-40">
                <a:latin typeface="Calibri"/>
                <a:cs typeface="Calibri"/>
              </a:rPr>
              <a:t>	</a:t>
            </a:r>
            <a:r>
              <a:rPr dirty="0" sz="3000">
                <a:latin typeface="Calibri"/>
                <a:cs typeface="Calibri"/>
              </a:rPr>
              <a:t>varchar2,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string,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raw,</a:t>
            </a:r>
            <a:endParaRPr sz="3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375"/>
              </a:spcBef>
              <a:buChar char="•"/>
              <a:tabLst>
                <a:tab pos="298450" algn="l"/>
              </a:tabLst>
            </a:pPr>
            <a:r>
              <a:rPr dirty="0" sz="3000" spc="-10">
                <a:latin typeface="Calibri"/>
                <a:cs typeface="Calibri"/>
              </a:rPr>
              <a:t>rawid</a:t>
            </a:r>
            <a:endParaRPr sz="3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434"/>
              </a:spcBef>
              <a:buChar char="•"/>
              <a:tabLst>
                <a:tab pos="297815" algn="l"/>
              </a:tabLst>
            </a:pPr>
            <a:r>
              <a:rPr dirty="0" sz="3000">
                <a:latin typeface="Calibri"/>
                <a:cs typeface="Calibri"/>
              </a:rPr>
              <a:t>Boolean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Types</a:t>
            </a:r>
            <a:r>
              <a:rPr dirty="0" sz="3000" spc="5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: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boolean</a:t>
            </a:r>
            <a:endParaRPr sz="3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420"/>
              </a:spcBef>
              <a:buChar char="•"/>
              <a:tabLst>
                <a:tab pos="297815" algn="l"/>
              </a:tabLst>
            </a:pPr>
            <a:r>
              <a:rPr dirty="0" sz="3000">
                <a:latin typeface="Calibri"/>
                <a:cs typeface="Calibri"/>
              </a:rPr>
              <a:t>Date</a:t>
            </a:r>
            <a:r>
              <a:rPr dirty="0" sz="3000" spc="-1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Types:</a:t>
            </a:r>
            <a:r>
              <a:rPr dirty="0" sz="3000" spc="-12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date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09676"/>
            <a:ext cx="4292600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latin typeface="Calibri Light"/>
                <a:cs typeface="Calibri Light"/>
              </a:rPr>
              <a:t>Declaring </a:t>
            </a:r>
            <a:r>
              <a:rPr dirty="0" sz="4400" spc="-25">
                <a:latin typeface="Calibri Light"/>
                <a:cs typeface="Calibri Light"/>
              </a:rPr>
              <a:t>Variables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8200" y="1863851"/>
            <a:ext cx="10515600" cy="1320165"/>
          </a:xfrm>
          <a:custGeom>
            <a:avLst/>
            <a:gdLst/>
            <a:ahLst/>
            <a:cxnLst/>
            <a:rect l="l" t="t" r="r" b="b"/>
            <a:pathLst>
              <a:path w="10515600" h="1320164">
                <a:moveTo>
                  <a:pt x="10295636" y="0"/>
                </a:moveTo>
                <a:lnTo>
                  <a:pt x="219976" y="0"/>
                </a:lnTo>
                <a:lnTo>
                  <a:pt x="175644" y="4466"/>
                </a:lnTo>
                <a:lnTo>
                  <a:pt x="134352" y="17277"/>
                </a:lnTo>
                <a:lnTo>
                  <a:pt x="96986" y="37551"/>
                </a:lnTo>
                <a:lnTo>
                  <a:pt x="64430" y="64404"/>
                </a:lnTo>
                <a:lnTo>
                  <a:pt x="37568" y="96955"/>
                </a:lnTo>
                <a:lnTo>
                  <a:pt x="17287" y="134320"/>
                </a:lnTo>
                <a:lnTo>
                  <a:pt x="4469" y="175617"/>
                </a:lnTo>
                <a:lnTo>
                  <a:pt x="0" y="219963"/>
                </a:lnTo>
                <a:lnTo>
                  <a:pt x="0" y="1099820"/>
                </a:lnTo>
                <a:lnTo>
                  <a:pt x="4469" y="1144166"/>
                </a:lnTo>
                <a:lnTo>
                  <a:pt x="17287" y="1185463"/>
                </a:lnTo>
                <a:lnTo>
                  <a:pt x="37568" y="1222828"/>
                </a:lnTo>
                <a:lnTo>
                  <a:pt x="64430" y="1255379"/>
                </a:lnTo>
                <a:lnTo>
                  <a:pt x="96986" y="1282232"/>
                </a:lnTo>
                <a:lnTo>
                  <a:pt x="134352" y="1302506"/>
                </a:lnTo>
                <a:lnTo>
                  <a:pt x="175644" y="1315317"/>
                </a:lnTo>
                <a:lnTo>
                  <a:pt x="219976" y="1319784"/>
                </a:lnTo>
                <a:lnTo>
                  <a:pt x="10295636" y="1319784"/>
                </a:lnTo>
                <a:lnTo>
                  <a:pt x="10339982" y="1315317"/>
                </a:lnTo>
                <a:lnTo>
                  <a:pt x="10381279" y="1302506"/>
                </a:lnTo>
                <a:lnTo>
                  <a:pt x="10418644" y="1282232"/>
                </a:lnTo>
                <a:lnTo>
                  <a:pt x="10451195" y="1255379"/>
                </a:lnTo>
                <a:lnTo>
                  <a:pt x="10478048" y="1222828"/>
                </a:lnTo>
                <a:lnTo>
                  <a:pt x="10498322" y="1185463"/>
                </a:lnTo>
                <a:lnTo>
                  <a:pt x="10511133" y="1144166"/>
                </a:lnTo>
                <a:lnTo>
                  <a:pt x="10515600" y="1099820"/>
                </a:lnTo>
                <a:lnTo>
                  <a:pt x="10515600" y="219963"/>
                </a:lnTo>
                <a:lnTo>
                  <a:pt x="10511133" y="175617"/>
                </a:lnTo>
                <a:lnTo>
                  <a:pt x="10498322" y="134320"/>
                </a:lnTo>
                <a:lnTo>
                  <a:pt x="10478048" y="96955"/>
                </a:lnTo>
                <a:lnTo>
                  <a:pt x="10451195" y="64404"/>
                </a:lnTo>
                <a:lnTo>
                  <a:pt x="10418644" y="37551"/>
                </a:lnTo>
                <a:lnTo>
                  <a:pt x="10381279" y="17277"/>
                </a:lnTo>
                <a:lnTo>
                  <a:pt x="10339982" y="4466"/>
                </a:lnTo>
                <a:lnTo>
                  <a:pt x="1029563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99515" y="2009012"/>
            <a:ext cx="1459865" cy="863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5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500" spc="-20">
                <a:solidFill>
                  <a:srgbClr val="FFFFFF"/>
                </a:solidFill>
                <a:latin typeface="Calibri"/>
                <a:cs typeface="Calibri"/>
              </a:rPr>
              <a:t>int;</a:t>
            </a:r>
            <a:endParaRPr sz="55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200" y="3342132"/>
            <a:ext cx="10515600" cy="1318260"/>
          </a:xfrm>
          <a:custGeom>
            <a:avLst/>
            <a:gdLst/>
            <a:ahLst/>
            <a:cxnLst/>
            <a:rect l="l" t="t" r="r" b="b"/>
            <a:pathLst>
              <a:path w="10515600" h="1318260">
                <a:moveTo>
                  <a:pt x="10295890" y="0"/>
                </a:moveTo>
                <a:lnTo>
                  <a:pt x="219722" y="0"/>
                </a:lnTo>
                <a:lnTo>
                  <a:pt x="175441" y="4466"/>
                </a:lnTo>
                <a:lnTo>
                  <a:pt x="134197" y="17273"/>
                </a:lnTo>
                <a:lnTo>
                  <a:pt x="96874" y="37538"/>
                </a:lnTo>
                <a:lnTo>
                  <a:pt x="64355" y="64373"/>
                </a:lnTo>
                <a:lnTo>
                  <a:pt x="37525" y="96893"/>
                </a:lnTo>
                <a:lnTo>
                  <a:pt x="17267" y="134213"/>
                </a:lnTo>
                <a:lnTo>
                  <a:pt x="4464" y="175447"/>
                </a:lnTo>
                <a:lnTo>
                  <a:pt x="0" y="219709"/>
                </a:lnTo>
                <a:lnTo>
                  <a:pt x="0" y="1098549"/>
                </a:lnTo>
                <a:lnTo>
                  <a:pt x="4464" y="1142812"/>
                </a:lnTo>
                <a:lnTo>
                  <a:pt x="17267" y="1184046"/>
                </a:lnTo>
                <a:lnTo>
                  <a:pt x="37525" y="1221366"/>
                </a:lnTo>
                <a:lnTo>
                  <a:pt x="64355" y="1253886"/>
                </a:lnTo>
                <a:lnTo>
                  <a:pt x="96874" y="1280721"/>
                </a:lnTo>
                <a:lnTo>
                  <a:pt x="134197" y="1300986"/>
                </a:lnTo>
                <a:lnTo>
                  <a:pt x="175441" y="1313793"/>
                </a:lnTo>
                <a:lnTo>
                  <a:pt x="219722" y="1318259"/>
                </a:lnTo>
                <a:lnTo>
                  <a:pt x="10295890" y="1318259"/>
                </a:lnTo>
                <a:lnTo>
                  <a:pt x="10340152" y="1313793"/>
                </a:lnTo>
                <a:lnTo>
                  <a:pt x="10381386" y="1300986"/>
                </a:lnTo>
                <a:lnTo>
                  <a:pt x="10418706" y="1280721"/>
                </a:lnTo>
                <a:lnTo>
                  <a:pt x="10451226" y="1253886"/>
                </a:lnTo>
                <a:lnTo>
                  <a:pt x="10478061" y="1221366"/>
                </a:lnTo>
                <a:lnTo>
                  <a:pt x="10498326" y="1184046"/>
                </a:lnTo>
                <a:lnTo>
                  <a:pt x="10511133" y="1142812"/>
                </a:lnTo>
                <a:lnTo>
                  <a:pt x="10515600" y="1098549"/>
                </a:lnTo>
                <a:lnTo>
                  <a:pt x="10515600" y="219709"/>
                </a:lnTo>
                <a:lnTo>
                  <a:pt x="10511133" y="175447"/>
                </a:lnTo>
                <a:lnTo>
                  <a:pt x="10498326" y="134213"/>
                </a:lnTo>
                <a:lnTo>
                  <a:pt x="10478061" y="96893"/>
                </a:lnTo>
                <a:lnTo>
                  <a:pt x="10451226" y="64373"/>
                </a:lnTo>
                <a:lnTo>
                  <a:pt x="10418706" y="37538"/>
                </a:lnTo>
                <a:lnTo>
                  <a:pt x="10381386" y="17273"/>
                </a:lnTo>
                <a:lnTo>
                  <a:pt x="10340152" y="4466"/>
                </a:lnTo>
                <a:lnTo>
                  <a:pt x="1029589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38200" y="4818888"/>
            <a:ext cx="10515600" cy="1320165"/>
          </a:xfrm>
          <a:custGeom>
            <a:avLst/>
            <a:gdLst/>
            <a:ahLst/>
            <a:cxnLst/>
            <a:rect l="l" t="t" r="r" b="b"/>
            <a:pathLst>
              <a:path w="10515600" h="1320164">
                <a:moveTo>
                  <a:pt x="10295636" y="0"/>
                </a:moveTo>
                <a:lnTo>
                  <a:pt x="219976" y="0"/>
                </a:lnTo>
                <a:lnTo>
                  <a:pt x="175644" y="4466"/>
                </a:lnTo>
                <a:lnTo>
                  <a:pt x="134352" y="17277"/>
                </a:lnTo>
                <a:lnTo>
                  <a:pt x="96986" y="37551"/>
                </a:lnTo>
                <a:lnTo>
                  <a:pt x="64430" y="64404"/>
                </a:lnTo>
                <a:lnTo>
                  <a:pt x="37568" y="96955"/>
                </a:lnTo>
                <a:lnTo>
                  <a:pt x="17287" y="134320"/>
                </a:lnTo>
                <a:lnTo>
                  <a:pt x="4469" y="175617"/>
                </a:lnTo>
                <a:lnTo>
                  <a:pt x="0" y="219963"/>
                </a:lnTo>
                <a:lnTo>
                  <a:pt x="0" y="1099807"/>
                </a:lnTo>
                <a:lnTo>
                  <a:pt x="4469" y="1144139"/>
                </a:lnTo>
                <a:lnTo>
                  <a:pt x="17287" y="1185431"/>
                </a:lnTo>
                <a:lnTo>
                  <a:pt x="37568" y="1222797"/>
                </a:lnTo>
                <a:lnTo>
                  <a:pt x="64430" y="1255353"/>
                </a:lnTo>
                <a:lnTo>
                  <a:pt x="96986" y="1282215"/>
                </a:lnTo>
                <a:lnTo>
                  <a:pt x="134352" y="1302496"/>
                </a:lnTo>
                <a:lnTo>
                  <a:pt x="175644" y="1315314"/>
                </a:lnTo>
                <a:lnTo>
                  <a:pt x="219976" y="1319784"/>
                </a:lnTo>
                <a:lnTo>
                  <a:pt x="10295636" y="1319784"/>
                </a:lnTo>
                <a:lnTo>
                  <a:pt x="10339982" y="1315314"/>
                </a:lnTo>
                <a:lnTo>
                  <a:pt x="10381279" y="1302496"/>
                </a:lnTo>
                <a:lnTo>
                  <a:pt x="10418644" y="1282215"/>
                </a:lnTo>
                <a:lnTo>
                  <a:pt x="10451195" y="1255353"/>
                </a:lnTo>
                <a:lnTo>
                  <a:pt x="10478048" y="1222797"/>
                </a:lnTo>
                <a:lnTo>
                  <a:pt x="10498322" y="1185431"/>
                </a:lnTo>
                <a:lnTo>
                  <a:pt x="10511133" y="1144139"/>
                </a:lnTo>
                <a:lnTo>
                  <a:pt x="10515600" y="1099807"/>
                </a:lnTo>
                <a:lnTo>
                  <a:pt x="10515600" y="219963"/>
                </a:lnTo>
                <a:lnTo>
                  <a:pt x="10511133" y="175617"/>
                </a:lnTo>
                <a:lnTo>
                  <a:pt x="10498322" y="134320"/>
                </a:lnTo>
                <a:lnTo>
                  <a:pt x="10478048" y="96955"/>
                </a:lnTo>
                <a:lnTo>
                  <a:pt x="10451195" y="64404"/>
                </a:lnTo>
                <a:lnTo>
                  <a:pt x="10418644" y="37551"/>
                </a:lnTo>
                <a:lnTo>
                  <a:pt x="10381279" y="17277"/>
                </a:lnTo>
                <a:lnTo>
                  <a:pt x="10339982" y="4466"/>
                </a:lnTo>
                <a:lnTo>
                  <a:pt x="1029563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99515" y="3486353"/>
            <a:ext cx="5050155" cy="2341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0">
                <a:solidFill>
                  <a:srgbClr val="FFFFFF"/>
                </a:solidFill>
                <a:latin typeface="Calibri"/>
                <a:cs typeface="Calibri"/>
              </a:rPr>
              <a:t>sum </a:t>
            </a:r>
            <a:r>
              <a:rPr dirty="0" sz="5500" spc="-10">
                <a:solidFill>
                  <a:srgbClr val="FFFFFF"/>
                </a:solidFill>
                <a:latin typeface="Calibri"/>
                <a:cs typeface="Calibri"/>
              </a:rPr>
              <a:t>number(4);</a:t>
            </a:r>
            <a:endParaRPr sz="5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40"/>
              </a:spcBef>
            </a:pPr>
            <a:r>
              <a:rPr dirty="0" sz="5500">
                <a:solidFill>
                  <a:srgbClr val="FFFFFF"/>
                </a:solidFill>
                <a:latin typeface="Calibri"/>
                <a:cs typeface="Calibri"/>
              </a:rPr>
              <a:t>In_stock</a:t>
            </a:r>
            <a:r>
              <a:rPr dirty="0" sz="5500" spc="-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500" spc="-10">
                <a:solidFill>
                  <a:srgbClr val="FFFFFF"/>
                </a:solidFill>
                <a:latin typeface="Calibri"/>
                <a:cs typeface="Calibri"/>
              </a:rPr>
              <a:t>boolean;</a:t>
            </a:r>
            <a:endParaRPr sz="5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8423" y="2590927"/>
            <a:ext cx="4686300" cy="141605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45"/>
              </a:spcBef>
            </a:pPr>
            <a:r>
              <a:rPr dirty="0" sz="4800">
                <a:latin typeface="Calibri Light"/>
                <a:cs typeface="Calibri Light"/>
              </a:rPr>
              <a:t>Assigning</a:t>
            </a:r>
            <a:r>
              <a:rPr dirty="0" sz="4800" spc="-185">
                <a:latin typeface="Calibri Light"/>
                <a:cs typeface="Calibri Light"/>
              </a:rPr>
              <a:t> </a:t>
            </a:r>
            <a:r>
              <a:rPr dirty="0" sz="4800" spc="-30">
                <a:latin typeface="Calibri Light"/>
                <a:cs typeface="Calibri Light"/>
              </a:rPr>
              <a:t>Values</a:t>
            </a:r>
            <a:r>
              <a:rPr dirty="0" sz="4800" spc="-195">
                <a:latin typeface="Calibri Light"/>
                <a:cs typeface="Calibri Light"/>
              </a:rPr>
              <a:t> </a:t>
            </a:r>
            <a:r>
              <a:rPr dirty="0" sz="4800" spc="-25">
                <a:latin typeface="Calibri Light"/>
                <a:cs typeface="Calibri Light"/>
              </a:rPr>
              <a:t>to </a:t>
            </a:r>
            <a:r>
              <a:rPr dirty="0" sz="4800">
                <a:latin typeface="Calibri Light"/>
                <a:cs typeface="Calibri Light"/>
              </a:rPr>
              <a:t>a</a:t>
            </a:r>
            <a:r>
              <a:rPr dirty="0" sz="4800" spc="-25">
                <a:latin typeface="Calibri Light"/>
                <a:cs typeface="Calibri Light"/>
              </a:rPr>
              <a:t> </a:t>
            </a:r>
            <a:r>
              <a:rPr dirty="0" sz="4800" spc="-10">
                <a:latin typeface="Calibri Light"/>
                <a:cs typeface="Calibri Light"/>
              </a:rPr>
              <a:t>variable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7000" cy="6858000"/>
          </a:xfrm>
          <a:custGeom>
            <a:avLst/>
            <a:gdLst/>
            <a:ahLst/>
            <a:cxnLst/>
            <a:rect l="l" t="t" r="r" b="b"/>
            <a:pathLst>
              <a:path w="127000" h="6858000">
                <a:moveTo>
                  <a:pt x="126492" y="0"/>
                </a:moveTo>
                <a:lnTo>
                  <a:pt x="0" y="0"/>
                </a:lnTo>
                <a:lnTo>
                  <a:pt x="0" y="6858000"/>
                </a:lnTo>
                <a:lnTo>
                  <a:pt x="126492" y="6858000"/>
                </a:lnTo>
                <a:lnTo>
                  <a:pt x="12649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99047" y="722376"/>
            <a:ext cx="5257800" cy="1391920"/>
          </a:xfrm>
          <a:custGeom>
            <a:avLst/>
            <a:gdLst/>
            <a:ahLst/>
            <a:cxnLst/>
            <a:rect l="l" t="t" r="r" b="b"/>
            <a:pathLst>
              <a:path w="5257800" h="1391920">
                <a:moveTo>
                  <a:pt x="5025898" y="0"/>
                </a:moveTo>
                <a:lnTo>
                  <a:pt x="231901" y="0"/>
                </a:lnTo>
                <a:lnTo>
                  <a:pt x="185182" y="4713"/>
                </a:lnTo>
                <a:lnTo>
                  <a:pt x="141660" y="18232"/>
                </a:lnTo>
                <a:lnTo>
                  <a:pt x="102269" y="39621"/>
                </a:lnTo>
                <a:lnTo>
                  <a:pt x="67945" y="67944"/>
                </a:lnTo>
                <a:lnTo>
                  <a:pt x="39621" y="102269"/>
                </a:lnTo>
                <a:lnTo>
                  <a:pt x="18232" y="141660"/>
                </a:lnTo>
                <a:lnTo>
                  <a:pt x="4713" y="185182"/>
                </a:lnTo>
                <a:lnTo>
                  <a:pt x="0" y="231901"/>
                </a:lnTo>
                <a:lnTo>
                  <a:pt x="0" y="1159510"/>
                </a:lnTo>
                <a:lnTo>
                  <a:pt x="4713" y="1206229"/>
                </a:lnTo>
                <a:lnTo>
                  <a:pt x="18232" y="1249751"/>
                </a:lnTo>
                <a:lnTo>
                  <a:pt x="39621" y="1289142"/>
                </a:lnTo>
                <a:lnTo>
                  <a:pt x="67944" y="1323466"/>
                </a:lnTo>
                <a:lnTo>
                  <a:pt x="102269" y="1351790"/>
                </a:lnTo>
                <a:lnTo>
                  <a:pt x="141660" y="1373179"/>
                </a:lnTo>
                <a:lnTo>
                  <a:pt x="185182" y="1386698"/>
                </a:lnTo>
                <a:lnTo>
                  <a:pt x="231901" y="1391412"/>
                </a:lnTo>
                <a:lnTo>
                  <a:pt x="5025898" y="1391412"/>
                </a:lnTo>
                <a:lnTo>
                  <a:pt x="5072617" y="1386698"/>
                </a:lnTo>
                <a:lnTo>
                  <a:pt x="5116139" y="1373179"/>
                </a:lnTo>
                <a:lnTo>
                  <a:pt x="5155530" y="1351790"/>
                </a:lnTo>
                <a:lnTo>
                  <a:pt x="5189855" y="1323467"/>
                </a:lnTo>
                <a:lnTo>
                  <a:pt x="5218178" y="1289142"/>
                </a:lnTo>
                <a:lnTo>
                  <a:pt x="5239567" y="1249751"/>
                </a:lnTo>
                <a:lnTo>
                  <a:pt x="5253086" y="1206229"/>
                </a:lnTo>
                <a:lnTo>
                  <a:pt x="5257800" y="1159510"/>
                </a:lnTo>
                <a:lnTo>
                  <a:pt x="5257800" y="231901"/>
                </a:lnTo>
                <a:lnTo>
                  <a:pt x="5253086" y="185182"/>
                </a:lnTo>
                <a:lnTo>
                  <a:pt x="5239567" y="141660"/>
                </a:lnTo>
                <a:lnTo>
                  <a:pt x="5218178" y="102269"/>
                </a:lnTo>
                <a:lnTo>
                  <a:pt x="5189854" y="67945"/>
                </a:lnTo>
                <a:lnTo>
                  <a:pt x="5155530" y="39621"/>
                </a:lnTo>
                <a:lnTo>
                  <a:pt x="5116139" y="18232"/>
                </a:lnTo>
                <a:lnTo>
                  <a:pt x="5072617" y="4713"/>
                </a:lnTo>
                <a:lnTo>
                  <a:pt x="502589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88404" y="840994"/>
            <a:ext cx="3742690" cy="1049020"/>
          </a:xfrm>
          <a:prstGeom prst="rect"/>
        </p:spPr>
        <p:txBody>
          <a:bodyPr wrap="square" lIns="0" tIns="66675" rIns="0" bIns="0" rtlCol="0" vert="horz">
            <a:spAutoFit/>
          </a:bodyPr>
          <a:lstStyle/>
          <a:p>
            <a:pPr marL="12700" marR="5080">
              <a:lnSpc>
                <a:spcPts val="3850"/>
              </a:lnSpc>
              <a:spcBef>
                <a:spcPts val="525"/>
              </a:spcBef>
            </a:pPr>
            <a:r>
              <a:rPr dirty="0" sz="3500">
                <a:solidFill>
                  <a:srgbClr val="FFFFFF"/>
                </a:solidFill>
                <a:latin typeface="Calibri"/>
                <a:cs typeface="Calibri"/>
              </a:rPr>
              <a:t>Three</a:t>
            </a:r>
            <a:r>
              <a:rPr dirty="0" sz="35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FFFFFF"/>
                </a:solidFill>
                <a:latin typeface="Calibri"/>
                <a:cs typeface="Calibri"/>
              </a:rPr>
              <a:t>ways</a:t>
            </a:r>
            <a:r>
              <a:rPr dirty="0" sz="35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35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Calibri"/>
                <a:cs typeface="Calibri"/>
              </a:rPr>
              <a:t>assign </a:t>
            </a:r>
            <a:r>
              <a:rPr dirty="0" sz="350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35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35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35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3988" y="2039873"/>
            <a:ext cx="4773295" cy="391858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84"/>
              </a:spcBef>
              <a:buChar char="•"/>
              <a:tabLst>
                <a:tab pos="240665" algn="l"/>
              </a:tabLst>
            </a:pPr>
            <a:r>
              <a:rPr dirty="0" sz="2700">
                <a:latin typeface="Calibri"/>
                <a:cs typeface="Calibri"/>
              </a:rPr>
              <a:t>Using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Assignment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Operator(:=)</a:t>
            </a:r>
            <a:endParaRPr sz="2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0"/>
              </a:spcBef>
              <a:buChar char="•"/>
              <a:tabLst>
                <a:tab pos="240665" algn="l"/>
              </a:tabLst>
            </a:pPr>
            <a:r>
              <a:rPr dirty="0" sz="2700">
                <a:latin typeface="Calibri"/>
                <a:cs typeface="Calibri"/>
              </a:rPr>
              <a:t>Eg.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int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:=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10;</a:t>
            </a:r>
            <a:endParaRPr sz="2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Char char="•"/>
              <a:tabLst>
                <a:tab pos="240665" algn="l"/>
              </a:tabLst>
            </a:pPr>
            <a:r>
              <a:rPr dirty="0" sz="2700">
                <a:latin typeface="Calibri"/>
                <a:cs typeface="Calibri"/>
              </a:rPr>
              <a:t>bonus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:=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empsal*0.10;</a:t>
            </a:r>
            <a:endParaRPr sz="2700">
              <a:latin typeface="Calibri"/>
              <a:cs typeface="Calibri"/>
            </a:endParaRPr>
          </a:p>
          <a:p>
            <a:pPr marL="241300" marR="5080" indent="-228600">
              <a:lnSpc>
                <a:spcPct val="91700"/>
              </a:lnSpc>
              <a:spcBef>
                <a:spcPts val="655"/>
              </a:spcBef>
              <a:buChar char="•"/>
              <a:tabLst>
                <a:tab pos="241300" algn="l"/>
                <a:tab pos="734060" algn="l"/>
              </a:tabLst>
            </a:pPr>
            <a:r>
              <a:rPr dirty="0" sz="2700" spc="-25">
                <a:latin typeface="Calibri"/>
                <a:cs typeface="Calibri"/>
              </a:rPr>
              <a:t>2.</a:t>
            </a:r>
            <a:r>
              <a:rPr dirty="0" sz="2700">
                <a:latin typeface="Calibri"/>
                <a:cs typeface="Calibri"/>
              </a:rPr>
              <a:t>	The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second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way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assign </a:t>
            </a:r>
            <a:r>
              <a:rPr dirty="0" sz="2700">
                <a:latin typeface="Calibri"/>
                <a:cs typeface="Calibri"/>
              </a:rPr>
              <a:t>values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variable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by </a:t>
            </a:r>
            <a:r>
              <a:rPr dirty="0" sz="2700">
                <a:latin typeface="Calibri"/>
                <a:cs typeface="Calibri"/>
              </a:rPr>
              <a:t>selecting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database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values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into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it.</a:t>
            </a:r>
            <a:endParaRPr sz="2700">
              <a:latin typeface="Calibri"/>
              <a:cs typeface="Calibri"/>
            </a:endParaRPr>
          </a:p>
          <a:p>
            <a:pPr marL="241300" marR="139065" indent="-228600">
              <a:lnSpc>
                <a:spcPts val="2960"/>
              </a:lnSpc>
              <a:spcBef>
                <a:spcPts val="715"/>
              </a:spcBef>
              <a:buChar char="•"/>
              <a:tabLst>
                <a:tab pos="241300" algn="l"/>
              </a:tabLst>
            </a:pPr>
            <a:r>
              <a:rPr dirty="0" sz="2700">
                <a:latin typeface="Calibri"/>
                <a:cs typeface="Calibri"/>
              </a:rPr>
              <a:t>select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empsal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*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0.10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into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bonus </a:t>
            </a:r>
            <a:r>
              <a:rPr dirty="0" sz="2700">
                <a:latin typeface="Calibri"/>
                <a:cs typeface="Calibri"/>
              </a:rPr>
              <a:t>from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emp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where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eid=2;</a:t>
            </a:r>
            <a:endParaRPr sz="2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40"/>
              </a:spcBef>
              <a:buChar char="•"/>
              <a:tabLst>
                <a:tab pos="240665" algn="l"/>
                <a:tab pos="732790" algn="l"/>
              </a:tabLst>
            </a:pPr>
            <a:r>
              <a:rPr dirty="0" sz="2700" spc="-25">
                <a:latin typeface="Calibri"/>
                <a:cs typeface="Calibri"/>
              </a:rPr>
              <a:t>3.</a:t>
            </a:r>
            <a:r>
              <a:rPr dirty="0" sz="2700">
                <a:latin typeface="Calibri"/>
                <a:cs typeface="Calibri"/>
              </a:rPr>
              <a:t>	Using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OUT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Parameter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2140" y="609676"/>
            <a:ext cx="3402329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Basic</a:t>
            </a:r>
            <a:r>
              <a:rPr dirty="0" sz="4400" spc="-25"/>
              <a:t> </a:t>
            </a:r>
            <a:r>
              <a:rPr dirty="0" sz="4400" spc="-10"/>
              <a:t>Examples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63092" y="1444497"/>
            <a:ext cx="5657850" cy="422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Display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values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variables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PLSQL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block.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20">
                <a:latin typeface="Calibri"/>
                <a:cs typeface="Calibri"/>
              </a:rPr>
              <a:t>-</a:t>
            </a:r>
            <a:r>
              <a:rPr dirty="0" sz="2400" spc="-10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  <a:p>
            <a:pPr marL="12700" marR="3152140">
              <a:lnSpc>
                <a:spcPct val="104600"/>
              </a:lnSpc>
              <a:spcBef>
                <a:spcPts val="15"/>
              </a:spcBef>
            </a:pP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Serveroutput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on </a:t>
            </a:r>
            <a:r>
              <a:rPr dirty="0" sz="2400" spc="-10">
                <a:latin typeface="Calibri"/>
                <a:cs typeface="Calibri"/>
              </a:rPr>
              <a:t>declare</a:t>
            </a:r>
            <a:endParaRPr sz="2400">
              <a:latin typeface="Calibri"/>
              <a:cs typeface="Calibri"/>
            </a:endParaRPr>
          </a:p>
          <a:p>
            <a:pPr marL="285115">
              <a:lnSpc>
                <a:spcPct val="100000"/>
              </a:lnSpc>
              <a:spcBef>
                <a:spcPts val="130"/>
              </a:spcBef>
            </a:pPr>
            <a:r>
              <a:rPr dirty="0" sz="2400">
                <a:latin typeface="Calibri"/>
                <a:cs typeface="Calibri"/>
              </a:rPr>
              <a:t>i </a:t>
            </a:r>
            <a:r>
              <a:rPr dirty="0" sz="2400" spc="-10">
                <a:latin typeface="Calibri"/>
                <a:cs typeface="Calibri"/>
              </a:rPr>
              <a:t>int:=10;</a:t>
            </a:r>
            <a:endParaRPr sz="2400">
              <a:latin typeface="Calibri"/>
              <a:cs typeface="Calibri"/>
            </a:endParaRPr>
          </a:p>
          <a:p>
            <a:pPr marL="285115">
              <a:lnSpc>
                <a:spcPct val="100000"/>
              </a:lnSpc>
              <a:spcBef>
                <a:spcPts val="145"/>
              </a:spcBef>
            </a:pPr>
            <a:r>
              <a:rPr dirty="0" sz="2400">
                <a:latin typeface="Calibri"/>
                <a:cs typeface="Calibri"/>
              </a:rPr>
              <a:t>j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int:=20;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00" spc="-10">
                <a:latin typeface="Calibri"/>
                <a:cs typeface="Calibri"/>
              </a:rPr>
              <a:t>begin</a:t>
            </a:r>
            <a:endParaRPr sz="2400">
              <a:latin typeface="Calibri"/>
              <a:cs typeface="Calibri"/>
            </a:endParaRPr>
          </a:p>
          <a:p>
            <a:pPr marL="80645">
              <a:lnSpc>
                <a:spcPct val="100000"/>
              </a:lnSpc>
              <a:spcBef>
                <a:spcPts val="130"/>
              </a:spcBef>
            </a:pPr>
            <a:r>
              <a:rPr dirty="0" sz="2400" spc="-20">
                <a:latin typeface="Calibri"/>
                <a:cs typeface="Calibri"/>
              </a:rPr>
              <a:t>DBMS_OUTPUT.PUT_LINE('value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i='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||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(i));</a:t>
            </a:r>
            <a:endParaRPr sz="2400">
              <a:latin typeface="Calibri"/>
              <a:cs typeface="Calibri"/>
            </a:endParaRPr>
          </a:p>
          <a:p>
            <a:pPr marL="12700" marR="5080" indent="68580">
              <a:lnSpc>
                <a:spcPct val="104600"/>
              </a:lnSpc>
              <a:spcBef>
                <a:spcPts val="15"/>
              </a:spcBef>
            </a:pPr>
            <a:r>
              <a:rPr dirty="0" sz="2400" spc="-20">
                <a:latin typeface="Calibri"/>
                <a:cs typeface="Calibri"/>
              </a:rPr>
              <a:t>DBMS_OUTPUT.PUT_LINE('value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j='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||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(j)); </a:t>
            </a:r>
            <a:r>
              <a:rPr dirty="0" sz="2400" spc="-20">
                <a:latin typeface="Calibri"/>
                <a:cs typeface="Calibri"/>
              </a:rPr>
              <a:t>end;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00" spc="-50">
                <a:latin typeface="Calibri"/>
                <a:cs typeface="Calibri"/>
              </a:rPr>
              <a:t>/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4228" y="1430782"/>
            <a:ext cx="5352415" cy="4716780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1070"/>
              </a:spcBef>
            </a:pPr>
            <a:r>
              <a:rPr dirty="0" sz="2700">
                <a:latin typeface="Calibri"/>
                <a:cs typeface="Calibri"/>
              </a:rPr>
              <a:t>Display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addition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two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numbers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using </a:t>
            </a:r>
            <a:r>
              <a:rPr dirty="0" sz="2700">
                <a:latin typeface="Calibri"/>
                <a:cs typeface="Calibri"/>
              </a:rPr>
              <a:t>PLSQL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block.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2700">
                <a:latin typeface="Calibri"/>
                <a:cs typeface="Calibri"/>
              </a:rPr>
              <a:t>--</a:t>
            </a:r>
            <a:endParaRPr sz="2700">
              <a:latin typeface="Calibri"/>
              <a:cs typeface="Calibri"/>
            </a:endParaRPr>
          </a:p>
          <a:p>
            <a:pPr marL="12700" marR="2637155">
              <a:lnSpc>
                <a:spcPts val="3190"/>
              </a:lnSpc>
              <a:spcBef>
                <a:spcPts val="110"/>
              </a:spcBef>
            </a:pPr>
            <a:r>
              <a:rPr dirty="0" sz="2600">
                <a:latin typeface="Calibri"/>
                <a:cs typeface="Calibri"/>
              </a:rPr>
              <a:t>Set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Serveroutput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on </a:t>
            </a:r>
            <a:r>
              <a:rPr dirty="0" sz="2600" spc="-10">
                <a:latin typeface="Calibri"/>
                <a:cs typeface="Calibri"/>
              </a:rPr>
              <a:t>declare</a:t>
            </a:r>
            <a:endParaRPr sz="2600">
              <a:latin typeface="Calibri"/>
              <a:cs typeface="Calibri"/>
            </a:endParaRPr>
          </a:p>
          <a:p>
            <a:pPr marL="311150">
              <a:lnSpc>
                <a:spcPts val="3065"/>
              </a:lnSpc>
            </a:pPr>
            <a:r>
              <a:rPr dirty="0" sz="2600">
                <a:latin typeface="Calibri"/>
                <a:cs typeface="Calibri"/>
              </a:rPr>
              <a:t>i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int:=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5;</a:t>
            </a:r>
            <a:endParaRPr sz="2600">
              <a:latin typeface="Calibri"/>
              <a:cs typeface="Calibri"/>
            </a:endParaRPr>
          </a:p>
          <a:p>
            <a:pPr marL="311150">
              <a:lnSpc>
                <a:spcPct val="100000"/>
              </a:lnSpc>
              <a:spcBef>
                <a:spcPts val="60"/>
              </a:spcBef>
            </a:pPr>
            <a:r>
              <a:rPr dirty="0" sz="2600">
                <a:latin typeface="Calibri"/>
                <a:cs typeface="Calibri"/>
              </a:rPr>
              <a:t>j</a:t>
            </a:r>
            <a:r>
              <a:rPr dirty="0" sz="2600" spc="-10">
                <a:latin typeface="Calibri"/>
                <a:cs typeface="Calibri"/>
              </a:rPr>
              <a:t> int:=10;</a:t>
            </a:r>
            <a:endParaRPr sz="2600">
              <a:latin typeface="Calibri"/>
              <a:cs typeface="Calibri"/>
            </a:endParaRPr>
          </a:p>
          <a:p>
            <a:pPr marL="12700" marR="3563620" indent="298450">
              <a:lnSpc>
                <a:spcPct val="101899"/>
              </a:lnSpc>
              <a:spcBef>
                <a:spcPts val="15"/>
              </a:spcBef>
            </a:pPr>
            <a:r>
              <a:rPr dirty="0" sz="2600">
                <a:latin typeface="Calibri"/>
                <a:cs typeface="Calibri"/>
              </a:rPr>
              <a:t>k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int:=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+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j; </a:t>
            </a:r>
            <a:r>
              <a:rPr dirty="0" sz="2600" spc="-10">
                <a:latin typeface="Calibri"/>
                <a:cs typeface="Calibri"/>
              </a:rPr>
              <a:t>begin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2000" spc="-20">
                <a:latin typeface="Calibri"/>
                <a:cs typeface="Calibri"/>
              </a:rPr>
              <a:t>DBMS_OUTPUT.PUT_LINE('value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k='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(k));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2600" spc="-20">
                <a:latin typeface="Calibri"/>
                <a:cs typeface="Calibri"/>
              </a:rPr>
              <a:t>end;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2600" spc="-50">
                <a:latin typeface="Calibri"/>
                <a:cs typeface="Calibri"/>
              </a:rPr>
              <a:t>/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4540" y="164338"/>
            <a:ext cx="9688195" cy="9531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650"/>
              </a:lnSpc>
              <a:spcBef>
                <a:spcPts val="100"/>
              </a:spcBef>
            </a:pPr>
            <a:r>
              <a:rPr dirty="0" sz="3200" spc="-45"/>
              <a:t>Performing</a:t>
            </a:r>
            <a:r>
              <a:rPr dirty="0" sz="3200" spc="-120"/>
              <a:t> </a:t>
            </a:r>
            <a:r>
              <a:rPr dirty="0" sz="3200" spc="-25"/>
              <a:t>Arithmetic</a:t>
            </a:r>
            <a:r>
              <a:rPr dirty="0" sz="3200" spc="-114"/>
              <a:t> </a:t>
            </a:r>
            <a:r>
              <a:rPr dirty="0" sz="3200" spc="-35"/>
              <a:t>Operations</a:t>
            </a:r>
            <a:r>
              <a:rPr dirty="0" sz="3200" spc="-120"/>
              <a:t> </a:t>
            </a:r>
            <a:r>
              <a:rPr dirty="0" sz="3200" spc="-20"/>
              <a:t>accepting</a:t>
            </a:r>
            <a:r>
              <a:rPr dirty="0" sz="3200" spc="-120"/>
              <a:t> </a:t>
            </a:r>
            <a:r>
              <a:rPr dirty="0" sz="3200" spc="-25"/>
              <a:t>value</a:t>
            </a:r>
            <a:r>
              <a:rPr dirty="0" sz="3200" spc="-114"/>
              <a:t> </a:t>
            </a:r>
            <a:r>
              <a:rPr dirty="0" sz="3200" spc="-25"/>
              <a:t>from</a:t>
            </a:r>
            <a:r>
              <a:rPr dirty="0" sz="3200" spc="-135"/>
              <a:t> </a:t>
            </a:r>
            <a:r>
              <a:rPr dirty="0" sz="3200" spc="-20"/>
              <a:t>user</a:t>
            </a:r>
            <a:endParaRPr sz="3200"/>
          </a:p>
          <a:p>
            <a:pPr marL="12700">
              <a:lnSpc>
                <a:spcPts val="3650"/>
              </a:lnSpc>
            </a:pPr>
            <a:r>
              <a:rPr dirty="0" sz="3200" spc="-10"/>
              <a:t>-</a:t>
            </a:r>
            <a:r>
              <a:rPr dirty="0" sz="3200"/>
              <a:t>-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64540" y="1101367"/>
            <a:ext cx="10033000" cy="5650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164070">
              <a:lnSpc>
                <a:spcPct val="12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set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serveroutput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on </a:t>
            </a:r>
            <a:r>
              <a:rPr dirty="0" sz="2800" spc="-10">
                <a:latin typeface="Calibri"/>
                <a:cs typeface="Calibri"/>
              </a:rPr>
              <a:t>declare</a:t>
            </a:r>
            <a:endParaRPr sz="2800">
              <a:latin typeface="Calibri"/>
              <a:cs typeface="Calibri"/>
            </a:endParaRPr>
          </a:p>
          <a:p>
            <a:pPr marL="12700" marR="7681595" indent="80645">
              <a:lnSpc>
                <a:spcPct val="119600"/>
              </a:lnSpc>
              <a:spcBef>
                <a:spcPts val="5"/>
              </a:spcBef>
            </a:pPr>
            <a:r>
              <a:rPr dirty="0" sz="2800">
                <a:latin typeface="Calibri"/>
                <a:cs typeface="Calibri"/>
              </a:rPr>
              <a:t>i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int;</a:t>
            </a:r>
            <a:r>
              <a:rPr dirty="0" sz="2800" spc="5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j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int;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</a:t>
            </a:r>
            <a:r>
              <a:rPr dirty="0" sz="2800" spc="-20">
                <a:latin typeface="Calibri"/>
                <a:cs typeface="Calibri"/>
              </a:rPr>
              <a:t> int; </a:t>
            </a:r>
            <a:r>
              <a:rPr dirty="0" sz="2800" spc="-10">
                <a:latin typeface="Calibri"/>
                <a:cs typeface="Calibri"/>
              </a:rPr>
              <a:t>begin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10">
                <a:latin typeface="Calibri"/>
                <a:cs typeface="Calibri"/>
              </a:rPr>
              <a:t>i:=&amp;i;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800" spc="-10">
                <a:latin typeface="Calibri"/>
                <a:cs typeface="Calibri"/>
              </a:rPr>
              <a:t>j:=&amp;j;</a:t>
            </a:r>
            <a:endParaRPr sz="2800">
              <a:latin typeface="Calibri"/>
              <a:cs typeface="Calibri"/>
            </a:endParaRPr>
          </a:p>
          <a:p>
            <a:pPr marL="93345" marR="335280">
              <a:lnSpc>
                <a:spcPts val="4029"/>
              </a:lnSpc>
              <a:spcBef>
                <a:spcPts val="235"/>
              </a:spcBef>
            </a:pPr>
            <a:r>
              <a:rPr dirty="0" sz="2800">
                <a:latin typeface="Calibri"/>
                <a:cs typeface="Calibri"/>
              </a:rPr>
              <a:t>k:=i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j;</a:t>
            </a:r>
            <a:r>
              <a:rPr dirty="0" sz="2800" spc="6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DBMS_OUTPUT.PUT_LINE('Addition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k='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||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(k));</a:t>
            </a:r>
            <a:r>
              <a:rPr dirty="0" sz="2800" spc="7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k:=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-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j;</a:t>
            </a:r>
            <a:r>
              <a:rPr dirty="0" sz="2800" spc="60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DBMS_OUTPUT.PUT_LINE('Subtraction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k='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||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(k));</a:t>
            </a:r>
            <a:endParaRPr sz="2800">
              <a:latin typeface="Calibri"/>
              <a:cs typeface="Calibri"/>
            </a:endParaRPr>
          </a:p>
          <a:p>
            <a:pPr marL="93345" marR="5080">
              <a:lnSpc>
                <a:spcPts val="4020"/>
              </a:lnSpc>
              <a:spcBef>
                <a:spcPts val="5"/>
              </a:spcBef>
            </a:pPr>
            <a:r>
              <a:rPr dirty="0" sz="2800">
                <a:latin typeface="Calibri"/>
                <a:cs typeface="Calibri"/>
              </a:rPr>
              <a:t>k:= i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*j;</a:t>
            </a:r>
            <a:r>
              <a:rPr dirty="0" sz="2800" spc="63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DBMS_OUTPUT.PUT_LINE('Multiplication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k='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||</a:t>
            </a:r>
            <a:r>
              <a:rPr dirty="0" sz="2800" spc="-10">
                <a:latin typeface="Calibri"/>
                <a:cs typeface="Calibri"/>
              </a:rPr>
              <a:t> (k)); </a:t>
            </a:r>
            <a:r>
              <a:rPr dirty="0" sz="2800">
                <a:latin typeface="Calibri"/>
                <a:cs typeface="Calibri"/>
              </a:rPr>
              <a:t>k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:= i/j;</a:t>
            </a:r>
            <a:r>
              <a:rPr dirty="0" sz="2800" spc="62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DBMS_OUTPUT.PUT_LINE('Division</a:t>
            </a:r>
            <a:r>
              <a:rPr dirty="0" sz="2800" spc="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k='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||</a:t>
            </a:r>
            <a:r>
              <a:rPr dirty="0" sz="2800" spc="-10">
                <a:latin typeface="Calibri"/>
                <a:cs typeface="Calibri"/>
              </a:rPr>
              <a:t> (k));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2800" spc="-20">
                <a:latin typeface="Calibri"/>
                <a:cs typeface="Calibri"/>
              </a:rPr>
              <a:t>end;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8423" y="2590927"/>
            <a:ext cx="3911600" cy="141605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45"/>
              </a:spcBef>
            </a:pPr>
            <a:r>
              <a:rPr dirty="0" sz="4800" spc="-25">
                <a:latin typeface="Calibri Light"/>
                <a:cs typeface="Calibri Light"/>
              </a:rPr>
              <a:t>Types</a:t>
            </a:r>
            <a:r>
              <a:rPr dirty="0" sz="4800" spc="-114">
                <a:latin typeface="Calibri Light"/>
                <a:cs typeface="Calibri Light"/>
              </a:rPr>
              <a:t> </a:t>
            </a:r>
            <a:r>
              <a:rPr dirty="0" sz="4800">
                <a:latin typeface="Calibri Light"/>
                <a:cs typeface="Calibri Light"/>
              </a:rPr>
              <a:t>of</a:t>
            </a:r>
            <a:r>
              <a:rPr dirty="0" sz="4800" spc="-114">
                <a:latin typeface="Calibri Light"/>
                <a:cs typeface="Calibri Light"/>
              </a:rPr>
              <a:t> </a:t>
            </a:r>
            <a:r>
              <a:rPr dirty="0" sz="4800" spc="-10">
                <a:latin typeface="Calibri Light"/>
                <a:cs typeface="Calibri Light"/>
              </a:rPr>
              <a:t>PL/SQL block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7000" cy="6858000"/>
          </a:xfrm>
          <a:custGeom>
            <a:avLst/>
            <a:gdLst/>
            <a:ahLst/>
            <a:cxnLst/>
            <a:rect l="l" t="t" r="r" b="b"/>
            <a:pathLst>
              <a:path w="127000" h="6858000">
                <a:moveTo>
                  <a:pt x="126492" y="0"/>
                </a:moveTo>
                <a:lnTo>
                  <a:pt x="0" y="0"/>
                </a:lnTo>
                <a:lnTo>
                  <a:pt x="0" y="6858000"/>
                </a:lnTo>
                <a:lnTo>
                  <a:pt x="126492" y="6858000"/>
                </a:lnTo>
                <a:lnTo>
                  <a:pt x="12649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99047" y="694944"/>
            <a:ext cx="5257800" cy="2586355"/>
          </a:xfrm>
          <a:custGeom>
            <a:avLst/>
            <a:gdLst/>
            <a:ahLst/>
            <a:cxnLst/>
            <a:rect l="l" t="t" r="r" b="b"/>
            <a:pathLst>
              <a:path w="5257800" h="2586354">
                <a:moveTo>
                  <a:pt x="4826761" y="0"/>
                </a:moveTo>
                <a:lnTo>
                  <a:pt x="431037" y="0"/>
                </a:lnTo>
                <a:lnTo>
                  <a:pt x="384081" y="2529"/>
                </a:lnTo>
                <a:lnTo>
                  <a:pt x="338587" y="9944"/>
                </a:lnTo>
                <a:lnTo>
                  <a:pt x="294818" y="21980"/>
                </a:lnTo>
                <a:lnTo>
                  <a:pt x="253038" y="38373"/>
                </a:lnTo>
                <a:lnTo>
                  <a:pt x="213510" y="58862"/>
                </a:lnTo>
                <a:lnTo>
                  <a:pt x="176497" y="83181"/>
                </a:lnTo>
                <a:lnTo>
                  <a:pt x="142262" y="111069"/>
                </a:lnTo>
                <a:lnTo>
                  <a:pt x="111069" y="142262"/>
                </a:lnTo>
                <a:lnTo>
                  <a:pt x="83181" y="176497"/>
                </a:lnTo>
                <a:lnTo>
                  <a:pt x="58862" y="213510"/>
                </a:lnTo>
                <a:lnTo>
                  <a:pt x="38373" y="253038"/>
                </a:lnTo>
                <a:lnTo>
                  <a:pt x="21980" y="294818"/>
                </a:lnTo>
                <a:lnTo>
                  <a:pt x="9944" y="338587"/>
                </a:lnTo>
                <a:lnTo>
                  <a:pt x="2529" y="384081"/>
                </a:lnTo>
                <a:lnTo>
                  <a:pt x="0" y="431038"/>
                </a:lnTo>
                <a:lnTo>
                  <a:pt x="0" y="2155190"/>
                </a:lnTo>
                <a:lnTo>
                  <a:pt x="2529" y="2202146"/>
                </a:lnTo>
                <a:lnTo>
                  <a:pt x="9944" y="2247640"/>
                </a:lnTo>
                <a:lnTo>
                  <a:pt x="21980" y="2291409"/>
                </a:lnTo>
                <a:lnTo>
                  <a:pt x="38373" y="2333189"/>
                </a:lnTo>
                <a:lnTo>
                  <a:pt x="58862" y="2372717"/>
                </a:lnTo>
                <a:lnTo>
                  <a:pt x="83181" y="2409730"/>
                </a:lnTo>
                <a:lnTo>
                  <a:pt x="111069" y="2443965"/>
                </a:lnTo>
                <a:lnTo>
                  <a:pt x="142262" y="2475158"/>
                </a:lnTo>
                <a:lnTo>
                  <a:pt x="176497" y="2503046"/>
                </a:lnTo>
                <a:lnTo>
                  <a:pt x="213510" y="2527365"/>
                </a:lnTo>
                <a:lnTo>
                  <a:pt x="253038" y="2547854"/>
                </a:lnTo>
                <a:lnTo>
                  <a:pt x="294818" y="2564247"/>
                </a:lnTo>
                <a:lnTo>
                  <a:pt x="338587" y="2576283"/>
                </a:lnTo>
                <a:lnTo>
                  <a:pt x="384081" y="2583698"/>
                </a:lnTo>
                <a:lnTo>
                  <a:pt x="431037" y="2586228"/>
                </a:lnTo>
                <a:lnTo>
                  <a:pt x="4826761" y="2586228"/>
                </a:lnTo>
                <a:lnTo>
                  <a:pt x="4873718" y="2583698"/>
                </a:lnTo>
                <a:lnTo>
                  <a:pt x="4919212" y="2576283"/>
                </a:lnTo>
                <a:lnTo>
                  <a:pt x="4962981" y="2564247"/>
                </a:lnTo>
                <a:lnTo>
                  <a:pt x="5004761" y="2547854"/>
                </a:lnTo>
                <a:lnTo>
                  <a:pt x="5044289" y="2527365"/>
                </a:lnTo>
                <a:lnTo>
                  <a:pt x="5081302" y="2503046"/>
                </a:lnTo>
                <a:lnTo>
                  <a:pt x="5115537" y="2475158"/>
                </a:lnTo>
                <a:lnTo>
                  <a:pt x="5146730" y="2443965"/>
                </a:lnTo>
                <a:lnTo>
                  <a:pt x="5174618" y="2409730"/>
                </a:lnTo>
                <a:lnTo>
                  <a:pt x="5198937" y="2372717"/>
                </a:lnTo>
                <a:lnTo>
                  <a:pt x="5219426" y="2333189"/>
                </a:lnTo>
                <a:lnTo>
                  <a:pt x="5235819" y="2291409"/>
                </a:lnTo>
                <a:lnTo>
                  <a:pt x="5247855" y="2247640"/>
                </a:lnTo>
                <a:lnTo>
                  <a:pt x="5255270" y="2202146"/>
                </a:lnTo>
                <a:lnTo>
                  <a:pt x="5257800" y="2155190"/>
                </a:lnTo>
                <a:lnTo>
                  <a:pt x="5257800" y="431038"/>
                </a:lnTo>
                <a:lnTo>
                  <a:pt x="5255270" y="384081"/>
                </a:lnTo>
                <a:lnTo>
                  <a:pt x="5247855" y="338587"/>
                </a:lnTo>
                <a:lnTo>
                  <a:pt x="5235819" y="294818"/>
                </a:lnTo>
                <a:lnTo>
                  <a:pt x="5219426" y="253038"/>
                </a:lnTo>
                <a:lnTo>
                  <a:pt x="5198937" y="213510"/>
                </a:lnTo>
                <a:lnTo>
                  <a:pt x="5174618" y="176497"/>
                </a:lnTo>
                <a:lnTo>
                  <a:pt x="5146730" y="142262"/>
                </a:lnTo>
                <a:lnTo>
                  <a:pt x="5115537" y="111069"/>
                </a:lnTo>
                <a:lnTo>
                  <a:pt x="5081302" y="83181"/>
                </a:lnTo>
                <a:lnTo>
                  <a:pt x="5044289" y="58862"/>
                </a:lnTo>
                <a:lnTo>
                  <a:pt x="5004761" y="38373"/>
                </a:lnTo>
                <a:lnTo>
                  <a:pt x="4962981" y="21980"/>
                </a:lnTo>
                <a:lnTo>
                  <a:pt x="4919212" y="9944"/>
                </a:lnTo>
                <a:lnTo>
                  <a:pt x="4873718" y="2529"/>
                </a:lnTo>
                <a:lnTo>
                  <a:pt x="482676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0490" rIns="0" bIns="0" rtlCol="0" vert="horz">
            <a:spAutoFit/>
          </a:bodyPr>
          <a:lstStyle/>
          <a:p>
            <a:pPr marL="12700" marR="5080">
              <a:lnSpc>
                <a:spcPts val="7140"/>
              </a:lnSpc>
              <a:spcBef>
                <a:spcPts val="870"/>
              </a:spcBef>
            </a:pPr>
            <a:r>
              <a:rPr dirty="0" sz="6500" spc="-20">
                <a:solidFill>
                  <a:srgbClr val="FFFFFF"/>
                </a:solidFill>
                <a:latin typeface="Calibri"/>
                <a:cs typeface="Calibri"/>
              </a:rPr>
              <a:t>Anonymous </a:t>
            </a:r>
            <a:r>
              <a:rPr dirty="0" sz="6500" spc="-10">
                <a:solidFill>
                  <a:srgbClr val="FFFFFF"/>
                </a:solidFill>
                <a:latin typeface="Calibri"/>
                <a:cs typeface="Calibri"/>
              </a:rPr>
              <a:t>blocks</a:t>
            </a:r>
            <a:endParaRPr sz="65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99047" y="3467100"/>
            <a:ext cx="5257800" cy="2586355"/>
          </a:xfrm>
          <a:custGeom>
            <a:avLst/>
            <a:gdLst/>
            <a:ahLst/>
            <a:cxnLst/>
            <a:rect l="l" t="t" r="r" b="b"/>
            <a:pathLst>
              <a:path w="5257800" h="2586354">
                <a:moveTo>
                  <a:pt x="4826761" y="0"/>
                </a:moveTo>
                <a:lnTo>
                  <a:pt x="431037" y="0"/>
                </a:lnTo>
                <a:lnTo>
                  <a:pt x="384081" y="2529"/>
                </a:lnTo>
                <a:lnTo>
                  <a:pt x="338587" y="9944"/>
                </a:lnTo>
                <a:lnTo>
                  <a:pt x="294818" y="21980"/>
                </a:lnTo>
                <a:lnTo>
                  <a:pt x="253038" y="38373"/>
                </a:lnTo>
                <a:lnTo>
                  <a:pt x="213510" y="58862"/>
                </a:lnTo>
                <a:lnTo>
                  <a:pt x="176497" y="83181"/>
                </a:lnTo>
                <a:lnTo>
                  <a:pt x="142262" y="111069"/>
                </a:lnTo>
                <a:lnTo>
                  <a:pt x="111069" y="142262"/>
                </a:lnTo>
                <a:lnTo>
                  <a:pt x="83181" y="176497"/>
                </a:lnTo>
                <a:lnTo>
                  <a:pt x="58862" y="213510"/>
                </a:lnTo>
                <a:lnTo>
                  <a:pt x="38373" y="253038"/>
                </a:lnTo>
                <a:lnTo>
                  <a:pt x="21980" y="294818"/>
                </a:lnTo>
                <a:lnTo>
                  <a:pt x="9944" y="338587"/>
                </a:lnTo>
                <a:lnTo>
                  <a:pt x="2529" y="384081"/>
                </a:lnTo>
                <a:lnTo>
                  <a:pt x="0" y="431038"/>
                </a:lnTo>
                <a:lnTo>
                  <a:pt x="0" y="2155177"/>
                </a:lnTo>
                <a:lnTo>
                  <a:pt x="2529" y="2202144"/>
                </a:lnTo>
                <a:lnTo>
                  <a:pt x="9944" y="2247647"/>
                </a:lnTo>
                <a:lnTo>
                  <a:pt x="21980" y="2291422"/>
                </a:lnTo>
                <a:lnTo>
                  <a:pt x="38373" y="2333206"/>
                </a:lnTo>
                <a:lnTo>
                  <a:pt x="58862" y="2372736"/>
                </a:lnTo>
                <a:lnTo>
                  <a:pt x="83181" y="2409749"/>
                </a:lnTo>
                <a:lnTo>
                  <a:pt x="111069" y="2443983"/>
                </a:lnTo>
                <a:lnTo>
                  <a:pt x="142262" y="2475174"/>
                </a:lnTo>
                <a:lnTo>
                  <a:pt x="176497" y="2503059"/>
                </a:lnTo>
                <a:lnTo>
                  <a:pt x="213510" y="2527376"/>
                </a:lnTo>
                <a:lnTo>
                  <a:pt x="253038" y="2547861"/>
                </a:lnTo>
                <a:lnTo>
                  <a:pt x="294818" y="2564252"/>
                </a:lnTo>
                <a:lnTo>
                  <a:pt x="338587" y="2576285"/>
                </a:lnTo>
                <a:lnTo>
                  <a:pt x="384081" y="2583698"/>
                </a:lnTo>
                <a:lnTo>
                  <a:pt x="431037" y="2586228"/>
                </a:lnTo>
                <a:lnTo>
                  <a:pt x="4826761" y="2586228"/>
                </a:lnTo>
                <a:lnTo>
                  <a:pt x="4873718" y="2583698"/>
                </a:lnTo>
                <a:lnTo>
                  <a:pt x="4919212" y="2576285"/>
                </a:lnTo>
                <a:lnTo>
                  <a:pt x="4962981" y="2564252"/>
                </a:lnTo>
                <a:lnTo>
                  <a:pt x="5004761" y="2547861"/>
                </a:lnTo>
                <a:lnTo>
                  <a:pt x="5044289" y="2527376"/>
                </a:lnTo>
                <a:lnTo>
                  <a:pt x="5081302" y="2503059"/>
                </a:lnTo>
                <a:lnTo>
                  <a:pt x="5115537" y="2475174"/>
                </a:lnTo>
                <a:lnTo>
                  <a:pt x="5146730" y="2443983"/>
                </a:lnTo>
                <a:lnTo>
                  <a:pt x="5174618" y="2409749"/>
                </a:lnTo>
                <a:lnTo>
                  <a:pt x="5198937" y="2372736"/>
                </a:lnTo>
                <a:lnTo>
                  <a:pt x="5219426" y="2333206"/>
                </a:lnTo>
                <a:lnTo>
                  <a:pt x="5235819" y="2291422"/>
                </a:lnTo>
                <a:lnTo>
                  <a:pt x="5247855" y="2247647"/>
                </a:lnTo>
                <a:lnTo>
                  <a:pt x="5255270" y="2202144"/>
                </a:lnTo>
                <a:lnTo>
                  <a:pt x="5257800" y="2155177"/>
                </a:lnTo>
                <a:lnTo>
                  <a:pt x="5257800" y="431038"/>
                </a:lnTo>
                <a:lnTo>
                  <a:pt x="5255270" y="384081"/>
                </a:lnTo>
                <a:lnTo>
                  <a:pt x="5247855" y="338587"/>
                </a:lnTo>
                <a:lnTo>
                  <a:pt x="5235819" y="294818"/>
                </a:lnTo>
                <a:lnTo>
                  <a:pt x="5219426" y="253038"/>
                </a:lnTo>
                <a:lnTo>
                  <a:pt x="5198937" y="213510"/>
                </a:lnTo>
                <a:lnTo>
                  <a:pt x="5174618" y="176497"/>
                </a:lnTo>
                <a:lnTo>
                  <a:pt x="5146730" y="142262"/>
                </a:lnTo>
                <a:lnTo>
                  <a:pt x="5115537" y="111069"/>
                </a:lnTo>
                <a:lnTo>
                  <a:pt x="5081302" y="83181"/>
                </a:lnTo>
                <a:lnTo>
                  <a:pt x="5044289" y="58862"/>
                </a:lnTo>
                <a:lnTo>
                  <a:pt x="5004761" y="38373"/>
                </a:lnTo>
                <a:lnTo>
                  <a:pt x="4962981" y="21980"/>
                </a:lnTo>
                <a:lnTo>
                  <a:pt x="4919212" y="9944"/>
                </a:lnTo>
                <a:lnTo>
                  <a:pt x="4873718" y="2529"/>
                </a:lnTo>
                <a:lnTo>
                  <a:pt x="4826761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460997" y="3701237"/>
            <a:ext cx="2458720" cy="192468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 marR="5080">
              <a:lnSpc>
                <a:spcPts val="7140"/>
              </a:lnSpc>
              <a:spcBef>
                <a:spcPts val="869"/>
              </a:spcBef>
            </a:pPr>
            <a:r>
              <a:rPr dirty="0" sz="6500" spc="-10">
                <a:solidFill>
                  <a:srgbClr val="FFFFFF"/>
                </a:solidFill>
                <a:latin typeface="Calibri"/>
                <a:cs typeface="Calibri"/>
              </a:rPr>
              <a:t>Named Blocks</a:t>
            </a:r>
            <a:endParaRPr sz="6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09276" y="0"/>
            <a:ext cx="1134110" cy="478790"/>
          </a:xfrm>
          <a:custGeom>
            <a:avLst/>
            <a:gdLst/>
            <a:ahLst/>
            <a:cxnLst/>
            <a:rect l="l" t="t" r="r" b="b"/>
            <a:pathLst>
              <a:path w="1134109" h="478790">
                <a:moveTo>
                  <a:pt x="1133855" y="0"/>
                </a:moveTo>
                <a:lnTo>
                  <a:pt x="0" y="0"/>
                </a:lnTo>
                <a:lnTo>
                  <a:pt x="1650" y="16891"/>
                </a:lnTo>
                <a:lnTo>
                  <a:pt x="12982" y="62669"/>
                </a:lnTo>
                <a:lnTo>
                  <a:pt x="27864" y="106933"/>
                </a:lnTo>
                <a:lnTo>
                  <a:pt x="46135" y="149518"/>
                </a:lnTo>
                <a:lnTo>
                  <a:pt x="67632" y="190264"/>
                </a:lnTo>
                <a:lnTo>
                  <a:pt x="92192" y="229006"/>
                </a:lnTo>
                <a:lnTo>
                  <a:pt x="119655" y="265584"/>
                </a:lnTo>
                <a:lnTo>
                  <a:pt x="149858" y="299833"/>
                </a:lnTo>
                <a:lnTo>
                  <a:pt x="182639" y="331592"/>
                </a:lnTo>
                <a:lnTo>
                  <a:pt x="217835" y="360699"/>
                </a:lnTo>
                <a:lnTo>
                  <a:pt x="255286" y="386989"/>
                </a:lnTo>
                <a:lnTo>
                  <a:pt x="294827" y="410302"/>
                </a:lnTo>
                <a:lnTo>
                  <a:pt x="336299" y="430474"/>
                </a:lnTo>
                <a:lnTo>
                  <a:pt x="379538" y="447342"/>
                </a:lnTo>
                <a:lnTo>
                  <a:pt x="424382" y="460746"/>
                </a:lnTo>
                <a:lnTo>
                  <a:pt x="470670" y="470521"/>
                </a:lnTo>
                <a:lnTo>
                  <a:pt x="518239" y="476505"/>
                </a:lnTo>
                <a:lnTo>
                  <a:pt x="566927" y="478536"/>
                </a:lnTo>
                <a:lnTo>
                  <a:pt x="615616" y="476505"/>
                </a:lnTo>
                <a:lnTo>
                  <a:pt x="663185" y="470521"/>
                </a:lnTo>
                <a:lnTo>
                  <a:pt x="709473" y="460746"/>
                </a:lnTo>
                <a:lnTo>
                  <a:pt x="754317" y="447342"/>
                </a:lnTo>
                <a:lnTo>
                  <a:pt x="797556" y="430474"/>
                </a:lnTo>
                <a:lnTo>
                  <a:pt x="839028" y="410302"/>
                </a:lnTo>
                <a:lnTo>
                  <a:pt x="878569" y="386989"/>
                </a:lnTo>
                <a:lnTo>
                  <a:pt x="916020" y="360699"/>
                </a:lnTo>
                <a:lnTo>
                  <a:pt x="951216" y="331592"/>
                </a:lnTo>
                <a:lnTo>
                  <a:pt x="983997" y="299833"/>
                </a:lnTo>
                <a:lnTo>
                  <a:pt x="1014200" y="265584"/>
                </a:lnTo>
                <a:lnTo>
                  <a:pt x="1041663" y="229006"/>
                </a:lnTo>
                <a:lnTo>
                  <a:pt x="1066223" y="190264"/>
                </a:lnTo>
                <a:lnTo>
                  <a:pt x="1087720" y="149518"/>
                </a:lnTo>
                <a:lnTo>
                  <a:pt x="1105991" y="106933"/>
                </a:lnTo>
                <a:lnTo>
                  <a:pt x="1120873" y="62669"/>
                </a:lnTo>
                <a:lnTo>
                  <a:pt x="1132204" y="16891"/>
                </a:lnTo>
                <a:lnTo>
                  <a:pt x="113385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50"/>
              <a:t>Anonymous</a:t>
            </a:r>
            <a:r>
              <a:rPr dirty="0" sz="4400" spc="-165"/>
              <a:t> </a:t>
            </a:r>
            <a:r>
              <a:rPr dirty="0" sz="4400" spc="-20"/>
              <a:t>blocks: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557022" y="4226052"/>
            <a:ext cx="2041525" cy="2041525"/>
          </a:xfrm>
          <a:custGeom>
            <a:avLst/>
            <a:gdLst/>
            <a:ahLst/>
            <a:cxnLst/>
            <a:rect l="l" t="t" r="r" b="b"/>
            <a:pathLst>
              <a:path w="2041525" h="2041525">
                <a:moveTo>
                  <a:pt x="0" y="0"/>
                </a:moveTo>
                <a:lnTo>
                  <a:pt x="557" y="48183"/>
                </a:lnTo>
                <a:lnTo>
                  <a:pt x="2222" y="96093"/>
                </a:lnTo>
                <a:lnTo>
                  <a:pt x="4981" y="143717"/>
                </a:lnTo>
                <a:lnTo>
                  <a:pt x="8822" y="191044"/>
                </a:lnTo>
                <a:lnTo>
                  <a:pt x="13734" y="238060"/>
                </a:lnTo>
                <a:lnTo>
                  <a:pt x="19704" y="284753"/>
                </a:lnTo>
                <a:lnTo>
                  <a:pt x="26719" y="331112"/>
                </a:lnTo>
                <a:lnTo>
                  <a:pt x="34768" y="377123"/>
                </a:lnTo>
                <a:lnTo>
                  <a:pt x="43838" y="422776"/>
                </a:lnTo>
                <a:lnTo>
                  <a:pt x="53917" y="468056"/>
                </a:lnTo>
                <a:lnTo>
                  <a:pt x="64993" y="512953"/>
                </a:lnTo>
                <a:lnTo>
                  <a:pt x="77053" y="557454"/>
                </a:lnTo>
                <a:lnTo>
                  <a:pt x="90085" y="601547"/>
                </a:lnTo>
                <a:lnTo>
                  <a:pt x="104077" y="645218"/>
                </a:lnTo>
                <a:lnTo>
                  <a:pt x="119016" y="688457"/>
                </a:lnTo>
                <a:lnTo>
                  <a:pt x="134891" y="731251"/>
                </a:lnTo>
                <a:lnTo>
                  <a:pt x="151689" y="773588"/>
                </a:lnTo>
                <a:lnTo>
                  <a:pt x="169398" y="815455"/>
                </a:lnTo>
                <a:lnTo>
                  <a:pt x="188005" y="856840"/>
                </a:lnTo>
                <a:lnTo>
                  <a:pt x="207499" y="897731"/>
                </a:lnTo>
                <a:lnTo>
                  <a:pt x="227867" y="938116"/>
                </a:lnTo>
                <a:lnTo>
                  <a:pt x="249097" y="977982"/>
                </a:lnTo>
                <a:lnTo>
                  <a:pt x="271176" y="1017317"/>
                </a:lnTo>
                <a:lnTo>
                  <a:pt x="294092" y="1056108"/>
                </a:lnTo>
                <a:lnTo>
                  <a:pt x="317834" y="1094345"/>
                </a:lnTo>
                <a:lnTo>
                  <a:pt x="342388" y="1132014"/>
                </a:lnTo>
                <a:lnTo>
                  <a:pt x="367743" y="1169103"/>
                </a:lnTo>
                <a:lnTo>
                  <a:pt x="393886" y="1205599"/>
                </a:lnTo>
                <a:lnTo>
                  <a:pt x="420806" y="1241492"/>
                </a:lnTo>
                <a:lnTo>
                  <a:pt x="448489" y="1276767"/>
                </a:lnTo>
                <a:lnTo>
                  <a:pt x="476923" y="1311414"/>
                </a:lnTo>
                <a:lnTo>
                  <a:pt x="506097" y="1345419"/>
                </a:lnTo>
                <a:lnTo>
                  <a:pt x="535998" y="1378771"/>
                </a:lnTo>
                <a:lnTo>
                  <a:pt x="566613" y="1411457"/>
                </a:lnTo>
                <a:lnTo>
                  <a:pt x="597931" y="1443466"/>
                </a:lnTo>
                <a:lnTo>
                  <a:pt x="629940" y="1474784"/>
                </a:lnTo>
                <a:lnTo>
                  <a:pt x="662626" y="1505399"/>
                </a:lnTo>
                <a:lnTo>
                  <a:pt x="695978" y="1535300"/>
                </a:lnTo>
                <a:lnTo>
                  <a:pt x="729983" y="1564474"/>
                </a:lnTo>
                <a:lnTo>
                  <a:pt x="764630" y="1592908"/>
                </a:lnTo>
                <a:lnTo>
                  <a:pt x="799905" y="1620591"/>
                </a:lnTo>
                <a:lnTo>
                  <a:pt x="835798" y="1647511"/>
                </a:lnTo>
                <a:lnTo>
                  <a:pt x="872294" y="1673654"/>
                </a:lnTo>
                <a:lnTo>
                  <a:pt x="909383" y="1699009"/>
                </a:lnTo>
                <a:lnTo>
                  <a:pt x="947052" y="1723563"/>
                </a:lnTo>
                <a:lnTo>
                  <a:pt x="985289" y="1747305"/>
                </a:lnTo>
                <a:lnTo>
                  <a:pt x="1024080" y="1770221"/>
                </a:lnTo>
                <a:lnTo>
                  <a:pt x="1063415" y="1792300"/>
                </a:lnTo>
                <a:lnTo>
                  <a:pt x="1103281" y="1813530"/>
                </a:lnTo>
                <a:lnTo>
                  <a:pt x="1143666" y="1833898"/>
                </a:lnTo>
                <a:lnTo>
                  <a:pt x="1184557" y="1853392"/>
                </a:lnTo>
                <a:lnTo>
                  <a:pt x="1225942" y="1871999"/>
                </a:lnTo>
                <a:lnTo>
                  <a:pt x="1267809" y="1889708"/>
                </a:lnTo>
                <a:lnTo>
                  <a:pt x="1310146" y="1906506"/>
                </a:lnTo>
                <a:lnTo>
                  <a:pt x="1352940" y="1922381"/>
                </a:lnTo>
                <a:lnTo>
                  <a:pt x="1396179" y="1937320"/>
                </a:lnTo>
                <a:lnTo>
                  <a:pt x="1439850" y="1951312"/>
                </a:lnTo>
                <a:lnTo>
                  <a:pt x="1483943" y="1964344"/>
                </a:lnTo>
                <a:lnTo>
                  <a:pt x="1528444" y="1976404"/>
                </a:lnTo>
                <a:lnTo>
                  <a:pt x="1573341" y="1987480"/>
                </a:lnTo>
                <a:lnTo>
                  <a:pt x="1618621" y="1997559"/>
                </a:lnTo>
                <a:lnTo>
                  <a:pt x="1664274" y="2006629"/>
                </a:lnTo>
                <a:lnTo>
                  <a:pt x="1710285" y="2014678"/>
                </a:lnTo>
                <a:lnTo>
                  <a:pt x="1756644" y="2021693"/>
                </a:lnTo>
                <a:lnTo>
                  <a:pt x="1803337" y="2027663"/>
                </a:lnTo>
                <a:lnTo>
                  <a:pt x="1850353" y="2032575"/>
                </a:lnTo>
                <a:lnTo>
                  <a:pt x="1897680" y="2036416"/>
                </a:lnTo>
                <a:lnTo>
                  <a:pt x="1945304" y="2039175"/>
                </a:lnTo>
                <a:lnTo>
                  <a:pt x="1993214" y="2040840"/>
                </a:lnTo>
                <a:lnTo>
                  <a:pt x="2041398" y="2041398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16939" y="1667002"/>
            <a:ext cx="10303510" cy="4170679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241300" marR="485775" indent="-229235">
              <a:lnSpc>
                <a:spcPct val="80000"/>
              </a:lnSpc>
              <a:spcBef>
                <a:spcPts val="5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Anonymous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PL/SQL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assigned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them.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be </a:t>
            </a:r>
            <a:r>
              <a:rPr dirty="0" sz="1800" spc="-10">
                <a:latin typeface="Calibri"/>
                <a:cs typeface="Calibri"/>
              </a:rPr>
              <a:t>created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same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session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because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server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objects.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ts val="1945"/>
              </a:lnSpc>
              <a:spcBef>
                <a:spcPts val="5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Since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need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compilation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steps.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written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executed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945"/>
              </a:lnSpc>
            </a:pPr>
            <a:r>
              <a:rPr dirty="0" sz="1800" spc="-20">
                <a:latin typeface="Calibri"/>
                <a:cs typeface="Calibri"/>
              </a:rPr>
              <a:t>directly,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compilation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execution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happen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single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process.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Below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few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more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characteristics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Anonymous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blocks.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These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don't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reference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specified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them.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These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start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keyword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'DECLARE'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'BEGIN'.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ts val="1945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Since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reference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cannot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later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purpose.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shall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be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945"/>
              </a:lnSpc>
            </a:pPr>
            <a:r>
              <a:rPr dirty="0" sz="1800" spc="-10">
                <a:latin typeface="Calibri"/>
                <a:cs typeface="Calibri"/>
              </a:rPr>
              <a:t>created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same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session.</a:t>
            </a:r>
            <a:endParaRPr sz="1800">
              <a:latin typeface="Calibri"/>
              <a:cs typeface="Calibri"/>
            </a:endParaRPr>
          </a:p>
          <a:p>
            <a:pPr marL="241300" marR="477520" indent="-229235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call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other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blocks,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call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anonymous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possible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any </a:t>
            </a:r>
            <a:r>
              <a:rPr dirty="0" sz="1800" spc="-10">
                <a:latin typeface="Calibri"/>
                <a:cs typeface="Calibri"/>
              </a:rPr>
              <a:t>reference.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nested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anonymous.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also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nested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blocks.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ts val="1945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These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three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sections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block,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mandatory,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other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two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945"/>
              </a:lnSpc>
            </a:pPr>
            <a:r>
              <a:rPr dirty="0" sz="1800">
                <a:latin typeface="Calibri"/>
                <a:cs typeface="Calibri"/>
              </a:rPr>
              <a:t>sections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optional.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09276" y="0"/>
            <a:ext cx="1134110" cy="478790"/>
          </a:xfrm>
          <a:custGeom>
            <a:avLst/>
            <a:gdLst/>
            <a:ahLst/>
            <a:cxnLst/>
            <a:rect l="l" t="t" r="r" b="b"/>
            <a:pathLst>
              <a:path w="1134109" h="478790">
                <a:moveTo>
                  <a:pt x="1133855" y="0"/>
                </a:moveTo>
                <a:lnTo>
                  <a:pt x="0" y="0"/>
                </a:lnTo>
                <a:lnTo>
                  <a:pt x="1650" y="16891"/>
                </a:lnTo>
                <a:lnTo>
                  <a:pt x="12982" y="62669"/>
                </a:lnTo>
                <a:lnTo>
                  <a:pt x="27864" y="106933"/>
                </a:lnTo>
                <a:lnTo>
                  <a:pt x="46135" y="149518"/>
                </a:lnTo>
                <a:lnTo>
                  <a:pt x="67632" y="190264"/>
                </a:lnTo>
                <a:lnTo>
                  <a:pt x="92192" y="229006"/>
                </a:lnTo>
                <a:lnTo>
                  <a:pt x="119655" y="265584"/>
                </a:lnTo>
                <a:lnTo>
                  <a:pt x="149858" y="299833"/>
                </a:lnTo>
                <a:lnTo>
                  <a:pt x="182639" y="331592"/>
                </a:lnTo>
                <a:lnTo>
                  <a:pt x="217835" y="360699"/>
                </a:lnTo>
                <a:lnTo>
                  <a:pt x="255286" y="386989"/>
                </a:lnTo>
                <a:lnTo>
                  <a:pt x="294827" y="410302"/>
                </a:lnTo>
                <a:lnTo>
                  <a:pt x="336299" y="430474"/>
                </a:lnTo>
                <a:lnTo>
                  <a:pt x="379538" y="447342"/>
                </a:lnTo>
                <a:lnTo>
                  <a:pt x="424382" y="460746"/>
                </a:lnTo>
                <a:lnTo>
                  <a:pt x="470670" y="470521"/>
                </a:lnTo>
                <a:lnTo>
                  <a:pt x="518239" y="476505"/>
                </a:lnTo>
                <a:lnTo>
                  <a:pt x="566927" y="478536"/>
                </a:lnTo>
                <a:lnTo>
                  <a:pt x="615616" y="476505"/>
                </a:lnTo>
                <a:lnTo>
                  <a:pt x="663185" y="470521"/>
                </a:lnTo>
                <a:lnTo>
                  <a:pt x="709473" y="460746"/>
                </a:lnTo>
                <a:lnTo>
                  <a:pt x="754317" y="447342"/>
                </a:lnTo>
                <a:lnTo>
                  <a:pt x="797556" y="430474"/>
                </a:lnTo>
                <a:lnTo>
                  <a:pt x="839028" y="410302"/>
                </a:lnTo>
                <a:lnTo>
                  <a:pt x="878569" y="386989"/>
                </a:lnTo>
                <a:lnTo>
                  <a:pt x="916020" y="360699"/>
                </a:lnTo>
                <a:lnTo>
                  <a:pt x="951216" y="331592"/>
                </a:lnTo>
                <a:lnTo>
                  <a:pt x="983997" y="299833"/>
                </a:lnTo>
                <a:lnTo>
                  <a:pt x="1014200" y="265584"/>
                </a:lnTo>
                <a:lnTo>
                  <a:pt x="1041663" y="229006"/>
                </a:lnTo>
                <a:lnTo>
                  <a:pt x="1066223" y="190264"/>
                </a:lnTo>
                <a:lnTo>
                  <a:pt x="1087720" y="149518"/>
                </a:lnTo>
                <a:lnTo>
                  <a:pt x="1105991" y="106933"/>
                </a:lnTo>
                <a:lnTo>
                  <a:pt x="1120873" y="62669"/>
                </a:lnTo>
                <a:lnTo>
                  <a:pt x="1132204" y="16891"/>
                </a:lnTo>
                <a:lnTo>
                  <a:pt x="113385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12801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25"/>
              <a:t>Named</a:t>
            </a:r>
            <a:r>
              <a:rPr dirty="0" sz="4400" spc="-220"/>
              <a:t> </a:t>
            </a:r>
            <a:r>
              <a:rPr dirty="0" sz="4400" spc="-20"/>
              <a:t>blocks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557022" y="4226052"/>
            <a:ext cx="2041525" cy="2041525"/>
          </a:xfrm>
          <a:custGeom>
            <a:avLst/>
            <a:gdLst/>
            <a:ahLst/>
            <a:cxnLst/>
            <a:rect l="l" t="t" r="r" b="b"/>
            <a:pathLst>
              <a:path w="2041525" h="2041525">
                <a:moveTo>
                  <a:pt x="0" y="0"/>
                </a:moveTo>
                <a:lnTo>
                  <a:pt x="557" y="48183"/>
                </a:lnTo>
                <a:lnTo>
                  <a:pt x="2222" y="96093"/>
                </a:lnTo>
                <a:lnTo>
                  <a:pt x="4981" y="143717"/>
                </a:lnTo>
                <a:lnTo>
                  <a:pt x="8822" y="191044"/>
                </a:lnTo>
                <a:lnTo>
                  <a:pt x="13734" y="238060"/>
                </a:lnTo>
                <a:lnTo>
                  <a:pt x="19704" y="284753"/>
                </a:lnTo>
                <a:lnTo>
                  <a:pt x="26719" y="331112"/>
                </a:lnTo>
                <a:lnTo>
                  <a:pt x="34768" y="377123"/>
                </a:lnTo>
                <a:lnTo>
                  <a:pt x="43838" y="422776"/>
                </a:lnTo>
                <a:lnTo>
                  <a:pt x="53917" y="468056"/>
                </a:lnTo>
                <a:lnTo>
                  <a:pt x="64993" y="512953"/>
                </a:lnTo>
                <a:lnTo>
                  <a:pt x="77053" y="557454"/>
                </a:lnTo>
                <a:lnTo>
                  <a:pt x="90085" y="601547"/>
                </a:lnTo>
                <a:lnTo>
                  <a:pt x="104077" y="645218"/>
                </a:lnTo>
                <a:lnTo>
                  <a:pt x="119016" y="688457"/>
                </a:lnTo>
                <a:lnTo>
                  <a:pt x="134891" y="731251"/>
                </a:lnTo>
                <a:lnTo>
                  <a:pt x="151689" y="773588"/>
                </a:lnTo>
                <a:lnTo>
                  <a:pt x="169398" y="815455"/>
                </a:lnTo>
                <a:lnTo>
                  <a:pt x="188005" y="856840"/>
                </a:lnTo>
                <a:lnTo>
                  <a:pt x="207499" y="897731"/>
                </a:lnTo>
                <a:lnTo>
                  <a:pt x="227867" y="938116"/>
                </a:lnTo>
                <a:lnTo>
                  <a:pt x="249097" y="977982"/>
                </a:lnTo>
                <a:lnTo>
                  <a:pt x="271176" y="1017317"/>
                </a:lnTo>
                <a:lnTo>
                  <a:pt x="294092" y="1056108"/>
                </a:lnTo>
                <a:lnTo>
                  <a:pt x="317834" y="1094345"/>
                </a:lnTo>
                <a:lnTo>
                  <a:pt x="342388" y="1132014"/>
                </a:lnTo>
                <a:lnTo>
                  <a:pt x="367743" y="1169103"/>
                </a:lnTo>
                <a:lnTo>
                  <a:pt x="393886" y="1205599"/>
                </a:lnTo>
                <a:lnTo>
                  <a:pt x="420806" y="1241492"/>
                </a:lnTo>
                <a:lnTo>
                  <a:pt x="448489" y="1276767"/>
                </a:lnTo>
                <a:lnTo>
                  <a:pt x="476923" y="1311414"/>
                </a:lnTo>
                <a:lnTo>
                  <a:pt x="506097" y="1345419"/>
                </a:lnTo>
                <a:lnTo>
                  <a:pt x="535998" y="1378771"/>
                </a:lnTo>
                <a:lnTo>
                  <a:pt x="566613" y="1411457"/>
                </a:lnTo>
                <a:lnTo>
                  <a:pt x="597931" y="1443466"/>
                </a:lnTo>
                <a:lnTo>
                  <a:pt x="629940" y="1474784"/>
                </a:lnTo>
                <a:lnTo>
                  <a:pt x="662626" y="1505399"/>
                </a:lnTo>
                <a:lnTo>
                  <a:pt x="695978" y="1535300"/>
                </a:lnTo>
                <a:lnTo>
                  <a:pt x="729983" y="1564474"/>
                </a:lnTo>
                <a:lnTo>
                  <a:pt x="764630" y="1592908"/>
                </a:lnTo>
                <a:lnTo>
                  <a:pt x="799905" y="1620591"/>
                </a:lnTo>
                <a:lnTo>
                  <a:pt x="835798" y="1647511"/>
                </a:lnTo>
                <a:lnTo>
                  <a:pt x="872294" y="1673654"/>
                </a:lnTo>
                <a:lnTo>
                  <a:pt x="909383" y="1699009"/>
                </a:lnTo>
                <a:lnTo>
                  <a:pt x="947052" y="1723563"/>
                </a:lnTo>
                <a:lnTo>
                  <a:pt x="985289" y="1747305"/>
                </a:lnTo>
                <a:lnTo>
                  <a:pt x="1024080" y="1770221"/>
                </a:lnTo>
                <a:lnTo>
                  <a:pt x="1063415" y="1792300"/>
                </a:lnTo>
                <a:lnTo>
                  <a:pt x="1103281" y="1813530"/>
                </a:lnTo>
                <a:lnTo>
                  <a:pt x="1143666" y="1833898"/>
                </a:lnTo>
                <a:lnTo>
                  <a:pt x="1184557" y="1853392"/>
                </a:lnTo>
                <a:lnTo>
                  <a:pt x="1225942" y="1871999"/>
                </a:lnTo>
                <a:lnTo>
                  <a:pt x="1267809" y="1889708"/>
                </a:lnTo>
                <a:lnTo>
                  <a:pt x="1310146" y="1906506"/>
                </a:lnTo>
                <a:lnTo>
                  <a:pt x="1352940" y="1922381"/>
                </a:lnTo>
                <a:lnTo>
                  <a:pt x="1396179" y="1937320"/>
                </a:lnTo>
                <a:lnTo>
                  <a:pt x="1439850" y="1951312"/>
                </a:lnTo>
                <a:lnTo>
                  <a:pt x="1483943" y="1964344"/>
                </a:lnTo>
                <a:lnTo>
                  <a:pt x="1528444" y="1976404"/>
                </a:lnTo>
                <a:lnTo>
                  <a:pt x="1573341" y="1987480"/>
                </a:lnTo>
                <a:lnTo>
                  <a:pt x="1618621" y="1997559"/>
                </a:lnTo>
                <a:lnTo>
                  <a:pt x="1664274" y="2006629"/>
                </a:lnTo>
                <a:lnTo>
                  <a:pt x="1710285" y="2014678"/>
                </a:lnTo>
                <a:lnTo>
                  <a:pt x="1756644" y="2021693"/>
                </a:lnTo>
                <a:lnTo>
                  <a:pt x="1803337" y="2027663"/>
                </a:lnTo>
                <a:lnTo>
                  <a:pt x="1850353" y="2032575"/>
                </a:lnTo>
                <a:lnTo>
                  <a:pt x="1897680" y="2036416"/>
                </a:lnTo>
                <a:lnTo>
                  <a:pt x="1945304" y="2039175"/>
                </a:lnTo>
                <a:lnTo>
                  <a:pt x="1993214" y="2040840"/>
                </a:lnTo>
                <a:lnTo>
                  <a:pt x="2041398" y="2041398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16939" y="1528064"/>
            <a:ext cx="10342880" cy="390652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241300" marR="5080" indent="-229235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Named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specific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unique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them.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objects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server.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Since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available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objects,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referred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long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present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on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server.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compilation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process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happens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separately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while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creating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them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database objects.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Below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few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more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characteristics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blocks.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These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called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other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blocks.</a:t>
            </a:r>
            <a:endParaRPr sz="1800">
              <a:latin typeface="Calibri"/>
              <a:cs typeface="Calibri"/>
            </a:endParaRPr>
          </a:p>
          <a:p>
            <a:pPr marL="241300" marR="140335" indent="-229235">
              <a:lnSpc>
                <a:spcPts val="1939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structure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same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anonymous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except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never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start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keyword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'DECLARE'. </a:t>
            </a:r>
            <a:r>
              <a:rPr dirty="0" sz="1800">
                <a:latin typeface="Calibri"/>
                <a:cs typeface="Calibri"/>
              </a:rPr>
              <a:t>Instead,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start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keyword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'CREATE'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instruct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compiler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create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object.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These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nested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within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other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blocks.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also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contain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nested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blocks.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Named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basically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two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types: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spc="-10">
                <a:latin typeface="Calibri"/>
                <a:cs typeface="Calibri"/>
              </a:rPr>
              <a:t>Procedure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spc="-10"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273558"/>
            <a:ext cx="12188825" cy="0"/>
          </a:xfrm>
          <a:custGeom>
            <a:avLst/>
            <a:gdLst/>
            <a:ahLst/>
            <a:cxnLst/>
            <a:rect l="l" t="t" r="r" b="b"/>
            <a:pathLst>
              <a:path w="12188825" h="0">
                <a:moveTo>
                  <a:pt x="0" y="0"/>
                </a:moveTo>
                <a:lnTo>
                  <a:pt x="12188825" y="0"/>
                </a:lnTo>
              </a:path>
            </a:pathLst>
          </a:custGeom>
          <a:ln w="5080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68808"/>
            <a:ext cx="12192000" cy="1736089"/>
          </a:xfrm>
          <a:custGeom>
            <a:avLst/>
            <a:gdLst/>
            <a:ahLst/>
            <a:cxnLst/>
            <a:rect l="l" t="t" r="r" b="b"/>
            <a:pathLst>
              <a:path w="12192000" h="1736089">
                <a:moveTo>
                  <a:pt x="12192000" y="0"/>
                </a:moveTo>
                <a:lnTo>
                  <a:pt x="0" y="0"/>
                </a:lnTo>
                <a:lnTo>
                  <a:pt x="0" y="1735836"/>
                </a:lnTo>
                <a:lnTo>
                  <a:pt x="12192000" y="1735836"/>
                </a:lnTo>
                <a:lnTo>
                  <a:pt x="12192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9633" rIns="0" bIns="0" rtlCol="0" vert="horz">
            <a:spAutoFit/>
          </a:bodyPr>
          <a:lstStyle/>
          <a:p>
            <a:pPr marL="134620">
              <a:lnSpc>
                <a:spcPct val="100000"/>
              </a:lnSpc>
              <a:spcBef>
                <a:spcPts val="95"/>
              </a:spcBef>
            </a:pPr>
            <a:r>
              <a:rPr dirty="0" sz="3400" spc="-10">
                <a:solidFill>
                  <a:srgbClr val="FFFFFF"/>
                </a:solidFill>
              </a:rPr>
              <a:t>Differences</a:t>
            </a:r>
            <a:r>
              <a:rPr dirty="0" sz="3400" spc="-120">
                <a:solidFill>
                  <a:srgbClr val="FFFFFF"/>
                </a:solidFill>
              </a:rPr>
              <a:t> </a:t>
            </a:r>
            <a:r>
              <a:rPr dirty="0" sz="3400">
                <a:solidFill>
                  <a:srgbClr val="FFFFFF"/>
                </a:solidFill>
              </a:rPr>
              <a:t>Between</a:t>
            </a:r>
            <a:r>
              <a:rPr dirty="0" sz="3400" spc="-90">
                <a:solidFill>
                  <a:srgbClr val="FFFFFF"/>
                </a:solidFill>
              </a:rPr>
              <a:t> </a:t>
            </a:r>
            <a:r>
              <a:rPr dirty="0" sz="3400">
                <a:solidFill>
                  <a:srgbClr val="FFFFFF"/>
                </a:solidFill>
              </a:rPr>
              <a:t>Anonymous</a:t>
            </a:r>
            <a:r>
              <a:rPr dirty="0" sz="3400" spc="-80">
                <a:solidFill>
                  <a:srgbClr val="FFFFFF"/>
                </a:solidFill>
              </a:rPr>
              <a:t> </a:t>
            </a:r>
            <a:r>
              <a:rPr dirty="0" sz="3400">
                <a:solidFill>
                  <a:srgbClr val="FFFFFF"/>
                </a:solidFill>
              </a:rPr>
              <a:t>Blocks</a:t>
            </a:r>
            <a:r>
              <a:rPr dirty="0" sz="3400" spc="-70">
                <a:solidFill>
                  <a:srgbClr val="FFFFFF"/>
                </a:solidFill>
              </a:rPr>
              <a:t> </a:t>
            </a:r>
            <a:r>
              <a:rPr dirty="0" sz="3400">
                <a:solidFill>
                  <a:srgbClr val="FFFFFF"/>
                </a:solidFill>
              </a:rPr>
              <a:t>And</a:t>
            </a:r>
            <a:r>
              <a:rPr dirty="0" sz="3400" spc="-90">
                <a:solidFill>
                  <a:srgbClr val="FFFFFF"/>
                </a:solidFill>
              </a:rPr>
              <a:t> </a:t>
            </a:r>
            <a:r>
              <a:rPr dirty="0" sz="3400" spc="-10">
                <a:solidFill>
                  <a:srgbClr val="FFFFFF"/>
                </a:solidFill>
              </a:rPr>
              <a:t>Subprograms</a:t>
            </a:r>
            <a:endParaRPr sz="3400"/>
          </a:p>
        </p:txBody>
      </p:sp>
      <p:sp>
        <p:nvSpPr>
          <p:cNvPr id="5" name="object 5"/>
          <p:cNvSpPr/>
          <p:nvPr/>
        </p:nvSpPr>
        <p:spPr>
          <a:xfrm>
            <a:off x="4725161" y="1480566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199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2201417"/>
            <a:ext cx="12188825" cy="0"/>
          </a:xfrm>
          <a:custGeom>
            <a:avLst/>
            <a:gdLst/>
            <a:ahLst/>
            <a:cxnLst/>
            <a:rect l="l" t="t" r="r" b="b"/>
            <a:pathLst>
              <a:path w="12188825" h="0">
                <a:moveTo>
                  <a:pt x="0" y="0"/>
                </a:moveTo>
                <a:lnTo>
                  <a:pt x="12188825" y="0"/>
                </a:lnTo>
              </a:path>
            </a:pathLst>
          </a:custGeom>
          <a:ln w="5080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00164" y="2421127"/>
          <a:ext cx="11212830" cy="3996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61965"/>
                <a:gridCol w="5561965"/>
              </a:tblGrid>
              <a:tr h="471170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300">
                          <a:latin typeface="Calibri"/>
                          <a:cs typeface="Calibri"/>
                        </a:rPr>
                        <a:t>Anonymous</a:t>
                      </a:r>
                      <a:r>
                        <a:rPr dirty="0" sz="230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10">
                          <a:latin typeface="Calibri"/>
                          <a:cs typeface="Calibri"/>
                        </a:rPr>
                        <a:t>Blocks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300" spc="-10">
                          <a:latin typeface="Calibri"/>
                          <a:cs typeface="Calibri"/>
                        </a:rPr>
                        <a:t>Subprograms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1170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300">
                          <a:latin typeface="Calibri"/>
                          <a:cs typeface="Calibri"/>
                        </a:rPr>
                        <a:t>Unnamed</a:t>
                      </a:r>
                      <a:r>
                        <a:rPr dirty="0" sz="23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PL/SQL</a:t>
                      </a:r>
                      <a:r>
                        <a:rPr dirty="0" sz="23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10">
                          <a:latin typeface="Calibri"/>
                          <a:cs typeface="Calibri"/>
                        </a:rPr>
                        <a:t>blocks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300">
                          <a:latin typeface="Calibri"/>
                          <a:cs typeface="Calibri"/>
                        </a:rPr>
                        <a:t>Named</a:t>
                      </a:r>
                      <a:r>
                        <a:rPr dirty="0" sz="23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PL/SQL</a:t>
                      </a:r>
                      <a:r>
                        <a:rPr dirty="0" sz="23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10">
                          <a:latin typeface="Calibri"/>
                          <a:cs typeface="Calibri"/>
                        </a:rPr>
                        <a:t>blocks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1170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300">
                          <a:latin typeface="Calibri"/>
                          <a:cs typeface="Calibri"/>
                        </a:rPr>
                        <a:t>Compiled</a:t>
                      </a:r>
                      <a:r>
                        <a:rPr dirty="0" sz="23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every</a:t>
                      </a:r>
                      <a:r>
                        <a:rPr dirty="0" sz="23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20">
                          <a:latin typeface="Calibri"/>
                          <a:cs typeface="Calibri"/>
                        </a:rPr>
                        <a:t>time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300">
                          <a:latin typeface="Calibri"/>
                          <a:cs typeface="Calibri"/>
                        </a:rPr>
                        <a:t>Compiled</a:t>
                      </a:r>
                      <a:r>
                        <a:rPr dirty="0" sz="23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23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20">
                          <a:latin typeface="Calibri"/>
                          <a:cs typeface="Calibri"/>
                        </a:rPr>
                        <a:t>once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1170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3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23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stored</a:t>
                      </a:r>
                      <a:r>
                        <a:rPr dirty="0" sz="23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23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3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10">
                          <a:latin typeface="Calibri"/>
                          <a:cs typeface="Calibri"/>
                        </a:rPr>
                        <a:t>database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300">
                          <a:latin typeface="Calibri"/>
                          <a:cs typeface="Calibri"/>
                        </a:rPr>
                        <a:t>Stored</a:t>
                      </a:r>
                      <a:r>
                        <a:rPr dirty="0" sz="23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23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3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10">
                          <a:latin typeface="Calibri"/>
                          <a:cs typeface="Calibri"/>
                        </a:rPr>
                        <a:t>database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20419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300">
                          <a:latin typeface="Calibri"/>
                          <a:cs typeface="Calibri"/>
                        </a:rPr>
                        <a:t>Cannot</a:t>
                      </a:r>
                      <a:r>
                        <a:rPr dirty="0" sz="23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2300" spc="-20">
                          <a:latin typeface="Calibri"/>
                          <a:cs typeface="Calibri"/>
                        </a:rPr>
                        <a:t> invoked</a:t>
                      </a:r>
                      <a:r>
                        <a:rPr dirty="0" sz="23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23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23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10">
                          <a:latin typeface="Calibri"/>
                          <a:cs typeface="Calibri"/>
                        </a:rPr>
                        <a:t>applications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300">
                          <a:latin typeface="Calibri"/>
                          <a:cs typeface="Calibri"/>
                        </a:rPr>
                        <a:t>Named</a:t>
                      </a:r>
                      <a:r>
                        <a:rPr dirty="0" sz="23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3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10">
                          <a:latin typeface="Calibri"/>
                          <a:cs typeface="Calibri"/>
                        </a:rPr>
                        <a:t>therefore</a:t>
                      </a:r>
                      <a:r>
                        <a:rPr dirty="0" sz="23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23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23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20">
                          <a:latin typeface="Calibri"/>
                          <a:cs typeface="Calibri"/>
                        </a:rPr>
                        <a:t>invoked</a:t>
                      </a:r>
                      <a:r>
                        <a:rPr dirty="0" sz="23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25">
                          <a:latin typeface="Calibri"/>
                          <a:cs typeface="Calibri"/>
                        </a:rPr>
                        <a:t>by</a:t>
                      </a:r>
                      <a:endParaRPr sz="2300">
                        <a:latin typeface="Calibri"/>
                        <a:cs typeface="Calibri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dirty="0" sz="2300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23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10">
                          <a:latin typeface="Calibri"/>
                          <a:cs typeface="Calibri"/>
                        </a:rPr>
                        <a:t>applications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20419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300"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23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23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return</a:t>
                      </a:r>
                      <a:r>
                        <a:rPr dirty="0" sz="23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23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10">
                          <a:latin typeface="Calibri"/>
                          <a:cs typeface="Calibri"/>
                        </a:rPr>
                        <a:t>values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300" spc="-10">
                          <a:latin typeface="Calibri"/>
                          <a:cs typeface="Calibri"/>
                        </a:rPr>
                        <a:t>Subprograms</a:t>
                      </a:r>
                      <a:r>
                        <a:rPr dirty="0" sz="23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called</a:t>
                      </a:r>
                      <a:r>
                        <a:rPr dirty="0" sz="23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functions</a:t>
                      </a:r>
                      <a:r>
                        <a:rPr dirty="0" sz="23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must</a:t>
                      </a:r>
                      <a:r>
                        <a:rPr dirty="0" sz="23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10">
                          <a:latin typeface="Calibri"/>
                          <a:cs typeface="Calibri"/>
                        </a:rPr>
                        <a:t>return</a:t>
                      </a:r>
                      <a:endParaRPr sz="2300">
                        <a:latin typeface="Calibri"/>
                        <a:cs typeface="Calibri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dirty="0" sz="2300" spc="-10">
                          <a:latin typeface="Calibri"/>
                          <a:cs typeface="Calibri"/>
                        </a:rPr>
                        <a:t>values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1170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300">
                          <a:latin typeface="Calibri"/>
                          <a:cs typeface="Calibri"/>
                        </a:rPr>
                        <a:t>Cannot</a:t>
                      </a:r>
                      <a:r>
                        <a:rPr dirty="0" sz="23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take</a:t>
                      </a:r>
                      <a:r>
                        <a:rPr dirty="0" sz="23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10">
                          <a:latin typeface="Calibri"/>
                          <a:cs typeface="Calibri"/>
                        </a:rPr>
                        <a:t>parameters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300"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23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>
                          <a:latin typeface="Calibri"/>
                          <a:cs typeface="Calibri"/>
                        </a:rPr>
                        <a:t>take</a:t>
                      </a:r>
                      <a:r>
                        <a:rPr dirty="0" sz="23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00" spc="-10">
                          <a:latin typeface="Calibri"/>
                          <a:cs typeface="Calibri"/>
                        </a:rPr>
                        <a:t>parameters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09276" y="0"/>
            <a:ext cx="1134110" cy="478790"/>
          </a:xfrm>
          <a:custGeom>
            <a:avLst/>
            <a:gdLst/>
            <a:ahLst/>
            <a:cxnLst/>
            <a:rect l="l" t="t" r="r" b="b"/>
            <a:pathLst>
              <a:path w="1134109" h="478790">
                <a:moveTo>
                  <a:pt x="1133855" y="0"/>
                </a:moveTo>
                <a:lnTo>
                  <a:pt x="0" y="0"/>
                </a:lnTo>
                <a:lnTo>
                  <a:pt x="1650" y="16891"/>
                </a:lnTo>
                <a:lnTo>
                  <a:pt x="12982" y="62669"/>
                </a:lnTo>
                <a:lnTo>
                  <a:pt x="27864" y="106933"/>
                </a:lnTo>
                <a:lnTo>
                  <a:pt x="46135" y="149518"/>
                </a:lnTo>
                <a:lnTo>
                  <a:pt x="67632" y="190264"/>
                </a:lnTo>
                <a:lnTo>
                  <a:pt x="92192" y="229006"/>
                </a:lnTo>
                <a:lnTo>
                  <a:pt x="119655" y="265584"/>
                </a:lnTo>
                <a:lnTo>
                  <a:pt x="149858" y="299833"/>
                </a:lnTo>
                <a:lnTo>
                  <a:pt x="182639" y="331592"/>
                </a:lnTo>
                <a:lnTo>
                  <a:pt x="217835" y="360699"/>
                </a:lnTo>
                <a:lnTo>
                  <a:pt x="255286" y="386989"/>
                </a:lnTo>
                <a:lnTo>
                  <a:pt x="294827" y="410302"/>
                </a:lnTo>
                <a:lnTo>
                  <a:pt x="336299" y="430474"/>
                </a:lnTo>
                <a:lnTo>
                  <a:pt x="379538" y="447342"/>
                </a:lnTo>
                <a:lnTo>
                  <a:pt x="424382" y="460746"/>
                </a:lnTo>
                <a:lnTo>
                  <a:pt x="470670" y="470521"/>
                </a:lnTo>
                <a:lnTo>
                  <a:pt x="518239" y="476505"/>
                </a:lnTo>
                <a:lnTo>
                  <a:pt x="566927" y="478536"/>
                </a:lnTo>
                <a:lnTo>
                  <a:pt x="615616" y="476505"/>
                </a:lnTo>
                <a:lnTo>
                  <a:pt x="663185" y="470521"/>
                </a:lnTo>
                <a:lnTo>
                  <a:pt x="709473" y="460746"/>
                </a:lnTo>
                <a:lnTo>
                  <a:pt x="754317" y="447342"/>
                </a:lnTo>
                <a:lnTo>
                  <a:pt x="797556" y="430474"/>
                </a:lnTo>
                <a:lnTo>
                  <a:pt x="839028" y="410302"/>
                </a:lnTo>
                <a:lnTo>
                  <a:pt x="878569" y="386989"/>
                </a:lnTo>
                <a:lnTo>
                  <a:pt x="916020" y="360699"/>
                </a:lnTo>
                <a:lnTo>
                  <a:pt x="951216" y="331592"/>
                </a:lnTo>
                <a:lnTo>
                  <a:pt x="983997" y="299833"/>
                </a:lnTo>
                <a:lnTo>
                  <a:pt x="1014200" y="265584"/>
                </a:lnTo>
                <a:lnTo>
                  <a:pt x="1041663" y="229006"/>
                </a:lnTo>
                <a:lnTo>
                  <a:pt x="1066223" y="190264"/>
                </a:lnTo>
                <a:lnTo>
                  <a:pt x="1087720" y="149518"/>
                </a:lnTo>
                <a:lnTo>
                  <a:pt x="1105991" y="106933"/>
                </a:lnTo>
                <a:lnTo>
                  <a:pt x="1120873" y="62669"/>
                </a:lnTo>
                <a:lnTo>
                  <a:pt x="1132204" y="16891"/>
                </a:lnTo>
                <a:lnTo>
                  <a:pt x="113385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The</a:t>
            </a:r>
            <a:r>
              <a:rPr dirty="0" sz="4400" spc="-100"/>
              <a:t> </a:t>
            </a:r>
            <a:r>
              <a:rPr dirty="0" sz="4400"/>
              <a:t>Character</a:t>
            </a:r>
            <a:r>
              <a:rPr dirty="0" sz="4400" spc="-100"/>
              <a:t> </a:t>
            </a:r>
            <a:r>
              <a:rPr dirty="0" sz="4400" spc="-25"/>
              <a:t>set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557022" y="4226052"/>
            <a:ext cx="2041525" cy="2041525"/>
          </a:xfrm>
          <a:custGeom>
            <a:avLst/>
            <a:gdLst/>
            <a:ahLst/>
            <a:cxnLst/>
            <a:rect l="l" t="t" r="r" b="b"/>
            <a:pathLst>
              <a:path w="2041525" h="2041525">
                <a:moveTo>
                  <a:pt x="0" y="0"/>
                </a:moveTo>
                <a:lnTo>
                  <a:pt x="557" y="48183"/>
                </a:lnTo>
                <a:lnTo>
                  <a:pt x="2222" y="96093"/>
                </a:lnTo>
                <a:lnTo>
                  <a:pt x="4981" y="143717"/>
                </a:lnTo>
                <a:lnTo>
                  <a:pt x="8822" y="191044"/>
                </a:lnTo>
                <a:lnTo>
                  <a:pt x="13734" y="238060"/>
                </a:lnTo>
                <a:lnTo>
                  <a:pt x="19704" y="284753"/>
                </a:lnTo>
                <a:lnTo>
                  <a:pt x="26719" y="331112"/>
                </a:lnTo>
                <a:lnTo>
                  <a:pt x="34768" y="377123"/>
                </a:lnTo>
                <a:lnTo>
                  <a:pt x="43838" y="422776"/>
                </a:lnTo>
                <a:lnTo>
                  <a:pt x="53917" y="468056"/>
                </a:lnTo>
                <a:lnTo>
                  <a:pt x="64993" y="512953"/>
                </a:lnTo>
                <a:lnTo>
                  <a:pt x="77053" y="557454"/>
                </a:lnTo>
                <a:lnTo>
                  <a:pt x="90085" y="601547"/>
                </a:lnTo>
                <a:lnTo>
                  <a:pt x="104077" y="645218"/>
                </a:lnTo>
                <a:lnTo>
                  <a:pt x="119016" y="688457"/>
                </a:lnTo>
                <a:lnTo>
                  <a:pt x="134891" y="731251"/>
                </a:lnTo>
                <a:lnTo>
                  <a:pt x="151689" y="773588"/>
                </a:lnTo>
                <a:lnTo>
                  <a:pt x="169398" y="815455"/>
                </a:lnTo>
                <a:lnTo>
                  <a:pt x="188005" y="856840"/>
                </a:lnTo>
                <a:lnTo>
                  <a:pt x="207499" y="897731"/>
                </a:lnTo>
                <a:lnTo>
                  <a:pt x="227867" y="938116"/>
                </a:lnTo>
                <a:lnTo>
                  <a:pt x="249097" y="977982"/>
                </a:lnTo>
                <a:lnTo>
                  <a:pt x="271176" y="1017317"/>
                </a:lnTo>
                <a:lnTo>
                  <a:pt x="294092" y="1056108"/>
                </a:lnTo>
                <a:lnTo>
                  <a:pt x="317834" y="1094345"/>
                </a:lnTo>
                <a:lnTo>
                  <a:pt x="342388" y="1132014"/>
                </a:lnTo>
                <a:lnTo>
                  <a:pt x="367743" y="1169103"/>
                </a:lnTo>
                <a:lnTo>
                  <a:pt x="393886" y="1205599"/>
                </a:lnTo>
                <a:lnTo>
                  <a:pt x="420806" y="1241492"/>
                </a:lnTo>
                <a:lnTo>
                  <a:pt x="448489" y="1276767"/>
                </a:lnTo>
                <a:lnTo>
                  <a:pt x="476923" y="1311414"/>
                </a:lnTo>
                <a:lnTo>
                  <a:pt x="506097" y="1345419"/>
                </a:lnTo>
                <a:lnTo>
                  <a:pt x="535998" y="1378771"/>
                </a:lnTo>
                <a:lnTo>
                  <a:pt x="566613" y="1411457"/>
                </a:lnTo>
                <a:lnTo>
                  <a:pt x="597931" y="1443466"/>
                </a:lnTo>
                <a:lnTo>
                  <a:pt x="629940" y="1474784"/>
                </a:lnTo>
                <a:lnTo>
                  <a:pt x="662626" y="1505399"/>
                </a:lnTo>
                <a:lnTo>
                  <a:pt x="695978" y="1535300"/>
                </a:lnTo>
                <a:lnTo>
                  <a:pt x="729983" y="1564474"/>
                </a:lnTo>
                <a:lnTo>
                  <a:pt x="764630" y="1592908"/>
                </a:lnTo>
                <a:lnTo>
                  <a:pt x="799905" y="1620591"/>
                </a:lnTo>
                <a:lnTo>
                  <a:pt x="835798" y="1647511"/>
                </a:lnTo>
                <a:lnTo>
                  <a:pt x="872294" y="1673654"/>
                </a:lnTo>
                <a:lnTo>
                  <a:pt x="909383" y="1699009"/>
                </a:lnTo>
                <a:lnTo>
                  <a:pt x="947052" y="1723563"/>
                </a:lnTo>
                <a:lnTo>
                  <a:pt x="985289" y="1747305"/>
                </a:lnTo>
                <a:lnTo>
                  <a:pt x="1024080" y="1770221"/>
                </a:lnTo>
                <a:lnTo>
                  <a:pt x="1063415" y="1792300"/>
                </a:lnTo>
                <a:lnTo>
                  <a:pt x="1103281" y="1813530"/>
                </a:lnTo>
                <a:lnTo>
                  <a:pt x="1143666" y="1833898"/>
                </a:lnTo>
                <a:lnTo>
                  <a:pt x="1184557" y="1853392"/>
                </a:lnTo>
                <a:lnTo>
                  <a:pt x="1225942" y="1871999"/>
                </a:lnTo>
                <a:lnTo>
                  <a:pt x="1267809" y="1889708"/>
                </a:lnTo>
                <a:lnTo>
                  <a:pt x="1310146" y="1906506"/>
                </a:lnTo>
                <a:lnTo>
                  <a:pt x="1352940" y="1922381"/>
                </a:lnTo>
                <a:lnTo>
                  <a:pt x="1396179" y="1937320"/>
                </a:lnTo>
                <a:lnTo>
                  <a:pt x="1439850" y="1951312"/>
                </a:lnTo>
                <a:lnTo>
                  <a:pt x="1483943" y="1964344"/>
                </a:lnTo>
                <a:lnTo>
                  <a:pt x="1528444" y="1976404"/>
                </a:lnTo>
                <a:lnTo>
                  <a:pt x="1573341" y="1987480"/>
                </a:lnTo>
                <a:lnTo>
                  <a:pt x="1618621" y="1997559"/>
                </a:lnTo>
                <a:lnTo>
                  <a:pt x="1664274" y="2006629"/>
                </a:lnTo>
                <a:lnTo>
                  <a:pt x="1710285" y="2014678"/>
                </a:lnTo>
                <a:lnTo>
                  <a:pt x="1756644" y="2021693"/>
                </a:lnTo>
                <a:lnTo>
                  <a:pt x="1803337" y="2027663"/>
                </a:lnTo>
                <a:lnTo>
                  <a:pt x="1850353" y="2032575"/>
                </a:lnTo>
                <a:lnTo>
                  <a:pt x="1897680" y="2036416"/>
                </a:lnTo>
                <a:lnTo>
                  <a:pt x="1945304" y="2039175"/>
                </a:lnTo>
                <a:lnTo>
                  <a:pt x="1993214" y="2040840"/>
                </a:lnTo>
                <a:lnTo>
                  <a:pt x="2041398" y="2041398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16939" y="1711807"/>
            <a:ext cx="9843770" cy="425069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780"/>
              </a:spcBef>
              <a:buAutoNum type="arabicPeriod"/>
              <a:tabLst>
                <a:tab pos="527685" algn="l"/>
              </a:tabLst>
            </a:pPr>
            <a:r>
              <a:rPr dirty="0" sz="2600">
                <a:latin typeface="Calibri"/>
                <a:cs typeface="Calibri"/>
              </a:rPr>
              <a:t>Uppercase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alphabets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{A-</a:t>
            </a:r>
            <a:r>
              <a:rPr dirty="0" sz="2600" spc="-25">
                <a:latin typeface="Calibri"/>
                <a:cs typeface="Calibri"/>
              </a:rPr>
              <a:t>Z}</a:t>
            </a:r>
            <a:endParaRPr sz="26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527685" algn="l"/>
              </a:tabLst>
            </a:pPr>
            <a:r>
              <a:rPr dirty="0" sz="2600" spc="-10">
                <a:latin typeface="Calibri"/>
                <a:cs typeface="Calibri"/>
              </a:rPr>
              <a:t>Lowercase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alphabets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{a-</a:t>
            </a:r>
            <a:r>
              <a:rPr dirty="0" sz="2600" spc="-35">
                <a:latin typeface="Calibri"/>
                <a:cs typeface="Calibri"/>
              </a:rPr>
              <a:t>z}</a:t>
            </a:r>
            <a:endParaRPr sz="26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527685" algn="l"/>
              </a:tabLst>
            </a:pPr>
            <a:r>
              <a:rPr dirty="0" sz="2600">
                <a:latin typeface="Calibri"/>
                <a:cs typeface="Calibri"/>
              </a:rPr>
              <a:t>Numerals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{0-</a:t>
            </a:r>
            <a:r>
              <a:rPr dirty="0" sz="2600" spc="-25">
                <a:latin typeface="Calibri"/>
                <a:cs typeface="Calibri"/>
              </a:rPr>
              <a:t>9}</a:t>
            </a:r>
            <a:endParaRPr sz="26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527685" algn="l"/>
              </a:tabLst>
            </a:pPr>
            <a:r>
              <a:rPr dirty="0" sz="2600" spc="-10">
                <a:latin typeface="Calibri"/>
                <a:cs typeface="Calibri"/>
              </a:rPr>
              <a:t>Symbols</a:t>
            </a:r>
            <a:endParaRPr sz="2600">
              <a:latin typeface="Calibri"/>
              <a:cs typeface="Calibri"/>
            </a:endParaRPr>
          </a:p>
          <a:p>
            <a:pPr marL="461009">
              <a:lnSpc>
                <a:spcPct val="100000"/>
              </a:lnSpc>
              <a:spcBef>
                <a:spcPts val="685"/>
              </a:spcBef>
            </a:pPr>
            <a:r>
              <a:rPr dirty="0" sz="2600" spc="-25">
                <a:latin typeface="Calibri"/>
                <a:cs typeface="Calibri"/>
              </a:rPr>
              <a:t>---</a:t>
            </a:r>
            <a:r>
              <a:rPr dirty="0" sz="2600">
                <a:latin typeface="Calibri"/>
                <a:cs typeface="Calibri"/>
              </a:rPr>
              <a:t>Ordinary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symbols: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()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+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-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*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/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&lt;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&gt;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=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;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%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‘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”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[]</a:t>
            </a:r>
            <a:endParaRPr sz="2600">
              <a:latin typeface="Calibri"/>
              <a:cs typeface="Calibri"/>
            </a:endParaRPr>
          </a:p>
          <a:p>
            <a:pPr marL="386080">
              <a:lnSpc>
                <a:spcPct val="100000"/>
              </a:lnSpc>
              <a:spcBef>
                <a:spcPts val="695"/>
              </a:spcBef>
            </a:pPr>
            <a:r>
              <a:rPr dirty="0" sz="2600" spc="-25">
                <a:latin typeface="Calibri"/>
                <a:cs typeface="Calibri"/>
              </a:rPr>
              <a:t>---</a:t>
            </a:r>
            <a:r>
              <a:rPr dirty="0" sz="2600">
                <a:latin typeface="Calibri"/>
                <a:cs typeface="Calibri"/>
              </a:rPr>
              <a:t>-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Compound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symbols: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&lt;&gt;</a:t>
            </a:r>
            <a:r>
              <a:rPr dirty="0" sz="2600" spc="5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!=</a:t>
            </a:r>
            <a:r>
              <a:rPr dirty="0" sz="2600" spc="5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&lt;=</a:t>
            </a:r>
            <a:r>
              <a:rPr dirty="0" sz="2600" spc="5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&gt;=</a:t>
            </a:r>
            <a:r>
              <a:rPr dirty="0" sz="2600" spc="5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:=</a:t>
            </a:r>
            <a:endParaRPr sz="2600">
              <a:latin typeface="Calibri"/>
              <a:cs typeface="Calibri"/>
            </a:endParaRPr>
          </a:p>
          <a:p>
            <a:pPr marL="485775" indent="-473075">
              <a:lnSpc>
                <a:spcPct val="100000"/>
              </a:lnSpc>
              <a:spcBef>
                <a:spcPts val="685"/>
              </a:spcBef>
              <a:buAutoNum type="arabicPeriod" startAt="5"/>
              <a:tabLst>
                <a:tab pos="485775" algn="l"/>
              </a:tabLst>
            </a:pPr>
            <a:r>
              <a:rPr dirty="0" sz="2600">
                <a:latin typeface="Calibri"/>
                <a:cs typeface="Calibri"/>
              </a:rPr>
              <a:t>Lexical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Units</a:t>
            </a:r>
            <a:endParaRPr sz="2600">
              <a:latin typeface="Calibri"/>
              <a:cs typeface="Calibri"/>
            </a:endParaRPr>
          </a:p>
          <a:p>
            <a:pPr marL="12700" marR="5080" indent="448309">
              <a:lnSpc>
                <a:spcPts val="2810"/>
              </a:lnSpc>
              <a:spcBef>
                <a:spcPts val="1035"/>
              </a:spcBef>
            </a:pPr>
            <a:r>
              <a:rPr dirty="0" sz="2600" spc="-25">
                <a:latin typeface="Calibri"/>
                <a:cs typeface="Calibri"/>
              </a:rPr>
              <a:t>----</a:t>
            </a:r>
            <a:r>
              <a:rPr dirty="0" sz="2600" spc="-10">
                <a:latin typeface="Calibri"/>
                <a:cs typeface="Calibri"/>
              </a:rPr>
              <a:t>Words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PL/SQL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block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called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Lexical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Units,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be </a:t>
            </a:r>
            <a:r>
              <a:rPr dirty="0" sz="2600">
                <a:latin typeface="Calibri"/>
                <a:cs typeface="Calibri"/>
              </a:rPr>
              <a:t>classified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follows: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8826" y="257809"/>
            <a:ext cx="11676380" cy="6344920"/>
          </a:xfrm>
          <a:custGeom>
            <a:avLst/>
            <a:gdLst/>
            <a:ahLst/>
            <a:cxnLst/>
            <a:rect l="l" t="t" r="r" b="b"/>
            <a:pathLst>
              <a:path w="11676380" h="6344920">
                <a:moveTo>
                  <a:pt x="11625072" y="6217920"/>
                </a:moveTo>
                <a:lnTo>
                  <a:pt x="11612372" y="6217920"/>
                </a:lnTo>
                <a:lnTo>
                  <a:pt x="11612372" y="62992"/>
                </a:lnTo>
                <a:lnTo>
                  <a:pt x="63500" y="62992"/>
                </a:lnTo>
                <a:lnTo>
                  <a:pt x="63500" y="6217920"/>
                </a:lnTo>
                <a:lnTo>
                  <a:pt x="50800" y="6217920"/>
                </a:lnTo>
                <a:lnTo>
                  <a:pt x="50800" y="6294120"/>
                </a:lnTo>
                <a:lnTo>
                  <a:pt x="11625072" y="6294120"/>
                </a:lnTo>
                <a:lnTo>
                  <a:pt x="11625072" y="6217920"/>
                </a:lnTo>
                <a:close/>
              </a:path>
              <a:path w="11676380" h="6344920">
                <a:moveTo>
                  <a:pt x="11675872" y="0"/>
                </a:moveTo>
                <a:lnTo>
                  <a:pt x="0" y="0"/>
                </a:lnTo>
                <a:lnTo>
                  <a:pt x="0" y="25400"/>
                </a:lnTo>
                <a:lnTo>
                  <a:pt x="0" y="6319520"/>
                </a:lnTo>
                <a:lnTo>
                  <a:pt x="0" y="6344920"/>
                </a:lnTo>
                <a:lnTo>
                  <a:pt x="11675872" y="6344920"/>
                </a:lnTo>
                <a:lnTo>
                  <a:pt x="11675872" y="6319520"/>
                </a:lnTo>
                <a:lnTo>
                  <a:pt x="25400" y="6319520"/>
                </a:lnTo>
                <a:lnTo>
                  <a:pt x="25400" y="25400"/>
                </a:lnTo>
                <a:lnTo>
                  <a:pt x="11650472" y="25400"/>
                </a:lnTo>
                <a:lnTo>
                  <a:pt x="11650472" y="6319012"/>
                </a:lnTo>
                <a:lnTo>
                  <a:pt x="11675872" y="6319025"/>
                </a:lnTo>
                <a:lnTo>
                  <a:pt x="11675872" y="25400"/>
                </a:lnTo>
                <a:lnTo>
                  <a:pt x="11675872" y="24892"/>
                </a:lnTo>
                <a:lnTo>
                  <a:pt x="116758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16939" y="1943226"/>
            <a:ext cx="5829935" cy="185166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820"/>
              </a:spcBef>
              <a:buAutoNum type="arabicPeriod"/>
              <a:tabLst>
                <a:tab pos="527685" algn="l"/>
              </a:tabLst>
            </a:pPr>
            <a:r>
              <a:rPr dirty="0" sz="2400">
                <a:latin typeface="Calibri"/>
                <a:cs typeface="Calibri"/>
              </a:rPr>
              <a:t>Delimiters(Simple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compound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symbols)</a:t>
            </a:r>
            <a:endParaRPr sz="24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27685" algn="l"/>
              </a:tabLst>
            </a:pPr>
            <a:r>
              <a:rPr dirty="0" sz="2400" spc="-10">
                <a:latin typeface="Calibri"/>
                <a:cs typeface="Calibri"/>
              </a:rPr>
              <a:t>Identifiers</a:t>
            </a:r>
            <a:endParaRPr sz="24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527685" algn="l"/>
              </a:tabLst>
            </a:pPr>
            <a:r>
              <a:rPr dirty="0" sz="2400" spc="-10">
                <a:latin typeface="Calibri"/>
                <a:cs typeface="Calibri"/>
              </a:rPr>
              <a:t>Literals</a:t>
            </a:r>
            <a:endParaRPr sz="24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27685" algn="l"/>
              </a:tabLst>
            </a:pPr>
            <a:r>
              <a:rPr dirty="0" sz="2400" spc="-10">
                <a:latin typeface="Calibri"/>
                <a:cs typeface="Calibri"/>
              </a:rPr>
              <a:t>Comments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7"/>
              <a:ext cx="12192000" cy="68579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0"/>
              <a:t>1.Delimiters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838200" y="1825751"/>
            <a:ext cx="10515600" cy="3481070"/>
          </a:xfrm>
          <a:custGeom>
            <a:avLst/>
            <a:gdLst/>
            <a:ahLst/>
            <a:cxnLst/>
            <a:rect l="l" t="t" r="r" b="b"/>
            <a:pathLst>
              <a:path w="10515600" h="3481070">
                <a:moveTo>
                  <a:pt x="0" y="0"/>
                </a:moveTo>
                <a:lnTo>
                  <a:pt x="10515600" y="0"/>
                </a:lnTo>
              </a:path>
              <a:path w="10515600" h="3481070">
                <a:moveTo>
                  <a:pt x="0" y="870203"/>
                </a:moveTo>
                <a:lnTo>
                  <a:pt x="10515600" y="870203"/>
                </a:lnTo>
              </a:path>
              <a:path w="10515600" h="3481070">
                <a:moveTo>
                  <a:pt x="0" y="1740408"/>
                </a:moveTo>
                <a:lnTo>
                  <a:pt x="10515600" y="1740408"/>
                </a:lnTo>
              </a:path>
              <a:path w="10515600" h="3481070">
                <a:moveTo>
                  <a:pt x="0" y="2610612"/>
                </a:moveTo>
                <a:lnTo>
                  <a:pt x="10515600" y="2610612"/>
                </a:lnTo>
              </a:path>
              <a:path w="10515600" h="3481070">
                <a:moveTo>
                  <a:pt x="0" y="3480816"/>
                </a:moveTo>
                <a:lnTo>
                  <a:pt x="10515600" y="3480816"/>
                </a:lnTo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16939" y="1853565"/>
            <a:ext cx="10083165" cy="38722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Delimiter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simple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compound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symbol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special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meaning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PL/SQL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Calibri"/>
                <a:cs typeface="Calibri"/>
              </a:rPr>
              <a:t>Simple</a:t>
            </a:r>
            <a:r>
              <a:rPr dirty="0" sz="2400" spc="4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symbol</a:t>
            </a:r>
            <a:r>
              <a:rPr dirty="0" sz="2400" spc="4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consists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only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character</a:t>
            </a:r>
            <a:endParaRPr sz="2400">
              <a:latin typeface="Calibri"/>
              <a:cs typeface="Calibri"/>
            </a:endParaRPr>
          </a:p>
          <a:p>
            <a:pPr marL="12700" marR="1500505">
              <a:lnSpc>
                <a:spcPct val="237900"/>
              </a:lnSpc>
            </a:pPr>
            <a:r>
              <a:rPr dirty="0" sz="2400">
                <a:latin typeface="Calibri"/>
                <a:cs typeface="Calibri"/>
              </a:rPr>
              <a:t>Eg: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addition(+)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,subtraction(-</a:t>
            </a:r>
            <a:r>
              <a:rPr dirty="0" sz="2400">
                <a:latin typeface="Calibri"/>
                <a:cs typeface="Calibri"/>
              </a:rPr>
              <a:t>)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multiplication(*),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division(\)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operators </a:t>
            </a:r>
            <a:r>
              <a:rPr dirty="0" sz="2400">
                <a:latin typeface="Calibri"/>
                <a:cs typeface="Calibri"/>
              </a:rPr>
              <a:t>Compound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symbol</a:t>
            </a:r>
            <a:r>
              <a:rPr dirty="0" sz="2400" spc="4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consists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characters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Calibri"/>
                <a:cs typeface="Calibri"/>
              </a:rPr>
              <a:t>Eg: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Assignment(:=),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association(=&gt;),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concatenation(||),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relational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(&lt;&gt;)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"/>
              <a:t>2.Identifiers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838200" y="1825751"/>
            <a:ext cx="10515600" cy="3263265"/>
          </a:xfrm>
          <a:custGeom>
            <a:avLst/>
            <a:gdLst/>
            <a:ahLst/>
            <a:cxnLst/>
            <a:rect l="l" t="t" r="r" b="b"/>
            <a:pathLst>
              <a:path w="10515600" h="3263265">
                <a:moveTo>
                  <a:pt x="0" y="0"/>
                </a:moveTo>
                <a:lnTo>
                  <a:pt x="10515600" y="0"/>
                </a:lnTo>
              </a:path>
              <a:path w="10515600" h="3263265">
                <a:moveTo>
                  <a:pt x="0" y="1088136"/>
                </a:moveTo>
                <a:lnTo>
                  <a:pt x="10515600" y="1088136"/>
                </a:lnTo>
              </a:path>
              <a:path w="10515600" h="3263265">
                <a:moveTo>
                  <a:pt x="0" y="2176272"/>
                </a:moveTo>
                <a:lnTo>
                  <a:pt x="10515600" y="2176272"/>
                </a:lnTo>
              </a:path>
              <a:path w="10515600" h="3263265">
                <a:moveTo>
                  <a:pt x="0" y="3262884"/>
                </a:moveTo>
                <a:lnTo>
                  <a:pt x="10515600" y="3262884"/>
                </a:lnTo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39800" y="1863597"/>
            <a:ext cx="9944735" cy="374713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2700" marR="5080">
              <a:lnSpc>
                <a:spcPts val="3290"/>
              </a:lnSpc>
              <a:spcBef>
                <a:spcPts val="465"/>
              </a:spcBef>
            </a:pPr>
            <a:r>
              <a:rPr dirty="0" sz="3000">
                <a:latin typeface="Calibri"/>
                <a:cs typeface="Calibri"/>
              </a:rPr>
              <a:t>Identifier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consists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letter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optionally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followed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by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more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letters, </a:t>
            </a:r>
            <a:r>
              <a:rPr dirty="0" sz="3000">
                <a:latin typeface="Calibri"/>
                <a:cs typeface="Calibri"/>
              </a:rPr>
              <a:t>dollar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signs,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underscores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number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signs.</a:t>
            </a:r>
            <a:endParaRPr sz="3000">
              <a:latin typeface="Calibri"/>
              <a:cs typeface="Calibri"/>
            </a:endParaRPr>
          </a:p>
          <a:p>
            <a:pPr marL="12700" marR="455295">
              <a:lnSpc>
                <a:spcPts val="3290"/>
              </a:lnSpc>
              <a:spcBef>
                <a:spcPts val="1989"/>
              </a:spcBef>
            </a:pPr>
            <a:r>
              <a:rPr dirty="0" sz="3000">
                <a:latin typeface="Calibri"/>
                <a:cs typeface="Calibri"/>
              </a:rPr>
              <a:t>Other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characters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such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as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hyphens,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slashes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spaces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are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not </a:t>
            </a:r>
            <a:r>
              <a:rPr dirty="0" sz="3000" spc="-10">
                <a:latin typeface="Calibri"/>
                <a:cs typeface="Calibri"/>
              </a:rPr>
              <a:t>allowed.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3000">
                <a:latin typeface="Calibri"/>
                <a:cs typeface="Calibri"/>
              </a:rPr>
              <a:t>Eg.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n,num,num2,credit$limit,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credit_limit</a:t>
            </a:r>
            <a:r>
              <a:rPr dirty="0" sz="3000" spc="5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---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allowed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000">
                <a:latin typeface="Calibri"/>
                <a:cs typeface="Calibri"/>
              </a:rPr>
              <a:t>Credit&amp;limit,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credit-</a:t>
            </a:r>
            <a:r>
              <a:rPr dirty="0" sz="3000">
                <a:latin typeface="Calibri"/>
                <a:cs typeface="Calibri"/>
              </a:rPr>
              <a:t>limit,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credit</a:t>
            </a:r>
            <a:r>
              <a:rPr dirty="0" sz="3000" spc="6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limit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---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not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allowed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7"/>
              <a:ext cx="12192000" cy="68579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"/>
              <a:t>3.Literals</a:t>
            </a:r>
            <a:endParaRPr sz="4400"/>
          </a:p>
        </p:txBody>
      </p:sp>
      <p:grpSp>
        <p:nvGrpSpPr>
          <p:cNvPr id="6" name="object 6"/>
          <p:cNvGrpSpPr/>
          <p:nvPr/>
        </p:nvGrpSpPr>
        <p:grpSpPr>
          <a:xfrm>
            <a:off x="838200" y="1819401"/>
            <a:ext cx="10515600" cy="3820160"/>
            <a:chOff x="838200" y="1819401"/>
            <a:chExt cx="10515600" cy="3820160"/>
          </a:xfrm>
        </p:grpSpPr>
        <p:sp>
          <p:nvSpPr>
            <p:cNvPr id="7" name="object 7"/>
            <p:cNvSpPr/>
            <p:nvPr/>
          </p:nvSpPr>
          <p:spPr>
            <a:xfrm>
              <a:off x="838200" y="1825751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 h="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38200" y="2369819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 h="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38200" y="2913887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 h="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38200" y="3457955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 h="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38200" y="4002023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 h="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38200" y="4544567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 h="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38200" y="5088636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 h="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38200" y="5632704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 h="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20902" y="1692634"/>
            <a:ext cx="4443095" cy="43770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-2540">
              <a:lnSpc>
                <a:spcPct val="142700"/>
              </a:lnSpc>
              <a:spcBef>
                <a:spcPts val="95"/>
              </a:spcBef>
              <a:buSzPct val="96000"/>
              <a:buAutoNum type="arabicParenR"/>
              <a:tabLst>
                <a:tab pos="269240" algn="l"/>
              </a:tabLst>
            </a:pPr>
            <a:r>
              <a:rPr dirty="0" sz="2500">
                <a:latin typeface="Calibri"/>
                <a:cs typeface="Calibri"/>
              </a:rPr>
              <a:t>	</a:t>
            </a:r>
            <a:r>
              <a:rPr dirty="0" sz="2500">
                <a:latin typeface="Calibri"/>
                <a:cs typeface="Calibri"/>
              </a:rPr>
              <a:t>Numeric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Literal</a:t>
            </a:r>
            <a:r>
              <a:rPr dirty="0" sz="2500" spc="-8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(integer</a:t>
            </a:r>
            <a:r>
              <a:rPr dirty="0" sz="2500" spc="-9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or</a:t>
            </a:r>
            <a:r>
              <a:rPr dirty="0" sz="2500" spc="-8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float) </a:t>
            </a:r>
            <a:r>
              <a:rPr dirty="0" sz="2500">
                <a:latin typeface="Calibri"/>
                <a:cs typeface="Calibri"/>
              </a:rPr>
              <a:t>Eg.</a:t>
            </a:r>
            <a:r>
              <a:rPr dirty="0" sz="2500" spc="-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25,</a:t>
            </a:r>
            <a:r>
              <a:rPr dirty="0" sz="2500" spc="5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6.34</a:t>
            </a:r>
            <a:endParaRPr sz="2500">
              <a:latin typeface="Calibri"/>
              <a:cs typeface="Calibri"/>
            </a:endParaRPr>
          </a:p>
          <a:p>
            <a:pPr marL="269240" indent="-259079">
              <a:lnSpc>
                <a:spcPct val="100000"/>
              </a:lnSpc>
              <a:spcBef>
                <a:spcPts val="1285"/>
              </a:spcBef>
              <a:buSzPct val="96000"/>
              <a:buAutoNum type="arabicParenR"/>
              <a:tabLst>
                <a:tab pos="269240" algn="l"/>
              </a:tabLst>
            </a:pPr>
            <a:r>
              <a:rPr dirty="0" sz="2500">
                <a:latin typeface="Calibri"/>
                <a:cs typeface="Calibri"/>
              </a:rPr>
              <a:t>String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Literal</a:t>
            </a:r>
            <a:endParaRPr sz="2500">
              <a:latin typeface="Calibri"/>
              <a:cs typeface="Calibri"/>
            </a:endParaRPr>
          </a:p>
          <a:p>
            <a:pPr marL="12700" marR="2044700">
              <a:lnSpc>
                <a:spcPct val="142800"/>
              </a:lnSpc>
            </a:pPr>
            <a:r>
              <a:rPr dirty="0" sz="2500">
                <a:latin typeface="Calibri"/>
                <a:cs typeface="Calibri"/>
              </a:rPr>
              <a:t>Eg.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“Hello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World” 3)Character</a:t>
            </a:r>
            <a:r>
              <a:rPr dirty="0" sz="2500" spc="-8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Literal </a:t>
            </a:r>
            <a:r>
              <a:rPr dirty="0" sz="2500">
                <a:latin typeface="Calibri"/>
                <a:cs typeface="Calibri"/>
              </a:rPr>
              <a:t>Eg.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 spc="-100">
                <a:latin typeface="Calibri"/>
                <a:cs typeface="Calibri"/>
              </a:rPr>
              <a:t>‘A’</a:t>
            </a:r>
            <a:r>
              <a:rPr dirty="0" sz="2500" spc="-30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,‘y’</a:t>
            </a:r>
            <a:endParaRPr sz="2500">
              <a:latin typeface="Calibri"/>
              <a:cs typeface="Calibri"/>
            </a:endParaRPr>
          </a:p>
          <a:p>
            <a:pPr marL="12700" marR="1022985">
              <a:lnSpc>
                <a:spcPct val="142800"/>
              </a:lnSpc>
            </a:pPr>
            <a:r>
              <a:rPr dirty="0" sz="2500">
                <a:latin typeface="Calibri"/>
                <a:cs typeface="Calibri"/>
              </a:rPr>
              <a:t>4)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Logical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(Boolean)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Literal </a:t>
            </a:r>
            <a:r>
              <a:rPr dirty="0" sz="2500">
                <a:latin typeface="Calibri"/>
                <a:cs typeface="Calibri"/>
              </a:rPr>
              <a:t>Eg.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True,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False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or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NULL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916939" y="609676"/>
            <a:ext cx="2655570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">
                <a:latin typeface="Calibri Light"/>
                <a:cs typeface="Calibri Light"/>
              </a:rPr>
              <a:t>4.Comment</a:t>
            </a:r>
            <a:endParaRPr sz="4400">
              <a:latin typeface="Calibri Light"/>
              <a:cs typeface="Calibri Ligh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38200" y="1819401"/>
            <a:ext cx="10515600" cy="2189480"/>
            <a:chOff x="838200" y="1819401"/>
            <a:chExt cx="10515600" cy="2189480"/>
          </a:xfrm>
        </p:grpSpPr>
        <p:sp>
          <p:nvSpPr>
            <p:cNvPr id="7" name="object 7"/>
            <p:cNvSpPr/>
            <p:nvPr/>
          </p:nvSpPr>
          <p:spPr>
            <a:xfrm>
              <a:off x="838200" y="1825751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 h="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38200" y="4002023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 h="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065682" y="1917953"/>
            <a:ext cx="7953375" cy="9855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300">
                <a:latin typeface="Calibri"/>
                <a:cs typeface="Calibri"/>
              </a:rPr>
              <a:t>Single</a:t>
            </a:r>
            <a:r>
              <a:rPr dirty="0" sz="6300" spc="-170">
                <a:latin typeface="Calibri"/>
                <a:cs typeface="Calibri"/>
              </a:rPr>
              <a:t> </a:t>
            </a:r>
            <a:r>
              <a:rPr dirty="0" sz="6300">
                <a:latin typeface="Calibri"/>
                <a:cs typeface="Calibri"/>
              </a:rPr>
              <a:t>line</a:t>
            </a:r>
            <a:r>
              <a:rPr dirty="0" sz="6300" spc="-145">
                <a:latin typeface="Calibri"/>
                <a:cs typeface="Calibri"/>
              </a:rPr>
              <a:t> </a:t>
            </a:r>
            <a:r>
              <a:rPr dirty="0" sz="6300">
                <a:latin typeface="Calibri"/>
                <a:cs typeface="Calibri"/>
              </a:rPr>
              <a:t>comment</a:t>
            </a:r>
            <a:r>
              <a:rPr dirty="0" sz="6300" spc="1125">
                <a:latin typeface="Calibri"/>
                <a:cs typeface="Calibri"/>
              </a:rPr>
              <a:t> </a:t>
            </a:r>
            <a:r>
              <a:rPr dirty="0" sz="6300" spc="-10">
                <a:latin typeface="Calibri"/>
                <a:cs typeface="Calibri"/>
              </a:rPr>
              <a:t>(-</a:t>
            </a:r>
            <a:r>
              <a:rPr dirty="0" sz="6300">
                <a:latin typeface="Calibri"/>
                <a:cs typeface="Calibri"/>
              </a:rPr>
              <a:t>-</a:t>
            </a:r>
            <a:r>
              <a:rPr dirty="0" sz="6300" spc="-50">
                <a:latin typeface="Calibri"/>
                <a:cs typeface="Calibri"/>
              </a:rPr>
              <a:t>)</a:t>
            </a:r>
            <a:endParaRPr sz="6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5682" y="4093540"/>
            <a:ext cx="7650480" cy="986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300">
                <a:latin typeface="Calibri"/>
                <a:cs typeface="Calibri"/>
              </a:rPr>
              <a:t>Multi</a:t>
            </a:r>
            <a:r>
              <a:rPr dirty="0" sz="6300" spc="-204">
                <a:latin typeface="Calibri"/>
                <a:cs typeface="Calibri"/>
              </a:rPr>
              <a:t> </a:t>
            </a:r>
            <a:r>
              <a:rPr dirty="0" sz="6300">
                <a:latin typeface="Calibri"/>
                <a:cs typeface="Calibri"/>
              </a:rPr>
              <a:t>line</a:t>
            </a:r>
            <a:r>
              <a:rPr dirty="0" sz="6300" spc="-200">
                <a:latin typeface="Calibri"/>
                <a:cs typeface="Calibri"/>
              </a:rPr>
              <a:t> </a:t>
            </a:r>
            <a:r>
              <a:rPr dirty="0" sz="6300">
                <a:latin typeface="Calibri"/>
                <a:cs typeface="Calibri"/>
              </a:rPr>
              <a:t>Comment</a:t>
            </a:r>
            <a:r>
              <a:rPr dirty="0" sz="6300" spc="-200">
                <a:latin typeface="Calibri"/>
                <a:cs typeface="Calibri"/>
              </a:rPr>
              <a:t> </a:t>
            </a:r>
            <a:r>
              <a:rPr dirty="0" sz="6300" spc="-25">
                <a:latin typeface="Calibri"/>
                <a:cs typeface="Calibri"/>
              </a:rPr>
              <a:t>(/*</a:t>
            </a:r>
            <a:endParaRPr sz="6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37302" y="4093540"/>
            <a:ext cx="975360" cy="986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300" spc="-25">
                <a:latin typeface="Calibri"/>
                <a:cs typeface="Calibri"/>
              </a:rPr>
              <a:t>*/)</a:t>
            </a:r>
            <a:endParaRPr sz="6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2172" y="546049"/>
            <a:ext cx="257683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PL/SQL</a:t>
            </a:r>
            <a:r>
              <a:rPr dirty="0" sz="3600" spc="-30"/>
              <a:t> </a:t>
            </a:r>
            <a:r>
              <a:rPr dirty="0" sz="3600" spc="-10"/>
              <a:t>Blocks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13359" y="1206449"/>
            <a:ext cx="10667365" cy="5686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ts val="251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 spc="-10">
                <a:latin typeface="Calibri"/>
                <a:cs typeface="Calibri"/>
              </a:rPr>
              <a:t>Anonymous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blocks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unnamed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executable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PL/SQL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blocks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neither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reused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nor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510"/>
              </a:lnSpc>
            </a:pPr>
            <a:r>
              <a:rPr dirty="0" sz="2200" spc="-10">
                <a:latin typeface="Calibri"/>
                <a:cs typeface="Calibri"/>
              </a:rPr>
              <a:t>stored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later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use.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ts val="238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10">
                <a:latin typeface="Calibri"/>
                <a:cs typeface="Calibri"/>
              </a:rPr>
              <a:t>Procedures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Functions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PL/SQL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blocks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also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called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SUBPROGRAMS </a:t>
            </a:r>
            <a:r>
              <a:rPr dirty="0" sz="2200">
                <a:latin typeface="Calibri"/>
                <a:cs typeface="Calibri"/>
              </a:rPr>
              <a:t>These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sub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programs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stored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compiled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database.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block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structure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 spc="-10">
                <a:latin typeface="Calibri"/>
                <a:cs typeface="Calibri"/>
              </a:rPr>
              <a:t>subprograms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like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anonymous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blocks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anonymous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PL/SQL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block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block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PL/SQL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that’s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coded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script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 spc="-9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execute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PL/SQL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block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code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front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slash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(/)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after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keyword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structure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anonymous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block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is</a:t>
            </a:r>
            <a:endParaRPr sz="2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75"/>
              </a:spcBef>
            </a:pPr>
            <a:r>
              <a:rPr dirty="0" sz="2000" spc="-10">
                <a:latin typeface="Calibri"/>
                <a:cs typeface="Calibri"/>
              </a:rPr>
              <a:t>DECLARE</a:t>
            </a:r>
            <a:endParaRPr sz="2000">
              <a:latin typeface="Calibri"/>
              <a:cs typeface="Calibri"/>
            </a:endParaRPr>
          </a:p>
          <a:p>
            <a:pPr marL="1155700">
              <a:lnSpc>
                <a:spcPct val="100000"/>
              </a:lnSpc>
              <a:spcBef>
                <a:spcPts val="265"/>
              </a:spcBef>
            </a:pPr>
            <a:r>
              <a:rPr dirty="0" sz="2000">
                <a:latin typeface="Calibri"/>
                <a:cs typeface="Calibri"/>
              </a:rPr>
              <a:t>Variables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declarations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dirty="0" sz="2000" spc="-10">
                <a:latin typeface="Calibri"/>
                <a:cs typeface="Calibri"/>
              </a:rPr>
              <a:t>BEGIN</a:t>
            </a:r>
            <a:endParaRPr sz="2000">
              <a:latin typeface="Calibri"/>
              <a:cs typeface="Calibri"/>
            </a:endParaRPr>
          </a:p>
          <a:p>
            <a:pPr marL="469900" marR="7177405" indent="685800">
              <a:lnSpc>
                <a:spcPct val="111000"/>
              </a:lnSpc>
            </a:pPr>
            <a:r>
              <a:rPr dirty="0" sz="2000" spc="-10">
                <a:latin typeface="Calibri"/>
                <a:cs typeface="Calibri"/>
              </a:rPr>
              <a:t>Executable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statements EXCEPTION</a:t>
            </a:r>
            <a:endParaRPr sz="2000">
              <a:latin typeface="Calibri"/>
              <a:cs typeface="Calibri"/>
            </a:endParaRPr>
          </a:p>
          <a:p>
            <a:pPr marL="1155700">
              <a:lnSpc>
                <a:spcPct val="100000"/>
              </a:lnSpc>
              <a:spcBef>
                <a:spcPts val="254"/>
              </a:spcBef>
            </a:pPr>
            <a:r>
              <a:rPr dirty="0" sz="2000">
                <a:latin typeface="Calibri"/>
                <a:cs typeface="Calibri"/>
              </a:rPr>
              <a:t>Error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handling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code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dirty="0" sz="2000" spc="-25">
                <a:latin typeface="Calibri"/>
                <a:cs typeface="Calibri"/>
              </a:rPr>
              <a:t>END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dirty="0" sz="2000" spc="-50">
                <a:latin typeface="Calibri"/>
                <a:cs typeface="Calibri"/>
              </a:rPr>
              <a:t>/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2172" y="546049"/>
            <a:ext cx="2995295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%TYPE </a:t>
            </a:r>
            <a:r>
              <a:rPr dirty="0" sz="3600" spc="-20"/>
              <a:t>Attribute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22172" y="1192956"/>
            <a:ext cx="10335895" cy="519684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%TYPE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attribute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provides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further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integration.</a:t>
            </a:r>
            <a:endParaRPr sz="2400">
              <a:latin typeface="Calibri"/>
              <a:cs typeface="Calibri"/>
            </a:endParaRPr>
          </a:p>
          <a:p>
            <a:pPr marL="240029" marR="300355" indent="-227965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PL/SQL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%TYPE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attribute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declare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variables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based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definitions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of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columns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table.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Hence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columns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attributes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changes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variables 	attributes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will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change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well.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provides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independence,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reduces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maintenance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costs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allows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dirty="0" sz="2400" spc="-10">
                <a:latin typeface="Calibri"/>
                <a:cs typeface="Calibri"/>
              </a:rPr>
              <a:t>programs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adapt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changes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made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table</a:t>
            </a:r>
            <a:endParaRPr sz="2400">
              <a:latin typeface="Calibri"/>
              <a:cs typeface="Calibri"/>
            </a:endParaRPr>
          </a:p>
          <a:p>
            <a:pPr marL="240029" marR="553085" indent="-227965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%TYPE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declares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variable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constant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same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a </a:t>
            </a:r>
            <a:r>
              <a:rPr dirty="0" sz="2400" spc="-5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previously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defined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variable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column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view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referencing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column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dirty="0" sz="2400">
                <a:latin typeface="Calibri"/>
                <a:cs typeface="Calibri"/>
              </a:rPr>
              <a:t>owner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column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syntax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declaring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variable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%TYPE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attribute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&lt;variable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name&gt;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&lt;tablename.fieldname%TYPE&gt;;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Eg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v_eno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Emp.Empno%TYPE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2172" y="546049"/>
            <a:ext cx="393192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%ROWTYPE</a:t>
            </a:r>
            <a:r>
              <a:rPr dirty="0" sz="3600" spc="-85"/>
              <a:t> </a:t>
            </a:r>
            <a:r>
              <a:rPr dirty="0" sz="3600" spc="-10"/>
              <a:t>Attribute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22172" y="1429893"/>
            <a:ext cx="10742295" cy="533844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241300" marR="381635" indent="-229235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%ROWTYPE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attribute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declare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record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hold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entire </a:t>
            </a:r>
            <a:r>
              <a:rPr dirty="0" sz="2600">
                <a:latin typeface="Calibri"/>
                <a:cs typeface="Calibri"/>
              </a:rPr>
              <a:t>row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view</a:t>
            </a:r>
            <a:endParaRPr sz="2600">
              <a:latin typeface="Calibri"/>
              <a:cs typeface="Calibri"/>
            </a:endParaRPr>
          </a:p>
          <a:p>
            <a:pPr marL="241300" marR="244475" indent="-229235">
              <a:lnSpc>
                <a:spcPts val="281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fields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record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take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their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names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types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columns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of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20">
                <a:latin typeface="Calibri"/>
                <a:cs typeface="Calibri"/>
              </a:rPr>
              <a:t> view</a:t>
            </a:r>
            <a:endParaRPr sz="2600">
              <a:latin typeface="Calibri"/>
              <a:cs typeface="Calibri"/>
            </a:endParaRPr>
          </a:p>
          <a:p>
            <a:pPr marL="241300" marR="5080" indent="-229235">
              <a:lnSpc>
                <a:spcPts val="281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record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also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store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entire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row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fetched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cursor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cursor variable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965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syntax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declaring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%ROWTYPE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variable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&lt;variable_name&gt;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965"/>
              </a:lnSpc>
            </a:pPr>
            <a:r>
              <a:rPr dirty="0" sz="2600" spc="-10">
                <a:latin typeface="Calibri"/>
                <a:cs typeface="Calibri"/>
              </a:rPr>
              <a:t>&lt;table_name&gt;%ROWTYPE;</a:t>
            </a:r>
            <a:endParaRPr sz="2600">
              <a:latin typeface="Calibri"/>
              <a:cs typeface="Calibri"/>
            </a:endParaRPr>
          </a:p>
          <a:p>
            <a:pPr marL="241300" marR="445134" indent="-229235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main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advantage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using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%ROWTYPE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simplifies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maintenance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ensures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types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variables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declared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this </a:t>
            </a:r>
            <a:r>
              <a:rPr dirty="0" sz="2600">
                <a:latin typeface="Calibri"/>
                <a:cs typeface="Calibri"/>
              </a:rPr>
              <a:t>attribute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change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dynamically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underlying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altered</a:t>
            </a:r>
            <a:endParaRPr sz="2600">
              <a:latin typeface="Calibri"/>
              <a:cs typeface="Calibri"/>
            </a:endParaRPr>
          </a:p>
          <a:p>
            <a:pPr marL="241300" marR="304165" indent="-229235">
              <a:lnSpc>
                <a:spcPts val="281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%ROWTYPE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attribute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particularly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useful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you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want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retrieve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an </a:t>
            </a:r>
            <a:r>
              <a:rPr dirty="0" sz="2600">
                <a:latin typeface="Calibri"/>
                <a:cs typeface="Calibri"/>
              </a:rPr>
              <a:t>entire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row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table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2707" rIns="0" bIns="0" rtlCol="0" vert="horz">
            <a:spAutoFit/>
          </a:bodyPr>
          <a:lstStyle/>
          <a:p>
            <a:pPr marL="1087755">
              <a:lnSpc>
                <a:spcPct val="100000"/>
              </a:lnSpc>
              <a:spcBef>
                <a:spcPts val="100"/>
              </a:spcBef>
            </a:pPr>
            <a:r>
              <a:rPr dirty="0" sz="5400"/>
              <a:t>Using</a:t>
            </a:r>
            <a:r>
              <a:rPr dirty="0" sz="5400" spc="-30"/>
              <a:t> </a:t>
            </a:r>
            <a:r>
              <a:rPr dirty="0" sz="5400"/>
              <a:t>Sequences</a:t>
            </a:r>
            <a:r>
              <a:rPr dirty="0" sz="5400" spc="-30"/>
              <a:t> </a:t>
            </a:r>
            <a:r>
              <a:rPr dirty="0" sz="5400"/>
              <a:t>in</a:t>
            </a:r>
            <a:r>
              <a:rPr dirty="0" sz="5400" spc="-25"/>
              <a:t> </a:t>
            </a:r>
            <a:r>
              <a:rPr dirty="0" sz="5400" spc="-10"/>
              <a:t>PL/SQL</a:t>
            </a:r>
            <a:endParaRPr sz="5400"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127000"/>
          </a:xfrm>
          <a:custGeom>
            <a:avLst/>
            <a:gdLst/>
            <a:ahLst/>
            <a:cxnLst/>
            <a:rect l="l" t="t" r="r" b="b"/>
            <a:pathLst>
              <a:path w="12192000" h="127000">
                <a:moveTo>
                  <a:pt x="12192000" y="0"/>
                </a:moveTo>
                <a:lnTo>
                  <a:pt x="0" y="0"/>
                </a:lnTo>
                <a:lnTo>
                  <a:pt x="0" y="126492"/>
                </a:lnTo>
                <a:lnTo>
                  <a:pt x="12192000" y="126492"/>
                </a:lnTo>
                <a:lnTo>
                  <a:pt x="1219200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27722" y="665396"/>
            <a:ext cx="538480" cy="727710"/>
            <a:chOff x="1027722" y="665396"/>
            <a:chExt cx="538480" cy="727710"/>
          </a:xfrm>
        </p:grpSpPr>
        <p:sp>
          <p:nvSpPr>
            <p:cNvPr id="5" name="object 5"/>
            <p:cNvSpPr/>
            <p:nvPr/>
          </p:nvSpPr>
          <p:spPr>
            <a:xfrm>
              <a:off x="1033218" y="670892"/>
              <a:ext cx="527685" cy="151130"/>
            </a:xfrm>
            <a:custGeom>
              <a:avLst/>
              <a:gdLst/>
              <a:ahLst/>
              <a:cxnLst/>
              <a:rect l="l" t="t" r="r" b="b"/>
              <a:pathLst>
                <a:path w="527685" h="151130">
                  <a:moveTo>
                    <a:pt x="263687" y="0"/>
                  </a:moveTo>
                  <a:lnTo>
                    <a:pt x="193588" y="2692"/>
                  </a:lnTo>
                  <a:lnTo>
                    <a:pt x="130598" y="10291"/>
                  </a:lnTo>
                  <a:lnTo>
                    <a:pt x="77231" y="22078"/>
                  </a:lnTo>
                  <a:lnTo>
                    <a:pt x="36000" y="37334"/>
                  </a:lnTo>
                  <a:lnTo>
                    <a:pt x="0" y="75380"/>
                  </a:lnTo>
                  <a:lnTo>
                    <a:pt x="9419" y="95420"/>
                  </a:lnTo>
                  <a:lnTo>
                    <a:pt x="77231" y="128683"/>
                  </a:lnTo>
                  <a:lnTo>
                    <a:pt x="130598" y="140469"/>
                  </a:lnTo>
                  <a:lnTo>
                    <a:pt x="193588" y="148068"/>
                  </a:lnTo>
                  <a:lnTo>
                    <a:pt x="263687" y="150761"/>
                  </a:lnTo>
                  <a:lnTo>
                    <a:pt x="333786" y="148068"/>
                  </a:lnTo>
                  <a:lnTo>
                    <a:pt x="396776" y="140469"/>
                  </a:lnTo>
                  <a:lnTo>
                    <a:pt x="450143" y="128683"/>
                  </a:lnTo>
                  <a:lnTo>
                    <a:pt x="491374" y="113427"/>
                  </a:lnTo>
                  <a:lnTo>
                    <a:pt x="527374" y="75380"/>
                  </a:lnTo>
                  <a:lnTo>
                    <a:pt x="517955" y="55341"/>
                  </a:lnTo>
                  <a:lnTo>
                    <a:pt x="450143" y="22078"/>
                  </a:lnTo>
                  <a:lnTo>
                    <a:pt x="396776" y="10291"/>
                  </a:lnTo>
                  <a:lnTo>
                    <a:pt x="333786" y="2692"/>
                  </a:lnTo>
                  <a:lnTo>
                    <a:pt x="26368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33218" y="670892"/>
              <a:ext cx="527685" cy="151130"/>
            </a:xfrm>
            <a:custGeom>
              <a:avLst/>
              <a:gdLst/>
              <a:ahLst/>
              <a:cxnLst/>
              <a:rect l="l" t="t" r="r" b="b"/>
              <a:pathLst>
                <a:path w="527685" h="151130">
                  <a:moveTo>
                    <a:pt x="527374" y="75380"/>
                  </a:moveTo>
                  <a:lnTo>
                    <a:pt x="491374" y="113427"/>
                  </a:lnTo>
                  <a:lnTo>
                    <a:pt x="450143" y="128683"/>
                  </a:lnTo>
                  <a:lnTo>
                    <a:pt x="396776" y="140469"/>
                  </a:lnTo>
                  <a:lnTo>
                    <a:pt x="333786" y="148068"/>
                  </a:lnTo>
                  <a:lnTo>
                    <a:pt x="263687" y="150761"/>
                  </a:lnTo>
                  <a:lnTo>
                    <a:pt x="193588" y="148068"/>
                  </a:lnTo>
                  <a:lnTo>
                    <a:pt x="130598" y="140469"/>
                  </a:lnTo>
                  <a:lnTo>
                    <a:pt x="77231" y="128683"/>
                  </a:lnTo>
                  <a:lnTo>
                    <a:pt x="36000" y="113427"/>
                  </a:lnTo>
                  <a:lnTo>
                    <a:pt x="0" y="75380"/>
                  </a:lnTo>
                  <a:lnTo>
                    <a:pt x="9419" y="55341"/>
                  </a:lnTo>
                  <a:lnTo>
                    <a:pt x="77231" y="22078"/>
                  </a:lnTo>
                  <a:lnTo>
                    <a:pt x="130598" y="10291"/>
                  </a:lnTo>
                  <a:lnTo>
                    <a:pt x="193588" y="2692"/>
                  </a:lnTo>
                  <a:lnTo>
                    <a:pt x="263687" y="0"/>
                  </a:lnTo>
                  <a:lnTo>
                    <a:pt x="333786" y="2692"/>
                  </a:lnTo>
                  <a:lnTo>
                    <a:pt x="396776" y="10291"/>
                  </a:lnTo>
                  <a:lnTo>
                    <a:pt x="450143" y="22078"/>
                  </a:lnTo>
                  <a:lnTo>
                    <a:pt x="491374" y="37334"/>
                  </a:lnTo>
                  <a:lnTo>
                    <a:pt x="527374" y="75380"/>
                  </a:lnTo>
                  <a:close/>
                </a:path>
              </a:pathLst>
            </a:custGeom>
            <a:ln w="109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33218" y="783963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0" y="0"/>
                  </a:moveTo>
                  <a:lnTo>
                    <a:pt x="0" y="150761"/>
                  </a:lnTo>
                  <a:lnTo>
                    <a:pt x="9461" y="17074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452035" y="150761"/>
                  </a:ln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527374" y="113071"/>
                  </a:lnTo>
                  <a:lnTo>
                    <a:pt x="527374" y="75380"/>
                  </a:lnTo>
                  <a:lnTo>
                    <a:pt x="263687" y="75380"/>
                  </a:ln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9461" y="19979"/>
                  </a:lnTo>
                  <a:lnTo>
                    <a:pt x="0" y="0"/>
                  </a:lnTo>
                  <a:close/>
                </a:path>
                <a:path w="527685" h="226694">
                  <a:moveTo>
                    <a:pt x="527374" y="113071"/>
                  </a:move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lnTo>
                    <a:pt x="527374" y="150761"/>
                  </a:lnTo>
                  <a:lnTo>
                    <a:pt x="527374" y="113071"/>
                  </a:lnTo>
                  <a:close/>
                </a:path>
                <a:path w="527685" h="226694">
                  <a:moveTo>
                    <a:pt x="527374" y="0"/>
                  </a:move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lnTo>
                    <a:pt x="527374" y="75380"/>
                  </a:lnTo>
                  <a:lnTo>
                    <a:pt x="52737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33218" y="783963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452035" y="150761"/>
                  </a:move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close/>
                </a:path>
                <a:path w="527685" h="226694">
                  <a:moveTo>
                    <a:pt x="263687" y="75380"/>
                  </a:move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0" y="0"/>
                  </a:lnTo>
                  <a:lnTo>
                    <a:pt x="0" y="150761"/>
                  </a:lnTo>
                  <a:lnTo>
                    <a:pt x="36134" y="18873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527374" y="0"/>
                  </a:lnTo>
                  <a:lnTo>
                    <a:pt x="517913" y="19979"/>
                  </a:ln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close/>
                </a:path>
              </a:pathLst>
            </a:custGeom>
            <a:ln w="1098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33218" y="972415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0" y="0"/>
                  </a:moveTo>
                  <a:lnTo>
                    <a:pt x="0" y="150761"/>
                  </a:lnTo>
                  <a:lnTo>
                    <a:pt x="9461" y="17074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452035" y="150761"/>
                  </a:ln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527374" y="113071"/>
                  </a:lnTo>
                  <a:lnTo>
                    <a:pt x="527374" y="75380"/>
                  </a:lnTo>
                  <a:lnTo>
                    <a:pt x="263687" y="75380"/>
                  </a:ln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9461" y="19979"/>
                  </a:lnTo>
                  <a:lnTo>
                    <a:pt x="0" y="0"/>
                  </a:lnTo>
                  <a:close/>
                </a:path>
                <a:path w="527685" h="226694">
                  <a:moveTo>
                    <a:pt x="527374" y="113071"/>
                  </a:move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lnTo>
                    <a:pt x="527374" y="150761"/>
                  </a:lnTo>
                  <a:lnTo>
                    <a:pt x="527374" y="113071"/>
                  </a:lnTo>
                  <a:close/>
                </a:path>
                <a:path w="527685" h="226694">
                  <a:moveTo>
                    <a:pt x="527374" y="0"/>
                  </a:move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lnTo>
                    <a:pt x="527374" y="75380"/>
                  </a:lnTo>
                  <a:lnTo>
                    <a:pt x="52737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33218" y="972415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452035" y="150761"/>
                  </a:move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close/>
                </a:path>
                <a:path w="527685" h="226694">
                  <a:moveTo>
                    <a:pt x="263687" y="75380"/>
                  </a:move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0" y="0"/>
                  </a:lnTo>
                  <a:lnTo>
                    <a:pt x="0" y="150761"/>
                  </a:lnTo>
                  <a:lnTo>
                    <a:pt x="36134" y="18873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527374" y="0"/>
                  </a:lnTo>
                  <a:lnTo>
                    <a:pt x="517913" y="19979"/>
                  </a:ln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close/>
                </a:path>
              </a:pathLst>
            </a:custGeom>
            <a:ln w="1098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33218" y="1160867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0" y="0"/>
                  </a:moveTo>
                  <a:lnTo>
                    <a:pt x="0" y="150761"/>
                  </a:lnTo>
                  <a:lnTo>
                    <a:pt x="9461" y="17074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452035" y="150761"/>
                  </a:ln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527374" y="113071"/>
                  </a:lnTo>
                  <a:lnTo>
                    <a:pt x="527374" y="75380"/>
                  </a:lnTo>
                  <a:lnTo>
                    <a:pt x="263687" y="75380"/>
                  </a:ln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9461" y="19979"/>
                  </a:lnTo>
                  <a:lnTo>
                    <a:pt x="0" y="0"/>
                  </a:lnTo>
                  <a:close/>
                </a:path>
                <a:path w="527685" h="226694">
                  <a:moveTo>
                    <a:pt x="527374" y="113071"/>
                  </a:move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lnTo>
                    <a:pt x="527374" y="150761"/>
                  </a:lnTo>
                  <a:lnTo>
                    <a:pt x="527374" y="113071"/>
                  </a:lnTo>
                  <a:close/>
                </a:path>
                <a:path w="527685" h="226694">
                  <a:moveTo>
                    <a:pt x="527374" y="0"/>
                  </a:move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lnTo>
                    <a:pt x="527374" y="75380"/>
                  </a:lnTo>
                  <a:lnTo>
                    <a:pt x="52737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33218" y="1160867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452035" y="150761"/>
                  </a:move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close/>
                </a:path>
                <a:path w="527685" h="226694">
                  <a:moveTo>
                    <a:pt x="263687" y="75380"/>
                  </a:move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0" y="0"/>
                  </a:lnTo>
                  <a:lnTo>
                    <a:pt x="0" y="150761"/>
                  </a:lnTo>
                  <a:lnTo>
                    <a:pt x="36134" y="18873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527374" y="0"/>
                  </a:lnTo>
                  <a:lnTo>
                    <a:pt x="517913" y="19979"/>
                  </a:ln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close/>
                </a:path>
              </a:pathLst>
            </a:custGeom>
            <a:ln w="1098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16939" y="1707918"/>
            <a:ext cx="9844405" cy="416877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Sequences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created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database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also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PL/SQL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block</a:t>
            </a:r>
            <a:endParaRPr sz="2800">
              <a:latin typeface="Calibri"/>
              <a:cs typeface="Calibri"/>
            </a:endParaRPr>
          </a:p>
          <a:p>
            <a:pPr marL="239395" marR="5080" indent="-227329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After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creating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sequence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NEXTVAL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and/or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CURRVAL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attribute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sequence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BEGIN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section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PL/SQL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block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transferring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sequence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variable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syntax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is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ts val="2735"/>
              </a:lnSpc>
              <a:spcBef>
                <a:spcPts val="245"/>
              </a:spcBef>
            </a:pPr>
            <a:r>
              <a:rPr dirty="0" sz="2400">
                <a:latin typeface="Calibri"/>
                <a:cs typeface="Calibri"/>
              </a:rPr>
              <a:t>SELECT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&lt;sequence_name&gt;.NEXTVAL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&lt;variable_name&gt;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FROM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735"/>
              </a:lnSpc>
            </a:pPr>
            <a:r>
              <a:rPr dirty="0" sz="2400" spc="-25">
                <a:latin typeface="Calibri"/>
                <a:cs typeface="Calibri"/>
              </a:rPr>
              <a:t>&lt;Table_name&gt;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DUAL</a:t>
            </a:r>
            <a:endParaRPr sz="2400">
              <a:latin typeface="Calibri"/>
              <a:cs typeface="Calibri"/>
            </a:endParaRPr>
          </a:p>
          <a:p>
            <a:pPr marL="2756535">
              <a:lnSpc>
                <a:spcPct val="100000"/>
              </a:lnSpc>
              <a:spcBef>
                <a:spcPts val="204"/>
              </a:spcBef>
            </a:pPr>
            <a:r>
              <a:rPr dirty="0" sz="2400" spc="-25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735"/>
              </a:lnSpc>
              <a:spcBef>
                <a:spcPts val="215"/>
              </a:spcBef>
            </a:pPr>
            <a:r>
              <a:rPr dirty="0" sz="2400">
                <a:latin typeface="Calibri"/>
                <a:cs typeface="Calibri"/>
              </a:rPr>
              <a:t>SELECT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&lt;sequence_name&gt;.CURRVAL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&lt;variable_name&gt;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FROM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735"/>
              </a:lnSpc>
            </a:pPr>
            <a:r>
              <a:rPr dirty="0" sz="2400" spc="-25">
                <a:latin typeface="Calibri"/>
                <a:cs typeface="Calibri"/>
              </a:rPr>
              <a:t>&lt;Table_name&gt;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DUAL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2172" y="546049"/>
            <a:ext cx="6052185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Executable</a:t>
            </a:r>
            <a:r>
              <a:rPr dirty="0" sz="3600" spc="-120"/>
              <a:t> </a:t>
            </a:r>
            <a:r>
              <a:rPr dirty="0" sz="3600"/>
              <a:t>Statements</a:t>
            </a:r>
            <a:r>
              <a:rPr dirty="0" sz="3600" spc="-110"/>
              <a:t> </a:t>
            </a:r>
            <a:r>
              <a:rPr dirty="0" sz="3600"/>
              <a:t>In</a:t>
            </a:r>
            <a:r>
              <a:rPr dirty="0" sz="3600" spc="-110"/>
              <a:t> </a:t>
            </a:r>
            <a:r>
              <a:rPr dirty="0" sz="3600" spc="-10"/>
              <a:t>PL/SQL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22172" y="1769110"/>
            <a:ext cx="10713085" cy="430212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38760" marR="27305" indent="-226695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PL/SQL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block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SELECT,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INSERT,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UPDATE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DELETE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statements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manipulate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from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DDL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statements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CREATE,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ALTER,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DROP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cannot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executed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PL/SQL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DCL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statements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GRANT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REVOKE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supported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PL/SQL</a:t>
            </a:r>
            <a:endParaRPr sz="2000">
              <a:latin typeface="Calibri"/>
              <a:cs typeface="Calibri"/>
            </a:endParaRPr>
          </a:p>
          <a:p>
            <a:pPr algn="r" marL="226695" marR="1418590" indent="-22669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26695" algn="l"/>
              </a:tabLst>
            </a:pPr>
            <a:r>
              <a:rPr dirty="0" sz="2000">
                <a:latin typeface="Calibri"/>
                <a:cs typeface="Calibri"/>
              </a:rPr>
              <a:t>SELECT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statement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retrieve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following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syntax</a:t>
            </a:r>
            <a:endParaRPr sz="2000">
              <a:latin typeface="Calibri"/>
              <a:cs typeface="Calibri"/>
            </a:endParaRPr>
          </a:p>
          <a:p>
            <a:pPr algn="r" lvl="1" marL="226695" marR="1376680" indent="-22669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226695" algn="l"/>
              </a:tabLst>
            </a:pPr>
            <a:r>
              <a:rPr dirty="0" sz="2000">
                <a:latin typeface="Calibri"/>
                <a:cs typeface="Calibri"/>
              </a:rPr>
              <a:t>SELECT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&lt;select_list&gt;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&lt;variable_list&gt;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&lt;table_name&gt;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&lt;condition&gt;;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clause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mandatory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occurs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SELECT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statement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clause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names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variables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holds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SQL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returns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SELECT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clause</a:t>
            </a:r>
            <a:endParaRPr sz="2000">
              <a:latin typeface="Calibri"/>
              <a:cs typeface="Calibri"/>
            </a:endParaRPr>
          </a:p>
          <a:p>
            <a:pPr marL="238760" marR="125730" indent="-226695">
              <a:lnSpc>
                <a:spcPts val="216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40">
                <a:latin typeface="Calibri"/>
                <a:cs typeface="Calibri"/>
              </a:rPr>
              <a:t>You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must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variable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item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selected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order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variables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must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correspond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items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selected.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SELECT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query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return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row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ts val="2280"/>
              </a:lnSpc>
              <a:spcBef>
                <a:spcPts val="72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INSERT,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UPDATE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DELETE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statement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syntax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SQL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minor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enclosed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BEGIN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block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2172" y="546049"/>
            <a:ext cx="2582545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Nested</a:t>
            </a:r>
            <a:r>
              <a:rPr dirty="0" sz="3600" spc="-105"/>
              <a:t> </a:t>
            </a:r>
            <a:r>
              <a:rPr dirty="0" sz="3600" spc="-10"/>
              <a:t>Blocks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13359" y="1170787"/>
            <a:ext cx="10061575" cy="528447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advantages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PL/SQL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ability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statement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ts val="2280"/>
              </a:lnSpc>
              <a:spcBef>
                <a:spcPts val="75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40">
                <a:latin typeface="Calibri"/>
                <a:cs typeface="Calibri"/>
              </a:rPr>
              <a:t>You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blocks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whenever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executable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statement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thus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making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nested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block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dirty="0" sz="2000" spc="-10">
                <a:latin typeface="Calibri"/>
                <a:cs typeface="Calibri"/>
              </a:rPr>
              <a:t>statement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exception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statement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contain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nested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blocks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syntax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nested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blocks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be</a:t>
            </a:r>
            <a:endParaRPr sz="2000">
              <a:latin typeface="Calibri"/>
              <a:cs typeface="Calibri"/>
            </a:endParaRPr>
          </a:p>
          <a:p>
            <a:pPr lvl="1" marL="696595" indent="-22669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000" spc="-10">
                <a:latin typeface="Calibri"/>
                <a:cs typeface="Calibri"/>
              </a:rPr>
              <a:t>DECLARE</a:t>
            </a:r>
            <a:endParaRPr sz="2000">
              <a:latin typeface="Calibri"/>
              <a:cs typeface="Calibri"/>
            </a:endParaRPr>
          </a:p>
          <a:p>
            <a:pPr lvl="2" marL="1153795" indent="-226695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1153795" algn="l"/>
              </a:tabLst>
            </a:pPr>
            <a:r>
              <a:rPr dirty="0" sz="2000" spc="-10">
                <a:latin typeface="Calibri"/>
                <a:cs typeface="Calibri"/>
              </a:rPr>
              <a:t>Variable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Declaration</a:t>
            </a:r>
            <a:endParaRPr sz="2000">
              <a:latin typeface="Calibri"/>
              <a:cs typeface="Calibri"/>
            </a:endParaRPr>
          </a:p>
          <a:p>
            <a:pPr lvl="1" marL="696595" indent="-22669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000" spc="-10">
                <a:latin typeface="Calibri"/>
                <a:cs typeface="Calibri"/>
              </a:rPr>
              <a:t>BEGIN</a:t>
            </a:r>
            <a:endParaRPr sz="2000">
              <a:latin typeface="Calibri"/>
              <a:cs typeface="Calibri"/>
            </a:endParaRPr>
          </a:p>
          <a:p>
            <a:pPr lvl="2" marL="1153795" indent="-22669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3795" algn="l"/>
              </a:tabLst>
            </a:pPr>
            <a:r>
              <a:rPr dirty="0" sz="2000" spc="-10">
                <a:latin typeface="Calibri"/>
                <a:cs typeface="Calibri"/>
              </a:rPr>
              <a:t>DECLARE</a:t>
            </a:r>
            <a:endParaRPr sz="2000">
              <a:latin typeface="Calibri"/>
              <a:cs typeface="Calibri"/>
            </a:endParaRPr>
          </a:p>
          <a:p>
            <a:pPr lvl="3" marL="1610995" indent="-22669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1610995" algn="l"/>
              </a:tabLst>
            </a:pPr>
            <a:r>
              <a:rPr dirty="0" sz="2000" spc="-10">
                <a:latin typeface="Calibri"/>
                <a:cs typeface="Calibri"/>
              </a:rPr>
              <a:t>Variable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Declaration</a:t>
            </a:r>
            <a:endParaRPr sz="2000">
              <a:latin typeface="Calibri"/>
              <a:cs typeface="Calibri"/>
            </a:endParaRPr>
          </a:p>
          <a:p>
            <a:pPr lvl="2" marL="1153795" indent="-22669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3795" algn="l"/>
              </a:tabLst>
            </a:pPr>
            <a:r>
              <a:rPr dirty="0" sz="2000" spc="-10">
                <a:latin typeface="Calibri"/>
                <a:cs typeface="Calibri"/>
              </a:rPr>
              <a:t>BEGIN</a:t>
            </a:r>
            <a:endParaRPr sz="2000">
              <a:latin typeface="Calibri"/>
              <a:cs typeface="Calibri"/>
            </a:endParaRPr>
          </a:p>
          <a:p>
            <a:pPr lvl="3" marL="1610995" indent="-22669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610995" algn="l"/>
              </a:tabLst>
            </a:pPr>
            <a:r>
              <a:rPr dirty="0" sz="2000" spc="-10">
                <a:latin typeface="Calibri"/>
                <a:cs typeface="Calibri"/>
              </a:rPr>
              <a:t>Executable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Statements</a:t>
            </a:r>
            <a:endParaRPr sz="2000">
              <a:latin typeface="Calibri"/>
              <a:cs typeface="Calibri"/>
            </a:endParaRPr>
          </a:p>
          <a:p>
            <a:pPr lvl="2" marL="1153795" indent="-22669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1153795" algn="l"/>
              </a:tabLst>
            </a:pP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  <a:p>
            <a:pPr lvl="2" marL="1153795" indent="-22669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3795" algn="l"/>
              </a:tabLst>
            </a:pPr>
            <a:r>
              <a:rPr dirty="0" sz="2000" spc="-10">
                <a:latin typeface="Calibri"/>
                <a:cs typeface="Calibri"/>
              </a:rPr>
              <a:t>Executable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Statements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Outer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Block</a:t>
            </a:r>
            <a:endParaRPr sz="2000">
              <a:latin typeface="Calibri"/>
              <a:cs typeface="Calibri"/>
            </a:endParaRPr>
          </a:p>
          <a:p>
            <a:pPr lvl="1" marL="696595" indent="-22669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2707" rIns="0" bIns="0" rtlCol="0" vert="horz">
            <a:spAutoFit/>
          </a:bodyPr>
          <a:lstStyle/>
          <a:p>
            <a:pPr marL="1087755">
              <a:lnSpc>
                <a:spcPct val="100000"/>
              </a:lnSpc>
              <a:spcBef>
                <a:spcPts val="100"/>
              </a:spcBef>
            </a:pPr>
            <a:r>
              <a:rPr dirty="0" sz="5400"/>
              <a:t>PL/SQL</a:t>
            </a:r>
            <a:r>
              <a:rPr dirty="0" sz="5400" spc="-155"/>
              <a:t> </a:t>
            </a:r>
            <a:r>
              <a:rPr dirty="0" sz="5400" spc="-25"/>
              <a:t>Transactions</a:t>
            </a:r>
            <a:endParaRPr sz="5400"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127000"/>
          </a:xfrm>
          <a:custGeom>
            <a:avLst/>
            <a:gdLst/>
            <a:ahLst/>
            <a:cxnLst/>
            <a:rect l="l" t="t" r="r" b="b"/>
            <a:pathLst>
              <a:path w="12192000" h="127000">
                <a:moveTo>
                  <a:pt x="12192000" y="0"/>
                </a:moveTo>
                <a:lnTo>
                  <a:pt x="0" y="0"/>
                </a:lnTo>
                <a:lnTo>
                  <a:pt x="0" y="126492"/>
                </a:lnTo>
                <a:lnTo>
                  <a:pt x="12192000" y="126492"/>
                </a:lnTo>
                <a:lnTo>
                  <a:pt x="1219200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27722" y="665396"/>
            <a:ext cx="538480" cy="727710"/>
            <a:chOff x="1027722" y="665396"/>
            <a:chExt cx="538480" cy="727710"/>
          </a:xfrm>
        </p:grpSpPr>
        <p:sp>
          <p:nvSpPr>
            <p:cNvPr id="5" name="object 5"/>
            <p:cNvSpPr/>
            <p:nvPr/>
          </p:nvSpPr>
          <p:spPr>
            <a:xfrm>
              <a:off x="1033218" y="670892"/>
              <a:ext cx="527685" cy="151130"/>
            </a:xfrm>
            <a:custGeom>
              <a:avLst/>
              <a:gdLst/>
              <a:ahLst/>
              <a:cxnLst/>
              <a:rect l="l" t="t" r="r" b="b"/>
              <a:pathLst>
                <a:path w="527685" h="151130">
                  <a:moveTo>
                    <a:pt x="263687" y="0"/>
                  </a:moveTo>
                  <a:lnTo>
                    <a:pt x="193588" y="2692"/>
                  </a:lnTo>
                  <a:lnTo>
                    <a:pt x="130598" y="10291"/>
                  </a:lnTo>
                  <a:lnTo>
                    <a:pt x="77231" y="22078"/>
                  </a:lnTo>
                  <a:lnTo>
                    <a:pt x="36000" y="37334"/>
                  </a:lnTo>
                  <a:lnTo>
                    <a:pt x="0" y="75380"/>
                  </a:lnTo>
                  <a:lnTo>
                    <a:pt x="9419" y="95420"/>
                  </a:lnTo>
                  <a:lnTo>
                    <a:pt x="77231" y="128683"/>
                  </a:lnTo>
                  <a:lnTo>
                    <a:pt x="130598" y="140469"/>
                  </a:lnTo>
                  <a:lnTo>
                    <a:pt x="193588" y="148068"/>
                  </a:lnTo>
                  <a:lnTo>
                    <a:pt x="263687" y="150761"/>
                  </a:lnTo>
                  <a:lnTo>
                    <a:pt x="333786" y="148068"/>
                  </a:lnTo>
                  <a:lnTo>
                    <a:pt x="396776" y="140469"/>
                  </a:lnTo>
                  <a:lnTo>
                    <a:pt x="450143" y="128683"/>
                  </a:lnTo>
                  <a:lnTo>
                    <a:pt x="491374" y="113427"/>
                  </a:lnTo>
                  <a:lnTo>
                    <a:pt x="527374" y="75380"/>
                  </a:lnTo>
                  <a:lnTo>
                    <a:pt x="517955" y="55341"/>
                  </a:lnTo>
                  <a:lnTo>
                    <a:pt x="450143" y="22078"/>
                  </a:lnTo>
                  <a:lnTo>
                    <a:pt x="396776" y="10291"/>
                  </a:lnTo>
                  <a:lnTo>
                    <a:pt x="333786" y="2692"/>
                  </a:lnTo>
                  <a:lnTo>
                    <a:pt x="26368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33218" y="670892"/>
              <a:ext cx="527685" cy="151130"/>
            </a:xfrm>
            <a:custGeom>
              <a:avLst/>
              <a:gdLst/>
              <a:ahLst/>
              <a:cxnLst/>
              <a:rect l="l" t="t" r="r" b="b"/>
              <a:pathLst>
                <a:path w="527685" h="151130">
                  <a:moveTo>
                    <a:pt x="527374" y="75380"/>
                  </a:moveTo>
                  <a:lnTo>
                    <a:pt x="491374" y="113427"/>
                  </a:lnTo>
                  <a:lnTo>
                    <a:pt x="450143" y="128683"/>
                  </a:lnTo>
                  <a:lnTo>
                    <a:pt x="396776" y="140469"/>
                  </a:lnTo>
                  <a:lnTo>
                    <a:pt x="333786" y="148068"/>
                  </a:lnTo>
                  <a:lnTo>
                    <a:pt x="263687" y="150761"/>
                  </a:lnTo>
                  <a:lnTo>
                    <a:pt x="193588" y="148068"/>
                  </a:lnTo>
                  <a:lnTo>
                    <a:pt x="130598" y="140469"/>
                  </a:lnTo>
                  <a:lnTo>
                    <a:pt x="77231" y="128683"/>
                  </a:lnTo>
                  <a:lnTo>
                    <a:pt x="36000" y="113427"/>
                  </a:lnTo>
                  <a:lnTo>
                    <a:pt x="0" y="75380"/>
                  </a:lnTo>
                  <a:lnTo>
                    <a:pt x="9419" y="55341"/>
                  </a:lnTo>
                  <a:lnTo>
                    <a:pt x="77231" y="22078"/>
                  </a:lnTo>
                  <a:lnTo>
                    <a:pt x="130598" y="10291"/>
                  </a:lnTo>
                  <a:lnTo>
                    <a:pt x="193588" y="2692"/>
                  </a:lnTo>
                  <a:lnTo>
                    <a:pt x="263687" y="0"/>
                  </a:lnTo>
                  <a:lnTo>
                    <a:pt x="333786" y="2692"/>
                  </a:lnTo>
                  <a:lnTo>
                    <a:pt x="396776" y="10291"/>
                  </a:lnTo>
                  <a:lnTo>
                    <a:pt x="450143" y="22078"/>
                  </a:lnTo>
                  <a:lnTo>
                    <a:pt x="491374" y="37334"/>
                  </a:lnTo>
                  <a:lnTo>
                    <a:pt x="527374" y="75380"/>
                  </a:lnTo>
                  <a:close/>
                </a:path>
              </a:pathLst>
            </a:custGeom>
            <a:ln w="109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33218" y="783963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0" y="0"/>
                  </a:moveTo>
                  <a:lnTo>
                    <a:pt x="0" y="150761"/>
                  </a:lnTo>
                  <a:lnTo>
                    <a:pt x="9461" y="17074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452035" y="150761"/>
                  </a:ln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527374" y="113071"/>
                  </a:lnTo>
                  <a:lnTo>
                    <a:pt x="527374" y="75380"/>
                  </a:lnTo>
                  <a:lnTo>
                    <a:pt x="263687" y="75380"/>
                  </a:ln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9461" y="19979"/>
                  </a:lnTo>
                  <a:lnTo>
                    <a:pt x="0" y="0"/>
                  </a:lnTo>
                  <a:close/>
                </a:path>
                <a:path w="527685" h="226694">
                  <a:moveTo>
                    <a:pt x="527374" y="113071"/>
                  </a:move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lnTo>
                    <a:pt x="527374" y="150761"/>
                  </a:lnTo>
                  <a:lnTo>
                    <a:pt x="527374" y="113071"/>
                  </a:lnTo>
                  <a:close/>
                </a:path>
                <a:path w="527685" h="226694">
                  <a:moveTo>
                    <a:pt x="527374" y="0"/>
                  </a:move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lnTo>
                    <a:pt x="527374" y="75380"/>
                  </a:lnTo>
                  <a:lnTo>
                    <a:pt x="52737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33218" y="783963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452035" y="150761"/>
                  </a:move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close/>
                </a:path>
                <a:path w="527685" h="226694">
                  <a:moveTo>
                    <a:pt x="263687" y="75380"/>
                  </a:move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0" y="0"/>
                  </a:lnTo>
                  <a:lnTo>
                    <a:pt x="0" y="150761"/>
                  </a:lnTo>
                  <a:lnTo>
                    <a:pt x="36134" y="18873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527374" y="0"/>
                  </a:lnTo>
                  <a:lnTo>
                    <a:pt x="517913" y="19979"/>
                  </a:ln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close/>
                </a:path>
              </a:pathLst>
            </a:custGeom>
            <a:ln w="1098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33218" y="972415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0" y="0"/>
                  </a:moveTo>
                  <a:lnTo>
                    <a:pt x="0" y="150761"/>
                  </a:lnTo>
                  <a:lnTo>
                    <a:pt x="9461" y="17074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452035" y="150761"/>
                  </a:ln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527374" y="113071"/>
                  </a:lnTo>
                  <a:lnTo>
                    <a:pt x="527374" y="75380"/>
                  </a:lnTo>
                  <a:lnTo>
                    <a:pt x="263687" y="75380"/>
                  </a:ln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9461" y="19979"/>
                  </a:lnTo>
                  <a:lnTo>
                    <a:pt x="0" y="0"/>
                  </a:lnTo>
                  <a:close/>
                </a:path>
                <a:path w="527685" h="226694">
                  <a:moveTo>
                    <a:pt x="527374" y="113071"/>
                  </a:move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lnTo>
                    <a:pt x="527374" y="150761"/>
                  </a:lnTo>
                  <a:lnTo>
                    <a:pt x="527374" y="113071"/>
                  </a:lnTo>
                  <a:close/>
                </a:path>
                <a:path w="527685" h="226694">
                  <a:moveTo>
                    <a:pt x="527374" y="0"/>
                  </a:move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lnTo>
                    <a:pt x="527374" y="75380"/>
                  </a:lnTo>
                  <a:lnTo>
                    <a:pt x="52737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33218" y="972415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452035" y="150761"/>
                  </a:move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close/>
                </a:path>
                <a:path w="527685" h="226694">
                  <a:moveTo>
                    <a:pt x="263687" y="75380"/>
                  </a:move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0" y="0"/>
                  </a:lnTo>
                  <a:lnTo>
                    <a:pt x="0" y="150761"/>
                  </a:lnTo>
                  <a:lnTo>
                    <a:pt x="36134" y="18873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527374" y="0"/>
                  </a:lnTo>
                  <a:lnTo>
                    <a:pt x="517913" y="19979"/>
                  </a:ln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close/>
                </a:path>
              </a:pathLst>
            </a:custGeom>
            <a:ln w="1098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33218" y="1160867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0" y="0"/>
                  </a:moveTo>
                  <a:lnTo>
                    <a:pt x="0" y="150761"/>
                  </a:lnTo>
                  <a:lnTo>
                    <a:pt x="9461" y="17074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452035" y="150761"/>
                  </a:ln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527374" y="113071"/>
                  </a:lnTo>
                  <a:lnTo>
                    <a:pt x="527374" y="75380"/>
                  </a:lnTo>
                  <a:lnTo>
                    <a:pt x="263687" y="75380"/>
                  </a:ln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9461" y="19979"/>
                  </a:lnTo>
                  <a:lnTo>
                    <a:pt x="0" y="0"/>
                  </a:lnTo>
                  <a:close/>
                </a:path>
                <a:path w="527685" h="226694">
                  <a:moveTo>
                    <a:pt x="527374" y="113071"/>
                  </a:move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lnTo>
                    <a:pt x="527374" y="150761"/>
                  </a:lnTo>
                  <a:lnTo>
                    <a:pt x="527374" y="113071"/>
                  </a:lnTo>
                  <a:close/>
                </a:path>
                <a:path w="527685" h="226694">
                  <a:moveTo>
                    <a:pt x="527374" y="0"/>
                  </a:move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lnTo>
                    <a:pt x="527374" y="75380"/>
                  </a:lnTo>
                  <a:lnTo>
                    <a:pt x="52737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33218" y="1160867"/>
              <a:ext cx="527685" cy="226695"/>
            </a:xfrm>
            <a:custGeom>
              <a:avLst/>
              <a:gdLst/>
              <a:ahLst/>
              <a:cxnLst/>
              <a:rect l="l" t="t" r="r" b="b"/>
              <a:pathLst>
                <a:path w="527685" h="226694">
                  <a:moveTo>
                    <a:pt x="452035" y="150761"/>
                  </a:moveTo>
                  <a:lnTo>
                    <a:pt x="444324" y="149406"/>
                  </a:lnTo>
                  <a:lnTo>
                    <a:pt x="438380" y="145578"/>
                  </a:lnTo>
                  <a:lnTo>
                    <a:pt x="434554" y="139630"/>
                  </a:lnTo>
                  <a:lnTo>
                    <a:pt x="433200" y="131916"/>
                  </a:lnTo>
                  <a:lnTo>
                    <a:pt x="434554" y="124201"/>
                  </a:lnTo>
                  <a:lnTo>
                    <a:pt x="438380" y="118253"/>
                  </a:lnTo>
                  <a:lnTo>
                    <a:pt x="444324" y="114425"/>
                  </a:lnTo>
                  <a:lnTo>
                    <a:pt x="452035" y="113071"/>
                  </a:lnTo>
                  <a:lnTo>
                    <a:pt x="459745" y="114425"/>
                  </a:lnTo>
                  <a:lnTo>
                    <a:pt x="465690" y="118253"/>
                  </a:lnTo>
                  <a:lnTo>
                    <a:pt x="469516" y="124201"/>
                  </a:lnTo>
                  <a:lnTo>
                    <a:pt x="470870" y="131916"/>
                  </a:lnTo>
                  <a:lnTo>
                    <a:pt x="469516" y="139630"/>
                  </a:lnTo>
                  <a:lnTo>
                    <a:pt x="465690" y="145578"/>
                  </a:lnTo>
                  <a:lnTo>
                    <a:pt x="459745" y="149406"/>
                  </a:lnTo>
                  <a:lnTo>
                    <a:pt x="452035" y="150761"/>
                  </a:lnTo>
                  <a:close/>
                </a:path>
                <a:path w="527685" h="226694">
                  <a:moveTo>
                    <a:pt x="263687" y="75380"/>
                  </a:moveTo>
                  <a:lnTo>
                    <a:pt x="193797" y="72676"/>
                  </a:lnTo>
                  <a:lnTo>
                    <a:pt x="130867" y="65050"/>
                  </a:lnTo>
                  <a:lnTo>
                    <a:pt x="77458" y="53237"/>
                  </a:lnTo>
                  <a:lnTo>
                    <a:pt x="36134" y="37969"/>
                  </a:lnTo>
                  <a:lnTo>
                    <a:pt x="0" y="0"/>
                  </a:lnTo>
                  <a:lnTo>
                    <a:pt x="0" y="150761"/>
                  </a:lnTo>
                  <a:lnTo>
                    <a:pt x="36134" y="188730"/>
                  </a:lnTo>
                  <a:lnTo>
                    <a:pt x="77458" y="203999"/>
                  </a:lnTo>
                  <a:lnTo>
                    <a:pt x="130867" y="215812"/>
                  </a:lnTo>
                  <a:lnTo>
                    <a:pt x="193797" y="223437"/>
                  </a:lnTo>
                  <a:lnTo>
                    <a:pt x="263687" y="226142"/>
                  </a:lnTo>
                  <a:lnTo>
                    <a:pt x="333576" y="223437"/>
                  </a:lnTo>
                  <a:lnTo>
                    <a:pt x="396507" y="215812"/>
                  </a:lnTo>
                  <a:lnTo>
                    <a:pt x="449916" y="203999"/>
                  </a:lnTo>
                  <a:lnTo>
                    <a:pt x="491239" y="188730"/>
                  </a:lnTo>
                  <a:lnTo>
                    <a:pt x="527374" y="150761"/>
                  </a:lnTo>
                  <a:lnTo>
                    <a:pt x="527374" y="0"/>
                  </a:lnTo>
                  <a:lnTo>
                    <a:pt x="517913" y="19979"/>
                  </a:lnTo>
                  <a:lnTo>
                    <a:pt x="491239" y="37969"/>
                  </a:lnTo>
                  <a:lnTo>
                    <a:pt x="449916" y="53237"/>
                  </a:lnTo>
                  <a:lnTo>
                    <a:pt x="396507" y="65050"/>
                  </a:lnTo>
                  <a:lnTo>
                    <a:pt x="333576" y="72676"/>
                  </a:lnTo>
                  <a:lnTo>
                    <a:pt x="263687" y="75380"/>
                  </a:lnTo>
                  <a:close/>
                </a:path>
              </a:pathLst>
            </a:custGeom>
            <a:ln w="1098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240029" marR="118745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Series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one</a:t>
            </a:r>
            <a:r>
              <a:rPr dirty="0" spc="-55"/>
              <a:t> </a:t>
            </a:r>
            <a:r>
              <a:rPr dirty="0"/>
              <a:t>or</a:t>
            </a:r>
            <a:r>
              <a:rPr dirty="0" spc="-55"/>
              <a:t> </a:t>
            </a:r>
            <a:r>
              <a:rPr dirty="0"/>
              <a:t>more</a:t>
            </a:r>
            <a:r>
              <a:rPr dirty="0" spc="-45"/>
              <a:t> </a:t>
            </a:r>
            <a:r>
              <a:rPr dirty="0"/>
              <a:t>SQL</a:t>
            </a:r>
            <a:r>
              <a:rPr dirty="0" spc="-50"/>
              <a:t> </a:t>
            </a:r>
            <a:r>
              <a:rPr dirty="0" spc="-20"/>
              <a:t>statements</a:t>
            </a:r>
            <a:r>
              <a:rPr dirty="0" spc="-35"/>
              <a:t> </a:t>
            </a:r>
            <a:r>
              <a:rPr dirty="0"/>
              <a:t>that</a:t>
            </a:r>
            <a:r>
              <a:rPr dirty="0" spc="-45"/>
              <a:t> </a:t>
            </a:r>
            <a:r>
              <a:rPr dirty="0"/>
              <a:t>are</a:t>
            </a:r>
            <a:r>
              <a:rPr dirty="0" spc="-50"/>
              <a:t> </a:t>
            </a:r>
            <a:r>
              <a:rPr dirty="0"/>
              <a:t>logically</a:t>
            </a:r>
            <a:r>
              <a:rPr dirty="0" spc="-55"/>
              <a:t> </a:t>
            </a:r>
            <a:r>
              <a:rPr dirty="0" spc="-10"/>
              <a:t>related</a:t>
            </a:r>
            <a:r>
              <a:rPr dirty="0" spc="-70"/>
              <a:t> </a:t>
            </a:r>
            <a:r>
              <a:rPr dirty="0"/>
              <a:t>or</a:t>
            </a:r>
            <a:r>
              <a:rPr dirty="0" spc="-55"/>
              <a:t> </a:t>
            </a:r>
            <a:r>
              <a:rPr dirty="0" spc="-50"/>
              <a:t>a </a:t>
            </a:r>
            <a:r>
              <a:rPr dirty="0" spc="-50"/>
              <a:t>	</a:t>
            </a:r>
            <a:r>
              <a:rPr dirty="0"/>
              <a:t>series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 spc="-10"/>
              <a:t>operations</a:t>
            </a:r>
            <a:r>
              <a:rPr dirty="0" spc="-50"/>
              <a:t> </a:t>
            </a:r>
            <a:r>
              <a:rPr dirty="0" spc="-10"/>
              <a:t>performed</a:t>
            </a:r>
            <a:r>
              <a:rPr dirty="0" spc="-60"/>
              <a:t> </a:t>
            </a:r>
            <a:r>
              <a:rPr dirty="0"/>
              <a:t>on</a:t>
            </a:r>
            <a:r>
              <a:rPr dirty="0" spc="-65"/>
              <a:t> </a:t>
            </a:r>
            <a:r>
              <a:rPr dirty="0"/>
              <a:t>Oracle</a:t>
            </a:r>
            <a:r>
              <a:rPr dirty="0" spc="-70"/>
              <a:t> </a:t>
            </a:r>
            <a:r>
              <a:rPr dirty="0"/>
              <a:t>table</a:t>
            </a:r>
            <a:r>
              <a:rPr dirty="0" spc="-70"/>
              <a:t> </a:t>
            </a:r>
            <a:r>
              <a:rPr dirty="0"/>
              <a:t>data</a:t>
            </a:r>
            <a:r>
              <a:rPr dirty="0" spc="-55"/>
              <a:t> </a:t>
            </a:r>
            <a:r>
              <a:rPr dirty="0"/>
              <a:t>is</a:t>
            </a:r>
            <a:r>
              <a:rPr dirty="0" spc="-70"/>
              <a:t> </a:t>
            </a:r>
            <a:r>
              <a:rPr dirty="0"/>
              <a:t>termed</a:t>
            </a:r>
            <a:r>
              <a:rPr dirty="0" spc="-70"/>
              <a:t> </a:t>
            </a:r>
            <a:r>
              <a:rPr dirty="0" spc="-25"/>
              <a:t>as </a:t>
            </a:r>
            <a:r>
              <a:rPr dirty="0" spc="-25"/>
              <a:t>	</a:t>
            </a:r>
            <a:r>
              <a:rPr dirty="0" spc="-10"/>
              <a:t>Transaction.</a:t>
            </a:r>
          </a:p>
          <a:p>
            <a:pPr marL="240029" marR="5080" indent="-227965">
              <a:lnSpc>
                <a:spcPts val="302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Oracle</a:t>
            </a:r>
            <a:r>
              <a:rPr dirty="0" spc="-65"/>
              <a:t> </a:t>
            </a:r>
            <a:r>
              <a:rPr dirty="0"/>
              <a:t>treats</a:t>
            </a:r>
            <a:r>
              <a:rPr dirty="0" spc="-65"/>
              <a:t> </a:t>
            </a:r>
            <a:r>
              <a:rPr dirty="0"/>
              <a:t>this</a:t>
            </a:r>
            <a:r>
              <a:rPr dirty="0" spc="-45"/>
              <a:t> </a:t>
            </a:r>
            <a:r>
              <a:rPr dirty="0"/>
              <a:t>logical</a:t>
            </a:r>
            <a:r>
              <a:rPr dirty="0" spc="-75"/>
              <a:t> </a:t>
            </a:r>
            <a:r>
              <a:rPr dirty="0"/>
              <a:t>unit</a:t>
            </a:r>
            <a:r>
              <a:rPr dirty="0" spc="-30"/>
              <a:t> </a:t>
            </a:r>
            <a:r>
              <a:rPr dirty="0"/>
              <a:t>as</a:t>
            </a:r>
            <a:r>
              <a:rPr dirty="0" spc="-70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/>
              <a:t>single</a:t>
            </a:r>
            <a:r>
              <a:rPr dirty="0" spc="-60"/>
              <a:t> </a:t>
            </a:r>
            <a:r>
              <a:rPr dirty="0"/>
              <a:t>entity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/>
              <a:t>changes</a:t>
            </a:r>
            <a:r>
              <a:rPr dirty="0" spc="-60"/>
              <a:t> </a:t>
            </a:r>
            <a:r>
              <a:rPr dirty="0"/>
              <a:t>made</a:t>
            </a:r>
            <a:r>
              <a:rPr dirty="0" spc="-50"/>
              <a:t> </a:t>
            </a:r>
            <a:r>
              <a:rPr dirty="0" spc="-25"/>
              <a:t>to </a:t>
            </a:r>
            <a:r>
              <a:rPr dirty="0" spc="-25"/>
              <a:t>	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table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 spc="-25"/>
              <a:t>two-</a:t>
            </a:r>
            <a:r>
              <a:rPr dirty="0"/>
              <a:t>step</a:t>
            </a:r>
            <a:r>
              <a:rPr dirty="0" spc="-25"/>
              <a:t> </a:t>
            </a:r>
            <a:r>
              <a:rPr dirty="0" spc="-10"/>
              <a:t>process.</a:t>
            </a:r>
          </a:p>
          <a:p>
            <a:pPr lvl="1" marL="697230" indent="-227329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changes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requested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done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1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make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changes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permanent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COMMIT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statement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given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1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undo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reverse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changes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ROLLBACK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statement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given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2707" rIns="0" bIns="0" rtlCol="0" vert="horz">
            <a:spAutoFit/>
          </a:bodyPr>
          <a:lstStyle/>
          <a:p>
            <a:pPr marL="1087755">
              <a:lnSpc>
                <a:spcPct val="100000"/>
              </a:lnSpc>
              <a:spcBef>
                <a:spcPts val="100"/>
              </a:spcBef>
            </a:pPr>
            <a:r>
              <a:rPr dirty="0" sz="5400"/>
              <a:t>Closing</a:t>
            </a:r>
            <a:r>
              <a:rPr dirty="0" sz="5400" spc="-35"/>
              <a:t> </a:t>
            </a:r>
            <a:r>
              <a:rPr dirty="0" sz="5400" spc="-40"/>
              <a:t>Transactions</a:t>
            </a:r>
            <a:endParaRPr sz="5400"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127000"/>
          </a:xfrm>
          <a:custGeom>
            <a:avLst/>
            <a:gdLst/>
            <a:ahLst/>
            <a:cxnLst/>
            <a:rect l="l" t="t" r="r" b="b"/>
            <a:pathLst>
              <a:path w="12192000" h="127000">
                <a:moveTo>
                  <a:pt x="12192000" y="0"/>
                </a:moveTo>
                <a:lnTo>
                  <a:pt x="0" y="0"/>
                </a:lnTo>
                <a:lnTo>
                  <a:pt x="0" y="126492"/>
                </a:lnTo>
                <a:lnTo>
                  <a:pt x="12192000" y="126492"/>
                </a:lnTo>
                <a:lnTo>
                  <a:pt x="1219200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877044" y="711820"/>
            <a:ext cx="840105" cy="633730"/>
            <a:chOff x="877044" y="711820"/>
            <a:chExt cx="840105" cy="633730"/>
          </a:xfrm>
        </p:grpSpPr>
        <p:sp>
          <p:nvSpPr>
            <p:cNvPr id="5" name="object 5"/>
            <p:cNvSpPr/>
            <p:nvPr/>
          </p:nvSpPr>
          <p:spPr>
            <a:xfrm>
              <a:off x="882540" y="1020235"/>
              <a:ext cx="829310" cy="320040"/>
            </a:xfrm>
            <a:custGeom>
              <a:avLst/>
              <a:gdLst/>
              <a:ahLst/>
              <a:cxnLst/>
              <a:rect l="l" t="t" r="r" b="b"/>
              <a:pathLst>
                <a:path w="829310" h="320040">
                  <a:moveTo>
                    <a:pt x="669339" y="0"/>
                  </a:moveTo>
                  <a:lnTo>
                    <a:pt x="659151" y="1896"/>
                  </a:lnTo>
                  <a:lnTo>
                    <a:pt x="650083" y="7585"/>
                  </a:lnTo>
                  <a:lnTo>
                    <a:pt x="643550" y="16709"/>
                  </a:lnTo>
                  <a:lnTo>
                    <a:pt x="641107" y="27266"/>
                  </a:lnTo>
                  <a:lnTo>
                    <a:pt x="642799" y="37970"/>
                  </a:lnTo>
                  <a:lnTo>
                    <a:pt x="648670" y="47536"/>
                  </a:lnTo>
                  <a:lnTo>
                    <a:pt x="732297" y="131209"/>
                  </a:lnTo>
                  <a:lnTo>
                    <a:pt x="28252" y="131209"/>
                  </a:lnTo>
                  <a:lnTo>
                    <a:pt x="17255" y="133431"/>
                  </a:lnTo>
                  <a:lnTo>
                    <a:pt x="8274" y="139489"/>
                  </a:lnTo>
                  <a:lnTo>
                    <a:pt x="2220" y="148474"/>
                  </a:lnTo>
                  <a:lnTo>
                    <a:pt x="0" y="159477"/>
                  </a:lnTo>
                  <a:lnTo>
                    <a:pt x="2220" y="170479"/>
                  </a:lnTo>
                  <a:lnTo>
                    <a:pt x="8274" y="179464"/>
                  </a:lnTo>
                  <a:lnTo>
                    <a:pt x="17255" y="185523"/>
                  </a:lnTo>
                  <a:lnTo>
                    <a:pt x="28252" y="187745"/>
                  </a:lnTo>
                  <a:lnTo>
                    <a:pt x="732297" y="187745"/>
                  </a:lnTo>
                  <a:lnTo>
                    <a:pt x="648670" y="271417"/>
                  </a:lnTo>
                  <a:lnTo>
                    <a:pt x="642473" y="280765"/>
                  </a:lnTo>
                  <a:lnTo>
                    <a:pt x="640407" y="291393"/>
                  </a:lnTo>
                  <a:lnTo>
                    <a:pt x="642473" y="302021"/>
                  </a:lnTo>
                  <a:lnTo>
                    <a:pt x="648670" y="311369"/>
                  </a:lnTo>
                  <a:lnTo>
                    <a:pt x="658013" y="317570"/>
                  </a:lnTo>
                  <a:lnTo>
                    <a:pt x="668635" y="319637"/>
                  </a:lnTo>
                  <a:lnTo>
                    <a:pt x="679258" y="317570"/>
                  </a:lnTo>
                  <a:lnTo>
                    <a:pt x="688600" y="311369"/>
                  </a:lnTo>
                  <a:lnTo>
                    <a:pt x="820412" y="179453"/>
                  </a:lnTo>
                  <a:lnTo>
                    <a:pt x="826637" y="170105"/>
                  </a:lnTo>
                  <a:lnTo>
                    <a:pt x="828712" y="159477"/>
                  </a:lnTo>
                  <a:lnTo>
                    <a:pt x="826637" y="148848"/>
                  </a:lnTo>
                  <a:lnTo>
                    <a:pt x="820412" y="139501"/>
                  </a:lnTo>
                  <a:lnTo>
                    <a:pt x="688600" y="7585"/>
                  </a:lnTo>
                  <a:lnTo>
                    <a:pt x="679528" y="1896"/>
                  </a:lnTo>
                  <a:lnTo>
                    <a:pt x="66933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82540" y="1020235"/>
              <a:ext cx="829310" cy="320040"/>
            </a:xfrm>
            <a:custGeom>
              <a:avLst/>
              <a:gdLst/>
              <a:ahLst/>
              <a:cxnLst/>
              <a:rect l="l" t="t" r="r" b="b"/>
              <a:pathLst>
                <a:path w="829310" h="320040">
                  <a:moveTo>
                    <a:pt x="28252" y="131209"/>
                  </a:moveTo>
                  <a:lnTo>
                    <a:pt x="732297" y="131209"/>
                  </a:lnTo>
                  <a:lnTo>
                    <a:pt x="648670" y="47536"/>
                  </a:lnTo>
                  <a:lnTo>
                    <a:pt x="642799" y="37970"/>
                  </a:lnTo>
                  <a:lnTo>
                    <a:pt x="659151" y="1896"/>
                  </a:lnTo>
                  <a:lnTo>
                    <a:pt x="669339" y="0"/>
                  </a:lnTo>
                  <a:lnTo>
                    <a:pt x="679528" y="1896"/>
                  </a:lnTo>
                  <a:lnTo>
                    <a:pt x="688600" y="7585"/>
                  </a:lnTo>
                  <a:lnTo>
                    <a:pt x="820412" y="139501"/>
                  </a:lnTo>
                  <a:lnTo>
                    <a:pt x="826637" y="148848"/>
                  </a:lnTo>
                  <a:lnTo>
                    <a:pt x="828712" y="159477"/>
                  </a:lnTo>
                  <a:lnTo>
                    <a:pt x="826637" y="170105"/>
                  </a:lnTo>
                  <a:lnTo>
                    <a:pt x="820412" y="179453"/>
                  </a:lnTo>
                  <a:lnTo>
                    <a:pt x="688600" y="311369"/>
                  </a:lnTo>
                  <a:lnTo>
                    <a:pt x="679258" y="317570"/>
                  </a:lnTo>
                  <a:lnTo>
                    <a:pt x="668635" y="319637"/>
                  </a:lnTo>
                  <a:lnTo>
                    <a:pt x="658013" y="317570"/>
                  </a:lnTo>
                  <a:lnTo>
                    <a:pt x="648670" y="311369"/>
                  </a:lnTo>
                  <a:lnTo>
                    <a:pt x="642473" y="302021"/>
                  </a:lnTo>
                  <a:lnTo>
                    <a:pt x="640407" y="291393"/>
                  </a:lnTo>
                  <a:lnTo>
                    <a:pt x="642473" y="280765"/>
                  </a:lnTo>
                  <a:lnTo>
                    <a:pt x="648670" y="271417"/>
                  </a:lnTo>
                  <a:lnTo>
                    <a:pt x="732297" y="187745"/>
                  </a:lnTo>
                  <a:lnTo>
                    <a:pt x="28252" y="187745"/>
                  </a:lnTo>
                  <a:lnTo>
                    <a:pt x="17255" y="185523"/>
                  </a:lnTo>
                  <a:lnTo>
                    <a:pt x="8274" y="179464"/>
                  </a:lnTo>
                  <a:lnTo>
                    <a:pt x="2220" y="170479"/>
                  </a:lnTo>
                  <a:lnTo>
                    <a:pt x="0" y="159477"/>
                  </a:lnTo>
                  <a:lnTo>
                    <a:pt x="2220" y="148474"/>
                  </a:lnTo>
                  <a:lnTo>
                    <a:pt x="8274" y="139489"/>
                  </a:lnTo>
                  <a:lnTo>
                    <a:pt x="17255" y="133431"/>
                  </a:lnTo>
                  <a:lnTo>
                    <a:pt x="28252" y="131209"/>
                  </a:lnTo>
                  <a:close/>
                </a:path>
              </a:pathLst>
            </a:custGeom>
            <a:ln w="109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82564" y="717316"/>
              <a:ext cx="829310" cy="321310"/>
            </a:xfrm>
            <a:custGeom>
              <a:avLst/>
              <a:gdLst/>
              <a:ahLst/>
              <a:cxnLst/>
              <a:rect l="l" t="t" r="r" b="b"/>
              <a:pathLst>
                <a:path w="829310" h="321309">
                  <a:moveTo>
                    <a:pt x="161772" y="0"/>
                  </a:moveTo>
                  <a:lnTo>
                    <a:pt x="8262" y="140897"/>
                  </a:lnTo>
                  <a:lnTo>
                    <a:pt x="0" y="160873"/>
                  </a:lnTo>
                  <a:lnTo>
                    <a:pt x="2065" y="171501"/>
                  </a:lnTo>
                  <a:lnTo>
                    <a:pt x="8262" y="180848"/>
                  </a:lnTo>
                  <a:lnTo>
                    <a:pt x="140106" y="312765"/>
                  </a:lnTo>
                  <a:lnTo>
                    <a:pt x="149448" y="318966"/>
                  </a:lnTo>
                  <a:lnTo>
                    <a:pt x="160071" y="321033"/>
                  </a:lnTo>
                  <a:lnTo>
                    <a:pt x="170693" y="318966"/>
                  </a:lnTo>
                  <a:lnTo>
                    <a:pt x="180036" y="312765"/>
                  </a:lnTo>
                  <a:lnTo>
                    <a:pt x="186233" y="303417"/>
                  </a:lnTo>
                  <a:lnTo>
                    <a:pt x="188299" y="292789"/>
                  </a:lnTo>
                  <a:lnTo>
                    <a:pt x="186233" y="282160"/>
                  </a:lnTo>
                  <a:lnTo>
                    <a:pt x="180036" y="272813"/>
                  </a:lnTo>
                  <a:lnTo>
                    <a:pt x="96409" y="189140"/>
                  </a:lnTo>
                  <a:lnTo>
                    <a:pt x="800454" y="189140"/>
                  </a:lnTo>
                  <a:lnTo>
                    <a:pt x="811457" y="186919"/>
                  </a:lnTo>
                  <a:lnTo>
                    <a:pt x="820437" y="180860"/>
                  </a:lnTo>
                  <a:lnTo>
                    <a:pt x="826488" y="171875"/>
                  </a:lnTo>
                  <a:lnTo>
                    <a:pt x="828706" y="160873"/>
                  </a:lnTo>
                  <a:lnTo>
                    <a:pt x="826488" y="149870"/>
                  </a:lnTo>
                  <a:lnTo>
                    <a:pt x="820437" y="140885"/>
                  </a:lnTo>
                  <a:lnTo>
                    <a:pt x="811457" y="134826"/>
                  </a:lnTo>
                  <a:lnTo>
                    <a:pt x="800454" y="132605"/>
                  </a:lnTo>
                  <a:lnTo>
                    <a:pt x="96409" y="132605"/>
                  </a:lnTo>
                  <a:lnTo>
                    <a:pt x="180036" y="48932"/>
                  </a:lnTo>
                  <a:lnTo>
                    <a:pt x="186569" y="39808"/>
                  </a:lnTo>
                  <a:lnTo>
                    <a:pt x="189012" y="29251"/>
                  </a:lnTo>
                  <a:lnTo>
                    <a:pt x="187319" y="18547"/>
                  </a:lnTo>
                  <a:lnTo>
                    <a:pt x="181448" y="8980"/>
                  </a:lnTo>
                  <a:lnTo>
                    <a:pt x="172324" y="2443"/>
                  </a:lnTo>
                  <a:lnTo>
                    <a:pt x="16177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82564" y="717316"/>
              <a:ext cx="829310" cy="321310"/>
            </a:xfrm>
            <a:custGeom>
              <a:avLst/>
              <a:gdLst/>
              <a:ahLst/>
              <a:cxnLst/>
              <a:rect l="l" t="t" r="r" b="b"/>
              <a:pathLst>
                <a:path w="829310" h="321309">
                  <a:moveTo>
                    <a:pt x="800454" y="132605"/>
                  </a:moveTo>
                  <a:lnTo>
                    <a:pt x="96409" y="132605"/>
                  </a:lnTo>
                  <a:lnTo>
                    <a:pt x="180036" y="48932"/>
                  </a:lnTo>
                  <a:lnTo>
                    <a:pt x="186569" y="39808"/>
                  </a:lnTo>
                  <a:lnTo>
                    <a:pt x="189012" y="29251"/>
                  </a:lnTo>
                  <a:lnTo>
                    <a:pt x="187319" y="18547"/>
                  </a:lnTo>
                  <a:lnTo>
                    <a:pt x="181448" y="8980"/>
                  </a:lnTo>
                  <a:lnTo>
                    <a:pt x="172324" y="2443"/>
                  </a:lnTo>
                  <a:lnTo>
                    <a:pt x="161772" y="0"/>
                  </a:lnTo>
                  <a:lnTo>
                    <a:pt x="151075" y="1693"/>
                  </a:lnTo>
                  <a:lnTo>
                    <a:pt x="141518" y="7567"/>
                  </a:lnTo>
                  <a:lnTo>
                    <a:pt x="141032" y="8022"/>
                  </a:lnTo>
                  <a:lnTo>
                    <a:pt x="140561" y="8494"/>
                  </a:lnTo>
                  <a:lnTo>
                    <a:pt x="140106" y="8980"/>
                  </a:lnTo>
                  <a:lnTo>
                    <a:pt x="8262" y="140897"/>
                  </a:lnTo>
                  <a:lnTo>
                    <a:pt x="2065" y="150244"/>
                  </a:lnTo>
                  <a:lnTo>
                    <a:pt x="0" y="160873"/>
                  </a:lnTo>
                  <a:lnTo>
                    <a:pt x="2065" y="171501"/>
                  </a:lnTo>
                  <a:lnTo>
                    <a:pt x="8262" y="180848"/>
                  </a:lnTo>
                  <a:lnTo>
                    <a:pt x="140106" y="312765"/>
                  </a:lnTo>
                  <a:lnTo>
                    <a:pt x="149448" y="318966"/>
                  </a:lnTo>
                  <a:lnTo>
                    <a:pt x="160071" y="321033"/>
                  </a:lnTo>
                  <a:lnTo>
                    <a:pt x="170693" y="318966"/>
                  </a:lnTo>
                  <a:lnTo>
                    <a:pt x="180036" y="312765"/>
                  </a:lnTo>
                  <a:lnTo>
                    <a:pt x="186233" y="303417"/>
                  </a:lnTo>
                  <a:lnTo>
                    <a:pt x="188299" y="292789"/>
                  </a:lnTo>
                  <a:lnTo>
                    <a:pt x="186233" y="282160"/>
                  </a:lnTo>
                  <a:lnTo>
                    <a:pt x="180036" y="272813"/>
                  </a:lnTo>
                  <a:lnTo>
                    <a:pt x="96409" y="189140"/>
                  </a:lnTo>
                  <a:lnTo>
                    <a:pt x="800454" y="189140"/>
                  </a:lnTo>
                  <a:lnTo>
                    <a:pt x="811457" y="186919"/>
                  </a:lnTo>
                  <a:lnTo>
                    <a:pt x="820437" y="180860"/>
                  </a:lnTo>
                  <a:lnTo>
                    <a:pt x="826488" y="171875"/>
                  </a:lnTo>
                  <a:lnTo>
                    <a:pt x="828706" y="160873"/>
                  </a:lnTo>
                  <a:lnTo>
                    <a:pt x="826488" y="149870"/>
                  </a:lnTo>
                  <a:lnTo>
                    <a:pt x="820437" y="140885"/>
                  </a:lnTo>
                  <a:lnTo>
                    <a:pt x="811457" y="134826"/>
                  </a:lnTo>
                  <a:lnTo>
                    <a:pt x="800454" y="132605"/>
                  </a:lnTo>
                  <a:close/>
                </a:path>
              </a:pathLst>
            </a:custGeom>
            <a:ln w="109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16939" y="1793493"/>
            <a:ext cx="10248265" cy="391858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250825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closed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using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either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COMMIT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ROLLBACK 	statement.</a:t>
            </a:r>
            <a:endParaRPr sz="2800">
              <a:latin typeface="Calibri"/>
              <a:cs typeface="Calibri"/>
            </a:endParaRPr>
          </a:p>
          <a:p>
            <a:pPr marL="240029" marR="1001394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using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these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statements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table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changed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changes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made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table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undone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COMMIT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ends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current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makes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permanent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any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changes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made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during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transaction.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transactional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locks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acquired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tables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released.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10">
                <a:latin typeface="Calibri"/>
                <a:cs typeface="Calibri"/>
              </a:rPr>
              <a:t>Syntax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44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0">
                <a:latin typeface="Calibri"/>
                <a:cs typeface="Calibri"/>
              </a:rPr>
              <a:t>COMMIT;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2707" rIns="0" bIns="0" rtlCol="0" vert="horz">
            <a:spAutoFit/>
          </a:bodyPr>
          <a:lstStyle/>
          <a:p>
            <a:pPr marL="1087755">
              <a:lnSpc>
                <a:spcPct val="100000"/>
              </a:lnSpc>
              <a:spcBef>
                <a:spcPts val="100"/>
              </a:spcBef>
            </a:pPr>
            <a:r>
              <a:rPr dirty="0" sz="5400"/>
              <a:t>Closing</a:t>
            </a:r>
            <a:r>
              <a:rPr dirty="0" sz="5400" spc="-120"/>
              <a:t> </a:t>
            </a:r>
            <a:r>
              <a:rPr dirty="0" sz="5400" spc="-30"/>
              <a:t>Transactions</a:t>
            </a:r>
            <a:r>
              <a:rPr dirty="0" sz="5400" spc="-110"/>
              <a:t> </a:t>
            </a:r>
            <a:r>
              <a:rPr dirty="0" sz="5400" spc="-10"/>
              <a:t>Contd..</a:t>
            </a:r>
            <a:endParaRPr sz="5400"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127000"/>
          </a:xfrm>
          <a:custGeom>
            <a:avLst/>
            <a:gdLst/>
            <a:ahLst/>
            <a:cxnLst/>
            <a:rect l="l" t="t" r="r" b="b"/>
            <a:pathLst>
              <a:path w="12192000" h="127000">
                <a:moveTo>
                  <a:pt x="12192000" y="0"/>
                </a:moveTo>
                <a:lnTo>
                  <a:pt x="0" y="0"/>
                </a:lnTo>
                <a:lnTo>
                  <a:pt x="0" y="126492"/>
                </a:lnTo>
                <a:lnTo>
                  <a:pt x="12192000" y="126492"/>
                </a:lnTo>
                <a:lnTo>
                  <a:pt x="1219200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27724" y="679531"/>
            <a:ext cx="538480" cy="699135"/>
            <a:chOff x="1027724" y="679531"/>
            <a:chExt cx="538480" cy="699135"/>
          </a:xfrm>
        </p:grpSpPr>
        <p:sp>
          <p:nvSpPr>
            <p:cNvPr id="5" name="object 5"/>
            <p:cNvSpPr/>
            <p:nvPr/>
          </p:nvSpPr>
          <p:spPr>
            <a:xfrm>
              <a:off x="1033218" y="685026"/>
              <a:ext cx="527685" cy="688340"/>
            </a:xfrm>
            <a:custGeom>
              <a:avLst/>
              <a:gdLst/>
              <a:ahLst/>
              <a:cxnLst/>
              <a:rect l="l" t="t" r="r" b="b"/>
              <a:pathLst>
                <a:path w="527685" h="688340">
                  <a:moveTo>
                    <a:pt x="263687" y="0"/>
                  </a:moveTo>
                  <a:lnTo>
                    <a:pt x="218335" y="5225"/>
                  </a:lnTo>
                  <a:lnTo>
                    <a:pt x="176706" y="20108"/>
                  </a:lnTo>
                  <a:lnTo>
                    <a:pt x="139987" y="43464"/>
                  </a:lnTo>
                  <a:lnTo>
                    <a:pt x="109362" y="74106"/>
                  </a:lnTo>
                  <a:lnTo>
                    <a:pt x="86019" y="110845"/>
                  </a:lnTo>
                  <a:lnTo>
                    <a:pt x="71143" y="152497"/>
                  </a:lnTo>
                  <a:lnTo>
                    <a:pt x="65921" y="197874"/>
                  </a:lnTo>
                  <a:lnTo>
                    <a:pt x="65921" y="306234"/>
                  </a:lnTo>
                  <a:lnTo>
                    <a:pt x="0" y="310945"/>
                  </a:lnTo>
                  <a:lnTo>
                    <a:pt x="0" y="669003"/>
                  </a:lnTo>
                  <a:lnTo>
                    <a:pt x="263687" y="687848"/>
                  </a:lnTo>
                  <a:lnTo>
                    <a:pt x="527374" y="669003"/>
                  </a:lnTo>
                  <a:lnTo>
                    <a:pt x="527374" y="593622"/>
                  </a:lnTo>
                  <a:lnTo>
                    <a:pt x="244852" y="593622"/>
                  </a:lnTo>
                  <a:lnTo>
                    <a:pt x="244852" y="543683"/>
                  </a:lnTo>
                  <a:lnTo>
                    <a:pt x="229828" y="535688"/>
                  </a:lnTo>
                  <a:lnTo>
                    <a:pt x="217895" y="523542"/>
                  </a:lnTo>
                  <a:lnTo>
                    <a:pt x="210022" y="508039"/>
                  </a:lnTo>
                  <a:lnTo>
                    <a:pt x="207182" y="489974"/>
                  </a:lnTo>
                  <a:lnTo>
                    <a:pt x="211641" y="468022"/>
                  </a:lnTo>
                  <a:lnTo>
                    <a:pt x="223781" y="450046"/>
                  </a:lnTo>
                  <a:lnTo>
                    <a:pt x="241747" y="437900"/>
                  </a:lnTo>
                  <a:lnTo>
                    <a:pt x="263687" y="433438"/>
                  </a:lnTo>
                  <a:lnTo>
                    <a:pt x="527374" y="433438"/>
                  </a:lnTo>
                  <a:lnTo>
                    <a:pt x="527374" y="310945"/>
                  </a:lnTo>
                  <a:lnTo>
                    <a:pt x="461452" y="306234"/>
                  </a:lnTo>
                  <a:lnTo>
                    <a:pt x="461452" y="302465"/>
                  </a:lnTo>
                  <a:lnTo>
                    <a:pt x="122426" y="302465"/>
                  </a:lnTo>
                  <a:lnTo>
                    <a:pt x="122426" y="197874"/>
                  </a:lnTo>
                  <a:lnTo>
                    <a:pt x="129613" y="153143"/>
                  </a:lnTo>
                  <a:lnTo>
                    <a:pt x="149638" y="114337"/>
                  </a:lnTo>
                  <a:lnTo>
                    <a:pt x="180196" y="83763"/>
                  </a:lnTo>
                  <a:lnTo>
                    <a:pt x="218981" y="63726"/>
                  </a:lnTo>
                  <a:lnTo>
                    <a:pt x="263687" y="56535"/>
                  </a:lnTo>
                  <a:lnTo>
                    <a:pt x="400451" y="56535"/>
                  </a:lnTo>
                  <a:lnTo>
                    <a:pt x="387387" y="43464"/>
                  </a:lnTo>
                  <a:lnTo>
                    <a:pt x="350667" y="20108"/>
                  </a:lnTo>
                  <a:lnTo>
                    <a:pt x="309039" y="5225"/>
                  </a:lnTo>
                  <a:lnTo>
                    <a:pt x="263687" y="0"/>
                  </a:lnTo>
                  <a:close/>
                </a:path>
                <a:path w="527685" h="688340">
                  <a:moveTo>
                    <a:pt x="527374" y="433438"/>
                  </a:moveTo>
                  <a:lnTo>
                    <a:pt x="263687" y="433438"/>
                  </a:lnTo>
                  <a:lnTo>
                    <a:pt x="285626" y="437900"/>
                  </a:lnTo>
                  <a:lnTo>
                    <a:pt x="303593" y="450046"/>
                  </a:lnTo>
                  <a:lnTo>
                    <a:pt x="315733" y="468022"/>
                  </a:lnTo>
                  <a:lnTo>
                    <a:pt x="320191" y="489974"/>
                  </a:lnTo>
                  <a:lnTo>
                    <a:pt x="317351" y="507509"/>
                  </a:lnTo>
                  <a:lnTo>
                    <a:pt x="309479" y="522835"/>
                  </a:lnTo>
                  <a:lnTo>
                    <a:pt x="297545" y="535158"/>
                  </a:lnTo>
                  <a:lnTo>
                    <a:pt x="282522" y="543683"/>
                  </a:lnTo>
                  <a:lnTo>
                    <a:pt x="282522" y="593622"/>
                  </a:lnTo>
                  <a:lnTo>
                    <a:pt x="527374" y="593622"/>
                  </a:lnTo>
                  <a:lnTo>
                    <a:pt x="527374" y="433438"/>
                  </a:lnTo>
                  <a:close/>
                </a:path>
                <a:path w="527685" h="688340">
                  <a:moveTo>
                    <a:pt x="263687" y="292100"/>
                  </a:moveTo>
                  <a:lnTo>
                    <a:pt x="122426" y="302465"/>
                  </a:lnTo>
                  <a:lnTo>
                    <a:pt x="404948" y="302465"/>
                  </a:lnTo>
                  <a:lnTo>
                    <a:pt x="263687" y="292100"/>
                  </a:lnTo>
                  <a:close/>
                </a:path>
                <a:path w="527685" h="688340">
                  <a:moveTo>
                    <a:pt x="400451" y="56535"/>
                  </a:moveTo>
                  <a:lnTo>
                    <a:pt x="263687" y="56535"/>
                  </a:lnTo>
                  <a:lnTo>
                    <a:pt x="308393" y="63726"/>
                  </a:lnTo>
                  <a:lnTo>
                    <a:pt x="347178" y="83763"/>
                  </a:lnTo>
                  <a:lnTo>
                    <a:pt x="377735" y="114337"/>
                  </a:lnTo>
                  <a:lnTo>
                    <a:pt x="397761" y="153143"/>
                  </a:lnTo>
                  <a:lnTo>
                    <a:pt x="404948" y="197874"/>
                  </a:lnTo>
                  <a:lnTo>
                    <a:pt x="404948" y="302465"/>
                  </a:lnTo>
                  <a:lnTo>
                    <a:pt x="461452" y="302465"/>
                  </a:lnTo>
                  <a:lnTo>
                    <a:pt x="461452" y="197874"/>
                  </a:lnTo>
                  <a:lnTo>
                    <a:pt x="456305" y="153143"/>
                  </a:lnTo>
                  <a:lnTo>
                    <a:pt x="456230" y="152497"/>
                  </a:lnTo>
                  <a:lnTo>
                    <a:pt x="441355" y="110845"/>
                  </a:lnTo>
                  <a:lnTo>
                    <a:pt x="418012" y="74106"/>
                  </a:lnTo>
                  <a:lnTo>
                    <a:pt x="400451" y="5653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4907" y="1112971"/>
              <a:ext cx="123997" cy="1711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33218" y="685026"/>
              <a:ext cx="527685" cy="688340"/>
            </a:xfrm>
            <a:custGeom>
              <a:avLst/>
              <a:gdLst/>
              <a:ahLst/>
              <a:cxnLst/>
              <a:rect l="l" t="t" r="r" b="b"/>
              <a:pathLst>
                <a:path w="527685" h="688340">
                  <a:moveTo>
                    <a:pt x="122426" y="197874"/>
                  </a:moveTo>
                  <a:lnTo>
                    <a:pt x="129613" y="153143"/>
                  </a:lnTo>
                  <a:lnTo>
                    <a:pt x="149638" y="114337"/>
                  </a:lnTo>
                  <a:lnTo>
                    <a:pt x="180196" y="83763"/>
                  </a:lnTo>
                  <a:lnTo>
                    <a:pt x="218981" y="63726"/>
                  </a:lnTo>
                  <a:lnTo>
                    <a:pt x="263687" y="56535"/>
                  </a:lnTo>
                  <a:lnTo>
                    <a:pt x="308393" y="63726"/>
                  </a:lnTo>
                  <a:lnTo>
                    <a:pt x="347178" y="83763"/>
                  </a:lnTo>
                  <a:lnTo>
                    <a:pt x="377735" y="114337"/>
                  </a:lnTo>
                  <a:lnTo>
                    <a:pt x="397761" y="153143"/>
                  </a:lnTo>
                  <a:lnTo>
                    <a:pt x="404948" y="197874"/>
                  </a:lnTo>
                  <a:lnTo>
                    <a:pt x="404948" y="302465"/>
                  </a:lnTo>
                  <a:lnTo>
                    <a:pt x="263687" y="292100"/>
                  </a:lnTo>
                  <a:lnTo>
                    <a:pt x="122426" y="302465"/>
                  </a:lnTo>
                  <a:lnTo>
                    <a:pt x="122426" y="197874"/>
                  </a:lnTo>
                  <a:close/>
                </a:path>
                <a:path w="527685" h="688340">
                  <a:moveTo>
                    <a:pt x="461452" y="306234"/>
                  </a:moveTo>
                  <a:lnTo>
                    <a:pt x="461452" y="197874"/>
                  </a:lnTo>
                  <a:lnTo>
                    <a:pt x="456230" y="152497"/>
                  </a:lnTo>
                  <a:lnTo>
                    <a:pt x="441355" y="110845"/>
                  </a:lnTo>
                  <a:lnTo>
                    <a:pt x="418012" y="74106"/>
                  </a:lnTo>
                  <a:lnTo>
                    <a:pt x="387387" y="43464"/>
                  </a:lnTo>
                  <a:lnTo>
                    <a:pt x="350667" y="20108"/>
                  </a:lnTo>
                  <a:lnTo>
                    <a:pt x="309039" y="5225"/>
                  </a:lnTo>
                  <a:lnTo>
                    <a:pt x="263687" y="0"/>
                  </a:lnTo>
                  <a:lnTo>
                    <a:pt x="218335" y="5225"/>
                  </a:lnTo>
                  <a:lnTo>
                    <a:pt x="176706" y="20108"/>
                  </a:lnTo>
                  <a:lnTo>
                    <a:pt x="139987" y="43464"/>
                  </a:lnTo>
                  <a:lnTo>
                    <a:pt x="109362" y="74106"/>
                  </a:lnTo>
                  <a:lnTo>
                    <a:pt x="86019" y="110845"/>
                  </a:lnTo>
                  <a:lnTo>
                    <a:pt x="71143" y="152497"/>
                  </a:lnTo>
                  <a:lnTo>
                    <a:pt x="65921" y="197874"/>
                  </a:lnTo>
                  <a:lnTo>
                    <a:pt x="65921" y="306234"/>
                  </a:lnTo>
                  <a:lnTo>
                    <a:pt x="0" y="310945"/>
                  </a:lnTo>
                  <a:lnTo>
                    <a:pt x="0" y="669003"/>
                  </a:lnTo>
                  <a:lnTo>
                    <a:pt x="263687" y="687848"/>
                  </a:lnTo>
                  <a:lnTo>
                    <a:pt x="527374" y="669003"/>
                  </a:lnTo>
                  <a:lnTo>
                    <a:pt x="527374" y="310945"/>
                  </a:lnTo>
                  <a:lnTo>
                    <a:pt x="461452" y="306234"/>
                  </a:lnTo>
                  <a:close/>
                </a:path>
              </a:pathLst>
            </a:custGeom>
            <a:ln w="1098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16939" y="1793493"/>
            <a:ext cx="10171430" cy="324358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just"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ROLLBACK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does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exactly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opposite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40">
                <a:latin typeface="Calibri"/>
                <a:cs typeface="Calibri"/>
              </a:rPr>
              <a:t>COMMIT.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ends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but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undoes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any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changes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made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during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transaction.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locks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acquired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tables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released.</a:t>
            </a:r>
            <a:endParaRPr sz="2800">
              <a:latin typeface="Calibri"/>
              <a:cs typeface="Calibri"/>
            </a:endParaRPr>
          </a:p>
          <a:p>
            <a:pPr algn="just" marL="240665" indent="-22796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10">
                <a:latin typeface="Calibri"/>
                <a:cs typeface="Calibri"/>
              </a:rPr>
              <a:t>Syntax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ROLLBACK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[TO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[SAVEPOINT]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&lt;Save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Point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Name&gt;];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ts val="2735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0">
                <a:latin typeface="Calibri"/>
                <a:cs typeface="Calibri"/>
              </a:rPr>
              <a:t>SAVEPOINT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optional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rollback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partially,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far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specified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save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point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Save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Point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save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point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created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during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current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transaction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2707" rIns="0" bIns="0" rtlCol="0" vert="horz">
            <a:spAutoFit/>
          </a:bodyPr>
          <a:lstStyle/>
          <a:p>
            <a:pPr marL="1087755">
              <a:lnSpc>
                <a:spcPct val="100000"/>
              </a:lnSpc>
              <a:spcBef>
                <a:spcPts val="100"/>
              </a:spcBef>
            </a:pPr>
            <a:r>
              <a:rPr dirty="0" sz="5400"/>
              <a:t>Closing</a:t>
            </a:r>
            <a:r>
              <a:rPr dirty="0" sz="5400" spc="-120"/>
              <a:t> </a:t>
            </a:r>
            <a:r>
              <a:rPr dirty="0" sz="5400" spc="-30"/>
              <a:t>Transactions</a:t>
            </a:r>
            <a:r>
              <a:rPr dirty="0" sz="5400" spc="-110"/>
              <a:t> </a:t>
            </a:r>
            <a:r>
              <a:rPr dirty="0" sz="5400" spc="-10"/>
              <a:t>Contd..</a:t>
            </a:r>
            <a:endParaRPr sz="5400"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127000"/>
          </a:xfrm>
          <a:custGeom>
            <a:avLst/>
            <a:gdLst/>
            <a:ahLst/>
            <a:cxnLst/>
            <a:rect l="l" t="t" r="r" b="b"/>
            <a:pathLst>
              <a:path w="12192000" h="127000">
                <a:moveTo>
                  <a:pt x="12192000" y="0"/>
                </a:moveTo>
                <a:lnTo>
                  <a:pt x="0" y="0"/>
                </a:lnTo>
                <a:lnTo>
                  <a:pt x="0" y="126492"/>
                </a:lnTo>
                <a:lnTo>
                  <a:pt x="12192000" y="126492"/>
                </a:lnTo>
                <a:lnTo>
                  <a:pt x="1219200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914714" y="759623"/>
            <a:ext cx="764540" cy="539115"/>
            <a:chOff x="914714" y="759623"/>
            <a:chExt cx="764540" cy="539115"/>
          </a:xfrm>
        </p:grpSpPr>
        <p:sp>
          <p:nvSpPr>
            <p:cNvPr id="5" name="object 5"/>
            <p:cNvSpPr/>
            <p:nvPr/>
          </p:nvSpPr>
          <p:spPr>
            <a:xfrm>
              <a:off x="920209" y="765118"/>
              <a:ext cx="753745" cy="527685"/>
            </a:xfrm>
            <a:custGeom>
              <a:avLst/>
              <a:gdLst/>
              <a:ahLst/>
              <a:cxnLst/>
              <a:rect l="l" t="t" r="r" b="b"/>
              <a:pathLst>
                <a:path w="753744" h="527685">
                  <a:moveTo>
                    <a:pt x="715722" y="0"/>
                  </a:moveTo>
                  <a:lnTo>
                    <a:pt x="37669" y="0"/>
                  </a:lnTo>
                  <a:lnTo>
                    <a:pt x="23043" y="2974"/>
                  </a:lnTo>
                  <a:lnTo>
                    <a:pt x="11065" y="11071"/>
                  </a:lnTo>
                  <a:lnTo>
                    <a:pt x="2972" y="23055"/>
                  </a:lnTo>
                  <a:lnTo>
                    <a:pt x="0" y="37690"/>
                  </a:lnTo>
                  <a:lnTo>
                    <a:pt x="0" y="489974"/>
                  </a:lnTo>
                  <a:lnTo>
                    <a:pt x="2972" y="504608"/>
                  </a:lnTo>
                  <a:lnTo>
                    <a:pt x="11065" y="516593"/>
                  </a:lnTo>
                  <a:lnTo>
                    <a:pt x="23043" y="524690"/>
                  </a:lnTo>
                  <a:lnTo>
                    <a:pt x="37669" y="527664"/>
                  </a:lnTo>
                  <a:lnTo>
                    <a:pt x="715722" y="527664"/>
                  </a:lnTo>
                  <a:lnTo>
                    <a:pt x="730349" y="524690"/>
                  </a:lnTo>
                  <a:lnTo>
                    <a:pt x="742326" y="516593"/>
                  </a:lnTo>
                  <a:lnTo>
                    <a:pt x="750420" y="504608"/>
                  </a:lnTo>
                  <a:lnTo>
                    <a:pt x="753392" y="489974"/>
                  </a:lnTo>
                  <a:lnTo>
                    <a:pt x="753392" y="471129"/>
                  </a:lnTo>
                  <a:lnTo>
                    <a:pt x="56504" y="471129"/>
                  </a:lnTo>
                  <a:lnTo>
                    <a:pt x="56504" y="320367"/>
                  </a:lnTo>
                  <a:lnTo>
                    <a:pt x="753392" y="320367"/>
                  </a:lnTo>
                  <a:lnTo>
                    <a:pt x="753392" y="207296"/>
                  </a:lnTo>
                  <a:lnTo>
                    <a:pt x="56504" y="207296"/>
                  </a:lnTo>
                  <a:lnTo>
                    <a:pt x="56504" y="56535"/>
                  </a:lnTo>
                  <a:lnTo>
                    <a:pt x="753392" y="56535"/>
                  </a:lnTo>
                  <a:lnTo>
                    <a:pt x="753392" y="37690"/>
                  </a:lnTo>
                  <a:lnTo>
                    <a:pt x="750420" y="23055"/>
                  </a:lnTo>
                  <a:lnTo>
                    <a:pt x="742326" y="11071"/>
                  </a:lnTo>
                  <a:lnTo>
                    <a:pt x="730349" y="2974"/>
                  </a:lnTo>
                  <a:lnTo>
                    <a:pt x="715722" y="0"/>
                  </a:lnTo>
                  <a:close/>
                </a:path>
                <a:path w="753744" h="527685">
                  <a:moveTo>
                    <a:pt x="753392" y="320367"/>
                  </a:moveTo>
                  <a:lnTo>
                    <a:pt x="696888" y="320367"/>
                  </a:lnTo>
                  <a:lnTo>
                    <a:pt x="696888" y="471129"/>
                  </a:lnTo>
                  <a:lnTo>
                    <a:pt x="753392" y="471129"/>
                  </a:lnTo>
                  <a:lnTo>
                    <a:pt x="753392" y="320367"/>
                  </a:lnTo>
                  <a:close/>
                </a:path>
                <a:path w="753744" h="527685">
                  <a:moveTo>
                    <a:pt x="753392" y="56535"/>
                  </a:moveTo>
                  <a:lnTo>
                    <a:pt x="696888" y="56535"/>
                  </a:lnTo>
                  <a:lnTo>
                    <a:pt x="696888" y="207296"/>
                  </a:lnTo>
                  <a:lnTo>
                    <a:pt x="753392" y="207296"/>
                  </a:lnTo>
                  <a:lnTo>
                    <a:pt x="753392" y="5653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20209" y="765118"/>
              <a:ext cx="753745" cy="527685"/>
            </a:xfrm>
            <a:custGeom>
              <a:avLst/>
              <a:gdLst/>
              <a:ahLst/>
              <a:cxnLst/>
              <a:rect l="l" t="t" r="r" b="b"/>
              <a:pathLst>
                <a:path w="753744" h="527685">
                  <a:moveTo>
                    <a:pt x="696888" y="207296"/>
                  </a:moveTo>
                  <a:lnTo>
                    <a:pt x="56504" y="207296"/>
                  </a:lnTo>
                  <a:lnTo>
                    <a:pt x="56504" y="56535"/>
                  </a:lnTo>
                  <a:lnTo>
                    <a:pt x="696888" y="56535"/>
                  </a:lnTo>
                  <a:lnTo>
                    <a:pt x="696888" y="207296"/>
                  </a:lnTo>
                  <a:close/>
                </a:path>
                <a:path w="753744" h="527685">
                  <a:moveTo>
                    <a:pt x="696888" y="471129"/>
                  </a:moveTo>
                  <a:lnTo>
                    <a:pt x="56504" y="471129"/>
                  </a:lnTo>
                  <a:lnTo>
                    <a:pt x="56504" y="320367"/>
                  </a:lnTo>
                  <a:lnTo>
                    <a:pt x="696888" y="320367"/>
                  </a:lnTo>
                  <a:lnTo>
                    <a:pt x="696888" y="471129"/>
                  </a:lnTo>
                  <a:close/>
                </a:path>
                <a:path w="753744" h="527685">
                  <a:moveTo>
                    <a:pt x="715722" y="0"/>
                  </a:moveTo>
                  <a:lnTo>
                    <a:pt x="37669" y="0"/>
                  </a:lnTo>
                  <a:lnTo>
                    <a:pt x="23043" y="2974"/>
                  </a:lnTo>
                  <a:lnTo>
                    <a:pt x="11065" y="11071"/>
                  </a:lnTo>
                  <a:lnTo>
                    <a:pt x="2972" y="23055"/>
                  </a:lnTo>
                  <a:lnTo>
                    <a:pt x="0" y="37690"/>
                  </a:lnTo>
                  <a:lnTo>
                    <a:pt x="0" y="489974"/>
                  </a:lnTo>
                  <a:lnTo>
                    <a:pt x="2972" y="504608"/>
                  </a:lnTo>
                  <a:lnTo>
                    <a:pt x="11065" y="516593"/>
                  </a:lnTo>
                  <a:lnTo>
                    <a:pt x="23043" y="524690"/>
                  </a:lnTo>
                  <a:lnTo>
                    <a:pt x="37669" y="527664"/>
                  </a:lnTo>
                  <a:lnTo>
                    <a:pt x="715722" y="527664"/>
                  </a:lnTo>
                  <a:lnTo>
                    <a:pt x="730349" y="524690"/>
                  </a:lnTo>
                  <a:lnTo>
                    <a:pt x="742326" y="516593"/>
                  </a:lnTo>
                  <a:lnTo>
                    <a:pt x="750420" y="504608"/>
                  </a:lnTo>
                  <a:lnTo>
                    <a:pt x="753392" y="489974"/>
                  </a:lnTo>
                  <a:lnTo>
                    <a:pt x="753392" y="37690"/>
                  </a:lnTo>
                  <a:lnTo>
                    <a:pt x="750420" y="23055"/>
                  </a:lnTo>
                  <a:lnTo>
                    <a:pt x="742326" y="11071"/>
                  </a:lnTo>
                  <a:lnTo>
                    <a:pt x="730349" y="2974"/>
                  </a:lnTo>
                  <a:lnTo>
                    <a:pt x="715722" y="0"/>
                  </a:lnTo>
                  <a:close/>
                </a:path>
              </a:pathLst>
            </a:custGeom>
            <a:ln w="1098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33218" y="1142022"/>
              <a:ext cx="151130" cy="38100"/>
            </a:xfrm>
            <a:custGeom>
              <a:avLst/>
              <a:gdLst/>
              <a:ahLst/>
              <a:cxnLst/>
              <a:rect l="l" t="t" r="r" b="b"/>
              <a:pathLst>
                <a:path w="151130" h="38100">
                  <a:moveTo>
                    <a:pt x="150678" y="0"/>
                  </a:moveTo>
                  <a:lnTo>
                    <a:pt x="0" y="0"/>
                  </a:lnTo>
                  <a:lnTo>
                    <a:pt x="0" y="37690"/>
                  </a:lnTo>
                  <a:lnTo>
                    <a:pt x="150678" y="37690"/>
                  </a:lnTo>
                  <a:lnTo>
                    <a:pt x="15067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33218" y="1142022"/>
              <a:ext cx="151130" cy="38100"/>
            </a:xfrm>
            <a:custGeom>
              <a:avLst/>
              <a:gdLst/>
              <a:ahLst/>
              <a:cxnLst/>
              <a:rect l="l" t="t" r="r" b="b"/>
              <a:pathLst>
                <a:path w="151130" h="38100">
                  <a:moveTo>
                    <a:pt x="0" y="37690"/>
                  </a:moveTo>
                  <a:lnTo>
                    <a:pt x="150678" y="37690"/>
                  </a:lnTo>
                  <a:lnTo>
                    <a:pt x="150678" y="0"/>
                  </a:lnTo>
                  <a:lnTo>
                    <a:pt x="0" y="0"/>
                  </a:lnTo>
                  <a:lnTo>
                    <a:pt x="0" y="37690"/>
                  </a:lnTo>
                  <a:close/>
                </a:path>
              </a:pathLst>
            </a:custGeom>
            <a:ln w="109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21566" y="1142022"/>
              <a:ext cx="75565" cy="38100"/>
            </a:xfrm>
            <a:custGeom>
              <a:avLst/>
              <a:gdLst/>
              <a:ahLst/>
              <a:cxnLst/>
              <a:rect l="l" t="t" r="r" b="b"/>
              <a:pathLst>
                <a:path w="75565" h="38100">
                  <a:moveTo>
                    <a:pt x="75339" y="0"/>
                  </a:moveTo>
                  <a:lnTo>
                    <a:pt x="0" y="0"/>
                  </a:lnTo>
                  <a:lnTo>
                    <a:pt x="0" y="37690"/>
                  </a:lnTo>
                  <a:lnTo>
                    <a:pt x="75339" y="37690"/>
                  </a:lnTo>
                  <a:lnTo>
                    <a:pt x="7533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221566" y="1142022"/>
              <a:ext cx="75565" cy="38100"/>
            </a:xfrm>
            <a:custGeom>
              <a:avLst/>
              <a:gdLst/>
              <a:ahLst/>
              <a:cxnLst/>
              <a:rect l="l" t="t" r="r" b="b"/>
              <a:pathLst>
                <a:path w="75565" h="38100">
                  <a:moveTo>
                    <a:pt x="0" y="37690"/>
                  </a:moveTo>
                  <a:lnTo>
                    <a:pt x="75339" y="37690"/>
                  </a:lnTo>
                  <a:lnTo>
                    <a:pt x="75339" y="0"/>
                  </a:lnTo>
                  <a:lnTo>
                    <a:pt x="0" y="0"/>
                  </a:lnTo>
                  <a:lnTo>
                    <a:pt x="0" y="37690"/>
                  </a:lnTo>
                  <a:close/>
                </a:path>
              </a:pathLst>
            </a:custGeom>
            <a:ln w="10991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20"/>
              <a:t>SAVEPOINT</a:t>
            </a:r>
            <a:r>
              <a:rPr dirty="0" spc="-65"/>
              <a:t> </a:t>
            </a:r>
            <a:r>
              <a:rPr dirty="0"/>
              <a:t>marks</a:t>
            </a:r>
            <a:r>
              <a:rPr dirty="0" spc="-75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/>
              <a:t>saves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/>
              <a:t>current</a:t>
            </a:r>
            <a:r>
              <a:rPr dirty="0" spc="-65"/>
              <a:t> </a:t>
            </a:r>
            <a:r>
              <a:rPr dirty="0"/>
              <a:t>point</a:t>
            </a:r>
            <a:r>
              <a:rPr dirty="0" spc="-70"/>
              <a:t> </a:t>
            </a:r>
            <a:r>
              <a:rPr dirty="0"/>
              <a:t>in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/>
              <a:t>processing</a:t>
            </a:r>
            <a:r>
              <a:rPr dirty="0" spc="-55"/>
              <a:t> </a:t>
            </a:r>
            <a:r>
              <a:rPr dirty="0"/>
              <a:t>of</a:t>
            </a:r>
            <a:r>
              <a:rPr dirty="0" spc="-90"/>
              <a:t> </a:t>
            </a:r>
            <a:r>
              <a:rPr dirty="0" spc="-50"/>
              <a:t>a </a:t>
            </a:r>
            <a:r>
              <a:rPr dirty="0" spc="-50"/>
              <a:t>	</a:t>
            </a:r>
            <a:r>
              <a:rPr dirty="0" spc="-10"/>
              <a:t>transaction.</a:t>
            </a:r>
          </a:p>
          <a:p>
            <a:pPr marL="240029" marR="492125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When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70"/>
              <a:t> </a:t>
            </a:r>
            <a:r>
              <a:rPr dirty="0" spc="-20"/>
              <a:t>SAVEPOINT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65"/>
              <a:t> </a:t>
            </a:r>
            <a:r>
              <a:rPr dirty="0"/>
              <a:t>used</a:t>
            </a:r>
            <a:r>
              <a:rPr dirty="0" spc="-50"/>
              <a:t> </a:t>
            </a:r>
            <a:r>
              <a:rPr dirty="0"/>
              <a:t>with</a:t>
            </a:r>
            <a:r>
              <a:rPr dirty="0" spc="-65"/>
              <a:t> </a:t>
            </a:r>
            <a:r>
              <a:rPr dirty="0"/>
              <a:t>ROLLBACK</a:t>
            </a:r>
            <a:r>
              <a:rPr dirty="0" spc="-60"/>
              <a:t> </a:t>
            </a:r>
            <a:r>
              <a:rPr dirty="0" spc="-20"/>
              <a:t>statement,</a:t>
            </a:r>
            <a:r>
              <a:rPr dirty="0" spc="-60"/>
              <a:t> </a:t>
            </a:r>
            <a:r>
              <a:rPr dirty="0"/>
              <a:t>parts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-50"/>
              <a:t>a </a:t>
            </a:r>
            <a:r>
              <a:rPr dirty="0" spc="-50"/>
              <a:t>	</a:t>
            </a:r>
            <a:r>
              <a:rPr dirty="0" spc="-10"/>
              <a:t>transaction</a:t>
            </a:r>
            <a:r>
              <a:rPr dirty="0" spc="-60"/>
              <a:t> </a:t>
            </a:r>
            <a:r>
              <a:rPr dirty="0"/>
              <a:t>can</a:t>
            </a:r>
            <a:r>
              <a:rPr dirty="0" spc="-55"/>
              <a:t> </a:t>
            </a:r>
            <a:r>
              <a:rPr dirty="0"/>
              <a:t>be</a:t>
            </a:r>
            <a:r>
              <a:rPr dirty="0" spc="-65"/>
              <a:t> </a:t>
            </a:r>
            <a:r>
              <a:rPr dirty="0"/>
              <a:t>undone.</a:t>
            </a:r>
            <a:r>
              <a:rPr dirty="0" spc="-20"/>
              <a:t> </a:t>
            </a:r>
            <a:r>
              <a:rPr dirty="0"/>
              <a:t>An</a:t>
            </a:r>
            <a:r>
              <a:rPr dirty="0" spc="-50"/>
              <a:t> </a:t>
            </a:r>
            <a:r>
              <a:rPr dirty="0"/>
              <a:t>active</a:t>
            </a:r>
            <a:r>
              <a:rPr dirty="0" spc="-65"/>
              <a:t> </a:t>
            </a:r>
            <a:r>
              <a:rPr dirty="0" spc="-20"/>
              <a:t>SAVEPOINT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70"/>
              <a:t> </a:t>
            </a:r>
            <a:r>
              <a:rPr dirty="0"/>
              <a:t>one</a:t>
            </a:r>
            <a:r>
              <a:rPr dirty="0" spc="-65"/>
              <a:t> </a:t>
            </a:r>
            <a:r>
              <a:rPr dirty="0"/>
              <a:t>that</a:t>
            </a:r>
            <a:r>
              <a:rPr dirty="0" spc="-55"/>
              <a:t> </a:t>
            </a:r>
            <a:r>
              <a:rPr dirty="0" spc="-25"/>
              <a:t>is </a:t>
            </a:r>
            <a:r>
              <a:rPr dirty="0" spc="-25"/>
              <a:t>	</a:t>
            </a:r>
            <a:r>
              <a:rPr dirty="0"/>
              <a:t>specified</a:t>
            </a:r>
            <a:r>
              <a:rPr dirty="0" spc="-65"/>
              <a:t> </a:t>
            </a:r>
            <a:r>
              <a:rPr dirty="0"/>
              <a:t>since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/>
              <a:t>last</a:t>
            </a:r>
            <a:r>
              <a:rPr dirty="0" spc="-75"/>
              <a:t> </a:t>
            </a:r>
            <a:r>
              <a:rPr dirty="0"/>
              <a:t>COMMIT</a:t>
            </a:r>
            <a:r>
              <a:rPr dirty="0" spc="-70"/>
              <a:t> </a:t>
            </a:r>
            <a:r>
              <a:rPr dirty="0"/>
              <a:t>or</a:t>
            </a:r>
            <a:r>
              <a:rPr dirty="0" spc="-85"/>
              <a:t> </a:t>
            </a:r>
            <a:r>
              <a:rPr dirty="0" spc="-10"/>
              <a:t>ROLLBACK</a:t>
            </a:r>
          </a:p>
          <a:p>
            <a:pPr marL="240029" indent="-227329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pc="-10"/>
              <a:t>SYNTAX</a:t>
            </a:r>
          </a:p>
          <a:p>
            <a:pPr lvl="1" marL="697230" indent="-227329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0">
                <a:latin typeface="Calibri"/>
                <a:cs typeface="Calibri"/>
              </a:rPr>
              <a:t>SAVEPOINT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&lt;Save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Point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Name&gt;;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2172" y="546049"/>
            <a:ext cx="515874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Closing</a:t>
            </a:r>
            <a:r>
              <a:rPr dirty="0" sz="3600" spc="-120"/>
              <a:t> </a:t>
            </a:r>
            <a:r>
              <a:rPr dirty="0" sz="3600" spc="-30"/>
              <a:t>Transactions</a:t>
            </a:r>
            <a:r>
              <a:rPr dirty="0" sz="3600" spc="-90"/>
              <a:t> </a:t>
            </a:r>
            <a:r>
              <a:rPr dirty="0" sz="3600" spc="-10"/>
              <a:t>Contd..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22172" y="1192956"/>
            <a:ext cx="10613390" cy="513461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ROLLBACK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fired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SQL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prompt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without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SAVEPOINT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clause.</a:t>
            </a:r>
            <a:endParaRPr sz="2400">
              <a:latin typeface="Calibri"/>
              <a:cs typeface="Calibri"/>
            </a:endParaRPr>
          </a:p>
          <a:p>
            <a:pPr marL="240029" marR="363855" indent="-227965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ROLLBACK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operation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performed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without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SAVEPOINT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clause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amounts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following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Ends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transaction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Undoes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changes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current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transaction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Erases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savepoints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transaction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Releases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locks</a:t>
            </a:r>
            <a:endParaRPr sz="2400">
              <a:latin typeface="Calibri"/>
              <a:cs typeface="Calibri"/>
            </a:endParaRPr>
          </a:p>
          <a:p>
            <a:pPr marL="240029" marR="375285" indent="-227965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ROLLBACK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operation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performed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SAVEPOINT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clause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amounts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following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predetermined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portion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rolled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back</a:t>
            </a:r>
            <a:endParaRPr sz="2400">
              <a:latin typeface="Calibri"/>
              <a:cs typeface="Calibri"/>
            </a:endParaRPr>
          </a:p>
          <a:p>
            <a:pPr lvl="1" marL="696595" marR="413384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400" spc="-10">
                <a:latin typeface="Calibri"/>
                <a:cs typeface="Calibri"/>
              </a:rPr>
              <a:t>Retains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save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point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rolled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back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loses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those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created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after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named 	savepoint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0">
                <a:latin typeface="Calibri"/>
                <a:cs typeface="Calibri"/>
              </a:rPr>
              <a:t>Releases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transactional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were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acquired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since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savepoint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taken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85"/>
              </a:spcBef>
            </a:pPr>
            <a:endParaRPr sz="3800">
              <a:latin typeface="Times New Roman"/>
              <a:cs typeface="Times New Roman"/>
            </a:endParaRPr>
          </a:p>
          <a:p>
            <a:pPr algn="ctr" marL="39370">
              <a:lnSpc>
                <a:spcPct val="100000"/>
              </a:lnSpc>
            </a:pPr>
            <a:r>
              <a:rPr dirty="0" sz="3800">
                <a:solidFill>
                  <a:srgbClr val="FFFFFF"/>
                </a:solidFill>
                <a:latin typeface="Calibri Light"/>
                <a:cs typeface="Calibri Light"/>
              </a:rPr>
              <a:t>IF </a:t>
            </a:r>
            <a:r>
              <a:rPr dirty="0" sz="3800" spc="-10">
                <a:solidFill>
                  <a:srgbClr val="FFFFFF"/>
                </a:solidFill>
                <a:latin typeface="Calibri Light"/>
                <a:cs typeface="Calibri Light"/>
              </a:rPr>
              <a:t>Statements</a:t>
            </a:r>
            <a:endParaRPr sz="3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44696" y="448055"/>
            <a:ext cx="7688580" cy="5953125"/>
          </a:xfrm>
          <a:prstGeom prst="rect">
            <a:avLst/>
          </a:prstGeom>
          <a:solidFill>
            <a:srgbClr val="7E7E7E">
              <a:alpha val="19999"/>
            </a:srgbClr>
          </a:solidFill>
        </p:spPr>
        <p:txBody>
          <a:bodyPr wrap="square" lIns="0" tIns="596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endParaRPr sz="1600">
              <a:latin typeface="Times New Roman"/>
              <a:cs typeface="Times New Roman"/>
            </a:endParaRPr>
          </a:p>
          <a:p>
            <a:pPr marL="655320" marR="702310" indent="-228600">
              <a:lnSpc>
                <a:spcPts val="1730"/>
              </a:lnSpc>
              <a:buFont typeface="Arial MT"/>
              <a:buChar char="•"/>
              <a:tabLst>
                <a:tab pos="655320" algn="l"/>
              </a:tabLst>
            </a:pP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structure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statement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similar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structure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statement</a:t>
            </a:r>
            <a:r>
              <a:rPr dirty="0" sz="1600" spc="-25">
                <a:latin typeface="Calibri"/>
                <a:cs typeface="Calibri"/>
              </a:rPr>
              <a:t> in </a:t>
            </a:r>
            <a:r>
              <a:rPr dirty="0" sz="1600">
                <a:latin typeface="Calibri"/>
                <a:cs typeface="Calibri"/>
              </a:rPr>
              <a:t>other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languages</a:t>
            </a:r>
            <a:endParaRPr sz="1600">
              <a:latin typeface="Calibri"/>
              <a:cs typeface="Calibri"/>
            </a:endParaRPr>
          </a:p>
          <a:p>
            <a:pPr marL="655320" indent="-228600">
              <a:lnSpc>
                <a:spcPts val="1825"/>
              </a:lnSpc>
              <a:spcBef>
                <a:spcPts val="775"/>
              </a:spcBef>
              <a:buFont typeface="Arial MT"/>
              <a:buChar char="•"/>
              <a:tabLst>
                <a:tab pos="655320" algn="l"/>
              </a:tabLst>
            </a:pP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allows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PL/SQL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perform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actions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selectively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based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conditions.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syntax</a:t>
            </a:r>
            <a:endParaRPr sz="1600">
              <a:latin typeface="Calibri"/>
              <a:cs typeface="Calibri"/>
            </a:endParaRPr>
          </a:p>
          <a:p>
            <a:pPr marL="655320">
              <a:lnSpc>
                <a:spcPts val="1825"/>
              </a:lnSpc>
            </a:pP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statement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is</a:t>
            </a:r>
            <a:endParaRPr sz="1600">
              <a:latin typeface="Calibri"/>
              <a:cs typeface="Calibri"/>
            </a:endParaRPr>
          </a:p>
          <a:p>
            <a:pPr marL="1341120">
              <a:lnSpc>
                <a:spcPct val="100000"/>
              </a:lnSpc>
              <a:spcBef>
                <a:spcPts val="820"/>
              </a:spcBef>
            </a:pPr>
            <a:r>
              <a:rPr dirty="0" sz="1600">
                <a:latin typeface="Calibri"/>
                <a:cs typeface="Calibri"/>
              </a:rPr>
              <a:t>IF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&lt;condition&gt;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THEN</a:t>
            </a:r>
            <a:endParaRPr sz="1600">
              <a:latin typeface="Calibri"/>
              <a:cs typeface="Calibri"/>
            </a:endParaRPr>
          </a:p>
          <a:p>
            <a:pPr marL="1341120" marR="4324350" indent="914400">
              <a:lnSpc>
                <a:spcPct val="141900"/>
              </a:lnSpc>
            </a:pPr>
            <a:r>
              <a:rPr dirty="0" sz="1600" spc="-10">
                <a:latin typeface="Calibri"/>
                <a:cs typeface="Calibri"/>
              </a:rPr>
              <a:t>statements; </a:t>
            </a:r>
            <a:r>
              <a:rPr dirty="0" sz="1600">
                <a:latin typeface="Calibri"/>
                <a:cs typeface="Calibri"/>
              </a:rPr>
              <a:t>[ELSIF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&lt;condition&gt;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THEN</a:t>
            </a:r>
            <a:endParaRPr sz="1600">
              <a:latin typeface="Calibri"/>
              <a:cs typeface="Calibri"/>
            </a:endParaRPr>
          </a:p>
          <a:p>
            <a:pPr marL="2255520">
              <a:lnSpc>
                <a:spcPct val="100000"/>
              </a:lnSpc>
              <a:spcBef>
                <a:spcPts val="815"/>
              </a:spcBef>
            </a:pPr>
            <a:r>
              <a:rPr dirty="0" sz="1600" spc="-10">
                <a:latin typeface="Calibri"/>
                <a:cs typeface="Calibri"/>
              </a:rPr>
              <a:t>statements;]</a:t>
            </a:r>
            <a:endParaRPr sz="1600">
              <a:latin typeface="Calibri"/>
              <a:cs typeface="Calibri"/>
            </a:endParaRPr>
          </a:p>
          <a:p>
            <a:pPr marL="1341120">
              <a:lnSpc>
                <a:spcPct val="100000"/>
              </a:lnSpc>
              <a:spcBef>
                <a:spcPts val="805"/>
              </a:spcBef>
            </a:pPr>
            <a:r>
              <a:rPr dirty="0" sz="1600" spc="-10">
                <a:latin typeface="Calibri"/>
                <a:cs typeface="Calibri"/>
              </a:rPr>
              <a:t>[ELSE</a:t>
            </a:r>
            <a:endParaRPr sz="1600">
              <a:latin typeface="Calibri"/>
              <a:cs typeface="Calibri"/>
            </a:endParaRPr>
          </a:p>
          <a:p>
            <a:pPr marL="2255520">
              <a:lnSpc>
                <a:spcPct val="100000"/>
              </a:lnSpc>
              <a:spcBef>
                <a:spcPts val="805"/>
              </a:spcBef>
            </a:pPr>
            <a:r>
              <a:rPr dirty="0" sz="1600" spc="-10">
                <a:latin typeface="Calibri"/>
                <a:cs typeface="Calibri"/>
              </a:rPr>
              <a:t>statements;]</a:t>
            </a:r>
            <a:endParaRPr sz="1600">
              <a:latin typeface="Calibri"/>
              <a:cs typeface="Calibri"/>
            </a:endParaRPr>
          </a:p>
          <a:p>
            <a:pPr marL="1341120">
              <a:lnSpc>
                <a:spcPct val="100000"/>
              </a:lnSpc>
              <a:spcBef>
                <a:spcPts val="815"/>
              </a:spcBef>
            </a:pPr>
            <a:r>
              <a:rPr dirty="0" sz="1600">
                <a:latin typeface="Calibri"/>
                <a:cs typeface="Calibri"/>
              </a:rPr>
              <a:t>END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IF;</a:t>
            </a:r>
            <a:endParaRPr sz="1600">
              <a:latin typeface="Calibri"/>
              <a:cs typeface="Calibri"/>
            </a:endParaRPr>
          </a:p>
          <a:p>
            <a:pPr marL="655320" indent="-228600">
              <a:lnSpc>
                <a:spcPts val="1825"/>
              </a:lnSpc>
              <a:spcBef>
                <a:spcPts val="805"/>
              </a:spcBef>
              <a:buFont typeface="Arial MT"/>
              <a:buChar char="•"/>
              <a:tabLst>
                <a:tab pos="655320" algn="l"/>
              </a:tabLst>
            </a:pPr>
            <a:r>
              <a:rPr dirty="0" sz="1600">
                <a:latin typeface="Calibri"/>
                <a:cs typeface="Calibri"/>
              </a:rPr>
              <a:t>condition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Boolean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expression</a:t>
            </a:r>
            <a:r>
              <a:rPr dirty="0" sz="1600" spc="28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variable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returns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TRUE,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FALSE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or</a:t>
            </a:r>
            <a:endParaRPr sz="1600">
              <a:latin typeface="Calibri"/>
              <a:cs typeface="Calibri"/>
            </a:endParaRPr>
          </a:p>
          <a:p>
            <a:pPr marL="655320">
              <a:lnSpc>
                <a:spcPts val="1825"/>
              </a:lnSpc>
            </a:pPr>
            <a:r>
              <a:rPr dirty="0" sz="1600" spc="-20">
                <a:latin typeface="Calibri"/>
                <a:cs typeface="Calibri"/>
              </a:rPr>
              <a:t>NULL</a:t>
            </a:r>
            <a:endParaRPr sz="1600">
              <a:latin typeface="Calibri"/>
              <a:cs typeface="Calibri"/>
            </a:endParaRPr>
          </a:p>
          <a:p>
            <a:pPr marL="655320" marR="970280" indent="-228600">
              <a:lnSpc>
                <a:spcPts val="1730"/>
              </a:lnSpc>
              <a:spcBef>
                <a:spcPts val="1019"/>
              </a:spcBef>
              <a:buFont typeface="Arial MT"/>
              <a:buChar char="•"/>
              <a:tabLst>
                <a:tab pos="655320" algn="l"/>
              </a:tabLst>
            </a:pPr>
            <a:r>
              <a:rPr dirty="0" sz="1600">
                <a:latin typeface="Calibri"/>
                <a:cs typeface="Calibri"/>
              </a:rPr>
              <a:t>THEN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introduces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clause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associates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Boolean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expression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with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the </a:t>
            </a:r>
            <a:r>
              <a:rPr dirty="0" sz="1600">
                <a:latin typeface="Calibri"/>
                <a:cs typeface="Calibri"/>
              </a:rPr>
              <a:t>sequence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statements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follows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it</a:t>
            </a:r>
            <a:endParaRPr sz="1600">
              <a:latin typeface="Calibri"/>
              <a:cs typeface="Calibri"/>
            </a:endParaRPr>
          </a:p>
          <a:p>
            <a:pPr algn="just" marL="655320" marR="674370" indent="-228600">
              <a:lnSpc>
                <a:spcPts val="1730"/>
              </a:lnSpc>
              <a:spcBef>
                <a:spcPts val="1005"/>
              </a:spcBef>
              <a:buFont typeface="Arial MT"/>
              <a:buChar char="•"/>
              <a:tabLst>
                <a:tab pos="655320" algn="l"/>
                <a:tab pos="656590" algn="l"/>
              </a:tabLst>
            </a:pPr>
            <a:r>
              <a:rPr dirty="0" sz="1600">
                <a:latin typeface="Calibri"/>
                <a:cs typeface="Calibri"/>
              </a:rPr>
              <a:t>	</a:t>
            </a:r>
            <a:r>
              <a:rPr dirty="0" sz="1600" spc="-10">
                <a:latin typeface="Calibri"/>
                <a:cs typeface="Calibri"/>
              </a:rPr>
              <a:t>Statements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more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PL/SQL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SQL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statements.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statements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in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THEN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clause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10">
                <a:latin typeface="Calibri"/>
                <a:cs typeface="Calibri"/>
              </a:rPr>
              <a:t> executed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only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if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condition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associated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clause evaluates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TRUE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24667"/>
            <a:ext cx="1700384" cy="31245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 marR="353695">
              <a:lnSpc>
                <a:spcPts val="4110"/>
              </a:lnSpc>
            </a:pPr>
            <a:r>
              <a:rPr dirty="0" sz="3800">
                <a:solidFill>
                  <a:srgbClr val="FFFFFF"/>
                </a:solidFill>
                <a:latin typeface="Calibri Light"/>
                <a:cs typeface="Calibri Light"/>
              </a:rPr>
              <a:t>IF </a:t>
            </a:r>
            <a:r>
              <a:rPr dirty="0" sz="3800" spc="-25">
                <a:solidFill>
                  <a:srgbClr val="FFFFFF"/>
                </a:solidFill>
                <a:latin typeface="Calibri Light"/>
                <a:cs typeface="Calibri Light"/>
              </a:rPr>
              <a:t>Statements </a:t>
            </a:r>
            <a:r>
              <a:rPr dirty="0" sz="3800" spc="-10">
                <a:solidFill>
                  <a:srgbClr val="FFFFFF"/>
                </a:solidFill>
                <a:latin typeface="Calibri Light"/>
                <a:cs typeface="Calibri Light"/>
              </a:rPr>
              <a:t>Contd..</a:t>
            </a:r>
            <a:endParaRPr sz="3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458970" y="1072133"/>
            <a:ext cx="6736715" cy="462534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241300" marR="534670" indent="-228600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ELSIF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keyword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introduces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Boolean expression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ELSE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Introduces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default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clause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executed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none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earlier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conditions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are </a:t>
            </a:r>
            <a:r>
              <a:rPr dirty="0" sz="2600" spc="-20">
                <a:latin typeface="Calibri"/>
                <a:cs typeface="Calibri"/>
              </a:rPr>
              <a:t>TRUE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END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Marks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end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statement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ELSIF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ELSE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optional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statement.</a:t>
            </a:r>
            <a:endParaRPr sz="2600">
              <a:latin typeface="Calibri"/>
              <a:cs typeface="Calibri"/>
            </a:endParaRPr>
          </a:p>
          <a:p>
            <a:pPr marL="241300" marR="71120" indent="-228600">
              <a:lnSpc>
                <a:spcPts val="281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45">
                <a:latin typeface="Calibri"/>
                <a:cs typeface="Calibri"/>
              </a:rPr>
              <a:t>You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have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any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number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ELSIF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keywords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but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ELSE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keyword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10">
                <a:latin typeface="Calibri"/>
                <a:cs typeface="Calibri"/>
              </a:rPr>
              <a:t> statement</a:t>
            </a:r>
            <a:endParaRPr sz="2600">
              <a:latin typeface="Calibri"/>
              <a:cs typeface="Calibri"/>
            </a:endParaRPr>
          </a:p>
          <a:p>
            <a:pPr marL="241300" marR="517525" indent="-228600">
              <a:lnSpc>
                <a:spcPts val="281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END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marks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end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statement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and </a:t>
            </a:r>
            <a:r>
              <a:rPr dirty="0" sz="2600">
                <a:latin typeface="Calibri"/>
                <a:cs typeface="Calibri"/>
              </a:rPr>
              <a:t>must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terminated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semicolon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6" name="object 6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8768" y="321056"/>
            <a:ext cx="868616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IF</a:t>
            </a:r>
            <a:r>
              <a:rPr dirty="0" sz="4400" spc="-55"/>
              <a:t> </a:t>
            </a:r>
            <a:r>
              <a:rPr dirty="0" sz="4400"/>
              <a:t>Example</a:t>
            </a:r>
            <a:r>
              <a:rPr dirty="0" sz="4400" spc="-55"/>
              <a:t> </a:t>
            </a:r>
            <a:r>
              <a:rPr dirty="0" sz="4400"/>
              <a:t>–</a:t>
            </a:r>
            <a:r>
              <a:rPr dirty="0" sz="4400" spc="-65"/>
              <a:t> </a:t>
            </a:r>
            <a:r>
              <a:rPr dirty="0" sz="4400"/>
              <a:t>Find</a:t>
            </a:r>
            <a:r>
              <a:rPr dirty="0" sz="4400" spc="-50"/>
              <a:t> </a:t>
            </a:r>
            <a:r>
              <a:rPr dirty="0" sz="4400"/>
              <a:t>the</a:t>
            </a:r>
            <a:r>
              <a:rPr dirty="0" sz="4400" spc="-55"/>
              <a:t> </a:t>
            </a:r>
            <a:r>
              <a:rPr dirty="0" sz="4400"/>
              <a:t>smallest</a:t>
            </a:r>
            <a:r>
              <a:rPr dirty="0" sz="4400" spc="-50"/>
              <a:t> </a:t>
            </a:r>
            <a:r>
              <a:rPr dirty="0" sz="4400" spc="-10"/>
              <a:t>number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8768" y="897338"/>
            <a:ext cx="3044825" cy="436308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400" spc="-10" b="1">
                <a:latin typeface="Calibri"/>
                <a:cs typeface="Calibri"/>
              </a:rPr>
              <a:t>Direct/Static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Input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400" spc="-20" b="1">
                <a:latin typeface="Calibri"/>
                <a:cs typeface="Calibri"/>
              </a:rPr>
              <a:t>-</a:t>
            </a:r>
            <a:r>
              <a:rPr dirty="0" sz="2400" spc="-10" b="1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10">
                <a:latin typeface="Calibri"/>
                <a:cs typeface="Calibri"/>
              </a:rPr>
              <a:t>declare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0">
                <a:latin typeface="Calibri"/>
                <a:cs typeface="Calibri"/>
              </a:rPr>
              <a:t> int:=5;</a:t>
            </a:r>
            <a:endParaRPr sz="2000">
              <a:latin typeface="Calibri"/>
              <a:cs typeface="Calibri"/>
            </a:endParaRPr>
          </a:p>
          <a:p>
            <a:pPr marL="12700" marR="2166620">
              <a:lnSpc>
                <a:spcPct val="131500"/>
              </a:lnSpc>
              <a:spcBef>
                <a:spcPts val="15"/>
              </a:spcBef>
            </a:pPr>
            <a:r>
              <a:rPr dirty="0" sz="2000">
                <a:latin typeface="Calibri"/>
                <a:cs typeface="Calibri"/>
              </a:rPr>
              <a:t>b </a:t>
            </a:r>
            <a:r>
              <a:rPr dirty="0" sz="2000" spc="-10">
                <a:latin typeface="Calibri"/>
                <a:cs typeface="Calibri"/>
              </a:rPr>
              <a:t>int:=6; begin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ts val="3170"/>
              </a:lnSpc>
              <a:spcBef>
                <a:spcPts val="220"/>
              </a:spcBef>
            </a:pP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&lt;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then </a:t>
            </a:r>
            <a:r>
              <a:rPr dirty="0" sz="2000" spc="-10">
                <a:latin typeface="Calibri"/>
                <a:cs typeface="Calibri"/>
              </a:rPr>
              <a:t>DBMS_OUTPUT.PUT_LINE(a);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000">
                <a:latin typeface="Calibri"/>
                <a:cs typeface="Calibri"/>
              </a:rPr>
              <a:t>end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if;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821436"/>
            <a:ext cx="3056255" cy="600329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400" b="1">
                <a:latin typeface="Calibri"/>
                <a:cs typeface="Calibri"/>
              </a:rPr>
              <a:t>User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Input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2400" spc="-20" b="1">
                <a:latin typeface="Calibri"/>
                <a:cs typeface="Calibri"/>
              </a:rPr>
              <a:t>-</a:t>
            </a:r>
            <a:r>
              <a:rPr dirty="0" sz="2400" spc="-10" b="1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serveroutput </a:t>
            </a:r>
            <a:r>
              <a:rPr dirty="0" sz="2000" spc="-25">
                <a:latin typeface="Calibri"/>
                <a:cs typeface="Calibri"/>
              </a:rPr>
              <a:t>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2000" spc="-10">
                <a:latin typeface="Calibri"/>
                <a:cs typeface="Calibri"/>
              </a:rPr>
              <a:t>declare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int;</a:t>
            </a:r>
            <a:endParaRPr sz="2000">
              <a:latin typeface="Calibri"/>
              <a:cs typeface="Calibri"/>
            </a:endParaRPr>
          </a:p>
          <a:p>
            <a:pPr marL="12700" marR="2462530">
              <a:lnSpc>
                <a:spcPct val="131500"/>
              </a:lnSpc>
            </a:pPr>
            <a:r>
              <a:rPr dirty="0" sz="2000">
                <a:latin typeface="Calibri"/>
                <a:cs typeface="Calibri"/>
              </a:rPr>
              <a:t>b </a:t>
            </a:r>
            <a:r>
              <a:rPr dirty="0" sz="2000" spc="-20">
                <a:latin typeface="Calibri"/>
                <a:cs typeface="Calibri"/>
              </a:rPr>
              <a:t>int; </a:t>
            </a:r>
            <a:r>
              <a:rPr dirty="0" sz="2000" spc="-10">
                <a:latin typeface="Calibri"/>
                <a:cs typeface="Calibri"/>
              </a:rPr>
              <a:t>begin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2000" spc="-10">
                <a:latin typeface="Calibri"/>
                <a:cs typeface="Calibri"/>
              </a:rPr>
              <a:t>a:=&amp;a;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2000" spc="-10">
                <a:latin typeface="Calibri"/>
                <a:cs typeface="Calibri"/>
              </a:rPr>
              <a:t>b:=&amp;b;</a:t>
            </a:r>
            <a:endParaRPr sz="2000">
              <a:latin typeface="Calibri"/>
              <a:cs typeface="Calibri"/>
            </a:endParaRPr>
          </a:p>
          <a:p>
            <a:pPr marL="12700" marR="16510">
              <a:lnSpc>
                <a:spcPts val="3170"/>
              </a:lnSpc>
              <a:spcBef>
                <a:spcPts val="220"/>
              </a:spcBef>
            </a:pP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&lt;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then </a:t>
            </a:r>
            <a:r>
              <a:rPr dirty="0" sz="2000" spc="-10">
                <a:latin typeface="Calibri"/>
                <a:cs typeface="Calibri"/>
              </a:rPr>
              <a:t>DBMS_OUTPUT.PUT_LINE(a);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000" spc="-20">
                <a:latin typeface="Calibri"/>
                <a:cs typeface="Calibri"/>
              </a:rPr>
              <a:t>else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2000" spc="-10">
                <a:latin typeface="Calibri"/>
                <a:cs typeface="Calibri"/>
              </a:rPr>
              <a:t>DBMS_OUTPUT.PUT_LINE(b);</a:t>
            </a:r>
            <a:endParaRPr sz="2000">
              <a:latin typeface="Calibri"/>
              <a:cs typeface="Calibri"/>
            </a:endParaRPr>
          </a:p>
          <a:p>
            <a:pPr marL="12700" marR="2380615">
              <a:lnSpc>
                <a:spcPct val="131500"/>
              </a:lnSpc>
              <a:spcBef>
                <a:spcPts val="10"/>
              </a:spcBef>
            </a:pPr>
            <a:r>
              <a:rPr dirty="0" sz="2000">
                <a:latin typeface="Calibri"/>
                <a:cs typeface="Calibri"/>
              </a:rPr>
              <a:t>end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if; </a:t>
            </a: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7050" y="459994"/>
            <a:ext cx="11137900" cy="5651500"/>
            <a:chOff x="527050" y="459994"/>
            <a:chExt cx="11137900" cy="5651500"/>
          </a:xfrm>
        </p:grpSpPr>
        <p:sp>
          <p:nvSpPr>
            <p:cNvPr id="3" name="object 3"/>
            <p:cNvSpPr/>
            <p:nvPr/>
          </p:nvSpPr>
          <p:spPr>
            <a:xfrm>
              <a:off x="533400" y="466344"/>
              <a:ext cx="11125200" cy="5638800"/>
            </a:xfrm>
            <a:custGeom>
              <a:avLst/>
              <a:gdLst/>
              <a:ahLst/>
              <a:cxnLst/>
              <a:rect l="l" t="t" r="r" b="b"/>
              <a:pathLst>
                <a:path w="11125200" h="5638800">
                  <a:moveTo>
                    <a:pt x="11125200" y="0"/>
                  </a:moveTo>
                  <a:lnTo>
                    <a:pt x="0" y="0"/>
                  </a:lnTo>
                  <a:lnTo>
                    <a:pt x="0" y="5638800"/>
                  </a:lnTo>
                  <a:lnTo>
                    <a:pt x="11125200" y="5638800"/>
                  </a:lnTo>
                  <a:lnTo>
                    <a:pt x="11125200" y="0"/>
                  </a:lnTo>
                  <a:close/>
                </a:path>
              </a:pathLst>
            </a:custGeom>
            <a:solidFill>
              <a:srgbClr val="FFFFFF">
                <a:alpha val="929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33400" y="466344"/>
              <a:ext cx="11125200" cy="5638800"/>
            </a:xfrm>
            <a:custGeom>
              <a:avLst/>
              <a:gdLst/>
              <a:ahLst/>
              <a:cxnLst/>
              <a:rect l="l" t="t" r="r" b="b"/>
              <a:pathLst>
                <a:path w="11125200" h="5638800">
                  <a:moveTo>
                    <a:pt x="0" y="5638800"/>
                  </a:moveTo>
                  <a:lnTo>
                    <a:pt x="11125200" y="5638800"/>
                  </a:lnTo>
                  <a:lnTo>
                    <a:pt x="11125200" y="0"/>
                  </a:lnTo>
                  <a:lnTo>
                    <a:pt x="0" y="0"/>
                  </a:lnTo>
                  <a:lnTo>
                    <a:pt x="0" y="56388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073911" y="1962657"/>
            <a:ext cx="3179445" cy="2507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11630">
              <a:lnSpc>
                <a:spcPts val="5015"/>
              </a:lnSpc>
              <a:spcBef>
                <a:spcPts val="105"/>
              </a:spcBef>
            </a:pPr>
            <a:r>
              <a:rPr dirty="0" sz="4400">
                <a:latin typeface="Calibri Light"/>
                <a:cs typeface="Calibri Light"/>
              </a:rPr>
              <a:t>IF </a:t>
            </a:r>
            <a:r>
              <a:rPr dirty="0" sz="4400" spc="-20">
                <a:latin typeface="Calibri Light"/>
                <a:cs typeface="Calibri Light"/>
              </a:rPr>
              <a:t>ELSE</a:t>
            </a:r>
            <a:endParaRPr sz="4400">
              <a:latin typeface="Calibri Light"/>
              <a:cs typeface="Calibri Light"/>
            </a:endParaRPr>
          </a:p>
          <a:p>
            <a:pPr algn="r" marL="40005" marR="5080" indent="-27940">
              <a:lnSpc>
                <a:spcPct val="90000"/>
              </a:lnSpc>
              <a:spcBef>
                <a:spcPts val="260"/>
              </a:spcBef>
            </a:pPr>
            <a:r>
              <a:rPr dirty="0" sz="4400">
                <a:latin typeface="Calibri Light"/>
                <a:cs typeface="Calibri Light"/>
              </a:rPr>
              <a:t>Example-</a:t>
            </a:r>
            <a:r>
              <a:rPr dirty="0" sz="4400" spc="-130">
                <a:latin typeface="Calibri Light"/>
                <a:cs typeface="Calibri Light"/>
              </a:rPr>
              <a:t> </a:t>
            </a:r>
            <a:r>
              <a:rPr dirty="0" sz="4400" spc="-20">
                <a:latin typeface="Calibri Light"/>
                <a:cs typeface="Calibri Light"/>
              </a:rPr>
              <a:t>Find </a:t>
            </a:r>
            <a:r>
              <a:rPr dirty="0" sz="4400">
                <a:latin typeface="Calibri Light"/>
                <a:cs typeface="Calibri Light"/>
              </a:rPr>
              <a:t>the</a:t>
            </a:r>
            <a:r>
              <a:rPr dirty="0" sz="4400" spc="-35">
                <a:latin typeface="Calibri Light"/>
                <a:cs typeface="Calibri Light"/>
              </a:rPr>
              <a:t> </a:t>
            </a:r>
            <a:r>
              <a:rPr dirty="0" sz="4400">
                <a:latin typeface="Calibri Light"/>
                <a:cs typeface="Calibri Light"/>
              </a:rPr>
              <a:t>number</a:t>
            </a:r>
            <a:r>
              <a:rPr dirty="0" sz="4400" spc="-55">
                <a:latin typeface="Calibri Light"/>
                <a:cs typeface="Calibri Light"/>
              </a:rPr>
              <a:t> </a:t>
            </a:r>
            <a:r>
              <a:rPr dirty="0" sz="4400" spc="-25">
                <a:latin typeface="Calibri Light"/>
                <a:cs typeface="Calibri Light"/>
              </a:rPr>
              <a:t>is </a:t>
            </a:r>
            <a:r>
              <a:rPr dirty="0" sz="4400">
                <a:latin typeface="Calibri Light"/>
                <a:cs typeface="Calibri Light"/>
              </a:rPr>
              <a:t>even</a:t>
            </a:r>
            <a:r>
              <a:rPr dirty="0" sz="4400" spc="-25">
                <a:latin typeface="Calibri Light"/>
                <a:cs typeface="Calibri Light"/>
              </a:rPr>
              <a:t> </a:t>
            </a:r>
            <a:r>
              <a:rPr dirty="0" sz="4400">
                <a:latin typeface="Calibri Light"/>
                <a:cs typeface="Calibri Light"/>
              </a:rPr>
              <a:t>or</a:t>
            </a:r>
            <a:r>
              <a:rPr dirty="0" sz="4400" spc="-40">
                <a:latin typeface="Calibri Light"/>
                <a:cs typeface="Calibri Light"/>
              </a:rPr>
              <a:t> </a:t>
            </a:r>
            <a:r>
              <a:rPr dirty="0" sz="4400" spc="-25">
                <a:latin typeface="Calibri Light"/>
                <a:cs typeface="Calibri Light"/>
              </a:rPr>
              <a:t>odd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55058" y="2058161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55489" y="886460"/>
            <a:ext cx="2489200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serveroutput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on </a:t>
            </a:r>
            <a:r>
              <a:rPr dirty="0" sz="2400" spc="-10">
                <a:latin typeface="Calibri"/>
                <a:cs typeface="Calibri"/>
              </a:rPr>
              <a:t>DECLARE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055489" y="1726541"/>
            <a:ext cx="1979295" cy="863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272415">
              <a:lnSpc>
                <a:spcPct val="114599"/>
              </a:lnSpc>
              <a:spcBef>
                <a:spcPts val="95"/>
              </a:spcBef>
            </a:pPr>
            <a:r>
              <a:rPr dirty="0" sz="2400">
                <a:latin typeface="Calibri"/>
                <a:cs typeface="Calibri"/>
              </a:rPr>
              <a:t>NO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NUMBER; BEGIN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55489" y="2563114"/>
            <a:ext cx="6045200" cy="296418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285115">
              <a:lnSpc>
                <a:spcPct val="100000"/>
              </a:lnSpc>
              <a:spcBef>
                <a:spcPts val="530"/>
              </a:spcBef>
            </a:pPr>
            <a:r>
              <a:rPr dirty="0" sz="2400" spc="-10">
                <a:latin typeface="Calibri"/>
                <a:cs typeface="Calibri"/>
              </a:rPr>
              <a:t>NO:=&amp;no;</a:t>
            </a:r>
            <a:endParaRPr sz="2400">
              <a:latin typeface="Calibri"/>
              <a:cs typeface="Calibri"/>
            </a:endParaRPr>
          </a:p>
          <a:p>
            <a:pPr marL="558165" marR="5080" indent="-273050">
              <a:lnSpc>
                <a:spcPct val="114599"/>
              </a:lnSpc>
              <a:spcBef>
                <a:spcPts val="10"/>
              </a:spcBef>
            </a:pP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MOD(NO,2)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=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0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THEN DBMS_OUTPUT.PUT_LINE('EVEN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NUMBER');</a:t>
            </a:r>
            <a:endParaRPr sz="2400">
              <a:latin typeface="Calibri"/>
              <a:cs typeface="Calibri"/>
            </a:endParaRPr>
          </a:p>
          <a:p>
            <a:pPr marL="285115">
              <a:lnSpc>
                <a:spcPct val="100000"/>
              </a:lnSpc>
              <a:spcBef>
                <a:spcPts val="420"/>
              </a:spcBef>
            </a:pPr>
            <a:r>
              <a:rPr dirty="0" sz="2400" spc="-20">
                <a:latin typeface="Calibri"/>
                <a:cs typeface="Calibri"/>
              </a:rPr>
              <a:t>ELSE</a:t>
            </a:r>
            <a:endParaRPr sz="2400">
              <a:latin typeface="Calibri"/>
              <a:cs typeface="Calibri"/>
            </a:endParaRPr>
          </a:p>
          <a:p>
            <a:pPr marL="285115" marR="98425" indent="272415">
              <a:lnSpc>
                <a:spcPct val="114599"/>
              </a:lnSpc>
              <a:spcBef>
                <a:spcPts val="15"/>
              </a:spcBef>
            </a:pPr>
            <a:r>
              <a:rPr dirty="0" sz="2400" spc="-20">
                <a:latin typeface="Calibri"/>
                <a:cs typeface="Calibri"/>
              </a:rPr>
              <a:t>DBMS_OUTPUT.PUT_LINE('ODD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NUMBER'); </a:t>
            </a:r>
            <a:r>
              <a:rPr dirty="0" sz="2400">
                <a:latin typeface="Calibri"/>
                <a:cs typeface="Calibri"/>
              </a:rPr>
              <a:t>END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IF;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400" spc="-20">
                <a:latin typeface="Calibri"/>
                <a:cs typeface="Calibri"/>
              </a:rPr>
              <a:t>END;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7050" y="459994"/>
            <a:ext cx="11137900" cy="5651500"/>
            <a:chOff x="527050" y="459994"/>
            <a:chExt cx="11137900" cy="5651500"/>
          </a:xfrm>
        </p:grpSpPr>
        <p:sp>
          <p:nvSpPr>
            <p:cNvPr id="3" name="object 3"/>
            <p:cNvSpPr/>
            <p:nvPr/>
          </p:nvSpPr>
          <p:spPr>
            <a:xfrm>
              <a:off x="533400" y="466344"/>
              <a:ext cx="11125200" cy="5638800"/>
            </a:xfrm>
            <a:custGeom>
              <a:avLst/>
              <a:gdLst/>
              <a:ahLst/>
              <a:cxnLst/>
              <a:rect l="l" t="t" r="r" b="b"/>
              <a:pathLst>
                <a:path w="11125200" h="5638800">
                  <a:moveTo>
                    <a:pt x="11125200" y="0"/>
                  </a:moveTo>
                  <a:lnTo>
                    <a:pt x="0" y="0"/>
                  </a:lnTo>
                  <a:lnTo>
                    <a:pt x="0" y="5638800"/>
                  </a:lnTo>
                  <a:lnTo>
                    <a:pt x="11125200" y="5638800"/>
                  </a:lnTo>
                  <a:lnTo>
                    <a:pt x="11125200" y="0"/>
                  </a:lnTo>
                  <a:close/>
                </a:path>
              </a:pathLst>
            </a:custGeom>
            <a:solidFill>
              <a:srgbClr val="FFFFFF">
                <a:alpha val="929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33400" y="466344"/>
              <a:ext cx="11125200" cy="5638800"/>
            </a:xfrm>
            <a:custGeom>
              <a:avLst/>
              <a:gdLst/>
              <a:ahLst/>
              <a:cxnLst/>
              <a:rect l="l" t="t" r="r" b="b"/>
              <a:pathLst>
                <a:path w="11125200" h="5638800">
                  <a:moveTo>
                    <a:pt x="0" y="5638800"/>
                  </a:moveTo>
                  <a:lnTo>
                    <a:pt x="11125200" y="5638800"/>
                  </a:lnTo>
                  <a:lnTo>
                    <a:pt x="11125200" y="0"/>
                  </a:lnTo>
                  <a:lnTo>
                    <a:pt x="0" y="0"/>
                  </a:lnTo>
                  <a:lnTo>
                    <a:pt x="0" y="56388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965708" y="1962657"/>
            <a:ext cx="3288665" cy="2507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9250">
              <a:lnSpc>
                <a:spcPts val="5015"/>
              </a:lnSpc>
              <a:spcBef>
                <a:spcPts val="105"/>
              </a:spcBef>
            </a:pPr>
            <a:r>
              <a:rPr dirty="0" sz="4400" spc="-10">
                <a:latin typeface="Calibri Light"/>
                <a:cs typeface="Calibri Light"/>
              </a:rPr>
              <a:t>IF-ELSIF-</a:t>
            </a:r>
            <a:r>
              <a:rPr dirty="0" sz="4400" spc="-20">
                <a:latin typeface="Calibri Light"/>
                <a:cs typeface="Calibri Light"/>
              </a:rPr>
              <a:t>ELSE</a:t>
            </a:r>
            <a:endParaRPr sz="4400">
              <a:latin typeface="Calibri Light"/>
              <a:cs typeface="Calibri Light"/>
            </a:endParaRPr>
          </a:p>
          <a:p>
            <a:pPr algn="r" marL="448309" marR="5080" indent="-436245">
              <a:lnSpc>
                <a:spcPts val="4750"/>
              </a:lnSpc>
              <a:spcBef>
                <a:spcPts val="335"/>
              </a:spcBef>
            </a:pPr>
            <a:r>
              <a:rPr dirty="0" sz="4400">
                <a:latin typeface="Calibri Light"/>
                <a:cs typeface="Calibri Light"/>
              </a:rPr>
              <a:t>Check </a:t>
            </a:r>
            <a:r>
              <a:rPr dirty="0" sz="4400" spc="-10">
                <a:latin typeface="Calibri Light"/>
                <a:cs typeface="Calibri Light"/>
              </a:rPr>
              <a:t>number </a:t>
            </a:r>
            <a:r>
              <a:rPr dirty="0" sz="4400">
                <a:latin typeface="Calibri Light"/>
                <a:cs typeface="Calibri Light"/>
              </a:rPr>
              <a:t>is</a:t>
            </a:r>
            <a:r>
              <a:rPr dirty="0" sz="4400" spc="-90">
                <a:latin typeface="Calibri Light"/>
                <a:cs typeface="Calibri Light"/>
              </a:rPr>
              <a:t> </a:t>
            </a:r>
            <a:r>
              <a:rPr dirty="0" sz="4400">
                <a:latin typeface="Calibri Light"/>
                <a:cs typeface="Calibri Light"/>
              </a:rPr>
              <a:t>positive</a:t>
            </a:r>
            <a:r>
              <a:rPr dirty="0" sz="4400" spc="-75">
                <a:latin typeface="Calibri Light"/>
                <a:cs typeface="Calibri Light"/>
              </a:rPr>
              <a:t> </a:t>
            </a:r>
            <a:r>
              <a:rPr dirty="0" sz="4400" spc="-35">
                <a:latin typeface="Calibri Light"/>
                <a:cs typeface="Calibri Light"/>
              </a:rPr>
              <a:t>or</a:t>
            </a:r>
            <a:endParaRPr sz="4400">
              <a:latin typeface="Calibri Light"/>
              <a:cs typeface="Calibri Light"/>
            </a:endParaRPr>
          </a:p>
          <a:p>
            <a:pPr algn="r" marR="6350">
              <a:lnSpc>
                <a:spcPts val="4685"/>
              </a:lnSpc>
            </a:pPr>
            <a:r>
              <a:rPr dirty="0" sz="4400" spc="-10">
                <a:latin typeface="Calibri Light"/>
                <a:cs typeface="Calibri Light"/>
              </a:rPr>
              <a:t>negative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55058" y="2058161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945507" y="585317"/>
            <a:ext cx="2083435" cy="1229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15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serveroutput </a:t>
            </a:r>
            <a:r>
              <a:rPr dirty="0" sz="2000" spc="-25">
                <a:latin typeface="Calibri"/>
                <a:cs typeface="Calibri"/>
              </a:rPr>
              <a:t>on </a:t>
            </a:r>
            <a:r>
              <a:rPr dirty="0" sz="2000" spc="-10">
                <a:latin typeface="Calibri"/>
                <a:cs typeface="Calibri"/>
              </a:rPr>
              <a:t>DECLARE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765"/>
              </a:spcBef>
            </a:pPr>
            <a:r>
              <a:rPr dirty="0" sz="2000">
                <a:latin typeface="Calibri"/>
                <a:cs typeface="Calibri"/>
              </a:rPr>
              <a:t>NO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NUMBER;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45507" y="1788665"/>
            <a:ext cx="5521960" cy="403987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2000" spc="-10">
                <a:latin typeface="Calibri"/>
                <a:cs typeface="Calibri"/>
              </a:rPr>
              <a:t>BEGIN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755"/>
              </a:spcBef>
            </a:pPr>
            <a:r>
              <a:rPr dirty="0" sz="2000" spc="-10">
                <a:latin typeface="Calibri"/>
                <a:cs typeface="Calibri"/>
              </a:rPr>
              <a:t>NO:=&amp;NO;</a:t>
            </a:r>
            <a:endParaRPr sz="2000">
              <a:latin typeface="Calibri"/>
              <a:cs typeface="Calibri"/>
            </a:endParaRPr>
          </a:p>
          <a:p>
            <a:pPr marL="469900" marR="5080" indent="-228600">
              <a:lnSpc>
                <a:spcPct val="131500"/>
              </a:lnSpc>
              <a:spcBef>
                <a:spcPts val="15"/>
              </a:spcBef>
            </a:pP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&lt;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0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THEN </a:t>
            </a:r>
            <a:r>
              <a:rPr dirty="0" sz="2000" spc="-25">
                <a:latin typeface="Calibri"/>
                <a:cs typeface="Calibri"/>
              </a:rPr>
              <a:t>DBMS_OUTPUT.PUT_LINE('NEGATIVE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NUMBER');</a:t>
            </a:r>
            <a:endParaRPr sz="2000">
              <a:latin typeface="Calibri"/>
              <a:cs typeface="Calibri"/>
            </a:endParaRPr>
          </a:p>
          <a:p>
            <a:pPr marL="469900" marR="96520" indent="-228600">
              <a:lnSpc>
                <a:spcPts val="3170"/>
              </a:lnSpc>
              <a:spcBef>
                <a:spcPts val="220"/>
              </a:spcBef>
            </a:pPr>
            <a:r>
              <a:rPr dirty="0" sz="2000">
                <a:latin typeface="Calibri"/>
                <a:cs typeface="Calibri"/>
              </a:rPr>
              <a:t>ELSIF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&gt;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0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THEN DBMS_OUTPUT.PUT_LINE('POSITIVE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NUMBER');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20"/>
              </a:spcBef>
            </a:pPr>
            <a:r>
              <a:rPr dirty="0" sz="2000" spc="-20">
                <a:latin typeface="Calibri"/>
                <a:cs typeface="Calibri"/>
              </a:rPr>
              <a:t>ELSE</a:t>
            </a:r>
            <a:endParaRPr sz="2000">
              <a:latin typeface="Calibri"/>
              <a:cs typeface="Calibri"/>
            </a:endParaRPr>
          </a:p>
          <a:p>
            <a:pPr marL="241300" marR="387350" indent="228600">
              <a:lnSpc>
                <a:spcPts val="3170"/>
              </a:lnSpc>
              <a:spcBef>
                <a:spcPts val="220"/>
              </a:spcBef>
            </a:pPr>
            <a:r>
              <a:rPr dirty="0" sz="2000" spc="-20">
                <a:latin typeface="Calibri"/>
                <a:cs typeface="Calibri"/>
              </a:rPr>
              <a:t>DBMS_OUTPUT.PUT_LINE('EQUAL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ZERO'); </a:t>
            </a:r>
            <a:r>
              <a:rPr dirty="0" sz="2000">
                <a:latin typeface="Calibri"/>
                <a:cs typeface="Calibri"/>
              </a:rPr>
              <a:t>END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IF;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9" name="object 9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-56896"/>
            <a:ext cx="9958705" cy="1300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015"/>
              </a:lnSpc>
              <a:spcBef>
                <a:spcPts val="100"/>
              </a:spcBef>
            </a:pPr>
            <a:r>
              <a:rPr dirty="0" sz="4400"/>
              <a:t>IF</a:t>
            </a:r>
            <a:r>
              <a:rPr dirty="0" sz="4400" spc="-50"/>
              <a:t> </a:t>
            </a:r>
            <a:r>
              <a:rPr dirty="0" sz="4400"/>
              <a:t>ELSE</a:t>
            </a:r>
            <a:r>
              <a:rPr dirty="0" sz="4400" spc="-65"/>
              <a:t> </a:t>
            </a:r>
            <a:r>
              <a:rPr dirty="0" sz="4400"/>
              <a:t>EXAMPLE</a:t>
            </a:r>
            <a:r>
              <a:rPr dirty="0" sz="4400" spc="-75"/>
              <a:t> </a:t>
            </a:r>
            <a:r>
              <a:rPr dirty="0" sz="4400"/>
              <a:t>–Find</a:t>
            </a:r>
            <a:r>
              <a:rPr dirty="0" sz="4400" spc="-50"/>
              <a:t> </a:t>
            </a:r>
            <a:r>
              <a:rPr dirty="0" sz="4400"/>
              <a:t>the</a:t>
            </a:r>
            <a:r>
              <a:rPr dirty="0" sz="4400" spc="-50"/>
              <a:t> </a:t>
            </a:r>
            <a:r>
              <a:rPr dirty="0" sz="4400"/>
              <a:t>grade</a:t>
            </a:r>
            <a:r>
              <a:rPr dirty="0" sz="4400" spc="-60"/>
              <a:t> </a:t>
            </a:r>
            <a:r>
              <a:rPr dirty="0" sz="4400"/>
              <a:t>of</a:t>
            </a:r>
            <a:r>
              <a:rPr dirty="0" sz="4400" spc="-40"/>
              <a:t> </a:t>
            </a:r>
            <a:r>
              <a:rPr dirty="0" sz="4400" spc="-10"/>
              <a:t>Student</a:t>
            </a:r>
            <a:endParaRPr sz="4400"/>
          </a:p>
          <a:p>
            <a:pPr marL="12700">
              <a:lnSpc>
                <a:spcPts val="5015"/>
              </a:lnSpc>
            </a:pPr>
            <a:r>
              <a:rPr dirty="0" sz="4400" spc="-25"/>
              <a:t>-</a:t>
            </a:r>
            <a:r>
              <a:rPr dirty="0" sz="4400"/>
              <a:t>-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972057"/>
            <a:ext cx="3973829" cy="5448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03755">
              <a:lnSpc>
                <a:spcPct val="1161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Set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serveroutput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on </a:t>
            </a:r>
            <a:r>
              <a:rPr dirty="0" sz="1800" spc="-10">
                <a:latin typeface="Calibri"/>
                <a:cs typeface="Calibri"/>
              </a:rPr>
              <a:t>declare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800">
                <a:latin typeface="Calibri"/>
                <a:cs typeface="Calibri"/>
              </a:rPr>
              <a:t>per</a:t>
            </a:r>
            <a:r>
              <a:rPr dirty="0" sz="1800" spc="-10">
                <a:latin typeface="Calibri"/>
                <a:cs typeface="Calibri"/>
              </a:rPr>
              <a:t> number;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800" spc="-10">
                <a:latin typeface="Calibri"/>
                <a:cs typeface="Calibri"/>
              </a:rPr>
              <a:t>begin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800" spc="-10">
                <a:latin typeface="Calibri"/>
                <a:cs typeface="Calibri"/>
              </a:rPr>
              <a:t>per:=&amp;per;</a:t>
            </a:r>
            <a:endParaRPr sz="1800">
              <a:latin typeface="Calibri"/>
              <a:cs typeface="Calibri"/>
            </a:endParaRPr>
          </a:p>
          <a:p>
            <a:pPr marL="12700" marR="12700">
              <a:lnSpc>
                <a:spcPts val="2520"/>
              </a:lnSpc>
              <a:spcBef>
                <a:spcPts val="130"/>
              </a:spcBef>
            </a:pPr>
            <a:r>
              <a:rPr dirty="0" sz="1800">
                <a:latin typeface="Calibri"/>
                <a:cs typeface="Calibri"/>
              </a:rPr>
              <a:t>if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per&gt;=75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then DBMS_OUTPUT.PUT_LINE('Your </a:t>
            </a:r>
            <a:r>
              <a:rPr dirty="0" sz="1800">
                <a:latin typeface="Calibri"/>
                <a:cs typeface="Calibri"/>
              </a:rPr>
              <a:t>grade: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A');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800">
                <a:latin typeface="Calibri"/>
                <a:cs typeface="Calibri"/>
              </a:rPr>
              <a:t>elsif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per&gt;=60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then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800" spc="-20">
                <a:latin typeface="Calibri"/>
                <a:cs typeface="Calibri"/>
              </a:rPr>
              <a:t>DBMS_OUTPUT.PUT_LINE('Your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grade: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B');</a:t>
            </a:r>
            <a:endParaRPr sz="1800">
              <a:latin typeface="Calibri"/>
              <a:cs typeface="Calibri"/>
            </a:endParaRPr>
          </a:p>
          <a:p>
            <a:pPr marL="12700" marR="22860">
              <a:lnSpc>
                <a:spcPct val="116100"/>
              </a:lnSpc>
              <a:spcBef>
                <a:spcPts val="15"/>
              </a:spcBef>
            </a:pPr>
            <a:r>
              <a:rPr dirty="0" sz="1800">
                <a:latin typeface="Calibri"/>
                <a:cs typeface="Calibri"/>
              </a:rPr>
              <a:t>elsif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per&gt;=50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then DBMS_OUTPUT.PUT_LINE('Your </a:t>
            </a:r>
            <a:r>
              <a:rPr dirty="0" sz="1800">
                <a:latin typeface="Calibri"/>
                <a:cs typeface="Calibri"/>
              </a:rPr>
              <a:t>grade: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C');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2520"/>
              </a:lnSpc>
              <a:spcBef>
                <a:spcPts val="135"/>
              </a:spcBef>
            </a:pPr>
            <a:r>
              <a:rPr dirty="0" sz="1800">
                <a:latin typeface="Calibri"/>
                <a:cs typeface="Calibri"/>
              </a:rPr>
              <a:t>elsif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per&gt;=40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then DBMS_OUTPUT.PUT_LINE('Your </a:t>
            </a:r>
            <a:r>
              <a:rPr dirty="0" sz="1800">
                <a:latin typeface="Calibri"/>
                <a:cs typeface="Calibri"/>
              </a:rPr>
              <a:t>grade: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D');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800" spc="-20">
                <a:latin typeface="Calibri"/>
                <a:cs typeface="Calibri"/>
              </a:rPr>
              <a:t>else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800" spc="-20">
                <a:latin typeface="Calibri"/>
                <a:cs typeface="Calibri"/>
              </a:rPr>
              <a:t>DBMS_OUTPUT.PUT_LINE('Your </a:t>
            </a:r>
            <a:r>
              <a:rPr dirty="0" sz="1800">
                <a:latin typeface="Calibri"/>
                <a:cs typeface="Calibri"/>
              </a:rPr>
              <a:t>grade: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F');</a:t>
            </a:r>
            <a:endParaRPr sz="1800">
              <a:latin typeface="Calibri"/>
              <a:cs typeface="Calibri"/>
            </a:endParaRPr>
          </a:p>
          <a:p>
            <a:pPr marL="12700" marR="3361690">
              <a:lnSpc>
                <a:spcPct val="116100"/>
              </a:lnSpc>
              <a:spcBef>
                <a:spcPts val="10"/>
              </a:spcBef>
            </a:pPr>
            <a:r>
              <a:rPr dirty="0" sz="1800">
                <a:latin typeface="Calibri"/>
                <a:cs typeface="Calibri"/>
              </a:rPr>
              <a:t>end</a:t>
            </a:r>
            <a:r>
              <a:rPr dirty="0" sz="1800" spc="-25">
                <a:latin typeface="Calibri"/>
                <a:cs typeface="Calibri"/>
              </a:rPr>
              <a:t> if; </a:t>
            </a:r>
            <a:r>
              <a:rPr dirty="0" sz="1800" spc="-20">
                <a:latin typeface="Calibri"/>
                <a:cs typeface="Calibri"/>
              </a:rPr>
              <a:t>end;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200" y="0"/>
            <a:ext cx="1770888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>
              <a:lnSpc>
                <a:spcPts val="4335"/>
              </a:lnSpc>
            </a:pPr>
            <a:r>
              <a:rPr dirty="0" sz="3800" spc="-20">
                <a:solidFill>
                  <a:srgbClr val="FFFFFF"/>
                </a:solidFill>
                <a:latin typeface="Calibri Light"/>
                <a:cs typeface="Calibri Light"/>
              </a:rPr>
              <a:t>CASE</a:t>
            </a:r>
            <a:endParaRPr sz="3800">
              <a:latin typeface="Calibri Light"/>
              <a:cs typeface="Calibri Light"/>
            </a:endParaRPr>
          </a:p>
          <a:p>
            <a:pPr marL="401955">
              <a:lnSpc>
                <a:spcPts val="4335"/>
              </a:lnSpc>
            </a:pPr>
            <a:r>
              <a:rPr dirty="0" sz="3800" spc="-10">
                <a:solidFill>
                  <a:srgbClr val="FFFFFF"/>
                </a:solidFill>
                <a:latin typeface="Calibri Light"/>
                <a:cs typeface="Calibri Light"/>
              </a:rPr>
              <a:t>Expressions</a:t>
            </a:r>
            <a:endParaRPr sz="3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471670" y="641349"/>
            <a:ext cx="6869430" cy="513842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just" marL="227965" indent="-22796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227965" algn="l"/>
              </a:tabLst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CASE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expression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returns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result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based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alternatives.</a:t>
            </a:r>
            <a:endParaRPr sz="1800">
              <a:latin typeface="Calibri"/>
              <a:cs typeface="Calibri"/>
            </a:endParaRPr>
          </a:p>
          <a:p>
            <a:pPr algn="just" marL="228600" marR="5080" indent="-228600">
              <a:lnSpc>
                <a:spcPts val="1939"/>
              </a:lnSpc>
              <a:spcBef>
                <a:spcPts val="630"/>
              </a:spcBef>
              <a:buFont typeface="Arial MT"/>
              <a:buChar char="•"/>
              <a:tabLst>
                <a:tab pos="228600" algn="l"/>
              </a:tabLst>
            </a:pP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1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return</a:t>
            </a:r>
            <a:r>
              <a:rPr dirty="0" sz="1800" spc="1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result,</a:t>
            </a:r>
            <a:r>
              <a:rPr dirty="0" sz="1800" spc="1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CASE</a:t>
            </a:r>
            <a:r>
              <a:rPr dirty="0" sz="1800" spc="1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expression</a:t>
            </a:r>
            <a:r>
              <a:rPr dirty="0" sz="1800" spc="1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uses</a:t>
            </a:r>
            <a:r>
              <a:rPr dirty="0" sz="1800" spc="1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1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selector</a:t>
            </a:r>
            <a:r>
              <a:rPr dirty="0" sz="1800" spc="1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1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17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an </a:t>
            </a:r>
            <a:r>
              <a:rPr dirty="0" sz="1800">
                <a:latin typeface="Calibri"/>
                <a:cs typeface="Calibri"/>
              </a:rPr>
              <a:t>expression</a:t>
            </a:r>
            <a:r>
              <a:rPr dirty="0" sz="1800" spc="22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whose</a:t>
            </a:r>
            <a:r>
              <a:rPr dirty="0" sz="1800" spc="22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22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22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used</a:t>
            </a:r>
            <a:r>
              <a:rPr dirty="0" sz="1800" spc="229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22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return</a:t>
            </a:r>
            <a:r>
              <a:rPr dirty="0" sz="1800" spc="22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one</a:t>
            </a:r>
            <a:r>
              <a:rPr dirty="0" sz="1800" spc="22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22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29">
                <a:latin typeface="Calibri"/>
                <a:cs typeface="Calibri"/>
              </a:rPr>
              <a:t>  </a:t>
            </a:r>
            <a:r>
              <a:rPr dirty="0" sz="1800" spc="-10">
                <a:latin typeface="Calibri"/>
                <a:cs typeface="Calibri"/>
              </a:rPr>
              <a:t>several alternatives</a:t>
            </a:r>
            <a:endParaRPr sz="1800">
              <a:latin typeface="Calibri"/>
              <a:cs typeface="Calibri"/>
            </a:endParaRPr>
          </a:p>
          <a:p>
            <a:pPr algn="just" marL="228600" marR="7620" indent="-228600">
              <a:lnSpc>
                <a:spcPts val="1950"/>
              </a:lnSpc>
              <a:spcBef>
                <a:spcPts val="605"/>
              </a:spcBef>
              <a:buFont typeface="Arial MT"/>
              <a:buChar char="•"/>
              <a:tabLst>
                <a:tab pos="228600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5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selector</a:t>
            </a:r>
            <a:r>
              <a:rPr dirty="0" sz="1800" spc="5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6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followed</a:t>
            </a:r>
            <a:r>
              <a:rPr dirty="0" sz="1800" spc="6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5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one</a:t>
            </a:r>
            <a:r>
              <a:rPr dirty="0" sz="1800" spc="6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5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more</a:t>
            </a:r>
            <a:r>
              <a:rPr dirty="0" sz="1800" spc="5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5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clauses</a:t>
            </a:r>
            <a:r>
              <a:rPr dirty="0" sz="1800" spc="6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55">
                <a:latin typeface="Calibri"/>
                <a:cs typeface="Calibri"/>
              </a:rPr>
              <a:t>  </a:t>
            </a:r>
            <a:r>
              <a:rPr dirty="0" sz="1800" spc="-25">
                <a:latin typeface="Calibri"/>
                <a:cs typeface="Calibri"/>
              </a:rPr>
              <a:t>are </a:t>
            </a:r>
            <a:r>
              <a:rPr dirty="0" sz="1800" spc="-10">
                <a:latin typeface="Calibri"/>
                <a:cs typeface="Calibri"/>
              </a:rPr>
              <a:t>checked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sequentially</a:t>
            </a:r>
            <a:endParaRPr sz="1800">
              <a:latin typeface="Calibri"/>
              <a:cs typeface="Calibri"/>
            </a:endParaRPr>
          </a:p>
          <a:p>
            <a:pPr algn="just" marL="227965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27965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selector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determines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result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returned</a:t>
            </a:r>
            <a:endParaRPr sz="1800">
              <a:latin typeface="Calibri"/>
              <a:cs typeface="Calibri"/>
            </a:endParaRPr>
          </a:p>
          <a:p>
            <a:pPr algn="just" marL="228600" marR="7620" indent="-228600">
              <a:lnSpc>
                <a:spcPts val="1939"/>
              </a:lnSpc>
              <a:spcBef>
                <a:spcPts val="630"/>
              </a:spcBef>
              <a:buFont typeface="Arial MT"/>
              <a:buChar char="•"/>
              <a:tabLst>
                <a:tab pos="228600" algn="l"/>
              </a:tabLst>
            </a:pPr>
            <a:r>
              <a:rPr dirty="0" sz="1800">
                <a:latin typeface="Calibri"/>
                <a:cs typeface="Calibri"/>
              </a:rPr>
              <a:t>If</a:t>
            </a:r>
            <a:r>
              <a:rPr dirty="0" sz="1800" spc="8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8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8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9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8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selector</a:t>
            </a:r>
            <a:r>
              <a:rPr dirty="0" sz="1800" spc="8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equals</a:t>
            </a:r>
            <a:r>
              <a:rPr dirty="0" sz="1800" spc="8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8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9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8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9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90">
                <a:latin typeface="Calibri"/>
                <a:cs typeface="Calibri"/>
              </a:rPr>
              <a:t>  </a:t>
            </a:r>
            <a:r>
              <a:rPr dirty="0" sz="1800" spc="-10">
                <a:latin typeface="Calibri"/>
                <a:cs typeface="Calibri"/>
              </a:rPr>
              <a:t>clause </a:t>
            </a:r>
            <a:r>
              <a:rPr dirty="0" sz="1800">
                <a:latin typeface="Calibri"/>
                <a:cs typeface="Calibri"/>
              </a:rPr>
              <a:t>expression</a:t>
            </a:r>
            <a:r>
              <a:rPr dirty="0" sz="1800" spc="1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1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1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clause</a:t>
            </a:r>
            <a:r>
              <a:rPr dirty="0" sz="1800" spc="1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1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executed,</a:t>
            </a:r>
            <a:r>
              <a:rPr dirty="0" sz="1800" spc="1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2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result</a:t>
            </a:r>
            <a:r>
              <a:rPr dirty="0" sz="1800" spc="1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18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returned.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syntax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expression</a:t>
            </a:r>
            <a:r>
              <a:rPr dirty="0" sz="1800" spc="-25">
                <a:latin typeface="Calibri"/>
                <a:cs typeface="Calibri"/>
              </a:rPr>
              <a:t> is</a:t>
            </a:r>
            <a:endParaRPr sz="1800">
              <a:latin typeface="Calibri"/>
              <a:cs typeface="Calibri"/>
            </a:endParaRPr>
          </a:p>
          <a:p>
            <a:pPr marL="914400">
              <a:lnSpc>
                <a:spcPct val="100000"/>
              </a:lnSpc>
              <a:spcBef>
                <a:spcPts val="365"/>
              </a:spcBef>
            </a:pPr>
            <a:r>
              <a:rPr dirty="0" sz="1800">
                <a:latin typeface="Calibri"/>
                <a:cs typeface="Calibri"/>
              </a:rPr>
              <a:t>CASE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selector</a:t>
            </a:r>
            <a:endParaRPr sz="1800">
              <a:latin typeface="Calibri"/>
              <a:cs typeface="Calibri"/>
            </a:endParaRPr>
          </a:p>
          <a:p>
            <a:pPr marL="1828800" marR="2004060">
              <a:lnSpc>
                <a:spcPct val="117800"/>
              </a:lnSpc>
            </a:pP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expression1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result1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expression2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result2</a:t>
            </a:r>
            <a:endParaRPr sz="1800">
              <a:latin typeface="Calibri"/>
              <a:cs typeface="Calibri"/>
            </a:endParaRPr>
          </a:p>
          <a:p>
            <a:pPr marL="1828800">
              <a:lnSpc>
                <a:spcPct val="100000"/>
              </a:lnSpc>
              <a:spcBef>
                <a:spcPts val="385"/>
              </a:spcBef>
            </a:pPr>
            <a:r>
              <a:rPr dirty="0" sz="1800" spc="-25">
                <a:latin typeface="Calibri"/>
                <a:cs typeface="Calibri"/>
              </a:rPr>
              <a:t>….</a:t>
            </a:r>
            <a:endParaRPr sz="1800">
              <a:latin typeface="Calibri"/>
              <a:cs typeface="Calibri"/>
            </a:endParaRPr>
          </a:p>
          <a:p>
            <a:pPr marL="1828800">
              <a:lnSpc>
                <a:spcPct val="100000"/>
              </a:lnSpc>
              <a:spcBef>
                <a:spcPts val="385"/>
              </a:spcBef>
            </a:pP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expressionN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resultN</a:t>
            </a:r>
            <a:endParaRPr sz="1800">
              <a:latin typeface="Calibri"/>
              <a:cs typeface="Calibri"/>
            </a:endParaRPr>
          </a:p>
          <a:p>
            <a:pPr marL="1828800">
              <a:lnSpc>
                <a:spcPct val="100000"/>
              </a:lnSpc>
              <a:spcBef>
                <a:spcPts val="385"/>
              </a:spcBef>
            </a:pPr>
            <a:r>
              <a:rPr dirty="0" sz="1800">
                <a:latin typeface="Calibri"/>
                <a:cs typeface="Calibri"/>
              </a:rPr>
              <a:t>[ELSE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resultN+1]</a:t>
            </a:r>
            <a:endParaRPr sz="1800">
              <a:latin typeface="Calibri"/>
              <a:cs typeface="Calibri"/>
            </a:endParaRPr>
          </a:p>
          <a:p>
            <a:pPr marL="914400">
              <a:lnSpc>
                <a:spcPct val="100000"/>
              </a:lnSpc>
              <a:spcBef>
                <a:spcPts val="385"/>
              </a:spcBef>
            </a:pPr>
            <a:r>
              <a:rPr dirty="0" sz="1800" spc="-20">
                <a:latin typeface="Calibri"/>
                <a:cs typeface="Calibri"/>
              </a:rPr>
              <a:t>END;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5410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260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 marR="930275">
              <a:lnSpc>
                <a:spcPts val="4110"/>
              </a:lnSpc>
            </a:pPr>
            <a:r>
              <a:rPr dirty="0" sz="3800" spc="-10">
                <a:solidFill>
                  <a:srgbClr val="FFFFFF"/>
                </a:solidFill>
                <a:latin typeface="Calibri Light"/>
                <a:cs typeface="Calibri Light"/>
              </a:rPr>
              <a:t>Searched </a:t>
            </a:r>
            <a:r>
              <a:rPr dirty="0" sz="3800" spc="-20">
                <a:solidFill>
                  <a:srgbClr val="FFFFFF"/>
                </a:solidFill>
                <a:latin typeface="Calibri Light"/>
                <a:cs typeface="Calibri Light"/>
              </a:rPr>
              <a:t>Case </a:t>
            </a:r>
            <a:r>
              <a:rPr dirty="0" sz="3800" spc="-10">
                <a:solidFill>
                  <a:srgbClr val="FFFFFF"/>
                </a:solidFill>
                <a:latin typeface="Calibri Light"/>
                <a:cs typeface="Calibri Light"/>
              </a:rPr>
              <a:t>Expression</a:t>
            </a:r>
            <a:endParaRPr sz="3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44696" y="448055"/>
            <a:ext cx="7688580" cy="5953125"/>
          </a:xfrm>
          <a:prstGeom prst="rect">
            <a:avLst/>
          </a:prstGeom>
          <a:solidFill>
            <a:srgbClr val="7E7E7E">
              <a:alpha val="19999"/>
            </a:srgbClr>
          </a:solidFill>
        </p:spPr>
        <p:txBody>
          <a:bodyPr wrap="square" lIns="0" tIns="1841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0"/>
              </a:spcBef>
            </a:pPr>
            <a:endParaRPr sz="1800">
              <a:latin typeface="Times New Roman"/>
              <a:cs typeface="Times New Roman"/>
            </a:endParaRPr>
          </a:p>
          <a:p>
            <a:pPr marL="654685" indent="-227965">
              <a:lnSpc>
                <a:spcPts val="2055"/>
              </a:lnSpc>
              <a:buFont typeface="Arial MT"/>
              <a:buChar char="•"/>
              <a:tabLst>
                <a:tab pos="654685" algn="l"/>
              </a:tabLst>
            </a:pPr>
            <a:r>
              <a:rPr dirty="0" sz="1800">
                <a:latin typeface="Calibri"/>
                <a:cs typeface="Calibri"/>
              </a:rPr>
              <a:t>PL/SQL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also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provides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searched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CASE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expression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655320">
              <a:lnSpc>
                <a:spcPts val="2055"/>
              </a:lnSpc>
            </a:pPr>
            <a:r>
              <a:rPr dirty="0" sz="1800" spc="-10">
                <a:latin typeface="Calibri"/>
                <a:cs typeface="Calibri"/>
              </a:rPr>
              <a:t>following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form</a:t>
            </a:r>
            <a:endParaRPr sz="1800">
              <a:latin typeface="Calibri"/>
              <a:cs typeface="Calibri"/>
            </a:endParaRPr>
          </a:p>
          <a:p>
            <a:pPr marL="1341120">
              <a:lnSpc>
                <a:spcPct val="100000"/>
              </a:lnSpc>
              <a:spcBef>
                <a:spcPts val="790"/>
              </a:spcBef>
            </a:pPr>
            <a:r>
              <a:rPr dirty="0" sz="1800" spc="-20">
                <a:latin typeface="Calibri"/>
                <a:cs typeface="Calibri"/>
              </a:rPr>
              <a:t>CASE</a:t>
            </a:r>
            <a:endParaRPr sz="1800">
              <a:latin typeface="Calibri"/>
              <a:cs typeface="Calibri"/>
            </a:endParaRPr>
          </a:p>
          <a:p>
            <a:pPr marL="2255520" marR="1789430">
              <a:lnSpc>
                <a:spcPct val="136100"/>
              </a:lnSpc>
            </a:pP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search_condition1</a:t>
            </a:r>
            <a:r>
              <a:rPr dirty="0" sz="1800">
                <a:latin typeface="Calibri"/>
                <a:cs typeface="Calibri"/>
              </a:rPr>
              <a:t> THEN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result1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search_condition2</a:t>
            </a:r>
            <a:r>
              <a:rPr dirty="0" sz="1800">
                <a:latin typeface="Calibri"/>
                <a:cs typeface="Calibri"/>
              </a:rPr>
              <a:t> THEN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result2</a:t>
            </a:r>
            <a:endParaRPr sz="1800">
              <a:latin typeface="Calibri"/>
              <a:cs typeface="Calibri"/>
            </a:endParaRPr>
          </a:p>
          <a:p>
            <a:pPr marL="2255520">
              <a:lnSpc>
                <a:spcPct val="100000"/>
              </a:lnSpc>
              <a:spcBef>
                <a:spcPts val="795"/>
              </a:spcBef>
            </a:pPr>
            <a:r>
              <a:rPr dirty="0" sz="1800" spc="-25">
                <a:latin typeface="Calibri"/>
                <a:cs typeface="Calibri"/>
              </a:rPr>
              <a:t>….</a:t>
            </a:r>
            <a:endParaRPr sz="1800">
              <a:latin typeface="Calibri"/>
              <a:cs typeface="Calibri"/>
            </a:endParaRPr>
          </a:p>
          <a:p>
            <a:pPr marL="2255520" marR="1725295">
              <a:lnSpc>
                <a:spcPct val="136100"/>
              </a:lnSpc>
            </a:pP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search_conditionN</a:t>
            </a:r>
            <a:r>
              <a:rPr dirty="0" sz="1800">
                <a:latin typeface="Calibri"/>
                <a:cs typeface="Calibri"/>
              </a:rPr>
              <a:t> THEN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resultN </a:t>
            </a:r>
            <a:r>
              <a:rPr dirty="0" sz="1800">
                <a:latin typeface="Calibri"/>
                <a:cs typeface="Calibri"/>
              </a:rPr>
              <a:t>[ELSE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resultN+1]</a:t>
            </a:r>
            <a:endParaRPr sz="1800">
              <a:latin typeface="Calibri"/>
              <a:cs typeface="Calibri"/>
            </a:endParaRPr>
          </a:p>
          <a:p>
            <a:pPr marL="1341120">
              <a:lnSpc>
                <a:spcPct val="100000"/>
              </a:lnSpc>
              <a:spcBef>
                <a:spcPts val="795"/>
              </a:spcBef>
            </a:pPr>
            <a:r>
              <a:rPr dirty="0" sz="1800" spc="-20">
                <a:latin typeface="Calibri"/>
                <a:cs typeface="Calibri"/>
              </a:rPr>
              <a:t>END;</a:t>
            </a:r>
            <a:endParaRPr sz="1800">
              <a:latin typeface="Calibri"/>
              <a:cs typeface="Calibri"/>
            </a:endParaRPr>
          </a:p>
          <a:p>
            <a:pPr marL="65468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654685" algn="l"/>
              </a:tabLst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searched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case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expression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selector</a:t>
            </a:r>
            <a:endParaRPr sz="1800">
              <a:latin typeface="Calibri"/>
              <a:cs typeface="Calibri"/>
            </a:endParaRPr>
          </a:p>
          <a:p>
            <a:pPr marL="655320" marR="548640" indent="-228600">
              <a:lnSpc>
                <a:spcPts val="1939"/>
              </a:lnSpc>
              <a:spcBef>
                <a:spcPts val="1030"/>
              </a:spcBef>
              <a:buFont typeface="Arial MT"/>
              <a:buChar char="•"/>
              <a:tabLst>
                <a:tab pos="655320" algn="l"/>
              </a:tabLst>
            </a:pPr>
            <a:r>
              <a:rPr dirty="0" sz="1800">
                <a:latin typeface="Calibri"/>
                <a:cs typeface="Calibri"/>
              </a:rPr>
              <a:t>Its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clause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contains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search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conditions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yield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Boolean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value </a:t>
            </a:r>
            <a:r>
              <a:rPr dirty="0" sz="1800">
                <a:latin typeface="Calibri"/>
                <a:cs typeface="Calibri"/>
              </a:rPr>
              <a:t>rather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expression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yield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type</a:t>
            </a:r>
            <a:endParaRPr sz="1800">
              <a:latin typeface="Calibri"/>
              <a:cs typeface="Calibri"/>
            </a:endParaRPr>
          </a:p>
          <a:p>
            <a:pPr algn="just" marL="655320" marR="989330" indent="-228600">
              <a:lnSpc>
                <a:spcPts val="1939"/>
              </a:lnSpc>
              <a:spcBef>
                <a:spcPts val="1015"/>
              </a:spcBef>
              <a:buFont typeface="Arial MT"/>
              <a:buChar char="•"/>
              <a:tabLst>
                <a:tab pos="655320" algn="l"/>
              </a:tabLst>
            </a:pP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searched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statements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you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test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expression</a:t>
            </a:r>
            <a:r>
              <a:rPr dirty="0" sz="1800" spc="-50">
                <a:latin typeface="Calibri"/>
                <a:cs typeface="Calibri"/>
              </a:rPr>
              <a:t> . </a:t>
            </a:r>
            <a:r>
              <a:rPr dirty="0" sz="1800">
                <a:latin typeface="Calibri"/>
                <a:cs typeface="Calibri"/>
              </a:rPr>
              <a:t>Instead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clause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contains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expression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results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a </a:t>
            </a:r>
            <a:r>
              <a:rPr dirty="0" sz="1800">
                <a:latin typeface="Calibri"/>
                <a:cs typeface="Calibri"/>
              </a:rPr>
              <a:t>Boolean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value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5618480" cy="1300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015"/>
              </a:lnSpc>
              <a:spcBef>
                <a:spcPts val="100"/>
              </a:spcBef>
            </a:pPr>
            <a:r>
              <a:rPr dirty="0" sz="4400"/>
              <a:t>Case</a:t>
            </a:r>
            <a:r>
              <a:rPr dirty="0" sz="4400" spc="-50"/>
              <a:t> </a:t>
            </a:r>
            <a:r>
              <a:rPr dirty="0" sz="4400"/>
              <a:t>Expression</a:t>
            </a:r>
            <a:r>
              <a:rPr dirty="0" sz="4400" spc="-65"/>
              <a:t> </a:t>
            </a:r>
            <a:r>
              <a:rPr dirty="0" sz="4400" spc="-10"/>
              <a:t>example</a:t>
            </a:r>
            <a:endParaRPr sz="4400"/>
          </a:p>
          <a:p>
            <a:pPr marL="12700">
              <a:lnSpc>
                <a:spcPts val="5015"/>
              </a:lnSpc>
            </a:pPr>
            <a:r>
              <a:rPr dirty="0" sz="4400" spc="-25"/>
              <a:t>-</a:t>
            </a:r>
            <a:r>
              <a:rPr dirty="0" sz="4400"/>
              <a:t>-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444497"/>
            <a:ext cx="6913245" cy="49885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4428490">
              <a:lnSpc>
                <a:spcPts val="3010"/>
              </a:lnSpc>
              <a:spcBef>
                <a:spcPts val="90"/>
              </a:spcBef>
            </a:pP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serveroutput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on </a:t>
            </a:r>
            <a:r>
              <a:rPr dirty="0" sz="2400" spc="-10">
                <a:latin typeface="Calibri"/>
                <a:cs typeface="Calibri"/>
              </a:rPr>
              <a:t>declare</a:t>
            </a:r>
            <a:endParaRPr sz="2400">
              <a:latin typeface="Calibri"/>
              <a:cs typeface="Calibri"/>
            </a:endParaRPr>
          </a:p>
          <a:p>
            <a:pPr marL="12700" marR="5339715">
              <a:lnSpc>
                <a:spcPts val="3010"/>
              </a:lnSpc>
              <a:spcBef>
                <a:spcPts val="20"/>
              </a:spcBef>
            </a:pPr>
            <a:r>
              <a:rPr dirty="0" sz="2400">
                <a:latin typeface="Calibri"/>
                <a:cs typeface="Calibri"/>
              </a:rPr>
              <a:t>per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number; Begin per:=&amp;per;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400">
                <a:latin typeface="Calibri"/>
                <a:cs typeface="Calibri"/>
              </a:rPr>
              <a:t>case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per</a:t>
            </a:r>
            <a:endParaRPr sz="2400">
              <a:latin typeface="Calibri"/>
              <a:cs typeface="Calibri"/>
            </a:endParaRPr>
          </a:p>
          <a:p>
            <a:pPr algn="just" marL="12700" marR="16510">
              <a:lnSpc>
                <a:spcPct val="104600"/>
              </a:lnSpc>
            </a:pP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8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-30">
                <a:latin typeface="Calibri"/>
                <a:cs typeface="Calibri"/>
              </a:rPr>
              <a:t> DBMS_OUTPUT.PUT_LINE('Your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grade: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A'); </a:t>
            </a: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7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-30">
                <a:latin typeface="Calibri"/>
                <a:cs typeface="Calibri"/>
              </a:rPr>
              <a:t> DBMS_OUTPUT.PUT_LINE('Your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grade: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B');</a:t>
            </a:r>
            <a:endParaRPr sz="2400">
              <a:latin typeface="Calibri"/>
              <a:cs typeface="Calibri"/>
            </a:endParaRPr>
          </a:p>
          <a:p>
            <a:pPr algn="just" marL="12700" marR="5080">
              <a:lnSpc>
                <a:spcPct val="104600"/>
              </a:lnSpc>
              <a:spcBef>
                <a:spcPts val="15"/>
              </a:spcBef>
            </a:pP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6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-30">
                <a:latin typeface="Calibri"/>
                <a:cs typeface="Calibri"/>
              </a:rPr>
              <a:t> DBMS_OUTPUT.PUT_LINE('Your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grade: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C'); </a:t>
            </a: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5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DBMS_OUTPUT.PUT_LINE('Your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grade: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D'); </a:t>
            </a:r>
            <a:r>
              <a:rPr dirty="0" sz="2400">
                <a:latin typeface="Calibri"/>
                <a:cs typeface="Calibri"/>
              </a:rPr>
              <a:t>else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DBMS_OUTPUT.PUT_LINE('Your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grade: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F');</a:t>
            </a:r>
            <a:endParaRPr sz="2400">
              <a:latin typeface="Calibri"/>
              <a:cs typeface="Calibri"/>
            </a:endParaRPr>
          </a:p>
          <a:p>
            <a:pPr marL="12700" marR="5725795">
              <a:lnSpc>
                <a:spcPct val="104600"/>
              </a:lnSpc>
              <a:spcBef>
                <a:spcPts val="10"/>
              </a:spcBef>
            </a:pPr>
            <a:r>
              <a:rPr dirty="0" sz="2400">
                <a:latin typeface="Calibri"/>
                <a:cs typeface="Calibri"/>
              </a:rPr>
              <a:t>end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case; </a:t>
            </a:r>
            <a:r>
              <a:rPr dirty="0" sz="2400" spc="-20">
                <a:latin typeface="Calibri"/>
                <a:cs typeface="Calibri"/>
              </a:rPr>
              <a:t>end;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580888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00683" y="2725877"/>
            <a:ext cx="3578860" cy="118427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32715" marR="5080" indent="-120650">
              <a:lnSpc>
                <a:spcPts val="4320"/>
              </a:lnSpc>
              <a:spcBef>
                <a:spcPts val="640"/>
              </a:spcBef>
            </a:pPr>
            <a:r>
              <a:rPr dirty="0" sz="4000" spc="-10">
                <a:solidFill>
                  <a:srgbClr val="FFFFFF"/>
                </a:solidFill>
                <a:latin typeface="Calibri Light"/>
                <a:cs typeface="Calibri Light"/>
              </a:rPr>
              <a:t>Iterative</a:t>
            </a:r>
            <a:r>
              <a:rPr dirty="0" sz="4000" spc="-19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000">
                <a:solidFill>
                  <a:srgbClr val="FFFFFF"/>
                </a:solidFill>
                <a:latin typeface="Calibri Light"/>
                <a:cs typeface="Calibri Light"/>
              </a:rPr>
              <a:t>Control</a:t>
            </a:r>
            <a:r>
              <a:rPr dirty="0" sz="4000" spc="-18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000" spc="-50">
                <a:solidFill>
                  <a:srgbClr val="FFFFFF"/>
                </a:solidFill>
                <a:latin typeface="Calibri Light"/>
                <a:cs typeface="Calibri Light"/>
              </a:rPr>
              <a:t>: </a:t>
            </a:r>
            <a:r>
              <a:rPr dirty="0" sz="400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r>
              <a:rPr dirty="0" sz="4000" spc="-8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000" spc="-20">
                <a:solidFill>
                  <a:srgbClr val="FFFFFF"/>
                </a:solidFill>
                <a:latin typeface="Calibri Light"/>
                <a:cs typeface="Calibri Light"/>
              </a:rPr>
              <a:t>Statements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6210" y="517016"/>
            <a:ext cx="5682615" cy="137922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just"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Loops</a:t>
            </a:r>
            <a:r>
              <a:rPr dirty="0" sz="2400" spc="305">
                <a:latin typeface="Calibri"/>
                <a:cs typeface="Calibri"/>
              </a:rPr>
              <a:t>  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315">
                <a:latin typeface="Calibri"/>
                <a:cs typeface="Calibri"/>
              </a:rPr>
              <a:t>   </a:t>
            </a:r>
            <a:r>
              <a:rPr dirty="0" sz="2400">
                <a:latin typeface="Calibri"/>
                <a:cs typeface="Calibri"/>
              </a:rPr>
              <a:t>mainly</a:t>
            </a:r>
            <a:r>
              <a:rPr dirty="0" sz="2400" spc="300">
                <a:latin typeface="Calibri"/>
                <a:cs typeface="Calibri"/>
              </a:rPr>
              <a:t>  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315">
                <a:latin typeface="Calibri"/>
                <a:cs typeface="Calibri"/>
              </a:rPr>
              <a:t>  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300">
                <a:latin typeface="Calibri"/>
                <a:cs typeface="Calibri"/>
              </a:rPr>
              <a:t>   </a:t>
            </a:r>
            <a:r>
              <a:rPr dirty="0" sz="2400" spc="-10">
                <a:latin typeface="Calibri"/>
                <a:cs typeface="Calibri"/>
              </a:rPr>
              <a:t>execute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statements</a:t>
            </a:r>
            <a:r>
              <a:rPr dirty="0" sz="2400" spc="5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5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5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sequence</a:t>
            </a:r>
            <a:r>
              <a:rPr dirty="0" sz="2400" spc="5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instructions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multiple</a:t>
            </a:r>
            <a:r>
              <a:rPr dirty="0" sz="2400" spc="12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times</a:t>
            </a:r>
            <a:r>
              <a:rPr dirty="0" sz="2400" spc="355">
                <a:latin typeface="Calibri"/>
                <a:cs typeface="Calibri"/>
              </a:rPr>
              <a:t>   </a:t>
            </a:r>
            <a:r>
              <a:rPr dirty="0" sz="2400">
                <a:latin typeface="Calibri"/>
                <a:cs typeface="Calibri"/>
              </a:rPr>
              <a:t>repeatedly</a:t>
            </a:r>
            <a:r>
              <a:rPr dirty="0" sz="2400" spc="14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until</a:t>
            </a:r>
            <a:r>
              <a:rPr dirty="0" sz="2400" spc="13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135">
                <a:latin typeface="Calibri"/>
                <a:cs typeface="Calibri"/>
              </a:rPr>
              <a:t>  </a:t>
            </a:r>
            <a:r>
              <a:rPr dirty="0" sz="2400" spc="-20">
                <a:latin typeface="Calibri"/>
                <a:cs typeface="Calibri"/>
              </a:rPr>
              <a:t>exit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condition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occurs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6210" y="1962150"/>
            <a:ext cx="5680075" cy="150558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mandatory</a:t>
            </a:r>
            <a:r>
              <a:rPr dirty="0" sz="2400" spc="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exit</a:t>
            </a:r>
            <a:r>
              <a:rPr dirty="0" sz="2400" spc="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condition</a:t>
            </a:r>
            <a:r>
              <a:rPr dirty="0" sz="2400" spc="10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loop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else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becomes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infinite</a:t>
            </a:r>
            <a:endParaRPr sz="2400">
              <a:latin typeface="Calibri"/>
              <a:cs typeface="Calibri"/>
            </a:endParaRPr>
          </a:p>
          <a:p>
            <a:pPr marL="240029" marR="6350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Looping</a:t>
            </a:r>
            <a:r>
              <a:rPr dirty="0" sz="2400" spc="2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constructs</a:t>
            </a:r>
            <a:r>
              <a:rPr dirty="0" sz="2400" spc="2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2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2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second</a:t>
            </a:r>
            <a:r>
              <a:rPr dirty="0" sz="2400" spc="2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type</a:t>
            </a:r>
            <a:r>
              <a:rPr dirty="0" sz="2400" spc="2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of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control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structure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13803" y="3532123"/>
            <a:ext cx="4371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4445" algn="l"/>
                <a:tab pos="1891664" algn="l"/>
                <a:tab pos="3233420" algn="l"/>
                <a:tab pos="4106545" algn="l"/>
              </a:tabLst>
            </a:pPr>
            <a:r>
              <a:rPr dirty="0" sz="2400" spc="-10">
                <a:latin typeface="Calibri"/>
                <a:cs typeface="Calibri"/>
              </a:rPr>
              <a:t>provides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the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following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types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06210" y="3532123"/>
            <a:ext cx="1340485" cy="1113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10">
                <a:latin typeface="Calibri"/>
                <a:cs typeface="Calibri"/>
              </a:rPr>
              <a:t>PL/SQL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dirty="0" sz="2400" spc="-10">
                <a:latin typeface="Calibri"/>
                <a:cs typeface="Calibri"/>
              </a:rPr>
              <a:t>loops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0">
                <a:latin typeface="Calibri"/>
                <a:cs typeface="Calibri"/>
              </a:rPr>
              <a:t>Basic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59420" y="4254195"/>
            <a:ext cx="41268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0100" algn="l"/>
                <a:tab pos="1545590" algn="l"/>
                <a:tab pos="2919095" algn="l"/>
              </a:tabLst>
            </a:pPr>
            <a:r>
              <a:rPr dirty="0" sz="2400" spc="-20">
                <a:latin typeface="Calibri"/>
                <a:cs typeface="Calibri"/>
              </a:rPr>
              <a:t>loop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that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performs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repetitive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63410" y="4556505"/>
            <a:ext cx="5222875" cy="186245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315"/>
              </a:spcBef>
            </a:pPr>
            <a:r>
              <a:rPr dirty="0" sz="2400">
                <a:latin typeface="Calibri"/>
                <a:cs typeface="Calibri"/>
              </a:rPr>
              <a:t>actions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without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overall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conditions</a:t>
            </a:r>
            <a:endParaRPr sz="2400">
              <a:latin typeface="Calibri"/>
              <a:cs typeface="Calibri"/>
            </a:endParaRPr>
          </a:p>
          <a:p>
            <a:pPr marL="239395" marR="5080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loops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perform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iterative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actions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based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count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165"/>
              </a:spcBef>
              <a:buFont typeface="Arial MT"/>
              <a:buChar char="•"/>
              <a:tabLst>
                <a:tab pos="240029" algn="l"/>
                <a:tab pos="1290955" algn="l"/>
                <a:tab pos="2195195" algn="l"/>
                <a:tab pos="2936875" algn="l"/>
                <a:tab pos="4188460" algn="l"/>
              </a:tabLst>
            </a:pPr>
            <a:r>
              <a:rPr dirty="0" sz="2400" spc="-10">
                <a:latin typeface="Calibri"/>
                <a:cs typeface="Calibri"/>
              </a:rPr>
              <a:t>WHILE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loops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that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perform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iterative</a:t>
            </a:r>
            <a:endParaRPr sz="2400">
              <a:latin typeface="Calibri"/>
              <a:cs typeface="Calibri"/>
            </a:endParaRPr>
          </a:p>
          <a:p>
            <a:pPr marL="240665">
              <a:lnSpc>
                <a:spcPts val="2735"/>
              </a:lnSpc>
            </a:pPr>
            <a:r>
              <a:rPr dirty="0" sz="2400">
                <a:latin typeface="Calibri"/>
                <a:cs typeface="Calibri"/>
              </a:rPr>
              <a:t>action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based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condition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 descr="VSIT logo NEW small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78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Iterative</a:t>
            </a:r>
            <a:r>
              <a:rPr dirty="0" spc="-210"/>
              <a:t> </a:t>
            </a:r>
            <a:r>
              <a:rPr dirty="0" spc="-10"/>
              <a:t>control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58951" y="1825751"/>
            <a:ext cx="10594975" cy="1243965"/>
            <a:chOff x="758951" y="1825751"/>
            <a:chExt cx="10594975" cy="1243965"/>
          </a:xfrm>
        </p:grpSpPr>
        <p:sp>
          <p:nvSpPr>
            <p:cNvPr id="4" name="object 4"/>
            <p:cNvSpPr/>
            <p:nvPr/>
          </p:nvSpPr>
          <p:spPr>
            <a:xfrm>
              <a:off x="758951" y="1825751"/>
              <a:ext cx="10594975" cy="1243965"/>
            </a:xfrm>
            <a:custGeom>
              <a:avLst/>
              <a:gdLst/>
              <a:ahLst/>
              <a:cxnLst/>
              <a:rect l="l" t="t" r="r" b="b"/>
              <a:pathLst>
                <a:path w="10594975" h="1243964">
                  <a:moveTo>
                    <a:pt x="10470515" y="0"/>
                  </a:moveTo>
                  <a:lnTo>
                    <a:pt x="124358" y="0"/>
                  </a:lnTo>
                  <a:lnTo>
                    <a:pt x="75952" y="9765"/>
                  </a:lnTo>
                  <a:lnTo>
                    <a:pt x="36423" y="36401"/>
                  </a:lnTo>
                  <a:lnTo>
                    <a:pt x="9772" y="75920"/>
                  </a:lnTo>
                  <a:lnTo>
                    <a:pt x="0" y="124333"/>
                  </a:lnTo>
                  <a:lnTo>
                    <a:pt x="0" y="1119251"/>
                  </a:lnTo>
                  <a:lnTo>
                    <a:pt x="9772" y="1167663"/>
                  </a:lnTo>
                  <a:lnTo>
                    <a:pt x="36423" y="1207182"/>
                  </a:lnTo>
                  <a:lnTo>
                    <a:pt x="75952" y="1233818"/>
                  </a:lnTo>
                  <a:lnTo>
                    <a:pt x="124358" y="1243584"/>
                  </a:lnTo>
                  <a:lnTo>
                    <a:pt x="10470515" y="1243584"/>
                  </a:lnTo>
                  <a:lnTo>
                    <a:pt x="10518927" y="1233818"/>
                  </a:lnTo>
                  <a:lnTo>
                    <a:pt x="10558446" y="1207182"/>
                  </a:lnTo>
                  <a:lnTo>
                    <a:pt x="10585082" y="1167663"/>
                  </a:lnTo>
                  <a:lnTo>
                    <a:pt x="10594848" y="1119251"/>
                  </a:lnTo>
                  <a:lnTo>
                    <a:pt x="10594848" y="124333"/>
                  </a:lnTo>
                  <a:lnTo>
                    <a:pt x="10585082" y="75920"/>
                  </a:lnTo>
                  <a:lnTo>
                    <a:pt x="10558446" y="36401"/>
                  </a:lnTo>
                  <a:lnTo>
                    <a:pt x="10518927" y="9765"/>
                  </a:lnTo>
                  <a:lnTo>
                    <a:pt x="1047051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58838" y="2223729"/>
              <a:ext cx="240029" cy="99060"/>
            </a:xfrm>
            <a:custGeom>
              <a:avLst/>
              <a:gdLst/>
              <a:ahLst/>
              <a:cxnLst/>
              <a:rect l="l" t="t" r="r" b="b"/>
              <a:pathLst>
                <a:path w="240030" h="99060">
                  <a:moveTo>
                    <a:pt x="239609" y="0"/>
                  </a:moveTo>
                  <a:lnTo>
                    <a:pt x="0" y="0"/>
                  </a:lnTo>
                  <a:lnTo>
                    <a:pt x="0" y="98497"/>
                  </a:lnTo>
                  <a:lnTo>
                    <a:pt x="239609" y="98497"/>
                  </a:lnTo>
                  <a:lnTo>
                    <a:pt x="2396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4939" y="2596614"/>
              <a:ext cx="84567" cy="844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6359" y="2596614"/>
              <a:ext cx="84567" cy="8442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7779" y="2596614"/>
              <a:ext cx="84567" cy="8442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53129" y="2350369"/>
              <a:ext cx="451484" cy="225425"/>
            </a:xfrm>
            <a:custGeom>
              <a:avLst/>
              <a:gdLst/>
              <a:ahLst/>
              <a:cxnLst/>
              <a:rect l="l" t="t" r="r" b="b"/>
              <a:pathLst>
                <a:path w="451485" h="225425">
                  <a:moveTo>
                    <a:pt x="239609" y="0"/>
                  </a:moveTo>
                  <a:lnTo>
                    <a:pt x="211419" y="0"/>
                  </a:lnTo>
                  <a:lnTo>
                    <a:pt x="211419" y="66837"/>
                  </a:lnTo>
                  <a:lnTo>
                    <a:pt x="179706" y="98497"/>
                  </a:lnTo>
                  <a:lnTo>
                    <a:pt x="0" y="98497"/>
                  </a:lnTo>
                  <a:lnTo>
                    <a:pt x="0" y="225138"/>
                  </a:lnTo>
                  <a:lnTo>
                    <a:pt x="28189" y="225138"/>
                  </a:lnTo>
                  <a:lnTo>
                    <a:pt x="28189" y="126640"/>
                  </a:lnTo>
                  <a:lnTo>
                    <a:pt x="204372" y="126640"/>
                  </a:lnTo>
                  <a:lnTo>
                    <a:pt x="190277" y="112569"/>
                  </a:lnTo>
                  <a:lnTo>
                    <a:pt x="225514" y="77391"/>
                  </a:lnTo>
                  <a:lnTo>
                    <a:pt x="250180" y="77391"/>
                  </a:lnTo>
                  <a:lnTo>
                    <a:pt x="239609" y="66837"/>
                  </a:lnTo>
                  <a:lnTo>
                    <a:pt x="239609" y="0"/>
                  </a:lnTo>
                  <a:close/>
                </a:path>
                <a:path w="451485" h="225425">
                  <a:moveTo>
                    <a:pt x="204372" y="126640"/>
                  </a:moveTo>
                  <a:lnTo>
                    <a:pt x="179706" y="126640"/>
                  </a:lnTo>
                  <a:lnTo>
                    <a:pt x="211419" y="158300"/>
                  </a:lnTo>
                  <a:lnTo>
                    <a:pt x="211419" y="225138"/>
                  </a:lnTo>
                  <a:lnTo>
                    <a:pt x="239609" y="225138"/>
                  </a:lnTo>
                  <a:lnTo>
                    <a:pt x="239609" y="158300"/>
                  </a:lnTo>
                  <a:lnTo>
                    <a:pt x="250180" y="147746"/>
                  </a:lnTo>
                  <a:lnTo>
                    <a:pt x="225514" y="147746"/>
                  </a:lnTo>
                  <a:lnTo>
                    <a:pt x="204372" y="126640"/>
                  </a:lnTo>
                  <a:close/>
                </a:path>
                <a:path w="451485" h="225425">
                  <a:moveTo>
                    <a:pt x="451028" y="126640"/>
                  </a:moveTo>
                  <a:lnTo>
                    <a:pt x="422839" y="126640"/>
                  </a:lnTo>
                  <a:lnTo>
                    <a:pt x="422839" y="225138"/>
                  </a:lnTo>
                  <a:lnTo>
                    <a:pt x="451028" y="225138"/>
                  </a:lnTo>
                  <a:lnTo>
                    <a:pt x="451028" y="126640"/>
                  </a:lnTo>
                  <a:close/>
                </a:path>
                <a:path w="451485" h="225425">
                  <a:moveTo>
                    <a:pt x="250180" y="77391"/>
                  </a:moveTo>
                  <a:lnTo>
                    <a:pt x="225514" y="77391"/>
                  </a:lnTo>
                  <a:lnTo>
                    <a:pt x="260751" y="112569"/>
                  </a:lnTo>
                  <a:lnTo>
                    <a:pt x="225514" y="147746"/>
                  </a:lnTo>
                  <a:lnTo>
                    <a:pt x="250180" y="147746"/>
                  </a:lnTo>
                  <a:lnTo>
                    <a:pt x="271322" y="126640"/>
                  </a:lnTo>
                  <a:lnTo>
                    <a:pt x="451028" y="126640"/>
                  </a:lnTo>
                  <a:lnTo>
                    <a:pt x="451028" y="98497"/>
                  </a:lnTo>
                  <a:lnTo>
                    <a:pt x="271322" y="98497"/>
                  </a:lnTo>
                  <a:lnTo>
                    <a:pt x="250180" y="77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314448" y="2226310"/>
            <a:ext cx="154114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dirty="0" sz="25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Calibri"/>
                <a:cs typeface="Calibri"/>
              </a:rPr>
              <a:t>loop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8951" y="3380232"/>
            <a:ext cx="10594975" cy="1242060"/>
            <a:chOff x="758951" y="3380232"/>
            <a:chExt cx="10594975" cy="1242060"/>
          </a:xfrm>
        </p:grpSpPr>
        <p:sp>
          <p:nvSpPr>
            <p:cNvPr id="12" name="object 12"/>
            <p:cNvSpPr/>
            <p:nvPr/>
          </p:nvSpPr>
          <p:spPr>
            <a:xfrm>
              <a:off x="758951" y="3380232"/>
              <a:ext cx="10594975" cy="1242060"/>
            </a:xfrm>
            <a:custGeom>
              <a:avLst/>
              <a:gdLst/>
              <a:ahLst/>
              <a:cxnLst/>
              <a:rect l="l" t="t" r="r" b="b"/>
              <a:pathLst>
                <a:path w="10594975" h="1242060">
                  <a:moveTo>
                    <a:pt x="10470642" y="0"/>
                  </a:moveTo>
                  <a:lnTo>
                    <a:pt x="124206" y="0"/>
                  </a:lnTo>
                  <a:lnTo>
                    <a:pt x="75861" y="9763"/>
                  </a:lnTo>
                  <a:lnTo>
                    <a:pt x="36380" y="36385"/>
                  </a:lnTo>
                  <a:lnTo>
                    <a:pt x="9761" y="75866"/>
                  </a:lnTo>
                  <a:lnTo>
                    <a:pt x="0" y="124205"/>
                  </a:lnTo>
                  <a:lnTo>
                    <a:pt x="0" y="1117853"/>
                  </a:lnTo>
                  <a:lnTo>
                    <a:pt x="9761" y="1166193"/>
                  </a:lnTo>
                  <a:lnTo>
                    <a:pt x="36380" y="1205674"/>
                  </a:lnTo>
                  <a:lnTo>
                    <a:pt x="75861" y="1232296"/>
                  </a:lnTo>
                  <a:lnTo>
                    <a:pt x="124206" y="1242059"/>
                  </a:lnTo>
                  <a:lnTo>
                    <a:pt x="10470642" y="1242059"/>
                  </a:lnTo>
                  <a:lnTo>
                    <a:pt x="10518981" y="1232296"/>
                  </a:lnTo>
                  <a:lnTo>
                    <a:pt x="10558462" y="1205674"/>
                  </a:lnTo>
                  <a:lnTo>
                    <a:pt x="10585084" y="1166193"/>
                  </a:lnTo>
                  <a:lnTo>
                    <a:pt x="10594848" y="1117853"/>
                  </a:lnTo>
                  <a:lnTo>
                    <a:pt x="10594848" y="124205"/>
                  </a:lnTo>
                  <a:lnTo>
                    <a:pt x="10585084" y="75866"/>
                  </a:lnTo>
                  <a:lnTo>
                    <a:pt x="10558462" y="36385"/>
                  </a:lnTo>
                  <a:lnTo>
                    <a:pt x="10518981" y="9763"/>
                  </a:lnTo>
                  <a:lnTo>
                    <a:pt x="10470642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224927" y="3741699"/>
              <a:ext cx="508000" cy="521970"/>
            </a:xfrm>
            <a:custGeom>
              <a:avLst/>
              <a:gdLst/>
              <a:ahLst/>
              <a:cxnLst/>
              <a:rect l="l" t="t" r="r" b="b"/>
              <a:pathLst>
                <a:path w="508000" h="521970">
                  <a:moveTo>
                    <a:pt x="204381" y="479488"/>
                  </a:moveTo>
                  <a:lnTo>
                    <a:pt x="0" y="479488"/>
                  </a:lnTo>
                  <a:lnTo>
                    <a:pt x="0" y="521792"/>
                  </a:lnTo>
                  <a:lnTo>
                    <a:pt x="204381" y="521792"/>
                  </a:lnTo>
                  <a:lnTo>
                    <a:pt x="204381" y="479488"/>
                  </a:lnTo>
                  <a:close/>
                </a:path>
                <a:path w="508000" h="521970">
                  <a:moveTo>
                    <a:pt x="274853" y="479488"/>
                  </a:moveTo>
                  <a:lnTo>
                    <a:pt x="232562" y="479488"/>
                  </a:lnTo>
                  <a:lnTo>
                    <a:pt x="232562" y="521792"/>
                  </a:lnTo>
                  <a:lnTo>
                    <a:pt x="274853" y="521792"/>
                  </a:lnTo>
                  <a:lnTo>
                    <a:pt x="274853" y="479488"/>
                  </a:lnTo>
                  <a:close/>
                </a:path>
                <a:path w="508000" h="521970">
                  <a:moveTo>
                    <a:pt x="479221" y="307301"/>
                  </a:moveTo>
                  <a:lnTo>
                    <a:pt x="477240" y="297472"/>
                  </a:lnTo>
                  <a:lnTo>
                    <a:pt x="471830" y="289445"/>
                  </a:lnTo>
                  <a:lnTo>
                    <a:pt x="463816" y="284035"/>
                  </a:lnTo>
                  <a:lnTo>
                    <a:pt x="453999" y="282054"/>
                  </a:lnTo>
                  <a:lnTo>
                    <a:pt x="253707" y="282054"/>
                  </a:lnTo>
                  <a:lnTo>
                    <a:pt x="253707" y="330682"/>
                  </a:lnTo>
                  <a:lnTo>
                    <a:pt x="253707" y="346252"/>
                  </a:lnTo>
                  <a:lnTo>
                    <a:pt x="247396" y="352564"/>
                  </a:lnTo>
                  <a:lnTo>
                    <a:pt x="231825" y="352564"/>
                  </a:lnTo>
                  <a:lnTo>
                    <a:pt x="225513" y="346252"/>
                  </a:lnTo>
                  <a:lnTo>
                    <a:pt x="225513" y="330682"/>
                  </a:lnTo>
                  <a:lnTo>
                    <a:pt x="231825" y="324358"/>
                  </a:lnTo>
                  <a:lnTo>
                    <a:pt x="247396" y="324358"/>
                  </a:lnTo>
                  <a:lnTo>
                    <a:pt x="253707" y="330682"/>
                  </a:lnTo>
                  <a:lnTo>
                    <a:pt x="253707" y="282054"/>
                  </a:lnTo>
                  <a:lnTo>
                    <a:pt x="183235" y="282054"/>
                  </a:lnTo>
                  <a:lnTo>
                    <a:pt x="183235" y="330682"/>
                  </a:lnTo>
                  <a:lnTo>
                    <a:pt x="183235" y="346252"/>
                  </a:lnTo>
                  <a:lnTo>
                    <a:pt x="176923" y="352564"/>
                  </a:lnTo>
                  <a:lnTo>
                    <a:pt x="161353" y="352564"/>
                  </a:lnTo>
                  <a:lnTo>
                    <a:pt x="155041" y="346252"/>
                  </a:lnTo>
                  <a:lnTo>
                    <a:pt x="155041" y="330682"/>
                  </a:lnTo>
                  <a:lnTo>
                    <a:pt x="161353" y="324358"/>
                  </a:lnTo>
                  <a:lnTo>
                    <a:pt x="176923" y="324358"/>
                  </a:lnTo>
                  <a:lnTo>
                    <a:pt x="183235" y="330682"/>
                  </a:lnTo>
                  <a:lnTo>
                    <a:pt x="183235" y="282054"/>
                  </a:lnTo>
                  <a:lnTo>
                    <a:pt x="112763" y="282054"/>
                  </a:lnTo>
                  <a:lnTo>
                    <a:pt x="112763" y="330682"/>
                  </a:lnTo>
                  <a:lnTo>
                    <a:pt x="112763" y="346252"/>
                  </a:lnTo>
                  <a:lnTo>
                    <a:pt x="106451" y="352564"/>
                  </a:lnTo>
                  <a:lnTo>
                    <a:pt x="90881" y="352564"/>
                  </a:lnTo>
                  <a:lnTo>
                    <a:pt x="84569" y="346252"/>
                  </a:lnTo>
                  <a:lnTo>
                    <a:pt x="84569" y="330682"/>
                  </a:lnTo>
                  <a:lnTo>
                    <a:pt x="90881" y="324358"/>
                  </a:lnTo>
                  <a:lnTo>
                    <a:pt x="106451" y="324358"/>
                  </a:lnTo>
                  <a:lnTo>
                    <a:pt x="112763" y="330682"/>
                  </a:lnTo>
                  <a:lnTo>
                    <a:pt x="112763" y="282054"/>
                  </a:lnTo>
                  <a:lnTo>
                    <a:pt x="53428" y="282054"/>
                  </a:lnTo>
                  <a:lnTo>
                    <a:pt x="43599" y="284035"/>
                  </a:lnTo>
                  <a:lnTo>
                    <a:pt x="35585" y="289445"/>
                  </a:lnTo>
                  <a:lnTo>
                    <a:pt x="30175" y="297472"/>
                  </a:lnTo>
                  <a:lnTo>
                    <a:pt x="28194" y="307301"/>
                  </a:lnTo>
                  <a:lnTo>
                    <a:pt x="28194" y="369633"/>
                  </a:lnTo>
                  <a:lnTo>
                    <a:pt x="30175" y="379450"/>
                  </a:lnTo>
                  <a:lnTo>
                    <a:pt x="35585" y="387477"/>
                  </a:lnTo>
                  <a:lnTo>
                    <a:pt x="43599" y="392887"/>
                  </a:lnTo>
                  <a:lnTo>
                    <a:pt x="53428" y="394868"/>
                  </a:lnTo>
                  <a:lnTo>
                    <a:pt x="232562" y="394868"/>
                  </a:lnTo>
                  <a:lnTo>
                    <a:pt x="232562" y="451281"/>
                  </a:lnTo>
                  <a:lnTo>
                    <a:pt x="274853" y="451281"/>
                  </a:lnTo>
                  <a:lnTo>
                    <a:pt x="274853" y="394868"/>
                  </a:lnTo>
                  <a:lnTo>
                    <a:pt x="453999" y="394868"/>
                  </a:lnTo>
                  <a:lnTo>
                    <a:pt x="463816" y="392887"/>
                  </a:lnTo>
                  <a:lnTo>
                    <a:pt x="471830" y="387477"/>
                  </a:lnTo>
                  <a:lnTo>
                    <a:pt x="477240" y="379450"/>
                  </a:lnTo>
                  <a:lnTo>
                    <a:pt x="479221" y="369633"/>
                  </a:lnTo>
                  <a:lnTo>
                    <a:pt x="479221" y="352564"/>
                  </a:lnTo>
                  <a:lnTo>
                    <a:pt x="479221" y="324358"/>
                  </a:lnTo>
                  <a:lnTo>
                    <a:pt x="479221" y="307301"/>
                  </a:lnTo>
                  <a:close/>
                </a:path>
                <a:path w="508000" h="521970">
                  <a:moveTo>
                    <a:pt x="479221" y="166268"/>
                  </a:moveTo>
                  <a:lnTo>
                    <a:pt x="477240" y="156438"/>
                  </a:lnTo>
                  <a:lnTo>
                    <a:pt x="471830" y="148424"/>
                  </a:lnTo>
                  <a:lnTo>
                    <a:pt x="463816" y="143014"/>
                  </a:lnTo>
                  <a:lnTo>
                    <a:pt x="453999" y="141033"/>
                  </a:lnTo>
                  <a:lnTo>
                    <a:pt x="253707" y="141033"/>
                  </a:lnTo>
                  <a:lnTo>
                    <a:pt x="253707" y="189649"/>
                  </a:lnTo>
                  <a:lnTo>
                    <a:pt x="253707" y="205232"/>
                  </a:lnTo>
                  <a:lnTo>
                    <a:pt x="247396" y="211543"/>
                  </a:lnTo>
                  <a:lnTo>
                    <a:pt x="231825" y="211543"/>
                  </a:lnTo>
                  <a:lnTo>
                    <a:pt x="225513" y="205232"/>
                  </a:lnTo>
                  <a:lnTo>
                    <a:pt x="225513" y="189649"/>
                  </a:lnTo>
                  <a:lnTo>
                    <a:pt x="231825" y="183337"/>
                  </a:lnTo>
                  <a:lnTo>
                    <a:pt x="247396" y="183337"/>
                  </a:lnTo>
                  <a:lnTo>
                    <a:pt x="253707" y="189649"/>
                  </a:lnTo>
                  <a:lnTo>
                    <a:pt x="253707" y="141033"/>
                  </a:lnTo>
                  <a:lnTo>
                    <a:pt x="183235" y="141033"/>
                  </a:lnTo>
                  <a:lnTo>
                    <a:pt x="183235" y="189649"/>
                  </a:lnTo>
                  <a:lnTo>
                    <a:pt x="183235" y="205232"/>
                  </a:lnTo>
                  <a:lnTo>
                    <a:pt x="176923" y="211543"/>
                  </a:lnTo>
                  <a:lnTo>
                    <a:pt x="161353" y="211543"/>
                  </a:lnTo>
                  <a:lnTo>
                    <a:pt x="155041" y="205232"/>
                  </a:lnTo>
                  <a:lnTo>
                    <a:pt x="155041" y="189649"/>
                  </a:lnTo>
                  <a:lnTo>
                    <a:pt x="161353" y="183337"/>
                  </a:lnTo>
                  <a:lnTo>
                    <a:pt x="176923" y="183337"/>
                  </a:lnTo>
                  <a:lnTo>
                    <a:pt x="183235" y="189649"/>
                  </a:lnTo>
                  <a:lnTo>
                    <a:pt x="183235" y="141033"/>
                  </a:lnTo>
                  <a:lnTo>
                    <a:pt x="112763" y="141033"/>
                  </a:lnTo>
                  <a:lnTo>
                    <a:pt x="112763" y="189649"/>
                  </a:lnTo>
                  <a:lnTo>
                    <a:pt x="112763" y="205232"/>
                  </a:lnTo>
                  <a:lnTo>
                    <a:pt x="106451" y="211543"/>
                  </a:lnTo>
                  <a:lnTo>
                    <a:pt x="90881" y="211543"/>
                  </a:lnTo>
                  <a:lnTo>
                    <a:pt x="84569" y="205232"/>
                  </a:lnTo>
                  <a:lnTo>
                    <a:pt x="84569" y="189649"/>
                  </a:lnTo>
                  <a:lnTo>
                    <a:pt x="90881" y="183337"/>
                  </a:lnTo>
                  <a:lnTo>
                    <a:pt x="106451" y="183337"/>
                  </a:lnTo>
                  <a:lnTo>
                    <a:pt x="112763" y="189649"/>
                  </a:lnTo>
                  <a:lnTo>
                    <a:pt x="112763" y="141033"/>
                  </a:lnTo>
                  <a:lnTo>
                    <a:pt x="53428" y="141033"/>
                  </a:lnTo>
                  <a:lnTo>
                    <a:pt x="43599" y="143014"/>
                  </a:lnTo>
                  <a:lnTo>
                    <a:pt x="35585" y="148424"/>
                  </a:lnTo>
                  <a:lnTo>
                    <a:pt x="30175" y="156438"/>
                  </a:lnTo>
                  <a:lnTo>
                    <a:pt x="28194" y="166268"/>
                  </a:lnTo>
                  <a:lnTo>
                    <a:pt x="28194" y="228600"/>
                  </a:lnTo>
                  <a:lnTo>
                    <a:pt x="30175" y="238429"/>
                  </a:lnTo>
                  <a:lnTo>
                    <a:pt x="35585" y="246456"/>
                  </a:lnTo>
                  <a:lnTo>
                    <a:pt x="43599" y="251866"/>
                  </a:lnTo>
                  <a:lnTo>
                    <a:pt x="53428" y="253847"/>
                  </a:lnTo>
                  <a:lnTo>
                    <a:pt x="453999" y="253847"/>
                  </a:lnTo>
                  <a:lnTo>
                    <a:pt x="463816" y="251866"/>
                  </a:lnTo>
                  <a:lnTo>
                    <a:pt x="471830" y="246456"/>
                  </a:lnTo>
                  <a:lnTo>
                    <a:pt x="477240" y="238429"/>
                  </a:lnTo>
                  <a:lnTo>
                    <a:pt x="479221" y="228600"/>
                  </a:lnTo>
                  <a:lnTo>
                    <a:pt x="479221" y="211543"/>
                  </a:lnTo>
                  <a:lnTo>
                    <a:pt x="479221" y="183337"/>
                  </a:lnTo>
                  <a:lnTo>
                    <a:pt x="479221" y="166268"/>
                  </a:lnTo>
                  <a:close/>
                </a:path>
                <a:path w="508000" h="521970">
                  <a:moveTo>
                    <a:pt x="479221" y="25247"/>
                  </a:moveTo>
                  <a:lnTo>
                    <a:pt x="477240" y="15417"/>
                  </a:lnTo>
                  <a:lnTo>
                    <a:pt x="471830" y="7391"/>
                  </a:lnTo>
                  <a:lnTo>
                    <a:pt x="463816" y="1981"/>
                  </a:lnTo>
                  <a:lnTo>
                    <a:pt x="453999" y="0"/>
                  </a:lnTo>
                  <a:lnTo>
                    <a:pt x="253707" y="0"/>
                  </a:lnTo>
                  <a:lnTo>
                    <a:pt x="253707" y="48628"/>
                  </a:lnTo>
                  <a:lnTo>
                    <a:pt x="253707" y="64211"/>
                  </a:lnTo>
                  <a:lnTo>
                    <a:pt x="247396" y="70510"/>
                  </a:lnTo>
                  <a:lnTo>
                    <a:pt x="231825" y="70510"/>
                  </a:lnTo>
                  <a:lnTo>
                    <a:pt x="225513" y="64211"/>
                  </a:lnTo>
                  <a:lnTo>
                    <a:pt x="225513" y="48628"/>
                  </a:lnTo>
                  <a:lnTo>
                    <a:pt x="231825" y="42316"/>
                  </a:lnTo>
                  <a:lnTo>
                    <a:pt x="247396" y="42316"/>
                  </a:lnTo>
                  <a:lnTo>
                    <a:pt x="253707" y="48628"/>
                  </a:lnTo>
                  <a:lnTo>
                    <a:pt x="253707" y="0"/>
                  </a:lnTo>
                  <a:lnTo>
                    <a:pt x="183235" y="0"/>
                  </a:lnTo>
                  <a:lnTo>
                    <a:pt x="183235" y="48628"/>
                  </a:lnTo>
                  <a:lnTo>
                    <a:pt x="183235" y="64211"/>
                  </a:lnTo>
                  <a:lnTo>
                    <a:pt x="176923" y="70510"/>
                  </a:lnTo>
                  <a:lnTo>
                    <a:pt x="161353" y="70510"/>
                  </a:lnTo>
                  <a:lnTo>
                    <a:pt x="155041" y="64211"/>
                  </a:lnTo>
                  <a:lnTo>
                    <a:pt x="155041" y="48628"/>
                  </a:lnTo>
                  <a:lnTo>
                    <a:pt x="161353" y="42316"/>
                  </a:lnTo>
                  <a:lnTo>
                    <a:pt x="176923" y="42316"/>
                  </a:lnTo>
                  <a:lnTo>
                    <a:pt x="183235" y="48628"/>
                  </a:lnTo>
                  <a:lnTo>
                    <a:pt x="183235" y="0"/>
                  </a:lnTo>
                  <a:lnTo>
                    <a:pt x="112763" y="0"/>
                  </a:lnTo>
                  <a:lnTo>
                    <a:pt x="112763" y="48628"/>
                  </a:lnTo>
                  <a:lnTo>
                    <a:pt x="112763" y="64211"/>
                  </a:lnTo>
                  <a:lnTo>
                    <a:pt x="106451" y="70510"/>
                  </a:lnTo>
                  <a:lnTo>
                    <a:pt x="90881" y="70510"/>
                  </a:lnTo>
                  <a:lnTo>
                    <a:pt x="84569" y="64211"/>
                  </a:lnTo>
                  <a:lnTo>
                    <a:pt x="84569" y="48628"/>
                  </a:lnTo>
                  <a:lnTo>
                    <a:pt x="90881" y="42316"/>
                  </a:lnTo>
                  <a:lnTo>
                    <a:pt x="106451" y="42316"/>
                  </a:lnTo>
                  <a:lnTo>
                    <a:pt x="112763" y="48628"/>
                  </a:lnTo>
                  <a:lnTo>
                    <a:pt x="112763" y="0"/>
                  </a:lnTo>
                  <a:lnTo>
                    <a:pt x="53428" y="0"/>
                  </a:lnTo>
                  <a:lnTo>
                    <a:pt x="43599" y="1981"/>
                  </a:lnTo>
                  <a:lnTo>
                    <a:pt x="35585" y="7391"/>
                  </a:lnTo>
                  <a:lnTo>
                    <a:pt x="30175" y="15417"/>
                  </a:lnTo>
                  <a:lnTo>
                    <a:pt x="28194" y="25247"/>
                  </a:lnTo>
                  <a:lnTo>
                    <a:pt x="28194" y="87579"/>
                  </a:lnTo>
                  <a:lnTo>
                    <a:pt x="30175" y="97409"/>
                  </a:lnTo>
                  <a:lnTo>
                    <a:pt x="35585" y="105435"/>
                  </a:lnTo>
                  <a:lnTo>
                    <a:pt x="43599" y="110845"/>
                  </a:lnTo>
                  <a:lnTo>
                    <a:pt x="53428" y="112826"/>
                  </a:lnTo>
                  <a:lnTo>
                    <a:pt x="453999" y="112826"/>
                  </a:lnTo>
                  <a:lnTo>
                    <a:pt x="463816" y="110845"/>
                  </a:lnTo>
                  <a:lnTo>
                    <a:pt x="471830" y="105435"/>
                  </a:lnTo>
                  <a:lnTo>
                    <a:pt x="477240" y="97409"/>
                  </a:lnTo>
                  <a:lnTo>
                    <a:pt x="479221" y="87579"/>
                  </a:lnTo>
                  <a:lnTo>
                    <a:pt x="479221" y="70510"/>
                  </a:lnTo>
                  <a:lnTo>
                    <a:pt x="479221" y="42316"/>
                  </a:lnTo>
                  <a:lnTo>
                    <a:pt x="479221" y="25247"/>
                  </a:lnTo>
                  <a:close/>
                </a:path>
                <a:path w="508000" h="521970">
                  <a:moveTo>
                    <a:pt x="507415" y="479488"/>
                  </a:moveTo>
                  <a:lnTo>
                    <a:pt x="303034" y="479488"/>
                  </a:lnTo>
                  <a:lnTo>
                    <a:pt x="303034" y="521792"/>
                  </a:lnTo>
                  <a:lnTo>
                    <a:pt x="507415" y="521792"/>
                  </a:lnTo>
                  <a:lnTo>
                    <a:pt x="507415" y="479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314448" y="3779977"/>
            <a:ext cx="125730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5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Calibri"/>
                <a:cs typeface="Calibri"/>
              </a:rPr>
              <a:t>Loop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58951" y="4933188"/>
            <a:ext cx="10594975" cy="1243965"/>
            <a:chOff x="758951" y="4933188"/>
            <a:chExt cx="10594975" cy="1243965"/>
          </a:xfrm>
        </p:grpSpPr>
        <p:sp>
          <p:nvSpPr>
            <p:cNvPr id="16" name="object 16"/>
            <p:cNvSpPr/>
            <p:nvPr/>
          </p:nvSpPr>
          <p:spPr>
            <a:xfrm>
              <a:off x="758951" y="4933188"/>
              <a:ext cx="10594975" cy="1243965"/>
            </a:xfrm>
            <a:custGeom>
              <a:avLst/>
              <a:gdLst/>
              <a:ahLst/>
              <a:cxnLst/>
              <a:rect l="l" t="t" r="r" b="b"/>
              <a:pathLst>
                <a:path w="10594975" h="1243964">
                  <a:moveTo>
                    <a:pt x="10470515" y="0"/>
                  </a:moveTo>
                  <a:lnTo>
                    <a:pt x="124358" y="0"/>
                  </a:lnTo>
                  <a:lnTo>
                    <a:pt x="75952" y="9765"/>
                  </a:lnTo>
                  <a:lnTo>
                    <a:pt x="36423" y="36401"/>
                  </a:lnTo>
                  <a:lnTo>
                    <a:pt x="9772" y="75920"/>
                  </a:lnTo>
                  <a:lnTo>
                    <a:pt x="0" y="124332"/>
                  </a:lnTo>
                  <a:lnTo>
                    <a:pt x="0" y="1119225"/>
                  </a:lnTo>
                  <a:lnTo>
                    <a:pt x="9772" y="1167631"/>
                  </a:lnTo>
                  <a:lnTo>
                    <a:pt x="36423" y="1207160"/>
                  </a:lnTo>
                  <a:lnTo>
                    <a:pt x="75952" y="1233811"/>
                  </a:lnTo>
                  <a:lnTo>
                    <a:pt x="124358" y="1243584"/>
                  </a:lnTo>
                  <a:lnTo>
                    <a:pt x="10470515" y="1243584"/>
                  </a:lnTo>
                  <a:lnTo>
                    <a:pt x="10518927" y="1233811"/>
                  </a:lnTo>
                  <a:lnTo>
                    <a:pt x="10558446" y="1207160"/>
                  </a:lnTo>
                  <a:lnTo>
                    <a:pt x="10585082" y="1167631"/>
                  </a:lnTo>
                  <a:lnTo>
                    <a:pt x="10594848" y="1119225"/>
                  </a:lnTo>
                  <a:lnTo>
                    <a:pt x="10594848" y="124332"/>
                  </a:lnTo>
                  <a:lnTo>
                    <a:pt x="10585082" y="75920"/>
                  </a:lnTo>
                  <a:lnTo>
                    <a:pt x="10558446" y="36401"/>
                  </a:lnTo>
                  <a:lnTo>
                    <a:pt x="10518927" y="9765"/>
                  </a:lnTo>
                  <a:lnTo>
                    <a:pt x="1047051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52347" y="5295988"/>
              <a:ext cx="655320" cy="520700"/>
            </a:xfrm>
            <a:custGeom>
              <a:avLst/>
              <a:gdLst/>
              <a:ahLst/>
              <a:cxnLst/>
              <a:rect l="l" t="t" r="r" b="b"/>
              <a:pathLst>
                <a:path w="655319" h="520700">
                  <a:moveTo>
                    <a:pt x="563079" y="149161"/>
                  </a:moveTo>
                  <a:lnTo>
                    <a:pt x="538403" y="107327"/>
                  </a:lnTo>
                  <a:lnTo>
                    <a:pt x="506603" y="71094"/>
                  </a:lnTo>
                  <a:lnTo>
                    <a:pt x="468642" y="41338"/>
                  </a:lnTo>
                  <a:lnTo>
                    <a:pt x="425526" y="18973"/>
                  </a:lnTo>
                  <a:lnTo>
                    <a:pt x="378218" y="4902"/>
                  </a:lnTo>
                  <a:lnTo>
                    <a:pt x="327698" y="0"/>
                  </a:lnTo>
                  <a:lnTo>
                    <a:pt x="277368" y="4851"/>
                  </a:lnTo>
                  <a:lnTo>
                    <a:pt x="230301" y="18783"/>
                  </a:lnTo>
                  <a:lnTo>
                    <a:pt x="187401" y="40881"/>
                  </a:lnTo>
                  <a:lnTo>
                    <a:pt x="149618" y="70243"/>
                  </a:lnTo>
                  <a:lnTo>
                    <a:pt x="117856" y="105943"/>
                  </a:lnTo>
                  <a:lnTo>
                    <a:pt x="93040" y="147104"/>
                  </a:lnTo>
                  <a:lnTo>
                    <a:pt x="76111" y="192786"/>
                  </a:lnTo>
                  <a:lnTo>
                    <a:pt x="0" y="192786"/>
                  </a:lnTo>
                  <a:lnTo>
                    <a:pt x="135305" y="327863"/>
                  </a:lnTo>
                  <a:lnTo>
                    <a:pt x="270611" y="192786"/>
                  </a:lnTo>
                  <a:lnTo>
                    <a:pt x="195211" y="192786"/>
                  </a:lnTo>
                  <a:lnTo>
                    <a:pt x="218186" y="159956"/>
                  </a:lnTo>
                  <a:lnTo>
                    <a:pt x="249034" y="134378"/>
                  </a:lnTo>
                  <a:lnTo>
                    <a:pt x="286092" y="117779"/>
                  </a:lnTo>
                  <a:lnTo>
                    <a:pt x="327698" y="111874"/>
                  </a:lnTo>
                  <a:lnTo>
                    <a:pt x="355092" y="114427"/>
                  </a:lnTo>
                  <a:lnTo>
                    <a:pt x="380911" y="121805"/>
                  </a:lnTo>
                  <a:lnTo>
                    <a:pt x="404609" y="133540"/>
                  </a:lnTo>
                  <a:lnTo>
                    <a:pt x="425653" y="149161"/>
                  </a:lnTo>
                  <a:lnTo>
                    <a:pt x="563079" y="149161"/>
                  </a:lnTo>
                  <a:close/>
                </a:path>
                <a:path w="655319" h="520700">
                  <a:moveTo>
                    <a:pt x="654697" y="327863"/>
                  </a:moveTo>
                  <a:lnTo>
                    <a:pt x="519391" y="192786"/>
                  </a:lnTo>
                  <a:lnTo>
                    <a:pt x="384073" y="327863"/>
                  </a:lnTo>
                  <a:lnTo>
                    <a:pt x="460184" y="327863"/>
                  </a:lnTo>
                  <a:lnTo>
                    <a:pt x="437210" y="360692"/>
                  </a:lnTo>
                  <a:lnTo>
                    <a:pt x="406361" y="386257"/>
                  </a:lnTo>
                  <a:lnTo>
                    <a:pt x="369316" y="402856"/>
                  </a:lnTo>
                  <a:lnTo>
                    <a:pt x="327698" y="408774"/>
                  </a:lnTo>
                  <a:lnTo>
                    <a:pt x="300304" y="406209"/>
                  </a:lnTo>
                  <a:lnTo>
                    <a:pt x="274497" y="398830"/>
                  </a:lnTo>
                  <a:lnTo>
                    <a:pt x="250799" y="387108"/>
                  </a:lnTo>
                  <a:lnTo>
                    <a:pt x="229743" y="371487"/>
                  </a:lnTo>
                  <a:lnTo>
                    <a:pt x="91617" y="371487"/>
                  </a:lnTo>
                  <a:lnTo>
                    <a:pt x="116535" y="413308"/>
                  </a:lnTo>
                  <a:lnTo>
                    <a:pt x="148437" y="449554"/>
                  </a:lnTo>
                  <a:lnTo>
                    <a:pt x="186397" y="479298"/>
                  </a:lnTo>
                  <a:lnTo>
                    <a:pt x="229527" y="501662"/>
                  </a:lnTo>
                  <a:lnTo>
                    <a:pt x="276936" y="515747"/>
                  </a:lnTo>
                  <a:lnTo>
                    <a:pt x="327698" y="520636"/>
                  </a:lnTo>
                  <a:lnTo>
                    <a:pt x="378028" y="515797"/>
                  </a:lnTo>
                  <a:lnTo>
                    <a:pt x="425094" y="501865"/>
                  </a:lnTo>
                  <a:lnTo>
                    <a:pt x="467995" y="479767"/>
                  </a:lnTo>
                  <a:lnTo>
                    <a:pt x="505790" y="450405"/>
                  </a:lnTo>
                  <a:lnTo>
                    <a:pt x="537552" y="414693"/>
                  </a:lnTo>
                  <a:lnTo>
                    <a:pt x="562356" y="373545"/>
                  </a:lnTo>
                  <a:lnTo>
                    <a:pt x="579285" y="327863"/>
                  </a:lnTo>
                  <a:lnTo>
                    <a:pt x="654697" y="327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2314448" y="5334406"/>
            <a:ext cx="207137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dirty="0" sz="25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Calibri"/>
                <a:cs typeface="Calibri"/>
              </a:rPr>
              <a:t>loop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19" name="object 19" descr="VSIT logo NEW small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8826" y="257809"/>
            <a:ext cx="11676380" cy="6344920"/>
          </a:xfrm>
          <a:custGeom>
            <a:avLst/>
            <a:gdLst/>
            <a:ahLst/>
            <a:cxnLst/>
            <a:rect l="l" t="t" r="r" b="b"/>
            <a:pathLst>
              <a:path w="11676380" h="6344920">
                <a:moveTo>
                  <a:pt x="11625072" y="6217920"/>
                </a:moveTo>
                <a:lnTo>
                  <a:pt x="11612372" y="6217920"/>
                </a:lnTo>
                <a:lnTo>
                  <a:pt x="11612372" y="62992"/>
                </a:lnTo>
                <a:lnTo>
                  <a:pt x="63500" y="62992"/>
                </a:lnTo>
                <a:lnTo>
                  <a:pt x="63500" y="6217920"/>
                </a:lnTo>
                <a:lnTo>
                  <a:pt x="50800" y="6217920"/>
                </a:lnTo>
                <a:lnTo>
                  <a:pt x="50800" y="6294120"/>
                </a:lnTo>
                <a:lnTo>
                  <a:pt x="11625072" y="6294120"/>
                </a:lnTo>
                <a:lnTo>
                  <a:pt x="11625072" y="6217920"/>
                </a:lnTo>
                <a:close/>
              </a:path>
              <a:path w="11676380" h="6344920">
                <a:moveTo>
                  <a:pt x="11675872" y="0"/>
                </a:moveTo>
                <a:lnTo>
                  <a:pt x="0" y="0"/>
                </a:lnTo>
                <a:lnTo>
                  <a:pt x="0" y="25400"/>
                </a:lnTo>
                <a:lnTo>
                  <a:pt x="0" y="6319520"/>
                </a:lnTo>
                <a:lnTo>
                  <a:pt x="0" y="6344920"/>
                </a:lnTo>
                <a:lnTo>
                  <a:pt x="11675872" y="6344920"/>
                </a:lnTo>
                <a:lnTo>
                  <a:pt x="11675872" y="6319520"/>
                </a:lnTo>
                <a:lnTo>
                  <a:pt x="25400" y="6319520"/>
                </a:lnTo>
                <a:lnTo>
                  <a:pt x="25400" y="25400"/>
                </a:lnTo>
                <a:lnTo>
                  <a:pt x="11650472" y="25400"/>
                </a:lnTo>
                <a:lnTo>
                  <a:pt x="11650472" y="6319012"/>
                </a:lnTo>
                <a:lnTo>
                  <a:pt x="11675872" y="6319025"/>
                </a:lnTo>
                <a:lnTo>
                  <a:pt x="11675872" y="25400"/>
                </a:lnTo>
                <a:lnTo>
                  <a:pt x="11675872" y="24892"/>
                </a:lnTo>
                <a:lnTo>
                  <a:pt x="116758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16939" y="538353"/>
            <a:ext cx="9747885" cy="542163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34"/>
              </a:spcBef>
            </a:pPr>
            <a:r>
              <a:rPr dirty="0" sz="2500" spc="-10">
                <a:latin typeface="Calibri Light"/>
                <a:cs typeface="Calibri Light"/>
              </a:rPr>
              <a:t>Create</a:t>
            </a:r>
            <a:r>
              <a:rPr dirty="0" sz="2500" spc="-50">
                <a:latin typeface="Calibri Light"/>
                <a:cs typeface="Calibri Light"/>
              </a:rPr>
              <a:t> </a:t>
            </a:r>
            <a:r>
              <a:rPr dirty="0" sz="2500">
                <a:latin typeface="Calibri Light"/>
                <a:cs typeface="Calibri Light"/>
              </a:rPr>
              <a:t>a</a:t>
            </a:r>
            <a:r>
              <a:rPr dirty="0" sz="2500" spc="-60">
                <a:latin typeface="Calibri Light"/>
                <a:cs typeface="Calibri Light"/>
              </a:rPr>
              <a:t> </a:t>
            </a:r>
            <a:r>
              <a:rPr dirty="0" sz="2500">
                <a:latin typeface="Calibri Light"/>
                <a:cs typeface="Calibri Light"/>
              </a:rPr>
              <a:t>simple</a:t>
            </a:r>
            <a:r>
              <a:rPr dirty="0" sz="2500" spc="-60">
                <a:latin typeface="Calibri Light"/>
                <a:cs typeface="Calibri Light"/>
              </a:rPr>
              <a:t> </a:t>
            </a:r>
            <a:r>
              <a:rPr dirty="0" sz="2500">
                <a:latin typeface="Calibri Light"/>
                <a:cs typeface="Calibri Light"/>
              </a:rPr>
              <a:t>loop</a:t>
            </a:r>
            <a:r>
              <a:rPr dirty="0" sz="2500" spc="-65">
                <a:latin typeface="Calibri Light"/>
                <a:cs typeface="Calibri Light"/>
              </a:rPr>
              <a:t> </a:t>
            </a:r>
            <a:r>
              <a:rPr dirty="0" sz="2500">
                <a:latin typeface="Calibri Light"/>
                <a:cs typeface="Calibri Light"/>
              </a:rPr>
              <a:t>such</a:t>
            </a:r>
            <a:r>
              <a:rPr dirty="0" sz="2500" spc="-40">
                <a:latin typeface="Calibri Light"/>
                <a:cs typeface="Calibri Light"/>
              </a:rPr>
              <a:t> </a:t>
            </a:r>
            <a:r>
              <a:rPr dirty="0" sz="2500">
                <a:latin typeface="Calibri Light"/>
                <a:cs typeface="Calibri Light"/>
              </a:rPr>
              <a:t>that</a:t>
            </a:r>
            <a:r>
              <a:rPr dirty="0" sz="2500" spc="-60">
                <a:latin typeface="Calibri Light"/>
                <a:cs typeface="Calibri Light"/>
              </a:rPr>
              <a:t> </a:t>
            </a:r>
            <a:r>
              <a:rPr dirty="0" sz="2500">
                <a:latin typeface="Calibri Light"/>
                <a:cs typeface="Calibri Light"/>
              </a:rPr>
              <a:t>a</a:t>
            </a:r>
            <a:r>
              <a:rPr dirty="0" sz="2500" spc="-60">
                <a:latin typeface="Calibri Light"/>
                <a:cs typeface="Calibri Light"/>
              </a:rPr>
              <a:t> </a:t>
            </a:r>
            <a:r>
              <a:rPr dirty="0" sz="2500">
                <a:latin typeface="Calibri Light"/>
                <a:cs typeface="Calibri Light"/>
              </a:rPr>
              <a:t>message</a:t>
            </a:r>
            <a:r>
              <a:rPr dirty="0" sz="2500" spc="-60">
                <a:latin typeface="Calibri Light"/>
                <a:cs typeface="Calibri Light"/>
              </a:rPr>
              <a:t> </a:t>
            </a:r>
            <a:r>
              <a:rPr dirty="0" sz="2500">
                <a:latin typeface="Calibri Light"/>
                <a:cs typeface="Calibri Light"/>
              </a:rPr>
              <a:t>is</a:t>
            </a:r>
            <a:r>
              <a:rPr dirty="0" sz="2500" spc="-65">
                <a:latin typeface="Calibri Light"/>
                <a:cs typeface="Calibri Light"/>
              </a:rPr>
              <a:t> </a:t>
            </a:r>
            <a:r>
              <a:rPr dirty="0" sz="2500">
                <a:latin typeface="Calibri Light"/>
                <a:cs typeface="Calibri Light"/>
              </a:rPr>
              <a:t>displayed</a:t>
            </a:r>
            <a:r>
              <a:rPr dirty="0" sz="2500" spc="-45">
                <a:latin typeface="Calibri Light"/>
                <a:cs typeface="Calibri Light"/>
              </a:rPr>
              <a:t> </a:t>
            </a:r>
            <a:r>
              <a:rPr dirty="0" sz="2500">
                <a:latin typeface="Calibri Light"/>
                <a:cs typeface="Calibri Light"/>
              </a:rPr>
              <a:t>when</a:t>
            </a:r>
            <a:r>
              <a:rPr dirty="0" sz="2500" spc="-40">
                <a:latin typeface="Calibri Light"/>
                <a:cs typeface="Calibri Light"/>
              </a:rPr>
              <a:t> </a:t>
            </a:r>
            <a:r>
              <a:rPr dirty="0" sz="2500">
                <a:latin typeface="Calibri Light"/>
                <a:cs typeface="Calibri Light"/>
              </a:rPr>
              <a:t>a</a:t>
            </a:r>
            <a:r>
              <a:rPr dirty="0" sz="2500" spc="-70">
                <a:latin typeface="Calibri Light"/>
                <a:cs typeface="Calibri Light"/>
              </a:rPr>
              <a:t> </a:t>
            </a:r>
            <a:r>
              <a:rPr dirty="0" sz="2500">
                <a:latin typeface="Calibri Light"/>
                <a:cs typeface="Calibri Light"/>
              </a:rPr>
              <a:t>loop</a:t>
            </a:r>
            <a:r>
              <a:rPr dirty="0" sz="2500" spc="-50">
                <a:latin typeface="Calibri Light"/>
                <a:cs typeface="Calibri Light"/>
              </a:rPr>
              <a:t> </a:t>
            </a:r>
            <a:r>
              <a:rPr dirty="0" sz="2500" spc="-10">
                <a:latin typeface="Calibri Light"/>
                <a:cs typeface="Calibri Light"/>
              </a:rPr>
              <a:t>exceeds</a:t>
            </a:r>
            <a:r>
              <a:rPr dirty="0" sz="2500" spc="-50">
                <a:latin typeface="Calibri Light"/>
                <a:cs typeface="Calibri Light"/>
              </a:rPr>
              <a:t> a </a:t>
            </a:r>
            <a:r>
              <a:rPr dirty="0" sz="2500">
                <a:latin typeface="Calibri Light"/>
                <a:cs typeface="Calibri Light"/>
              </a:rPr>
              <a:t>particular</a:t>
            </a:r>
            <a:r>
              <a:rPr dirty="0" sz="2500" spc="-130">
                <a:latin typeface="Calibri Light"/>
                <a:cs typeface="Calibri Light"/>
              </a:rPr>
              <a:t> </a:t>
            </a:r>
            <a:r>
              <a:rPr dirty="0" sz="2500" spc="-10">
                <a:latin typeface="Calibri Light"/>
                <a:cs typeface="Calibri Light"/>
              </a:rPr>
              <a:t>value.</a:t>
            </a:r>
            <a:endParaRPr sz="2500">
              <a:latin typeface="Calibri Light"/>
              <a:cs typeface="Calibri Light"/>
            </a:endParaRPr>
          </a:p>
          <a:p>
            <a:pPr marL="12700">
              <a:lnSpc>
                <a:spcPts val="2410"/>
              </a:lnSpc>
            </a:pPr>
            <a:r>
              <a:rPr dirty="0" sz="2500">
                <a:latin typeface="Calibri Light"/>
                <a:cs typeface="Calibri Light"/>
              </a:rPr>
              <a:t>--</a:t>
            </a:r>
            <a:endParaRPr sz="2500">
              <a:latin typeface="Calibri Light"/>
              <a:cs typeface="Calibri Light"/>
            </a:endParaRPr>
          </a:p>
          <a:p>
            <a:pPr marL="12700">
              <a:lnSpc>
                <a:spcPts val="2870"/>
              </a:lnSpc>
            </a:pPr>
            <a:r>
              <a:rPr dirty="0" sz="2600">
                <a:latin typeface="Calibri"/>
                <a:cs typeface="Calibri"/>
              </a:rPr>
              <a:t>Set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serveroutput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on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600" spc="-10">
                <a:latin typeface="Calibri"/>
                <a:cs typeface="Calibri"/>
              </a:rPr>
              <a:t>declare</a:t>
            </a:r>
            <a:endParaRPr sz="2600">
              <a:latin typeface="Calibri"/>
              <a:cs typeface="Calibri"/>
            </a:endParaRPr>
          </a:p>
          <a:p>
            <a:pPr marL="12700" marR="7999730">
              <a:lnSpc>
                <a:spcPct val="111900"/>
              </a:lnSpc>
              <a:spcBef>
                <a:spcPts val="10"/>
              </a:spcBef>
            </a:pPr>
            <a:r>
              <a:rPr dirty="0" sz="2600">
                <a:latin typeface="Calibri"/>
                <a:cs typeface="Calibri"/>
              </a:rPr>
              <a:t>i</a:t>
            </a:r>
            <a:r>
              <a:rPr dirty="0" sz="2600" spc="-10">
                <a:latin typeface="Calibri"/>
                <a:cs typeface="Calibri"/>
              </a:rPr>
              <a:t> number:=0; begin</a:t>
            </a:r>
            <a:endParaRPr sz="2600">
              <a:latin typeface="Calibri"/>
              <a:cs typeface="Calibri"/>
            </a:endParaRPr>
          </a:p>
          <a:p>
            <a:pPr marL="12700" marR="8900160">
              <a:lnSpc>
                <a:spcPts val="3510"/>
              </a:lnSpc>
              <a:spcBef>
                <a:spcPts val="165"/>
              </a:spcBef>
            </a:pPr>
            <a:r>
              <a:rPr dirty="0" sz="2600" spc="-20">
                <a:latin typeface="Calibri"/>
                <a:cs typeface="Calibri"/>
              </a:rPr>
              <a:t>Loop </a:t>
            </a:r>
            <a:r>
              <a:rPr dirty="0" sz="2600" spc="-10">
                <a:latin typeface="Calibri"/>
                <a:cs typeface="Calibri"/>
              </a:rPr>
              <a:t>i:=i+2;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2600">
                <a:latin typeface="Calibri"/>
                <a:cs typeface="Calibri"/>
              </a:rPr>
              <a:t>exit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i&gt;10;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600">
                <a:latin typeface="Calibri"/>
                <a:cs typeface="Calibri"/>
              </a:rPr>
              <a:t>end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loop;</a:t>
            </a:r>
            <a:endParaRPr sz="2600">
              <a:latin typeface="Calibri"/>
              <a:cs typeface="Calibri"/>
            </a:endParaRPr>
          </a:p>
          <a:p>
            <a:pPr marL="12700" marR="1663064">
              <a:lnSpc>
                <a:spcPct val="111900"/>
              </a:lnSpc>
              <a:spcBef>
                <a:spcPts val="15"/>
              </a:spcBef>
            </a:pPr>
            <a:r>
              <a:rPr dirty="0" sz="2600" spc="-20">
                <a:latin typeface="Calibri"/>
                <a:cs typeface="Calibri"/>
              </a:rPr>
              <a:t>DBMS_OUTPUT.PUT_LINE('the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value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reached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'||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(i)); </a:t>
            </a:r>
            <a:r>
              <a:rPr dirty="0" sz="2600" spc="-20">
                <a:latin typeface="Calibri"/>
                <a:cs typeface="Calibri"/>
              </a:rPr>
              <a:t>End;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5" name="object 5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200" y="0"/>
            <a:ext cx="1770888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8768" y="609676"/>
            <a:ext cx="463740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Basic</a:t>
            </a:r>
            <a:r>
              <a:rPr dirty="0" sz="4400" spc="-30"/>
              <a:t> </a:t>
            </a:r>
            <a:r>
              <a:rPr dirty="0" sz="4400"/>
              <a:t>Loop</a:t>
            </a:r>
            <a:r>
              <a:rPr dirty="0" sz="4400" spc="-25"/>
              <a:t> </a:t>
            </a:r>
            <a:r>
              <a:rPr dirty="0" sz="4400" spc="-10"/>
              <a:t>Examples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8768" y="1588218"/>
            <a:ext cx="4884420" cy="455041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400" b="1">
                <a:latin typeface="Calibri"/>
                <a:cs typeface="Calibri"/>
              </a:rPr>
              <a:t>Print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number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between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1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to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10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5"/>
              </a:lnSpc>
              <a:spcBef>
                <a:spcPts val="420"/>
              </a:spcBef>
            </a:pPr>
            <a:r>
              <a:rPr dirty="0" sz="2400" spc="-20" b="1">
                <a:latin typeface="Calibri"/>
                <a:cs typeface="Calibri"/>
              </a:rPr>
              <a:t>-</a:t>
            </a:r>
            <a:r>
              <a:rPr dirty="0" sz="2400" spc="-10" b="1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5"/>
              </a:lnSpc>
            </a:pPr>
            <a:r>
              <a:rPr dirty="0" sz="2400" spc="-10">
                <a:latin typeface="Calibri"/>
                <a:cs typeface="Calibri"/>
              </a:rPr>
              <a:t>DECLARE</a:t>
            </a:r>
            <a:endParaRPr sz="24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130"/>
              </a:spcBef>
            </a:pPr>
            <a:r>
              <a:rPr dirty="0" sz="2400">
                <a:latin typeface="Calibri"/>
                <a:cs typeface="Calibri"/>
              </a:rPr>
              <a:t>CTR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NUMBER:=1;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2400" spc="-10">
                <a:latin typeface="Calibri"/>
                <a:cs typeface="Calibri"/>
              </a:rPr>
              <a:t>BEGIN</a:t>
            </a:r>
            <a:endParaRPr sz="24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135"/>
              </a:spcBef>
            </a:pPr>
            <a:r>
              <a:rPr dirty="0" sz="2400" spc="-20">
                <a:latin typeface="Calibri"/>
                <a:cs typeface="Calibri"/>
              </a:rPr>
              <a:t>LOOP</a:t>
            </a:r>
            <a:endParaRPr sz="2400">
              <a:latin typeface="Calibri"/>
              <a:cs typeface="Calibri"/>
            </a:endParaRPr>
          </a:p>
          <a:p>
            <a:pPr marL="1840864" marR="5080" indent="-914400">
              <a:lnSpc>
                <a:spcPct val="105000"/>
              </a:lnSpc>
              <a:spcBef>
                <a:spcPts val="2005"/>
              </a:spcBef>
            </a:pPr>
            <a:r>
              <a:rPr dirty="0" sz="2400" spc="-20">
                <a:latin typeface="Calibri"/>
                <a:cs typeface="Calibri"/>
              </a:rPr>
              <a:t>DBMS_OUTPUT.PUT_LINE(CTR); </a:t>
            </a:r>
            <a:r>
              <a:rPr dirty="0" sz="2400" spc="-10">
                <a:latin typeface="Calibri"/>
                <a:cs typeface="Calibri"/>
              </a:rPr>
              <a:t>CTR:=CTR+1;</a:t>
            </a:r>
            <a:endParaRPr sz="2400">
              <a:latin typeface="Calibri"/>
              <a:cs typeface="Calibri"/>
            </a:endParaRPr>
          </a:p>
          <a:p>
            <a:pPr marL="926465" marR="535940" indent="914400">
              <a:lnSpc>
                <a:spcPct val="104600"/>
              </a:lnSpc>
            </a:pPr>
            <a:r>
              <a:rPr dirty="0" sz="2400">
                <a:latin typeface="Calibri"/>
                <a:cs typeface="Calibri"/>
              </a:rPr>
              <a:t>EXIT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CTR&gt;10; </a:t>
            </a:r>
            <a:r>
              <a:rPr dirty="0" sz="2400">
                <a:latin typeface="Calibri"/>
                <a:cs typeface="Calibri"/>
              </a:rPr>
              <a:t>END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LOOP;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2400" spc="-20">
                <a:latin typeface="Calibri"/>
                <a:cs typeface="Calibri"/>
              </a:rPr>
              <a:t>END;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1588218"/>
            <a:ext cx="4874895" cy="435737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400" b="1">
                <a:latin typeface="Calibri"/>
                <a:cs typeface="Calibri"/>
              </a:rPr>
              <a:t>Print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factorial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of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number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using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Loop.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400" spc="-20" b="1">
                <a:latin typeface="Calibri"/>
                <a:cs typeface="Calibri"/>
              </a:rPr>
              <a:t>-</a:t>
            </a:r>
            <a:r>
              <a:rPr dirty="0" sz="2400" spc="-10" b="1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dirty="0" sz="1800" spc="-10">
                <a:latin typeface="Calibri"/>
                <a:cs typeface="Calibri"/>
              </a:rPr>
              <a:t>DECLARE</a:t>
            </a:r>
            <a:endParaRPr sz="1800">
              <a:latin typeface="Calibri"/>
              <a:cs typeface="Calibri"/>
            </a:endParaRPr>
          </a:p>
          <a:p>
            <a:pPr marL="927100" marR="2049145">
              <a:lnSpc>
                <a:spcPct val="116100"/>
              </a:lnSpc>
            </a:pPr>
            <a:r>
              <a:rPr dirty="0" sz="1800" spc="-10">
                <a:latin typeface="Calibri"/>
                <a:cs typeface="Calibri"/>
              </a:rPr>
              <a:t>FACT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NUMBER:=1; </a:t>
            </a:r>
            <a:r>
              <a:rPr dirty="0" sz="1800">
                <a:latin typeface="Calibri"/>
                <a:cs typeface="Calibri"/>
              </a:rPr>
              <a:t>NO</a:t>
            </a:r>
            <a:r>
              <a:rPr dirty="0" sz="1800" spc="-10">
                <a:latin typeface="Calibri"/>
                <a:cs typeface="Calibri"/>
              </a:rPr>
              <a:t> NUMBER:=&amp;NO;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1800" spc="-10">
                <a:latin typeface="Calibri"/>
                <a:cs typeface="Calibri"/>
              </a:rPr>
              <a:t>BEGIN</a:t>
            </a:r>
            <a:endParaRPr sz="1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45"/>
              </a:spcBef>
            </a:pPr>
            <a:r>
              <a:rPr dirty="0" sz="1800" spc="-20">
                <a:latin typeface="Calibri"/>
                <a:cs typeface="Calibri"/>
              </a:rPr>
              <a:t>LOOP</a:t>
            </a:r>
            <a:endParaRPr sz="1800">
              <a:latin typeface="Calibri"/>
              <a:cs typeface="Calibri"/>
            </a:endParaRPr>
          </a:p>
          <a:p>
            <a:pPr marL="1841500" marR="1304925">
              <a:lnSpc>
                <a:spcPts val="2520"/>
              </a:lnSpc>
              <a:spcBef>
                <a:spcPts val="135"/>
              </a:spcBef>
            </a:pPr>
            <a:r>
              <a:rPr dirty="0" sz="1800" spc="-10">
                <a:latin typeface="Calibri"/>
                <a:cs typeface="Calibri"/>
              </a:rPr>
              <a:t>FACT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:=FACT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*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NO; </a:t>
            </a:r>
            <a:r>
              <a:rPr dirty="0" sz="1800" spc="-20">
                <a:latin typeface="Calibri"/>
                <a:cs typeface="Calibri"/>
              </a:rPr>
              <a:t>NO:=NO-</a:t>
            </a:r>
            <a:r>
              <a:rPr dirty="0" sz="1800" spc="-25">
                <a:latin typeface="Calibri"/>
                <a:cs typeface="Calibri"/>
              </a:rPr>
              <a:t>1;</a:t>
            </a:r>
            <a:endParaRPr sz="18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204"/>
              </a:spcBef>
            </a:pPr>
            <a:r>
              <a:rPr dirty="0" sz="1800">
                <a:latin typeface="Calibri"/>
                <a:cs typeface="Calibri"/>
              </a:rPr>
              <a:t>EXIT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20">
                <a:latin typeface="Calibri"/>
                <a:cs typeface="Calibri"/>
              </a:rPr>
              <a:t> NO&lt;1;</a:t>
            </a:r>
            <a:endParaRPr sz="1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50"/>
              </a:spcBef>
            </a:pPr>
            <a:r>
              <a:rPr dirty="0" sz="1800">
                <a:latin typeface="Calibri"/>
                <a:cs typeface="Calibri"/>
              </a:rPr>
              <a:t>END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LOOP;</a:t>
            </a:r>
            <a:endParaRPr sz="1800">
              <a:latin typeface="Calibri"/>
              <a:cs typeface="Calibri"/>
            </a:endParaRPr>
          </a:p>
          <a:p>
            <a:pPr marL="12700" marR="1796414">
              <a:lnSpc>
                <a:spcPct val="116199"/>
              </a:lnSpc>
              <a:spcBef>
                <a:spcPts val="10"/>
              </a:spcBef>
            </a:pPr>
            <a:r>
              <a:rPr dirty="0" sz="1800" spc="-20">
                <a:latin typeface="Calibri"/>
                <a:cs typeface="Calibri"/>
              </a:rPr>
              <a:t>DBMS_OUTPUT.PUT_LINE(FACT); END;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59715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509" rIns="0" bIns="0" rtlCol="0" vert="horz">
            <a:spAutoFit/>
          </a:bodyPr>
          <a:lstStyle/>
          <a:p>
            <a:pPr marL="5461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FFFFF"/>
                </a:solidFill>
              </a:rPr>
              <a:t>While</a:t>
            </a:r>
            <a:r>
              <a:rPr dirty="0" sz="4000" spc="-120">
                <a:solidFill>
                  <a:srgbClr val="FFFFFF"/>
                </a:solidFill>
              </a:rPr>
              <a:t> </a:t>
            </a:r>
            <a:r>
              <a:rPr dirty="0" sz="4000" spc="-20">
                <a:solidFill>
                  <a:srgbClr val="FFFFFF"/>
                </a:solidFill>
              </a:rPr>
              <a:t>Loops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450594" y="2355849"/>
            <a:ext cx="9295130" cy="3550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216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1900">
                <a:latin typeface="Calibri"/>
                <a:cs typeface="Calibri"/>
              </a:rPr>
              <a:t>WHILE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loop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can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be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used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repeat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sequence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statements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until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controlling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condition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is</a:t>
            </a:r>
            <a:endParaRPr sz="1900">
              <a:latin typeface="Calibri"/>
              <a:cs typeface="Calibri"/>
            </a:endParaRPr>
          </a:p>
          <a:p>
            <a:pPr marL="241300">
              <a:lnSpc>
                <a:spcPts val="2165"/>
              </a:lnSpc>
            </a:pPr>
            <a:r>
              <a:rPr dirty="0" sz="1900" spc="-10">
                <a:latin typeface="Calibri"/>
                <a:cs typeface="Calibri"/>
              </a:rPr>
              <a:t>TRUE.</a:t>
            </a:r>
            <a:endParaRPr sz="1900">
              <a:latin typeface="Calibri"/>
              <a:cs typeface="Calibri"/>
            </a:endParaRPr>
          </a:p>
          <a:p>
            <a:pPr marL="240029" marR="148590" indent="-227329">
              <a:lnSpc>
                <a:spcPts val="205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condition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evaluated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at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start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each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iteration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if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it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evaluates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FALSE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loop </a:t>
            </a:r>
            <a:r>
              <a:rPr dirty="0" sz="1900" spc="-20">
                <a:latin typeface="Calibri"/>
                <a:cs typeface="Calibri"/>
              </a:rPr>
              <a:t>	</a:t>
            </a:r>
            <a:r>
              <a:rPr dirty="0" sz="1900" spc="-10">
                <a:latin typeface="Calibri"/>
                <a:cs typeface="Calibri"/>
              </a:rPr>
              <a:t>terminates</a:t>
            </a:r>
            <a:endParaRPr sz="19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1900">
                <a:latin typeface="Calibri"/>
                <a:cs typeface="Calibri"/>
              </a:rPr>
              <a:t>If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condition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FALSE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at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beginning of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loop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loop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may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not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execute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at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all</a:t>
            </a:r>
            <a:endParaRPr sz="1900">
              <a:latin typeface="Calibri"/>
              <a:cs typeface="Calibri"/>
            </a:endParaRPr>
          </a:p>
          <a:p>
            <a:pPr marL="240029" marR="5898515" indent="-227329">
              <a:lnSpc>
                <a:spcPts val="3060"/>
              </a:lnSpc>
              <a:spcBef>
                <a:spcPts val="220"/>
              </a:spcBef>
              <a:buFont typeface="Arial MT"/>
              <a:buChar char="•"/>
              <a:tabLst>
                <a:tab pos="927100" algn="l"/>
              </a:tabLst>
            </a:pP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syntax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for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WHILE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loop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is </a:t>
            </a:r>
            <a:r>
              <a:rPr dirty="0" sz="1900" spc="-25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WHILE</a:t>
            </a:r>
            <a:r>
              <a:rPr dirty="0" sz="1900" spc="-8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&lt;condition&gt;</a:t>
            </a:r>
            <a:endParaRPr sz="19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40"/>
              </a:spcBef>
            </a:pPr>
            <a:r>
              <a:rPr dirty="0" sz="1900" spc="-20">
                <a:latin typeface="Calibri"/>
                <a:cs typeface="Calibri"/>
              </a:rPr>
              <a:t>LOOP</a:t>
            </a:r>
            <a:endParaRPr sz="1900">
              <a:latin typeface="Calibri"/>
              <a:cs typeface="Calibri"/>
            </a:endParaRPr>
          </a:p>
          <a:p>
            <a:pPr marL="927100" marR="6351905" indent="914400">
              <a:lnSpc>
                <a:spcPts val="3060"/>
              </a:lnSpc>
              <a:spcBef>
                <a:spcPts val="90"/>
              </a:spcBef>
            </a:pPr>
            <a:r>
              <a:rPr dirty="0" sz="1900" spc="-20">
                <a:latin typeface="Calibri"/>
                <a:cs typeface="Calibri"/>
              </a:rPr>
              <a:t>statements </a:t>
            </a:r>
            <a:r>
              <a:rPr dirty="0" sz="1900">
                <a:latin typeface="Calibri"/>
                <a:cs typeface="Calibri"/>
              </a:rPr>
              <a:t>END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LOOP;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5" name="object 5" descr="VSIT logo NEW small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3200" y="0"/>
            <a:ext cx="1770888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321056"/>
            <a:ext cx="45872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While</a:t>
            </a:r>
            <a:r>
              <a:rPr dirty="0" sz="4400" spc="-10"/>
              <a:t> </a:t>
            </a:r>
            <a:r>
              <a:rPr dirty="0" sz="4400"/>
              <a:t>Loop</a:t>
            </a:r>
            <a:r>
              <a:rPr dirty="0" sz="4400" spc="-10"/>
              <a:t> Example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031493"/>
            <a:ext cx="5281295" cy="5459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ts val="366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3100">
                <a:latin typeface="Calibri"/>
                <a:cs typeface="Calibri"/>
              </a:rPr>
              <a:t>Display</a:t>
            </a:r>
            <a:r>
              <a:rPr dirty="0" sz="3100" spc="-45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1</a:t>
            </a:r>
            <a:r>
              <a:rPr dirty="0" sz="3100" spc="-50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to</a:t>
            </a:r>
            <a:r>
              <a:rPr dirty="0" sz="3100" spc="-30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10</a:t>
            </a:r>
            <a:r>
              <a:rPr dirty="0" sz="3100" spc="-40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using</a:t>
            </a:r>
            <a:r>
              <a:rPr dirty="0" sz="3100" spc="-60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while</a:t>
            </a:r>
            <a:r>
              <a:rPr dirty="0" sz="3100" spc="-60">
                <a:latin typeface="Calibri"/>
                <a:cs typeface="Calibri"/>
              </a:rPr>
              <a:t> </a:t>
            </a:r>
            <a:r>
              <a:rPr dirty="0" sz="3100" spc="-20">
                <a:latin typeface="Calibri"/>
                <a:cs typeface="Calibri"/>
              </a:rPr>
              <a:t>loop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ts val="3600"/>
              </a:lnSpc>
            </a:pPr>
            <a:r>
              <a:rPr dirty="0" sz="3100" spc="-10">
                <a:latin typeface="Calibri"/>
                <a:cs typeface="Calibri"/>
              </a:rPr>
              <a:t>-</a:t>
            </a:r>
            <a:r>
              <a:rPr dirty="0" sz="3100">
                <a:latin typeface="Calibri"/>
                <a:cs typeface="Calibri"/>
              </a:rPr>
              <a:t>-</a:t>
            </a:r>
            <a:endParaRPr sz="3100">
              <a:latin typeface="Calibri"/>
              <a:cs typeface="Calibri"/>
            </a:endParaRPr>
          </a:p>
          <a:p>
            <a:pPr marL="12700" marR="3863340">
              <a:lnSpc>
                <a:spcPct val="96900"/>
              </a:lnSpc>
              <a:spcBef>
                <a:spcPts val="55"/>
              </a:spcBef>
            </a:pPr>
            <a:r>
              <a:rPr dirty="0" sz="3100" spc="-10">
                <a:latin typeface="Calibri"/>
                <a:cs typeface="Calibri"/>
              </a:rPr>
              <a:t>declare </a:t>
            </a:r>
            <a:r>
              <a:rPr dirty="0" sz="3100">
                <a:latin typeface="Calibri"/>
                <a:cs typeface="Calibri"/>
              </a:rPr>
              <a:t>a</a:t>
            </a:r>
            <a:r>
              <a:rPr dirty="0" sz="3100" spc="-65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int:=</a:t>
            </a:r>
            <a:r>
              <a:rPr dirty="0" sz="3100" spc="-60">
                <a:latin typeface="Calibri"/>
                <a:cs typeface="Calibri"/>
              </a:rPr>
              <a:t> </a:t>
            </a:r>
            <a:r>
              <a:rPr dirty="0" sz="3100" spc="-25">
                <a:latin typeface="Calibri"/>
                <a:cs typeface="Calibri"/>
              </a:rPr>
              <a:t>0; </a:t>
            </a:r>
            <a:r>
              <a:rPr dirty="0" sz="3100" spc="-10">
                <a:latin typeface="Calibri"/>
                <a:cs typeface="Calibri"/>
              </a:rPr>
              <a:t>begin</a:t>
            </a:r>
            <a:endParaRPr sz="3100">
              <a:latin typeface="Calibri"/>
              <a:cs typeface="Calibri"/>
            </a:endParaRPr>
          </a:p>
          <a:p>
            <a:pPr marL="12700" marR="3345179">
              <a:lnSpc>
                <a:spcPts val="3610"/>
              </a:lnSpc>
              <a:spcBef>
                <a:spcPts val="95"/>
              </a:spcBef>
            </a:pPr>
            <a:r>
              <a:rPr dirty="0" sz="3100">
                <a:latin typeface="Calibri"/>
                <a:cs typeface="Calibri"/>
              </a:rPr>
              <a:t>while</a:t>
            </a:r>
            <a:r>
              <a:rPr dirty="0" sz="3100" spc="-20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a</a:t>
            </a:r>
            <a:r>
              <a:rPr dirty="0" sz="3100" spc="-20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&lt;</a:t>
            </a:r>
            <a:r>
              <a:rPr dirty="0" sz="3100" spc="-10">
                <a:latin typeface="Calibri"/>
                <a:cs typeface="Calibri"/>
              </a:rPr>
              <a:t> </a:t>
            </a:r>
            <a:r>
              <a:rPr dirty="0" sz="3100" spc="-25">
                <a:latin typeface="Calibri"/>
                <a:cs typeface="Calibri"/>
              </a:rPr>
              <a:t>10 </a:t>
            </a:r>
            <a:r>
              <a:rPr dirty="0" sz="3100" spc="-20">
                <a:latin typeface="Calibri"/>
                <a:cs typeface="Calibri"/>
              </a:rPr>
              <a:t>loop</a:t>
            </a:r>
            <a:endParaRPr sz="3100">
              <a:latin typeface="Calibri"/>
              <a:cs typeface="Calibri"/>
            </a:endParaRPr>
          </a:p>
          <a:p>
            <a:pPr marL="12700" marR="501015">
              <a:lnSpc>
                <a:spcPts val="3600"/>
              </a:lnSpc>
            </a:pPr>
            <a:r>
              <a:rPr dirty="0" sz="3100">
                <a:latin typeface="Calibri"/>
                <a:cs typeface="Calibri"/>
              </a:rPr>
              <a:t>a</a:t>
            </a:r>
            <a:r>
              <a:rPr dirty="0" sz="3100" spc="-25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:=</a:t>
            </a:r>
            <a:r>
              <a:rPr dirty="0" sz="3100" spc="-10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a</a:t>
            </a:r>
            <a:r>
              <a:rPr dirty="0" sz="3100" spc="-25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+</a:t>
            </a:r>
            <a:r>
              <a:rPr dirty="0" sz="3100" spc="-20">
                <a:latin typeface="Calibri"/>
                <a:cs typeface="Calibri"/>
              </a:rPr>
              <a:t> </a:t>
            </a:r>
            <a:r>
              <a:rPr dirty="0" sz="3100" spc="-25">
                <a:latin typeface="Calibri"/>
                <a:cs typeface="Calibri"/>
              </a:rPr>
              <a:t>1; DBMS_OUTPUT.PUT_LINE(</a:t>
            </a:r>
            <a:r>
              <a:rPr dirty="0" sz="3100" spc="20">
                <a:latin typeface="Calibri"/>
                <a:cs typeface="Calibri"/>
              </a:rPr>
              <a:t> </a:t>
            </a:r>
            <a:r>
              <a:rPr dirty="0" sz="3100" spc="-25">
                <a:latin typeface="Calibri"/>
                <a:cs typeface="Calibri"/>
              </a:rPr>
              <a:t>a);</a:t>
            </a:r>
            <a:endParaRPr sz="3100">
              <a:latin typeface="Calibri"/>
              <a:cs typeface="Calibri"/>
            </a:endParaRPr>
          </a:p>
          <a:p>
            <a:pPr marL="12700" marR="3747135">
              <a:lnSpc>
                <a:spcPts val="3600"/>
              </a:lnSpc>
              <a:spcBef>
                <a:spcPts val="15"/>
              </a:spcBef>
            </a:pPr>
            <a:r>
              <a:rPr dirty="0" sz="3100">
                <a:latin typeface="Calibri"/>
                <a:cs typeface="Calibri"/>
              </a:rPr>
              <a:t>end</a:t>
            </a:r>
            <a:r>
              <a:rPr dirty="0" sz="3100" spc="-15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loop; </a:t>
            </a:r>
            <a:r>
              <a:rPr dirty="0" sz="3100" spc="-20">
                <a:latin typeface="Calibri"/>
                <a:cs typeface="Calibri"/>
              </a:rPr>
              <a:t>end;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2400" spc="-50">
                <a:latin typeface="Calibri"/>
                <a:cs typeface="Calibri"/>
              </a:rPr>
              <a:t>/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2707" rIns="0" bIns="0" rtlCol="0" vert="horz">
            <a:spAutoFit/>
          </a:bodyPr>
          <a:lstStyle/>
          <a:p>
            <a:pPr marL="1087755">
              <a:lnSpc>
                <a:spcPct val="100000"/>
              </a:lnSpc>
              <a:spcBef>
                <a:spcPts val="100"/>
              </a:spcBef>
            </a:pPr>
            <a:r>
              <a:rPr dirty="0" sz="5400"/>
              <a:t>FOR</a:t>
            </a:r>
            <a:r>
              <a:rPr dirty="0" sz="5400" spc="-150"/>
              <a:t> </a:t>
            </a:r>
            <a:r>
              <a:rPr dirty="0" sz="5400" spc="-20"/>
              <a:t>Loops</a:t>
            </a:r>
            <a:endParaRPr sz="5400"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7000" cy="6858000"/>
          </a:xfrm>
          <a:custGeom>
            <a:avLst/>
            <a:gdLst/>
            <a:ahLst/>
            <a:cxnLst/>
            <a:rect l="l" t="t" r="r" b="b"/>
            <a:pathLst>
              <a:path w="127000" h="6858000">
                <a:moveTo>
                  <a:pt x="126492" y="0"/>
                </a:moveTo>
                <a:lnTo>
                  <a:pt x="0" y="0"/>
                </a:lnTo>
                <a:lnTo>
                  <a:pt x="0" y="6858000"/>
                </a:lnTo>
                <a:lnTo>
                  <a:pt x="126492" y="6858000"/>
                </a:lnTo>
                <a:lnTo>
                  <a:pt x="12649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09626" y="338401"/>
            <a:ext cx="707390" cy="668020"/>
            <a:chOff x="1009626" y="338401"/>
            <a:chExt cx="707390" cy="668020"/>
          </a:xfrm>
        </p:grpSpPr>
        <p:sp>
          <p:nvSpPr>
            <p:cNvPr id="5" name="object 5"/>
            <p:cNvSpPr/>
            <p:nvPr/>
          </p:nvSpPr>
          <p:spPr>
            <a:xfrm>
              <a:off x="1015121" y="709375"/>
              <a:ext cx="357505" cy="291465"/>
            </a:xfrm>
            <a:custGeom>
              <a:avLst/>
              <a:gdLst/>
              <a:ahLst/>
              <a:cxnLst/>
              <a:rect l="l" t="t" r="r" b="b"/>
              <a:pathLst>
                <a:path w="357505" h="291465">
                  <a:moveTo>
                    <a:pt x="85583" y="0"/>
                  </a:moveTo>
                  <a:lnTo>
                    <a:pt x="55712" y="1602"/>
                  </a:lnTo>
                  <a:lnTo>
                    <a:pt x="28796" y="14670"/>
                  </a:lnTo>
                  <a:lnTo>
                    <a:pt x="9645" y="36301"/>
                  </a:lnTo>
                  <a:lnTo>
                    <a:pt x="0" y="63540"/>
                  </a:lnTo>
                  <a:lnTo>
                    <a:pt x="1601" y="93433"/>
                  </a:lnTo>
                  <a:lnTo>
                    <a:pt x="14662" y="120363"/>
                  </a:lnTo>
                  <a:lnTo>
                    <a:pt x="36281" y="139525"/>
                  </a:lnTo>
                  <a:lnTo>
                    <a:pt x="63505" y="149175"/>
                  </a:lnTo>
                  <a:lnTo>
                    <a:pt x="93381" y="147573"/>
                  </a:lnTo>
                  <a:lnTo>
                    <a:pt x="112066" y="139956"/>
                  </a:lnTo>
                  <a:lnTo>
                    <a:pt x="127817" y="127891"/>
                  </a:lnTo>
                  <a:lnTo>
                    <a:pt x="139878" y="112131"/>
                  </a:lnTo>
                  <a:lnTo>
                    <a:pt x="147492" y="93433"/>
                  </a:lnTo>
                  <a:lnTo>
                    <a:pt x="262949" y="93433"/>
                  </a:lnTo>
                  <a:lnTo>
                    <a:pt x="262949" y="253617"/>
                  </a:lnTo>
                  <a:lnTo>
                    <a:pt x="206445" y="253617"/>
                  </a:lnTo>
                  <a:lnTo>
                    <a:pt x="206445" y="291307"/>
                  </a:lnTo>
                  <a:lnTo>
                    <a:pt x="357123" y="291307"/>
                  </a:lnTo>
                  <a:lnTo>
                    <a:pt x="357123" y="253617"/>
                  </a:lnTo>
                  <a:lnTo>
                    <a:pt x="300619" y="253617"/>
                  </a:lnTo>
                  <a:lnTo>
                    <a:pt x="300619" y="55742"/>
                  </a:lnTo>
                  <a:lnTo>
                    <a:pt x="147492" y="55742"/>
                  </a:lnTo>
                  <a:lnTo>
                    <a:pt x="134426" y="28812"/>
                  </a:lnTo>
                  <a:lnTo>
                    <a:pt x="112806" y="9650"/>
                  </a:lnTo>
                  <a:lnTo>
                    <a:pt x="855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15121" y="709375"/>
              <a:ext cx="357505" cy="291465"/>
            </a:xfrm>
            <a:custGeom>
              <a:avLst/>
              <a:gdLst/>
              <a:ahLst/>
              <a:cxnLst/>
              <a:rect l="l" t="t" r="r" b="b"/>
              <a:pathLst>
                <a:path w="357505" h="291465">
                  <a:moveTo>
                    <a:pt x="300619" y="253617"/>
                  </a:moveTo>
                  <a:lnTo>
                    <a:pt x="300619" y="55742"/>
                  </a:lnTo>
                  <a:lnTo>
                    <a:pt x="147492" y="55742"/>
                  </a:lnTo>
                  <a:lnTo>
                    <a:pt x="134426" y="28812"/>
                  </a:lnTo>
                  <a:lnTo>
                    <a:pt x="112806" y="9650"/>
                  </a:lnTo>
                  <a:lnTo>
                    <a:pt x="85583" y="0"/>
                  </a:lnTo>
                  <a:lnTo>
                    <a:pt x="55712" y="1602"/>
                  </a:lnTo>
                  <a:lnTo>
                    <a:pt x="28796" y="14670"/>
                  </a:lnTo>
                  <a:lnTo>
                    <a:pt x="9645" y="36301"/>
                  </a:lnTo>
                  <a:lnTo>
                    <a:pt x="0" y="63540"/>
                  </a:lnTo>
                  <a:lnTo>
                    <a:pt x="1601" y="93433"/>
                  </a:lnTo>
                  <a:lnTo>
                    <a:pt x="14662" y="120363"/>
                  </a:lnTo>
                  <a:lnTo>
                    <a:pt x="36281" y="139525"/>
                  </a:lnTo>
                  <a:lnTo>
                    <a:pt x="63505" y="149175"/>
                  </a:lnTo>
                  <a:lnTo>
                    <a:pt x="93381" y="147573"/>
                  </a:lnTo>
                  <a:lnTo>
                    <a:pt x="112066" y="139956"/>
                  </a:lnTo>
                  <a:lnTo>
                    <a:pt x="127817" y="127891"/>
                  </a:lnTo>
                  <a:lnTo>
                    <a:pt x="139878" y="112131"/>
                  </a:lnTo>
                  <a:lnTo>
                    <a:pt x="147492" y="93433"/>
                  </a:lnTo>
                  <a:lnTo>
                    <a:pt x="262949" y="93433"/>
                  </a:lnTo>
                  <a:lnTo>
                    <a:pt x="262949" y="253617"/>
                  </a:lnTo>
                  <a:lnTo>
                    <a:pt x="206445" y="253617"/>
                  </a:lnTo>
                  <a:lnTo>
                    <a:pt x="206445" y="291307"/>
                  </a:lnTo>
                  <a:lnTo>
                    <a:pt x="357123" y="291307"/>
                  </a:lnTo>
                  <a:lnTo>
                    <a:pt x="357123" y="253617"/>
                  </a:lnTo>
                  <a:lnTo>
                    <a:pt x="300619" y="253617"/>
                  </a:lnTo>
                  <a:close/>
                </a:path>
              </a:pathLst>
            </a:custGeom>
            <a:ln w="1099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249975" y="342907"/>
              <a:ext cx="293370" cy="239395"/>
            </a:xfrm>
            <a:custGeom>
              <a:avLst/>
              <a:gdLst/>
              <a:ahLst/>
              <a:cxnLst/>
              <a:rect l="l" t="t" r="r" b="b"/>
              <a:pathLst>
                <a:path w="293369" h="239395">
                  <a:moveTo>
                    <a:pt x="70178" y="0"/>
                  </a:moveTo>
                  <a:lnTo>
                    <a:pt x="45683" y="1313"/>
                  </a:lnTo>
                  <a:lnTo>
                    <a:pt x="23612" y="12030"/>
                  </a:lnTo>
                  <a:lnTo>
                    <a:pt x="7909" y="29767"/>
                  </a:lnTo>
                  <a:lnTo>
                    <a:pt x="0" y="52103"/>
                  </a:lnTo>
                  <a:lnTo>
                    <a:pt x="1312" y="76615"/>
                  </a:lnTo>
                  <a:lnTo>
                    <a:pt x="12023" y="98698"/>
                  </a:lnTo>
                  <a:lnTo>
                    <a:pt x="29751" y="114410"/>
                  </a:lnTo>
                  <a:lnTo>
                    <a:pt x="52074" y="122324"/>
                  </a:lnTo>
                  <a:lnTo>
                    <a:pt x="76572" y="121010"/>
                  </a:lnTo>
                  <a:lnTo>
                    <a:pt x="91894" y="114764"/>
                  </a:lnTo>
                  <a:lnTo>
                    <a:pt x="104810" y="104870"/>
                  </a:lnTo>
                  <a:lnTo>
                    <a:pt x="114700" y="91948"/>
                  </a:lnTo>
                  <a:lnTo>
                    <a:pt x="120943" y="76615"/>
                  </a:lnTo>
                  <a:lnTo>
                    <a:pt x="215618" y="76615"/>
                  </a:lnTo>
                  <a:lnTo>
                    <a:pt x="215618" y="207965"/>
                  </a:lnTo>
                  <a:lnTo>
                    <a:pt x="169285" y="207965"/>
                  </a:lnTo>
                  <a:lnTo>
                    <a:pt x="169285" y="238872"/>
                  </a:lnTo>
                  <a:lnTo>
                    <a:pt x="292841" y="238872"/>
                  </a:lnTo>
                  <a:lnTo>
                    <a:pt x="292841" y="207965"/>
                  </a:lnTo>
                  <a:lnTo>
                    <a:pt x="246508" y="207965"/>
                  </a:lnTo>
                  <a:lnTo>
                    <a:pt x="246508" y="45709"/>
                  </a:lnTo>
                  <a:lnTo>
                    <a:pt x="120943" y="45709"/>
                  </a:lnTo>
                  <a:lnTo>
                    <a:pt x="110229" y="23625"/>
                  </a:lnTo>
                  <a:lnTo>
                    <a:pt x="92500" y="7913"/>
                  </a:lnTo>
                  <a:lnTo>
                    <a:pt x="7017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249975" y="342907"/>
              <a:ext cx="293370" cy="239395"/>
            </a:xfrm>
            <a:custGeom>
              <a:avLst/>
              <a:gdLst/>
              <a:ahLst/>
              <a:cxnLst/>
              <a:rect l="l" t="t" r="r" b="b"/>
              <a:pathLst>
                <a:path w="293369" h="239395">
                  <a:moveTo>
                    <a:pt x="246508" y="207965"/>
                  </a:moveTo>
                  <a:lnTo>
                    <a:pt x="246508" y="45709"/>
                  </a:lnTo>
                  <a:lnTo>
                    <a:pt x="120943" y="45709"/>
                  </a:lnTo>
                  <a:lnTo>
                    <a:pt x="110229" y="23625"/>
                  </a:lnTo>
                  <a:lnTo>
                    <a:pt x="92500" y="7913"/>
                  </a:lnTo>
                  <a:lnTo>
                    <a:pt x="70178" y="0"/>
                  </a:lnTo>
                  <a:lnTo>
                    <a:pt x="45683" y="1313"/>
                  </a:lnTo>
                  <a:lnTo>
                    <a:pt x="23612" y="12030"/>
                  </a:lnTo>
                  <a:lnTo>
                    <a:pt x="7909" y="29767"/>
                  </a:lnTo>
                  <a:lnTo>
                    <a:pt x="0" y="52103"/>
                  </a:lnTo>
                  <a:lnTo>
                    <a:pt x="1312" y="76615"/>
                  </a:lnTo>
                  <a:lnTo>
                    <a:pt x="12023" y="98698"/>
                  </a:lnTo>
                  <a:lnTo>
                    <a:pt x="29751" y="114410"/>
                  </a:lnTo>
                  <a:lnTo>
                    <a:pt x="52074" y="122324"/>
                  </a:lnTo>
                  <a:lnTo>
                    <a:pt x="76572" y="121010"/>
                  </a:lnTo>
                  <a:lnTo>
                    <a:pt x="91894" y="114764"/>
                  </a:lnTo>
                  <a:lnTo>
                    <a:pt x="104810" y="104870"/>
                  </a:lnTo>
                  <a:lnTo>
                    <a:pt x="114700" y="91948"/>
                  </a:lnTo>
                  <a:lnTo>
                    <a:pt x="120943" y="76615"/>
                  </a:lnTo>
                  <a:lnTo>
                    <a:pt x="215618" y="76615"/>
                  </a:lnTo>
                  <a:lnTo>
                    <a:pt x="215618" y="207965"/>
                  </a:lnTo>
                  <a:lnTo>
                    <a:pt x="169285" y="207965"/>
                  </a:lnTo>
                  <a:lnTo>
                    <a:pt x="169285" y="238872"/>
                  </a:lnTo>
                  <a:lnTo>
                    <a:pt x="292841" y="238872"/>
                  </a:lnTo>
                  <a:lnTo>
                    <a:pt x="292841" y="207965"/>
                  </a:lnTo>
                  <a:lnTo>
                    <a:pt x="246508" y="207965"/>
                  </a:lnTo>
                  <a:close/>
                </a:path>
              </a:pathLst>
            </a:custGeom>
            <a:ln w="901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19260" y="628139"/>
              <a:ext cx="293370" cy="239395"/>
            </a:xfrm>
            <a:custGeom>
              <a:avLst/>
              <a:gdLst/>
              <a:ahLst/>
              <a:cxnLst/>
              <a:rect l="l" t="t" r="r" b="b"/>
              <a:pathLst>
                <a:path w="293369" h="239394">
                  <a:moveTo>
                    <a:pt x="123556" y="0"/>
                  </a:moveTo>
                  <a:lnTo>
                    <a:pt x="0" y="0"/>
                  </a:lnTo>
                  <a:lnTo>
                    <a:pt x="0" y="30906"/>
                  </a:lnTo>
                  <a:lnTo>
                    <a:pt x="46333" y="30906"/>
                  </a:lnTo>
                  <a:lnTo>
                    <a:pt x="46333" y="193163"/>
                  </a:lnTo>
                  <a:lnTo>
                    <a:pt x="171897" y="193163"/>
                  </a:lnTo>
                  <a:lnTo>
                    <a:pt x="182611" y="215246"/>
                  </a:lnTo>
                  <a:lnTo>
                    <a:pt x="200340" y="230958"/>
                  </a:lnTo>
                  <a:lnTo>
                    <a:pt x="222662" y="238872"/>
                  </a:lnTo>
                  <a:lnTo>
                    <a:pt x="247157" y="237558"/>
                  </a:lnTo>
                  <a:lnTo>
                    <a:pt x="269228" y="226841"/>
                  </a:lnTo>
                  <a:lnTo>
                    <a:pt x="284932" y="209104"/>
                  </a:lnTo>
                  <a:lnTo>
                    <a:pt x="292841" y="186768"/>
                  </a:lnTo>
                  <a:lnTo>
                    <a:pt x="291528" y="162256"/>
                  </a:lnTo>
                  <a:lnTo>
                    <a:pt x="283166" y="143490"/>
                  </a:lnTo>
                  <a:lnTo>
                    <a:pt x="269525" y="128830"/>
                  </a:lnTo>
                  <a:lnTo>
                    <a:pt x="251921" y="119293"/>
                  </a:lnTo>
                  <a:lnTo>
                    <a:pt x="231668" y="115897"/>
                  </a:lnTo>
                  <a:lnTo>
                    <a:pt x="211441" y="119314"/>
                  </a:lnTo>
                  <a:lnTo>
                    <a:pt x="193865" y="128856"/>
                  </a:lnTo>
                  <a:lnTo>
                    <a:pt x="180247" y="143509"/>
                  </a:lnTo>
                  <a:lnTo>
                    <a:pt x="171897" y="162256"/>
                  </a:lnTo>
                  <a:lnTo>
                    <a:pt x="77222" y="162256"/>
                  </a:lnTo>
                  <a:lnTo>
                    <a:pt x="77222" y="30906"/>
                  </a:lnTo>
                  <a:lnTo>
                    <a:pt x="123556" y="30906"/>
                  </a:lnTo>
                  <a:lnTo>
                    <a:pt x="1235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19260" y="628139"/>
              <a:ext cx="293370" cy="239395"/>
            </a:xfrm>
            <a:custGeom>
              <a:avLst/>
              <a:gdLst/>
              <a:ahLst/>
              <a:cxnLst/>
              <a:rect l="l" t="t" r="r" b="b"/>
              <a:pathLst>
                <a:path w="293369" h="239394">
                  <a:moveTo>
                    <a:pt x="231668" y="115897"/>
                  </a:moveTo>
                  <a:lnTo>
                    <a:pt x="211441" y="119314"/>
                  </a:lnTo>
                  <a:lnTo>
                    <a:pt x="193865" y="128856"/>
                  </a:lnTo>
                  <a:lnTo>
                    <a:pt x="180247" y="143509"/>
                  </a:lnTo>
                  <a:lnTo>
                    <a:pt x="171897" y="162256"/>
                  </a:lnTo>
                  <a:lnTo>
                    <a:pt x="77222" y="162256"/>
                  </a:lnTo>
                  <a:lnTo>
                    <a:pt x="77222" y="30906"/>
                  </a:lnTo>
                  <a:lnTo>
                    <a:pt x="123556" y="30906"/>
                  </a:lnTo>
                  <a:lnTo>
                    <a:pt x="123556" y="0"/>
                  </a:lnTo>
                  <a:lnTo>
                    <a:pt x="0" y="0"/>
                  </a:lnTo>
                  <a:lnTo>
                    <a:pt x="0" y="30906"/>
                  </a:lnTo>
                  <a:lnTo>
                    <a:pt x="46333" y="30906"/>
                  </a:lnTo>
                  <a:lnTo>
                    <a:pt x="46333" y="193163"/>
                  </a:lnTo>
                  <a:lnTo>
                    <a:pt x="171897" y="193163"/>
                  </a:lnTo>
                  <a:lnTo>
                    <a:pt x="182611" y="215246"/>
                  </a:lnTo>
                  <a:lnTo>
                    <a:pt x="200340" y="230958"/>
                  </a:lnTo>
                  <a:lnTo>
                    <a:pt x="222662" y="238872"/>
                  </a:lnTo>
                  <a:lnTo>
                    <a:pt x="247157" y="237558"/>
                  </a:lnTo>
                  <a:lnTo>
                    <a:pt x="269228" y="226841"/>
                  </a:lnTo>
                  <a:lnTo>
                    <a:pt x="284932" y="209104"/>
                  </a:lnTo>
                  <a:lnTo>
                    <a:pt x="292841" y="186768"/>
                  </a:lnTo>
                  <a:lnTo>
                    <a:pt x="291528" y="162256"/>
                  </a:lnTo>
                  <a:lnTo>
                    <a:pt x="283166" y="143490"/>
                  </a:lnTo>
                  <a:lnTo>
                    <a:pt x="269525" y="128830"/>
                  </a:lnTo>
                  <a:lnTo>
                    <a:pt x="251921" y="119293"/>
                  </a:lnTo>
                  <a:lnTo>
                    <a:pt x="231668" y="115897"/>
                  </a:lnTo>
                  <a:close/>
                </a:path>
              </a:pathLst>
            </a:custGeom>
            <a:ln w="901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1216071" y="1051723"/>
            <a:ext cx="368300" cy="302895"/>
            <a:chOff x="1216071" y="1051723"/>
            <a:chExt cx="368300" cy="302895"/>
          </a:xfrm>
        </p:grpSpPr>
        <p:sp>
          <p:nvSpPr>
            <p:cNvPr id="12" name="object 12"/>
            <p:cNvSpPr/>
            <p:nvPr/>
          </p:nvSpPr>
          <p:spPr>
            <a:xfrm>
              <a:off x="1221566" y="1057218"/>
              <a:ext cx="357505" cy="291465"/>
            </a:xfrm>
            <a:custGeom>
              <a:avLst/>
              <a:gdLst/>
              <a:ahLst/>
              <a:cxnLst/>
              <a:rect l="l" t="t" r="r" b="b"/>
              <a:pathLst>
                <a:path w="357505" h="291465">
                  <a:moveTo>
                    <a:pt x="150678" y="0"/>
                  </a:moveTo>
                  <a:lnTo>
                    <a:pt x="0" y="0"/>
                  </a:lnTo>
                  <a:lnTo>
                    <a:pt x="0" y="37690"/>
                  </a:lnTo>
                  <a:lnTo>
                    <a:pt x="56504" y="37690"/>
                  </a:lnTo>
                  <a:lnTo>
                    <a:pt x="56504" y="235564"/>
                  </a:lnTo>
                  <a:lnTo>
                    <a:pt x="209631" y="235564"/>
                  </a:lnTo>
                  <a:lnTo>
                    <a:pt x="222697" y="262495"/>
                  </a:lnTo>
                  <a:lnTo>
                    <a:pt x="244317" y="281656"/>
                  </a:lnTo>
                  <a:lnTo>
                    <a:pt x="271540" y="291307"/>
                  </a:lnTo>
                  <a:lnTo>
                    <a:pt x="301411" y="289705"/>
                  </a:lnTo>
                  <a:lnTo>
                    <a:pt x="328327" y="276636"/>
                  </a:lnTo>
                  <a:lnTo>
                    <a:pt x="347478" y="255005"/>
                  </a:lnTo>
                  <a:lnTo>
                    <a:pt x="357123" y="227766"/>
                  </a:lnTo>
                  <a:lnTo>
                    <a:pt x="355522" y="197874"/>
                  </a:lnTo>
                  <a:lnTo>
                    <a:pt x="345324" y="174988"/>
                  </a:lnTo>
                  <a:lnTo>
                    <a:pt x="328690" y="157109"/>
                  </a:lnTo>
                  <a:lnTo>
                    <a:pt x="307221" y="145479"/>
                  </a:lnTo>
                  <a:lnTo>
                    <a:pt x="282522" y="141338"/>
                  </a:lnTo>
                  <a:lnTo>
                    <a:pt x="257855" y="145504"/>
                  </a:lnTo>
                  <a:lnTo>
                    <a:pt x="236421" y="157142"/>
                  </a:lnTo>
                  <a:lnTo>
                    <a:pt x="219814" y="175011"/>
                  </a:lnTo>
                  <a:lnTo>
                    <a:pt x="209631" y="197874"/>
                  </a:lnTo>
                  <a:lnTo>
                    <a:pt x="94174" y="197874"/>
                  </a:lnTo>
                  <a:lnTo>
                    <a:pt x="94174" y="37690"/>
                  </a:lnTo>
                  <a:lnTo>
                    <a:pt x="150678" y="37690"/>
                  </a:lnTo>
                  <a:lnTo>
                    <a:pt x="15067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221566" y="1057218"/>
              <a:ext cx="357505" cy="291465"/>
            </a:xfrm>
            <a:custGeom>
              <a:avLst/>
              <a:gdLst/>
              <a:ahLst/>
              <a:cxnLst/>
              <a:rect l="l" t="t" r="r" b="b"/>
              <a:pathLst>
                <a:path w="357505" h="291465">
                  <a:moveTo>
                    <a:pt x="282522" y="141338"/>
                  </a:moveTo>
                  <a:lnTo>
                    <a:pt x="257855" y="145504"/>
                  </a:lnTo>
                  <a:lnTo>
                    <a:pt x="236421" y="157142"/>
                  </a:lnTo>
                  <a:lnTo>
                    <a:pt x="219814" y="175011"/>
                  </a:lnTo>
                  <a:lnTo>
                    <a:pt x="209631" y="197874"/>
                  </a:lnTo>
                  <a:lnTo>
                    <a:pt x="94174" y="197874"/>
                  </a:lnTo>
                  <a:lnTo>
                    <a:pt x="94174" y="37690"/>
                  </a:lnTo>
                  <a:lnTo>
                    <a:pt x="150678" y="37690"/>
                  </a:lnTo>
                  <a:lnTo>
                    <a:pt x="150678" y="0"/>
                  </a:lnTo>
                  <a:lnTo>
                    <a:pt x="0" y="0"/>
                  </a:lnTo>
                  <a:lnTo>
                    <a:pt x="0" y="37690"/>
                  </a:lnTo>
                  <a:lnTo>
                    <a:pt x="56504" y="37690"/>
                  </a:lnTo>
                  <a:lnTo>
                    <a:pt x="56504" y="235564"/>
                  </a:lnTo>
                  <a:lnTo>
                    <a:pt x="209631" y="235564"/>
                  </a:lnTo>
                  <a:lnTo>
                    <a:pt x="222697" y="262495"/>
                  </a:lnTo>
                  <a:lnTo>
                    <a:pt x="244317" y="281656"/>
                  </a:lnTo>
                  <a:lnTo>
                    <a:pt x="271540" y="291307"/>
                  </a:lnTo>
                  <a:lnTo>
                    <a:pt x="301411" y="289705"/>
                  </a:lnTo>
                  <a:lnTo>
                    <a:pt x="328327" y="276636"/>
                  </a:lnTo>
                  <a:lnTo>
                    <a:pt x="347478" y="255005"/>
                  </a:lnTo>
                  <a:lnTo>
                    <a:pt x="357123" y="227766"/>
                  </a:lnTo>
                  <a:lnTo>
                    <a:pt x="355522" y="197874"/>
                  </a:lnTo>
                  <a:lnTo>
                    <a:pt x="345324" y="174988"/>
                  </a:lnTo>
                  <a:lnTo>
                    <a:pt x="328690" y="157109"/>
                  </a:lnTo>
                  <a:lnTo>
                    <a:pt x="307221" y="145479"/>
                  </a:lnTo>
                  <a:lnTo>
                    <a:pt x="282522" y="141338"/>
                  </a:lnTo>
                  <a:close/>
                </a:path>
              </a:pathLst>
            </a:custGeom>
            <a:ln w="1099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16939" y="1816353"/>
            <a:ext cx="9937750" cy="391287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241300" marR="5080" indent="-229235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loops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control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statement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before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loop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keyword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number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iterations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PL/SQL performs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same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structure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basic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loop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syntax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loop</a:t>
            </a:r>
            <a:r>
              <a:rPr dirty="0" sz="1800" spc="-25">
                <a:latin typeface="Calibri"/>
                <a:cs typeface="Calibri"/>
              </a:rPr>
              <a:t> is</a:t>
            </a:r>
            <a:endParaRPr sz="1800">
              <a:latin typeface="Calibri"/>
              <a:cs typeface="Calibri"/>
            </a:endParaRPr>
          </a:p>
          <a:p>
            <a:pPr marL="927100" marR="3664585">
              <a:lnSpc>
                <a:spcPts val="2950"/>
              </a:lnSpc>
              <a:spcBef>
                <a:spcPts val="219"/>
              </a:spcBef>
            </a:pP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&lt;variable&gt;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[REVERSE]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lower_bound..upper_bound </a:t>
            </a:r>
            <a:r>
              <a:rPr dirty="0" sz="1800" spc="-20">
                <a:latin typeface="Calibri"/>
                <a:cs typeface="Calibri"/>
              </a:rPr>
              <a:t>LOOP</a:t>
            </a:r>
            <a:endParaRPr sz="1800">
              <a:latin typeface="Calibri"/>
              <a:cs typeface="Calibri"/>
            </a:endParaRPr>
          </a:p>
          <a:p>
            <a:pPr marL="927100" marR="6988809" indent="914400">
              <a:lnSpc>
                <a:spcPts val="2940"/>
              </a:lnSpc>
            </a:pPr>
            <a:r>
              <a:rPr dirty="0" sz="1800" spc="-20">
                <a:latin typeface="Calibri"/>
                <a:cs typeface="Calibri"/>
              </a:rPr>
              <a:t>statements;</a:t>
            </a:r>
            <a:endParaRPr sz="1800">
              <a:latin typeface="Calibri"/>
              <a:cs typeface="Calibri"/>
            </a:endParaRPr>
          </a:p>
          <a:p>
            <a:pPr marL="927100" marR="6988809">
              <a:lnSpc>
                <a:spcPts val="2940"/>
              </a:lnSpc>
            </a:pPr>
            <a:r>
              <a:rPr dirty="0" sz="1800">
                <a:latin typeface="Calibri"/>
                <a:cs typeface="Calibri"/>
              </a:rPr>
              <a:t>END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LOOP;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above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syntax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variable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loop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declared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declared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implicitly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integer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lower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bound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must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always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less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upper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bound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REVERSE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causes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loop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decrement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each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iteration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upper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bound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lower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bound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For</a:t>
            </a:r>
            <a:r>
              <a:rPr dirty="0" sz="4400" spc="-70"/>
              <a:t> </a:t>
            </a:r>
            <a:r>
              <a:rPr dirty="0" sz="4400"/>
              <a:t>Loop</a:t>
            </a:r>
            <a:r>
              <a:rPr dirty="0" sz="4400" spc="-75"/>
              <a:t> </a:t>
            </a:r>
            <a:r>
              <a:rPr dirty="0" sz="4400" spc="-10"/>
              <a:t>Examples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19427"/>
            <a:ext cx="4131945" cy="402209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Display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1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10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using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loop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2600" spc="-25">
                <a:latin typeface="Calibri"/>
                <a:cs typeface="Calibri"/>
              </a:rPr>
              <a:t>-</a:t>
            </a:r>
            <a:r>
              <a:rPr dirty="0" sz="2600">
                <a:latin typeface="Calibri"/>
                <a:cs typeface="Calibri"/>
              </a:rPr>
              <a:t>-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600" spc="-10">
                <a:latin typeface="Calibri"/>
                <a:cs typeface="Calibri"/>
              </a:rPr>
              <a:t>begin</a:t>
            </a:r>
            <a:endParaRPr sz="2600">
              <a:latin typeface="Calibri"/>
              <a:cs typeface="Calibri"/>
            </a:endParaRPr>
          </a:p>
          <a:p>
            <a:pPr marL="12700" marR="2508885">
              <a:lnSpc>
                <a:spcPct val="111900"/>
              </a:lnSpc>
            </a:pP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1..10 </a:t>
            </a:r>
            <a:r>
              <a:rPr dirty="0" sz="2600" spc="-20">
                <a:latin typeface="Calibri"/>
                <a:cs typeface="Calibri"/>
              </a:rPr>
              <a:t>loop</a:t>
            </a:r>
            <a:endParaRPr sz="2600">
              <a:latin typeface="Calibri"/>
              <a:cs typeface="Calibri"/>
            </a:endParaRPr>
          </a:p>
          <a:p>
            <a:pPr marL="12700" marR="655320">
              <a:lnSpc>
                <a:spcPct val="112000"/>
              </a:lnSpc>
              <a:spcBef>
                <a:spcPts val="10"/>
              </a:spcBef>
            </a:pPr>
            <a:r>
              <a:rPr dirty="0" sz="2600">
                <a:latin typeface="Calibri"/>
                <a:cs typeface="Calibri"/>
              </a:rPr>
              <a:t>dbms_output.put_line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(i); </a:t>
            </a:r>
            <a:r>
              <a:rPr dirty="0" sz="2600">
                <a:latin typeface="Calibri"/>
                <a:cs typeface="Calibri"/>
              </a:rPr>
              <a:t>end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loop;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2600" spc="-20">
                <a:latin typeface="Calibri"/>
                <a:cs typeface="Calibri"/>
              </a:rPr>
              <a:t>end;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2600" spc="-50">
                <a:latin typeface="Calibri"/>
                <a:cs typeface="Calibri"/>
              </a:rPr>
              <a:t>/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1766062"/>
            <a:ext cx="4951730" cy="429260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Display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1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10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descending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order </a:t>
            </a:r>
            <a:r>
              <a:rPr dirty="0" sz="2600">
                <a:latin typeface="Calibri"/>
                <a:cs typeface="Calibri"/>
              </a:rPr>
              <a:t>using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loop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600" spc="-25">
                <a:latin typeface="Calibri"/>
                <a:cs typeface="Calibri"/>
              </a:rPr>
              <a:t>-</a:t>
            </a:r>
            <a:r>
              <a:rPr dirty="0" sz="2600">
                <a:latin typeface="Calibri"/>
                <a:cs typeface="Calibri"/>
              </a:rPr>
              <a:t>-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2600" spc="-10">
                <a:latin typeface="Calibri"/>
                <a:cs typeface="Calibri"/>
              </a:rPr>
              <a:t>begin</a:t>
            </a:r>
            <a:endParaRPr sz="2600">
              <a:latin typeface="Calibri"/>
              <a:cs typeface="Calibri"/>
            </a:endParaRPr>
          </a:p>
          <a:p>
            <a:pPr marL="12700" marR="2268220">
              <a:lnSpc>
                <a:spcPct val="111900"/>
              </a:lnSpc>
            </a:pP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reverse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1..10 </a:t>
            </a:r>
            <a:r>
              <a:rPr dirty="0" sz="2600" spc="-20">
                <a:latin typeface="Calibri"/>
                <a:cs typeface="Calibri"/>
              </a:rPr>
              <a:t>loop</a:t>
            </a:r>
            <a:endParaRPr sz="2600">
              <a:latin typeface="Calibri"/>
              <a:cs typeface="Calibri"/>
            </a:endParaRPr>
          </a:p>
          <a:p>
            <a:pPr marL="12700" marR="1475740">
              <a:lnSpc>
                <a:spcPct val="111900"/>
              </a:lnSpc>
              <a:spcBef>
                <a:spcPts val="15"/>
              </a:spcBef>
            </a:pPr>
            <a:r>
              <a:rPr dirty="0" sz="2600">
                <a:latin typeface="Calibri"/>
                <a:cs typeface="Calibri"/>
              </a:rPr>
              <a:t>dbms_output.put_line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(i); </a:t>
            </a:r>
            <a:r>
              <a:rPr dirty="0" sz="2600">
                <a:latin typeface="Calibri"/>
                <a:cs typeface="Calibri"/>
              </a:rPr>
              <a:t>end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loop;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600" spc="-20">
                <a:latin typeface="Calibri"/>
                <a:cs typeface="Calibri"/>
              </a:rPr>
              <a:t>end;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600" spc="-50">
                <a:latin typeface="Calibri"/>
                <a:cs typeface="Calibri"/>
              </a:rPr>
              <a:t>/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5" name="object 5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1258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9676" y="574294"/>
            <a:ext cx="3981450" cy="1474470"/>
          </a:xfrm>
          <a:prstGeom prst="rect"/>
        </p:spPr>
        <p:txBody>
          <a:bodyPr wrap="square" lIns="0" tIns="99695" rIns="0" bIns="0" rtlCol="0" vert="horz">
            <a:spAutoFit/>
          </a:bodyPr>
          <a:lstStyle/>
          <a:p>
            <a:pPr marL="12700" marR="5080">
              <a:lnSpc>
                <a:spcPts val="5400"/>
              </a:lnSpc>
              <a:spcBef>
                <a:spcPts val="785"/>
              </a:spcBef>
            </a:pPr>
            <a:r>
              <a:rPr dirty="0" sz="5000"/>
              <a:t>SQL</a:t>
            </a:r>
            <a:r>
              <a:rPr dirty="0" sz="5000" spc="-100"/>
              <a:t> </a:t>
            </a:r>
            <a:r>
              <a:rPr dirty="0" sz="5000"/>
              <a:t>Cursor</a:t>
            </a:r>
            <a:r>
              <a:rPr dirty="0" sz="5000" spc="-80"/>
              <a:t> </a:t>
            </a:r>
            <a:r>
              <a:rPr dirty="0" sz="5000" spc="-25"/>
              <a:t>And </a:t>
            </a:r>
            <a:r>
              <a:rPr dirty="0" sz="5000"/>
              <a:t>Its </a:t>
            </a:r>
            <a:r>
              <a:rPr dirty="0" sz="5000" spc="-10"/>
              <a:t>Attributes</a:t>
            </a:r>
            <a:endParaRPr sz="5000"/>
          </a:p>
        </p:txBody>
      </p:sp>
      <p:grpSp>
        <p:nvGrpSpPr>
          <p:cNvPr id="3" name="object 3"/>
          <p:cNvGrpSpPr/>
          <p:nvPr/>
        </p:nvGrpSpPr>
        <p:grpSpPr>
          <a:xfrm>
            <a:off x="624636" y="2338911"/>
            <a:ext cx="3293745" cy="85090"/>
            <a:chOff x="624636" y="2338911"/>
            <a:chExt cx="3293745" cy="85090"/>
          </a:xfrm>
        </p:grpSpPr>
        <p:sp>
          <p:nvSpPr>
            <p:cNvPr id="4" name="object 4"/>
            <p:cNvSpPr/>
            <p:nvPr/>
          </p:nvSpPr>
          <p:spPr>
            <a:xfrm>
              <a:off x="643889" y="2362818"/>
              <a:ext cx="3255645" cy="40005"/>
            </a:xfrm>
            <a:custGeom>
              <a:avLst/>
              <a:gdLst/>
              <a:ahLst/>
              <a:cxnLst/>
              <a:rect l="l" t="t" r="r" b="b"/>
              <a:pathLst>
                <a:path w="3255645" h="40005">
                  <a:moveTo>
                    <a:pt x="951941" y="23"/>
                  </a:moveTo>
                  <a:lnTo>
                    <a:pt x="910692" y="0"/>
                  </a:lnTo>
                  <a:lnTo>
                    <a:pt x="870783" y="747"/>
                  </a:lnTo>
                  <a:lnTo>
                    <a:pt x="830133" y="2115"/>
                  </a:lnTo>
                  <a:lnTo>
                    <a:pt x="682926" y="8452"/>
                  </a:lnTo>
                  <a:lnTo>
                    <a:pt x="558271" y="12970"/>
                  </a:lnTo>
                  <a:lnTo>
                    <a:pt x="409554" y="18911"/>
                  </a:lnTo>
                  <a:lnTo>
                    <a:pt x="365953" y="20334"/>
                  </a:lnTo>
                  <a:lnTo>
                    <a:pt x="322995" y="21289"/>
                  </a:lnTo>
                  <a:lnTo>
                    <a:pt x="279274" y="21661"/>
                  </a:lnTo>
                  <a:lnTo>
                    <a:pt x="233383" y="21338"/>
                  </a:lnTo>
                  <a:lnTo>
                    <a:pt x="183916" y="20205"/>
                  </a:lnTo>
                  <a:lnTo>
                    <a:pt x="129467" y="18149"/>
                  </a:lnTo>
                  <a:lnTo>
                    <a:pt x="68630" y="15056"/>
                  </a:lnTo>
                  <a:lnTo>
                    <a:pt x="0" y="10811"/>
                  </a:lnTo>
                  <a:lnTo>
                    <a:pt x="368" y="17669"/>
                  </a:lnTo>
                  <a:lnTo>
                    <a:pt x="838" y="20336"/>
                  </a:lnTo>
                  <a:lnTo>
                    <a:pt x="0" y="29099"/>
                  </a:lnTo>
                  <a:lnTo>
                    <a:pt x="45461" y="28816"/>
                  </a:lnTo>
                  <a:lnTo>
                    <a:pt x="90446" y="28905"/>
                  </a:lnTo>
                  <a:lnTo>
                    <a:pt x="135407" y="29276"/>
                  </a:lnTo>
                  <a:lnTo>
                    <a:pt x="375756" y="32283"/>
                  </a:lnTo>
                  <a:lnTo>
                    <a:pt x="430114" y="32495"/>
                  </a:lnTo>
                  <a:lnTo>
                    <a:pt x="487627" y="32372"/>
                  </a:lnTo>
                  <a:lnTo>
                    <a:pt x="548750" y="31823"/>
                  </a:lnTo>
                  <a:lnTo>
                    <a:pt x="613936" y="30762"/>
                  </a:lnTo>
                  <a:lnTo>
                    <a:pt x="752525" y="27588"/>
                  </a:lnTo>
                  <a:lnTo>
                    <a:pt x="815491" y="26932"/>
                  </a:lnTo>
                  <a:lnTo>
                    <a:pt x="873298" y="26966"/>
                  </a:lnTo>
                  <a:lnTo>
                    <a:pt x="926705" y="27526"/>
                  </a:lnTo>
                  <a:lnTo>
                    <a:pt x="976472" y="28447"/>
                  </a:lnTo>
                  <a:lnTo>
                    <a:pt x="1111518" y="31735"/>
                  </a:lnTo>
                  <a:lnTo>
                    <a:pt x="1154314" y="32458"/>
                  </a:lnTo>
                  <a:lnTo>
                    <a:pt x="1197265" y="32720"/>
                  </a:lnTo>
                  <a:lnTo>
                    <a:pt x="1241131" y="32357"/>
                  </a:lnTo>
                  <a:lnTo>
                    <a:pt x="1286670" y="31205"/>
                  </a:lnTo>
                  <a:lnTo>
                    <a:pt x="1389143" y="26494"/>
                  </a:lnTo>
                  <a:lnTo>
                    <a:pt x="1437057" y="24823"/>
                  </a:lnTo>
                  <a:lnTo>
                    <a:pt x="1480302" y="23947"/>
                  </a:lnTo>
                  <a:lnTo>
                    <a:pt x="1520795" y="23729"/>
                  </a:lnTo>
                  <a:lnTo>
                    <a:pt x="1560450" y="24033"/>
                  </a:lnTo>
                  <a:lnTo>
                    <a:pt x="1749023" y="27708"/>
                  </a:lnTo>
                  <a:lnTo>
                    <a:pt x="1813236" y="28555"/>
                  </a:lnTo>
                  <a:lnTo>
                    <a:pt x="1888109" y="29099"/>
                  </a:lnTo>
                  <a:lnTo>
                    <a:pt x="1951082" y="28991"/>
                  </a:lnTo>
                  <a:lnTo>
                    <a:pt x="2012907" y="28233"/>
                  </a:lnTo>
                  <a:lnTo>
                    <a:pt x="2073418" y="26991"/>
                  </a:lnTo>
                  <a:lnTo>
                    <a:pt x="2132445" y="25434"/>
                  </a:lnTo>
                  <a:lnTo>
                    <a:pt x="2298954" y="20527"/>
                  </a:lnTo>
                  <a:lnTo>
                    <a:pt x="2350372" y="19369"/>
                  </a:lnTo>
                  <a:lnTo>
                    <a:pt x="2399469" y="18727"/>
                  </a:lnTo>
                  <a:lnTo>
                    <a:pt x="2446077" y="18769"/>
                  </a:lnTo>
                  <a:lnTo>
                    <a:pt x="2490028" y="19660"/>
                  </a:lnTo>
                  <a:lnTo>
                    <a:pt x="2531154" y="21568"/>
                  </a:lnTo>
                  <a:lnTo>
                    <a:pt x="2569288" y="24659"/>
                  </a:lnTo>
                  <a:lnTo>
                    <a:pt x="2604262" y="29099"/>
                  </a:lnTo>
                  <a:lnTo>
                    <a:pt x="2643589" y="33817"/>
                  </a:lnTo>
                  <a:lnTo>
                    <a:pt x="2689040" y="36974"/>
                  </a:lnTo>
                  <a:lnTo>
                    <a:pt x="2739433" y="38781"/>
                  </a:lnTo>
                  <a:lnTo>
                    <a:pt x="2793586" y="39450"/>
                  </a:lnTo>
                  <a:lnTo>
                    <a:pt x="2850318" y="39192"/>
                  </a:lnTo>
                  <a:lnTo>
                    <a:pt x="2908448" y="38218"/>
                  </a:lnTo>
                  <a:lnTo>
                    <a:pt x="2966795" y="36740"/>
                  </a:lnTo>
                  <a:lnTo>
                    <a:pt x="3178718" y="30003"/>
                  </a:lnTo>
                  <a:lnTo>
                    <a:pt x="3220426" y="29170"/>
                  </a:lnTo>
                  <a:lnTo>
                    <a:pt x="3255264" y="29099"/>
                  </a:lnTo>
                  <a:lnTo>
                    <a:pt x="3255645" y="20336"/>
                  </a:lnTo>
                  <a:lnTo>
                    <a:pt x="3255010" y="15256"/>
                  </a:lnTo>
                  <a:lnTo>
                    <a:pt x="3255264" y="10811"/>
                  </a:lnTo>
                  <a:lnTo>
                    <a:pt x="3201583" y="15835"/>
                  </a:lnTo>
                  <a:lnTo>
                    <a:pt x="3146724" y="18950"/>
                  </a:lnTo>
                  <a:lnTo>
                    <a:pt x="3091083" y="20431"/>
                  </a:lnTo>
                  <a:lnTo>
                    <a:pt x="3035056" y="20552"/>
                  </a:lnTo>
                  <a:lnTo>
                    <a:pt x="2979039" y="19588"/>
                  </a:lnTo>
                  <a:lnTo>
                    <a:pt x="2923428" y="17816"/>
                  </a:lnTo>
                  <a:lnTo>
                    <a:pt x="2868620" y="15508"/>
                  </a:lnTo>
                  <a:lnTo>
                    <a:pt x="2712974" y="8130"/>
                  </a:lnTo>
                  <a:lnTo>
                    <a:pt x="2665338" y="6435"/>
                  </a:lnTo>
                  <a:lnTo>
                    <a:pt x="2620487" y="5581"/>
                  </a:lnTo>
                  <a:lnTo>
                    <a:pt x="2578816" y="5842"/>
                  </a:lnTo>
                  <a:lnTo>
                    <a:pt x="2540721" y="7494"/>
                  </a:lnTo>
                  <a:lnTo>
                    <a:pt x="2463528" y="15080"/>
                  </a:lnTo>
                  <a:lnTo>
                    <a:pt x="2415144" y="17496"/>
                  </a:lnTo>
                  <a:lnTo>
                    <a:pt x="2362579" y="18384"/>
                  </a:lnTo>
                  <a:lnTo>
                    <a:pt x="2306964" y="18064"/>
                  </a:lnTo>
                  <a:lnTo>
                    <a:pt x="2249432" y="16861"/>
                  </a:lnTo>
                  <a:lnTo>
                    <a:pt x="2191115" y="15097"/>
                  </a:lnTo>
                  <a:lnTo>
                    <a:pt x="2076652" y="11178"/>
                  </a:lnTo>
                  <a:lnTo>
                    <a:pt x="2022770" y="9668"/>
                  </a:lnTo>
                  <a:lnTo>
                    <a:pt x="1972631" y="8889"/>
                  </a:lnTo>
                  <a:lnTo>
                    <a:pt x="1927367" y="9162"/>
                  </a:lnTo>
                  <a:lnTo>
                    <a:pt x="1888109" y="10811"/>
                  </a:lnTo>
                  <a:lnTo>
                    <a:pt x="1854929" y="12896"/>
                  </a:lnTo>
                  <a:lnTo>
                    <a:pt x="1817241" y="14917"/>
                  </a:lnTo>
                  <a:lnTo>
                    <a:pt x="1775479" y="16809"/>
                  </a:lnTo>
                  <a:lnTo>
                    <a:pt x="1730080" y="18509"/>
                  </a:lnTo>
                  <a:lnTo>
                    <a:pt x="1681479" y="19952"/>
                  </a:lnTo>
                  <a:lnTo>
                    <a:pt x="1630114" y="21075"/>
                  </a:lnTo>
                  <a:lnTo>
                    <a:pt x="1576419" y="21813"/>
                  </a:lnTo>
                  <a:lnTo>
                    <a:pt x="1520830" y="22101"/>
                  </a:lnTo>
                  <a:lnTo>
                    <a:pt x="1463785" y="21877"/>
                  </a:lnTo>
                  <a:lnTo>
                    <a:pt x="1405718" y="21075"/>
                  </a:lnTo>
                  <a:lnTo>
                    <a:pt x="1347065" y="19632"/>
                  </a:lnTo>
                  <a:lnTo>
                    <a:pt x="1288263" y="17483"/>
                  </a:lnTo>
                  <a:lnTo>
                    <a:pt x="1229748" y="14564"/>
                  </a:lnTo>
                  <a:lnTo>
                    <a:pt x="1104537" y="6211"/>
                  </a:lnTo>
                  <a:lnTo>
                    <a:pt x="1046782" y="2979"/>
                  </a:lnTo>
                  <a:lnTo>
                    <a:pt x="996610" y="966"/>
                  </a:lnTo>
                  <a:lnTo>
                    <a:pt x="951941" y="23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43686" y="2357961"/>
              <a:ext cx="3255645" cy="46990"/>
            </a:xfrm>
            <a:custGeom>
              <a:avLst/>
              <a:gdLst/>
              <a:ahLst/>
              <a:cxnLst/>
              <a:rect l="l" t="t" r="r" b="b"/>
              <a:pathLst>
                <a:path w="3255645" h="46989">
                  <a:moveTo>
                    <a:pt x="203" y="15668"/>
                  </a:moveTo>
                  <a:lnTo>
                    <a:pt x="59845" y="10650"/>
                  </a:lnTo>
                  <a:lnTo>
                    <a:pt x="118558" y="6628"/>
                  </a:lnTo>
                  <a:lnTo>
                    <a:pt x="176179" y="3577"/>
                  </a:lnTo>
                  <a:lnTo>
                    <a:pt x="232544" y="1472"/>
                  </a:lnTo>
                  <a:lnTo>
                    <a:pt x="287492" y="288"/>
                  </a:lnTo>
                  <a:lnTo>
                    <a:pt x="340858" y="0"/>
                  </a:lnTo>
                  <a:lnTo>
                    <a:pt x="392479" y="581"/>
                  </a:lnTo>
                  <a:lnTo>
                    <a:pt x="442193" y="2009"/>
                  </a:lnTo>
                  <a:lnTo>
                    <a:pt x="489835" y="4256"/>
                  </a:lnTo>
                  <a:lnTo>
                    <a:pt x="535244" y="7298"/>
                  </a:lnTo>
                  <a:lnTo>
                    <a:pt x="578255" y="11111"/>
                  </a:lnTo>
                  <a:lnTo>
                    <a:pt x="618705" y="15668"/>
                  </a:lnTo>
                  <a:lnTo>
                    <a:pt x="655602" y="19572"/>
                  </a:lnTo>
                  <a:lnTo>
                    <a:pt x="694178" y="22295"/>
                  </a:lnTo>
                  <a:lnTo>
                    <a:pt x="734574" y="23982"/>
                  </a:lnTo>
                  <a:lnTo>
                    <a:pt x="776931" y="24777"/>
                  </a:lnTo>
                  <a:lnTo>
                    <a:pt x="821391" y="24825"/>
                  </a:lnTo>
                  <a:lnTo>
                    <a:pt x="868094" y="24270"/>
                  </a:lnTo>
                  <a:lnTo>
                    <a:pt x="917183" y="23258"/>
                  </a:lnTo>
                  <a:lnTo>
                    <a:pt x="968797" y="21932"/>
                  </a:lnTo>
                  <a:lnTo>
                    <a:pt x="1023078" y="20438"/>
                  </a:lnTo>
                  <a:lnTo>
                    <a:pt x="1080167" y="18920"/>
                  </a:lnTo>
                  <a:lnTo>
                    <a:pt x="1140206" y="17522"/>
                  </a:lnTo>
                  <a:lnTo>
                    <a:pt x="1203334" y="16390"/>
                  </a:lnTo>
                  <a:lnTo>
                    <a:pt x="1269695" y="15668"/>
                  </a:lnTo>
                  <a:lnTo>
                    <a:pt x="1335573" y="15443"/>
                  </a:lnTo>
                  <a:lnTo>
                    <a:pt x="1397479" y="15638"/>
                  </a:lnTo>
                  <a:lnTo>
                    <a:pt x="1455893" y="16147"/>
                  </a:lnTo>
                  <a:lnTo>
                    <a:pt x="1511294" y="16867"/>
                  </a:lnTo>
                  <a:lnTo>
                    <a:pt x="1564161" y="17694"/>
                  </a:lnTo>
                  <a:lnTo>
                    <a:pt x="1614972" y="18523"/>
                  </a:lnTo>
                  <a:lnTo>
                    <a:pt x="1664207" y="19252"/>
                  </a:lnTo>
                  <a:lnTo>
                    <a:pt x="1712345" y="19775"/>
                  </a:lnTo>
                  <a:lnTo>
                    <a:pt x="1759864" y="19988"/>
                  </a:lnTo>
                  <a:lnTo>
                    <a:pt x="1807243" y="19789"/>
                  </a:lnTo>
                  <a:lnTo>
                    <a:pt x="1854963" y="19071"/>
                  </a:lnTo>
                  <a:lnTo>
                    <a:pt x="1903500" y="17732"/>
                  </a:lnTo>
                  <a:lnTo>
                    <a:pt x="1953336" y="15668"/>
                  </a:lnTo>
                  <a:lnTo>
                    <a:pt x="2005009" y="13799"/>
                  </a:lnTo>
                  <a:lnTo>
                    <a:pt x="2058446" y="12982"/>
                  </a:lnTo>
                  <a:lnTo>
                    <a:pt x="2113210" y="13015"/>
                  </a:lnTo>
                  <a:lnTo>
                    <a:pt x="2168858" y="13695"/>
                  </a:lnTo>
                  <a:lnTo>
                    <a:pt x="2224952" y="14822"/>
                  </a:lnTo>
                  <a:lnTo>
                    <a:pt x="2281053" y="16193"/>
                  </a:lnTo>
                  <a:lnTo>
                    <a:pt x="2336719" y="17606"/>
                  </a:lnTo>
                  <a:lnTo>
                    <a:pt x="2391511" y="18859"/>
                  </a:lnTo>
                  <a:lnTo>
                    <a:pt x="2444991" y="19751"/>
                  </a:lnTo>
                  <a:lnTo>
                    <a:pt x="2496717" y="20080"/>
                  </a:lnTo>
                  <a:lnTo>
                    <a:pt x="2546249" y="19644"/>
                  </a:lnTo>
                  <a:lnTo>
                    <a:pt x="2593149" y="18240"/>
                  </a:lnTo>
                  <a:lnTo>
                    <a:pt x="2636977" y="15668"/>
                  </a:lnTo>
                  <a:lnTo>
                    <a:pt x="2684956" y="12838"/>
                  </a:lnTo>
                  <a:lnTo>
                    <a:pt x="2736916" y="11197"/>
                  </a:lnTo>
                  <a:lnTo>
                    <a:pt x="2791855" y="10542"/>
                  </a:lnTo>
                  <a:lnTo>
                    <a:pt x="2848775" y="10673"/>
                  </a:lnTo>
                  <a:lnTo>
                    <a:pt x="2906676" y="11385"/>
                  </a:lnTo>
                  <a:lnTo>
                    <a:pt x="2964557" y="12477"/>
                  </a:lnTo>
                  <a:lnTo>
                    <a:pt x="3021420" y="13747"/>
                  </a:lnTo>
                  <a:lnTo>
                    <a:pt x="3076265" y="14991"/>
                  </a:lnTo>
                  <a:lnTo>
                    <a:pt x="3128092" y="16007"/>
                  </a:lnTo>
                  <a:lnTo>
                    <a:pt x="3175901" y="16594"/>
                  </a:lnTo>
                  <a:lnTo>
                    <a:pt x="3218692" y="16549"/>
                  </a:lnTo>
                  <a:lnTo>
                    <a:pt x="3255467" y="15668"/>
                  </a:lnTo>
                  <a:lnTo>
                    <a:pt x="3254705" y="23796"/>
                  </a:lnTo>
                  <a:lnTo>
                    <a:pt x="3255086" y="27733"/>
                  </a:lnTo>
                  <a:lnTo>
                    <a:pt x="3255467" y="33956"/>
                  </a:lnTo>
                  <a:lnTo>
                    <a:pt x="3216374" y="34716"/>
                  </a:lnTo>
                  <a:lnTo>
                    <a:pt x="3171163" y="34943"/>
                  </a:lnTo>
                  <a:lnTo>
                    <a:pt x="3120898" y="34740"/>
                  </a:lnTo>
                  <a:lnTo>
                    <a:pt x="3066647" y="34212"/>
                  </a:lnTo>
                  <a:lnTo>
                    <a:pt x="3009474" y="33463"/>
                  </a:lnTo>
                  <a:lnTo>
                    <a:pt x="2950446" y="32597"/>
                  </a:lnTo>
                  <a:lnTo>
                    <a:pt x="2890627" y="31718"/>
                  </a:lnTo>
                  <a:lnTo>
                    <a:pt x="2831085" y="30930"/>
                  </a:lnTo>
                  <a:lnTo>
                    <a:pt x="2772885" y="30338"/>
                  </a:lnTo>
                  <a:lnTo>
                    <a:pt x="2717092" y="30046"/>
                  </a:lnTo>
                  <a:lnTo>
                    <a:pt x="2664773" y="30158"/>
                  </a:lnTo>
                  <a:lnTo>
                    <a:pt x="2616993" y="30777"/>
                  </a:lnTo>
                  <a:lnTo>
                    <a:pt x="2574818" y="32008"/>
                  </a:lnTo>
                  <a:lnTo>
                    <a:pt x="2539314" y="33956"/>
                  </a:lnTo>
                  <a:lnTo>
                    <a:pt x="2505914" y="35586"/>
                  </a:lnTo>
                  <a:lnTo>
                    <a:pt x="2429882" y="35335"/>
                  </a:lnTo>
                  <a:lnTo>
                    <a:pt x="2387439" y="33956"/>
                  </a:lnTo>
                  <a:lnTo>
                    <a:pt x="2342169" y="32075"/>
                  </a:lnTo>
                  <a:lnTo>
                    <a:pt x="2294169" y="29944"/>
                  </a:lnTo>
                  <a:lnTo>
                    <a:pt x="2243531" y="27812"/>
                  </a:lnTo>
                  <a:lnTo>
                    <a:pt x="2190350" y="25932"/>
                  </a:lnTo>
                  <a:lnTo>
                    <a:pt x="2134722" y="24553"/>
                  </a:lnTo>
                  <a:lnTo>
                    <a:pt x="2076739" y="23926"/>
                  </a:lnTo>
                  <a:lnTo>
                    <a:pt x="2016498" y="24302"/>
                  </a:lnTo>
                  <a:lnTo>
                    <a:pt x="1954091" y="25932"/>
                  </a:lnTo>
                  <a:lnTo>
                    <a:pt x="1889614" y="29066"/>
                  </a:lnTo>
                  <a:lnTo>
                    <a:pt x="1823161" y="33956"/>
                  </a:lnTo>
                  <a:lnTo>
                    <a:pt x="1755167" y="39361"/>
                  </a:lnTo>
                  <a:lnTo>
                    <a:pt x="1695419" y="43109"/>
                  </a:lnTo>
                  <a:lnTo>
                    <a:pt x="1642482" y="45407"/>
                  </a:lnTo>
                  <a:lnTo>
                    <a:pt x="1594923" y="46461"/>
                  </a:lnTo>
                  <a:lnTo>
                    <a:pt x="1551306" y="46477"/>
                  </a:lnTo>
                  <a:lnTo>
                    <a:pt x="1510197" y="45661"/>
                  </a:lnTo>
                  <a:lnTo>
                    <a:pt x="1470162" y="44219"/>
                  </a:lnTo>
                  <a:lnTo>
                    <a:pt x="1429765" y="42357"/>
                  </a:lnTo>
                  <a:lnTo>
                    <a:pt x="1387573" y="40280"/>
                  </a:lnTo>
                  <a:lnTo>
                    <a:pt x="1342151" y="38196"/>
                  </a:lnTo>
                  <a:lnTo>
                    <a:pt x="1292064" y="36310"/>
                  </a:lnTo>
                  <a:lnTo>
                    <a:pt x="1235878" y="34828"/>
                  </a:lnTo>
                  <a:lnTo>
                    <a:pt x="1172159" y="33956"/>
                  </a:lnTo>
                  <a:lnTo>
                    <a:pt x="1133587" y="33803"/>
                  </a:lnTo>
                  <a:lnTo>
                    <a:pt x="1094660" y="33886"/>
                  </a:lnTo>
                  <a:lnTo>
                    <a:pt x="1055269" y="34174"/>
                  </a:lnTo>
                  <a:lnTo>
                    <a:pt x="1015303" y="34634"/>
                  </a:lnTo>
                  <a:lnTo>
                    <a:pt x="974652" y="35236"/>
                  </a:lnTo>
                  <a:lnTo>
                    <a:pt x="933205" y="35946"/>
                  </a:lnTo>
                  <a:lnTo>
                    <a:pt x="890853" y="36734"/>
                  </a:lnTo>
                  <a:lnTo>
                    <a:pt x="847486" y="37567"/>
                  </a:lnTo>
                  <a:lnTo>
                    <a:pt x="802993" y="38415"/>
                  </a:lnTo>
                  <a:lnTo>
                    <a:pt x="757264" y="39244"/>
                  </a:lnTo>
                  <a:lnTo>
                    <a:pt x="710189" y="40024"/>
                  </a:lnTo>
                  <a:lnTo>
                    <a:pt x="661658" y="40723"/>
                  </a:lnTo>
                  <a:lnTo>
                    <a:pt x="611560" y="41308"/>
                  </a:lnTo>
                  <a:lnTo>
                    <a:pt x="559786" y="41749"/>
                  </a:lnTo>
                  <a:lnTo>
                    <a:pt x="506226" y="42013"/>
                  </a:lnTo>
                  <a:lnTo>
                    <a:pt x="450768" y="42068"/>
                  </a:lnTo>
                  <a:lnTo>
                    <a:pt x="393304" y="41884"/>
                  </a:lnTo>
                  <a:lnTo>
                    <a:pt x="333722" y="41427"/>
                  </a:lnTo>
                  <a:lnTo>
                    <a:pt x="271914" y="40667"/>
                  </a:lnTo>
                  <a:lnTo>
                    <a:pt x="207767" y="39572"/>
                  </a:lnTo>
                  <a:lnTo>
                    <a:pt x="141174" y="38110"/>
                  </a:lnTo>
                  <a:lnTo>
                    <a:pt x="72022" y="36248"/>
                  </a:lnTo>
                  <a:lnTo>
                    <a:pt x="203" y="33956"/>
                  </a:lnTo>
                  <a:lnTo>
                    <a:pt x="152" y="28114"/>
                  </a:lnTo>
                  <a:lnTo>
                    <a:pt x="0" y="22145"/>
                  </a:lnTo>
                  <a:lnTo>
                    <a:pt x="203" y="15668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09676" y="2627502"/>
            <a:ext cx="5080635" cy="4021454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just" marL="239395" marR="6350" indent="-227329">
              <a:lnSpc>
                <a:spcPct val="80000"/>
              </a:lnSpc>
              <a:spcBef>
                <a:spcPts val="5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900">
                <a:latin typeface="Calibri"/>
                <a:cs typeface="Calibri"/>
              </a:rPr>
              <a:t>Oracle</a:t>
            </a:r>
            <a:r>
              <a:rPr dirty="0" sz="1900" spc="3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server</a:t>
            </a:r>
            <a:r>
              <a:rPr dirty="0" sz="1900" spc="3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allocates</a:t>
            </a:r>
            <a:r>
              <a:rPr dirty="0" sz="1900" spc="3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3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private</a:t>
            </a:r>
            <a:r>
              <a:rPr dirty="0" sz="1900" spc="3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memory</a:t>
            </a:r>
            <a:r>
              <a:rPr dirty="0" sz="1900" spc="37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area </a:t>
            </a:r>
            <a:r>
              <a:rPr dirty="0" sz="1900" spc="-20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called</a:t>
            </a:r>
            <a:r>
              <a:rPr dirty="0" sz="1900" spc="270">
                <a:latin typeface="Calibri"/>
                <a:cs typeface="Calibri"/>
              </a:rPr>
              <a:t>   </a:t>
            </a:r>
            <a:r>
              <a:rPr dirty="0" sz="1900">
                <a:latin typeface="Calibri"/>
                <a:cs typeface="Calibri"/>
              </a:rPr>
              <a:t>context</a:t>
            </a:r>
            <a:r>
              <a:rPr dirty="0" sz="1900" spc="275">
                <a:latin typeface="Calibri"/>
                <a:cs typeface="Calibri"/>
              </a:rPr>
              <a:t>   </a:t>
            </a:r>
            <a:r>
              <a:rPr dirty="0" sz="1900">
                <a:latin typeface="Calibri"/>
                <a:cs typeface="Calibri"/>
              </a:rPr>
              <a:t>area</a:t>
            </a:r>
            <a:r>
              <a:rPr dirty="0" sz="1900" spc="275">
                <a:latin typeface="Calibri"/>
                <a:cs typeface="Calibri"/>
              </a:rPr>
              <a:t>   </a:t>
            </a:r>
            <a:r>
              <a:rPr dirty="0" sz="1900">
                <a:latin typeface="Calibri"/>
                <a:cs typeface="Calibri"/>
              </a:rPr>
              <a:t>for</a:t>
            </a:r>
            <a:r>
              <a:rPr dirty="0" sz="1900" spc="265">
                <a:latin typeface="Calibri"/>
                <a:cs typeface="Calibri"/>
              </a:rPr>
              <a:t>   </a:t>
            </a:r>
            <a:r>
              <a:rPr dirty="0" sz="1900">
                <a:latin typeface="Calibri"/>
                <a:cs typeface="Calibri"/>
              </a:rPr>
              <a:t>processing</a:t>
            </a:r>
            <a:r>
              <a:rPr dirty="0" sz="1900" spc="275">
                <a:latin typeface="Calibri"/>
                <a:cs typeface="Calibri"/>
              </a:rPr>
              <a:t>   </a:t>
            </a:r>
            <a:r>
              <a:rPr dirty="0" sz="1900" spc="-25">
                <a:latin typeface="Calibri"/>
                <a:cs typeface="Calibri"/>
              </a:rPr>
              <a:t>SQL </a:t>
            </a:r>
            <a:r>
              <a:rPr dirty="0" sz="1900" spc="-25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statements.</a:t>
            </a:r>
            <a:r>
              <a:rPr dirty="0" sz="1900" spc="180">
                <a:latin typeface="Calibri"/>
                <a:cs typeface="Calibri"/>
              </a:rPr>
              <a:t>  </a:t>
            </a:r>
            <a:r>
              <a:rPr dirty="0" sz="1900">
                <a:latin typeface="Calibri"/>
                <a:cs typeface="Calibri"/>
              </a:rPr>
              <a:t>User</a:t>
            </a:r>
            <a:r>
              <a:rPr dirty="0" sz="1900" spc="190">
                <a:latin typeface="Calibri"/>
                <a:cs typeface="Calibri"/>
              </a:rPr>
              <a:t>  </a:t>
            </a:r>
            <a:r>
              <a:rPr dirty="0" sz="1900">
                <a:latin typeface="Calibri"/>
                <a:cs typeface="Calibri"/>
              </a:rPr>
              <a:t>have</a:t>
            </a:r>
            <a:r>
              <a:rPr dirty="0" sz="1900" spc="190">
                <a:latin typeface="Calibri"/>
                <a:cs typeface="Calibri"/>
              </a:rPr>
              <a:t>  </a:t>
            </a:r>
            <a:r>
              <a:rPr dirty="0" sz="1900">
                <a:latin typeface="Calibri"/>
                <a:cs typeface="Calibri"/>
              </a:rPr>
              <a:t>no</a:t>
            </a:r>
            <a:r>
              <a:rPr dirty="0" sz="1900" spc="190">
                <a:latin typeface="Calibri"/>
                <a:cs typeface="Calibri"/>
              </a:rPr>
              <a:t>  </a:t>
            </a:r>
            <a:r>
              <a:rPr dirty="0" sz="1900">
                <a:latin typeface="Calibri"/>
                <a:cs typeface="Calibri"/>
              </a:rPr>
              <a:t>control</a:t>
            </a:r>
            <a:r>
              <a:rPr dirty="0" sz="1900" spc="180">
                <a:latin typeface="Calibri"/>
                <a:cs typeface="Calibri"/>
              </a:rPr>
              <a:t>  </a:t>
            </a:r>
            <a:r>
              <a:rPr dirty="0" sz="1900">
                <a:latin typeface="Calibri"/>
                <a:cs typeface="Calibri"/>
              </a:rPr>
              <a:t>over</a:t>
            </a:r>
            <a:r>
              <a:rPr dirty="0" sz="1900" spc="185">
                <a:latin typeface="Calibri"/>
                <a:cs typeface="Calibri"/>
              </a:rPr>
              <a:t>  </a:t>
            </a:r>
            <a:r>
              <a:rPr dirty="0" sz="1900" spc="-20">
                <a:latin typeface="Calibri"/>
                <a:cs typeface="Calibri"/>
              </a:rPr>
              <a:t>this </a:t>
            </a:r>
            <a:r>
              <a:rPr dirty="0" sz="1900" spc="-20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private</a:t>
            </a:r>
            <a:r>
              <a:rPr dirty="0" sz="1900" spc="3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area</a:t>
            </a:r>
            <a:r>
              <a:rPr dirty="0" sz="1900" spc="3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because</a:t>
            </a:r>
            <a:r>
              <a:rPr dirty="0" sz="1900" spc="3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it</a:t>
            </a:r>
            <a:r>
              <a:rPr dirty="0" sz="1900" spc="3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3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totally</a:t>
            </a:r>
            <a:r>
              <a:rPr dirty="0" sz="1900" spc="3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controlled</a:t>
            </a:r>
            <a:r>
              <a:rPr dirty="0" sz="1900" spc="37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by </a:t>
            </a:r>
            <a:r>
              <a:rPr dirty="0" sz="1900" spc="-25">
                <a:latin typeface="Calibri"/>
                <a:cs typeface="Calibri"/>
              </a:rPr>
              <a:t>	</a:t>
            </a:r>
            <a:r>
              <a:rPr dirty="0" sz="1900" spc="-10">
                <a:latin typeface="Calibri"/>
                <a:cs typeface="Calibri"/>
              </a:rPr>
              <a:t>Oracle</a:t>
            </a:r>
            <a:endParaRPr sz="1900">
              <a:latin typeface="Calibri"/>
              <a:cs typeface="Calibri"/>
            </a:endParaRPr>
          </a:p>
          <a:p>
            <a:pPr algn="just" marL="239395" marR="5080" indent="-227329">
              <a:lnSpc>
                <a:spcPct val="8000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cursor</a:t>
            </a:r>
            <a:r>
              <a:rPr dirty="0" sz="1900" spc="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pointer</a:t>
            </a:r>
            <a:r>
              <a:rPr dirty="0" sz="1900" spc="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this</a:t>
            </a:r>
            <a:r>
              <a:rPr dirty="0" sz="1900" spc="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context</a:t>
            </a:r>
            <a:r>
              <a:rPr dirty="0" sz="1900" spc="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area</a:t>
            </a:r>
            <a:r>
              <a:rPr dirty="0" sz="1900" spc="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it</a:t>
            </a:r>
            <a:r>
              <a:rPr dirty="0" sz="1900" spc="3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is </a:t>
            </a:r>
            <a:r>
              <a:rPr dirty="0" sz="1900" spc="-25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automatically</a:t>
            </a:r>
            <a:r>
              <a:rPr dirty="0" sz="1900" spc="110">
                <a:latin typeface="Calibri"/>
                <a:cs typeface="Calibri"/>
              </a:rPr>
              <a:t>  </a:t>
            </a:r>
            <a:r>
              <a:rPr dirty="0" sz="1900">
                <a:latin typeface="Calibri"/>
                <a:cs typeface="Calibri"/>
              </a:rPr>
              <a:t>managed</a:t>
            </a:r>
            <a:r>
              <a:rPr dirty="0" sz="1900" spc="110">
                <a:latin typeface="Calibri"/>
                <a:cs typeface="Calibri"/>
              </a:rPr>
              <a:t>  </a:t>
            </a:r>
            <a:r>
              <a:rPr dirty="0" sz="1900">
                <a:latin typeface="Calibri"/>
                <a:cs typeface="Calibri"/>
              </a:rPr>
              <a:t>by</a:t>
            </a:r>
            <a:r>
              <a:rPr dirty="0" sz="1900" spc="114">
                <a:latin typeface="Calibri"/>
                <a:cs typeface="Calibri"/>
              </a:rPr>
              <a:t>  </a:t>
            </a:r>
            <a:r>
              <a:rPr dirty="0" sz="1900">
                <a:latin typeface="Calibri"/>
                <a:cs typeface="Calibri"/>
              </a:rPr>
              <a:t>Oracle</a:t>
            </a:r>
            <a:r>
              <a:rPr dirty="0" sz="1900" spc="110">
                <a:latin typeface="Calibri"/>
                <a:cs typeface="Calibri"/>
              </a:rPr>
              <a:t>  </a:t>
            </a:r>
            <a:r>
              <a:rPr dirty="0" sz="1900">
                <a:latin typeface="Calibri"/>
                <a:cs typeface="Calibri"/>
              </a:rPr>
              <a:t>server</a:t>
            </a:r>
            <a:r>
              <a:rPr dirty="0" sz="1900" spc="120">
                <a:latin typeface="Calibri"/>
                <a:cs typeface="Calibri"/>
              </a:rPr>
              <a:t>  </a:t>
            </a:r>
            <a:r>
              <a:rPr dirty="0" sz="1900" spc="-25">
                <a:latin typeface="Calibri"/>
                <a:cs typeface="Calibri"/>
              </a:rPr>
              <a:t>and </a:t>
            </a:r>
            <a:r>
              <a:rPr dirty="0" sz="1900" spc="-25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hence</a:t>
            </a:r>
            <a:r>
              <a:rPr dirty="0" sz="1900" spc="434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it</a:t>
            </a:r>
            <a:r>
              <a:rPr dirty="0" sz="1900" spc="434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4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called</a:t>
            </a:r>
            <a:r>
              <a:rPr dirty="0" sz="1900" spc="4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as</a:t>
            </a:r>
            <a:r>
              <a:rPr dirty="0" sz="1900" spc="434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Implicit</a:t>
            </a:r>
            <a:r>
              <a:rPr dirty="0" sz="1900" spc="4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cursor.</a:t>
            </a:r>
            <a:r>
              <a:rPr dirty="0" sz="1900" spc="434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When</a:t>
            </a:r>
            <a:r>
              <a:rPr dirty="0" sz="1900" spc="434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an </a:t>
            </a:r>
            <a:r>
              <a:rPr dirty="0" sz="1900" spc="-25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executable</a:t>
            </a:r>
            <a:r>
              <a:rPr dirty="0" sz="1900" spc="11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block</a:t>
            </a:r>
            <a:r>
              <a:rPr dirty="0" sz="1900" spc="11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issues</a:t>
            </a:r>
            <a:r>
              <a:rPr dirty="0" sz="1900" spc="10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114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SQL</a:t>
            </a:r>
            <a:r>
              <a:rPr dirty="0" sz="1900" spc="9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statement</a:t>
            </a:r>
            <a:r>
              <a:rPr dirty="0" sz="1900" spc="11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PL/SQL </a:t>
            </a:r>
            <a:r>
              <a:rPr dirty="0" sz="1900" spc="-10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creates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implicit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30">
                <a:latin typeface="Calibri"/>
                <a:cs typeface="Calibri"/>
              </a:rPr>
              <a:t>cursor.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This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cursor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named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as 	SQL</a:t>
            </a:r>
            <a:endParaRPr sz="1900">
              <a:latin typeface="Calibri"/>
              <a:cs typeface="Calibri"/>
            </a:endParaRPr>
          </a:p>
          <a:p>
            <a:pPr algn="just" marL="239395" marR="6985" indent="-227329">
              <a:lnSpc>
                <a:spcPct val="80000"/>
              </a:lnSpc>
              <a:buFont typeface="Arial MT"/>
              <a:buChar char="•"/>
              <a:tabLst>
                <a:tab pos="240665" algn="l"/>
              </a:tabLst>
            </a:pPr>
            <a:r>
              <a:rPr dirty="0" sz="1900">
                <a:latin typeface="Calibri"/>
                <a:cs typeface="Calibri"/>
              </a:rPr>
              <a:t>When</a:t>
            </a:r>
            <a:r>
              <a:rPr dirty="0" sz="1900" spc="2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2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cursor</a:t>
            </a:r>
            <a:r>
              <a:rPr dirty="0" sz="1900" spc="2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2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created</a:t>
            </a:r>
            <a:r>
              <a:rPr dirty="0" sz="1900" spc="2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by</a:t>
            </a:r>
            <a:r>
              <a:rPr dirty="0" sz="1900" spc="229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user</a:t>
            </a:r>
            <a:r>
              <a:rPr dirty="0" sz="1900" spc="229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it</a:t>
            </a:r>
            <a:r>
              <a:rPr dirty="0" sz="1900" spc="2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21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called</a:t>
            </a:r>
            <a:r>
              <a:rPr dirty="0" sz="1900" spc="24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as </a:t>
            </a:r>
            <a:r>
              <a:rPr dirty="0" sz="1900" spc="-25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Explicit</a:t>
            </a:r>
            <a:r>
              <a:rPr dirty="0" sz="1900" spc="1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cursor.</a:t>
            </a:r>
            <a:r>
              <a:rPr dirty="0" sz="1900" spc="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It</a:t>
            </a:r>
            <a:r>
              <a:rPr dirty="0" sz="1900" spc="1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used</a:t>
            </a:r>
            <a:r>
              <a:rPr dirty="0" sz="1900" spc="1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when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select</a:t>
            </a:r>
            <a:r>
              <a:rPr dirty="0" sz="1900" spc="1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statement </a:t>
            </a:r>
            <a:r>
              <a:rPr dirty="0" sz="1900" spc="-10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fetches</a:t>
            </a:r>
            <a:r>
              <a:rPr dirty="0" sz="1900" spc="4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more</a:t>
            </a:r>
            <a:r>
              <a:rPr dirty="0" sz="1900" spc="4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than</a:t>
            </a:r>
            <a:r>
              <a:rPr dirty="0" sz="1900" spc="434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one</a:t>
            </a:r>
            <a:r>
              <a:rPr dirty="0" sz="1900" spc="4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row</a:t>
            </a:r>
            <a:r>
              <a:rPr dirty="0" sz="1900" spc="4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from</a:t>
            </a:r>
            <a:r>
              <a:rPr dirty="0" sz="1900" spc="4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434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table</a:t>
            </a:r>
            <a:r>
              <a:rPr dirty="0" sz="1900" spc="434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and </a:t>
            </a:r>
            <a:r>
              <a:rPr dirty="0" sz="1900" spc="-25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work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with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one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row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at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time</a:t>
            </a:r>
            <a:endParaRPr sz="1900">
              <a:latin typeface="Calibri"/>
              <a:cs typeface="Calibri"/>
            </a:endParaRPr>
          </a:p>
          <a:p>
            <a:pPr algn="just" marL="239395" marR="5715" indent="-227329">
              <a:lnSpc>
                <a:spcPct val="80000"/>
              </a:lnSpc>
              <a:buFont typeface="Arial MT"/>
              <a:buChar char="•"/>
              <a:tabLst>
                <a:tab pos="240665" algn="l"/>
              </a:tabLst>
            </a:pPr>
            <a:r>
              <a:rPr dirty="0" sz="1900">
                <a:latin typeface="Calibri"/>
                <a:cs typeface="Calibri"/>
              </a:rPr>
              <a:t>Using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following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SQL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cursor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attributes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you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can </a:t>
            </a:r>
            <a:r>
              <a:rPr dirty="0" sz="1900" spc="-25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test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outcome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SQL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statements</a:t>
            </a:r>
            <a:endParaRPr sz="19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92697" y="980186"/>
          <a:ext cx="5547995" cy="54711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9525"/>
                <a:gridCol w="2908935"/>
              </a:tblGrid>
              <a:tr h="1823720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SQL%FOUND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965" marR="1435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900">
                          <a:latin typeface="Calibri"/>
                          <a:cs typeface="Calibri"/>
                        </a:rPr>
                        <a:t>Boolean</a:t>
                      </a:r>
                      <a:r>
                        <a:rPr dirty="0" sz="19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>
                          <a:latin typeface="Calibri"/>
                          <a:cs typeface="Calibri"/>
                        </a:rPr>
                        <a:t>attribute</a:t>
                      </a:r>
                      <a:r>
                        <a:rPr dirty="0" sz="19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0">
                          <a:latin typeface="Calibri"/>
                          <a:cs typeface="Calibri"/>
                        </a:rPr>
                        <a:t>that </a:t>
                      </a:r>
                      <a:r>
                        <a:rPr dirty="0" sz="1900" spc="-10">
                          <a:latin typeface="Calibri"/>
                          <a:cs typeface="Calibri"/>
                        </a:rPr>
                        <a:t>evaluates</a:t>
                      </a:r>
                      <a:r>
                        <a:rPr dirty="0" sz="1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9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TRUE</a:t>
                      </a:r>
                      <a:r>
                        <a:rPr dirty="0" sz="19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if</a:t>
                      </a:r>
                      <a:r>
                        <a:rPr dirty="0" sz="19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5"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most</a:t>
                      </a:r>
                      <a:r>
                        <a:rPr dirty="0" sz="19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recent</a:t>
                      </a:r>
                      <a:r>
                        <a:rPr dirty="0" sz="19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SQL</a:t>
                      </a:r>
                      <a:r>
                        <a:rPr dirty="0" sz="19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>
                          <a:latin typeface="Calibri"/>
                          <a:cs typeface="Calibri"/>
                        </a:rPr>
                        <a:t>statement returned</a:t>
                      </a:r>
                      <a:r>
                        <a:rPr dirty="0" sz="19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19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least</a:t>
                      </a:r>
                      <a:r>
                        <a:rPr dirty="0" sz="19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19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5">
                          <a:latin typeface="Calibri"/>
                          <a:cs typeface="Calibri"/>
                        </a:rPr>
                        <a:t>row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3720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SQL%NOTFOUND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965" marR="1435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900">
                          <a:latin typeface="Calibri"/>
                          <a:cs typeface="Calibri"/>
                        </a:rPr>
                        <a:t>Boolean</a:t>
                      </a:r>
                      <a:r>
                        <a:rPr dirty="0" sz="19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>
                          <a:latin typeface="Calibri"/>
                          <a:cs typeface="Calibri"/>
                        </a:rPr>
                        <a:t>attribute</a:t>
                      </a:r>
                      <a:r>
                        <a:rPr dirty="0" sz="19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0">
                          <a:latin typeface="Calibri"/>
                          <a:cs typeface="Calibri"/>
                        </a:rPr>
                        <a:t>that </a:t>
                      </a:r>
                      <a:r>
                        <a:rPr dirty="0" sz="1900" spc="-10">
                          <a:latin typeface="Calibri"/>
                          <a:cs typeface="Calibri"/>
                        </a:rPr>
                        <a:t>evaluate</a:t>
                      </a:r>
                      <a:r>
                        <a:rPr dirty="0" sz="1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9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TRUE</a:t>
                      </a:r>
                      <a:r>
                        <a:rPr dirty="0" sz="1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if</a:t>
                      </a:r>
                      <a:r>
                        <a:rPr dirty="0" sz="19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5"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most</a:t>
                      </a:r>
                      <a:r>
                        <a:rPr dirty="0" sz="19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recent</a:t>
                      </a:r>
                      <a:r>
                        <a:rPr dirty="0" sz="19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SQL</a:t>
                      </a:r>
                      <a:r>
                        <a:rPr dirty="0" sz="19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>
                          <a:latin typeface="Calibri"/>
                          <a:cs typeface="Calibri"/>
                        </a:rPr>
                        <a:t>statement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did</a:t>
                      </a:r>
                      <a:r>
                        <a:rPr dirty="0" sz="19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9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return</a:t>
                      </a:r>
                      <a:r>
                        <a:rPr dirty="0" sz="19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even</a:t>
                      </a:r>
                      <a:r>
                        <a:rPr dirty="0" sz="19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5">
                          <a:latin typeface="Calibri"/>
                          <a:cs typeface="Calibri"/>
                        </a:rPr>
                        <a:t>one row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3720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SQL%ROWCOUNT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965" marR="25907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9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9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integer</a:t>
                      </a:r>
                      <a:r>
                        <a:rPr dirty="0" sz="19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value</a:t>
                      </a:r>
                      <a:r>
                        <a:rPr dirty="0" sz="19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0">
                          <a:latin typeface="Calibri"/>
                          <a:cs typeface="Calibri"/>
                        </a:rPr>
                        <a:t>that </a:t>
                      </a:r>
                      <a:r>
                        <a:rPr dirty="0" sz="1900" spc="-10">
                          <a:latin typeface="Calibri"/>
                          <a:cs typeface="Calibri"/>
                        </a:rPr>
                        <a:t>represents</a:t>
                      </a:r>
                      <a:r>
                        <a:rPr dirty="0" sz="19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9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sz="19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5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rows</a:t>
                      </a:r>
                      <a:r>
                        <a:rPr dirty="0" sz="19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>
                          <a:latin typeface="Calibri"/>
                          <a:cs typeface="Calibri"/>
                        </a:rPr>
                        <a:t>affected</a:t>
                      </a:r>
                      <a:r>
                        <a:rPr dirty="0" sz="19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9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9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0">
                          <a:latin typeface="Calibri"/>
                          <a:cs typeface="Calibri"/>
                        </a:rPr>
                        <a:t>most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recent</a:t>
                      </a:r>
                      <a:r>
                        <a:rPr dirty="0" sz="19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SQL</a:t>
                      </a:r>
                      <a:r>
                        <a:rPr dirty="0" sz="19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>
                          <a:latin typeface="Calibri"/>
                          <a:cs typeface="Calibri"/>
                        </a:rPr>
                        <a:t>statement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8" name="object 8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2020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96240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Create</a:t>
            </a:r>
            <a:r>
              <a:rPr dirty="0" sz="4400" spc="-175"/>
              <a:t> </a:t>
            </a:r>
            <a:r>
              <a:rPr dirty="0" sz="4400" spc="-45"/>
              <a:t>Table</a:t>
            </a:r>
            <a:r>
              <a:rPr dirty="0" sz="4400" spc="-175"/>
              <a:t> </a:t>
            </a:r>
            <a:r>
              <a:rPr dirty="0" sz="4400" spc="-25"/>
              <a:t>EMP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602105"/>
            <a:ext cx="7049770" cy="2444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create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emp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(eid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ename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char(20),esal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int);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insert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emp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values(1,'raj',40000);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insert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emp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values(2,'ravi',50000);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insert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emp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values(3,'priya',30000);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insert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emp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values(4,'neha',60000);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select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*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emp;</a:t>
            </a:r>
            <a:endParaRPr sz="26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97889" y="4072974"/>
          <a:ext cx="3721735" cy="1997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7405"/>
                <a:gridCol w="1538605"/>
                <a:gridCol w="1278255"/>
              </a:tblGrid>
              <a:tr h="418465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2875"/>
                        </a:lnSpc>
                        <a:buFont typeface="Arial MT"/>
                        <a:buChar char="•"/>
                        <a:tabLst>
                          <a:tab pos="260350" algn="l"/>
                        </a:tabLst>
                      </a:pPr>
                      <a:r>
                        <a:rPr dirty="0" sz="2600" spc="-25">
                          <a:latin typeface="Calibri"/>
                          <a:cs typeface="Calibri"/>
                        </a:rPr>
                        <a:t>EID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2875"/>
                        </a:lnSpc>
                      </a:pPr>
                      <a:r>
                        <a:rPr dirty="0" sz="2600" spc="-10">
                          <a:latin typeface="Calibri"/>
                          <a:cs typeface="Calibri"/>
                        </a:rPr>
                        <a:t>ENAME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8940">
                        <a:lnSpc>
                          <a:spcPts val="2875"/>
                        </a:lnSpc>
                      </a:pPr>
                      <a:r>
                        <a:rPr dirty="0" sz="2600" spc="-20">
                          <a:latin typeface="Calibri"/>
                          <a:cs typeface="Calibri"/>
                        </a:rPr>
                        <a:t>ESAL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03225">
                <a:tc>
                  <a:txBody>
                    <a:bodyPr/>
                    <a:lstStyle/>
                    <a:p>
                      <a:pPr algn="ctr" marR="139700">
                        <a:lnSpc>
                          <a:spcPts val="2760"/>
                        </a:lnSpc>
                      </a:pPr>
                      <a:r>
                        <a:rPr dirty="0" sz="2600" spc="-50">
                          <a:latin typeface="Calibri"/>
                          <a:cs typeface="Calibri"/>
                        </a:rPr>
                        <a:t>1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2760"/>
                        </a:lnSpc>
                      </a:pPr>
                      <a:r>
                        <a:rPr dirty="0" sz="2600" spc="-25">
                          <a:latin typeface="Calibri"/>
                          <a:cs typeface="Calibri"/>
                        </a:rPr>
                        <a:t>raj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8940">
                        <a:lnSpc>
                          <a:spcPts val="2760"/>
                        </a:lnSpc>
                      </a:pPr>
                      <a:r>
                        <a:rPr dirty="0" sz="2600" spc="-10">
                          <a:latin typeface="Calibri"/>
                          <a:cs typeface="Calibri"/>
                        </a:rPr>
                        <a:t>40000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04495">
                <a:tc>
                  <a:txBody>
                    <a:bodyPr/>
                    <a:lstStyle/>
                    <a:p>
                      <a:pPr algn="ctr" marR="139700">
                        <a:lnSpc>
                          <a:spcPts val="2760"/>
                        </a:lnSpc>
                      </a:pPr>
                      <a:r>
                        <a:rPr dirty="0" sz="2600" spc="-50">
                          <a:latin typeface="Calibri"/>
                          <a:cs typeface="Calibri"/>
                        </a:rPr>
                        <a:t>2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2760"/>
                        </a:lnSpc>
                      </a:pPr>
                      <a:r>
                        <a:rPr dirty="0" sz="2600" spc="-20">
                          <a:latin typeface="Calibri"/>
                          <a:cs typeface="Calibri"/>
                        </a:rPr>
                        <a:t>ravi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8940">
                        <a:lnSpc>
                          <a:spcPts val="2760"/>
                        </a:lnSpc>
                      </a:pPr>
                      <a:r>
                        <a:rPr dirty="0" sz="2600" spc="-10">
                          <a:latin typeface="Calibri"/>
                          <a:cs typeface="Calibri"/>
                        </a:rPr>
                        <a:t>50000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04495">
                <a:tc>
                  <a:txBody>
                    <a:bodyPr/>
                    <a:lstStyle/>
                    <a:p>
                      <a:pPr algn="ctr" marR="139700">
                        <a:lnSpc>
                          <a:spcPts val="2770"/>
                        </a:lnSpc>
                      </a:pPr>
                      <a:r>
                        <a:rPr dirty="0" sz="2600" spc="-50">
                          <a:latin typeface="Calibri"/>
                          <a:cs typeface="Calibri"/>
                        </a:rPr>
                        <a:t>3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2770"/>
                        </a:lnSpc>
                      </a:pPr>
                      <a:r>
                        <a:rPr dirty="0" sz="2600" spc="-10">
                          <a:latin typeface="Calibri"/>
                          <a:cs typeface="Calibri"/>
                        </a:rPr>
                        <a:t>priya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8940">
                        <a:lnSpc>
                          <a:spcPts val="2770"/>
                        </a:lnSpc>
                      </a:pPr>
                      <a:r>
                        <a:rPr dirty="0" sz="2600" spc="-10">
                          <a:latin typeface="Calibri"/>
                          <a:cs typeface="Calibri"/>
                        </a:rPr>
                        <a:t>30000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67030">
                <a:tc>
                  <a:txBody>
                    <a:bodyPr/>
                    <a:lstStyle/>
                    <a:p>
                      <a:pPr algn="ctr" marR="139700">
                        <a:lnSpc>
                          <a:spcPts val="2760"/>
                        </a:lnSpc>
                      </a:pPr>
                      <a:r>
                        <a:rPr dirty="0" sz="2600" spc="-50">
                          <a:latin typeface="Calibri"/>
                          <a:cs typeface="Calibri"/>
                        </a:rPr>
                        <a:t>4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2760"/>
                        </a:lnSpc>
                      </a:pPr>
                      <a:r>
                        <a:rPr dirty="0" sz="2600" spc="-20">
                          <a:latin typeface="Calibri"/>
                          <a:cs typeface="Calibri"/>
                        </a:rPr>
                        <a:t>neha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8940">
                        <a:lnSpc>
                          <a:spcPts val="2760"/>
                        </a:lnSpc>
                      </a:pPr>
                      <a:r>
                        <a:rPr dirty="0" sz="2600" spc="-10">
                          <a:latin typeface="Calibri"/>
                          <a:cs typeface="Calibri"/>
                        </a:rPr>
                        <a:t>60000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5" name="object 5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190880"/>
            <a:ext cx="10821670" cy="1068070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4475480" marR="5080" indent="-4463415">
              <a:lnSpc>
                <a:spcPts val="3890"/>
              </a:lnSpc>
              <a:spcBef>
                <a:spcPts val="585"/>
              </a:spcBef>
            </a:pPr>
            <a:r>
              <a:rPr dirty="0" sz="3600"/>
              <a:t>State</a:t>
            </a:r>
            <a:r>
              <a:rPr dirty="0" sz="3600" spc="575"/>
              <a:t> </a:t>
            </a:r>
            <a:r>
              <a:rPr dirty="0" sz="3600"/>
              <a:t>the</a:t>
            </a:r>
            <a:r>
              <a:rPr dirty="0" sz="3600" spc="575"/>
              <a:t> </a:t>
            </a:r>
            <a:r>
              <a:rPr dirty="0" sz="3600" spc="-20"/>
              <a:t>implementation</a:t>
            </a:r>
            <a:r>
              <a:rPr dirty="0" sz="3600" spc="565"/>
              <a:t> </a:t>
            </a:r>
            <a:r>
              <a:rPr dirty="0" sz="3600"/>
              <a:t>of</a:t>
            </a:r>
            <a:r>
              <a:rPr dirty="0" sz="3600" spc="575"/>
              <a:t> </a:t>
            </a:r>
            <a:r>
              <a:rPr dirty="0" sz="3600"/>
              <a:t>%FOUND</a:t>
            </a:r>
            <a:r>
              <a:rPr dirty="0" sz="3600" spc="575"/>
              <a:t> </a:t>
            </a:r>
            <a:r>
              <a:rPr dirty="0" sz="3600"/>
              <a:t>and</a:t>
            </a:r>
            <a:r>
              <a:rPr dirty="0" sz="3600" spc="570"/>
              <a:t> </a:t>
            </a:r>
            <a:r>
              <a:rPr dirty="0" sz="3600" spc="-10"/>
              <a:t>%NOTFOUND attributes.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16939" y="1602105"/>
            <a:ext cx="8171815" cy="487045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456555">
              <a:lnSpc>
                <a:spcPct val="101899"/>
              </a:lnSpc>
              <a:spcBef>
                <a:spcPts val="45"/>
              </a:spcBef>
            </a:pPr>
            <a:r>
              <a:rPr dirty="0" sz="2600">
                <a:latin typeface="Calibri"/>
                <a:cs typeface="Calibri"/>
              </a:rPr>
              <a:t>Set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Serveroutput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on </a:t>
            </a:r>
            <a:r>
              <a:rPr dirty="0" sz="2600" spc="-10">
                <a:latin typeface="Calibri"/>
                <a:cs typeface="Calibri"/>
              </a:rPr>
              <a:t>begin</a:t>
            </a:r>
            <a:endParaRPr sz="2600">
              <a:latin typeface="Calibri"/>
              <a:cs typeface="Calibri"/>
            </a:endParaRPr>
          </a:p>
          <a:p>
            <a:pPr marL="311150" marR="1635125">
              <a:lnSpc>
                <a:spcPts val="3190"/>
              </a:lnSpc>
              <a:spcBef>
                <a:spcPts val="110"/>
              </a:spcBef>
              <a:tabLst>
                <a:tab pos="2230120" algn="l"/>
              </a:tabLst>
            </a:pPr>
            <a:r>
              <a:rPr dirty="0" sz="2600">
                <a:latin typeface="Calibri"/>
                <a:cs typeface="Calibri"/>
              </a:rPr>
              <a:t>update</a:t>
            </a:r>
            <a:r>
              <a:rPr dirty="0" sz="2600" spc="49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emp</a:t>
            </a:r>
            <a:r>
              <a:rPr dirty="0" sz="2600">
                <a:latin typeface="Calibri"/>
                <a:cs typeface="Calibri"/>
              </a:rPr>
              <a:t>	set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esal=&amp;esal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where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eid=&amp;eid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;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SQL%FOUND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then</a:t>
            </a:r>
            <a:endParaRPr sz="2600">
              <a:latin typeface="Calibri"/>
              <a:cs typeface="Calibri"/>
            </a:endParaRPr>
          </a:p>
          <a:p>
            <a:pPr marL="311150" marR="681990">
              <a:lnSpc>
                <a:spcPts val="6370"/>
              </a:lnSpc>
              <a:spcBef>
                <a:spcPts val="625"/>
              </a:spcBef>
            </a:pPr>
            <a:r>
              <a:rPr dirty="0" sz="2600" spc="-10">
                <a:latin typeface="Calibri"/>
                <a:cs typeface="Calibri"/>
              </a:rPr>
              <a:t>dbms_output.put_line('record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successfully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updated'); </a:t>
            </a:r>
            <a:r>
              <a:rPr dirty="0" sz="2600">
                <a:latin typeface="Calibri"/>
                <a:cs typeface="Calibri"/>
              </a:rPr>
              <a:t>elsif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SQL%NOTFOUND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then</a:t>
            </a:r>
            <a:endParaRPr sz="2600">
              <a:latin typeface="Calibri"/>
              <a:cs typeface="Calibri"/>
            </a:endParaRPr>
          </a:p>
          <a:p>
            <a:pPr marL="311150">
              <a:lnSpc>
                <a:spcPts val="2430"/>
              </a:lnSpc>
            </a:pPr>
            <a:r>
              <a:rPr dirty="0" sz="2600" spc="-10">
                <a:latin typeface="Calibri"/>
                <a:cs typeface="Calibri"/>
              </a:rPr>
              <a:t>dbms_output.put_line('employee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number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does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exist');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00">
              <a:latin typeface="Calibri"/>
              <a:cs typeface="Calibri"/>
            </a:endParaRPr>
          </a:p>
          <a:p>
            <a:pPr marL="311150" marR="7002780">
              <a:lnSpc>
                <a:spcPct val="101899"/>
              </a:lnSpc>
            </a:pPr>
            <a:r>
              <a:rPr dirty="0" sz="2600">
                <a:latin typeface="Calibri"/>
                <a:cs typeface="Calibri"/>
              </a:rPr>
              <a:t>end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if; </a:t>
            </a:r>
            <a:r>
              <a:rPr dirty="0" sz="2600" spc="-20">
                <a:latin typeface="Calibri"/>
                <a:cs typeface="Calibri"/>
              </a:rPr>
              <a:t>end;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200" y="0"/>
            <a:ext cx="1770888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373761"/>
            <a:ext cx="955294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600" spc="-30"/>
              <a:t>State</a:t>
            </a:r>
            <a:r>
              <a:rPr dirty="0" sz="3600" spc="-110"/>
              <a:t> </a:t>
            </a:r>
            <a:r>
              <a:rPr dirty="0" sz="3600"/>
              <a:t>the</a:t>
            </a:r>
            <a:r>
              <a:rPr dirty="0" sz="3600" spc="-105"/>
              <a:t> </a:t>
            </a:r>
            <a:r>
              <a:rPr dirty="0" sz="3600" spc="-50"/>
              <a:t>implementation</a:t>
            </a:r>
            <a:r>
              <a:rPr dirty="0" sz="3600" spc="-120"/>
              <a:t> </a:t>
            </a:r>
            <a:r>
              <a:rPr dirty="0" sz="3600"/>
              <a:t>of</a:t>
            </a:r>
            <a:r>
              <a:rPr dirty="0" sz="3600" spc="-85"/>
              <a:t> </a:t>
            </a:r>
            <a:r>
              <a:rPr dirty="0" sz="3600" spc="-65"/>
              <a:t>%ROWCOUNT</a:t>
            </a:r>
            <a:r>
              <a:rPr dirty="0" sz="3600" spc="-114"/>
              <a:t> </a:t>
            </a:r>
            <a:r>
              <a:rPr dirty="0" sz="3600" spc="-10"/>
              <a:t>attribute</a:t>
            </a:r>
            <a:r>
              <a:rPr dirty="0" sz="4000" spc="-10"/>
              <a:t>.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145844" y="1186941"/>
            <a:ext cx="9692640" cy="527621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7002780">
              <a:lnSpc>
                <a:spcPct val="101899"/>
              </a:lnSpc>
              <a:spcBef>
                <a:spcPts val="45"/>
              </a:spcBef>
            </a:pPr>
            <a:r>
              <a:rPr dirty="0" sz="2600">
                <a:latin typeface="Calibri"/>
                <a:cs typeface="Calibri"/>
              </a:rPr>
              <a:t>Set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serveroutput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on </a:t>
            </a:r>
            <a:r>
              <a:rPr dirty="0" sz="2600" spc="-10">
                <a:latin typeface="Calibri"/>
                <a:cs typeface="Calibri"/>
              </a:rPr>
              <a:t>declare</a:t>
            </a:r>
            <a:endParaRPr sz="2600">
              <a:latin typeface="Calibri"/>
              <a:cs typeface="Calibri"/>
            </a:endParaRPr>
          </a:p>
          <a:p>
            <a:pPr marL="311150" marR="7633334">
              <a:lnSpc>
                <a:spcPts val="3190"/>
              </a:lnSpc>
              <a:spcBef>
                <a:spcPts val="105"/>
              </a:spcBef>
            </a:pPr>
            <a:r>
              <a:rPr dirty="0" sz="2600">
                <a:latin typeface="Calibri"/>
                <a:cs typeface="Calibri"/>
              </a:rPr>
              <a:t>x </a:t>
            </a:r>
            <a:r>
              <a:rPr dirty="0" sz="2600" spc="-10">
                <a:latin typeface="Calibri"/>
                <a:cs typeface="Calibri"/>
              </a:rPr>
              <a:t>number(5); begin</a:t>
            </a:r>
            <a:endParaRPr sz="2600">
              <a:latin typeface="Calibri"/>
              <a:cs typeface="Calibri"/>
            </a:endParaRPr>
          </a:p>
          <a:p>
            <a:pPr marL="311150" marR="4460240">
              <a:lnSpc>
                <a:spcPts val="3180"/>
              </a:lnSpc>
              <a:spcBef>
                <a:spcPts val="5"/>
              </a:spcBef>
              <a:tabLst>
                <a:tab pos="2229485" algn="l"/>
              </a:tabLst>
            </a:pPr>
            <a:r>
              <a:rPr dirty="0" sz="2600">
                <a:latin typeface="Calibri"/>
                <a:cs typeface="Calibri"/>
              </a:rPr>
              <a:t>update</a:t>
            </a:r>
            <a:r>
              <a:rPr dirty="0" sz="2600" spc="49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emp</a:t>
            </a:r>
            <a:r>
              <a:rPr dirty="0" sz="2600">
                <a:latin typeface="Calibri"/>
                <a:cs typeface="Calibri"/>
              </a:rPr>
              <a:t>	set</a:t>
            </a:r>
            <a:r>
              <a:rPr dirty="0" sz="2600" spc="5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esal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=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esal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+ </a:t>
            </a:r>
            <a:r>
              <a:rPr dirty="0" sz="2600" spc="-10">
                <a:latin typeface="Calibri"/>
                <a:cs typeface="Calibri"/>
              </a:rPr>
              <a:t>1000;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SQL%FOUND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then</a:t>
            </a:r>
            <a:endParaRPr sz="2600">
              <a:latin typeface="Calibri"/>
              <a:cs typeface="Calibri"/>
            </a:endParaRPr>
          </a:p>
          <a:p>
            <a:pPr marL="311150">
              <a:lnSpc>
                <a:spcPts val="3075"/>
              </a:lnSpc>
            </a:pPr>
            <a:r>
              <a:rPr dirty="0" sz="2600">
                <a:latin typeface="Calibri"/>
                <a:cs typeface="Calibri"/>
              </a:rPr>
              <a:t>x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:=</a:t>
            </a:r>
            <a:r>
              <a:rPr dirty="0" sz="2600" spc="-10">
                <a:latin typeface="Calibri"/>
                <a:cs typeface="Calibri"/>
              </a:rPr>
              <a:t> SQL%ROWCOUNT;</a:t>
            </a:r>
            <a:endParaRPr sz="2600">
              <a:latin typeface="Calibri"/>
              <a:cs typeface="Calibri"/>
            </a:endParaRPr>
          </a:p>
          <a:p>
            <a:pPr marL="311150" marR="5080">
              <a:lnSpc>
                <a:spcPts val="3180"/>
              </a:lnSpc>
              <a:spcBef>
                <a:spcPts val="114"/>
              </a:spcBef>
            </a:pPr>
            <a:r>
              <a:rPr dirty="0" sz="2600" spc="-10">
                <a:latin typeface="Calibri"/>
                <a:cs typeface="Calibri"/>
              </a:rPr>
              <a:t>dbms_output.put_line('Salaries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'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||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x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||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'employees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10">
                <a:latin typeface="Calibri"/>
                <a:cs typeface="Calibri"/>
              </a:rPr>
              <a:t> updated'); </a:t>
            </a:r>
            <a:r>
              <a:rPr dirty="0" sz="2600">
                <a:latin typeface="Calibri"/>
                <a:cs typeface="Calibri"/>
              </a:rPr>
              <a:t>elsif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SQL%NOTFOUND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then</a:t>
            </a:r>
            <a:endParaRPr sz="2600">
              <a:latin typeface="Calibri"/>
              <a:cs typeface="Calibri"/>
            </a:endParaRPr>
          </a:p>
          <a:p>
            <a:pPr marL="311150" marR="1124585">
              <a:lnSpc>
                <a:spcPts val="3180"/>
              </a:lnSpc>
              <a:spcBef>
                <a:spcPts val="15"/>
              </a:spcBef>
            </a:pPr>
            <a:r>
              <a:rPr dirty="0" sz="2600">
                <a:latin typeface="Calibri"/>
                <a:cs typeface="Calibri"/>
              </a:rPr>
              <a:t>dbms_output.put_line('None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salaries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where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updated'); </a:t>
            </a:r>
            <a:r>
              <a:rPr dirty="0" sz="2600">
                <a:latin typeface="Calibri"/>
                <a:cs typeface="Calibri"/>
              </a:rPr>
              <a:t>end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if;</a:t>
            </a:r>
            <a:endParaRPr sz="2600">
              <a:latin typeface="Calibri"/>
              <a:cs typeface="Calibri"/>
            </a:endParaRPr>
          </a:p>
          <a:p>
            <a:pPr marL="311150">
              <a:lnSpc>
                <a:spcPts val="3065"/>
              </a:lnSpc>
            </a:pPr>
            <a:r>
              <a:rPr dirty="0" sz="2600" spc="-20">
                <a:latin typeface="Calibri"/>
                <a:cs typeface="Calibri"/>
              </a:rPr>
              <a:t>end;</a:t>
            </a:r>
            <a:endParaRPr sz="2600">
              <a:latin typeface="Calibri"/>
              <a:cs typeface="Calibri"/>
            </a:endParaRPr>
          </a:p>
          <a:p>
            <a:pPr marL="311150">
              <a:lnSpc>
                <a:spcPct val="100000"/>
              </a:lnSpc>
              <a:spcBef>
                <a:spcPts val="75"/>
              </a:spcBef>
            </a:pPr>
            <a:r>
              <a:rPr dirty="0" sz="2600" spc="-50">
                <a:latin typeface="Calibri"/>
                <a:cs typeface="Calibri"/>
              </a:rPr>
              <a:t>/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18904" y="5486400"/>
            <a:ext cx="2673350" cy="1371600"/>
          </a:xfrm>
          <a:custGeom>
            <a:avLst/>
            <a:gdLst/>
            <a:ahLst/>
            <a:cxnLst/>
            <a:rect l="l" t="t" r="r" b="b"/>
            <a:pathLst>
              <a:path w="2673350" h="1371600">
                <a:moveTo>
                  <a:pt x="1721866" y="0"/>
                </a:moveTo>
                <a:lnTo>
                  <a:pt x="1671394" y="706"/>
                </a:lnTo>
                <a:lnTo>
                  <a:pt x="1621272" y="2813"/>
                </a:lnTo>
                <a:lnTo>
                  <a:pt x="1571520" y="6302"/>
                </a:lnTo>
                <a:lnTo>
                  <a:pt x="1522156" y="11153"/>
                </a:lnTo>
                <a:lnTo>
                  <a:pt x="1473198" y="17349"/>
                </a:lnTo>
                <a:lnTo>
                  <a:pt x="1424666" y="24870"/>
                </a:lnTo>
                <a:lnTo>
                  <a:pt x="1376578" y="33697"/>
                </a:lnTo>
                <a:lnTo>
                  <a:pt x="1328953" y="43813"/>
                </a:lnTo>
                <a:lnTo>
                  <a:pt x="1281811" y="55197"/>
                </a:lnTo>
                <a:lnTo>
                  <a:pt x="1235169" y="67831"/>
                </a:lnTo>
                <a:lnTo>
                  <a:pt x="1189046" y="81696"/>
                </a:lnTo>
                <a:lnTo>
                  <a:pt x="1143462" y="96774"/>
                </a:lnTo>
                <a:lnTo>
                  <a:pt x="1098435" y="113045"/>
                </a:lnTo>
                <a:lnTo>
                  <a:pt x="1053984" y="130491"/>
                </a:lnTo>
                <a:lnTo>
                  <a:pt x="1010128" y="149093"/>
                </a:lnTo>
                <a:lnTo>
                  <a:pt x="966885" y="168833"/>
                </a:lnTo>
                <a:lnTo>
                  <a:pt x="924274" y="189691"/>
                </a:lnTo>
                <a:lnTo>
                  <a:pt x="882315" y="211648"/>
                </a:lnTo>
                <a:lnTo>
                  <a:pt x="841026" y="234686"/>
                </a:lnTo>
                <a:lnTo>
                  <a:pt x="800425" y="258787"/>
                </a:lnTo>
                <a:lnTo>
                  <a:pt x="760532" y="283930"/>
                </a:lnTo>
                <a:lnTo>
                  <a:pt x="721366" y="310098"/>
                </a:lnTo>
                <a:lnTo>
                  <a:pt x="682944" y="337271"/>
                </a:lnTo>
                <a:lnTo>
                  <a:pt x="645287" y="365431"/>
                </a:lnTo>
                <a:lnTo>
                  <a:pt x="608412" y="394560"/>
                </a:lnTo>
                <a:lnTo>
                  <a:pt x="572339" y="424637"/>
                </a:lnTo>
                <a:lnTo>
                  <a:pt x="537087" y="455645"/>
                </a:lnTo>
                <a:lnTo>
                  <a:pt x="502673" y="487564"/>
                </a:lnTo>
                <a:lnTo>
                  <a:pt x="469118" y="520376"/>
                </a:lnTo>
                <a:lnTo>
                  <a:pt x="436439" y="554062"/>
                </a:lnTo>
                <a:lnTo>
                  <a:pt x="404656" y="588603"/>
                </a:lnTo>
                <a:lnTo>
                  <a:pt x="373787" y="623980"/>
                </a:lnTo>
                <a:lnTo>
                  <a:pt x="343852" y="660175"/>
                </a:lnTo>
                <a:lnTo>
                  <a:pt x="314869" y="697169"/>
                </a:lnTo>
                <a:lnTo>
                  <a:pt x="286856" y="734942"/>
                </a:lnTo>
                <a:lnTo>
                  <a:pt x="259833" y="773477"/>
                </a:lnTo>
                <a:lnTo>
                  <a:pt x="233818" y="812754"/>
                </a:lnTo>
                <a:lnTo>
                  <a:pt x="208831" y="852754"/>
                </a:lnTo>
                <a:lnTo>
                  <a:pt x="184890" y="893459"/>
                </a:lnTo>
                <a:lnTo>
                  <a:pt x="162013" y="934850"/>
                </a:lnTo>
                <a:lnTo>
                  <a:pt x="140221" y="976908"/>
                </a:lnTo>
                <a:lnTo>
                  <a:pt x="119530" y="1019614"/>
                </a:lnTo>
                <a:lnTo>
                  <a:pt x="99961" y="1062950"/>
                </a:lnTo>
                <a:lnTo>
                  <a:pt x="81532" y="1106897"/>
                </a:lnTo>
                <a:lnTo>
                  <a:pt x="64262" y="1151435"/>
                </a:lnTo>
                <a:lnTo>
                  <a:pt x="48170" y="1196546"/>
                </a:lnTo>
                <a:lnTo>
                  <a:pt x="33274" y="1242212"/>
                </a:lnTo>
                <a:lnTo>
                  <a:pt x="0" y="1371599"/>
                </a:lnTo>
                <a:lnTo>
                  <a:pt x="2673096" y="1371599"/>
                </a:lnTo>
                <a:lnTo>
                  <a:pt x="2673096" y="279247"/>
                </a:lnTo>
                <a:lnTo>
                  <a:pt x="2564638" y="213385"/>
                </a:lnTo>
                <a:lnTo>
                  <a:pt x="2520064" y="189991"/>
                </a:lnTo>
                <a:lnTo>
                  <a:pt x="2474752" y="167838"/>
                </a:lnTo>
                <a:lnTo>
                  <a:pt x="2428723" y="146949"/>
                </a:lnTo>
                <a:lnTo>
                  <a:pt x="2382001" y="127347"/>
                </a:lnTo>
                <a:lnTo>
                  <a:pt x="2334607" y="109055"/>
                </a:lnTo>
                <a:lnTo>
                  <a:pt x="2286566" y="92096"/>
                </a:lnTo>
                <a:lnTo>
                  <a:pt x="2237900" y="76492"/>
                </a:lnTo>
                <a:lnTo>
                  <a:pt x="2188631" y="62265"/>
                </a:lnTo>
                <a:lnTo>
                  <a:pt x="2138783" y="49440"/>
                </a:lnTo>
                <a:lnTo>
                  <a:pt x="2088377" y="38038"/>
                </a:lnTo>
                <a:lnTo>
                  <a:pt x="2037438" y="28083"/>
                </a:lnTo>
                <a:lnTo>
                  <a:pt x="1985988" y="19597"/>
                </a:lnTo>
                <a:lnTo>
                  <a:pt x="1934049" y="12603"/>
                </a:lnTo>
                <a:lnTo>
                  <a:pt x="1881644" y="7123"/>
                </a:lnTo>
                <a:lnTo>
                  <a:pt x="1828797" y="3181"/>
                </a:lnTo>
                <a:lnTo>
                  <a:pt x="1775530" y="799"/>
                </a:lnTo>
                <a:lnTo>
                  <a:pt x="172186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365750" y="651370"/>
            <a:ext cx="2225040" cy="1494155"/>
          </a:xfrm>
          <a:custGeom>
            <a:avLst/>
            <a:gdLst/>
            <a:ahLst/>
            <a:cxnLst/>
            <a:rect l="l" t="t" r="r" b="b"/>
            <a:pathLst>
              <a:path w="2225040" h="1494155">
                <a:moveTo>
                  <a:pt x="0" y="191274"/>
                </a:moveTo>
                <a:lnTo>
                  <a:pt x="42528" y="168284"/>
                </a:lnTo>
                <a:lnTo>
                  <a:pt x="85466" y="146808"/>
                </a:lnTo>
                <a:lnTo>
                  <a:pt x="128782" y="126835"/>
                </a:lnTo>
                <a:lnTo>
                  <a:pt x="172444" y="108357"/>
                </a:lnTo>
                <a:lnTo>
                  <a:pt x="216420" y="91365"/>
                </a:lnTo>
                <a:lnTo>
                  <a:pt x="260680" y="75850"/>
                </a:lnTo>
                <a:lnTo>
                  <a:pt x="305191" y="61804"/>
                </a:lnTo>
                <a:lnTo>
                  <a:pt x="349922" y="49217"/>
                </a:lnTo>
                <a:lnTo>
                  <a:pt x="394841" y="38081"/>
                </a:lnTo>
                <a:lnTo>
                  <a:pt x="439917" y="28387"/>
                </a:lnTo>
                <a:lnTo>
                  <a:pt x="485119" y="20125"/>
                </a:lnTo>
                <a:lnTo>
                  <a:pt x="530414" y="13288"/>
                </a:lnTo>
                <a:lnTo>
                  <a:pt x="575771" y="7865"/>
                </a:lnTo>
                <a:lnTo>
                  <a:pt x="621158" y="3849"/>
                </a:lnTo>
                <a:lnTo>
                  <a:pt x="666544" y="1230"/>
                </a:lnTo>
                <a:lnTo>
                  <a:pt x="711898" y="0"/>
                </a:lnTo>
                <a:lnTo>
                  <a:pt x="757188" y="149"/>
                </a:lnTo>
                <a:lnTo>
                  <a:pt x="802381" y="1668"/>
                </a:lnTo>
                <a:lnTo>
                  <a:pt x="847448" y="4550"/>
                </a:lnTo>
                <a:lnTo>
                  <a:pt x="892355" y="8784"/>
                </a:lnTo>
                <a:lnTo>
                  <a:pt x="937072" y="14363"/>
                </a:lnTo>
                <a:lnTo>
                  <a:pt x="981567" y="21276"/>
                </a:lnTo>
                <a:lnTo>
                  <a:pt x="1025808" y="29516"/>
                </a:lnTo>
                <a:lnTo>
                  <a:pt x="1069764" y="39074"/>
                </a:lnTo>
                <a:lnTo>
                  <a:pt x="1113403" y="49940"/>
                </a:lnTo>
                <a:lnTo>
                  <a:pt x="1156694" y="62105"/>
                </a:lnTo>
                <a:lnTo>
                  <a:pt x="1199604" y="75561"/>
                </a:lnTo>
                <a:lnTo>
                  <a:pt x="1242104" y="90299"/>
                </a:lnTo>
                <a:lnTo>
                  <a:pt x="1284160" y="106310"/>
                </a:lnTo>
                <a:lnTo>
                  <a:pt x="1325741" y="123586"/>
                </a:lnTo>
                <a:lnTo>
                  <a:pt x="1366817" y="142116"/>
                </a:lnTo>
                <a:lnTo>
                  <a:pt x="1407354" y="161893"/>
                </a:lnTo>
                <a:lnTo>
                  <a:pt x="1447322" y="182907"/>
                </a:lnTo>
                <a:lnTo>
                  <a:pt x="1486690" y="205150"/>
                </a:lnTo>
                <a:lnTo>
                  <a:pt x="1525424" y="228613"/>
                </a:lnTo>
                <a:lnTo>
                  <a:pt x="1563495" y="253286"/>
                </a:lnTo>
                <a:lnTo>
                  <a:pt x="1600870" y="279161"/>
                </a:lnTo>
                <a:lnTo>
                  <a:pt x="1637518" y="306230"/>
                </a:lnTo>
                <a:lnTo>
                  <a:pt x="1673407" y="334482"/>
                </a:lnTo>
                <a:lnTo>
                  <a:pt x="1708505" y="363910"/>
                </a:lnTo>
                <a:lnTo>
                  <a:pt x="1742782" y="394505"/>
                </a:lnTo>
                <a:lnTo>
                  <a:pt x="1776205" y="426256"/>
                </a:lnTo>
                <a:lnTo>
                  <a:pt x="1808743" y="459157"/>
                </a:lnTo>
                <a:lnTo>
                  <a:pt x="1840365" y="493197"/>
                </a:lnTo>
                <a:lnTo>
                  <a:pt x="1871038" y="528368"/>
                </a:lnTo>
                <a:lnTo>
                  <a:pt x="1900731" y="564662"/>
                </a:lnTo>
                <a:lnTo>
                  <a:pt x="1929413" y="602068"/>
                </a:lnTo>
                <a:lnTo>
                  <a:pt x="1957052" y="640579"/>
                </a:lnTo>
                <a:lnTo>
                  <a:pt x="1983617" y="680185"/>
                </a:lnTo>
                <a:lnTo>
                  <a:pt x="2009076" y="720877"/>
                </a:lnTo>
                <a:lnTo>
                  <a:pt x="2033397" y="762647"/>
                </a:lnTo>
                <a:lnTo>
                  <a:pt x="2057670" y="807673"/>
                </a:lnTo>
                <a:lnTo>
                  <a:pt x="2080345" y="853414"/>
                </a:lnTo>
                <a:lnTo>
                  <a:pt x="2101409" y="899827"/>
                </a:lnTo>
                <a:lnTo>
                  <a:pt x="2120851" y="946871"/>
                </a:lnTo>
                <a:lnTo>
                  <a:pt x="2138661" y="994502"/>
                </a:lnTo>
                <a:lnTo>
                  <a:pt x="2154827" y="1042677"/>
                </a:lnTo>
                <a:lnTo>
                  <a:pt x="2169338" y="1091353"/>
                </a:lnTo>
                <a:lnTo>
                  <a:pt x="2182184" y="1140488"/>
                </a:lnTo>
                <a:lnTo>
                  <a:pt x="2193352" y="1190038"/>
                </a:lnTo>
                <a:lnTo>
                  <a:pt x="2202833" y="1239960"/>
                </a:lnTo>
                <a:lnTo>
                  <a:pt x="2210615" y="1290212"/>
                </a:lnTo>
                <a:lnTo>
                  <a:pt x="2216687" y="1340751"/>
                </a:lnTo>
                <a:lnTo>
                  <a:pt x="2221038" y="1391534"/>
                </a:lnTo>
                <a:lnTo>
                  <a:pt x="2223656" y="1442517"/>
                </a:lnTo>
                <a:lnTo>
                  <a:pt x="2224531" y="1493659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0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Explicit </a:t>
            </a:r>
            <a:r>
              <a:rPr dirty="0" sz="4400" spc="-20"/>
              <a:t>Cursors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916939" y="1956943"/>
            <a:ext cx="5100955" cy="77914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241300" marR="5080" indent="-229235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  <a:tab pos="763905" algn="l"/>
                <a:tab pos="1934210" algn="l"/>
                <a:tab pos="2816860" algn="l"/>
                <a:tab pos="3352165" algn="l"/>
                <a:tab pos="4704080" algn="l"/>
              </a:tabLst>
            </a:pPr>
            <a:r>
              <a:rPr dirty="0" sz="2600" spc="-50">
                <a:latin typeface="Calibri"/>
                <a:cs typeface="Calibri"/>
              </a:rPr>
              <a:t>A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cursor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that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opened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30">
                <a:latin typeface="Calibri"/>
                <a:cs typeface="Calibri"/>
              </a:rPr>
              <a:t>for </a:t>
            </a:r>
            <a:r>
              <a:rPr dirty="0" sz="2600">
                <a:latin typeface="Calibri"/>
                <a:cs typeface="Calibri"/>
              </a:rPr>
              <a:t>processing</a:t>
            </a:r>
            <a:r>
              <a:rPr dirty="0" sz="2600" spc="6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6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through</a:t>
            </a:r>
            <a:r>
              <a:rPr dirty="0" sz="2600" spc="6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6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PL/SQL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5844" y="2670429"/>
            <a:ext cx="487299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07744" algn="l"/>
                <a:tab pos="1635125" algn="l"/>
                <a:tab pos="3021330" algn="l"/>
                <a:tab pos="3507104" algn="l"/>
                <a:tab pos="4570730" algn="l"/>
              </a:tabLst>
            </a:pPr>
            <a:r>
              <a:rPr dirty="0" sz="2600" spc="-10">
                <a:latin typeface="Calibri"/>
                <a:cs typeface="Calibri"/>
              </a:rPr>
              <a:t>block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on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demand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called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as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2940786"/>
            <a:ext cx="5099685" cy="991869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780"/>
              </a:spcBef>
            </a:pPr>
            <a:r>
              <a:rPr dirty="0" sz="2600">
                <a:latin typeface="Calibri"/>
                <a:cs typeface="Calibri"/>
              </a:rPr>
              <a:t>Explicit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Cursor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cursor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declared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mapped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3866463"/>
            <a:ext cx="5102225" cy="197802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algn="just" marL="241300" marR="5080">
              <a:lnSpc>
                <a:spcPct val="90000"/>
              </a:lnSpc>
              <a:spcBef>
                <a:spcPts val="415"/>
              </a:spcBef>
            </a:pP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3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3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SQL</a:t>
            </a:r>
            <a:r>
              <a:rPr dirty="0" sz="2600" spc="3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query</a:t>
            </a:r>
            <a:r>
              <a:rPr dirty="0" sz="2600" spc="3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31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2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Declare </a:t>
            </a:r>
            <a:r>
              <a:rPr dirty="0" sz="2600">
                <a:latin typeface="Calibri"/>
                <a:cs typeface="Calibri"/>
              </a:rPr>
              <a:t>Section</a:t>
            </a:r>
            <a:r>
              <a:rPr dirty="0" sz="2600" spc="3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3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PL/SQL</a:t>
            </a:r>
            <a:r>
              <a:rPr dirty="0" sz="2600" spc="3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block</a:t>
            </a:r>
            <a:r>
              <a:rPr dirty="0" sz="2600" spc="3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37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is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within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executable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section</a:t>
            </a:r>
            <a:endParaRPr sz="2600">
              <a:latin typeface="Calibri"/>
              <a:cs typeface="Calibri"/>
            </a:endParaRPr>
          </a:p>
          <a:p>
            <a:pPr algn="just" marL="241300" marR="5715" indent="-229235">
              <a:lnSpc>
                <a:spcPts val="281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explicit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cursor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2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following attributes</a:t>
            </a:r>
            <a:endParaRPr sz="26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506971" y="1633727"/>
          <a:ext cx="5234305" cy="3844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1655"/>
                <a:gridCol w="3333750"/>
              </a:tblGrid>
              <a:tr h="42290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Attribute</a:t>
                      </a:r>
                      <a:r>
                        <a:rPr dirty="0" sz="16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Description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%ISOPEN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marR="3860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Returns</a:t>
                      </a:r>
                      <a:r>
                        <a:rPr dirty="0" sz="16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TRUE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if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cursor is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open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else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FALSE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9949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%FOUND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marR="5429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Returns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TRUE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if</a:t>
                      </a:r>
                      <a:r>
                        <a:rPr dirty="0" sz="16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record</a:t>
                      </a:r>
                      <a:r>
                        <a:rPr dirty="0" sz="16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6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fetched successfully</a:t>
                      </a:r>
                      <a:r>
                        <a:rPr dirty="0" sz="16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else</a:t>
                      </a:r>
                      <a:r>
                        <a:rPr dirty="0" sz="16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FALSE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9949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%NOTFOUND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marR="2139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Returns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TRUE</a:t>
                      </a:r>
                      <a:r>
                        <a:rPr dirty="0" sz="16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if</a:t>
                      </a:r>
                      <a:r>
                        <a:rPr dirty="0" sz="16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record is</a:t>
                      </a:r>
                      <a:r>
                        <a:rPr dirty="0" sz="16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fetched successfully</a:t>
                      </a:r>
                      <a:r>
                        <a:rPr dirty="0" sz="16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else</a:t>
                      </a:r>
                      <a:r>
                        <a:rPr dirty="0" sz="16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FALSE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%ROWCOUNT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marR="7086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Returns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6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records processed</a:t>
                      </a:r>
                      <a:r>
                        <a:rPr dirty="0" sz="16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6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cursor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0" name="object 10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Create</a:t>
            </a:r>
            <a:r>
              <a:rPr dirty="0" sz="4400" spc="-175"/>
              <a:t> </a:t>
            </a:r>
            <a:r>
              <a:rPr dirty="0" sz="4400" spc="-45"/>
              <a:t>Table</a:t>
            </a:r>
            <a:r>
              <a:rPr dirty="0" sz="4400" spc="-175"/>
              <a:t> </a:t>
            </a:r>
            <a:r>
              <a:rPr dirty="0" sz="4400" spc="-25"/>
              <a:t>EMP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46250"/>
            <a:ext cx="6443345" cy="2307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latin typeface="Calibri"/>
                <a:cs typeface="Calibri"/>
              </a:rPr>
              <a:t>create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emp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(eid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ename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char(20),esal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int)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latin typeface="Calibri"/>
                <a:cs typeface="Calibri"/>
              </a:rPr>
              <a:t>insert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emp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values(1,'raj',40000)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insert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emp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values(2,'ravi',50000)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latin typeface="Calibri"/>
                <a:cs typeface="Calibri"/>
              </a:rPr>
              <a:t>insert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emp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values(3,'priya',30000)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latin typeface="Calibri"/>
                <a:cs typeface="Calibri"/>
              </a:rPr>
              <a:t>insert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emp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values(4,'neha',60000)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latin typeface="Calibri"/>
                <a:cs typeface="Calibri"/>
              </a:rPr>
              <a:t>select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*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emp;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97889" y="4086119"/>
          <a:ext cx="3653154" cy="1882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0260"/>
                <a:gridCol w="1517015"/>
                <a:gridCol w="1250314"/>
              </a:tblGrid>
              <a:tr h="391160">
                <a:tc>
                  <a:txBody>
                    <a:bodyPr/>
                    <a:lstStyle/>
                    <a:p>
                      <a:pPr marL="259079" indent="-227329">
                        <a:lnSpc>
                          <a:spcPts val="2655"/>
                        </a:lnSpc>
                        <a:buFont typeface="Arial MT"/>
                        <a:buChar char="•"/>
                        <a:tabLst>
                          <a:tab pos="259079" algn="l"/>
                        </a:tabLst>
                      </a:pPr>
                      <a:r>
                        <a:rPr dirty="0" sz="2400" spc="-25">
                          <a:latin typeface="Calibri"/>
                          <a:cs typeface="Calibri"/>
                        </a:rPr>
                        <a:t>EID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2655"/>
                        </a:lnSpc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ENAME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ts val="2655"/>
                        </a:lnSpc>
                      </a:pPr>
                      <a:r>
                        <a:rPr dirty="0" sz="2400" spc="-20">
                          <a:latin typeface="Calibri"/>
                          <a:cs typeface="Calibri"/>
                        </a:rPr>
                        <a:t>ESAL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82905">
                <a:tc>
                  <a:txBody>
                    <a:bodyPr/>
                    <a:lstStyle/>
                    <a:p>
                      <a:pPr marL="236220">
                        <a:lnSpc>
                          <a:spcPts val="2585"/>
                        </a:lnSpc>
                      </a:pPr>
                      <a:r>
                        <a:rPr dirty="0" sz="2400" spc="-5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2585"/>
                        </a:lnSpc>
                      </a:pPr>
                      <a:r>
                        <a:rPr dirty="0" sz="2400" spc="-25">
                          <a:latin typeface="Calibri"/>
                          <a:cs typeface="Calibri"/>
                        </a:rPr>
                        <a:t>raj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ts val="2585"/>
                        </a:lnSpc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40000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82905">
                <a:tc>
                  <a:txBody>
                    <a:bodyPr/>
                    <a:lstStyle/>
                    <a:p>
                      <a:pPr marL="236220">
                        <a:lnSpc>
                          <a:spcPts val="2590"/>
                        </a:lnSpc>
                      </a:pPr>
                      <a:r>
                        <a:rPr dirty="0" sz="2400" spc="-5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2590"/>
                        </a:lnSpc>
                      </a:pPr>
                      <a:r>
                        <a:rPr dirty="0" sz="2400" spc="-20">
                          <a:latin typeface="Calibri"/>
                          <a:cs typeface="Calibri"/>
                        </a:rPr>
                        <a:t>ravi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ts val="2590"/>
                        </a:lnSpc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50000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82270">
                <a:tc>
                  <a:txBody>
                    <a:bodyPr/>
                    <a:lstStyle/>
                    <a:p>
                      <a:pPr marL="236220">
                        <a:lnSpc>
                          <a:spcPts val="2585"/>
                        </a:lnSpc>
                      </a:pPr>
                      <a:r>
                        <a:rPr dirty="0" sz="2400" spc="-5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2585"/>
                        </a:lnSpc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priya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ts val="2585"/>
                        </a:lnSpc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30000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43535">
                <a:tc>
                  <a:txBody>
                    <a:bodyPr/>
                    <a:lstStyle/>
                    <a:p>
                      <a:pPr marL="236220">
                        <a:lnSpc>
                          <a:spcPts val="2585"/>
                        </a:lnSpc>
                      </a:pPr>
                      <a:r>
                        <a:rPr dirty="0" sz="2400" spc="-5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2585"/>
                        </a:lnSpc>
                      </a:pPr>
                      <a:r>
                        <a:rPr dirty="0" sz="2400" spc="-20">
                          <a:latin typeface="Calibri"/>
                          <a:cs typeface="Calibri"/>
                        </a:rPr>
                        <a:t>neha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ts val="2585"/>
                        </a:lnSpc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60000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5" name="object 5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Explicit</a:t>
            </a:r>
            <a:r>
              <a:rPr dirty="0" sz="4400" spc="-60"/>
              <a:t> </a:t>
            </a:r>
            <a:r>
              <a:rPr dirty="0" sz="4400"/>
              <a:t>Cursor</a:t>
            </a:r>
            <a:r>
              <a:rPr dirty="0" sz="4400" spc="-65"/>
              <a:t> </a:t>
            </a:r>
            <a:r>
              <a:rPr dirty="0" sz="4400" spc="-10"/>
              <a:t>Examples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7219315" cy="4870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create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emp1(eid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ename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char(20),esal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int);</a:t>
            </a:r>
            <a:endParaRPr sz="2600">
              <a:latin typeface="Calibri"/>
              <a:cs typeface="Calibri"/>
            </a:endParaRPr>
          </a:p>
          <a:p>
            <a:pPr marL="240665" marR="3770629" indent="-228600">
              <a:lnSpc>
                <a:spcPct val="101899"/>
              </a:lnSpc>
              <a:buFont typeface="Arial MT"/>
              <a:buChar char="•"/>
              <a:tabLst>
                <a:tab pos="927100" algn="l"/>
              </a:tabLst>
            </a:pPr>
            <a:r>
              <a:rPr dirty="0" sz="2600">
                <a:latin typeface="Calibri"/>
                <a:cs typeface="Calibri"/>
              </a:rPr>
              <a:t>Cursor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Implementation: 	declare</a:t>
            </a:r>
            <a:endParaRPr sz="2600">
              <a:latin typeface="Calibri"/>
              <a:cs typeface="Calibri"/>
            </a:endParaRPr>
          </a:p>
          <a:p>
            <a:pPr marL="927100" marR="2195195">
              <a:lnSpc>
                <a:spcPct val="101899"/>
              </a:lnSpc>
              <a:spcBef>
                <a:spcPts val="15"/>
              </a:spcBef>
            </a:pPr>
            <a:r>
              <a:rPr dirty="0" sz="2600">
                <a:latin typeface="Calibri"/>
                <a:cs typeface="Calibri"/>
              </a:rPr>
              <a:t>cursor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c1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select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*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emp; </a:t>
            </a:r>
            <a:r>
              <a:rPr dirty="0" sz="2600">
                <a:latin typeface="Calibri"/>
                <a:cs typeface="Calibri"/>
              </a:rPr>
              <a:t>x </a:t>
            </a:r>
            <a:r>
              <a:rPr dirty="0" sz="2600" spc="-10">
                <a:latin typeface="Calibri"/>
                <a:cs typeface="Calibri"/>
              </a:rPr>
              <a:t>emp%rowtype;</a:t>
            </a:r>
            <a:endParaRPr sz="2600">
              <a:latin typeface="Calibri"/>
              <a:cs typeface="Calibri"/>
            </a:endParaRPr>
          </a:p>
          <a:p>
            <a:pPr marL="927100" marR="5128895">
              <a:lnSpc>
                <a:spcPts val="3190"/>
              </a:lnSpc>
              <a:spcBef>
                <a:spcPts val="105"/>
              </a:spcBef>
            </a:pPr>
            <a:r>
              <a:rPr dirty="0" sz="2600" spc="-10">
                <a:latin typeface="Calibri"/>
                <a:cs typeface="Calibri"/>
              </a:rPr>
              <a:t>begin </a:t>
            </a:r>
            <a:r>
              <a:rPr dirty="0" sz="2600">
                <a:latin typeface="Calibri"/>
                <a:cs typeface="Calibri"/>
              </a:rPr>
              <a:t>open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c1;</a:t>
            </a:r>
            <a:endParaRPr sz="2600">
              <a:latin typeface="Calibri"/>
              <a:cs typeface="Calibri"/>
            </a:endParaRPr>
          </a:p>
          <a:p>
            <a:pPr marL="927100">
              <a:lnSpc>
                <a:spcPts val="3065"/>
              </a:lnSpc>
            </a:pPr>
            <a:r>
              <a:rPr dirty="0" sz="2600" spc="-10">
                <a:latin typeface="Calibri"/>
                <a:cs typeface="Calibri"/>
              </a:rPr>
              <a:t>fetch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c1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x;</a:t>
            </a:r>
            <a:endParaRPr sz="2600">
              <a:latin typeface="Calibri"/>
              <a:cs typeface="Calibri"/>
            </a:endParaRPr>
          </a:p>
          <a:p>
            <a:pPr marL="927100" marR="5080">
              <a:lnSpc>
                <a:spcPts val="3190"/>
              </a:lnSpc>
              <a:spcBef>
                <a:spcPts val="110"/>
              </a:spcBef>
            </a:pPr>
            <a:r>
              <a:rPr dirty="0" sz="2600">
                <a:latin typeface="Calibri"/>
                <a:cs typeface="Calibri"/>
              </a:rPr>
              <a:t>insert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emp1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values(x.eid,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x.ename,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x.esal); </a:t>
            </a:r>
            <a:r>
              <a:rPr dirty="0" sz="2600">
                <a:latin typeface="Calibri"/>
                <a:cs typeface="Calibri"/>
              </a:rPr>
              <a:t>close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c1;</a:t>
            </a:r>
            <a:endParaRPr sz="2600">
              <a:latin typeface="Calibri"/>
              <a:cs typeface="Calibri"/>
            </a:endParaRPr>
          </a:p>
          <a:p>
            <a:pPr marL="927100">
              <a:lnSpc>
                <a:spcPts val="3065"/>
              </a:lnSpc>
            </a:pPr>
            <a:r>
              <a:rPr dirty="0" sz="2600" spc="-20">
                <a:latin typeface="Calibri"/>
                <a:cs typeface="Calibri"/>
              </a:rPr>
              <a:t>end;</a:t>
            </a:r>
            <a:endParaRPr sz="26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0"/>
              </a:spcBef>
            </a:pPr>
            <a:r>
              <a:rPr dirty="0" sz="2600" spc="-50">
                <a:latin typeface="Calibri"/>
                <a:cs typeface="Calibri"/>
              </a:rPr>
              <a:t>/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45274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Explicit</a:t>
            </a:r>
            <a:r>
              <a:rPr dirty="0" sz="4400" spc="-60"/>
              <a:t> </a:t>
            </a:r>
            <a:r>
              <a:rPr dirty="0" sz="4400"/>
              <a:t>Cursor</a:t>
            </a:r>
            <a:r>
              <a:rPr dirty="0" sz="4400" spc="-65"/>
              <a:t> </a:t>
            </a:r>
            <a:r>
              <a:rPr dirty="0" sz="4400" spc="-10"/>
              <a:t>Examples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40739" y="1455166"/>
            <a:ext cx="4474210" cy="517080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 marR="680720">
              <a:lnSpc>
                <a:spcPct val="70000"/>
              </a:lnSpc>
              <a:spcBef>
                <a:spcPts val="885"/>
              </a:spcBef>
            </a:pPr>
            <a:r>
              <a:rPr dirty="0" sz="2200" spc="-10">
                <a:latin typeface="Calibri"/>
                <a:cs typeface="Calibri"/>
              </a:rPr>
              <a:t>create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emp2(eid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int,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ename </a:t>
            </a:r>
            <a:r>
              <a:rPr dirty="0" sz="2200">
                <a:latin typeface="Calibri"/>
                <a:cs typeface="Calibri"/>
              </a:rPr>
              <a:t>char(20),esal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int)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2200" spc="-10">
                <a:latin typeface="Calibri"/>
                <a:cs typeface="Calibri"/>
              </a:rPr>
              <a:t>declare</a:t>
            </a:r>
            <a:endParaRPr sz="2200">
              <a:latin typeface="Calibri"/>
              <a:cs typeface="Calibri"/>
            </a:endParaRPr>
          </a:p>
          <a:p>
            <a:pPr marL="12700" marR="996315">
              <a:lnSpc>
                <a:spcPts val="2860"/>
              </a:lnSpc>
              <a:spcBef>
                <a:spcPts val="114"/>
              </a:spcBef>
            </a:pPr>
            <a:r>
              <a:rPr dirty="0" sz="2200">
                <a:latin typeface="Calibri"/>
                <a:cs typeface="Calibri"/>
              </a:rPr>
              <a:t>cursor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c1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select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*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emp; </a:t>
            </a:r>
            <a:r>
              <a:rPr dirty="0" sz="2200">
                <a:latin typeface="Calibri"/>
                <a:cs typeface="Calibri"/>
              </a:rPr>
              <a:t>x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emp%rowtype;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2200" spc="-10">
                <a:latin typeface="Calibri"/>
                <a:cs typeface="Calibri"/>
              </a:rPr>
              <a:t>begin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2200">
                <a:latin typeface="Calibri"/>
                <a:cs typeface="Calibri"/>
              </a:rPr>
              <a:t>open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c1;</a:t>
            </a:r>
            <a:endParaRPr sz="2200">
              <a:latin typeface="Calibri"/>
              <a:cs typeface="Calibri"/>
            </a:endParaRPr>
          </a:p>
          <a:p>
            <a:pPr marL="12700" marR="3241675">
              <a:lnSpc>
                <a:spcPct val="107700"/>
              </a:lnSpc>
              <a:spcBef>
                <a:spcPts val="15"/>
              </a:spcBef>
            </a:pP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1..4 loop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2200" spc="-10">
                <a:latin typeface="Calibri"/>
                <a:cs typeface="Calibri"/>
              </a:rPr>
              <a:t>fetch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c1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x;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245"/>
              </a:lnSpc>
              <a:spcBef>
                <a:spcPts val="215"/>
              </a:spcBef>
            </a:pPr>
            <a:r>
              <a:rPr dirty="0" sz="2200">
                <a:latin typeface="Calibri"/>
                <a:cs typeface="Calibri"/>
              </a:rPr>
              <a:t>insert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emp2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values(x.eid,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x.ename,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245"/>
              </a:lnSpc>
            </a:pPr>
            <a:r>
              <a:rPr dirty="0" sz="2200" spc="-10">
                <a:latin typeface="Calibri"/>
                <a:cs typeface="Calibri"/>
              </a:rPr>
              <a:t>x.esal);</a:t>
            </a:r>
            <a:endParaRPr sz="2200">
              <a:latin typeface="Calibri"/>
              <a:cs typeface="Calibri"/>
            </a:endParaRPr>
          </a:p>
          <a:p>
            <a:pPr marL="12700" marR="3377565">
              <a:lnSpc>
                <a:spcPct val="107700"/>
              </a:lnSpc>
            </a:pPr>
            <a:r>
              <a:rPr dirty="0" sz="2200">
                <a:latin typeface="Calibri"/>
                <a:cs typeface="Calibri"/>
              </a:rPr>
              <a:t>end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loop; </a:t>
            </a:r>
            <a:r>
              <a:rPr dirty="0" sz="2200">
                <a:latin typeface="Calibri"/>
                <a:cs typeface="Calibri"/>
              </a:rPr>
              <a:t>close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c1;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dirty="0" sz="2200" spc="-20">
                <a:latin typeface="Calibri"/>
                <a:cs typeface="Calibri"/>
              </a:rPr>
              <a:t>end;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5628" y="1455166"/>
            <a:ext cx="4471035" cy="408622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 marR="678180">
              <a:lnSpc>
                <a:spcPct val="70000"/>
              </a:lnSpc>
              <a:spcBef>
                <a:spcPts val="885"/>
              </a:spcBef>
            </a:pPr>
            <a:r>
              <a:rPr dirty="0" sz="2200" spc="-10">
                <a:latin typeface="Calibri"/>
                <a:cs typeface="Calibri"/>
              </a:rPr>
              <a:t>create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emp3(eid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int,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ename </a:t>
            </a:r>
            <a:r>
              <a:rPr dirty="0" sz="2200">
                <a:latin typeface="Calibri"/>
                <a:cs typeface="Calibri"/>
              </a:rPr>
              <a:t>char(20),esal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int)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200" spc="-10">
                <a:latin typeface="Calibri"/>
                <a:cs typeface="Calibri"/>
              </a:rPr>
              <a:t>declare</a:t>
            </a:r>
            <a:endParaRPr sz="2200">
              <a:latin typeface="Calibri"/>
              <a:cs typeface="Calibri"/>
            </a:endParaRPr>
          </a:p>
          <a:p>
            <a:pPr marL="12700" marR="993775">
              <a:lnSpc>
                <a:spcPct val="107700"/>
              </a:lnSpc>
              <a:spcBef>
                <a:spcPts val="15"/>
              </a:spcBef>
            </a:pPr>
            <a:r>
              <a:rPr dirty="0" sz="2200">
                <a:latin typeface="Calibri"/>
                <a:cs typeface="Calibri"/>
              </a:rPr>
              <a:t>cursor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c1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select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*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emp; </a:t>
            </a:r>
            <a:r>
              <a:rPr dirty="0" sz="2200" spc="-10">
                <a:latin typeface="Calibri"/>
                <a:cs typeface="Calibri"/>
              </a:rPr>
              <a:t>begin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x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25">
                <a:latin typeface="Calibri"/>
                <a:cs typeface="Calibri"/>
              </a:rPr>
              <a:t> c1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2200" spc="-20">
                <a:latin typeface="Calibri"/>
                <a:cs typeface="Calibri"/>
              </a:rPr>
              <a:t>loop</a:t>
            </a:r>
            <a:endParaRPr sz="2200">
              <a:latin typeface="Calibri"/>
              <a:cs typeface="Calibri"/>
            </a:endParaRPr>
          </a:p>
          <a:p>
            <a:pPr marL="12700" marR="5080">
              <a:lnSpc>
                <a:spcPct val="70000"/>
              </a:lnSpc>
              <a:spcBef>
                <a:spcPts val="1000"/>
              </a:spcBef>
            </a:pPr>
            <a:r>
              <a:rPr dirty="0" sz="2200">
                <a:latin typeface="Calibri"/>
                <a:cs typeface="Calibri"/>
              </a:rPr>
              <a:t>insert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into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emp3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values(x.eid,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x.ename, x.esal);</a:t>
            </a:r>
            <a:endParaRPr sz="2200">
              <a:latin typeface="Calibri"/>
              <a:cs typeface="Calibri"/>
            </a:endParaRPr>
          </a:p>
          <a:p>
            <a:pPr marL="12700" marR="3375025">
              <a:lnSpc>
                <a:spcPts val="2860"/>
              </a:lnSpc>
              <a:spcBef>
                <a:spcPts val="80"/>
              </a:spcBef>
            </a:pPr>
            <a:r>
              <a:rPr dirty="0" sz="2200">
                <a:latin typeface="Calibri"/>
                <a:cs typeface="Calibri"/>
              </a:rPr>
              <a:t>end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loop; </a:t>
            </a:r>
            <a:r>
              <a:rPr dirty="0" sz="2200" spc="-20">
                <a:latin typeface="Calibri"/>
                <a:cs typeface="Calibri"/>
              </a:rPr>
              <a:t>end;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36135" cy="6858000"/>
          </a:xfrm>
          <a:custGeom>
            <a:avLst/>
            <a:gdLst/>
            <a:ahLst/>
            <a:cxnLst/>
            <a:rect l="l" t="t" r="r" b="b"/>
            <a:pathLst>
              <a:path w="4636135" h="6858000">
                <a:moveTo>
                  <a:pt x="4636008" y="0"/>
                </a:moveTo>
                <a:lnTo>
                  <a:pt x="0" y="0"/>
                </a:lnTo>
                <a:lnTo>
                  <a:pt x="0" y="6858000"/>
                </a:lnTo>
                <a:lnTo>
                  <a:pt x="4636008" y="6858000"/>
                </a:lnTo>
                <a:lnTo>
                  <a:pt x="463600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22096" y="2744216"/>
            <a:ext cx="2879725" cy="130048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 sz="4400">
                <a:solidFill>
                  <a:srgbClr val="FFFFFF"/>
                </a:solidFill>
                <a:latin typeface="Calibri Light"/>
                <a:cs typeface="Calibri Light"/>
              </a:rPr>
              <a:t>Procedures</a:t>
            </a:r>
            <a:r>
              <a:rPr dirty="0" sz="4400" spc="-23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 spc="-50">
                <a:solidFill>
                  <a:srgbClr val="FFFFFF"/>
                </a:solidFill>
                <a:latin typeface="Calibri Light"/>
                <a:cs typeface="Calibri Light"/>
              </a:rPr>
              <a:t>/ </a:t>
            </a:r>
            <a:r>
              <a:rPr dirty="0" sz="4400" spc="-10">
                <a:solidFill>
                  <a:srgbClr val="FFFFFF"/>
                </a:solidFill>
                <a:latin typeface="Calibri Light"/>
                <a:cs typeface="Calibri Light"/>
              </a:rPr>
              <a:t>Functions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5977" y="2972561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5280659" y="644651"/>
            <a:ext cx="6268720" cy="1172210"/>
            <a:chOff x="5280659" y="644651"/>
            <a:chExt cx="6268720" cy="1172210"/>
          </a:xfrm>
        </p:grpSpPr>
        <p:sp>
          <p:nvSpPr>
            <p:cNvPr id="6" name="object 6"/>
            <p:cNvSpPr/>
            <p:nvPr/>
          </p:nvSpPr>
          <p:spPr>
            <a:xfrm>
              <a:off x="5280659" y="644651"/>
              <a:ext cx="6268720" cy="1172210"/>
            </a:xfrm>
            <a:custGeom>
              <a:avLst/>
              <a:gdLst/>
              <a:ahLst/>
              <a:cxnLst/>
              <a:rect l="l" t="t" r="r" b="b"/>
              <a:pathLst>
                <a:path w="6268720" h="1172210">
                  <a:moveTo>
                    <a:pt x="6150991" y="0"/>
                  </a:moveTo>
                  <a:lnTo>
                    <a:pt x="117220" y="0"/>
                  </a:lnTo>
                  <a:lnTo>
                    <a:pt x="71580" y="9207"/>
                  </a:lnTo>
                  <a:lnTo>
                    <a:pt x="34321" y="34321"/>
                  </a:lnTo>
                  <a:lnTo>
                    <a:pt x="9207" y="71580"/>
                  </a:lnTo>
                  <a:lnTo>
                    <a:pt x="0" y="117221"/>
                  </a:lnTo>
                  <a:lnTo>
                    <a:pt x="0" y="1054735"/>
                  </a:lnTo>
                  <a:lnTo>
                    <a:pt x="9207" y="1100375"/>
                  </a:lnTo>
                  <a:lnTo>
                    <a:pt x="34321" y="1137634"/>
                  </a:lnTo>
                  <a:lnTo>
                    <a:pt x="71580" y="1162748"/>
                  </a:lnTo>
                  <a:lnTo>
                    <a:pt x="117220" y="1171956"/>
                  </a:lnTo>
                  <a:lnTo>
                    <a:pt x="6150991" y="1171956"/>
                  </a:lnTo>
                  <a:lnTo>
                    <a:pt x="6196631" y="1162748"/>
                  </a:lnTo>
                  <a:lnTo>
                    <a:pt x="6233890" y="1137634"/>
                  </a:lnTo>
                  <a:lnTo>
                    <a:pt x="6259004" y="1100375"/>
                  </a:lnTo>
                  <a:lnTo>
                    <a:pt x="6268212" y="1054735"/>
                  </a:lnTo>
                  <a:lnTo>
                    <a:pt x="6268212" y="117221"/>
                  </a:lnTo>
                  <a:lnTo>
                    <a:pt x="6259004" y="71580"/>
                  </a:lnTo>
                  <a:lnTo>
                    <a:pt x="6233890" y="34321"/>
                  </a:lnTo>
                  <a:lnTo>
                    <a:pt x="6196631" y="9207"/>
                  </a:lnTo>
                  <a:lnTo>
                    <a:pt x="6150991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44748" y="1019307"/>
              <a:ext cx="226060" cy="93345"/>
            </a:xfrm>
            <a:custGeom>
              <a:avLst/>
              <a:gdLst/>
              <a:ahLst/>
              <a:cxnLst/>
              <a:rect l="l" t="t" r="r" b="b"/>
              <a:pathLst>
                <a:path w="226060" h="93344">
                  <a:moveTo>
                    <a:pt x="225735" y="0"/>
                  </a:moveTo>
                  <a:lnTo>
                    <a:pt x="0" y="0"/>
                  </a:lnTo>
                  <a:lnTo>
                    <a:pt x="0" y="93000"/>
                  </a:lnTo>
                  <a:lnTo>
                    <a:pt x="225735" y="93000"/>
                  </a:lnTo>
                  <a:lnTo>
                    <a:pt x="2257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8601" y="1371382"/>
              <a:ext cx="79671" cy="797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7780" y="1371382"/>
              <a:ext cx="79671" cy="797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6958" y="1371382"/>
              <a:ext cx="79671" cy="797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45159" y="1138880"/>
              <a:ext cx="425450" cy="212725"/>
            </a:xfrm>
            <a:custGeom>
              <a:avLst/>
              <a:gdLst/>
              <a:ahLst/>
              <a:cxnLst/>
              <a:rect l="l" t="t" r="r" b="b"/>
              <a:pathLst>
                <a:path w="425450" h="212725">
                  <a:moveTo>
                    <a:pt x="225735" y="0"/>
                  </a:moveTo>
                  <a:lnTo>
                    <a:pt x="199178" y="0"/>
                  </a:lnTo>
                  <a:lnTo>
                    <a:pt x="199178" y="63107"/>
                  </a:lnTo>
                  <a:lnTo>
                    <a:pt x="169301" y="93000"/>
                  </a:lnTo>
                  <a:lnTo>
                    <a:pt x="0" y="93000"/>
                  </a:lnTo>
                  <a:lnTo>
                    <a:pt x="0" y="212573"/>
                  </a:lnTo>
                  <a:lnTo>
                    <a:pt x="26557" y="212573"/>
                  </a:lnTo>
                  <a:lnTo>
                    <a:pt x="26557" y="119572"/>
                  </a:lnTo>
                  <a:lnTo>
                    <a:pt x="192538" y="119572"/>
                  </a:lnTo>
                  <a:lnTo>
                    <a:pt x="179260" y="106286"/>
                  </a:lnTo>
                  <a:lnTo>
                    <a:pt x="212456" y="73072"/>
                  </a:lnTo>
                  <a:lnTo>
                    <a:pt x="235694" y="73072"/>
                  </a:lnTo>
                  <a:lnTo>
                    <a:pt x="225735" y="63107"/>
                  </a:lnTo>
                  <a:lnTo>
                    <a:pt x="225735" y="0"/>
                  </a:lnTo>
                  <a:close/>
                </a:path>
                <a:path w="425450" h="212725">
                  <a:moveTo>
                    <a:pt x="192538" y="119572"/>
                  </a:moveTo>
                  <a:lnTo>
                    <a:pt x="169301" y="119572"/>
                  </a:lnTo>
                  <a:lnTo>
                    <a:pt x="199178" y="149465"/>
                  </a:lnTo>
                  <a:lnTo>
                    <a:pt x="199178" y="212573"/>
                  </a:lnTo>
                  <a:lnTo>
                    <a:pt x="225735" y="212573"/>
                  </a:lnTo>
                  <a:lnTo>
                    <a:pt x="225735" y="149465"/>
                  </a:lnTo>
                  <a:lnTo>
                    <a:pt x="235694" y="139501"/>
                  </a:lnTo>
                  <a:lnTo>
                    <a:pt x="212456" y="139501"/>
                  </a:lnTo>
                  <a:lnTo>
                    <a:pt x="192538" y="119572"/>
                  </a:lnTo>
                  <a:close/>
                </a:path>
                <a:path w="425450" h="212725">
                  <a:moveTo>
                    <a:pt x="424913" y="119572"/>
                  </a:moveTo>
                  <a:lnTo>
                    <a:pt x="398356" y="119572"/>
                  </a:lnTo>
                  <a:lnTo>
                    <a:pt x="398356" y="212573"/>
                  </a:lnTo>
                  <a:lnTo>
                    <a:pt x="424913" y="212573"/>
                  </a:lnTo>
                  <a:lnTo>
                    <a:pt x="424913" y="119572"/>
                  </a:lnTo>
                  <a:close/>
                </a:path>
                <a:path w="425450" h="212725">
                  <a:moveTo>
                    <a:pt x="235694" y="73072"/>
                  </a:moveTo>
                  <a:lnTo>
                    <a:pt x="212456" y="73072"/>
                  </a:lnTo>
                  <a:lnTo>
                    <a:pt x="245653" y="106286"/>
                  </a:lnTo>
                  <a:lnTo>
                    <a:pt x="212456" y="139501"/>
                  </a:lnTo>
                  <a:lnTo>
                    <a:pt x="235694" y="139501"/>
                  </a:lnTo>
                  <a:lnTo>
                    <a:pt x="255611" y="119572"/>
                  </a:lnTo>
                  <a:lnTo>
                    <a:pt x="424913" y="119572"/>
                  </a:lnTo>
                  <a:lnTo>
                    <a:pt x="424913" y="93000"/>
                  </a:lnTo>
                  <a:lnTo>
                    <a:pt x="255611" y="93000"/>
                  </a:lnTo>
                  <a:lnTo>
                    <a:pt x="235694" y="730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745985" y="711199"/>
            <a:ext cx="4511040" cy="974725"/>
          </a:xfrm>
          <a:prstGeom prst="rect"/>
        </p:spPr>
        <p:txBody>
          <a:bodyPr wrap="square" lIns="0" tIns="40005" rIns="0" bIns="0" rtlCol="0" vert="horz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315"/>
              </a:spcBef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Procedure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Function is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logically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grouped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PL/SQL 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statements</a:t>
            </a:r>
            <a:r>
              <a:rPr dirty="0" sz="2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perform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task.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280659" y="2110739"/>
            <a:ext cx="6268720" cy="1172210"/>
            <a:chOff x="5280659" y="2110739"/>
            <a:chExt cx="6268720" cy="1172210"/>
          </a:xfrm>
        </p:grpSpPr>
        <p:sp>
          <p:nvSpPr>
            <p:cNvPr id="14" name="object 14"/>
            <p:cNvSpPr/>
            <p:nvPr/>
          </p:nvSpPr>
          <p:spPr>
            <a:xfrm>
              <a:off x="5280659" y="2110739"/>
              <a:ext cx="6268720" cy="1172210"/>
            </a:xfrm>
            <a:custGeom>
              <a:avLst/>
              <a:gdLst/>
              <a:ahLst/>
              <a:cxnLst/>
              <a:rect l="l" t="t" r="r" b="b"/>
              <a:pathLst>
                <a:path w="6268720" h="1172210">
                  <a:moveTo>
                    <a:pt x="6150991" y="0"/>
                  </a:moveTo>
                  <a:lnTo>
                    <a:pt x="117220" y="0"/>
                  </a:lnTo>
                  <a:lnTo>
                    <a:pt x="71580" y="9207"/>
                  </a:lnTo>
                  <a:lnTo>
                    <a:pt x="34321" y="34321"/>
                  </a:lnTo>
                  <a:lnTo>
                    <a:pt x="9207" y="71580"/>
                  </a:lnTo>
                  <a:lnTo>
                    <a:pt x="0" y="117221"/>
                  </a:lnTo>
                  <a:lnTo>
                    <a:pt x="0" y="1054735"/>
                  </a:lnTo>
                  <a:lnTo>
                    <a:pt x="9207" y="1100375"/>
                  </a:lnTo>
                  <a:lnTo>
                    <a:pt x="34321" y="1137634"/>
                  </a:lnTo>
                  <a:lnTo>
                    <a:pt x="71580" y="1162748"/>
                  </a:lnTo>
                  <a:lnTo>
                    <a:pt x="117220" y="1171956"/>
                  </a:lnTo>
                  <a:lnTo>
                    <a:pt x="6150991" y="1171956"/>
                  </a:lnTo>
                  <a:lnTo>
                    <a:pt x="6196631" y="1162748"/>
                  </a:lnTo>
                  <a:lnTo>
                    <a:pt x="6233890" y="1137634"/>
                  </a:lnTo>
                  <a:lnTo>
                    <a:pt x="6259004" y="1100375"/>
                  </a:lnTo>
                  <a:lnTo>
                    <a:pt x="6268212" y="1054735"/>
                  </a:lnTo>
                  <a:lnTo>
                    <a:pt x="6268212" y="117221"/>
                  </a:lnTo>
                  <a:lnTo>
                    <a:pt x="6259004" y="71580"/>
                  </a:lnTo>
                  <a:lnTo>
                    <a:pt x="6233890" y="34321"/>
                  </a:lnTo>
                  <a:lnTo>
                    <a:pt x="6196631" y="9207"/>
                  </a:lnTo>
                  <a:lnTo>
                    <a:pt x="615099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771705" y="2445549"/>
              <a:ext cx="372110" cy="505459"/>
            </a:xfrm>
            <a:custGeom>
              <a:avLst/>
              <a:gdLst/>
              <a:ahLst/>
              <a:cxnLst/>
              <a:rect l="l" t="t" r="r" b="b"/>
              <a:pathLst>
                <a:path w="372110" h="505460">
                  <a:moveTo>
                    <a:pt x="371805" y="345427"/>
                  </a:moveTo>
                  <a:lnTo>
                    <a:pt x="357136" y="366064"/>
                  </a:lnTo>
                  <a:lnTo>
                    <a:pt x="331965" y="376720"/>
                  </a:lnTo>
                  <a:lnTo>
                    <a:pt x="331965" y="430453"/>
                  </a:lnTo>
                  <a:lnTo>
                    <a:pt x="331965" y="446405"/>
                  </a:lnTo>
                  <a:lnTo>
                    <a:pt x="326656" y="451713"/>
                  </a:lnTo>
                  <a:lnTo>
                    <a:pt x="310718" y="451713"/>
                  </a:lnTo>
                  <a:lnTo>
                    <a:pt x="305409" y="446405"/>
                  </a:lnTo>
                  <a:lnTo>
                    <a:pt x="305409" y="430453"/>
                  </a:lnTo>
                  <a:lnTo>
                    <a:pt x="310718" y="425145"/>
                  </a:lnTo>
                  <a:lnTo>
                    <a:pt x="326656" y="425145"/>
                  </a:lnTo>
                  <a:lnTo>
                    <a:pt x="331965" y="430453"/>
                  </a:lnTo>
                  <a:lnTo>
                    <a:pt x="331965" y="376720"/>
                  </a:lnTo>
                  <a:lnTo>
                    <a:pt x="317195" y="382955"/>
                  </a:lnTo>
                  <a:lnTo>
                    <a:pt x="258089" y="394373"/>
                  </a:lnTo>
                  <a:lnTo>
                    <a:pt x="185902" y="398564"/>
                  </a:lnTo>
                  <a:lnTo>
                    <a:pt x="113728" y="394373"/>
                  </a:lnTo>
                  <a:lnTo>
                    <a:pt x="54610" y="382955"/>
                  </a:lnTo>
                  <a:lnTo>
                    <a:pt x="14668" y="366064"/>
                  </a:lnTo>
                  <a:lnTo>
                    <a:pt x="0" y="345427"/>
                  </a:lnTo>
                  <a:lnTo>
                    <a:pt x="0" y="451713"/>
                  </a:lnTo>
                  <a:lnTo>
                    <a:pt x="14668" y="472351"/>
                  </a:lnTo>
                  <a:lnTo>
                    <a:pt x="54610" y="489242"/>
                  </a:lnTo>
                  <a:lnTo>
                    <a:pt x="113728" y="500659"/>
                  </a:lnTo>
                  <a:lnTo>
                    <a:pt x="185902" y="504850"/>
                  </a:lnTo>
                  <a:lnTo>
                    <a:pt x="258089" y="500659"/>
                  </a:lnTo>
                  <a:lnTo>
                    <a:pt x="317195" y="489242"/>
                  </a:lnTo>
                  <a:lnTo>
                    <a:pt x="357136" y="472351"/>
                  </a:lnTo>
                  <a:lnTo>
                    <a:pt x="371805" y="451713"/>
                  </a:lnTo>
                  <a:lnTo>
                    <a:pt x="371805" y="425145"/>
                  </a:lnTo>
                  <a:lnTo>
                    <a:pt x="371805" y="398564"/>
                  </a:lnTo>
                  <a:lnTo>
                    <a:pt x="371805" y="345427"/>
                  </a:lnTo>
                  <a:close/>
                </a:path>
                <a:path w="372110" h="505460">
                  <a:moveTo>
                    <a:pt x="371805" y="212572"/>
                  </a:moveTo>
                  <a:lnTo>
                    <a:pt x="357136" y="233197"/>
                  </a:lnTo>
                  <a:lnTo>
                    <a:pt x="331965" y="243852"/>
                  </a:lnTo>
                  <a:lnTo>
                    <a:pt x="331965" y="297599"/>
                  </a:lnTo>
                  <a:lnTo>
                    <a:pt x="331965" y="313537"/>
                  </a:lnTo>
                  <a:lnTo>
                    <a:pt x="326656" y="318858"/>
                  </a:lnTo>
                  <a:lnTo>
                    <a:pt x="310718" y="318858"/>
                  </a:lnTo>
                  <a:lnTo>
                    <a:pt x="305409" y="313537"/>
                  </a:lnTo>
                  <a:lnTo>
                    <a:pt x="305409" y="297599"/>
                  </a:lnTo>
                  <a:lnTo>
                    <a:pt x="310718" y="292277"/>
                  </a:lnTo>
                  <a:lnTo>
                    <a:pt x="326656" y="292277"/>
                  </a:lnTo>
                  <a:lnTo>
                    <a:pt x="331965" y="297599"/>
                  </a:lnTo>
                  <a:lnTo>
                    <a:pt x="331965" y="243852"/>
                  </a:lnTo>
                  <a:lnTo>
                    <a:pt x="317195" y="250101"/>
                  </a:lnTo>
                  <a:lnTo>
                    <a:pt x="258089" y="261518"/>
                  </a:lnTo>
                  <a:lnTo>
                    <a:pt x="185902" y="265709"/>
                  </a:lnTo>
                  <a:lnTo>
                    <a:pt x="113728" y="261518"/>
                  </a:lnTo>
                  <a:lnTo>
                    <a:pt x="54610" y="250101"/>
                  </a:lnTo>
                  <a:lnTo>
                    <a:pt x="14668" y="233197"/>
                  </a:lnTo>
                  <a:lnTo>
                    <a:pt x="0" y="212572"/>
                  </a:lnTo>
                  <a:lnTo>
                    <a:pt x="0" y="318858"/>
                  </a:lnTo>
                  <a:lnTo>
                    <a:pt x="14668" y="339483"/>
                  </a:lnTo>
                  <a:lnTo>
                    <a:pt x="54610" y="356387"/>
                  </a:lnTo>
                  <a:lnTo>
                    <a:pt x="113728" y="367804"/>
                  </a:lnTo>
                  <a:lnTo>
                    <a:pt x="185902" y="371995"/>
                  </a:lnTo>
                  <a:lnTo>
                    <a:pt x="258089" y="367804"/>
                  </a:lnTo>
                  <a:lnTo>
                    <a:pt x="317195" y="356387"/>
                  </a:lnTo>
                  <a:lnTo>
                    <a:pt x="357136" y="339483"/>
                  </a:lnTo>
                  <a:lnTo>
                    <a:pt x="371805" y="318858"/>
                  </a:lnTo>
                  <a:lnTo>
                    <a:pt x="371805" y="292277"/>
                  </a:lnTo>
                  <a:lnTo>
                    <a:pt x="371805" y="265709"/>
                  </a:lnTo>
                  <a:lnTo>
                    <a:pt x="371805" y="212572"/>
                  </a:lnTo>
                  <a:close/>
                </a:path>
                <a:path w="372110" h="505460">
                  <a:moveTo>
                    <a:pt x="371805" y="79705"/>
                  </a:moveTo>
                  <a:lnTo>
                    <a:pt x="357136" y="100342"/>
                  </a:lnTo>
                  <a:lnTo>
                    <a:pt x="331965" y="110998"/>
                  </a:lnTo>
                  <a:lnTo>
                    <a:pt x="331965" y="164744"/>
                  </a:lnTo>
                  <a:lnTo>
                    <a:pt x="331965" y="180682"/>
                  </a:lnTo>
                  <a:lnTo>
                    <a:pt x="326656" y="185991"/>
                  </a:lnTo>
                  <a:lnTo>
                    <a:pt x="310718" y="185991"/>
                  </a:lnTo>
                  <a:lnTo>
                    <a:pt x="305409" y="180682"/>
                  </a:lnTo>
                  <a:lnTo>
                    <a:pt x="305409" y="164744"/>
                  </a:lnTo>
                  <a:lnTo>
                    <a:pt x="310718" y="159423"/>
                  </a:lnTo>
                  <a:lnTo>
                    <a:pt x="326656" y="159423"/>
                  </a:lnTo>
                  <a:lnTo>
                    <a:pt x="331965" y="164744"/>
                  </a:lnTo>
                  <a:lnTo>
                    <a:pt x="331965" y="110998"/>
                  </a:lnTo>
                  <a:lnTo>
                    <a:pt x="317195" y="117246"/>
                  </a:lnTo>
                  <a:lnTo>
                    <a:pt x="258089" y="128663"/>
                  </a:lnTo>
                  <a:lnTo>
                    <a:pt x="185902" y="132854"/>
                  </a:lnTo>
                  <a:lnTo>
                    <a:pt x="113728" y="128663"/>
                  </a:lnTo>
                  <a:lnTo>
                    <a:pt x="54610" y="117246"/>
                  </a:lnTo>
                  <a:lnTo>
                    <a:pt x="14668" y="100342"/>
                  </a:lnTo>
                  <a:lnTo>
                    <a:pt x="0" y="79705"/>
                  </a:lnTo>
                  <a:lnTo>
                    <a:pt x="0" y="185991"/>
                  </a:lnTo>
                  <a:lnTo>
                    <a:pt x="14668" y="206629"/>
                  </a:lnTo>
                  <a:lnTo>
                    <a:pt x="54610" y="223532"/>
                  </a:lnTo>
                  <a:lnTo>
                    <a:pt x="113728" y="234950"/>
                  </a:lnTo>
                  <a:lnTo>
                    <a:pt x="185902" y="239141"/>
                  </a:lnTo>
                  <a:lnTo>
                    <a:pt x="258089" y="234950"/>
                  </a:lnTo>
                  <a:lnTo>
                    <a:pt x="317195" y="223532"/>
                  </a:lnTo>
                  <a:lnTo>
                    <a:pt x="357136" y="206629"/>
                  </a:lnTo>
                  <a:lnTo>
                    <a:pt x="371805" y="185991"/>
                  </a:lnTo>
                  <a:lnTo>
                    <a:pt x="371805" y="159423"/>
                  </a:lnTo>
                  <a:lnTo>
                    <a:pt x="371805" y="132854"/>
                  </a:lnTo>
                  <a:lnTo>
                    <a:pt x="371805" y="79705"/>
                  </a:lnTo>
                  <a:close/>
                </a:path>
                <a:path w="372110" h="505460">
                  <a:moveTo>
                    <a:pt x="371805" y="53136"/>
                  </a:moveTo>
                  <a:lnTo>
                    <a:pt x="357200" y="32448"/>
                  </a:lnTo>
                  <a:lnTo>
                    <a:pt x="317360" y="15557"/>
                  </a:lnTo>
                  <a:lnTo>
                    <a:pt x="258267" y="4165"/>
                  </a:lnTo>
                  <a:lnTo>
                    <a:pt x="185902" y="0"/>
                  </a:lnTo>
                  <a:lnTo>
                    <a:pt x="113538" y="4165"/>
                  </a:lnTo>
                  <a:lnTo>
                    <a:pt x="54457" y="15557"/>
                  </a:lnTo>
                  <a:lnTo>
                    <a:pt x="14617" y="32448"/>
                  </a:lnTo>
                  <a:lnTo>
                    <a:pt x="0" y="53136"/>
                  </a:lnTo>
                  <a:lnTo>
                    <a:pt x="14617" y="73825"/>
                  </a:lnTo>
                  <a:lnTo>
                    <a:pt x="54457" y="90716"/>
                  </a:lnTo>
                  <a:lnTo>
                    <a:pt x="113538" y="102108"/>
                  </a:lnTo>
                  <a:lnTo>
                    <a:pt x="185902" y="106286"/>
                  </a:lnTo>
                  <a:lnTo>
                    <a:pt x="258267" y="102108"/>
                  </a:lnTo>
                  <a:lnTo>
                    <a:pt x="317360" y="90716"/>
                  </a:lnTo>
                  <a:lnTo>
                    <a:pt x="357200" y="73825"/>
                  </a:lnTo>
                  <a:lnTo>
                    <a:pt x="371805" y="531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5280659" y="3575303"/>
            <a:ext cx="6268720" cy="1172210"/>
            <a:chOff x="5280659" y="3575303"/>
            <a:chExt cx="6268720" cy="1172210"/>
          </a:xfrm>
        </p:grpSpPr>
        <p:sp>
          <p:nvSpPr>
            <p:cNvPr id="17" name="object 17"/>
            <p:cNvSpPr/>
            <p:nvPr/>
          </p:nvSpPr>
          <p:spPr>
            <a:xfrm>
              <a:off x="5280659" y="3575303"/>
              <a:ext cx="6268720" cy="1172210"/>
            </a:xfrm>
            <a:custGeom>
              <a:avLst/>
              <a:gdLst/>
              <a:ahLst/>
              <a:cxnLst/>
              <a:rect l="l" t="t" r="r" b="b"/>
              <a:pathLst>
                <a:path w="6268720" h="1172210">
                  <a:moveTo>
                    <a:pt x="6150991" y="0"/>
                  </a:moveTo>
                  <a:lnTo>
                    <a:pt x="117220" y="0"/>
                  </a:lnTo>
                  <a:lnTo>
                    <a:pt x="71580" y="9207"/>
                  </a:lnTo>
                  <a:lnTo>
                    <a:pt x="34321" y="34321"/>
                  </a:lnTo>
                  <a:lnTo>
                    <a:pt x="9207" y="71580"/>
                  </a:lnTo>
                  <a:lnTo>
                    <a:pt x="0" y="117221"/>
                  </a:lnTo>
                  <a:lnTo>
                    <a:pt x="0" y="1054735"/>
                  </a:lnTo>
                  <a:lnTo>
                    <a:pt x="9207" y="1100375"/>
                  </a:lnTo>
                  <a:lnTo>
                    <a:pt x="34321" y="1137634"/>
                  </a:lnTo>
                  <a:lnTo>
                    <a:pt x="71580" y="1162748"/>
                  </a:lnTo>
                  <a:lnTo>
                    <a:pt x="117220" y="1171956"/>
                  </a:lnTo>
                  <a:lnTo>
                    <a:pt x="6150991" y="1171956"/>
                  </a:lnTo>
                  <a:lnTo>
                    <a:pt x="6196631" y="1162748"/>
                  </a:lnTo>
                  <a:lnTo>
                    <a:pt x="6233890" y="1137634"/>
                  </a:lnTo>
                  <a:lnTo>
                    <a:pt x="6259004" y="1100375"/>
                  </a:lnTo>
                  <a:lnTo>
                    <a:pt x="6268212" y="1054735"/>
                  </a:lnTo>
                  <a:lnTo>
                    <a:pt x="6268212" y="117221"/>
                  </a:lnTo>
                  <a:lnTo>
                    <a:pt x="6259004" y="71580"/>
                  </a:lnTo>
                  <a:lnTo>
                    <a:pt x="6233890" y="34321"/>
                  </a:lnTo>
                  <a:lnTo>
                    <a:pt x="6196631" y="9207"/>
                  </a:lnTo>
                  <a:lnTo>
                    <a:pt x="615099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043926" y="4262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66392" y="0"/>
                  </a:moveTo>
                  <a:lnTo>
                    <a:pt x="40550" y="5220"/>
                  </a:lnTo>
                  <a:lnTo>
                    <a:pt x="19446" y="19457"/>
                  </a:lnTo>
                  <a:lnTo>
                    <a:pt x="5217" y="40572"/>
                  </a:lnTo>
                  <a:lnTo>
                    <a:pt x="0" y="66429"/>
                  </a:lnTo>
                  <a:lnTo>
                    <a:pt x="5217" y="92285"/>
                  </a:lnTo>
                  <a:lnTo>
                    <a:pt x="19446" y="113400"/>
                  </a:lnTo>
                  <a:lnTo>
                    <a:pt x="40550" y="127637"/>
                  </a:lnTo>
                  <a:lnTo>
                    <a:pt x="66392" y="132858"/>
                  </a:lnTo>
                  <a:lnTo>
                    <a:pt x="92234" y="127637"/>
                  </a:lnTo>
                  <a:lnTo>
                    <a:pt x="113338" y="113400"/>
                  </a:lnTo>
                  <a:lnTo>
                    <a:pt x="127567" y="92285"/>
                  </a:lnTo>
                  <a:lnTo>
                    <a:pt x="132785" y="66429"/>
                  </a:lnTo>
                  <a:lnTo>
                    <a:pt x="127567" y="40572"/>
                  </a:lnTo>
                  <a:lnTo>
                    <a:pt x="113338" y="19457"/>
                  </a:lnTo>
                  <a:lnTo>
                    <a:pt x="92234" y="5220"/>
                  </a:lnTo>
                  <a:lnTo>
                    <a:pt x="663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31880" y="3937072"/>
              <a:ext cx="132785" cy="13285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876353" y="3932821"/>
              <a:ext cx="307340" cy="444500"/>
            </a:xfrm>
            <a:custGeom>
              <a:avLst/>
              <a:gdLst/>
              <a:ahLst/>
              <a:cxnLst/>
              <a:rect l="l" t="t" r="r" b="b"/>
              <a:pathLst>
                <a:path w="307339" h="444500">
                  <a:moveTo>
                    <a:pt x="140144" y="382905"/>
                  </a:moveTo>
                  <a:lnTo>
                    <a:pt x="41414" y="382905"/>
                  </a:lnTo>
                  <a:lnTo>
                    <a:pt x="59245" y="365061"/>
                  </a:lnTo>
                  <a:lnTo>
                    <a:pt x="59245" y="357695"/>
                  </a:lnTo>
                  <a:lnTo>
                    <a:pt x="50152" y="348589"/>
                  </a:lnTo>
                  <a:lnTo>
                    <a:pt x="42786" y="348589"/>
                  </a:lnTo>
                  <a:lnTo>
                    <a:pt x="1231" y="390232"/>
                  </a:lnTo>
                  <a:lnTo>
                    <a:pt x="12" y="393179"/>
                  </a:lnTo>
                  <a:lnTo>
                    <a:pt x="0" y="399338"/>
                  </a:lnTo>
                  <a:lnTo>
                    <a:pt x="1219" y="402297"/>
                  </a:lnTo>
                  <a:lnTo>
                    <a:pt x="42799" y="443915"/>
                  </a:lnTo>
                  <a:lnTo>
                    <a:pt x="50190" y="443903"/>
                  </a:lnTo>
                  <a:lnTo>
                    <a:pt x="59283" y="434771"/>
                  </a:lnTo>
                  <a:lnTo>
                    <a:pt x="59258" y="427380"/>
                  </a:lnTo>
                  <a:lnTo>
                    <a:pt x="41414" y="409536"/>
                  </a:lnTo>
                  <a:lnTo>
                    <a:pt x="140144" y="409536"/>
                  </a:lnTo>
                  <a:lnTo>
                    <a:pt x="140144" y="382905"/>
                  </a:lnTo>
                  <a:close/>
                </a:path>
                <a:path w="307339" h="444500">
                  <a:moveTo>
                    <a:pt x="149186" y="66675"/>
                  </a:moveTo>
                  <a:lnTo>
                    <a:pt x="144665" y="62115"/>
                  </a:lnTo>
                  <a:lnTo>
                    <a:pt x="105257" y="22707"/>
                  </a:lnTo>
                  <a:lnTo>
                    <a:pt x="97904" y="22720"/>
                  </a:lnTo>
                  <a:lnTo>
                    <a:pt x="88836" y="31826"/>
                  </a:lnTo>
                  <a:lnTo>
                    <a:pt x="88861" y="39192"/>
                  </a:lnTo>
                  <a:lnTo>
                    <a:pt x="106680" y="56997"/>
                  </a:lnTo>
                  <a:lnTo>
                    <a:pt x="14859" y="56997"/>
                  </a:lnTo>
                  <a:lnTo>
                    <a:pt x="14859" y="83578"/>
                  </a:lnTo>
                  <a:lnTo>
                    <a:pt x="106756" y="83578"/>
                  </a:lnTo>
                  <a:lnTo>
                    <a:pt x="88887" y="101371"/>
                  </a:lnTo>
                  <a:lnTo>
                    <a:pt x="88836" y="108750"/>
                  </a:lnTo>
                  <a:lnTo>
                    <a:pt x="97853" y="117919"/>
                  </a:lnTo>
                  <a:lnTo>
                    <a:pt x="105219" y="117983"/>
                  </a:lnTo>
                  <a:lnTo>
                    <a:pt x="149186" y="74028"/>
                  </a:lnTo>
                  <a:lnTo>
                    <a:pt x="149186" y="66675"/>
                  </a:lnTo>
                  <a:close/>
                </a:path>
                <a:path w="307339" h="444500">
                  <a:moveTo>
                    <a:pt x="281825" y="266700"/>
                  </a:moveTo>
                  <a:lnTo>
                    <a:pt x="277241" y="262001"/>
                  </a:lnTo>
                  <a:lnTo>
                    <a:pt x="272694" y="257479"/>
                  </a:lnTo>
                  <a:lnTo>
                    <a:pt x="265341" y="257479"/>
                  </a:lnTo>
                  <a:lnTo>
                    <a:pt x="247497" y="275285"/>
                  </a:lnTo>
                  <a:lnTo>
                    <a:pt x="247497" y="169926"/>
                  </a:lnTo>
                  <a:lnTo>
                    <a:pt x="220675" y="169926"/>
                  </a:lnTo>
                  <a:lnTo>
                    <a:pt x="220675" y="275424"/>
                  </a:lnTo>
                  <a:lnTo>
                    <a:pt x="202857" y="257606"/>
                  </a:lnTo>
                  <a:lnTo>
                    <a:pt x="195503" y="257619"/>
                  </a:lnTo>
                  <a:lnTo>
                    <a:pt x="186436" y="266725"/>
                  </a:lnTo>
                  <a:lnTo>
                    <a:pt x="186461" y="274078"/>
                  </a:lnTo>
                  <a:lnTo>
                    <a:pt x="230352" y="318008"/>
                  </a:lnTo>
                  <a:lnTo>
                    <a:pt x="237693" y="318008"/>
                  </a:lnTo>
                  <a:lnTo>
                    <a:pt x="281736" y="274104"/>
                  </a:lnTo>
                  <a:lnTo>
                    <a:pt x="281825" y="266700"/>
                  </a:lnTo>
                  <a:close/>
                </a:path>
                <a:path w="307339" h="444500">
                  <a:moveTo>
                    <a:pt x="306920" y="70624"/>
                  </a:moveTo>
                  <a:lnTo>
                    <a:pt x="233959" y="0"/>
                  </a:lnTo>
                  <a:lnTo>
                    <a:pt x="160997" y="70624"/>
                  </a:lnTo>
                  <a:lnTo>
                    <a:pt x="233959" y="143624"/>
                  </a:lnTo>
                  <a:lnTo>
                    <a:pt x="306920" y="706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5731880" y="426217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2785" y="0"/>
                </a:moveTo>
                <a:lnTo>
                  <a:pt x="0" y="0"/>
                </a:lnTo>
                <a:lnTo>
                  <a:pt x="0" y="132858"/>
                </a:lnTo>
                <a:lnTo>
                  <a:pt x="132785" y="132858"/>
                </a:lnTo>
                <a:lnTo>
                  <a:pt x="1327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5280659" y="5041391"/>
            <a:ext cx="6268720" cy="1172210"/>
            <a:chOff x="5280659" y="5041391"/>
            <a:chExt cx="6268720" cy="1172210"/>
          </a:xfrm>
        </p:grpSpPr>
        <p:sp>
          <p:nvSpPr>
            <p:cNvPr id="23" name="object 23"/>
            <p:cNvSpPr/>
            <p:nvPr/>
          </p:nvSpPr>
          <p:spPr>
            <a:xfrm>
              <a:off x="5280659" y="5041391"/>
              <a:ext cx="6268720" cy="1172210"/>
            </a:xfrm>
            <a:custGeom>
              <a:avLst/>
              <a:gdLst/>
              <a:ahLst/>
              <a:cxnLst/>
              <a:rect l="l" t="t" r="r" b="b"/>
              <a:pathLst>
                <a:path w="6268720" h="1172210">
                  <a:moveTo>
                    <a:pt x="6150991" y="0"/>
                  </a:moveTo>
                  <a:lnTo>
                    <a:pt x="117220" y="0"/>
                  </a:lnTo>
                  <a:lnTo>
                    <a:pt x="71580" y="9207"/>
                  </a:lnTo>
                  <a:lnTo>
                    <a:pt x="34321" y="34321"/>
                  </a:lnTo>
                  <a:lnTo>
                    <a:pt x="9207" y="71580"/>
                  </a:lnTo>
                  <a:lnTo>
                    <a:pt x="0" y="117220"/>
                  </a:lnTo>
                  <a:lnTo>
                    <a:pt x="0" y="1054760"/>
                  </a:lnTo>
                  <a:lnTo>
                    <a:pt x="9207" y="1100380"/>
                  </a:lnTo>
                  <a:lnTo>
                    <a:pt x="34321" y="1137632"/>
                  </a:lnTo>
                  <a:lnTo>
                    <a:pt x="71580" y="1162747"/>
                  </a:lnTo>
                  <a:lnTo>
                    <a:pt x="117220" y="1171955"/>
                  </a:lnTo>
                  <a:lnTo>
                    <a:pt x="6150991" y="1171955"/>
                  </a:lnTo>
                  <a:lnTo>
                    <a:pt x="6196631" y="1162747"/>
                  </a:lnTo>
                  <a:lnTo>
                    <a:pt x="6233890" y="1137632"/>
                  </a:lnTo>
                  <a:lnTo>
                    <a:pt x="6259004" y="1100380"/>
                  </a:lnTo>
                  <a:lnTo>
                    <a:pt x="6268212" y="1054760"/>
                  </a:lnTo>
                  <a:lnTo>
                    <a:pt x="6268212" y="117220"/>
                  </a:lnTo>
                  <a:lnTo>
                    <a:pt x="6259004" y="71580"/>
                  </a:lnTo>
                  <a:lnTo>
                    <a:pt x="6233890" y="34321"/>
                  </a:lnTo>
                  <a:lnTo>
                    <a:pt x="6196631" y="9207"/>
                  </a:lnTo>
                  <a:lnTo>
                    <a:pt x="615099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58957" y="5403320"/>
              <a:ext cx="251772" cy="20537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04501" y="5648550"/>
              <a:ext cx="251772" cy="205371"/>
            </a:xfrm>
            <a:prstGeom prst="rect">
              <a:avLst/>
            </a:prstGeom>
          </p:spPr>
        </p:pic>
      </p:grpSp>
      <p:sp>
        <p:nvSpPr>
          <p:cNvPr id="26" name="object 26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40005" rIns="0" bIns="0" rtlCol="0" vert="horz">
            <a:spAutoFit/>
          </a:bodyPr>
          <a:lstStyle/>
          <a:p>
            <a:pPr algn="just" marL="12700" marR="25400">
              <a:lnSpc>
                <a:spcPct val="91600"/>
              </a:lnSpc>
              <a:spcBef>
                <a:spcPts val="315"/>
              </a:spcBef>
            </a:pPr>
            <a:r>
              <a:rPr dirty="0"/>
              <a:t>A</a:t>
            </a:r>
            <a:r>
              <a:rPr dirty="0" spc="-40"/>
              <a:t> </a:t>
            </a:r>
            <a:r>
              <a:rPr dirty="0" spc="-10"/>
              <a:t>stored</a:t>
            </a:r>
            <a:r>
              <a:rPr dirty="0" spc="-55"/>
              <a:t> </a:t>
            </a:r>
            <a:r>
              <a:rPr dirty="0"/>
              <a:t>procedure</a:t>
            </a:r>
            <a:r>
              <a:rPr dirty="0" spc="-25"/>
              <a:t> </a:t>
            </a:r>
            <a:r>
              <a:rPr dirty="0"/>
              <a:t>or</a:t>
            </a:r>
            <a:r>
              <a:rPr dirty="0" spc="-50"/>
              <a:t> </a:t>
            </a:r>
            <a:r>
              <a:rPr dirty="0"/>
              <a:t>function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45"/>
              <a:t> </a:t>
            </a:r>
            <a:r>
              <a:rPr dirty="0" spc="-10"/>
              <a:t>named </a:t>
            </a:r>
            <a:r>
              <a:rPr dirty="0"/>
              <a:t>PL/SQL</a:t>
            </a:r>
            <a:r>
              <a:rPr dirty="0" spc="-60"/>
              <a:t> </a:t>
            </a:r>
            <a:r>
              <a:rPr dirty="0"/>
              <a:t>code</a:t>
            </a:r>
            <a:r>
              <a:rPr dirty="0" spc="-60"/>
              <a:t> </a:t>
            </a:r>
            <a:r>
              <a:rPr dirty="0"/>
              <a:t>that</a:t>
            </a:r>
            <a:r>
              <a:rPr dirty="0" spc="-45"/>
              <a:t> </a:t>
            </a:r>
            <a:r>
              <a:rPr dirty="0"/>
              <a:t>has</a:t>
            </a:r>
            <a:r>
              <a:rPr dirty="0" spc="-50"/>
              <a:t> </a:t>
            </a:r>
            <a:r>
              <a:rPr dirty="0"/>
              <a:t>been</a:t>
            </a:r>
            <a:r>
              <a:rPr dirty="0" spc="-60"/>
              <a:t> </a:t>
            </a:r>
            <a:r>
              <a:rPr dirty="0"/>
              <a:t>compiled</a:t>
            </a:r>
            <a:r>
              <a:rPr dirty="0" spc="-35"/>
              <a:t> </a:t>
            </a:r>
            <a:r>
              <a:rPr dirty="0" spc="-25"/>
              <a:t>and </a:t>
            </a:r>
            <a:r>
              <a:rPr dirty="0" spc="-10"/>
              <a:t>stored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 spc="-10"/>
              <a:t>Oracle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65"/>
              </a:spcBef>
            </a:pPr>
          </a:p>
          <a:p>
            <a:pPr marL="12700" marR="394335">
              <a:lnSpc>
                <a:spcPts val="2420"/>
              </a:lnSpc>
            </a:pPr>
            <a:r>
              <a:rPr dirty="0" spc="-10"/>
              <a:t>Procedures</a:t>
            </a:r>
            <a:r>
              <a:rPr dirty="0" spc="-35"/>
              <a:t> </a:t>
            </a:r>
            <a:r>
              <a:rPr dirty="0"/>
              <a:t>or</a:t>
            </a:r>
            <a:r>
              <a:rPr dirty="0" spc="-40"/>
              <a:t> </a:t>
            </a:r>
            <a:r>
              <a:rPr dirty="0"/>
              <a:t>Functions</a:t>
            </a:r>
            <a:r>
              <a:rPr dirty="0" spc="-20"/>
              <a:t> </a:t>
            </a:r>
            <a:r>
              <a:rPr dirty="0"/>
              <a:t>can</a:t>
            </a:r>
            <a:r>
              <a:rPr dirty="0" spc="-30"/>
              <a:t> </a:t>
            </a:r>
            <a:r>
              <a:rPr dirty="0"/>
              <a:t>be</a:t>
            </a:r>
            <a:r>
              <a:rPr dirty="0" spc="-45"/>
              <a:t> </a:t>
            </a:r>
            <a:r>
              <a:rPr dirty="0" spc="-20"/>
              <a:t>made </a:t>
            </a:r>
            <a:r>
              <a:rPr dirty="0"/>
              <a:t>dynamic</a:t>
            </a:r>
            <a:r>
              <a:rPr dirty="0" spc="-25"/>
              <a:t> </a:t>
            </a:r>
            <a:r>
              <a:rPr dirty="0" spc="-20"/>
              <a:t>by-</a:t>
            </a:r>
            <a:r>
              <a:rPr dirty="0"/>
              <a:t>passing</a:t>
            </a:r>
            <a:r>
              <a:rPr dirty="0" spc="-25"/>
              <a:t> </a:t>
            </a:r>
            <a:r>
              <a:rPr dirty="0" spc="-10"/>
              <a:t>parameters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25"/>
              <a:t> it.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75"/>
              </a:spcBef>
            </a:pPr>
          </a:p>
          <a:p>
            <a:pPr marL="12700" marR="5080">
              <a:lnSpc>
                <a:spcPct val="91600"/>
              </a:lnSpc>
            </a:pPr>
            <a:r>
              <a:rPr dirty="0"/>
              <a:t>A</a:t>
            </a:r>
            <a:r>
              <a:rPr dirty="0" spc="-25"/>
              <a:t> </a:t>
            </a:r>
            <a:r>
              <a:rPr dirty="0" spc="-10"/>
              <a:t>Procedure</a:t>
            </a:r>
            <a:r>
              <a:rPr dirty="0" spc="-30"/>
              <a:t> </a:t>
            </a:r>
            <a:r>
              <a:rPr dirty="0"/>
              <a:t>or</a:t>
            </a:r>
            <a:r>
              <a:rPr dirty="0" spc="-20"/>
              <a:t> </a:t>
            </a:r>
            <a:r>
              <a:rPr dirty="0"/>
              <a:t>Function</a:t>
            </a:r>
            <a:r>
              <a:rPr dirty="0" spc="-10"/>
              <a:t> </a:t>
            </a:r>
            <a:r>
              <a:rPr dirty="0"/>
              <a:t>can</a:t>
            </a:r>
            <a:r>
              <a:rPr dirty="0" spc="-15"/>
              <a:t> </a:t>
            </a:r>
            <a:r>
              <a:rPr dirty="0" spc="-20"/>
              <a:t>then</a:t>
            </a:r>
            <a:r>
              <a:rPr dirty="0" spc="550"/>
              <a:t> </a:t>
            </a:r>
            <a:r>
              <a:rPr dirty="0"/>
              <a:t>change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way</a:t>
            </a:r>
            <a:r>
              <a:rPr dirty="0" spc="-55"/>
              <a:t> </a:t>
            </a:r>
            <a:r>
              <a:rPr dirty="0"/>
              <a:t>it</a:t>
            </a:r>
            <a:r>
              <a:rPr dirty="0" spc="-50"/>
              <a:t> </a:t>
            </a:r>
            <a:r>
              <a:rPr dirty="0"/>
              <a:t>works</a:t>
            </a:r>
            <a:r>
              <a:rPr dirty="0" spc="-50"/>
              <a:t> </a:t>
            </a:r>
            <a:r>
              <a:rPr dirty="0"/>
              <a:t>depending</a:t>
            </a:r>
            <a:r>
              <a:rPr dirty="0" spc="-25"/>
              <a:t> </a:t>
            </a:r>
            <a:r>
              <a:rPr dirty="0" spc="-20"/>
              <a:t>upon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 spc="-10"/>
              <a:t>parameters</a:t>
            </a:r>
            <a:r>
              <a:rPr dirty="0" spc="-45"/>
              <a:t> </a:t>
            </a:r>
            <a:r>
              <a:rPr dirty="0" spc="-10"/>
              <a:t>passed</a:t>
            </a:r>
          </a:p>
        </p:txBody>
      </p:sp>
      <p:pic>
        <p:nvPicPr>
          <p:cNvPr id="27" name="object 27" descr="VSIT logo NEW small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8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>
              <a:lnSpc>
                <a:spcPct val="100000"/>
              </a:lnSpc>
            </a:pPr>
            <a:r>
              <a:rPr dirty="0" sz="3800" spc="-10">
                <a:solidFill>
                  <a:srgbClr val="FFFFFF"/>
                </a:solidFill>
                <a:latin typeface="Calibri Light"/>
                <a:cs typeface="Calibri Light"/>
              </a:rPr>
              <a:t>Procedures</a:t>
            </a:r>
            <a:endParaRPr sz="3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123690" y="326521"/>
            <a:ext cx="7313930" cy="3637279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syntax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procedure </a:t>
            </a:r>
            <a:r>
              <a:rPr dirty="0" sz="1800" spc="-25">
                <a:latin typeface="Calibri"/>
                <a:cs typeface="Calibri"/>
              </a:rPr>
              <a:t>is</a:t>
            </a:r>
            <a:endParaRPr sz="1800">
              <a:latin typeface="Calibri"/>
              <a:cs typeface="Calibri"/>
            </a:endParaRPr>
          </a:p>
          <a:p>
            <a:pPr marL="241300" marR="5080" indent="-229235">
              <a:lnSpc>
                <a:spcPts val="1939"/>
              </a:lnSpc>
              <a:spcBef>
                <a:spcPts val="1030"/>
              </a:spcBef>
            </a:pPr>
            <a:r>
              <a:rPr dirty="0" sz="1800" spc="-20">
                <a:latin typeface="Calibri"/>
                <a:cs typeface="Calibri"/>
              </a:rPr>
              <a:t>CREATE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REPLACE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PROCEDURE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&lt;Procedure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Name&gt;(&lt;Argument&gt;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{IN,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45">
                <a:latin typeface="Calibri"/>
                <a:cs typeface="Calibri"/>
              </a:rPr>
              <a:t>OUT,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IN </a:t>
            </a:r>
            <a:r>
              <a:rPr dirty="0" sz="1800">
                <a:latin typeface="Calibri"/>
                <a:cs typeface="Calibri"/>
              </a:rPr>
              <a:t>OUT}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&lt;Data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Type&gt;,.....)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{IS,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AS}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755"/>
              </a:spcBef>
            </a:pPr>
            <a:r>
              <a:rPr dirty="0" sz="1800" spc="-10">
                <a:latin typeface="Calibri"/>
                <a:cs typeface="Calibri"/>
              </a:rPr>
              <a:t>&lt;Variable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Declarations&gt;;</a:t>
            </a:r>
            <a:endParaRPr sz="1800">
              <a:latin typeface="Calibri"/>
              <a:cs typeface="Calibri"/>
            </a:endParaRPr>
          </a:p>
          <a:p>
            <a:pPr marL="12700" marR="4741545" indent="228600">
              <a:lnSpc>
                <a:spcPct val="136200"/>
              </a:lnSpc>
              <a:spcBef>
                <a:spcPts val="10"/>
              </a:spcBef>
            </a:pPr>
            <a:r>
              <a:rPr dirty="0" sz="1800" spc="-10">
                <a:latin typeface="Calibri"/>
                <a:cs typeface="Calibri"/>
              </a:rPr>
              <a:t>&lt;Constants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Declaration&gt;; BEGIN</a:t>
            </a:r>
            <a:endParaRPr sz="1800">
              <a:latin typeface="Calibri"/>
              <a:cs typeface="Calibri"/>
            </a:endParaRPr>
          </a:p>
          <a:p>
            <a:pPr marL="12700" marR="4372610" indent="228600">
              <a:lnSpc>
                <a:spcPts val="2950"/>
              </a:lnSpc>
              <a:spcBef>
                <a:spcPts val="220"/>
              </a:spcBef>
            </a:pPr>
            <a:r>
              <a:rPr dirty="0" sz="1800">
                <a:latin typeface="Calibri"/>
                <a:cs typeface="Calibri"/>
              </a:rPr>
              <a:t>&lt;PL/SQL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sub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program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body&gt;; EXCEPTION</a:t>
            </a:r>
            <a:endParaRPr sz="1800">
              <a:latin typeface="Calibri"/>
              <a:cs typeface="Calibri"/>
            </a:endParaRPr>
          </a:p>
          <a:p>
            <a:pPr marL="12700" marR="4613910" indent="228600">
              <a:lnSpc>
                <a:spcPts val="2940"/>
              </a:lnSpc>
            </a:pPr>
            <a:r>
              <a:rPr dirty="0" sz="1800" spc="-10">
                <a:latin typeface="Calibri"/>
                <a:cs typeface="Calibri"/>
              </a:rPr>
              <a:t>&lt;Exception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PL/SQL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block&gt;; </a:t>
            </a:r>
            <a:r>
              <a:rPr dirty="0" sz="1800">
                <a:latin typeface="Calibri"/>
                <a:cs typeface="Calibri"/>
              </a:rPr>
              <a:t>END;</a:t>
            </a:r>
            <a:r>
              <a:rPr dirty="0" sz="1800" spc="38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where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3690" y="3939921"/>
            <a:ext cx="7160895" cy="251460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spc="-10">
                <a:latin typeface="Calibri"/>
                <a:cs typeface="Calibri"/>
              </a:rPr>
              <a:t>Procedure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procedure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created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spc="-10">
                <a:latin typeface="Calibri"/>
                <a:cs typeface="Calibri"/>
              </a:rPr>
              <a:t>Argument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argument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passed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procedure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(Default)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indicates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parameter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only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accept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user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OUT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indicates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parameter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only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return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user</a:t>
            </a:r>
            <a:endParaRPr sz="1800">
              <a:latin typeface="Calibri"/>
              <a:cs typeface="Calibri"/>
            </a:endParaRPr>
          </a:p>
          <a:p>
            <a:pPr marL="241300" marR="5080" indent="-229235">
              <a:lnSpc>
                <a:spcPts val="1939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OUT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indicates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parameter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accept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well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return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and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user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Type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indicates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type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associated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parameter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8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>
              <a:lnSpc>
                <a:spcPct val="100000"/>
              </a:lnSpc>
            </a:pPr>
            <a:r>
              <a:rPr dirty="0" sz="3800" spc="-10">
                <a:solidFill>
                  <a:srgbClr val="FFFFFF"/>
                </a:solidFill>
                <a:latin typeface="Calibri Light"/>
                <a:cs typeface="Calibri Light"/>
              </a:rPr>
              <a:t>Functions</a:t>
            </a:r>
            <a:endParaRPr sz="3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44696" y="448055"/>
            <a:ext cx="7688580" cy="5953125"/>
          </a:xfrm>
          <a:prstGeom prst="rect">
            <a:avLst/>
          </a:prstGeom>
          <a:solidFill>
            <a:srgbClr val="7E7E7E">
              <a:alpha val="19999"/>
            </a:srgbClr>
          </a:solidFill>
        </p:spPr>
        <p:txBody>
          <a:bodyPr wrap="square" lIns="0" tIns="136525" rIns="0" bIns="0" rtlCol="0" vert="horz">
            <a:spAutoFit/>
          </a:bodyPr>
          <a:lstStyle/>
          <a:p>
            <a:pPr marL="320040" indent="-228600">
              <a:lnSpc>
                <a:spcPct val="100000"/>
              </a:lnSpc>
              <a:spcBef>
                <a:spcPts val="1075"/>
              </a:spcBef>
              <a:buFont typeface="Arial MT"/>
              <a:buChar char="•"/>
              <a:tabLst>
                <a:tab pos="320040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syntax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function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is</a:t>
            </a:r>
            <a:endParaRPr sz="1800">
              <a:latin typeface="Calibri"/>
              <a:cs typeface="Calibri"/>
            </a:endParaRPr>
          </a:p>
          <a:p>
            <a:pPr marL="320675" marR="884555" indent="-229235">
              <a:lnSpc>
                <a:spcPts val="1939"/>
              </a:lnSpc>
              <a:spcBef>
                <a:spcPts val="1045"/>
              </a:spcBef>
            </a:pPr>
            <a:r>
              <a:rPr dirty="0" sz="1800" spc="-20">
                <a:latin typeface="Calibri"/>
                <a:cs typeface="Calibri"/>
              </a:rPr>
              <a:t>CREATE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REPLACE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FUNCTION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&lt;Function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Name&gt;(&lt;Argument&gt;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&lt;Data Type&gt;,....)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RETURN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&lt;Data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Type&gt;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{IS,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AS}</a:t>
            </a:r>
            <a:endParaRPr sz="1800">
              <a:latin typeface="Calibri"/>
              <a:cs typeface="Calibri"/>
            </a:endParaRPr>
          </a:p>
          <a:p>
            <a:pPr marL="320675">
              <a:lnSpc>
                <a:spcPct val="100000"/>
              </a:lnSpc>
              <a:spcBef>
                <a:spcPts val="755"/>
              </a:spcBef>
            </a:pPr>
            <a:r>
              <a:rPr dirty="0" sz="1800" spc="-10">
                <a:latin typeface="Calibri"/>
                <a:cs typeface="Calibri"/>
              </a:rPr>
              <a:t>&lt;Variable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Declarations&gt;;</a:t>
            </a:r>
            <a:endParaRPr sz="1800">
              <a:latin typeface="Calibri"/>
              <a:cs typeface="Calibri"/>
            </a:endParaRPr>
          </a:p>
          <a:p>
            <a:pPr marL="91440" marR="5037455" indent="228600">
              <a:lnSpc>
                <a:spcPts val="2950"/>
              </a:lnSpc>
              <a:spcBef>
                <a:spcPts val="220"/>
              </a:spcBef>
            </a:pPr>
            <a:r>
              <a:rPr dirty="0" sz="1800" spc="-10">
                <a:latin typeface="Calibri"/>
                <a:cs typeface="Calibri"/>
              </a:rPr>
              <a:t>&lt;Constants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Declaration&gt;; BEGIN</a:t>
            </a:r>
            <a:endParaRPr sz="1800">
              <a:latin typeface="Calibri"/>
              <a:cs typeface="Calibri"/>
            </a:endParaRPr>
          </a:p>
          <a:p>
            <a:pPr marL="91440" marR="4668520" indent="228600">
              <a:lnSpc>
                <a:spcPts val="2940"/>
              </a:lnSpc>
            </a:pPr>
            <a:r>
              <a:rPr dirty="0" sz="1800">
                <a:latin typeface="Calibri"/>
                <a:cs typeface="Calibri"/>
              </a:rPr>
              <a:t>&lt;PL/SQL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sub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program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body&gt;; EXCEPTION</a:t>
            </a:r>
            <a:endParaRPr sz="1800">
              <a:latin typeface="Calibri"/>
              <a:cs typeface="Calibri"/>
            </a:endParaRPr>
          </a:p>
          <a:p>
            <a:pPr marL="320675">
              <a:lnSpc>
                <a:spcPct val="100000"/>
              </a:lnSpc>
              <a:spcBef>
                <a:spcPts val="565"/>
              </a:spcBef>
            </a:pPr>
            <a:r>
              <a:rPr dirty="0" sz="1800" spc="-10">
                <a:latin typeface="Calibri"/>
                <a:cs typeface="Calibri"/>
              </a:rPr>
              <a:t>&lt;Exception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PL/SQL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block&gt;;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780"/>
              </a:spcBef>
            </a:pPr>
            <a:r>
              <a:rPr dirty="0" sz="1800">
                <a:latin typeface="Calibri"/>
                <a:cs typeface="Calibri"/>
              </a:rPr>
              <a:t>END;</a:t>
            </a:r>
            <a:r>
              <a:rPr dirty="0" sz="1800" spc="39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where</a:t>
            </a:r>
            <a:endParaRPr sz="1800">
              <a:latin typeface="Calibri"/>
              <a:cs typeface="Calibri"/>
            </a:endParaRPr>
          </a:p>
          <a:p>
            <a:pPr marL="320040" indent="-228600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320040" algn="l"/>
              </a:tabLst>
            </a:pPr>
            <a:r>
              <a:rPr dirty="0" sz="1800">
                <a:latin typeface="Calibri"/>
                <a:cs typeface="Calibri"/>
              </a:rPr>
              <a:t>Function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function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created</a:t>
            </a:r>
            <a:endParaRPr sz="1800">
              <a:latin typeface="Calibri"/>
              <a:cs typeface="Calibri"/>
            </a:endParaRPr>
          </a:p>
          <a:p>
            <a:pPr marL="320040" indent="-2286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20040" algn="l"/>
              </a:tabLst>
            </a:pPr>
            <a:r>
              <a:rPr dirty="0" sz="1800" spc="-10">
                <a:latin typeface="Calibri"/>
                <a:cs typeface="Calibri"/>
              </a:rPr>
              <a:t>Argument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argument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passed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procedure</a:t>
            </a:r>
            <a:endParaRPr sz="1800">
              <a:latin typeface="Calibri"/>
              <a:cs typeface="Calibri"/>
            </a:endParaRPr>
          </a:p>
          <a:p>
            <a:pPr marL="32004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320040" algn="l"/>
              </a:tabLst>
            </a:pP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3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indicates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parameter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only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accept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user</a:t>
            </a:r>
            <a:endParaRPr sz="1800">
              <a:latin typeface="Calibri"/>
              <a:cs typeface="Calibri"/>
            </a:endParaRPr>
          </a:p>
          <a:p>
            <a:pPr marL="32004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320040" algn="l"/>
              </a:tabLst>
            </a:pP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Type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indicates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type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associated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parameter</a:t>
            </a:r>
            <a:endParaRPr sz="1800">
              <a:latin typeface="Calibri"/>
              <a:cs typeface="Calibri"/>
            </a:endParaRPr>
          </a:p>
          <a:p>
            <a:pPr marL="320675" marR="622935" indent="-229235">
              <a:lnSpc>
                <a:spcPts val="1939"/>
              </a:lnSpc>
              <a:spcBef>
                <a:spcPts val="1045"/>
              </a:spcBef>
              <a:buFont typeface="Arial MT"/>
              <a:buChar char="•"/>
              <a:tabLst>
                <a:tab pos="320675" algn="l"/>
              </a:tabLst>
            </a:pPr>
            <a:r>
              <a:rPr dirty="0" sz="1800">
                <a:latin typeface="Calibri"/>
                <a:cs typeface="Calibri"/>
              </a:rPr>
              <a:t>RETURN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Type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(Compulsory)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indicates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type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functions </a:t>
            </a:r>
            <a:r>
              <a:rPr dirty="0" sz="1800">
                <a:latin typeface="Calibri"/>
                <a:cs typeface="Calibri"/>
              </a:rPr>
              <a:t>return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value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5759" y="2664968"/>
            <a:ext cx="2879725" cy="130048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 sz="4400">
                <a:solidFill>
                  <a:srgbClr val="FFFFFF"/>
                </a:solidFill>
                <a:latin typeface="Calibri Light"/>
                <a:cs typeface="Calibri Light"/>
              </a:rPr>
              <a:t>Procedures</a:t>
            </a:r>
            <a:r>
              <a:rPr dirty="0" sz="4400" spc="-23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 spc="-50">
                <a:solidFill>
                  <a:srgbClr val="FFFFFF"/>
                </a:solidFill>
                <a:latin typeface="Calibri Light"/>
                <a:cs typeface="Calibri Light"/>
              </a:rPr>
              <a:t>/ </a:t>
            </a:r>
            <a:r>
              <a:rPr dirty="0" sz="4400" spc="-10">
                <a:solidFill>
                  <a:srgbClr val="FFFFFF"/>
                </a:solidFill>
                <a:latin typeface="Calibri Light"/>
                <a:cs typeface="Calibri Light"/>
              </a:rPr>
              <a:t>Functions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526660" y="654837"/>
            <a:ext cx="6673850" cy="5289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marR="48260" indent="-227329">
              <a:lnSpc>
                <a:spcPct val="12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latin typeface="Calibri"/>
                <a:cs typeface="Calibri"/>
              </a:rPr>
              <a:t>Invoking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Procedure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done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follows 	Procedure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Name(Argument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List);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60"/>
              </a:spcBef>
            </a:pPr>
            <a:r>
              <a:rPr dirty="0" sz="2800" spc="-25">
                <a:latin typeface="Calibri"/>
                <a:cs typeface="Calibri"/>
              </a:rPr>
              <a:t>OR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660"/>
              </a:spcBef>
            </a:pPr>
            <a:r>
              <a:rPr dirty="0" sz="2800">
                <a:latin typeface="Calibri"/>
                <a:cs typeface="Calibri"/>
              </a:rPr>
              <a:t>CALL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Procedure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Name(Argument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List);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latin typeface="Calibri"/>
                <a:cs typeface="Calibri"/>
              </a:rPr>
              <a:t>Invoking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Function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done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follows</a:t>
            </a:r>
            <a:endParaRPr sz="2800">
              <a:latin typeface="Calibri"/>
              <a:cs typeface="Calibri"/>
            </a:endParaRPr>
          </a:p>
          <a:p>
            <a:pPr marL="241300" marR="5080">
              <a:lnSpc>
                <a:spcPts val="3020"/>
              </a:lnSpc>
              <a:spcBef>
                <a:spcPts val="1045"/>
              </a:spcBef>
            </a:pPr>
            <a:r>
              <a:rPr dirty="0" sz="2800">
                <a:latin typeface="Calibri"/>
                <a:cs typeface="Calibri"/>
              </a:rPr>
              <a:t>Return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Variable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:=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Function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Name(Argument List);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Deleting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stored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procedure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45"/>
              </a:spcBef>
            </a:pPr>
            <a:r>
              <a:rPr dirty="0" sz="2400">
                <a:latin typeface="Calibri"/>
                <a:cs typeface="Calibri"/>
              </a:rPr>
              <a:t>DROP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PROCEDURE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&lt;Procedure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Name&gt;;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Deleting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stored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dirty="0" sz="2400">
                <a:latin typeface="Calibri"/>
                <a:cs typeface="Calibri"/>
              </a:rPr>
              <a:t>DROP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FUNCTION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&lt;Function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Name&gt;;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0739" y="-8763"/>
            <a:ext cx="473583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Example</a:t>
            </a:r>
            <a:r>
              <a:rPr dirty="0" sz="4000" spc="-155"/>
              <a:t> </a:t>
            </a:r>
            <a:r>
              <a:rPr dirty="0" sz="4000"/>
              <a:t>For</a:t>
            </a:r>
            <a:r>
              <a:rPr dirty="0" sz="4000" spc="-150"/>
              <a:t> </a:t>
            </a:r>
            <a:r>
              <a:rPr dirty="0" sz="4000" spc="-10"/>
              <a:t>Procedure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40739" y="588529"/>
            <a:ext cx="9411970" cy="604647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85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10">
                <a:latin typeface="Calibri"/>
                <a:cs typeface="Calibri"/>
              </a:rPr>
              <a:t>Write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procedure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procedure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through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PL/SQL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block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2000" spc="-10">
                <a:latin typeface="Calibri"/>
                <a:cs typeface="Calibri"/>
              </a:rPr>
              <a:t>Syntax:</a:t>
            </a:r>
            <a:endParaRPr sz="2000">
              <a:latin typeface="Calibri"/>
              <a:cs typeface="Calibri"/>
            </a:endParaRPr>
          </a:p>
          <a:p>
            <a:pPr marL="241300" marR="4226560" indent="-228600">
              <a:lnSpc>
                <a:spcPct val="131500"/>
              </a:lnSpc>
              <a:spcBef>
                <a:spcPts val="15"/>
              </a:spcBef>
            </a:pPr>
            <a:r>
              <a:rPr dirty="0" sz="2000" spc="-25">
                <a:latin typeface="Calibri"/>
                <a:cs typeface="Calibri"/>
              </a:rPr>
              <a:t>CREATE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REPLACE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PROCEDURE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ADD_TWO_NOS </a:t>
            </a:r>
            <a:r>
              <a:rPr dirty="0" sz="2000" spc="-25"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  <a:p>
            <a:pPr marL="12700" marR="3659504" indent="228600">
              <a:lnSpc>
                <a:spcPts val="3170"/>
              </a:lnSpc>
              <a:spcBef>
                <a:spcPts val="220"/>
              </a:spcBef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NUMBER(3):=10;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NUMBER(3):=20;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NUMBER(5); BEGIN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20"/>
              </a:spcBef>
            </a:pPr>
            <a:r>
              <a:rPr dirty="0" sz="2000" spc="-10">
                <a:latin typeface="Calibri"/>
                <a:cs typeface="Calibri"/>
              </a:rPr>
              <a:t>C:=A+B;</a:t>
            </a:r>
            <a:endParaRPr sz="2000">
              <a:latin typeface="Calibri"/>
              <a:cs typeface="Calibri"/>
            </a:endParaRPr>
          </a:p>
          <a:p>
            <a:pPr marL="12700" marR="1990725" indent="228600">
              <a:lnSpc>
                <a:spcPts val="3170"/>
              </a:lnSpc>
              <a:spcBef>
                <a:spcPts val="220"/>
              </a:spcBef>
            </a:pPr>
            <a:r>
              <a:rPr dirty="0" sz="2000" spc="-20">
                <a:latin typeface="Calibri"/>
                <a:cs typeface="Calibri"/>
              </a:rPr>
              <a:t>DBMS_OUTPUT.PUT_LINE('SUM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 A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 AND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 </a:t>
            </a:r>
            <a:r>
              <a:rPr dirty="0" sz="2000" spc="-25">
                <a:latin typeface="Calibri"/>
                <a:cs typeface="Calibri"/>
              </a:rPr>
              <a:t>C); </a:t>
            </a: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000" spc="-50">
                <a:latin typeface="Calibri"/>
                <a:cs typeface="Calibri"/>
              </a:rPr>
              <a:t>/</a:t>
            </a:r>
            <a:endParaRPr sz="2000">
              <a:latin typeface="Calibri"/>
              <a:cs typeface="Calibri"/>
            </a:endParaRPr>
          </a:p>
          <a:p>
            <a:pPr marL="12700" marR="7513320">
              <a:lnSpc>
                <a:spcPts val="3170"/>
              </a:lnSpc>
              <a:spcBef>
                <a:spcPts val="220"/>
              </a:spcBef>
            </a:pPr>
            <a:r>
              <a:rPr dirty="0" sz="2000">
                <a:latin typeface="Calibri"/>
                <a:cs typeface="Calibri"/>
              </a:rPr>
              <a:t>Calling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procedure:</a:t>
            </a:r>
            <a:endParaRPr sz="2000">
              <a:latin typeface="Calibri"/>
              <a:cs typeface="Calibri"/>
            </a:endParaRPr>
          </a:p>
          <a:p>
            <a:pPr marL="12700" marR="7513320">
              <a:lnSpc>
                <a:spcPts val="3170"/>
              </a:lnSpc>
            </a:pPr>
            <a:r>
              <a:rPr dirty="0" sz="2000" spc="-10">
                <a:latin typeface="Calibri"/>
                <a:cs typeface="Calibri"/>
              </a:rPr>
              <a:t>BEGIN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20"/>
              </a:spcBef>
            </a:pPr>
            <a:r>
              <a:rPr dirty="0" sz="2000" spc="-10">
                <a:latin typeface="Calibri"/>
                <a:cs typeface="Calibri"/>
              </a:rPr>
              <a:t>ADD_TWO_NOS;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2000" spc="-50">
                <a:latin typeface="Calibri"/>
                <a:cs typeface="Calibri"/>
              </a:rPr>
              <a:t>/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-18432"/>
            <a:ext cx="6703695" cy="672465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sql&gt;ed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d:\f1.sql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20">
                <a:latin typeface="Calibri"/>
                <a:cs typeface="Calibri"/>
              </a:rPr>
              <a:t>CREATE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REPLACE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PROCEDURE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ADD_TWO_NOS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A </a:t>
            </a:r>
            <a:r>
              <a:rPr dirty="0" sz="1800" spc="-10">
                <a:latin typeface="Calibri"/>
                <a:cs typeface="Calibri"/>
              </a:rPr>
              <a:t>NUMBER(3):=10;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B </a:t>
            </a:r>
            <a:r>
              <a:rPr dirty="0" sz="1800" spc="-10">
                <a:latin typeface="Calibri"/>
                <a:cs typeface="Calibri"/>
              </a:rPr>
              <a:t>NUMBER(3):=20;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C </a:t>
            </a:r>
            <a:r>
              <a:rPr dirty="0" sz="1800" spc="-10">
                <a:latin typeface="Calibri"/>
                <a:cs typeface="Calibri"/>
              </a:rPr>
              <a:t>NUMBER(5);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BEGIN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59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C:=A+B;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DBMS_OUTPUT.PUT_LINE('SUM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' ||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||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' AND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' ||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||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'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' ||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C);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20">
                <a:latin typeface="Calibri"/>
                <a:cs typeface="Calibri"/>
              </a:rPr>
              <a:t>END;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50">
                <a:latin typeface="Calibri"/>
                <a:cs typeface="Calibri"/>
              </a:rPr>
              <a:t>/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80">
                <a:latin typeface="Calibri"/>
                <a:cs typeface="Calibri"/>
              </a:rPr>
              <a:t>To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run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type: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sql&gt;@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d:\f1.sql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o/p: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procedure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created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sql&gt;ed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d:\f2.sql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BEGIN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ADD_TWO_NOS;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20">
                <a:latin typeface="Calibri"/>
                <a:cs typeface="Calibri"/>
              </a:rPr>
              <a:t>END;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50">
                <a:latin typeface="Calibri"/>
                <a:cs typeface="Calibri"/>
              </a:rPr>
              <a:t>/</a:t>
            </a:r>
            <a:endParaRPr sz="1800">
              <a:latin typeface="Calibri"/>
              <a:cs typeface="Calibri"/>
            </a:endParaRPr>
          </a:p>
          <a:p>
            <a:pPr marL="292735" indent="-28003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92735" algn="l"/>
              </a:tabLst>
            </a:pPr>
            <a:r>
              <a:rPr dirty="0" sz="1800">
                <a:latin typeface="Calibri"/>
                <a:cs typeface="Calibri"/>
              </a:rPr>
              <a:t>sql&gt;@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d:\f2.sql</a:t>
            </a:r>
            <a:endParaRPr sz="1800">
              <a:latin typeface="Calibri"/>
              <a:cs typeface="Calibri"/>
            </a:endParaRPr>
          </a:p>
          <a:p>
            <a:pPr marL="292735" indent="-280035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92735" algn="l"/>
              </a:tabLst>
            </a:pPr>
            <a:r>
              <a:rPr dirty="0" sz="1800">
                <a:latin typeface="Calibri"/>
                <a:cs typeface="Calibri"/>
              </a:rPr>
              <a:t>o/p: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SUM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20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30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PL/SQL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procedure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successfully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completed.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4540" y="-119684"/>
            <a:ext cx="473646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Example</a:t>
            </a:r>
            <a:r>
              <a:rPr dirty="0" sz="4000" spc="-145"/>
              <a:t> </a:t>
            </a:r>
            <a:r>
              <a:rPr dirty="0" sz="4000"/>
              <a:t>For</a:t>
            </a:r>
            <a:r>
              <a:rPr dirty="0" sz="4000" spc="-135"/>
              <a:t> </a:t>
            </a:r>
            <a:r>
              <a:rPr dirty="0" sz="4000" spc="-10"/>
              <a:t>Procedure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68300" y="500227"/>
            <a:ext cx="9536430" cy="644715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10">
                <a:latin typeface="Calibri"/>
                <a:cs typeface="Calibri"/>
              </a:rPr>
              <a:t>Write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procedure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passed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PL/SQL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block.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ts val="3170"/>
              </a:lnSpc>
              <a:spcBef>
                <a:spcPts val="220"/>
              </a:spcBef>
            </a:pPr>
            <a:r>
              <a:rPr dirty="0" sz="2000" spc="-25">
                <a:latin typeface="Calibri"/>
                <a:cs typeface="Calibri"/>
              </a:rPr>
              <a:t>CREATE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REPLACE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PROCEDURE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ADD_TWO_PARAMETERNOS(A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NUMBER,B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NUMBER) </a:t>
            </a:r>
            <a:r>
              <a:rPr dirty="0" sz="2000" spc="-25"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20"/>
              </a:spcBef>
            </a:pPr>
            <a:r>
              <a:rPr dirty="0" sz="2000">
                <a:latin typeface="Calibri"/>
                <a:cs typeface="Calibri"/>
              </a:rPr>
              <a:t>C</a:t>
            </a:r>
            <a:r>
              <a:rPr dirty="0" sz="2000" spc="-10">
                <a:latin typeface="Calibri"/>
                <a:cs typeface="Calibri"/>
              </a:rPr>
              <a:t> NUMBER(5);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2000" spc="-10">
                <a:latin typeface="Calibri"/>
                <a:cs typeface="Calibri"/>
              </a:rPr>
              <a:t>BEGIN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765"/>
              </a:spcBef>
            </a:pPr>
            <a:r>
              <a:rPr dirty="0" sz="2000" spc="-10">
                <a:latin typeface="Calibri"/>
                <a:cs typeface="Calibri"/>
              </a:rPr>
              <a:t>C:=A+B;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755"/>
              </a:spcBef>
            </a:pPr>
            <a:r>
              <a:rPr dirty="0" sz="2000" spc="-20">
                <a:latin typeface="Calibri"/>
                <a:cs typeface="Calibri"/>
              </a:rPr>
              <a:t>DBMS_OUTPUT.PUT_LINE('SUM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 A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 </a:t>
            </a:r>
            <a:r>
              <a:rPr dirty="0" sz="2000" spc="-25">
                <a:latin typeface="Calibri"/>
                <a:cs typeface="Calibri"/>
              </a:rPr>
              <a:t>C);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  <a:p>
            <a:pPr marL="12700" marR="8584565">
              <a:lnSpc>
                <a:spcPct val="131500"/>
              </a:lnSpc>
              <a:spcBef>
                <a:spcPts val="10"/>
              </a:spcBef>
            </a:pPr>
            <a:r>
              <a:rPr dirty="0" sz="2000" spc="-50">
                <a:latin typeface="Calibri"/>
                <a:cs typeface="Calibri"/>
              </a:rPr>
              <a:t>/ </a:t>
            </a:r>
            <a:r>
              <a:rPr dirty="0" sz="2000" spc="-10">
                <a:latin typeface="Calibri"/>
                <a:cs typeface="Calibri"/>
              </a:rPr>
              <a:t>DECLARE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760"/>
              </a:spcBef>
            </a:pPr>
            <a:r>
              <a:rPr dirty="0" sz="2000">
                <a:latin typeface="Calibri"/>
                <a:cs typeface="Calibri"/>
              </a:rPr>
              <a:t>NUM_1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NUMBER(3);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NUM_2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NUMBER(3);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2000" spc="-10">
                <a:latin typeface="Calibri"/>
                <a:cs typeface="Calibri"/>
              </a:rPr>
              <a:t>BEGIN</a:t>
            </a:r>
            <a:endParaRPr sz="2000">
              <a:latin typeface="Calibri"/>
              <a:cs typeface="Calibri"/>
            </a:endParaRPr>
          </a:p>
          <a:p>
            <a:pPr marL="241300" marR="4445000">
              <a:lnSpc>
                <a:spcPct val="131500"/>
              </a:lnSpc>
              <a:spcBef>
                <a:spcPts val="5"/>
              </a:spcBef>
            </a:pPr>
            <a:r>
              <a:rPr dirty="0" sz="2000">
                <a:latin typeface="Calibri"/>
                <a:cs typeface="Calibri"/>
              </a:rPr>
              <a:t>NUM_1:=&amp;NUM_1;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NUM_2:=&amp;NUM_2; ADD_TWO_PARAMETERNOS(NUM_1,NUM_2);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2000" spc="-50">
                <a:latin typeface="Calibri"/>
                <a:cs typeface="Calibri"/>
              </a:rPr>
              <a:t>/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-119684"/>
            <a:ext cx="47415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Example</a:t>
            </a:r>
            <a:r>
              <a:rPr dirty="0" sz="4000" spc="-135"/>
              <a:t> </a:t>
            </a:r>
            <a:r>
              <a:rPr dirty="0" sz="4000"/>
              <a:t>For</a:t>
            </a:r>
            <a:r>
              <a:rPr dirty="0" sz="4000" spc="-125"/>
              <a:t> </a:t>
            </a:r>
            <a:r>
              <a:rPr dirty="0" sz="4000" spc="-10"/>
              <a:t>Procedure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139" y="534670"/>
            <a:ext cx="10589895" cy="609727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38760" marR="5080" indent="-226695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Write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procedure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passed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PL/SQL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block.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addition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done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in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procedure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display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done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calling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program.</a:t>
            </a:r>
            <a:endParaRPr sz="2000">
              <a:latin typeface="Calibri"/>
              <a:cs typeface="Calibri"/>
            </a:endParaRPr>
          </a:p>
          <a:p>
            <a:pPr marL="241300" marR="421005" indent="-229235">
              <a:lnSpc>
                <a:spcPts val="2160"/>
              </a:lnSpc>
              <a:spcBef>
                <a:spcPts val="994"/>
              </a:spcBef>
            </a:pPr>
            <a:r>
              <a:rPr dirty="0" sz="2000" spc="-25">
                <a:latin typeface="Calibri"/>
                <a:cs typeface="Calibri"/>
              </a:rPr>
              <a:t>CREATE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REPLACE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PROCEDURE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ADD_TWO_PARAMETERNOS(A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NUMBER,B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NUMBER,C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OUT </a:t>
            </a:r>
            <a:r>
              <a:rPr dirty="0" sz="2000">
                <a:latin typeface="Calibri"/>
                <a:cs typeface="Calibri"/>
              </a:rPr>
              <a:t>NUMBER)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2000" spc="-10">
                <a:latin typeface="Calibri"/>
                <a:cs typeface="Calibri"/>
              </a:rPr>
              <a:t>BEGIN</a:t>
            </a:r>
            <a:endParaRPr sz="2000">
              <a:latin typeface="Calibri"/>
              <a:cs typeface="Calibri"/>
            </a:endParaRPr>
          </a:p>
          <a:p>
            <a:pPr marL="12700" marR="9528175" indent="228600">
              <a:lnSpc>
                <a:spcPct val="100000"/>
              </a:lnSpc>
              <a:spcBef>
                <a:spcPts val="755"/>
              </a:spcBef>
            </a:pPr>
            <a:r>
              <a:rPr dirty="0" sz="2000" spc="-10">
                <a:latin typeface="Calibri"/>
                <a:cs typeface="Calibri"/>
              </a:rPr>
              <a:t>C:=A+B;</a:t>
            </a:r>
            <a:endParaRPr sz="2000">
              <a:latin typeface="Calibri"/>
              <a:cs typeface="Calibri"/>
            </a:endParaRPr>
          </a:p>
          <a:p>
            <a:pPr marL="12700" marR="9528175">
              <a:lnSpc>
                <a:spcPct val="100000"/>
              </a:lnSpc>
              <a:spcBef>
                <a:spcPts val="755"/>
              </a:spcBef>
            </a:pP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  <a:p>
            <a:pPr marL="12700" marR="9638030">
              <a:lnSpc>
                <a:spcPct val="131600"/>
              </a:lnSpc>
              <a:spcBef>
                <a:spcPts val="10"/>
              </a:spcBef>
            </a:pPr>
            <a:r>
              <a:rPr dirty="0" sz="2000" spc="-50">
                <a:latin typeface="Calibri"/>
                <a:cs typeface="Calibri"/>
              </a:rPr>
              <a:t>/ </a:t>
            </a:r>
            <a:r>
              <a:rPr dirty="0" sz="2000" spc="-10">
                <a:latin typeface="Calibri"/>
                <a:cs typeface="Calibri"/>
              </a:rPr>
              <a:t>DECLARE</a:t>
            </a:r>
            <a:endParaRPr sz="2000">
              <a:latin typeface="Calibri"/>
              <a:cs typeface="Calibri"/>
            </a:endParaRPr>
          </a:p>
          <a:p>
            <a:pPr marL="12700" marR="3763010" indent="228600">
              <a:lnSpc>
                <a:spcPts val="3170"/>
              </a:lnSpc>
              <a:spcBef>
                <a:spcPts val="220"/>
              </a:spcBef>
            </a:pPr>
            <a:r>
              <a:rPr dirty="0" sz="2000">
                <a:latin typeface="Calibri"/>
                <a:cs typeface="Calibri"/>
              </a:rPr>
              <a:t>NUM_1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NUMBER(3);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NUM_2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NUMBER(3);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NUM_3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NUMBER(5); BEGIN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20"/>
              </a:spcBef>
            </a:pPr>
            <a:r>
              <a:rPr dirty="0" sz="2000">
                <a:latin typeface="Calibri"/>
                <a:cs typeface="Calibri"/>
              </a:rPr>
              <a:t>NUM_1:=&amp;NUM_1;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NUM_2:=&amp;NUM_2;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760"/>
              </a:spcBef>
            </a:pPr>
            <a:r>
              <a:rPr dirty="0" sz="2000" spc="-10">
                <a:latin typeface="Calibri"/>
                <a:cs typeface="Calibri"/>
              </a:rPr>
              <a:t>ADD_TWO_PARAMETERNOS(NUM_1,NUM_2,NUM_3);</a:t>
            </a:r>
            <a:endParaRPr sz="2000">
              <a:latin typeface="Calibri"/>
              <a:cs typeface="Calibri"/>
            </a:endParaRPr>
          </a:p>
          <a:p>
            <a:pPr marL="12700" marR="1191895" indent="228600">
              <a:lnSpc>
                <a:spcPct val="131500"/>
              </a:lnSpc>
              <a:spcBef>
                <a:spcPts val="10"/>
              </a:spcBef>
            </a:pPr>
            <a:r>
              <a:rPr dirty="0" sz="2000" spc="-20">
                <a:latin typeface="Calibri"/>
                <a:cs typeface="Calibri"/>
              </a:rPr>
              <a:t>DBMS_OUTPUT.PUT_LINE('SUM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 NUM_1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NUM_2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 '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NUM_3); </a:t>
            </a: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2000" spc="-50">
                <a:latin typeface="Calibri"/>
                <a:cs typeface="Calibri"/>
              </a:rPr>
              <a:t>/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4540" y="36321"/>
            <a:ext cx="508635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Example</a:t>
            </a:r>
            <a:r>
              <a:rPr dirty="0" sz="4400" spc="-110"/>
              <a:t> </a:t>
            </a:r>
            <a:r>
              <a:rPr dirty="0" sz="4400"/>
              <a:t>For</a:t>
            </a:r>
            <a:r>
              <a:rPr dirty="0" sz="4400" spc="-85"/>
              <a:t> </a:t>
            </a:r>
            <a:r>
              <a:rPr dirty="0" sz="4400" spc="-10"/>
              <a:t>Functions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671830"/>
            <a:ext cx="10742930" cy="622554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38760" marR="5080" indent="-226695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Write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function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passed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3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main.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accepted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them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users</a:t>
            </a:r>
            <a:endParaRPr sz="2000">
              <a:latin typeface="Calibri"/>
              <a:cs typeface="Calibri"/>
            </a:endParaRPr>
          </a:p>
          <a:p>
            <a:pPr marL="927100" marR="386080" indent="-915035">
              <a:lnSpc>
                <a:spcPts val="3170"/>
              </a:lnSpc>
              <a:spcBef>
                <a:spcPts val="190"/>
              </a:spcBef>
            </a:pPr>
            <a:r>
              <a:rPr dirty="0" sz="2000" spc="-25">
                <a:latin typeface="Calibri"/>
                <a:cs typeface="Calibri"/>
              </a:rPr>
              <a:t>CREATE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REPLACE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FUNCTION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ADD_TWO_NOS3(A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NUMBER,B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NUMBER)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RETURN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 </a:t>
            </a:r>
            <a:r>
              <a:rPr dirty="0" sz="2000">
                <a:latin typeface="Calibri"/>
                <a:cs typeface="Calibri"/>
              </a:rPr>
              <a:t>C</a:t>
            </a:r>
            <a:r>
              <a:rPr dirty="0" sz="2000" spc="-10">
                <a:latin typeface="Calibri"/>
                <a:cs typeface="Calibri"/>
              </a:rPr>
              <a:t> NUMBER(3);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000" spc="-10">
                <a:latin typeface="Calibri"/>
                <a:cs typeface="Calibri"/>
              </a:rPr>
              <a:t>BEGIN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55"/>
              </a:spcBef>
            </a:pPr>
            <a:r>
              <a:rPr dirty="0" sz="2000">
                <a:latin typeface="Calibri"/>
                <a:cs typeface="Calibri"/>
              </a:rPr>
              <a:t>C:=A+B;</a:t>
            </a:r>
            <a:r>
              <a:rPr dirty="0" sz="2000" spc="2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RETURN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C;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  <a:p>
            <a:pPr marL="12700" marR="9791065">
              <a:lnSpc>
                <a:spcPts val="3160"/>
              </a:lnSpc>
              <a:spcBef>
                <a:spcPts val="225"/>
              </a:spcBef>
            </a:pPr>
            <a:r>
              <a:rPr dirty="0" sz="2000" spc="-50">
                <a:latin typeface="Calibri"/>
                <a:cs typeface="Calibri"/>
              </a:rPr>
              <a:t>/ </a:t>
            </a:r>
            <a:r>
              <a:rPr dirty="0" sz="2000" spc="-10">
                <a:latin typeface="Calibri"/>
                <a:cs typeface="Calibri"/>
              </a:rPr>
              <a:t>DECLARE</a:t>
            </a:r>
            <a:endParaRPr sz="2000">
              <a:latin typeface="Calibri"/>
              <a:cs typeface="Calibri"/>
            </a:endParaRPr>
          </a:p>
          <a:p>
            <a:pPr marL="469900" marR="5257165" indent="457200">
              <a:lnSpc>
                <a:spcPts val="3160"/>
              </a:lnSpc>
              <a:spcBef>
                <a:spcPts val="10"/>
              </a:spcBef>
            </a:pPr>
            <a:r>
              <a:rPr dirty="0" sz="2000">
                <a:latin typeface="Calibri"/>
                <a:cs typeface="Calibri"/>
              </a:rPr>
              <a:t>X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NUMBER(3);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NUMBER(3);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Z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NUMBER(3); BEGIN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20"/>
              </a:spcBef>
              <a:tabLst>
                <a:tab pos="1841500" algn="l"/>
              </a:tabLst>
            </a:pPr>
            <a:r>
              <a:rPr dirty="0" sz="2000" spc="-10">
                <a:latin typeface="Calibri"/>
                <a:cs typeface="Calibri"/>
              </a:rPr>
              <a:t>X:=&amp;X;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Y:=&amp;Y;</a:t>
            </a:r>
            <a:endParaRPr sz="2000">
              <a:latin typeface="Calibri"/>
              <a:cs typeface="Calibri"/>
            </a:endParaRPr>
          </a:p>
          <a:p>
            <a:pPr marL="927100" marR="4907280">
              <a:lnSpc>
                <a:spcPct val="131500"/>
              </a:lnSpc>
              <a:spcBef>
                <a:spcPts val="15"/>
              </a:spcBef>
            </a:pPr>
            <a:r>
              <a:rPr dirty="0" sz="2000" spc="-10">
                <a:latin typeface="Calibri"/>
                <a:cs typeface="Calibri"/>
              </a:rPr>
              <a:t>Z:=ADD_TWO_NOS3(X,Y); </a:t>
            </a:r>
            <a:r>
              <a:rPr dirty="0" sz="2000" spc="-25">
                <a:latin typeface="Calibri"/>
                <a:cs typeface="Calibri"/>
              </a:rPr>
              <a:t>DBMS_OUTPUT.PUT_LINE('VALUE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Z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4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'||Z);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2000" spc="-50">
                <a:latin typeface="Calibri"/>
                <a:cs typeface="Calibri"/>
              </a:rPr>
              <a:t>/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-86741"/>
            <a:ext cx="11033125" cy="1300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015"/>
              </a:lnSpc>
              <a:spcBef>
                <a:spcPts val="100"/>
              </a:spcBef>
            </a:pPr>
            <a:r>
              <a:rPr dirty="0" sz="4400"/>
              <a:t>Write</a:t>
            </a:r>
            <a:r>
              <a:rPr dirty="0" sz="4400" spc="-100"/>
              <a:t> </a:t>
            </a:r>
            <a:r>
              <a:rPr dirty="0" sz="4400"/>
              <a:t>a</a:t>
            </a:r>
            <a:r>
              <a:rPr dirty="0" sz="4400" spc="-95"/>
              <a:t> </a:t>
            </a:r>
            <a:r>
              <a:rPr dirty="0" sz="4400"/>
              <a:t>PL/SQL</a:t>
            </a:r>
            <a:r>
              <a:rPr dirty="0" sz="4400" spc="-114"/>
              <a:t> </a:t>
            </a:r>
            <a:r>
              <a:rPr dirty="0" sz="4400"/>
              <a:t>function</a:t>
            </a:r>
            <a:r>
              <a:rPr dirty="0" sz="4400" spc="-95"/>
              <a:t> </a:t>
            </a:r>
            <a:r>
              <a:rPr dirty="0" sz="4400"/>
              <a:t>which</a:t>
            </a:r>
            <a:r>
              <a:rPr dirty="0" sz="4400" spc="-95"/>
              <a:t> </a:t>
            </a:r>
            <a:r>
              <a:rPr dirty="0" sz="4400" spc="-20"/>
              <a:t>will</a:t>
            </a:r>
            <a:endParaRPr sz="4400"/>
          </a:p>
          <a:p>
            <a:pPr marL="12700">
              <a:lnSpc>
                <a:spcPts val="5015"/>
              </a:lnSpc>
            </a:pPr>
            <a:r>
              <a:rPr dirty="0" sz="4400"/>
              <a:t>compute</a:t>
            </a:r>
            <a:r>
              <a:rPr dirty="0" sz="4400" spc="-55"/>
              <a:t> </a:t>
            </a:r>
            <a:r>
              <a:rPr dirty="0" sz="4400"/>
              <a:t>and</a:t>
            </a:r>
            <a:r>
              <a:rPr dirty="0" sz="4400" spc="-55"/>
              <a:t> </a:t>
            </a:r>
            <a:r>
              <a:rPr dirty="0" sz="4400"/>
              <a:t>return</a:t>
            </a:r>
            <a:r>
              <a:rPr dirty="0" sz="4400" spc="-75"/>
              <a:t> </a:t>
            </a:r>
            <a:r>
              <a:rPr dirty="0" sz="4400"/>
              <a:t>the</a:t>
            </a:r>
            <a:r>
              <a:rPr dirty="0" sz="4400" spc="-55"/>
              <a:t> </a:t>
            </a:r>
            <a:r>
              <a:rPr dirty="0" sz="4400"/>
              <a:t>maximum</a:t>
            </a:r>
            <a:r>
              <a:rPr dirty="0" sz="4400" spc="-70"/>
              <a:t> </a:t>
            </a:r>
            <a:r>
              <a:rPr dirty="0" sz="4400"/>
              <a:t>of</a:t>
            </a:r>
            <a:r>
              <a:rPr dirty="0" sz="4400" spc="-55"/>
              <a:t> </a:t>
            </a:r>
            <a:r>
              <a:rPr dirty="0" sz="4400"/>
              <a:t>two</a:t>
            </a:r>
            <a:r>
              <a:rPr dirty="0" sz="4400" spc="-60"/>
              <a:t> </a:t>
            </a:r>
            <a:r>
              <a:rPr dirty="0" sz="4400" spc="-10"/>
              <a:t>values: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64540" y="1186027"/>
            <a:ext cx="9034780" cy="827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1500"/>
              </a:lnSpc>
              <a:spcBef>
                <a:spcPts val="100"/>
              </a:spcBef>
              <a:tabLst>
                <a:tab pos="7976234" algn="l"/>
              </a:tabLst>
            </a:pPr>
            <a:r>
              <a:rPr dirty="0" sz="2000">
                <a:latin typeface="Calibri"/>
                <a:cs typeface="Calibri"/>
              </a:rPr>
              <a:t>Create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FUNCTION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findMax(x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number,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number)</a:t>
            </a:r>
            <a:r>
              <a:rPr dirty="0" sz="2000" spc="3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RETURN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38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</a:t>
            </a:r>
            <a:r>
              <a:rPr dirty="0" sz="2000">
                <a:latin typeface="Calibri"/>
                <a:cs typeface="Calibri"/>
              </a:rPr>
              <a:t>	z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number; BEGIN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989556"/>
            <a:ext cx="1633855" cy="2432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2880" marR="109855">
              <a:lnSpc>
                <a:spcPct val="1315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x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&gt;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</a:t>
            </a:r>
            <a:r>
              <a:rPr dirty="0" sz="2000" spc="-20">
                <a:latin typeface="Calibri"/>
                <a:cs typeface="Calibri"/>
              </a:rPr>
              <a:t> THEN </a:t>
            </a:r>
            <a:r>
              <a:rPr dirty="0" sz="2000">
                <a:latin typeface="Calibri"/>
                <a:cs typeface="Calibri"/>
              </a:rPr>
              <a:t>END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IF; </a:t>
            </a:r>
            <a:r>
              <a:rPr dirty="0" sz="2000">
                <a:latin typeface="Calibri"/>
                <a:cs typeface="Calibri"/>
              </a:rPr>
              <a:t>RETURN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z;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31500"/>
              </a:lnSpc>
              <a:spcBef>
                <a:spcPts val="5"/>
              </a:spcBef>
            </a:pPr>
            <a:r>
              <a:rPr dirty="0" sz="2000">
                <a:latin typeface="Calibri"/>
                <a:cs typeface="Calibri"/>
              </a:rPr>
              <a:t>Calling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function DECLARE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96057" y="2084958"/>
            <a:ext cx="19069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56995" algn="l"/>
              </a:tabLst>
            </a:pPr>
            <a:r>
              <a:rPr dirty="0" sz="2000">
                <a:latin typeface="Calibri"/>
                <a:cs typeface="Calibri"/>
              </a:rPr>
              <a:t>z:=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x;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ELSE</a:t>
            </a:r>
            <a:r>
              <a:rPr dirty="0" sz="2000">
                <a:latin typeface="Calibri"/>
                <a:cs typeface="Calibri"/>
              </a:rPr>
              <a:t>	z:=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y;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4397730"/>
            <a:ext cx="2513965" cy="1228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0180">
              <a:lnSpc>
                <a:spcPct val="131500"/>
              </a:lnSpc>
              <a:spcBef>
                <a:spcPts val="100"/>
              </a:spcBef>
              <a:tabLst>
                <a:tab pos="1422400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number;</a:t>
            </a:r>
            <a:r>
              <a:rPr dirty="0" sz="2000">
                <a:latin typeface="Calibri"/>
                <a:cs typeface="Calibri"/>
              </a:rPr>
              <a:t>	b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number; BEGIN</a:t>
            </a:r>
            <a:endParaRPr sz="2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755"/>
              </a:spcBef>
              <a:tabLst>
                <a:tab pos="1151255" algn="l"/>
              </a:tabLst>
            </a:pPr>
            <a:r>
              <a:rPr dirty="0" sz="2000" spc="-10">
                <a:latin typeface="Calibri"/>
                <a:cs typeface="Calibri"/>
              </a:rPr>
              <a:t>a:=&amp;a;</a:t>
            </a:r>
            <a:r>
              <a:rPr dirty="0" sz="2000">
                <a:latin typeface="Calibri"/>
                <a:cs typeface="Calibri"/>
              </a:rPr>
              <a:t>	b:=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&amp;b;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82466" y="4493133"/>
            <a:ext cx="10782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c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number;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540" y="5602020"/>
            <a:ext cx="5398770" cy="122809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855"/>
              </a:spcBef>
            </a:pPr>
            <a:r>
              <a:rPr dirty="0" sz="2000">
                <a:latin typeface="Calibri"/>
                <a:cs typeface="Calibri"/>
              </a:rPr>
              <a:t>c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:=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findMax(a,</a:t>
            </a:r>
            <a:r>
              <a:rPr dirty="0" sz="2000" spc="-25">
                <a:latin typeface="Calibri"/>
                <a:cs typeface="Calibri"/>
              </a:rPr>
              <a:t> b);</a:t>
            </a:r>
            <a:endParaRPr sz="2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755"/>
              </a:spcBef>
            </a:pPr>
            <a:r>
              <a:rPr dirty="0" sz="2000" spc="-10">
                <a:latin typeface="Calibri"/>
                <a:cs typeface="Calibri"/>
              </a:rPr>
              <a:t>dbms_output.put_line('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Maximum of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(a,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b):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||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c);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9" name="object 9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54550" cy="6858000"/>
          </a:xfrm>
          <a:custGeom>
            <a:avLst/>
            <a:gdLst/>
            <a:ahLst/>
            <a:cxnLst/>
            <a:rect l="l" t="t" r="r" b="b"/>
            <a:pathLst>
              <a:path w="4654550" h="6858000">
                <a:moveTo>
                  <a:pt x="4654296" y="0"/>
                </a:moveTo>
                <a:lnTo>
                  <a:pt x="0" y="0"/>
                </a:lnTo>
                <a:lnTo>
                  <a:pt x="0" y="6858000"/>
                </a:lnTo>
                <a:lnTo>
                  <a:pt x="4654296" y="6858000"/>
                </a:lnTo>
                <a:lnTo>
                  <a:pt x="4654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0739" y="2618054"/>
            <a:ext cx="204914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25">
                <a:solidFill>
                  <a:srgbClr val="FFFFFF"/>
                </a:solidFill>
                <a:latin typeface="Calibri Light"/>
                <a:cs typeface="Calibri Light"/>
              </a:rPr>
              <a:t>Packages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6200394"/>
            <a:ext cx="4297680" cy="0"/>
          </a:xfrm>
          <a:custGeom>
            <a:avLst/>
            <a:gdLst/>
            <a:ahLst/>
            <a:cxnLst/>
            <a:rect l="l" t="t" r="r" b="b"/>
            <a:pathLst>
              <a:path w="4297680" h="0">
                <a:moveTo>
                  <a:pt x="0" y="0"/>
                </a:moveTo>
                <a:lnTo>
                  <a:pt x="429768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5181600" y="202692"/>
            <a:ext cx="6678295" cy="1076325"/>
            <a:chOff x="5181600" y="202692"/>
            <a:chExt cx="6678295" cy="1076325"/>
          </a:xfrm>
        </p:grpSpPr>
        <p:sp>
          <p:nvSpPr>
            <p:cNvPr id="6" name="object 6"/>
            <p:cNvSpPr/>
            <p:nvPr/>
          </p:nvSpPr>
          <p:spPr>
            <a:xfrm>
              <a:off x="5181600" y="202692"/>
              <a:ext cx="6678295" cy="1076325"/>
            </a:xfrm>
            <a:custGeom>
              <a:avLst/>
              <a:gdLst/>
              <a:ahLst/>
              <a:cxnLst/>
              <a:rect l="l" t="t" r="r" b="b"/>
              <a:pathLst>
                <a:path w="6678295" h="1076325">
                  <a:moveTo>
                    <a:pt x="6570599" y="0"/>
                  </a:moveTo>
                  <a:lnTo>
                    <a:pt x="107569" y="0"/>
                  </a:lnTo>
                  <a:lnTo>
                    <a:pt x="65686" y="8449"/>
                  </a:lnTo>
                  <a:lnTo>
                    <a:pt x="31496" y="31496"/>
                  </a:lnTo>
                  <a:lnTo>
                    <a:pt x="8449" y="65686"/>
                  </a:lnTo>
                  <a:lnTo>
                    <a:pt x="0" y="107568"/>
                  </a:lnTo>
                  <a:lnTo>
                    <a:pt x="0" y="968374"/>
                  </a:lnTo>
                  <a:lnTo>
                    <a:pt x="8449" y="1010257"/>
                  </a:lnTo>
                  <a:lnTo>
                    <a:pt x="31496" y="1044447"/>
                  </a:lnTo>
                  <a:lnTo>
                    <a:pt x="65686" y="1067494"/>
                  </a:lnTo>
                  <a:lnTo>
                    <a:pt x="107569" y="1075943"/>
                  </a:lnTo>
                  <a:lnTo>
                    <a:pt x="6570599" y="1075943"/>
                  </a:lnTo>
                  <a:lnTo>
                    <a:pt x="6612481" y="1067494"/>
                  </a:lnTo>
                  <a:lnTo>
                    <a:pt x="6646672" y="1044447"/>
                  </a:lnTo>
                  <a:lnTo>
                    <a:pt x="6669718" y="1010257"/>
                  </a:lnTo>
                  <a:lnTo>
                    <a:pt x="6678168" y="968374"/>
                  </a:lnTo>
                  <a:lnTo>
                    <a:pt x="6678168" y="107568"/>
                  </a:lnTo>
                  <a:lnTo>
                    <a:pt x="6669718" y="65686"/>
                  </a:lnTo>
                  <a:lnTo>
                    <a:pt x="6646672" y="31496"/>
                  </a:lnTo>
                  <a:lnTo>
                    <a:pt x="6612481" y="8449"/>
                  </a:lnTo>
                  <a:lnTo>
                    <a:pt x="657059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8404" y="455676"/>
              <a:ext cx="243712" cy="2438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508497" y="445769"/>
              <a:ext cx="589915" cy="589915"/>
            </a:xfrm>
            <a:custGeom>
              <a:avLst/>
              <a:gdLst/>
              <a:ahLst/>
              <a:cxnLst/>
              <a:rect l="l" t="t" r="r" b="b"/>
              <a:pathLst>
                <a:path w="589914" h="589915">
                  <a:moveTo>
                    <a:pt x="0" y="0"/>
                  </a:moveTo>
                  <a:lnTo>
                    <a:pt x="589788" y="0"/>
                  </a:lnTo>
                </a:path>
                <a:path w="589914" h="589915">
                  <a:moveTo>
                    <a:pt x="0" y="0"/>
                  </a:moveTo>
                  <a:lnTo>
                    <a:pt x="0" y="589788"/>
                  </a:lnTo>
                </a:path>
                <a:path w="589914" h="589915">
                  <a:moveTo>
                    <a:pt x="0" y="589788"/>
                  </a:moveTo>
                  <a:lnTo>
                    <a:pt x="589788" y="589788"/>
                  </a:lnTo>
                </a:path>
                <a:path w="589914" h="589915">
                  <a:moveTo>
                    <a:pt x="589788" y="589788"/>
                  </a:moveTo>
                  <a:lnTo>
                    <a:pt x="58978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6527418" y="289052"/>
            <a:ext cx="5020310" cy="845185"/>
          </a:xfrm>
          <a:prstGeom prst="rect"/>
        </p:spPr>
        <p:txBody>
          <a:bodyPr wrap="square" lIns="0" tIns="412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325"/>
              </a:spcBef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Oracle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holds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objects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Calibri"/>
                <a:cs typeface="Calibri"/>
              </a:rPr>
              <a:t>like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procedures,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functions,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variables,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constants,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cursors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exceptions.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81600" y="1548383"/>
            <a:ext cx="6678295" cy="1076325"/>
            <a:chOff x="5181600" y="1548383"/>
            <a:chExt cx="6678295" cy="1076325"/>
          </a:xfrm>
        </p:grpSpPr>
        <p:sp>
          <p:nvSpPr>
            <p:cNvPr id="11" name="object 11"/>
            <p:cNvSpPr/>
            <p:nvPr/>
          </p:nvSpPr>
          <p:spPr>
            <a:xfrm>
              <a:off x="5181600" y="1548383"/>
              <a:ext cx="6678295" cy="1076325"/>
            </a:xfrm>
            <a:custGeom>
              <a:avLst/>
              <a:gdLst/>
              <a:ahLst/>
              <a:cxnLst/>
              <a:rect l="l" t="t" r="r" b="b"/>
              <a:pathLst>
                <a:path w="6678295" h="1076325">
                  <a:moveTo>
                    <a:pt x="6570599" y="0"/>
                  </a:moveTo>
                  <a:lnTo>
                    <a:pt x="107569" y="0"/>
                  </a:lnTo>
                  <a:lnTo>
                    <a:pt x="65686" y="8449"/>
                  </a:lnTo>
                  <a:lnTo>
                    <a:pt x="31496" y="31495"/>
                  </a:lnTo>
                  <a:lnTo>
                    <a:pt x="8449" y="65686"/>
                  </a:lnTo>
                  <a:lnTo>
                    <a:pt x="0" y="107568"/>
                  </a:lnTo>
                  <a:lnTo>
                    <a:pt x="0" y="968375"/>
                  </a:lnTo>
                  <a:lnTo>
                    <a:pt x="8449" y="1010257"/>
                  </a:lnTo>
                  <a:lnTo>
                    <a:pt x="31496" y="1044448"/>
                  </a:lnTo>
                  <a:lnTo>
                    <a:pt x="65686" y="1067494"/>
                  </a:lnTo>
                  <a:lnTo>
                    <a:pt x="107569" y="1075943"/>
                  </a:lnTo>
                  <a:lnTo>
                    <a:pt x="6570599" y="1075943"/>
                  </a:lnTo>
                  <a:lnTo>
                    <a:pt x="6612481" y="1067494"/>
                  </a:lnTo>
                  <a:lnTo>
                    <a:pt x="6646672" y="1044448"/>
                  </a:lnTo>
                  <a:lnTo>
                    <a:pt x="6669718" y="1010257"/>
                  </a:lnTo>
                  <a:lnTo>
                    <a:pt x="6678168" y="968375"/>
                  </a:lnTo>
                  <a:lnTo>
                    <a:pt x="6678168" y="107568"/>
                  </a:lnTo>
                  <a:lnTo>
                    <a:pt x="6669718" y="65686"/>
                  </a:lnTo>
                  <a:lnTo>
                    <a:pt x="6646672" y="31495"/>
                  </a:lnTo>
                  <a:lnTo>
                    <a:pt x="6612481" y="8449"/>
                  </a:lnTo>
                  <a:lnTo>
                    <a:pt x="6570599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8404" y="1801367"/>
              <a:ext cx="243712" cy="2438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508497" y="1791461"/>
              <a:ext cx="589915" cy="589915"/>
            </a:xfrm>
            <a:custGeom>
              <a:avLst/>
              <a:gdLst/>
              <a:ahLst/>
              <a:cxnLst/>
              <a:rect l="l" t="t" r="r" b="b"/>
              <a:pathLst>
                <a:path w="589914" h="589914">
                  <a:moveTo>
                    <a:pt x="0" y="0"/>
                  </a:moveTo>
                  <a:lnTo>
                    <a:pt x="589788" y="0"/>
                  </a:lnTo>
                </a:path>
                <a:path w="589914" h="589914">
                  <a:moveTo>
                    <a:pt x="0" y="0"/>
                  </a:moveTo>
                  <a:lnTo>
                    <a:pt x="0" y="589788"/>
                  </a:lnTo>
                </a:path>
                <a:path w="589914" h="589914">
                  <a:moveTo>
                    <a:pt x="0" y="589788"/>
                  </a:moveTo>
                  <a:lnTo>
                    <a:pt x="589788" y="589788"/>
                  </a:lnTo>
                </a:path>
                <a:path w="589914" h="589914">
                  <a:moveTo>
                    <a:pt x="589788" y="589788"/>
                  </a:moveTo>
                  <a:lnTo>
                    <a:pt x="58978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527418" y="1767967"/>
            <a:ext cx="5114290" cy="57975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320"/>
              </a:spcBef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creating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generic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encapsulated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reusable </a:t>
            </a:r>
            <a:r>
              <a:rPr dirty="0" sz="1900" spc="-2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81600" y="2894076"/>
            <a:ext cx="6678295" cy="1077595"/>
            <a:chOff x="5181600" y="2894076"/>
            <a:chExt cx="6678295" cy="1077595"/>
          </a:xfrm>
        </p:grpSpPr>
        <p:sp>
          <p:nvSpPr>
            <p:cNvPr id="16" name="object 16"/>
            <p:cNvSpPr/>
            <p:nvPr/>
          </p:nvSpPr>
          <p:spPr>
            <a:xfrm>
              <a:off x="5181600" y="2894076"/>
              <a:ext cx="6678295" cy="1077595"/>
            </a:xfrm>
            <a:custGeom>
              <a:avLst/>
              <a:gdLst/>
              <a:ahLst/>
              <a:cxnLst/>
              <a:rect l="l" t="t" r="r" b="b"/>
              <a:pathLst>
                <a:path w="6678295" h="1077595">
                  <a:moveTo>
                    <a:pt x="6570472" y="0"/>
                  </a:moveTo>
                  <a:lnTo>
                    <a:pt x="107696" y="0"/>
                  </a:lnTo>
                  <a:lnTo>
                    <a:pt x="65793" y="8469"/>
                  </a:lnTo>
                  <a:lnTo>
                    <a:pt x="31559" y="31559"/>
                  </a:lnTo>
                  <a:lnTo>
                    <a:pt x="8469" y="65793"/>
                  </a:lnTo>
                  <a:lnTo>
                    <a:pt x="0" y="107696"/>
                  </a:lnTo>
                  <a:lnTo>
                    <a:pt x="0" y="969772"/>
                  </a:lnTo>
                  <a:lnTo>
                    <a:pt x="8469" y="1011674"/>
                  </a:lnTo>
                  <a:lnTo>
                    <a:pt x="31559" y="1045908"/>
                  </a:lnTo>
                  <a:lnTo>
                    <a:pt x="65793" y="1068998"/>
                  </a:lnTo>
                  <a:lnTo>
                    <a:pt x="107696" y="1077468"/>
                  </a:lnTo>
                  <a:lnTo>
                    <a:pt x="6570472" y="1077468"/>
                  </a:lnTo>
                  <a:lnTo>
                    <a:pt x="6612374" y="1068998"/>
                  </a:lnTo>
                  <a:lnTo>
                    <a:pt x="6646608" y="1045908"/>
                  </a:lnTo>
                  <a:lnTo>
                    <a:pt x="6669698" y="1011674"/>
                  </a:lnTo>
                  <a:lnTo>
                    <a:pt x="6678168" y="969772"/>
                  </a:lnTo>
                  <a:lnTo>
                    <a:pt x="6678168" y="107696"/>
                  </a:lnTo>
                  <a:lnTo>
                    <a:pt x="6669698" y="65793"/>
                  </a:lnTo>
                  <a:lnTo>
                    <a:pt x="6646608" y="31559"/>
                  </a:lnTo>
                  <a:lnTo>
                    <a:pt x="6612374" y="8469"/>
                  </a:lnTo>
                  <a:lnTo>
                    <a:pt x="657047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8404" y="3147060"/>
              <a:ext cx="243712" cy="2438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508497" y="3137154"/>
              <a:ext cx="589915" cy="591820"/>
            </a:xfrm>
            <a:custGeom>
              <a:avLst/>
              <a:gdLst/>
              <a:ahLst/>
              <a:cxnLst/>
              <a:rect l="l" t="t" r="r" b="b"/>
              <a:pathLst>
                <a:path w="589914" h="591820">
                  <a:moveTo>
                    <a:pt x="0" y="0"/>
                  </a:moveTo>
                  <a:lnTo>
                    <a:pt x="589788" y="0"/>
                  </a:lnTo>
                </a:path>
                <a:path w="589914" h="591820">
                  <a:moveTo>
                    <a:pt x="0" y="0"/>
                  </a:moveTo>
                  <a:lnTo>
                    <a:pt x="0" y="591312"/>
                  </a:lnTo>
                </a:path>
                <a:path w="589914" h="591820">
                  <a:moveTo>
                    <a:pt x="0" y="591312"/>
                  </a:moveTo>
                  <a:lnTo>
                    <a:pt x="589788" y="591312"/>
                  </a:lnTo>
                </a:path>
                <a:path w="589914" h="591820">
                  <a:moveTo>
                    <a:pt x="589788" y="591312"/>
                  </a:moveTo>
                  <a:lnTo>
                    <a:pt x="58978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527418" y="2981705"/>
            <a:ext cx="4928235" cy="84518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algn="just" marL="12700" marR="5080">
              <a:lnSpc>
                <a:spcPts val="2090"/>
              </a:lnSpc>
              <a:spcBef>
                <a:spcPts val="320"/>
              </a:spcBef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9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package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once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written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debugged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compiled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Oracles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systems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held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Oracle database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81600" y="4239767"/>
            <a:ext cx="6678295" cy="1077595"/>
            <a:chOff x="5181600" y="4239767"/>
            <a:chExt cx="6678295" cy="1077595"/>
          </a:xfrm>
        </p:grpSpPr>
        <p:sp>
          <p:nvSpPr>
            <p:cNvPr id="21" name="object 21"/>
            <p:cNvSpPr/>
            <p:nvPr/>
          </p:nvSpPr>
          <p:spPr>
            <a:xfrm>
              <a:off x="5181600" y="4239767"/>
              <a:ext cx="6678295" cy="1077595"/>
            </a:xfrm>
            <a:custGeom>
              <a:avLst/>
              <a:gdLst/>
              <a:ahLst/>
              <a:cxnLst/>
              <a:rect l="l" t="t" r="r" b="b"/>
              <a:pathLst>
                <a:path w="6678295" h="1077595">
                  <a:moveTo>
                    <a:pt x="6570472" y="0"/>
                  </a:moveTo>
                  <a:lnTo>
                    <a:pt x="107696" y="0"/>
                  </a:lnTo>
                  <a:lnTo>
                    <a:pt x="65793" y="8469"/>
                  </a:lnTo>
                  <a:lnTo>
                    <a:pt x="31559" y="31559"/>
                  </a:lnTo>
                  <a:lnTo>
                    <a:pt x="8469" y="65793"/>
                  </a:lnTo>
                  <a:lnTo>
                    <a:pt x="0" y="107695"/>
                  </a:lnTo>
                  <a:lnTo>
                    <a:pt x="0" y="969771"/>
                  </a:lnTo>
                  <a:lnTo>
                    <a:pt x="8469" y="1011674"/>
                  </a:lnTo>
                  <a:lnTo>
                    <a:pt x="31559" y="1045908"/>
                  </a:lnTo>
                  <a:lnTo>
                    <a:pt x="65793" y="1068998"/>
                  </a:lnTo>
                  <a:lnTo>
                    <a:pt x="107696" y="1077467"/>
                  </a:lnTo>
                  <a:lnTo>
                    <a:pt x="6570472" y="1077467"/>
                  </a:lnTo>
                  <a:lnTo>
                    <a:pt x="6612374" y="1068998"/>
                  </a:lnTo>
                  <a:lnTo>
                    <a:pt x="6646608" y="1045908"/>
                  </a:lnTo>
                  <a:lnTo>
                    <a:pt x="6669698" y="1011674"/>
                  </a:lnTo>
                  <a:lnTo>
                    <a:pt x="6678168" y="969771"/>
                  </a:lnTo>
                  <a:lnTo>
                    <a:pt x="6678168" y="107695"/>
                  </a:lnTo>
                  <a:lnTo>
                    <a:pt x="6669698" y="65793"/>
                  </a:lnTo>
                  <a:lnTo>
                    <a:pt x="6646608" y="31559"/>
                  </a:lnTo>
                  <a:lnTo>
                    <a:pt x="6612374" y="8469"/>
                  </a:lnTo>
                  <a:lnTo>
                    <a:pt x="657047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8404" y="4492751"/>
              <a:ext cx="243712" cy="2438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508497" y="4482845"/>
              <a:ext cx="589915" cy="591820"/>
            </a:xfrm>
            <a:custGeom>
              <a:avLst/>
              <a:gdLst/>
              <a:ahLst/>
              <a:cxnLst/>
              <a:rect l="l" t="t" r="r" b="b"/>
              <a:pathLst>
                <a:path w="589914" h="591820">
                  <a:moveTo>
                    <a:pt x="0" y="0"/>
                  </a:moveTo>
                  <a:lnTo>
                    <a:pt x="589788" y="0"/>
                  </a:lnTo>
                </a:path>
                <a:path w="589914" h="591820">
                  <a:moveTo>
                    <a:pt x="0" y="0"/>
                  </a:moveTo>
                  <a:lnTo>
                    <a:pt x="0" y="591311"/>
                  </a:lnTo>
                </a:path>
                <a:path w="589914" h="591820">
                  <a:moveTo>
                    <a:pt x="0" y="591311"/>
                  </a:moveTo>
                  <a:lnTo>
                    <a:pt x="589788" y="591311"/>
                  </a:lnTo>
                </a:path>
                <a:path w="589914" h="591820">
                  <a:moveTo>
                    <a:pt x="589788" y="591311"/>
                  </a:moveTo>
                  <a:lnTo>
                    <a:pt x="58978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5181600" y="5585459"/>
            <a:ext cx="6678295" cy="1077595"/>
            <a:chOff x="5181600" y="5585459"/>
            <a:chExt cx="6678295" cy="1077595"/>
          </a:xfrm>
        </p:grpSpPr>
        <p:sp>
          <p:nvSpPr>
            <p:cNvPr id="25" name="object 25"/>
            <p:cNvSpPr/>
            <p:nvPr/>
          </p:nvSpPr>
          <p:spPr>
            <a:xfrm>
              <a:off x="5181600" y="5585459"/>
              <a:ext cx="6678295" cy="1077595"/>
            </a:xfrm>
            <a:custGeom>
              <a:avLst/>
              <a:gdLst/>
              <a:ahLst/>
              <a:cxnLst/>
              <a:rect l="l" t="t" r="r" b="b"/>
              <a:pathLst>
                <a:path w="6678295" h="1077595">
                  <a:moveTo>
                    <a:pt x="6570472" y="0"/>
                  </a:moveTo>
                  <a:lnTo>
                    <a:pt x="107696" y="0"/>
                  </a:lnTo>
                  <a:lnTo>
                    <a:pt x="65793" y="8466"/>
                  </a:lnTo>
                  <a:lnTo>
                    <a:pt x="31559" y="31556"/>
                  </a:lnTo>
                  <a:lnTo>
                    <a:pt x="8469" y="65804"/>
                  </a:lnTo>
                  <a:lnTo>
                    <a:pt x="0" y="107746"/>
                  </a:lnTo>
                  <a:lnTo>
                    <a:pt x="0" y="969721"/>
                  </a:lnTo>
                  <a:lnTo>
                    <a:pt x="8469" y="1011663"/>
                  </a:lnTo>
                  <a:lnTo>
                    <a:pt x="31559" y="1045911"/>
                  </a:lnTo>
                  <a:lnTo>
                    <a:pt x="65793" y="1069001"/>
                  </a:lnTo>
                  <a:lnTo>
                    <a:pt x="107696" y="1077467"/>
                  </a:lnTo>
                  <a:lnTo>
                    <a:pt x="6570472" y="1077467"/>
                  </a:lnTo>
                  <a:lnTo>
                    <a:pt x="6612374" y="1069001"/>
                  </a:lnTo>
                  <a:lnTo>
                    <a:pt x="6646608" y="1045911"/>
                  </a:lnTo>
                  <a:lnTo>
                    <a:pt x="6669698" y="1011663"/>
                  </a:lnTo>
                  <a:lnTo>
                    <a:pt x="6678168" y="969721"/>
                  </a:lnTo>
                  <a:lnTo>
                    <a:pt x="6678168" y="107746"/>
                  </a:lnTo>
                  <a:lnTo>
                    <a:pt x="6669698" y="65804"/>
                  </a:lnTo>
                  <a:lnTo>
                    <a:pt x="6646608" y="31556"/>
                  </a:lnTo>
                  <a:lnTo>
                    <a:pt x="6612374" y="8466"/>
                  </a:lnTo>
                  <a:lnTo>
                    <a:pt x="6570472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18404" y="5838443"/>
              <a:ext cx="243712" cy="2438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508497" y="5828537"/>
              <a:ext cx="589915" cy="591820"/>
            </a:xfrm>
            <a:custGeom>
              <a:avLst/>
              <a:gdLst/>
              <a:ahLst/>
              <a:cxnLst/>
              <a:rect l="l" t="t" r="r" b="b"/>
              <a:pathLst>
                <a:path w="589914" h="591820">
                  <a:moveTo>
                    <a:pt x="0" y="0"/>
                  </a:moveTo>
                  <a:lnTo>
                    <a:pt x="589788" y="0"/>
                  </a:lnTo>
                </a:path>
                <a:path w="589914" h="591820">
                  <a:moveTo>
                    <a:pt x="0" y="0"/>
                  </a:moveTo>
                  <a:lnTo>
                    <a:pt x="0" y="591312"/>
                  </a:lnTo>
                </a:path>
                <a:path w="589914" h="591820">
                  <a:moveTo>
                    <a:pt x="0" y="591312"/>
                  </a:moveTo>
                  <a:lnTo>
                    <a:pt x="589788" y="591312"/>
                  </a:lnTo>
                </a:path>
                <a:path w="589914" h="591820">
                  <a:moveTo>
                    <a:pt x="589788" y="591312"/>
                  </a:moveTo>
                  <a:lnTo>
                    <a:pt x="58978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6527418" y="4327905"/>
            <a:ext cx="5113020" cy="219138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325"/>
              </a:spcBef>
            </a:pP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Packages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contain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PL/SQL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blocks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which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been</a:t>
            </a:r>
            <a:r>
              <a:rPr dirty="0" sz="19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written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perform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entirely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their</a:t>
            </a:r>
            <a:r>
              <a:rPr dirty="0" sz="1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Calibri"/>
                <a:cs typeface="Calibri"/>
              </a:rPr>
              <a:t>own.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1900">
              <a:latin typeface="Calibri"/>
              <a:cs typeface="Calibri"/>
            </a:endParaRPr>
          </a:p>
          <a:p>
            <a:pPr algn="just" marL="12700" marR="40005">
              <a:lnSpc>
                <a:spcPts val="2090"/>
              </a:lnSpc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PL/SQL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blocks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subprograms</a:t>
            </a:r>
            <a:r>
              <a:rPr dirty="0" sz="1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1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require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kind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PL/SQL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blocks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1900" spc="-2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59715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509" rIns="0" bIns="0" rtlCol="0" vert="horz">
            <a:spAutoFit/>
          </a:bodyPr>
          <a:lstStyle/>
          <a:p>
            <a:pPr marL="546100">
              <a:lnSpc>
                <a:spcPct val="100000"/>
              </a:lnSpc>
              <a:spcBef>
                <a:spcPts val="95"/>
              </a:spcBef>
            </a:pPr>
            <a:r>
              <a:rPr dirty="0" sz="4000" spc="-20">
                <a:solidFill>
                  <a:srgbClr val="FFFFFF"/>
                </a:solidFill>
              </a:rPr>
              <a:t>Advantages</a:t>
            </a:r>
            <a:r>
              <a:rPr dirty="0" sz="4000" spc="-10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Of</a:t>
            </a:r>
            <a:r>
              <a:rPr dirty="0" sz="4000" spc="-105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Packages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416458" y="2030679"/>
            <a:ext cx="11541760" cy="431990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240029" marR="67945" indent="-227329">
              <a:lnSpc>
                <a:spcPts val="259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spc="-10">
                <a:latin typeface="Calibri"/>
                <a:cs typeface="Calibri"/>
              </a:rPr>
              <a:t>Packages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enable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organization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commercial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efficient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modules.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Each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package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easily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understood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interfaces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packages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simple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clear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well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defined.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10">
                <a:latin typeface="Calibri"/>
                <a:cs typeface="Calibri"/>
              </a:rPr>
              <a:t>Packages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allow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granting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privileges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efficiently.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packages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public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variables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cursors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persists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duration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session.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Therefore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cursors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procedure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environment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share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them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10">
                <a:latin typeface="Calibri"/>
                <a:cs typeface="Calibri"/>
              </a:rPr>
              <a:t>Packages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enable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overloading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procedures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functions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required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spc="-10">
                <a:latin typeface="Calibri"/>
                <a:cs typeface="Calibri"/>
              </a:rPr>
              <a:t>Packages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improve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performance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loading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multiple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objects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memory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once.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Therefore 	subsequent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related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subprograms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package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requires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I/O</a:t>
            </a:r>
            <a:endParaRPr sz="2400">
              <a:latin typeface="Calibri"/>
              <a:cs typeface="Calibri"/>
            </a:endParaRPr>
          </a:p>
          <a:p>
            <a:pPr marL="240029" marR="299720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spc="-10">
                <a:latin typeface="Calibri"/>
                <a:cs typeface="Calibri"/>
              </a:rPr>
              <a:t>Packages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promote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reuse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through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libraries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stored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procedures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function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thereby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reducing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redundant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coding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59715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509" rIns="0" bIns="0" rtlCol="0" vert="horz">
            <a:spAutoFit/>
          </a:bodyPr>
          <a:lstStyle/>
          <a:p>
            <a:pPr marL="546100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solidFill>
                  <a:srgbClr val="FFFFFF"/>
                </a:solidFill>
              </a:rPr>
              <a:t>Components</a:t>
            </a:r>
            <a:r>
              <a:rPr dirty="0" sz="4000" spc="-11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Of</a:t>
            </a:r>
            <a:r>
              <a:rPr dirty="0" sz="4000" spc="-11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Oracle</a:t>
            </a:r>
            <a:r>
              <a:rPr dirty="0" sz="4000" spc="-125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Package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538073" y="1997201"/>
            <a:ext cx="11135360" cy="4333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27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package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two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components</a:t>
            </a:r>
            <a:endParaRPr sz="2800">
              <a:latin typeface="Calibri"/>
              <a:cs typeface="Calibri"/>
            </a:endParaRPr>
          </a:p>
          <a:p>
            <a:pPr lvl="1" marL="697230" marR="463550" indent="-227329">
              <a:lnSpc>
                <a:spcPct val="80000"/>
              </a:lnSpc>
              <a:spcBef>
                <a:spcPts val="59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800" spc="-10">
                <a:latin typeface="Calibri"/>
                <a:cs typeface="Calibri"/>
              </a:rPr>
              <a:t>Package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specification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declares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types,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memory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variables, 	constants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etc.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package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specification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contains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name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package,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names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types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any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arguments.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declaration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local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database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global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package</a:t>
            </a:r>
            <a:endParaRPr sz="2800">
              <a:latin typeface="Calibri"/>
              <a:cs typeface="Calibri"/>
            </a:endParaRPr>
          </a:p>
          <a:p>
            <a:pPr lvl="1" marL="697230" marR="5080" indent="-227329">
              <a:lnSpc>
                <a:spcPct val="80000"/>
              </a:lnSpc>
              <a:spcBef>
                <a:spcPts val="49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800" spc="-10">
                <a:latin typeface="Calibri"/>
                <a:cs typeface="Calibri"/>
              </a:rPr>
              <a:t>Package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body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fully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defines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cursors,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functions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procedures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thus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implementing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specification.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body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package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contains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definition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public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objects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declared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specification.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body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also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contain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other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object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declarations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private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package.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objects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declared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privately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package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body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not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accessible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other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objects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outside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package.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package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body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contain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subprogram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bodies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228981"/>
            <a:ext cx="886968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45"/>
              <a:t>Syntax-</a:t>
            </a:r>
            <a:r>
              <a:rPr dirty="0" sz="4400" spc="-10"/>
              <a:t>Creating</a:t>
            </a:r>
            <a:r>
              <a:rPr dirty="0" sz="4400" spc="-145"/>
              <a:t> </a:t>
            </a:r>
            <a:r>
              <a:rPr dirty="0" sz="4400"/>
              <a:t>A</a:t>
            </a:r>
            <a:r>
              <a:rPr dirty="0" sz="4400" spc="-114"/>
              <a:t> </a:t>
            </a:r>
            <a:r>
              <a:rPr dirty="0" sz="4400"/>
              <a:t>Package</a:t>
            </a:r>
            <a:r>
              <a:rPr dirty="0" sz="4400" spc="-110"/>
              <a:t> </a:t>
            </a:r>
            <a:r>
              <a:rPr dirty="0" sz="4400" spc="-10"/>
              <a:t>Specification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54176" y="1079118"/>
            <a:ext cx="8812530" cy="4541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latin typeface="Calibri"/>
                <a:cs typeface="Calibri"/>
              </a:rPr>
              <a:t>Package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Specification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2800">
              <a:latin typeface="Calibri"/>
              <a:cs typeface="Calibri"/>
            </a:endParaRPr>
          </a:p>
          <a:p>
            <a:pPr marL="926465" marR="628015" indent="-914400">
              <a:lnSpc>
                <a:spcPct val="119800"/>
              </a:lnSpc>
            </a:pPr>
            <a:r>
              <a:rPr dirty="0" sz="2800" spc="-35">
                <a:latin typeface="Calibri"/>
                <a:cs typeface="Calibri"/>
              </a:rPr>
              <a:t>CREATE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REPLACE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35">
                <a:latin typeface="Calibri"/>
                <a:cs typeface="Calibri"/>
              </a:rPr>
              <a:t>PACKAGE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&lt;package_name&gt;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IS/AS </a:t>
            </a:r>
            <a:r>
              <a:rPr dirty="0" sz="2800">
                <a:latin typeface="Calibri"/>
                <a:cs typeface="Calibri"/>
              </a:rPr>
              <a:t>FUNCTION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&lt;function_name&gt;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(&lt;list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arguments&gt;) </a:t>
            </a:r>
            <a:r>
              <a:rPr dirty="0" sz="2800">
                <a:latin typeface="Calibri"/>
                <a:cs typeface="Calibri"/>
              </a:rPr>
              <a:t>RETURN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&lt;datatype&gt;;</a:t>
            </a:r>
            <a:endParaRPr sz="28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665"/>
              </a:spcBef>
            </a:pPr>
            <a:r>
              <a:rPr dirty="0" sz="2800" spc="-10">
                <a:latin typeface="Calibri"/>
                <a:cs typeface="Calibri"/>
              </a:rPr>
              <a:t>PROCEDURE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&lt;procedure_name&gt;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(&lt;list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arguments&gt;);</a:t>
            </a:r>
            <a:endParaRPr sz="28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660"/>
              </a:spcBef>
            </a:pPr>
            <a:r>
              <a:rPr dirty="0" sz="2800" spc="-20">
                <a:latin typeface="Calibri"/>
                <a:cs typeface="Calibri"/>
              </a:rPr>
              <a:t>-</a:t>
            </a:r>
            <a:r>
              <a:rPr dirty="0" sz="2800">
                <a:latin typeface="Calibri"/>
                <a:cs typeface="Calibri"/>
              </a:rPr>
              <a:t>-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code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statements</a:t>
            </a:r>
            <a:endParaRPr sz="2800">
              <a:latin typeface="Calibri"/>
              <a:cs typeface="Calibri"/>
            </a:endParaRPr>
          </a:p>
          <a:p>
            <a:pPr marL="12700" marR="5470525">
              <a:lnSpc>
                <a:spcPct val="119700"/>
              </a:lnSpc>
              <a:spcBef>
                <a:spcPts val="10"/>
              </a:spcBef>
            </a:pPr>
            <a:r>
              <a:rPr dirty="0" sz="2800">
                <a:latin typeface="Calibri"/>
                <a:cs typeface="Calibri"/>
              </a:rPr>
              <a:t>END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&lt;package_name&gt;; Package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Body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72897"/>
            <a:ext cx="714883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45"/>
              <a:t>Syntax-</a:t>
            </a:r>
            <a:r>
              <a:rPr dirty="0" sz="4400" spc="-10"/>
              <a:t>Creating</a:t>
            </a:r>
            <a:r>
              <a:rPr dirty="0" sz="4400" spc="-145"/>
              <a:t> </a:t>
            </a:r>
            <a:r>
              <a:rPr dirty="0" sz="4400"/>
              <a:t>A</a:t>
            </a:r>
            <a:r>
              <a:rPr dirty="0" sz="4400" spc="-114"/>
              <a:t> </a:t>
            </a:r>
            <a:r>
              <a:rPr dirty="0" sz="4400"/>
              <a:t>Package</a:t>
            </a:r>
            <a:r>
              <a:rPr dirty="0" sz="4400" spc="-110"/>
              <a:t> </a:t>
            </a:r>
            <a:r>
              <a:rPr dirty="0" sz="4400" spc="-20"/>
              <a:t>Body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879449"/>
            <a:ext cx="7880350" cy="581152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latin typeface="Calibri"/>
                <a:cs typeface="Calibri"/>
              </a:rPr>
              <a:t>CREATE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REPLACE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PACKAGE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BODY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&lt;package_name&gt;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IS/AS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2000">
                <a:latin typeface="Calibri"/>
                <a:cs typeface="Calibri"/>
              </a:rPr>
              <a:t>FUNCTION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&lt;function_name&gt;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(&lt;list 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arguments&gt;)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RETURN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&lt;datatype&gt;IS/AS</a:t>
            </a:r>
            <a:endParaRPr sz="2000">
              <a:latin typeface="Calibri"/>
              <a:cs typeface="Calibri"/>
            </a:endParaRPr>
          </a:p>
          <a:p>
            <a:pPr marL="927100" marR="4085590">
              <a:lnSpc>
                <a:spcPct val="111600"/>
              </a:lnSpc>
              <a:spcBef>
                <a:spcPts val="10"/>
              </a:spcBef>
            </a:pPr>
            <a:r>
              <a:rPr dirty="0" sz="2000" spc="-10">
                <a:latin typeface="Calibri"/>
                <a:cs typeface="Calibri"/>
              </a:rPr>
              <a:t>-</a:t>
            </a:r>
            <a:r>
              <a:rPr dirty="0" sz="2000">
                <a:latin typeface="Calibri"/>
                <a:cs typeface="Calibri"/>
              </a:rPr>
              <a:t>-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local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variable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declaration; BEGIN</a:t>
            </a:r>
            <a:endParaRPr sz="2000">
              <a:latin typeface="Calibri"/>
              <a:cs typeface="Calibri"/>
            </a:endParaRPr>
          </a:p>
          <a:p>
            <a:pPr marL="927100" marR="3367404" indent="914400">
              <a:lnSpc>
                <a:spcPts val="2690"/>
              </a:lnSpc>
              <a:spcBef>
                <a:spcPts val="125"/>
              </a:spcBef>
            </a:pPr>
            <a:r>
              <a:rPr dirty="0" sz="2000" spc="-10">
                <a:latin typeface="Calibri"/>
                <a:cs typeface="Calibri"/>
              </a:rPr>
              <a:t>-</a:t>
            </a:r>
            <a:r>
              <a:rPr dirty="0" sz="2000">
                <a:latin typeface="Calibri"/>
                <a:cs typeface="Calibri"/>
              </a:rPr>
              <a:t>-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executable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statements; EXCEPTION</a:t>
            </a:r>
            <a:endParaRPr sz="20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135"/>
              </a:spcBef>
            </a:pPr>
            <a:r>
              <a:rPr dirty="0" sz="2000" spc="-10">
                <a:latin typeface="Calibri"/>
                <a:cs typeface="Calibri"/>
              </a:rPr>
              <a:t>-</a:t>
            </a:r>
            <a:r>
              <a:rPr dirty="0" sz="2000">
                <a:latin typeface="Calibri"/>
                <a:cs typeface="Calibri"/>
              </a:rPr>
              <a:t>-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error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handling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statements;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2000">
                <a:latin typeface="Calibri"/>
                <a:cs typeface="Calibri"/>
              </a:rPr>
              <a:t>END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&lt;function_name&gt;;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PROCEDURE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&lt;procedure_name&gt;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(&lt;list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arguments&gt;)IS/AS</a:t>
            </a:r>
            <a:endParaRPr sz="2000">
              <a:latin typeface="Calibri"/>
              <a:cs typeface="Calibri"/>
            </a:endParaRPr>
          </a:p>
          <a:p>
            <a:pPr marL="927100" marR="4085590">
              <a:lnSpc>
                <a:spcPts val="2690"/>
              </a:lnSpc>
              <a:spcBef>
                <a:spcPts val="125"/>
              </a:spcBef>
            </a:pPr>
            <a:r>
              <a:rPr dirty="0" sz="2000" spc="-10">
                <a:latin typeface="Calibri"/>
                <a:cs typeface="Calibri"/>
              </a:rPr>
              <a:t>-</a:t>
            </a:r>
            <a:r>
              <a:rPr dirty="0" sz="2000">
                <a:latin typeface="Calibri"/>
                <a:cs typeface="Calibri"/>
              </a:rPr>
              <a:t>-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local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variable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declaration; BEGIN</a:t>
            </a:r>
            <a:endParaRPr sz="20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135"/>
              </a:spcBef>
            </a:pPr>
            <a:r>
              <a:rPr dirty="0" sz="2000" spc="-10">
                <a:latin typeface="Calibri"/>
                <a:cs typeface="Calibri"/>
              </a:rPr>
              <a:t>-</a:t>
            </a:r>
            <a:r>
              <a:rPr dirty="0" sz="2000">
                <a:latin typeface="Calibri"/>
                <a:cs typeface="Calibri"/>
              </a:rPr>
              <a:t>- </a:t>
            </a:r>
            <a:r>
              <a:rPr dirty="0" sz="2000" spc="-20">
                <a:latin typeface="Calibri"/>
                <a:cs typeface="Calibri"/>
              </a:rPr>
              <a:t>executable</a:t>
            </a:r>
            <a:r>
              <a:rPr dirty="0" sz="2000" spc="-10">
                <a:latin typeface="Calibri"/>
                <a:cs typeface="Calibri"/>
              </a:rPr>
              <a:t> statements;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280"/>
              </a:spcBef>
            </a:pPr>
            <a:r>
              <a:rPr dirty="0" sz="2000" spc="-10">
                <a:latin typeface="Calibri"/>
                <a:cs typeface="Calibri"/>
              </a:rPr>
              <a:t>EXCEPTION</a:t>
            </a:r>
            <a:endParaRPr sz="2000">
              <a:latin typeface="Calibri"/>
              <a:cs typeface="Calibri"/>
            </a:endParaRPr>
          </a:p>
          <a:p>
            <a:pPr marL="927100" marR="3069590" indent="914400">
              <a:lnSpc>
                <a:spcPct val="111500"/>
              </a:lnSpc>
              <a:spcBef>
                <a:spcPts val="10"/>
              </a:spcBef>
            </a:pPr>
            <a:r>
              <a:rPr dirty="0" sz="2000" spc="-10">
                <a:latin typeface="Calibri"/>
                <a:cs typeface="Calibri"/>
              </a:rPr>
              <a:t>-</a:t>
            </a:r>
            <a:r>
              <a:rPr dirty="0" sz="2000">
                <a:latin typeface="Calibri"/>
                <a:cs typeface="Calibri"/>
              </a:rPr>
              <a:t>-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error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handling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statements; </a:t>
            </a:r>
            <a:r>
              <a:rPr dirty="0" sz="2000">
                <a:latin typeface="Calibri"/>
                <a:cs typeface="Calibri"/>
              </a:rPr>
              <a:t>END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&lt;procedure_name&gt;;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2000">
                <a:latin typeface="Calibri"/>
                <a:cs typeface="Calibri"/>
              </a:rPr>
              <a:t>END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&lt;package_name&gt;;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7445" y="143078"/>
            <a:ext cx="712978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Invoking</a:t>
            </a:r>
            <a:r>
              <a:rPr dirty="0" sz="4400" spc="-150"/>
              <a:t> </a:t>
            </a:r>
            <a:r>
              <a:rPr dirty="0" sz="4400" spc="-10"/>
              <a:t>Packages</a:t>
            </a:r>
            <a:r>
              <a:rPr dirty="0" sz="4400" spc="-150"/>
              <a:t> </a:t>
            </a:r>
            <a:r>
              <a:rPr dirty="0" sz="4400" spc="-10"/>
              <a:t>SubPrograms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47445" y="825753"/>
            <a:ext cx="10640060" cy="5702935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241300" marR="309880" indent="-228600">
              <a:lnSpc>
                <a:spcPct val="7000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114">
                <a:latin typeface="Calibri"/>
                <a:cs typeface="Calibri"/>
              </a:rPr>
              <a:t>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reference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packages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subprograms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objects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notation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given below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10">
                <a:latin typeface="Calibri"/>
                <a:cs typeface="Calibri"/>
              </a:rPr>
              <a:t>PackageName.Type_Name;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10">
                <a:latin typeface="Calibri"/>
                <a:cs typeface="Calibri"/>
              </a:rPr>
              <a:t>PackageName.Object_Name;</a:t>
            </a:r>
            <a:endParaRPr sz="2600">
              <a:latin typeface="Calibri"/>
              <a:cs typeface="Calibri"/>
            </a:endParaRPr>
          </a:p>
          <a:p>
            <a:pPr marL="12700" marR="5725160" indent="228600">
              <a:lnSpc>
                <a:spcPct val="101899"/>
              </a:lnSpc>
              <a:spcBef>
                <a:spcPts val="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10">
                <a:latin typeface="Calibri"/>
                <a:cs typeface="Calibri"/>
              </a:rPr>
              <a:t>PackageName.Subprogram_Name; Where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10">
                <a:latin typeface="Calibri"/>
                <a:cs typeface="Calibri"/>
              </a:rPr>
              <a:t>PackageName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name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declared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package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10">
                <a:latin typeface="Calibri"/>
                <a:cs typeface="Calibri"/>
              </a:rPr>
              <a:t>Type_Name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name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type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defined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such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record</a:t>
            </a:r>
            <a:endParaRPr sz="2600">
              <a:latin typeface="Calibri"/>
              <a:cs typeface="Calibri"/>
            </a:endParaRPr>
          </a:p>
          <a:p>
            <a:pPr marL="241300" marR="237490" indent="-22860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Object_Name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name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constant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variable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declared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 spc="-20">
                <a:latin typeface="Calibri"/>
                <a:cs typeface="Calibri"/>
              </a:rPr>
              <a:t>user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ct val="701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10">
                <a:latin typeface="Calibri"/>
                <a:cs typeface="Calibri"/>
              </a:rPr>
              <a:t>SubProgram_Name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name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procedure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function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contained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package</a:t>
            </a:r>
            <a:r>
              <a:rPr dirty="0" sz="2600" spc="-114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body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2600" spc="-10">
                <a:latin typeface="Calibri"/>
                <a:cs typeface="Calibri"/>
              </a:rPr>
              <a:t>BEGIN</a:t>
            </a:r>
            <a:endParaRPr sz="2600">
              <a:latin typeface="Calibri"/>
              <a:cs typeface="Calibri"/>
            </a:endParaRPr>
          </a:p>
          <a:p>
            <a:pPr marL="12700" marR="1868170" indent="228600">
              <a:lnSpc>
                <a:spcPct val="101899"/>
              </a:lnSpc>
            </a:pPr>
            <a:r>
              <a:rPr dirty="0" sz="2600" spc="-30">
                <a:latin typeface="Calibri"/>
                <a:cs typeface="Calibri"/>
              </a:rPr>
              <a:t>EMPACTIONS.NEWEMPLOYEE(-</a:t>
            </a:r>
            <a:r>
              <a:rPr dirty="0" sz="2600" spc="-25">
                <a:latin typeface="Calibri"/>
                <a:cs typeface="Calibri"/>
              </a:rPr>
              <a:t>--</a:t>
            </a:r>
            <a:r>
              <a:rPr dirty="0" sz="2600" spc="-20">
                <a:latin typeface="Calibri"/>
                <a:cs typeface="Calibri"/>
              </a:rPr>
              <a:t>Values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entered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table); </a:t>
            </a:r>
            <a:r>
              <a:rPr dirty="0" sz="2600" spc="-20">
                <a:latin typeface="Calibri"/>
                <a:cs typeface="Calibri"/>
              </a:rPr>
              <a:t>END;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8460105" cy="1300480"/>
          </a:xfrm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 sz="4400"/>
              <a:t>Example</a:t>
            </a:r>
            <a:r>
              <a:rPr dirty="0" sz="4400" spc="-65"/>
              <a:t> </a:t>
            </a:r>
            <a:r>
              <a:rPr dirty="0" sz="4400"/>
              <a:t>–</a:t>
            </a:r>
            <a:r>
              <a:rPr dirty="0" sz="4400" spc="-60"/>
              <a:t> </a:t>
            </a:r>
            <a:r>
              <a:rPr dirty="0" sz="4400"/>
              <a:t>Area</a:t>
            </a:r>
            <a:r>
              <a:rPr dirty="0" sz="4400" spc="-85"/>
              <a:t> </a:t>
            </a:r>
            <a:r>
              <a:rPr dirty="0" sz="4400"/>
              <a:t>of</a:t>
            </a:r>
            <a:r>
              <a:rPr dirty="0" sz="4400" spc="-50"/>
              <a:t> </a:t>
            </a:r>
            <a:r>
              <a:rPr dirty="0" sz="4400"/>
              <a:t>a</a:t>
            </a:r>
            <a:r>
              <a:rPr dirty="0" sz="4400" spc="-60"/>
              <a:t> </a:t>
            </a:r>
            <a:r>
              <a:rPr dirty="0" sz="4400"/>
              <a:t>Circle</a:t>
            </a:r>
            <a:r>
              <a:rPr dirty="0" sz="4400" spc="-60"/>
              <a:t> </a:t>
            </a:r>
            <a:r>
              <a:rPr dirty="0" sz="4400"/>
              <a:t>with</a:t>
            </a:r>
            <a:r>
              <a:rPr dirty="0" sz="4400" spc="-60"/>
              <a:t> </a:t>
            </a:r>
            <a:r>
              <a:rPr dirty="0" sz="4400" spc="-10"/>
              <a:t>PLSQL Package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07598"/>
            <a:ext cx="7229475" cy="455231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332105" algn="l"/>
              </a:tabLst>
            </a:pPr>
            <a:r>
              <a:rPr dirty="0" sz="3200">
                <a:latin typeface="Calibri"/>
                <a:cs typeface="Calibri"/>
              </a:rPr>
              <a:t>Create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replace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package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area_shapes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as</a:t>
            </a:r>
            <a:endParaRPr sz="3200">
              <a:latin typeface="Calibri"/>
              <a:cs typeface="Calibri"/>
            </a:endParaRPr>
          </a:p>
          <a:p>
            <a:pPr marL="424815" indent="-41211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24815" algn="l"/>
              </a:tabLst>
            </a:pPr>
            <a:r>
              <a:rPr dirty="0" sz="3200">
                <a:latin typeface="Calibri"/>
                <a:cs typeface="Calibri"/>
              </a:rPr>
              <a:t>function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area(radius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number)</a:t>
            </a:r>
            <a:endParaRPr sz="3200">
              <a:latin typeface="Calibri"/>
              <a:cs typeface="Calibri"/>
            </a:endParaRPr>
          </a:p>
          <a:p>
            <a:pPr marL="424815" indent="-41211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24815" algn="l"/>
              </a:tabLst>
            </a:pPr>
            <a:r>
              <a:rPr dirty="0" sz="3200">
                <a:latin typeface="Calibri"/>
                <a:cs typeface="Calibri"/>
              </a:rPr>
              <a:t>return</a:t>
            </a:r>
            <a:r>
              <a:rPr dirty="0" sz="3200" spc="-13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number;</a:t>
            </a:r>
            <a:endParaRPr sz="3200">
              <a:latin typeface="Calibri"/>
              <a:cs typeface="Calibri"/>
            </a:endParaRPr>
          </a:p>
          <a:p>
            <a:pPr marL="424815" indent="-41211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424815" algn="l"/>
              </a:tabLst>
            </a:pPr>
            <a:r>
              <a:rPr dirty="0" sz="3200">
                <a:latin typeface="Calibri"/>
                <a:cs typeface="Calibri"/>
              </a:rPr>
              <a:t>end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area_shapes;</a:t>
            </a:r>
            <a:endParaRPr sz="3200">
              <a:latin typeface="Calibri"/>
              <a:cs typeface="Calibri"/>
            </a:endParaRPr>
          </a:p>
          <a:p>
            <a:pPr marL="610235" indent="-5975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610235" algn="l"/>
              </a:tabLst>
            </a:pPr>
            <a:r>
              <a:rPr dirty="0" sz="3200" spc="-50">
                <a:latin typeface="Calibri"/>
                <a:cs typeface="Calibri"/>
              </a:rPr>
              <a:t>/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0"/>
              </a:spcBef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dirty="0" sz="3200" spc="-10">
                <a:latin typeface="Calibri"/>
                <a:cs typeface="Calibri"/>
              </a:rPr>
              <a:t>Output:</a:t>
            </a:r>
            <a:endParaRPr sz="3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3200" spc="-10">
                <a:latin typeface="Calibri"/>
                <a:cs typeface="Calibri"/>
              </a:rPr>
              <a:t>Package</a:t>
            </a:r>
            <a:r>
              <a:rPr dirty="0" sz="3200" spc="-1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created.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339597"/>
            <a:ext cx="84994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Example</a:t>
            </a:r>
            <a:r>
              <a:rPr dirty="0" sz="3600" spc="-50"/>
              <a:t> </a:t>
            </a:r>
            <a:r>
              <a:rPr dirty="0" sz="3600"/>
              <a:t>–</a:t>
            </a:r>
            <a:r>
              <a:rPr dirty="0" sz="3600" spc="-80"/>
              <a:t> </a:t>
            </a:r>
            <a:r>
              <a:rPr dirty="0" sz="3600"/>
              <a:t>Area</a:t>
            </a:r>
            <a:r>
              <a:rPr dirty="0" sz="3600" spc="-70"/>
              <a:t> </a:t>
            </a:r>
            <a:r>
              <a:rPr dirty="0" sz="3600"/>
              <a:t>of</a:t>
            </a:r>
            <a:r>
              <a:rPr dirty="0" sz="3600" spc="-65"/>
              <a:t> </a:t>
            </a:r>
            <a:r>
              <a:rPr dirty="0" sz="3600"/>
              <a:t>a</a:t>
            </a:r>
            <a:r>
              <a:rPr dirty="0" sz="3600" spc="-70"/>
              <a:t> </a:t>
            </a:r>
            <a:r>
              <a:rPr dirty="0" sz="3600"/>
              <a:t>Circle</a:t>
            </a:r>
            <a:r>
              <a:rPr dirty="0" sz="3600" spc="-70"/>
              <a:t> </a:t>
            </a:r>
            <a:r>
              <a:rPr dirty="0" sz="3600"/>
              <a:t>with</a:t>
            </a:r>
            <a:r>
              <a:rPr dirty="0" sz="3600" spc="-65"/>
              <a:t> </a:t>
            </a:r>
            <a:r>
              <a:rPr dirty="0" sz="3600"/>
              <a:t>PLSQL</a:t>
            </a:r>
            <a:r>
              <a:rPr dirty="0" sz="3600" spc="-70"/>
              <a:t> </a:t>
            </a:r>
            <a:r>
              <a:rPr dirty="0" sz="3600" spc="-10"/>
              <a:t>Package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16939" y="1222958"/>
            <a:ext cx="659003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Create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replace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package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body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area_shapes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627377"/>
            <a:ext cx="4526280" cy="40627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2600">
                <a:latin typeface="Calibri"/>
                <a:cs typeface="Calibri"/>
              </a:rPr>
              <a:t>function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area(radius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number)</a:t>
            </a:r>
            <a:endParaRPr sz="2600">
              <a:latin typeface="Calibri"/>
              <a:cs typeface="Calibri"/>
            </a:endParaRPr>
          </a:p>
          <a:p>
            <a:pPr marL="465455" indent="-452755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465455" algn="l"/>
              </a:tabLst>
            </a:pPr>
            <a:r>
              <a:rPr dirty="0" sz="2600">
                <a:latin typeface="Calibri"/>
                <a:cs typeface="Calibri"/>
              </a:rPr>
              <a:t>return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number</a:t>
            </a:r>
            <a:endParaRPr sz="2600">
              <a:latin typeface="Calibri"/>
              <a:cs typeface="Calibri"/>
            </a:endParaRPr>
          </a:p>
          <a:p>
            <a:pPr marL="539750" indent="-527050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539750" algn="l"/>
              </a:tabLst>
            </a:pPr>
            <a:r>
              <a:rPr dirty="0" sz="2600" spc="-25">
                <a:latin typeface="Calibri"/>
                <a:cs typeface="Calibri"/>
              </a:rPr>
              <a:t>is</a:t>
            </a:r>
            <a:endParaRPr sz="2600">
              <a:latin typeface="Calibri"/>
              <a:cs typeface="Calibri"/>
            </a:endParaRPr>
          </a:p>
          <a:p>
            <a:pPr marL="539750" indent="-52705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539750" algn="l"/>
              </a:tabLst>
            </a:pPr>
            <a:r>
              <a:rPr dirty="0" sz="2600">
                <a:latin typeface="Calibri"/>
                <a:cs typeface="Calibri"/>
              </a:rPr>
              <a:t>area1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number;</a:t>
            </a:r>
            <a:endParaRPr sz="2600">
              <a:latin typeface="Calibri"/>
              <a:cs typeface="Calibri"/>
            </a:endParaRPr>
          </a:p>
          <a:p>
            <a:pPr marL="539750" indent="-527050">
              <a:lnSpc>
                <a:spcPct val="100000"/>
              </a:lnSpc>
              <a:spcBef>
                <a:spcPts val="65"/>
              </a:spcBef>
              <a:buFont typeface="Arial MT"/>
              <a:buChar char="•"/>
              <a:tabLst>
                <a:tab pos="539750" algn="l"/>
              </a:tabLst>
            </a:pPr>
            <a:r>
              <a:rPr dirty="0" sz="2600" spc="-10">
                <a:latin typeface="Calibri"/>
                <a:cs typeface="Calibri"/>
              </a:rPr>
              <a:t>begin</a:t>
            </a:r>
            <a:endParaRPr sz="2600">
              <a:latin typeface="Calibri"/>
              <a:cs typeface="Calibri"/>
            </a:endParaRPr>
          </a:p>
          <a:p>
            <a:pPr marL="539750" indent="-527050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539750" algn="l"/>
              </a:tabLst>
            </a:pPr>
            <a:r>
              <a:rPr dirty="0" sz="2600">
                <a:latin typeface="Calibri"/>
                <a:cs typeface="Calibri"/>
              </a:rPr>
              <a:t>area1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:=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3.142*radius*radius;</a:t>
            </a:r>
            <a:endParaRPr sz="2600">
              <a:latin typeface="Calibri"/>
              <a:cs typeface="Calibri"/>
            </a:endParaRPr>
          </a:p>
          <a:p>
            <a:pPr marL="539750" indent="-52705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539750" algn="l"/>
              </a:tabLst>
            </a:pPr>
            <a:r>
              <a:rPr dirty="0" sz="2600">
                <a:latin typeface="Calibri"/>
                <a:cs typeface="Calibri"/>
              </a:rPr>
              <a:t>return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area1;</a:t>
            </a:r>
            <a:endParaRPr sz="2600">
              <a:latin typeface="Calibri"/>
              <a:cs typeface="Calibri"/>
            </a:endParaRPr>
          </a:p>
          <a:p>
            <a:pPr marL="539750" indent="-52705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539750" algn="l"/>
              </a:tabLst>
            </a:pPr>
            <a:r>
              <a:rPr dirty="0" sz="2600" spc="-20">
                <a:latin typeface="Calibri"/>
                <a:cs typeface="Calibri"/>
              </a:rPr>
              <a:t>end;</a:t>
            </a:r>
            <a:endParaRPr sz="2600">
              <a:latin typeface="Calibri"/>
              <a:cs typeface="Calibri"/>
            </a:endParaRPr>
          </a:p>
          <a:p>
            <a:pPr marL="465455" indent="-452755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465455" algn="l"/>
              </a:tabLst>
            </a:pPr>
            <a:r>
              <a:rPr dirty="0" sz="2600">
                <a:latin typeface="Calibri"/>
                <a:cs typeface="Calibri"/>
              </a:rPr>
              <a:t>end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area_shapes;</a:t>
            </a:r>
            <a:endParaRPr sz="2600">
              <a:latin typeface="Calibri"/>
              <a:cs typeface="Calibri"/>
            </a:endParaRPr>
          </a:p>
          <a:p>
            <a:pPr marL="465455" indent="-452755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465455" algn="l"/>
              </a:tabLst>
            </a:pPr>
            <a:r>
              <a:rPr dirty="0" sz="2600" spc="-50">
                <a:latin typeface="Calibri"/>
                <a:cs typeface="Calibri"/>
              </a:rPr>
              <a:t>/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87236" y="2436622"/>
            <a:ext cx="430022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Calibri"/>
                <a:cs typeface="Calibri"/>
              </a:rPr>
              <a:t>Final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Output: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Calling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function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5671210"/>
            <a:ext cx="3256915" cy="828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10">
                <a:latin typeface="Calibri"/>
                <a:cs typeface="Calibri"/>
              </a:rPr>
              <a:t>Output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10">
                <a:latin typeface="Calibri"/>
                <a:cs typeface="Calibri"/>
              </a:rPr>
              <a:t>Package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body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created.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0759" y="3034283"/>
            <a:ext cx="5597651" cy="345795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59715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509" rIns="0" bIns="0" rtlCol="0" vert="horz">
            <a:spAutoFit/>
          </a:bodyPr>
          <a:lstStyle/>
          <a:p>
            <a:pPr marL="5461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FFFFF"/>
                </a:solidFill>
              </a:rPr>
              <a:t>Composite</a:t>
            </a:r>
            <a:r>
              <a:rPr dirty="0" sz="4000" spc="-19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Data</a:t>
            </a:r>
            <a:r>
              <a:rPr dirty="0" sz="4000" spc="-185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Types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332028" y="2014804"/>
            <a:ext cx="10900410" cy="428117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41300" marR="586105" indent="-228600">
              <a:lnSpc>
                <a:spcPts val="3080"/>
              </a:lnSpc>
              <a:spcBef>
                <a:spcPts val="8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variable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composite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data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type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can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hold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multiple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values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scalar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data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type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composite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data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type</a:t>
            </a:r>
            <a:endParaRPr sz="3200">
              <a:latin typeface="Calibri"/>
              <a:cs typeface="Calibri"/>
            </a:endParaRPr>
          </a:p>
          <a:p>
            <a:pPr marL="240029" indent="-227329">
              <a:lnSpc>
                <a:spcPts val="3710"/>
              </a:lnSpc>
              <a:spcBef>
                <a:spcPts val="25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3200">
                <a:latin typeface="Calibri"/>
                <a:cs typeface="Calibri"/>
              </a:rPr>
              <a:t>Composite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data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types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are</a:t>
            </a:r>
            <a:endParaRPr sz="3200">
              <a:latin typeface="Calibri"/>
              <a:cs typeface="Calibri"/>
            </a:endParaRPr>
          </a:p>
          <a:p>
            <a:pPr lvl="1" marL="697230" marR="5080" indent="-227329">
              <a:lnSpc>
                <a:spcPct val="80000"/>
              </a:lnSpc>
              <a:spcBef>
                <a:spcPts val="63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3200">
                <a:latin typeface="Calibri"/>
                <a:cs typeface="Calibri"/>
              </a:rPr>
              <a:t>PL/SQL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records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–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Used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treat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related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but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dissimilar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data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a </a:t>
            </a:r>
            <a:r>
              <a:rPr dirty="0" sz="3200" spc="-5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logical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unit.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PL/SQL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record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can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have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variables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different </a:t>
            </a:r>
            <a:r>
              <a:rPr dirty="0" sz="3200" spc="-1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types.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example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you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can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define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record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hold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employee 	details</a:t>
            </a:r>
            <a:endParaRPr sz="3200">
              <a:latin typeface="Calibri"/>
              <a:cs typeface="Calibri"/>
            </a:endParaRPr>
          </a:p>
          <a:p>
            <a:pPr lvl="1" marL="698500" marR="141605" indent="-228600">
              <a:lnSpc>
                <a:spcPct val="80000"/>
              </a:lnSpc>
              <a:spcBef>
                <a:spcPts val="50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3200">
                <a:latin typeface="Calibri"/>
                <a:cs typeface="Calibri"/>
              </a:rPr>
              <a:t>PL/SQL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collections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–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Used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treat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data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single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unit. </a:t>
            </a:r>
            <a:r>
              <a:rPr dirty="0" sz="3200">
                <a:latin typeface="Calibri"/>
                <a:cs typeface="Calibri"/>
              </a:rPr>
              <a:t>Collections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are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three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types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INDEX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BY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45">
                <a:latin typeface="Calibri"/>
                <a:cs typeface="Calibri"/>
              </a:rPr>
              <a:t>TABLES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associative arrays,</a:t>
            </a:r>
            <a:r>
              <a:rPr dirty="0" sz="3200" spc="-1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Nested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table,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VARRAY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59715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509" rIns="0" bIns="0" rtlCol="0" vert="horz">
            <a:spAutoFit/>
          </a:bodyPr>
          <a:lstStyle/>
          <a:p>
            <a:pPr marL="5461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FFFFF"/>
                </a:solidFill>
              </a:rPr>
              <a:t>PL/SQL</a:t>
            </a:r>
            <a:r>
              <a:rPr dirty="0" sz="4000" spc="-135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Records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388416" y="1823516"/>
            <a:ext cx="11078845" cy="478853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record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group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selected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items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stored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fields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own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type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record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defined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fields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necessary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 spc="-10">
                <a:latin typeface="Calibri"/>
                <a:cs typeface="Calibri"/>
              </a:rPr>
              <a:t>Records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assigned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initial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values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defined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NULL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Fields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without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initial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values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initialized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NULL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DEFAULT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keyword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also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defining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fields.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ts val="238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40">
                <a:latin typeface="Calibri"/>
                <a:cs typeface="Calibri"/>
              </a:rPr>
              <a:t>You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define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RECORD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declare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defined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records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declarative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part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PL/SQL block</a:t>
            </a:r>
            <a:endParaRPr sz="2200">
              <a:latin typeface="Calibri"/>
              <a:cs typeface="Calibri"/>
            </a:endParaRPr>
          </a:p>
          <a:p>
            <a:pPr marL="240029" marR="6360795" indent="-227965">
              <a:lnSpc>
                <a:spcPct val="108600"/>
              </a:lnSpc>
              <a:spcBef>
                <a:spcPts val="480"/>
              </a:spcBef>
              <a:buFont typeface="Arial MT"/>
              <a:buChar char="•"/>
              <a:tabLst>
                <a:tab pos="92646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syntax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creating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PL/SQL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record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is </a:t>
            </a:r>
            <a:r>
              <a:rPr dirty="0" sz="2200" spc="-25">
                <a:latin typeface="Calibri"/>
                <a:cs typeface="Calibri"/>
              </a:rPr>
              <a:t>	</a:t>
            </a:r>
            <a:r>
              <a:rPr dirty="0" sz="2200">
                <a:latin typeface="Calibri"/>
                <a:cs typeface="Calibri"/>
              </a:rPr>
              <a:t>TYPE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&lt;Type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Name&gt;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RECORD</a:t>
            </a:r>
            <a:endParaRPr sz="22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240"/>
              </a:spcBef>
            </a:pPr>
            <a:r>
              <a:rPr dirty="0" sz="2200">
                <a:latin typeface="Calibri"/>
                <a:cs typeface="Calibri"/>
              </a:rPr>
              <a:t>(field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name_1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field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type,</a:t>
            </a:r>
            <a:endParaRPr sz="22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240"/>
              </a:spcBef>
            </a:pPr>
            <a:r>
              <a:rPr dirty="0" sz="2200">
                <a:latin typeface="Calibri"/>
                <a:cs typeface="Calibri"/>
              </a:rPr>
              <a:t>field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name_2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field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type,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....</a:t>
            </a:r>
            <a:endParaRPr sz="22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229"/>
              </a:spcBef>
            </a:pPr>
            <a:r>
              <a:rPr dirty="0" sz="2200" spc="-25">
                <a:latin typeface="Calibri"/>
                <a:cs typeface="Calibri"/>
              </a:rPr>
              <a:t>);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580888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232785" y="3275203"/>
            <a:ext cx="174307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solidFill>
                  <a:srgbClr val="FFFFFF"/>
                </a:solidFill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86602" y="1368145"/>
            <a:ext cx="5609590" cy="403923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10">
                <a:latin typeface="Calibri"/>
                <a:cs typeface="Calibri"/>
              </a:rPr>
              <a:t>declare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abc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50">
                <a:latin typeface="Calibri"/>
                <a:cs typeface="Calibri"/>
              </a:rPr>
              <a:t>(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x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int,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char(10)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);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p </a:t>
            </a:r>
            <a:r>
              <a:rPr dirty="0" sz="2000" spc="-20">
                <a:latin typeface="Calibri"/>
                <a:cs typeface="Calibri"/>
              </a:rPr>
              <a:t>abc;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10">
                <a:latin typeface="Calibri"/>
                <a:cs typeface="Calibri"/>
              </a:rPr>
              <a:t>begin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select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eid,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ename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e2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esal=40000;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insert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e1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values(p.x,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p.y);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20">
                <a:latin typeface="Calibri"/>
                <a:cs typeface="Calibri"/>
              </a:rPr>
              <a:t>end;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09276" y="0"/>
            <a:ext cx="1925320" cy="478790"/>
            <a:chOff x="10209276" y="0"/>
            <a:chExt cx="1925320" cy="478790"/>
          </a:xfrm>
        </p:grpSpPr>
        <p:sp>
          <p:nvSpPr>
            <p:cNvPr id="3" name="object 3"/>
            <p:cNvSpPr/>
            <p:nvPr/>
          </p:nvSpPr>
          <p:spPr>
            <a:xfrm>
              <a:off x="10209276" y="0"/>
              <a:ext cx="1134110" cy="478790"/>
            </a:xfrm>
            <a:custGeom>
              <a:avLst/>
              <a:gdLst/>
              <a:ahLst/>
              <a:cxnLst/>
              <a:rect l="l" t="t" r="r" b="b"/>
              <a:pathLst>
                <a:path w="1134109" h="478790">
                  <a:moveTo>
                    <a:pt x="1133855" y="0"/>
                  </a:moveTo>
                  <a:lnTo>
                    <a:pt x="0" y="0"/>
                  </a:lnTo>
                  <a:lnTo>
                    <a:pt x="1650" y="16891"/>
                  </a:lnTo>
                  <a:lnTo>
                    <a:pt x="12982" y="62669"/>
                  </a:lnTo>
                  <a:lnTo>
                    <a:pt x="27864" y="106933"/>
                  </a:lnTo>
                  <a:lnTo>
                    <a:pt x="46135" y="149518"/>
                  </a:lnTo>
                  <a:lnTo>
                    <a:pt x="67632" y="190264"/>
                  </a:lnTo>
                  <a:lnTo>
                    <a:pt x="92192" y="229006"/>
                  </a:lnTo>
                  <a:lnTo>
                    <a:pt x="119655" y="265584"/>
                  </a:lnTo>
                  <a:lnTo>
                    <a:pt x="149858" y="299833"/>
                  </a:lnTo>
                  <a:lnTo>
                    <a:pt x="182639" y="331592"/>
                  </a:lnTo>
                  <a:lnTo>
                    <a:pt x="217835" y="360699"/>
                  </a:lnTo>
                  <a:lnTo>
                    <a:pt x="255286" y="386989"/>
                  </a:lnTo>
                  <a:lnTo>
                    <a:pt x="294827" y="410302"/>
                  </a:lnTo>
                  <a:lnTo>
                    <a:pt x="336299" y="430474"/>
                  </a:lnTo>
                  <a:lnTo>
                    <a:pt x="379538" y="447342"/>
                  </a:lnTo>
                  <a:lnTo>
                    <a:pt x="424382" y="460746"/>
                  </a:lnTo>
                  <a:lnTo>
                    <a:pt x="470670" y="470521"/>
                  </a:lnTo>
                  <a:lnTo>
                    <a:pt x="518239" y="476505"/>
                  </a:lnTo>
                  <a:lnTo>
                    <a:pt x="566927" y="478536"/>
                  </a:lnTo>
                  <a:lnTo>
                    <a:pt x="615616" y="476505"/>
                  </a:lnTo>
                  <a:lnTo>
                    <a:pt x="663185" y="470521"/>
                  </a:lnTo>
                  <a:lnTo>
                    <a:pt x="709473" y="460746"/>
                  </a:lnTo>
                  <a:lnTo>
                    <a:pt x="754317" y="447342"/>
                  </a:lnTo>
                  <a:lnTo>
                    <a:pt x="797556" y="430474"/>
                  </a:lnTo>
                  <a:lnTo>
                    <a:pt x="839028" y="410302"/>
                  </a:lnTo>
                  <a:lnTo>
                    <a:pt x="878569" y="386989"/>
                  </a:lnTo>
                  <a:lnTo>
                    <a:pt x="916020" y="360699"/>
                  </a:lnTo>
                  <a:lnTo>
                    <a:pt x="951216" y="331592"/>
                  </a:lnTo>
                  <a:lnTo>
                    <a:pt x="983997" y="299833"/>
                  </a:lnTo>
                  <a:lnTo>
                    <a:pt x="1014200" y="265584"/>
                  </a:lnTo>
                  <a:lnTo>
                    <a:pt x="1041663" y="229006"/>
                  </a:lnTo>
                  <a:lnTo>
                    <a:pt x="1066223" y="190264"/>
                  </a:lnTo>
                  <a:lnTo>
                    <a:pt x="1087720" y="149518"/>
                  </a:lnTo>
                  <a:lnTo>
                    <a:pt x="1105991" y="106933"/>
                  </a:lnTo>
                  <a:lnTo>
                    <a:pt x="1120873" y="62669"/>
                  </a:lnTo>
                  <a:lnTo>
                    <a:pt x="1132204" y="16891"/>
                  </a:lnTo>
                  <a:lnTo>
                    <a:pt x="113385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VSIT logo NEW small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3200" y="0"/>
              <a:ext cx="1770888" cy="381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8383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"/>
              <a:t>ERROR/EXCEPTION</a:t>
            </a:r>
            <a:r>
              <a:rPr dirty="0" sz="4400" spc="-145"/>
              <a:t> </a:t>
            </a:r>
            <a:r>
              <a:rPr dirty="0" sz="4400" spc="-10"/>
              <a:t>HANDLING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557022" y="4226052"/>
            <a:ext cx="2041525" cy="2041525"/>
          </a:xfrm>
          <a:custGeom>
            <a:avLst/>
            <a:gdLst/>
            <a:ahLst/>
            <a:cxnLst/>
            <a:rect l="l" t="t" r="r" b="b"/>
            <a:pathLst>
              <a:path w="2041525" h="2041525">
                <a:moveTo>
                  <a:pt x="0" y="0"/>
                </a:moveTo>
                <a:lnTo>
                  <a:pt x="557" y="48183"/>
                </a:lnTo>
                <a:lnTo>
                  <a:pt x="2222" y="96093"/>
                </a:lnTo>
                <a:lnTo>
                  <a:pt x="4981" y="143717"/>
                </a:lnTo>
                <a:lnTo>
                  <a:pt x="8822" y="191044"/>
                </a:lnTo>
                <a:lnTo>
                  <a:pt x="13734" y="238060"/>
                </a:lnTo>
                <a:lnTo>
                  <a:pt x="19704" y="284753"/>
                </a:lnTo>
                <a:lnTo>
                  <a:pt x="26719" y="331112"/>
                </a:lnTo>
                <a:lnTo>
                  <a:pt x="34768" y="377123"/>
                </a:lnTo>
                <a:lnTo>
                  <a:pt x="43838" y="422776"/>
                </a:lnTo>
                <a:lnTo>
                  <a:pt x="53917" y="468056"/>
                </a:lnTo>
                <a:lnTo>
                  <a:pt x="64993" y="512953"/>
                </a:lnTo>
                <a:lnTo>
                  <a:pt x="77053" y="557454"/>
                </a:lnTo>
                <a:lnTo>
                  <a:pt x="90085" y="601547"/>
                </a:lnTo>
                <a:lnTo>
                  <a:pt x="104077" y="645218"/>
                </a:lnTo>
                <a:lnTo>
                  <a:pt x="119016" y="688457"/>
                </a:lnTo>
                <a:lnTo>
                  <a:pt x="134891" y="731251"/>
                </a:lnTo>
                <a:lnTo>
                  <a:pt x="151689" y="773588"/>
                </a:lnTo>
                <a:lnTo>
                  <a:pt x="169398" y="815455"/>
                </a:lnTo>
                <a:lnTo>
                  <a:pt x="188005" y="856840"/>
                </a:lnTo>
                <a:lnTo>
                  <a:pt x="207499" y="897731"/>
                </a:lnTo>
                <a:lnTo>
                  <a:pt x="227867" y="938116"/>
                </a:lnTo>
                <a:lnTo>
                  <a:pt x="249097" y="977982"/>
                </a:lnTo>
                <a:lnTo>
                  <a:pt x="271176" y="1017317"/>
                </a:lnTo>
                <a:lnTo>
                  <a:pt x="294092" y="1056108"/>
                </a:lnTo>
                <a:lnTo>
                  <a:pt x="317834" y="1094345"/>
                </a:lnTo>
                <a:lnTo>
                  <a:pt x="342388" y="1132014"/>
                </a:lnTo>
                <a:lnTo>
                  <a:pt x="367743" y="1169103"/>
                </a:lnTo>
                <a:lnTo>
                  <a:pt x="393886" y="1205599"/>
                </a:lnTo>
                <a:lnTo>
                  <a:pt x="420806" y="1241492"/>
                </a:lnTo>
                <a:lnTo>
                  <a:pt x="448489" y="1276767"/>
                </a:lnTo>
                <a:lnTo>
                  <a:pt x="476923" y="1311414"/>
                </a:lnTo>
                <a:lnTo>
                  <a:pt x="506097" y="1345419"/>
                </a:lnTo>
                <a:lnTo>
                  <a:pt x="535998" y="1378771"/>
                </a:lnTo>
                <a:lnTo>
                  <a:pt x="566613" y="1411457"/>
                </a:lnTo>
                <a:lnTo>
                  <a:pt x="597931" y="1443466"/>
                </a:lnTo>
                <a:lnTo>
                  <a:pt x="629940" y="1474784"/>
                </a:lnTo>
                <a:lnTo>
                  <a:pt x="662626" y="1505399"/>
                </a:lnTo>
                <a:lnTo>
                  <a:pt x="695978" y="1535300"/>
                </a:lnTo>
                <a:lnTo>
                  <a:pt x="729983" y="1564474"/>
                </a:lnTo>
                <a:lnTo>
                  <a:pt x="764630" y="1592908"/>
                </a:lnTo>
                <a:lnTo>
                  <a:pt x="799905" y="1620591"/>
                </a:lnTo>
                <a:lnTo>
                  <a:pt x="835798" y="1647511"/>
                </a:lnTo>
                <a:lnTo>
                  <a:pt x="872294" y="1673654"/>
                </a:lnTo>
                <a:lnTo>
                  <a:pt x="909383" y="1699009"/>
                </a:lnTo>
                <a:lnTo>
                  <a:pt x="947052" y="1723563"/>
                </a:lnTo>
                <a:lnTo>
                  <a:pt x="985289" y="1747305"/>
                </a:lnTo>
                <a:lnTo>
                  <a:pt x="1024080" y="1770221"/>
                </a:lnTo>
                <a:lnTo>
                  <a:pt x="1063415" y="1792300"/>
                </a:lnTo>
                <a:lnTo>
                  <a:pt x="1103281" y="1813530"/>
                </a:lnTo>
                <a:lnTo>
                  <a:pt x="1143666" y="1833898"/>
                </a:lnTo>
                <a:lnTo>
                  <a:pt x="1184557" y="1853392"/>
                </a:lnTo>
                <a:lnTo>
                  <a:pt x="1225942" y="1871999"/>
                </a:lnTo>
                <a:lnTo>
                  <a:pt x="1267809" y="1889708"/>
                </a:lnTo>
                <a:lnTo>
                  <a:pt x="1310146" y="1906506"/>
                </a:lnTo>
                <a:lnTo>
                  <a:pt x="1352940" y="1922381"/>
                </a:lnTo>
                <a:lnTo>
                  <a:pt x="1396179" y="1937320"/>
                </a:lnTo>
                <a:lnTo>
                  <a:pt x="1439850" y="1951312"/>
                </a:lnTo>
                <a:lnTo>
                  <a:pt x="1483943" y="1964344"/>
                </a:lnTo>
                <a:lnTo>
                  <a:pt x="1528444" y="1976404"/>
                </a:lnTo>
                <a:lnTo>
                  <a:pt x="1573341" y="1987480"/>
                </a:lnTo>
                <a:lnTo>
                  <a:pt x="1618621" y="1997559"/>
                </a:lnTo>
                <a:lnTo>
                  <a:pt x="1664274" y="2006629"/>
                </a:lnTo>
                <a:lnTo>
                  <a:pt x="1710285" y="2014678"/>
                </a:lnTo>
                <a:lnTo>
                  <a:pt x="1756644" y="2021693"/>
                </a:lnTo>
                <a:lnTo>
                  <a:pt x="1803337" y="2027663"/>
                </a:lnTo>
                <a:lnTo>
                  <a:pt x="1850353" y="2032575"/>
                </a:lnTo>
                <a:lnTo>
                  <a:pt x="1897680" y="2036416"/>
                </a:lnTo>
                <a:lnTo>
                  <a:pt x="1945304" y="2039175"/>
                </a:lnTo>
                <a:lnTo>
                  <a:pt x="1993214" y="2040840"/>
                </a:lnTo>
                <a:lnTo>
                  <a:pt x="2041398" y="2041398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16939" y="1415046"/>
            <a:ext cx="10360025" cy="473519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85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While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executing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SQL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sentences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anything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wrong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SQL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sentence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fail.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SQL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sentence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fails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Oracle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engine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first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recognize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Exception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Condition.</a:t>
            </a:r>
            <a:endParaRPr sz="2000">
              <a:latin typeface="Calibri"/>
              <a:cs typeface="Calibri"/>
            </a:endParaRPr>
          </a:p>
          <a:p>
            <a:pPr marL="238760" marR="6985" indent="-226695">
              <a:lnSpc>
                <a:spcPts val="216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immediately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tries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exception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condition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resolve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raising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built-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Exception 	Handler.</a:t>
            </a:r>
            <a:endParaRPr sz="2000">
              <a:latin typeface="Calibri"/>
              <a:cs typeface="Calibri"/>
            </a:endParaRPr>
          </a:p>
          <a:p>
            <a:pPr marL="238760" marR="7620" indent="-226695">
              <a:lnSpc>
                <a:spcPts val="216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Exception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Handler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nothing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block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attempt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resolve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current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exception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condition.</a:t>
            </a:r>
            <a:endParaRPr sz="2000">
              <a:latin typeface="Calibri"/>
              <a:cs typeface="Calibri"/>
            </a:endParaRPr>
          </a:p>
          <a:p>
            <a:pPr marL="238760" marR="5080" indent="-226695">
              <a:lnSpc>
                <a:spcPts val="216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handle</a:t>
            </a:r>
            <a:r>
              <a:rPr dirty="0" sz="2000" spc="40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very</a:t>
            </a:r>
            <a:r>
              <a:rPr dirty="0" sz="2000" spc="40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common</a:t>
            </a:r>
            <a:r>
              <a:rPr dirty="0" sz="2000" spc="4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repetitive</a:t>
            </a:r>
            <a:r>
              <a:rPr dirty="0" sz="2000" spc="40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conditions</a:t>
            </a:r>
            <a:r>
              <a:rPr dirty="0" sz="2000" spc="4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Oracle</a:t>
            </a:r>
            <a:r>
              <a:rPr dirty="0" sz="2000" spc="40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engine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uses</a:t>
            </a:r>
            <a:r>
              <a:rPr dirty="0" sz="2000" spc="40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Named</a:t>
            </a:r>
            <a:r>
              <a:rPr dirty="0" sz="2000" spc="4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Exception 	Handlers.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about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15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20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named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exception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handlers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20,000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exception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handlers.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exception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handler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attached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attempt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resolve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exception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condition.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45">
                <a:latin typeface="Calibri"/>
                <a:cs typeface="Calibri"/>
              </a:rPr>
              <a:t>DEFAULT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EXCEPTION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HANDLING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STRATEGY</a:t>
            </a:r>
            <a:endParaRPr sz="2000">
              <a:latin typeface="Calibri"/>
              <a:cs typeface="Calibri"/>
            </a:endParaRPr>
          </a:p>
          <a:p>
            <a:pPr marL="238760" marR="5080" indent="-226695">
              <a:lnSpc>
                <a:spcPts val="216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Oracles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default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exception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handling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overridden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given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exception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section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executed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DEFINED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EXCEPTION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HANDLING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CODE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270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10"/>
              <a:t>ERROR/EXCEPTION</a:t>
            </a:r>
            <a:r>
              <a:rPr dirty="0" sz="5400" spc="-135"/>
              <a:t> </a:t>
            </a:r>
            <a:r>
              <a:rPr dirty="0" sz="5400"/>
              <a:t>HANDLING</a:t>
            </a:r>
            <a:r>
              <a:rPr dirty="0" sz="5400" spc="-110"/>
              <a:t> </a:t>
            </a:r>
            <a:r>
              <a:rPr dirty="0" sz="5400" spc="-10"/>
              <a:t>Contd</a:t>
            </a:r>
            <a:endParaRPr sz="5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944" y="1636614"/>
            <a:ext cx="10896053" cy="996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1922729"/>
            <a:ext cx="10338435" cy="3909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L="228600" marR="5080" indent="-228600">
              <a:lnSpc>
                <a:spcPts val="1939"/>
              </a:lnSpc>
              <a:spcBef>
                <a:spcPts val="105"/>
              </a:spcBef>
              <a:buFont typeface="Arial MT"/>
              <a:buChar char="•"/>
              <a:tabLst>
                <a:tab pos="228600" algn="l"/>
              </a:tabLst>
            </a:pPr>
            <a:r>
              <a:rPr dirty="0" sz="1700">
                <a:latin typeface="Calibri"/>
                <a:cs typeface="Calibri"/>
              </a:rPr>
              <a:t>When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default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handling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code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overridden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by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code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given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EXCEPTION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section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PL/SQL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block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means</a:t>
            </a:r>
            <a:endParaRPr sz="1700">
              <a:latin typeface="Calibri"/>
              <a:cs typeface="Calibri"/>
            </a:endParaRPr>
          </a:p>
          <a:p>
            <a:pPr algn="r" marR="26034">
              <a:lnSpc>
                <a:spcPts val="1939"/>
              </a:lnSpc>
            </a:pP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example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programmer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giving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explicit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exception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handling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instructions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Oracle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exception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handler</a:t>
            </a:r>
            <a:endParaRPr sz="1700">
              <a:latin typeface="Calibri"/>
              <a:cs typeface="Calibri"/>
            </a:endParaRPr>
          </a:p>
          <a:p>
            <a:pPr marL="241300" marR="363220" indent="-229235">
              <a:lnSpc>
                <a:spcPts val="1839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This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means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Oracle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engine’s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exception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handler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must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decide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whether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execute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own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exception </a:t>
            </a:r>
            <a:r>
              <a:rPr dirty="0" sz="1700">
                <a:latin typeface="Calibri"/>
                <a:cs typeface="Calibri"/>
              </a:rPr>
              <a:t>handling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code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or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whether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execute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user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defined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exception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handling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code.</a:t>
            </a:r>
            <a:endParaRPr sz="1700">
              <a:latin typeface="Calibri"/>
              <a:cs typeface="Calibri"/>
            </a:endParaRPr>
          </a:p>
          <a:p>
            <a:pPr marL="241300" marR="340360" indent="-229235">
              <a:lnSpc>
                <a:spcPts val="1839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soon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Oracle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engine</a:t>
            </a:r>
            <a:r>
              <a:rPr dirty="0" sz="1700" spc="-20">
                <a:latin typeface="Calibri"/>
                <a:cs typeface="Calibri"/>
              </a:rPr>
              <a:t> invokes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exception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handler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exception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handler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goes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back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PL/SQL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block </a:t>
            </a:r>
            <a:r>
              <a:rPr dirty="0" sz="1700">
                <a:latin typeface="Calibri"/>
                <a:cs typeface="Calibri"/>
              </a:rPr>
              <a:t>from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which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exception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condition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was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raised.</a:t>
            </a:r>
            <a:endParaRPr sz="17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scans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PL/SQL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block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existence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EXCEPTION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section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within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PL/SQL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block.</a:t>
            </a:r>
            <a:endParaRPr sz="1700">
              <a:latin typeface="Calibri"/>
              <a:cs typeface="Calibri"/>
            </a:endParaRPr>
          </a:p>
          <a:p>
            <a:pPr marL="241300" marR="15875" indent="-229235">
              <a:lnSpc>
                <a:spcPts val="1839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If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EXCEPTION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section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exists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exception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handler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scans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first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word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after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WHEN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this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exception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section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and </a:t>
            </a:r>
            <a:r>
              <a:rPr dirty="0" sz="1700">
                <a:latin typeface="Calibri"/>
                <a:cs typeface="Calibri"/>
              </a:rPr>
              <a:t>if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first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word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exception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handlers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executes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code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given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after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keyword</a:t>
            </a:r>
            <a:endParaRPr sz="17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syntax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EXCEPTION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section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is</a:t>
            </a:r>
            <a:endParaRPr sz="17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700" spc="-10">
                <a:latin typeface="Calibri"/>
                <a:cs typeface="Calibri"/>
              </a:rPr>
              <a:t>EXCEPTION</a:t>
            </a:r>
            <a:endParaRPr sz="1700">
              <a:latin typeface="Calibri"/>
              <a:cs typeface="Calibri"/>
            </a:endParaRPr>
          </a:p>
          <a:p>
            <a:pPr lvl="2" marL="1155700" indent="-22860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1700">
                <a:latin typeface="Calibri"/>
                <a:cs typeface="Calibri"/>
              </a:rPr>
              <a:t>WHEN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&lt;Exception</a:t>
            </a:r>
            <a:r>
              <a:rPr dirty="0" sz="1700" spc="-8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Name&gt;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THEN</a:t>
            </a:r>
            <a:endParaRPr sz="1700">
              <a:latin typeface="Calibri"/>
              <a:cs typeface="Calibri"/>
            </a:endParaRPr>
          </a:p>
          <a:p>
            <a:pPr lvl="3" marL="1612900" indent="-2286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612900" algn="l"/>
              </a:tabLst>
            </a:pPr>
            <a:r>
              <a:rPr dirty="0" sz="1700">
                <a:latin typeface="Calibri"/>
                <a:cs typeface="Calibri"/>
              </a:rPr>
              <a:t>&lt;User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Defined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Action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65">
                <a:latin typeface="Calibri"/>
                <a:cs typeface="Calibri"/>
              </a:rPr>
              <a:t>To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Carried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Out&gt;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5" name="object 5" descr="VSIT logo NEW small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45844" y="235153"/>
            <a:ext cx="57962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/>
              <a:t>ERROR/EXCEPTION</a:t>
            </a:r>
            <a:r>
              <a:rPr dirty="0" sz="2800" spc="-75"/>
              <a:t> </a:t>
            </a:r>
            <a:r>
              <a:rPr dirty="0" sz="2800"/>
              <a:t>HANDLING</a:t>
            </a:r>
            <a:r>
              <a:rPr dirty="0" sz="2800" spc="-45"/>
              <a:t> </a:t>
            </a:r>
            <a:r>
              <a:rPr dirty="0" sz="2800" spc="-10"/>
              <a:t>EXAMPLE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145844" y="1029360"/>
            <a:ext cx="10532110" cy="54508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2200" spc="-10">
                <a:latin typeface="Calibri"/>
                <a:cs typeface="Calibri"/>
              </a:rPr>
              <a:t>DECLARE</a:t>
            </a:r>
            <a:endParaRPr sz="22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200"/>
              </a:spcBef>
            </a:pP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0">
                <a:latin typeface="Calibri"/>
                <a:cs typeface="Calibri"/>
              </a:rPr>
              <a:t> NUMBER(3);</a:t>
            </a:r>
            <a:endParaRPr sz="22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204"/>
              </a:spcBef>
            </a:pPr>
            <a:r>
              <a:rPr dirty="0" sz="2200">
                <a:latin typeface="Calibri"/>
                <a:cs typeface="Calibri"/>
              </a:rPr>
              <a:t>B</a:t>
            </a:r>
            <a:r>
              <a:rPr dirty="0" sz="2200" spc="-10">
                <a:latin typeface="Calibri"/>
                <a:cs typeface="Calibri"/>
              </a:rPr>
              <a:t> NUMBER(3);</a:t>
            </a:r>
            <a:endParaRPr sz="2200">
              <a:latin typeface="Calibri"/>
              <a:cs typeface="Calibri"/>
            </a:endParaRPr>
          </a:p>
          <a:p>
            <a:pPr marL="12700" marR="8650605" indent="227965">
              <a:lnSpc>
                <a:spcPct val="107700"/>
              </a:lnSpc>
              <a:spcBef>
                <a:spcPts val="15"/>
              </a:spcBef>
            </a:pPr>
            <a:r>
              <a:rPr dirty="0" sz="2200">
                <a:latin typeface="Calibri"/>
                <a:cs typeface="Calibri"/>
              </a:rPr>
              <a:t>C</a:t>
            </a:r>
            <a:r>
              <a:rPr dirty="0" sz="2200" spc="-10">
                <a:latin typeface="Calibri"/>
                <a:cs typeface="Calibri"/>
              </a:rPr>
              <a:t> NUMBER(3); BEGIN</a:t>
            </a:r>
            <a:endParaRPr sz="22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204"/>
              </a:spcBef>
            </a:pPr>
            <a:r>
              <a:rPr dirty="0" sz="2200" spc="-10">
                <a:latin typeface="Calibri"/>
                <a:cs typeface="Calibri"/>
              </a:rPr>
              <a:t>A:=&amp;A;</a:t>
            </a:r>
            <a:endParaRPr sz="22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215"/>
              </a:spcBef>
            </a:pPr>
            <a:r>
              <a:rPr dirty="0" sz="2200" spc="-10">
                <a:latin typeface="Calibri"/>
                <a:cs typeface="Calibri"/>
              </a:rPr>
              <a:t>B:=&amp;B;</a:t>
            </a:r>
            <a:endParaRPr sz="22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209"/>
              </a:spcBef>
            </a:pPr>
            <a:r>
              <a:rPr dirty="0" sz="2200" spc="-10">
                <a:latin typeface="Calibri"/>
                <a:cs typeface="Calibri"/>
              </a:rPr>
              <a:t>C:=A/B;</a:t>
            </a:r>
            <a:endParaRPr sz="2200">
              <a:latin typeface="Calibri"/>
              <a:cs typeface="Calibri"/>
            </a:endParaRPr>
          </a:p>
          <a:p>
            <a:pPr marL="12700" marR="4731385" indent="227965">
              <a:lnSpc>
                <a:spcPts val="2860"/>
              </a:lnSpc>
              <a:spcBef>
                <a:spcPts val="114"/>
              </a:spcBef>
            </a:pPr>
            <a:r>
              <a:rPr dirty="0" sz="2200" spc="-25">
                <a:latin typeface="Calibri"/>
                <a:cs typeface="Calibri"/>
              </a:rPr>
              <a:t>DBMS_OUTPUT.PUT_LINE('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VALUE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'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||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C); </a:t>
            </a:r>
            <a:r>
              <a:rPr dirty="0" sz="2200" spc="-10">
                <a:latin typeface="Calibri"/>
                <a:cs typeface="Calibri"/>
              </a:rPr>
              <a:t>EXCEPTION</a:t>
            </a:r>
            <a:endParaRPr sz="22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65"/>
              </a:spcBef>
            </a:pP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ZERO_DIVIDE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THEN</a:t>
            </a:r>
            <a:endParaRPr sz="22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210"/>
              </a:spcBef>
            </a:pPr>
            <a:r>
              <a:rPr dirty="0" sz="2200" spc="-20">
                <a:latin typeface="Calibri"/>
                <a:cs typeface="Calibri"/>
              </a:rPr>
              <a:t>DBMS_OUTPUT.PUT_LINE('DIVIDE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ZERO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POSSIBLE');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2200" spc="-20">
                <a:latin typeface="Calibri"/>
                <a:cs typeface="Calibri"/>
              </a:rPr>
              <a:t>END;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2200" spc="-50">
                <a:latin typeface="Calibri"/>
                <a:cs typeface="Calibri"/>
              </a:rPr>
              <a:t>/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example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shows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how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built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exception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ZERO_DIVIDE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PL/SQL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block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33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150"/>
              <a:t> </a:t>
            </a:r>
            <a:r>
              <a:rPr dirty="0" spc="-20"/>
              <a:t>VALUE_ERROR</a:t>
            </a:r>
            <a:r>
              <a:rPr dirty="0" spc="-150"/>
              <a:t> </a:t>
            </a:r>
            <a:r>
              <a:rPr dirty="0" spc="-10"/>
              <a:t>Exception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pc="-10"/>
              <a:t>declare</a:t>
            </a:r>
          </a:p>
          <a:p>
            <a:pPr marL="12700" marR="2653030">
              <a:lnSpc>
                <a:spcPct val="124600"/>
              </a:lnSpc>
              <a:spcBef>
                <a:spcPts val="10"/>
              </a:spcBef>
            </a:pPr>
            <a:r>
              <a:rPr dirty="0"/>
              <a:t>x</a:t>
            </a:r>
            <a:r>
              <a:rPr dirty="0" spc="-15"/>
              <a:t> </a:t>
            </a:r>
            <a:r>
              <a:rPr dirty="0" spc="-10"/>
              <a:t>char(4); begin </a:t>
            </a:r>
            <a:r>
              <a:rPr dirty="0" spc="-25"/>
              <a:t>x:='Too</a:t>
            </a:r>
            <a:r>
              <a:rPr dirty="0" spc="-85"/>
              <a:t> </a:t>
            </a:r>
            <a:r>
              <a:rPr dirty="0" spc="-10"/>
              <a:t>big';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/>
              <a:t>insert</a:t>
            </a:r>
            <a:r>
              <a:rPr dirty="0" spc="-55"/>
              <a:t> </a:t>
            </a:r>
            <a:r>
              <a:rPr dirty="0"/>
              <a:t>into</a:t>
            </a:r>
            <a:r>
              <a:rPr dirty="0" spc="-45"/>
              <a:t> </a:t>
            </a:r>
            <a:r>
              <a:rPr dirty="0"/>
              <a:t>temp</a:t>
            </a:r>
            <a:r>
              <a:rPr dirty="0" spc="-45"/>
              <a:t> </a:t>
            </a:r>
            <a:r>
              <a:rPr dirty="0" spc="-10"/>
              <a:t>values(1,x);</a:t>
            </a: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pc="-10"/>
              <a:t>exception</a:t>
            </a:r>
            <a:r>
              <a:rPr dirty="0" spc="-100"/>
              <a:t> </a:t>
            </a:r>
            <a:r>
              <a:rPr dirty="0"/>
              <a:t>when</a:t>
            </a:r>
            <a:r>
              <a:rPr dirty="0" spc="-75"/>
              <a:t> </a:t>
            </a:r>
            <a:r>
              <a:rPr dirty="0" spc="-10"/>
              <a:t>value_error</a:t>
            </a:r>
            <a:r>
              <a:rPr dirty="0" spc="-65"/>
              <a:t> </a:t>
            </a:r>
            <a:r>
              <a:rPr dirty="0" spc="-20"/>
              <a:t>then</a:t>
            </a:r>
          </a:p>
          <a:p>
            <a:pPr marL="12700" marR="234950">
              <a:lnSpc>
                <a:spcPts val="2590"/>
              </a:lnSpc>
              <a:spcBef>
                <a:spcPts val="1040"/>
              </a:spcBef>
            </a:pPr>
            <a:r>
              <a:rPr dirty="0"/>
              <a:t>insert</a:t>
            </a:r>
            <a:r>
              <a:rPr dirty="0" spc="-80"/>
              <a:t> </a:t>
            </a:r>
            <a:r>
              <a:rPr dirty="0"/>
              <a:t>into</a:t>
            </a:r>
            <a:r>
              <a:rPr dirty="0" spc="-80"/>
              <a:t> </a:t>
            </a:r>
            <a:r>
              <a:rPr dirty="0"/>
              <a:t>temp</a:t>
            </a:r>
            <a:r>
              <a:rPr dirty="0" spc="-80"/>
              <a:t> </a:t>
            </a:r>
            <a:r>
              <a:rPr dirty="0" spc="-10"/>
              <a:t>values(0,'value error');</a:t>
            </a: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pc="-20"/>
              <a:t>end;</a:t>
            </a: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pc="-50"/>
              <a:t>/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76315" y="1869581"/>
            <a:ext cx="4848860" cy="413321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2400" spc="-10">
                <a:latin typeface="Calibri"/>
                <a:cs typeface="Calibri"/>
              </a:rPr>
              <a:t>declare</a:t>
            </a:r>
            <a:endParaRPr sz="2400">
              <a:latin typeface="Calibri"/>
              <a:cs typeface="Calibri"/>
            </a:endParaRPr>
          </a:p>
          <a:p>
            <a:pPr marL="12700" marR="3664585">
              <a:lnSpc>
                <a:spcPct val="124600"/>
              </a:lnSpc>
              <a:spcBef>
                <a:spcPts val="10"/>
              </a:spcBef>
            </a:pPr>
            <a:r>
              <a:rPr dirty="0" sz="2400">
                <a:latin typeface="Calibri"/>
                <a:cs typeface="Calibri"/>
              </a:rPr>
              <a:t>x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char(4); begin x:='Too';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>
                <a:latin typeface="Calibri"/>
                <a:cs typeface="Calibri"/>
              </a:rPr>
              <a:t>insert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temp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values(1,x);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24600"/>
              </a:lnSpc>
              <a:spcBef>
                <a:spcPts val="5"/>
              </a:spcBef>
            </a:pPr>
            <a:r>
              <a:rPr dirty="0" sz="2400" spc="-10">
                <a:latin typeface="Calibri"/>
                <a:cs typeface="Calibri"/>
              </a:rPr>
              <a:t>exception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value_error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then</a:t>
            </a:r>
            <a:r>
              <a:rPr dirty="0" sz="2400">
                <a:latin typeface="Calibri"/>
                <a:cs typeface="Calibri"/>
              </a:rPr>
              <a:t> insert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temp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values(0,'value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error');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spc="-20">
                <a:latin typeface="Calibri"/>
                <a:cs typeface="Calibri"/>
              </a:rPr>
              <a:t>end;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400" spc="-50">
                <a:latin typeface="Calibri"/>
                <a:cs typeface="Calibri"/>
              </a:rPr>
              <a:t>/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11480" y="432816"/>
            <a:ext cx="11364595" cy="6024880"/>
            <a:chOff x="411480" y="432816"/>
            <a:chExt cx="11364595" cy="6024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0" y="432816"/>
              <a:ext cx="11364468" cy="60243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7012" y="480060"/>
              <a:ext cx="11238230" cy="5897880"/>
            </a:xfrm>
            <a:custGeom>
              <a:avLst/>
              <a:gdLst/>
              <a:ahLst/>
              <a:cxnLst/>
              <a:rect l="l" t="t" r="r" b="b"/>
              <a:pathLst>
                <a:path w="11238230" h="5897880">
                  <a:moveTo>
                    <a:pt x="11237976" y="0"/>
                  </a:moveTo>
                  <a:lnTo>
                    <a:pt x="0" y="0"/>
                  </a:lnTo>
                  <a:lnTo>
                    <a:pt x="0" y="5897880"/>
                  </a:lnTo>
                  <a:lnTo>
                    <a:pt x="11237976" y="5897880"/>
                  </a:lnTo>
                  <a:lnTo>
                    <a:pt x="112379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8650" y="1885950"/>
          <a:ext cx="10985500" cy="4290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8385"/>
                <a:gridCol w="7307580"/>
              </a:tblGrid>
              <a:tr h="31496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ZERO_DIVIDE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Raised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divided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zero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NO_DATA_FOUND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Raised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statement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returns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zero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rows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INVALID_NUMBER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Raised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program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fails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convert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string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into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number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1334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DUP_VAL_ON_INDEX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 marR="4083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Raised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insert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update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attempts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create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two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rows</a:t>
                      </a:r>
                      <a:r>
                        <a:rPr dirty="0"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duplicate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values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columns constrained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unique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 index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1334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LOGIN_DENIED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9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Raised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invalid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 username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password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used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log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onto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Oracle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9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1334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NOT_LOGGED_ON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9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Raised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Pl/SQL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issues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Oracle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call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without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being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logged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Oracle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9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PROGRAM_ERROR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Raised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PL/SQL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has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internal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problem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1334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TIMEOUT_ON_RESOURCE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Raised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Oracle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has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been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waiting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access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beyond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user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defined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out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limit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TOO_MANY_ROWS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Raised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statement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returns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than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row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VALUE_ERROR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Raised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size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invalid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OTHERS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Stands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exceptions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explicitly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named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13943" y="524408"/>
            <a:ext cx="10655935" cy="118427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 spc="-20">
                <a:latin typeface="Calibri"/>
                <a:cs typeface="Calibri"/>
              </a:rPr>
              <a:t>Oracle’s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Exception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Handlers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51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Oracle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predefined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error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handlers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called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Exceptions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referred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their</a:t>
            </a:r>
            <a:endParaRPr sz="2200">
              <a:latin typeface="Calibri"/>
              <a:cs typeface="Calibri"/>
            </a:endParaRPr>
          </a:p>
          <a:p>
            <a:pPr marL="240665">
              <a:lnSpc>
                <a:spcPts val="2510"/>
              </a:lnSpc>
            </a:pPr>
            <a:r>
              <a:rPr dirty="0" sz="2200" spc="-10">
                <a:latin typeface="Calibri"/>
                <a:cs typeface="Calibri"/>
              </a:rPr>
              <a:t>names.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8" name="object 8" descr="VSIT logo NEW small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3200" y="0"/>
            <a:ext cx="1770888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5410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260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 marR="587375">
              <a:lnSpc>
                <a:spcPts val="4110"/>
              </a:lnSpc>
            </a:pPr>
            <a:r>
              <a:rPr dirty="0" sz="3800">
                <a:solidFill>
                  <a:srgbClr val="FFFFFF"/>
                </a:solidFill>
                <a:latin typeface="Calibri Light"/>
                <a:cs typeface="Calibri Light"/>
              </a:rPr>
              <a:t>User</a:t>
            </a:r>
            <a:r>
              <a:rPr dirty="0" sz="3800" spc="-4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3800" spc="-10">
                <a:solidFill>
                  <a:srgbClr val="FFFFFF"/>
                </a:solidFill>
                <a:latin typeface="Calibri Light"/>
                <a:cs typeface="Calibri Light"/>
              </a:rPr>
              <a:t>Named Exception Handlers</a:t>
            </a:r>
            <a:endParaRPr sz="3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123690" y="537717"/>
            <a:ext cx="7418070" cy="262572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41300" marR="198120" indent="-229235">
              <a:lnSpc>
                <a:spcPts val="1730"/>
              </a:lnSpc>
              <a:spcBef>
                <a:spcPts val="3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commercial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applications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being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manipulated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needs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validated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against </a:t>
            </a:r>
            <a:r>
              <a:rPr dirty="0" sz="1600">
                <a:latin typeface="Calibri"/>
                <a:cs typeface="Calibri"/>
              </a:rPr>
              <a:t>business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rules.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If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violates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business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rule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entire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record </a:t>
            </a:r>
            <a:r>
              <a:rPr dirty="0" sz="1600">
                <a:latin typeface="Calibri"/>
                <a:cs typeface="Calibri"/>
              </a:rPr>
              <a:t>must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rejected.</a:t>
            </a:r>
            <a:endParaRPr sz="1600">
              <a:latin typeface="Calibri"/>
              <a:cs typeface="Calibri"/>
            </a:endParaRPr>
          </a:p>
          <a:p>
            <a:pPr marL="241300" marR="63500" indent="-229235">
              <a:lnSpc>
                <a:spcPts val="173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 spc="-60">
                <a:latin typeface="Calibri"/>
                <a:cs typeface="Calibri"/>
              </a:rPr>
              <a:t>To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trap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business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rules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being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violated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technique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raising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defined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exceptions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handling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them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used.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defined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error</a:t>
            </a:r>
            <a:r>
              <a:rPr dirty="0" sz="1600" spc="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conditions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must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declared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the </a:t>
            </a:r>
            <a:r>
              <a:rPr dirty="0" sz="1600" spc="-10">
                <a:latin typeface="Calibri"/>
                <a:cs typeface="Calibri"/>
              </a:rPr>
              <a:t>declarative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part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PL/SQL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block.</a:t>
            </a:r>
            <a:endParaRPr sz="1600">
              <a:latin typeface="Calibri"/>
              <a:cs typeface="Calibri"/>
            </a:endParaRPr>
          </a:p>
          <a:p>
            <a:pPr marL="241300" marR="5080" indent="-229235">
              <a:lnSpc>
                <a:spcPct val="901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executable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part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check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condition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needs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special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attention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made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if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condition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exists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call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defined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exception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made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RAISE </a:t>
            </a:r>
            <a:r>
              <a:rPr dirty="0" sz="1600" spc="-10">
                <a:latin typeface="Calibri"/>
                <a:cs typeface="Calibri"/>
              </a:rPr>
              <a:t>statement.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exception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once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raised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handled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Exception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handling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section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PL/SQL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code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block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5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syntax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declaring</a:t>
            </a:r>
            <a:r>
              <a:rPr dirty="0" sz="1600" spc="2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exception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is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81925" y="4973192"/>
            <a:ext cx="628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END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IF;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3690" y="3136370"/>
            <a:ext cx="3056255" cy="279971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600" spc="-10">
                <a:latin typeface="Calibri"/>
                <a:cs typeface="Calibri"/>
              </a:rPr>
              <a:t>DECLARE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20"/>
              </a:spcBef>
            </a:pPr>
            <a:r>
              <a:rPr dirty="0" sz="1600" spc="-10">
                <a:latin typeface="Calibri"/>
                <a:cs typeface="Calibri"/>
              </a:rPr>
              <a:t>Exception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Name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EXCEPTION;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600" spc="-10">
                <a:latin typeface="Calibri"/>
                <a:cs typeface="Calibri"/>
              </a:rPr>
              <a:t>BEGIN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05"/>
              </a:spcBef>
            </a:pPr>
            <a:r>
              <a:rPr dirty="0" sz="1600">
                <a:latin typeface="Calibri"/>
                <a:cs typeface="Calibri"/>
              </a:rPr>
              <a:t>&lt;SQL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statement&gt;;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15"/>
              </a:spcBef>
            </a:pPr>
            <a:r>
              <a:rPr dirty="0" sz="1600">
                <a:latin typeface="Calibri"/>
                <a:cs typeface="Calibri"/>
              </a:rPr>
              <a:t>IF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&lt;Condition&gt;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THEN</a:t>
            </a:r>
            <a:endParaRPr sz="1600">
              <a:latin typeface="Calibri"/>
              <a:cs typeface="Calibri"/>
            </a:endParaRPr>
          </a:p>
          <a:p>
            <a:pPr marL="12700" marR="5080" indent="914400">
              <a:lnSpc>
                <a:spcPts val="2730"/>
              </a:lnSpc>
              <a:spcBef>
                <a:spcPts val="220"/>
              </a:spcBef>
            </a:pPr>
            <a:r>
              <a:rPr dirty="0" sz="1600">
                <a:latin typeface="Calibri"/>
                <a:cs typeface="Calibri"/>
              </a:rPr>
              <a:t>RAISE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&lt;Exception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Name&gt;; EXCEPTION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85"/>
              </a:spcBef>
            </a:pPr>
            <a:r>
              <a:rPr dirty="0" sz="1600">
                <a:latin typeface="Calibri"/>
                <a:cs typeface="Calibri"/>
              </a:rPr>
              <a:t>WHEN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&lt;Exception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Name&gt;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THEN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38471" y="6012891"/>
            <a:ext cx="34029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&lt;User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Defined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Action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6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Taken&gt;;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END;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9" name="object 9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50594" y="-18161"/>
            <a:ext cx="661225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User</a:t>
            </a:r>
            <a:r>
              <a:rPr dirty="0" sz="4000" spc="-105"/>
              <a:t> </a:t>
            </a:r>
            <a:r>
              <a:rPr dirty="0" sz="4000"/>
              <a:t>Defined</a:t>
            </a:r>
            <a:r>
              <a:rPr dirty="0" sz="4000" spc="-114"/>
              <a:t> </a:t>
            </a:r>
            <a:r>
              <a:rPr dirty="0" sz="4000"/>
              <a:t>Exception</a:t>
            </a:r>
            <a:r>
              <a:rPr dirty="0" sz="4000" spc="-105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678561"/>
            <a:ext cx="10814685" cy="608139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238760" marR="5080" indent="-226695">
              <a:lnSpc>
                <a:spcPct val="901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Write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PL/SQL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block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calculate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area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rectangle.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enters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length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breadth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rectangle.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values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entered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negative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zero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exception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raised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appropriate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message.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600" spc="-10">
                <a:latin typeface="Calibri"/>
                <a:cs typeface="Calibri"/>
              </a:rPr>
              <a:t>DECLARE</a:t>
            </a:r>
            <a:endParaRPr sz="1600">
              <a:latin typeface="Calibri"/>
              <a:cs typeface="Calibri"/>
            </a:endParaRPr>
          </a:p>
          <a:p>
            <a:pPr marL="241300" marR="6586220">
              <a:lnSpc>
                <a:spcPct val="141900"/>
              </a:lnSpc>
              <a:spcBef>
                <a:spcPts val="15"/>
              </a:spcBef>
            </a:pPr>
            <a:r>
              <a:rPr dirty="0" sz="1600">
                <a:latin typeface="Calibri"/>
                <a:cs typeface="Calibri"/>
              </a:rPr>
              <a:t>L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NUMBER(3); B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NUMBER(3); AREA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NUMBER(6); VALID_SIDE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EXCEPTION;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600" spc="-10">
                <a:latin typeface="Calibri"/>
                <a:cs typeface="Calibri"/>
              </a:rPr>
              <a:t>BEGIN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15"/>
              </a:spcBef>
              <a:tabLst>
                <a:tab pos="897890" algn="l"/>
              </a:tabLst>
            </a:pPr>
            <a:r>
              <a:rPr dirty="0" sz="1600" spc="-10">
                <a:latin typeface="Calibri"/>
                <a:cs typeface="Calibri"/>
              </a:rPr>
              <a:t>L:=&amp;L;</a:t>
            </a:r>
            <a:r>
              <a:rPr dirty="0" sz="1600">
                <a:latin typeface="Calibri"/>
                <a:cs typeface="Calibri"/>
              </a:rPr>
              <a:t>	</a:t>
            </a:r>
            <a:r>
              <a:rPr dirty="0" sz="1600" spc="-10">
                <a:latin typeface="Calibri"/>
                <a:cs typeface="Calibri"/>
              </a:rPr>
              <a:t>B:=&amp;B;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05"/>
              </a:spcBef>
            </a:pPr>
            <a:r>
              <a:rPr dirty="0" sz="1600">
                <a:latin typeface="Calibri"/>
                <a:cs typeface="Calibri"/>
              </a:rPr>
              <a:t>IF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L&lt;1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B&lt;1 </a:t>
            </a:r>
            <a:r>
              <a:rPr dirty="0" sz="1600" spc="-20">
                <a:latin typeface="Calibri"/>
                <a:cs typeface="Calibri"/>
              </a:rPr>
              <a:t>THEN</a:t>
            </a:r>
            <a:endParaRPr sz="16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805"/>
              </a:spcBef>
            </a:pPr>
            <a:r>
              <a:rPr dirty="0" sz="1600">
                <a:latin typeface="Calibri"/>
                <a:cs typeface="Calibri"/>
              </a:rPr>
              <a:t>RAISE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VALID_SIDE;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15"/>
              </a:spcBef>
            </a:pPr>
            <a:r>
              <a:rPr dirty="0" sz="1600">
                <a:latin typeface="Calibri"/>
                <a:cs typeface="Calibri"/>
              </a:rPr>
              <a:t>END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IF;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05"/>
              </a:spcBef>
            </a:pPr>
            <a:r>
              <a:rPr dirty="0" sz="1600" spc="-10">
                <a:latin typeface="Calibri"/>
                <a:cs typeface="Calibri"/>
              </a:rPr>
              <a:t>AREA:=L*B;</a:t>
            </a:r>
            <a:endParaRPr sz="1600">
              <a:latin typeface="Calibri"/>
              <a:cs typeface="Calibri"/>
            </a:endParaRPr>
          </a:p>
          <a:p>
            <a:pPr marL="12700" marR="5568950" indent="228600">
              <a:lnSpc>
                <a:spcPts val="2740"/>
              </a:lnSpc>
              <a:spcBef>
                <a:spcPts val="215"/>
              </a:spcBef>
            </a:pPr>
            <a:r>
              <a:rPr dirty="0" sz="1600" spc="-10">
                <a:latin typeface="Calibri"/>
                <a:cs typeface="Calibri"/>
              </a:rPr>
              <a:t>DBMS_OUTPUT.PUT_LINE('AREA</a:t>
            </a:r>
            <a:r>
              <a:rPr dirty="0" sz="1600">
                <a:latin typeface="Calibri"/>
                <a:cs typeface="Calibri"/>
              </a:rPr>
              <a:t> OF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RECTANGLE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'||AREA); EXCEPTION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70"/>
              </a:spcBef>
            </a:pPr>
            <a:r>
              <a:rPr dirty="0" sz="1600">
                <a:latin typeface="Calibri"/>
                <a:cs typeface="Calibri"/>
              </a:rPr>
              <a:t>WHEN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VALID_SIDE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THEN</a:t>
            </a:r>
            <a:endParaRPr sz="1600">
              <a:latin typeface="Calibri"/>
              <a:cs typeface="Calibri"/>
            </a:endParaRPr>
          </a:p>
          <a:p>
            <a:pPr marL="241300" marR="3290570" indent="685165">
              <a:lnSpc>
                <a:spcPts val="2740"/>
              </a:lnSpc>
              <a:spcBef>
                <a:spcPts val="215"/>
              </a:spcBef>
            </a:pPr>
            <a:r>
              <a:rPr dirty="0" sz="1600" spc="-10">
                <a:latin typeface="Calibri"/>
                <a:cs typeface="Calibri"/>
              </a:rPr>
              <a:t>DBMS_OUTPUT.PUT_LINE('EITHER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LENGTH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BREADTH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INVALID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VALUE'); </a:t>
            </a:r>
            <a:r>
              <a:rPr dirty="0" sz="1600">
                <a:latin typeface="Calibri"/>
                <a:cs typeface="Calibri"/>
              </a:rPr>
              <a:t>WHEN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OTHERS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THEN</a:t>
            </a:r>
            <a:endParaRPr sz="16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70"/>
              </a:spcBef>
            </a:pPr>
            <a:r>
              <a:rPr dirty="0" sz="1600" spc="-10">
                <a:latin typeface="Calibri"/>
                <a:cs typeface="Calibri"/>
              </a:rPr>
              <a:t>DBMS_OUTPUT.PUT_LINE('ERROR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DUE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8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SOME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INTERNAL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PROBLEM’);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END;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 descr="VSIT logo NEW smal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6378" y="49695"/>
            <a:ext cx="1700384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 descr="Glasses on top of a book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12188951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208276"/>
              <a:ext cx="12192000" cy="31607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70603" y="2837688"/>
              <a:ext cx="4158996" cy="148894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81321" y="3009137"/>
            <a:ext cx="3290570" cy="8178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FFFF"/>
                </a:solidFill>
              </a:rPr>
              <a:t>PL/SQL</a:t>
            </a:r>
            <a:r>
              <a:rPr dirty="0" spc="-16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TEST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498348"/>
            <a:ext cx="12192000" cy="5861685"/>
            <a:chOff x="0" y="498348"/>
            <a:chExt cx="12192000" cy="58616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5191" y="498348"/>
              <a:ext cx="9902952" cy="58613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514599"/>
              <a:ext cx="12192000" cy="1828800"/>
            </a:xfrm>
            <a:custGeom>
              <a:avLst/>
              <a:gdLst/>
              <a:ahLst/>
              <a:cxnLst/>
              <a:rect l="l" t="t" r="r" b="b"/>
              <a:pathLst>
                <a:path w="12192000" h="1828800">
                  <a:moveTo>
                    <a:pt x="121920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12192000" y="18288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043678" y="3087446"/>
            <a:ext cx="210566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44536A"/>
                </a:solidFill>
              </a:rPr>
              <a:t>Thank</a:t>
            </a:r>
            <a:r>
              <a:rPr dirty="0" sz="4000" spc="-105">
                <a:solidFill>
                  <a:srgbClr val="44536A"/>
                </a:solidFill>
              </a:rPr>
              <a:t> </a:t>
            </a:r>
            <a:r>
              <a:rPr dirty="0" sz="4000" spc="-55">
                <a:solidFill>
                  <a:srgbClr val="44536A"/>
                </a:solidFill>
              </a:rPr>
              <a:t>You</a:t>
            </a:r>
            <a:endParaRPr sz="4000"/>
          </a:p>
        </p:txBody>
      </p:sp>
      <p:pic>
        <p:nvPicPr>
          <p:cNvPr id="7" name="object 7" descr="VSIT logo NEW small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3200" y="0"/>
            <a:ext cx="1770888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Rohini</dc:creator>
  <dc:title>PL-SQL Essentials</dc:title>
  <dcterms:created xsi:type="dcterms:W3CDTF">2026-05-27T07:03:33Z</dcterms:created>
  <dcterms:modified xsi:type="dcterms:W3CDTF">2026-05-27T07:03:33Z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2022-06-27T00:00:00Z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2026-05-27T00:00:00Z</vt:filetime>
  </property>
  <property fmtid="{D5CDD505-2E9C-101B-9397-08002B2CF9AE}" pid="6" name="Producer">
    <vt:lpwstr>Microsoft® PowerPoint® for Microsoft 365</vt:lpwstr>
  </property>
</Properties>
</file>